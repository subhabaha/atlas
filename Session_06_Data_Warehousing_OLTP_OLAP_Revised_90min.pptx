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Rows read</c:v>
                </c:pt>
              </c:strCache>
            </c:strRef>
          </c:tx>
          <c:dPt>
            <c:idx val="0"/>
            <c:spPr>
              <a:solidFill>
                <a:srgbClr val="1B7F79"/>
              </a:solidFill>
            </c:spPr>
          </c:dPt>
          <c:dPt>
            <c:idx val="1"/>
            <c:spPr>
              <a:solidFill>
                <a:srgbClr val="1B7F79"/>
              </a:solidFill>
            </c:spPr>
          </c:dPt>
          <c:dPt>
            <c:idx val="2"/>
            <c:spPr>
              <a:solidFill>
                <a:srgbClr val="E8A33D"/>
              </a:solidFill>
            </c:spPr>
          </c:dPt>
          <c:dPt>
            <c:idx val="3"/>
            <c:spPr>
              <a:solidFill>
                <a:srgbClr val="A63B26"/>
              </a:solidFill>
            </c:spPr>
          </c:dPt>
          <c:cat>
            <c:strRef>
              <c:f>Sheet1!$A$2:$A$5</c:f>
              <c:strCache>
                <c:ptCount val="4"/>
                <c:pt idx="0">
                  <c:v>Bill one
customer</c:v>
                </c:pt>
                <c:pt idx="1">
                  <c:v>Restock
one item</c:v>
                </c:pt>
                <c:pt idx="2">
                  <c:v>Daily store
summary</c:v>
                </c:pt>
                <c:pt idx="3">
                  <c:v>3-year trend by
format &amp; month</c:v>
                </c:pt>
              </c:strCache>
            </c:strRef>
          </c:cat>
          <c:val>
            <c:numRef>
              <c:f>Sheet1!$B$2:$B$5</c:f>
              <c:numCache>
                <c:formatCode>General</c:formatCode>
                <c:ptCount val="4"/>
                <c:pt idx="0">
                  <c:v>4</c:v>
                </c:pt>
                <c:pt idx="1">
                  <c:v>6</c:v>
                </c:pt>
                <c:pt idx="2">
                  <c:v>38000</c:v>
                </c:pt>
                <c:pt idx="3">
                  <c:v>3000000</c:v>
                </c:pt>
              </c:numCache>
            </c:numRef>
          </c:val>
        </c:ser>
        <c:dLbls>
          <c:numFmt formatCode="#,##0" sourceLinked="0"/>
          <c:txPr>
            <a:bodyPr/>
            <a:lstStyle/>
            <a:p>
              <a:pPr>
                <a:defRPr sz="850" b="1">
                  <a:solidFill>
                    <a:srgbClr val="123B47"/>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E4EDEB"/>
            </a:solidFill>
          </a:ln>
        </c:spPr>
        <c:txPr>
          <a:bodyPr/>
          <a:lstStyle/>
          <a:p>
            <a:pPr>
              <a:defRPr sz="850">
                <a:solidFill>
                  <a:srgbClr val="123B47"/>
                </a:solidFill>
              </a:defRPr>
            </a:pPr>
          </a:p>
        </c:txPr>
        <c:crossAx val="-2113994440"/>
        <c:crosses val="autoZero"/>
        <c:auto val="1"/>
        <c:lblAlgn val="ctr"/>
        <c:lblOffset val="100"/>
        <c:noMultiLvlLbl val="0"/>
      </c:catAx>
      <c:valAx>
        <c:axId val="-2113994440"/>
        <c:scaling>
          <c:logBase val="10"/>
          <c:max val="10000000.0"/>
          <c:min val="1.0"/>
        </c:scaling>
        <c:delete val="0"/>
        <c:axPos val="l"/>
        <c:majorGridlines/>
        <c:numFmt formatCode="#,##0" sourceLinked="0"/>
        <c:majorTickMark val="out"/>
        <c:minorTickMark val="none"/>
        <c:tickLblPos val="nextTo"/>
        <c:spPr>
          <a:ln>
            <a:solidFill>
              <a:srgbClr val="E4EDEB"/>
            </a:solidFill>
          </a:ln>
        </c:spPr>
        <c:txPr>
          <a:bodyPr/>
          <a:lstStyle/>
          <a:p>
            <a:pPr>
              <a:defRPr sz="800">
                <a:solidFill>
                  <a:srgbClr val="5C7079"/>
                </a:solidFil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doughnutChart>
        <c:varyColors val="1"/>
        <c:ser>
          <c:idx val="0"/>
          <c:order val="0"/>
          <c:tx>
            <c:strRef>
              <c:f>Sheet1!$B$1</c:f>
              <c:strCache>
                <c:ptCount val="1"/>
                <c:pt idx="0">
                  <c:v>Share of effort</c:v>
                </c:pt>
              </c:strCache>
            </c:strRef>
          </c:tx>
          <c:dPt>
            <c:idx val="0"/>
            <c:spPr>
              <a:solidFill>
                <a:srgbClr val="123B47"/>
              </a:solidFill>
            </c:spPr>
          </c:dPt>
          <c:dPt>
            <c:idx val="1"/>
            <c:spPr>
              <a:solidFill>
                <a:srgbClr val="1B7F79"/>
              </a:solidFill>
            </c:spPr>
          </c:dPt>
          <c:dPt>
            <c:idx val="2"/>
            <c:spPr>
              <a:solidFill>
                <a:srgbClr val="E8A33D"/>
              </a:solidFill>
            </c:spPr>
          </c:dPt>
          <c:dPt>
            <c:idx val="3"/>
            <c:spPr>
              <a:solidFill>
                <a:srgbClr val="A63B26"/>
              </a:solidFill>
            </c:spPr>
          </c:dPt>
          <c:cat>
            <c:strRef>
              <c:f>Sheet1!$A$2:$A$5</c:f>
              <c:strCache>
                <c:ptCount val="4"/>
                <c:pt idx="0">
                  <c:v>Integration &amp; modelling  57%</c:v>
                </c:pt>
                <c:pt idx="1">
                  <c:v>Extraction &amp; pipelines  20%</c:v>
                </c:pt>
                <c:pt idx="2">
                  <c:v>Platform &amp; storage  13%</c:v>
                </c:pt>
                <c:pt idx="3">
                  <c:v>Delivery &amp; enablement  10%</c:v>
                </c:pt>
              </c:strCache>
            </c:strRef>
          </c:cat>
          <c:val>
            <c:numRef>
              <c:f>Sheet1!$B$2:$B$5</c:f>
              <c:numCache>
                <c:formatCode>General</c:formatCode>
                <c:ptCount val="4"/>
                <c:pt idx="0">
                  <c:v>0.57</c:v>
                </c:pt>
                <c:pt idx="1">
                  <c:v>0.2</c:v>
                </c:pt>
                <c:pt idx="2">
                  <c:v>0.13</c:v>
                </c:pt>
                <c:pt idx="3">
                  <c:v>0.1</c:v>
                </c:pt>
              </c:numCache>
            </c:numRef>
          </c:val>
        </c:ser>
        <c:firstSliceAng val="0"/>
        <c:holeSize val="50"/>
      </c:doughnutChart>
    </c:plotArea>
    <c:legend>
      <c:legendPos/>
      <c:layout/>
      <c:overlay val="0"/>
      <c:txPr>
        <a:bodyPr/>
        <a:lstStyle/>
        <a:p>
          <a:pPr>
            <a:defRPr sz="900">
              <a:solidFill>
                <a:srgbClr val="123B47"/>
              </a:solidFill>
            </a:defRPr>
          </a:pPr>
        </a:p>
      </c:txPr>
    </c:legend>
    <c:plotVisOnly val="1"/>
    <c:dispBlanksAs val="gap"/>
    <c:showDLblsOverMax val="0"/>
  </c:chart>
  <c:txPr>
    <a:bodyPr/>
    <a:lstStyle/>
    <a:p>
      <a:pPr>
        <a:defRPr sz="1800"/>
      </a:pPr>
      <a:endParaRPr/>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bg>
    <p:bgPr>
      <a:solidFill>
        <a:srgbClr val="0B2830"/>
      </a:solidFill>
      <a:effectLst/>
    </p:bgPr>
  </p:bg>
  <p:cSld>
    <p:spTree>
      <p:nvGrpSpPr>
        <p:cNvPr id="1" name=""/>
        <p:cNvGrpSpPr/>
        <p:nvPr/>
      </p:nvGrpSpPr>
      <p:grpSpPr/>
      <p:sp>
        <p:nvSpPr>
          <p:cNvPr id="2" name="Oval 1"/>
          <p:cNvSpPr/>
          <p:nvPr/>
        </p:nvSpPr>
        <p:spPr>
          <a:xfrm>
            <a:off x="9464040" y="1417320"/>
            <a:ext cx="3108960" cy="3108960"/>
          </a:xfrm>
          <a:prstGeom prst="ellipse">
            <a:avLst/>
          </a:prstGeom>
          <a:solidFill>
            <a:srgbClr val="124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012680" y="1965960"/>
            <a:ext cx="2011680" cy="2011680"/>
          </a:xfrm>
          <a:prstGeom prst="ellipse">
            <a:avLst/>
          </a:prstGeom>
          <a:solidFill>
            <a:srgbClr val="1754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561320" y="2514600"/>
            <a:ext cx="914400" cy="914400"/>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658368"/>
            <a:ext cx="8412480" cy="274320"/>
          </a:xfrm>
          <a:prstGeom prst="rect">
            <a:avLst/>
          </a:prstGeom>
          <a:noFill/>
        </p:spPr>
        <p:txBody>
          <a:bodyPr wrap="square" lIns="0" rIns="0" tIns="0" bIns="0" anchor="t">
            <a:spAutoFit/>
          </a:bodyPr>
          <a:lstStyle/>
          <a:p>
            <a:pPr algn="l">
              <a:spcBef>
                <a:spcPts val="0"/>
              </a:spcBef>
              <a:spcAft>
                <a:spcPts val="0"/>
              </a:spcAft>
            </a:pPr>
            <a:r>
              <a:rPr sz="1150" b="1" i="0">
                <a:solidFill>
                  <a:srgbClr val="3FA79F"/>
                </a:solidFill>
                <a:latin typeface="Calibri"/>
              </a:rPr>
              <a:t>IILM ACADEMY OF HIGHER EDUCATION, JAIPUR</a:t>
            </a:r>
          </a:p>
        </p:txBody>
      </p:sp>
      <p:sp>
        <p:nvSpPr>
          <p:cNvPr id="6" name="TextBox 5"/>
          <p:cNvSpPr txBox="1"/>
          <p:nvPr/>
        </p:nvSpPr>
        <p:spPr>
          <a:xfrm>
            <a:off x="548640" y="950976"/>
            <a:ext cx="8412480" cy="274320"/>
          </a:xfrm>
          <a:prstGeom prst="rect">
            <a:avLst/>
          </a:prstGeom>
          <a:noFill/>
        </p:spPr>
        <p:txBody>
          <a:bodyPr wrap="square" lIns="0" rIns="0" tIns="0" bIns="0" anchor="t">
            <a:spAutoFit/>
          </a:bodyPr>
          <a:lstStyle/>
          <a:p>
            <a:pPr algn="l">
              <a:spcBef>
                <a:spcPts val="0"/>
              </a:spcBef>
              <a:spcAft>
                <a:spcPts val="0"/>
              </a:spcAft>
            </a:pPr>
            <a:r>
              <a:rPr sz="1100" b="0" i="0">
                <a:solidFill>
                  <a:srgbClr val="8FAAA8"/>
                </a:solidFill>
                <a:latin typeface="Calibri"/>
              </a:rPr>
              <a:t>MBA — Business Analytics Specialisation  |  Business Intelligence (3 Credits, L–T–P 3–0–0)</a:t>
            </a:r>
          </a:p>
        </p:txBody>
      </p:sp>
      <p:sp>
        <p:nvSpPr>
          <p:cNvPr id="7" name="Rounded Rectangle 6"/>
          <p:cNvSpPr/>
          <p:nvPr/>
        </p:nvSpPr>
        <p:spPr>
          <a:xfrm>
            <a:off x="548640" y="1572768"/>
            <a:ext cx="2395728" cy="475488"/>
          </a:xfrm>
          <a:prstGeom prst="roundRect">
            <a:avLst>
              <a:gd name="adj" fmla="val 35000"/>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250" b="1" i="0">
                <a:solidFill>
                  <a:srgbClr val="3A2703"/>
                </a:solidFill>
                <a:latin typeface="Calibri"/>
              </a:rPr>
              <a:t>SESSION 06</a:t>
            </a:r>
          </a:p>
        </p:txBody>
      </p:sp>
      <p:sp>
        <p:nvSpPr>
          <p:cNvPr id="8" name="TextBox 7"/>
          <p:cNvSpPr txBox="1"/>
          <p:nvPr/>
        </p:nvSpPr>
        <p:spPr>
          <a:xfrm>
            <a:off x="548640" y="2286000"/>
            <a:ext cx="8503920" cy="1691640"/>
          </a:xfrm>
          <a:prstGeom prst="rect">
            <a:avLst/>
          </a:prstGeom>
          <a:noFill/>
        </p:spPr>
        <p:txBody>
          <a:bodyPr wrap="square" lIns="0" rIns="0" tIns="0" bIns="0" anchor="t">
            <a:spAutoFit/>
          </a:bodyPr>
          <a:lstStyle/>
          <a:p>
            <a:pPr algn="l">
              <a:spcBef>
                <a:spcPts val="0"/>
              </a:spcBef>
              <a:spcAft>
                <a:spcPts val="0"/>
              </a:spcAft>
            </a:pPr>
            <a:r>
              <a:rPr sz="4000" b="1" i="0">
                <a:solidFill>
                  <a:srgbClr val="FFFFFF"/>
                </a:solidFill>
                <a:latin typeface="Cambria"/>
              </a:rPr>
              <a:t>Data Warehousing, OLTP and OLAP</a:t>
            </a:r>
          </a:p>
        </p:txBody>
      </p:sp>
      <p:sp>
        <p:nvSpPr>
          <p:cNvPr id="9" name="TextBox 8"/>
          <p:cNvSpPr txBox="1"/>
          <p:nvPr/>
        </p:nvSpPr>
        <p:spPr>
          <a:xfrm>
            <a:off x="548640" y="4041648"/>
            <a:ext cx="8321040" cy="896112"/>
          </a:xfrm>
          <a:prstGeom prst="rect">
            <a:avLst/>
          </a:prstGeom>
          <a:noFill/>
        </p:spPr>
        <p:txBody>
          <a:bodyPr wrap="square" lIns="0" rIns="0" tIns="0" bIns="0" anchor="t">
            <a:spAutoFit/>
          </a:bodyPr>
          <a:lstStyle/>
          <a:p>
            <a:pPr algn="l">
              <a:lnSpc>
                <a:spcPct val="125000"/>
              </a:lnSpc>
              <a:spcBef>
                <a:spcPts val="0"/>
              </a:spcBef>
              <a:spcAft>
                <a:spcPts val="0"/>
              </a:spcAft>
            </a:pPr>
            <a:r>
              <a:rPr sz="1400" b="0" i="0">
                <a:solidFill>
                  <a:srgbClr val="AFC6C4"/>
                </a:solidFill>
                <a:latin typeface="Calibri"/>
              </a:rPr>
              <a:t>Why analytical storage must be separate  ·  Inmon's four properties  ·  the two workloads  ·  the OLAP cube  ·  layered architecture, ETL and ELT, and the modern lakehouse</a:t>
            </a:r>
          </a:p>
        </p:txBody>
      </p:sp>
      <p:sp>
        <p:nvSpPr>
          <p:cNvPr id="10" name="Rectangle 9"/>
          <p:cNvSpPr/>
          <p:nvPr/>
        </p:nvSpPr>
        <p:spPr>
          <a:xfrm>
            <a:off x="548640" y="5138928"/>
            <a:ext cx="8321040" cy="18288"/>
          </a:xfrm>
          <a:prstGeom prst="rect">
            <a:avLst/>
          </a:prstGeom>
          <a:solidFill>
            <a:srgbClr val="2A576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48640" y="5303520"/>
            <a:ext cx="1938528" cy="219456"/>
          </a:xfrm>
          <a:prstGeom prst="rect">
            <a:avLst/>
          </a:prstGeom>
          <a:noFill/>
        </p:spPr>
        <p:txBody>
          <a:bodyPr wrap="square" lIns="0" rIns="0" tIns="0" bIns="0" anchor="t">
            <a:spAutoFit/>
          </a:bodyPr>
          <a:lstStyle/>
          <a:p>
            <a:pPr algn="l">
              <a:spcBef>
                <a:spcPts val="0"/>
              </a:spcBef>
              <a:spcAft>
                <a:spcPts val="0"/>
              </a:spcAft>
            </a:pPr>
            <a:r>
              <a:rPr sz="850" b="1" i="0">
                <a:solidFill>
                  <a:srgbClr val="E8A33D"/>
                </a:solidFill>
                <a:latin typeface="Calibri"/>
              </a:rPr>
              <a:t>MODULE</a:t>
            </a:r>
          </a:p>
        </p:txBody>
      </p:sp>
      <p:sp>
        <p:nvSpPr>
          <p:cNvPr id="12" name="TextBox 11"/>
          <p:cNvSpPr txBox="1"/>
          <p:nvPr/>
        </p:nvSpPr>
        <p:spPr>
          <a:xfrm>
            <a:off x="548640" y="5522976"/>
            <a:ext cx="1938528" cy="566928"/>
          </a:xfrm>
          <a:prstGeom prst="rect">
            <a:avLst/>
          </a:prstGeom>
          <a:noFill/>
        </p:spPr>
        <p:txBody>
          <a:bodyPr wrap="square" lIns="0" rIns="0" tIns="0" bIns="0" anchor="t">
            <a:spAutoFit/>
          </a:bodyPr>
          <a:lstStyle/>
          <a:p>
            <a:pPr algn="l">
              <a:lnSpc>
                <a:spcPct val="110000"/>
              </a:lnSpc>
              <a:spcBef>
                <a:spcPts val="0"/>
              </a:spcBef>
              <a:spcAft>
                <a:spcPts val="0"/>
              </a:spcAft>
            </a:pPr>
            <a:r>
              <a:rPr sz="1150" b="0" i="0">
                <a:solidFill>
                  <a:srgbClr val="FFFFFF"/>
                </a:solidFill>
                <a:latin typeface="Calibri"/>
              </a:rPr>
              <a:t>2 — Data Foundations for BI</a:t>
            </a:r>
          </a:p>
        </p:txBody>
      </p:sp>
      <p:sp>
        <p:nvSpPr>
          <p:cNvPr id="13" name="TextBox 12"/>
          <p:cNvSpPr txBox="1"/>
          <p:nvPr/>
        </p:nvSpPr>
        <p:spPr>
          <a:xfrm>
            <a:off x="2624328" y="5303520"/>
            <a:ext cx="1938528" cy="219456"/>
          </a:xfrm>
          <a:prstGeom prst="rect">
            <a:avLst/>
          </a:prstGeom>
          <a:noFill/>
        </p:spPr>
        <p:txBody>
          <a:bodyPr wrap="square" lIns="0" rIns="0" tIns="0" bIns="0" anchor="t">
            <a:spAutoFit/>
          </a:bodyPr>
          <a:lstStyle/>
          <a:p>
            <a:pPr algn="l">
              <a:spcBef>
                <a:spcPts val="0"/>
              </a:spcBef>
              <a:spcAft>
                <a:spcPts val="0"/>
              </a:spcAft>
            </a:pPr>
            <a:r>
              <a:rPr sz="850" b="1" i="0">
                <a:solidFill>
                  <a:srgbClr val="E8A33D"/>
                </a:solidFill>
                <a:latin typeface="Calibri"/>
              </a:rPr>
              <a:t>COURSE OUTCOME</a:t>
            </a:r>
          </a:p>
        </p:txBody>
      </p:sp>
      <p:sp>
        <p:nvSpPr>
          <p:cNvPr id="14" name="TextBox 13"/>
          <p:cNvSpPr txBox="1"/>
          <p:nvPr/>
        </p:nvSpPr>
        <p:spPr>
          <a:xfrm>
            <a:off x="2624328" y="5522976"/>
            <a:ext cx="1938528" cy="566928"/>
          </a:xfrm>
          <a:prstGeom prst="rect">
            <a:avLst/>
          </a:prstGeom>
          <a:noFill/>
        </p:spPr>
        <p:txBody>
          <a:bodyPr wrap="square" lIns="0" rIns="0" tIns="0" bIns="0" anchor="t">
            <a:spAutoFit/>
          </a:bodyPr>
          <a:lstStyle/>
          <a:p>
            <a:pPr algn="l">
              <a:lnSpc>
                <a:spcPct val="110000"/>
              </a:lnSpc>
              <a:spcBef>
                <a:spcPts val="0"/>
              </a:spcBef>
              <a:spcAft>
                <a:spcPts val="0"/>
              </a:spcAft>
            </a:pPr>
            <a:r>
              <a:rPr sz="1150" b="0" i="0">
                <a:solidFill>
                  <a:srgbClr val="FFFFFF"/>
                </a:solidFill>
                <a:latin typeface="Calibri"/>
              </a:rPr>
              <a:t>CO4 · Bloom L4 (Analyse)</a:t>
            </a:r>
          </a:p>
        </p:txBody>
      </p:sp>
      <p:sp>
        <p:nvSpPr>
          <p:cNvPr id="15" name="TextBox 14"/>
          <p:cNvSpPr txBox="1"/>
          <p:nvPr/>
        </p:nvSpPr>
        <p:spPr>
          <a:xfrm>
            <a:off x="4700016" y="5303520"/>
            <a:ext cx="1938528" cy="219456"/>
          </a:xfrm>
          <a:prstGeom prst="rect">
            <a:avLst/>
          </a:prstGeom>
          <a:noFill/>
        </p:spPr>
        <p:txBody>
          <a:bodyPr wrap="square" lIns="0" rIns="0" tIns="0" bIns="0" anchor="t">
            <a:spAutoFit/>
          </a:bodyPr>
          <a:lstStyle/>
          <a:p>
            <a:pPr algn="l">
              <a:spcBef>
                <a:spcPts val="0"/>
              </a:spcBef>
              <a:spcAft>
                <a:spcPts val="0"/>
              </a:spcAft>
            </a:pPr>
            <a:r>
              <a:rPr sz="850" b="1" i="0">
                <a:solidFill>
                  <a:srgbClr val="E8A33D"/>
                </a:solidFill>
                <a:latin typeface="Calibri"/>
              </a:rPr>
              <a:t>DURATION</a:t>
            </a:r>
          </a:p>
        </p:txBody>
      </p:sp>
      <p:sp>
        <p:nvSpPr>
          <p:cNvPr id="16" name="TextBox 15"/>
          <p:cNvSpPr txBox="1"/>
          <p:nvPr/>
        </p:nvSpPr>
        <p:spPr>
          <a:xfrm>
            <a:off x="4700016" y="5522976"/>
            <a:ext cx="1938528" cy="566928"/>
          </a:xfrm>
          <a:prstGeom prst="rect">
            <a:avLst/>
          </a:prstGeom>
          <a:noFill/>
        </p:spPr>
        <p:txBody>
          <a:bodyPr wrap="square" lIns="0" rIns="0" tIns="0" bIns="0" anchor="t">
            <a:spAutoFit/>
          </a:bodyPr>
          <a:lstStyle/>
          <a:p>
            <a:pPr algn="l">
              <a:lnSpc>
                <a:spcPct val="110000"/>
              </a:lnSpc>
              <a:spcBef>
                <a:spcPts val="0"/>
              </a:spcBef>
              <a:spcAft>
                <a:spcPts val="0"/>
              </a:spcAft>
            </a:pPr>
            <a:r>
              <a:rPr sz="1150" b="0" i="0">
                <a:solidFill>
                  <a:srgbClr val="FFFFFF"/>
                </a:solidFill>
                <a:latin typeface="Calibri"/>
              </a:rPr>
              <a:t>90 minutes (lecture + case)</a:t>
            </a:r>
          </a:p>
        </p:txBody>
      </p:sp>
      <p:sp>
        <p:nvSpPr>
          <p:cNvPr id="17" name="TextBox 16"/>
          <p:cNvSpPr txBox="1"/>
          <p:nvPr/>
        </p:nvSpPr>
        <p:spPr>
          <a:xfrm>
            <a:off x="6775704" y="5303520"/>
            <a:ext cx="1938528" cy="219456"/>
          </a:xfrm>
          <a:prstGeom prst="rect">
            <a:avLst/>
          </a:prstGeom>
          <a:noFill/>
        </p:spPr>
        <p:txBody>
          <a:bodyPr wrap="square" lIns="0" rIns="0" tIns="0" bIns="0" anchor="t">
            <a:spAutoFit/>
          </a:bodyPr>
          <a:lstStyle/>
          <a:p>
            <a:pPr algn="l">
              <a:spcBef>
                <a:spcPts val="0"/>
              </a:spcBef>
              <a:spcAft>
                <a:spcPts val="0"/>
              </a:spcAft>
            </a:pPr>
            <a:r>
              <a:rPr sz="850" b="1" i="0">
                <a:solidFill>
                  <a:srgbClr val="E8A33D"/>
                </a:solidFill>
                <a:latin typeface="Calibri"/>
              </a:rPr>
              <a:t>PEDAGOGY</a:t>
            </a:r>
          </a:p>
        </p:txBody>
      </p:sp>
      <p:sp>
        <p:nvSpPr>
          <p:cNvPr id="18" name="TextBox 17"/>
          <p:cNvSpPr txBox="1"/>
          <p:nvPr/>
        </p:nvSpPr>
        <p:spPr>
          <a:xfrm>
            <a:off x="6775704" y="5522976"/>
            <a:ext cx="1938528" cy="566928"/>
          </a:xfrm>
          <a:prstGeom prst="rect">
            <a:avLst/>
          </a:prstGeom>
          <a:noFill/>
        </p:spPr>
        <p:txBody>
          <a:bodyPr wrap="square" lIns="0" rIns="0" tIns="0" bIns="0" anchor="t">
            <a:spAutoFit/>
          </a:bodyPr>
          <a:lstStyle/>
          <a:p>
            <a:pPr algn="l">
              <a:lnSpc>
                <a:spcPct val="110000"/>
              </a:lnSpc>
              <a:spcBef>
                <a:spcPts val="0"/>
              </a:spcBef>
              <a:spcAft>
                <a:spcPts val="0"/>
              </a:spcAft>
            </a:pPr>
            <a:r>
              <a:rPr sz="1150" b="0" i="0">
                <a:solidFill>
                  <a:srgbClr val="FFFFFF"/>
                </a:solidFill>
                <a:latin typeface="Calibri"/>
              </a:rPr>
              <a:t>Worked case · OLTP/OLAP analysis</a:t>
            </a:r>
          </a:p>
        </p:txBody>
      </p:sp>
      <p:sp>
        <p:nvSpPr>
          <p:cNvPr id="19" name="TextBox 18"/>
          <p:cNvSpPr txBox="1"/>
          <p:nvPr/>
        </p:nvSpPr>
        <p:spPr>
          <a:xfrm>
            <a:off x="548640" y="6272784"/>
            <a:ext cx="11064240" cy="274320"/>
          </a:xfrm>
          <a:prstGeom prst="rect">
            <a:avLst/>
          </a:prstGeom>
          <a:noFill/>
        </p:spPr>
        <p:txBody>
          <a:bodyPr wrap="square" lIns="0" rIns="0" tIns="0" bIns="0" anchor="t">
            <a:spAutoFit/>
          </a:bodyPr>
          <a:lstStyle/>
          <a:p>
            <a:pPr algn="l">
              <a:spcBef>
                <a:spcPts val="0"/>
              </a:spcBef>
              <a:spcAft>
                <a:spcPts val="0"/>
              </a:spcAft>
            </a:pPr>
            <a:r>
              <a:rPr sz="790" b="0" i="0">
                <a:solidFill>
                  <a:srgbClr val="6D8A88"/>
                </a:solidFill>
                <a:latin typeface="Calibri"/>
              </a:rPr>
              <a:t>Core reading: Inmon, Building the Data Warehouse, Ch. 1–3  ·  Kimball &amp; Ross, The Data Warehouse Toolkit, Ch. 1  ·  Sharda, Delen &amp; Turban, Ch. 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bg>
    <p:bgPr>
      <a:solidFill>
        <a:srgbClr val="FFFFFF"/>
      </a:solidFill>
      <a:effectLst/>
    </p:bgPr>
  </p:bg>
  <p:cSld>
    <p:spTree>
      <p:nvGrpSpPr>
        <p:cNvPr id="1" name=""/>
        <p:cNvGrpSpPr/>
        <p:nvPr/>
      </p:nvGrpSpPr>
      <p:grpSpPr/>
      <p:sp>
        <p:nvSpPr>
          <p:cNvPr id="2" name="Oval 1"/>
          <p:cNvSpPr/>
          <p:nvPr/>
        </p:nvSpPr>
        <p:spPr>
          <a:xfrm>
            <a:off x="548640" y="374904"/>
            <a:ext cx="109728" cy="109728"/>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283464"/>
            <a:ext cx="10893247" cy="256032"/>
          </a:xfrm>
          <a:prstGeom prst="rect">
            <a:avLst/>
          </a:prstGeom>
          <a:noFill/>
        </p:spPr>
        <p:txBody>
          <a:bodyPr wrap="square" lIns="0" rIns="0" tIns="0" bIns="0" anchor="t">
            <a:spAutoFit/>
          </a:bodyPr>
          <a:lstStyle/>
          <a:p>
            <a:pPr algn="l">
              <a:spcBef>
                <a:spcPts val="0"/>
              </a:spcBef>
              <a:spcAft>
                <a:spcPts val="0"/>
              </a:spcAft>
            </a:pPr>
            <a:r>
              <a:rPr sz="1000" b="1" i="0">
                <a:solidFill>
                  <a:srgbClr val="B87A1E"/>
                </a:solidFill>
                <a:latin typeface="Calibri"/>
              </a:rPr>
              <a:t>SESSION ROADMAP</a:t>
            </a:r>
          </a:p>
        </p:txBody>
      </p:sp>
      <p:sp>
        <p:nvSpPr>
          <p:cNvPr id="4" name="TextBox 3"/>
          <p:cNvSpPr txBox="1"/>
          <p:nvPr/>
        </p:nvSpPr>
        <p:spPr>
          <a:xfrm>
            <a:off x="548640" y="548640"/>
            <a:ext cx="11094415" cy="640080"/>
          </a:xfrm>
          <a:prstGeom prst="rect">
            <a:avLst/>
          </a:prstGeom>
          <a:noFill/>
        </p:spPr>
        <p:txBody>
          <a:bodyPr wrap="square" lIns="0" rIns="0" tIns="0" bIns="0" anchor="t">
            <a:spAutoFit/>
          </a:bodyPr>
          <a:lstStyle/>
          <a:p>
            <a:pPr algn="l">
              <a:spcBef>
                <a:spcPts val="0"/>
              </a:spcBef>
              <a:spcAft>
                <a:spcPts val="0"/>
              </a:spcAft>
            </a:pPr>
            <a:r>
              <a:rPr sz="2600" b="1" i="0">
                <a:solidFill>
                  <a:srgbClr val="123B47"/>
                </a:solidFill>
                <a:latin typeface="Cambria"/>
              </a:rPr>
              <a:t>Four questions, ninety minutes</a:t>
            </a:r>
          </a:p>
        </p:txBody>
      </p:sp>
      <p:sp>
        <p:nvSpPr>
          <p:cNvPr id="5" name="TextBox 4"/>
          <p:cNvSpPr txBox="1"/>
          <p:nvPr/>
        </p:nvSpPr>
        <p:spPr>
          <a:xfrm>
            <a:off x="548640" y="6382512"/>
            <a:ext cx="8686800" cy="256032"/>
          </a:xfrm>
          <a:prstGeom prst="rect">
            <a:avLst/>
          </a:prstGeom>
          <a:noFill/>
        </p:spPr>
        <p:txBody>
          <a:bodyPr wrap="square" lIns="0" rIns="0" tIns="0" bIns="0" anchor="t">
            <a:spAutoFit/>
          </a:bodyPr>
          <a:lstStyle/>
          <a:p>
            <a:pPr algn="l">
              <a:spcBef>
                <a:spcPts val="0"/>
              </a:spcBef>
              <a:spcAft>
                <a:spcPts val="0"/>
              </a:spcAft>
            </a:pPr>
            <a:r>
              <a:rPr sz="900" b="0" i="0">
                <a:solidFill>
                  <a:srgbClr val="5C7079"/>
                </a:solidFill>
                <a:latin typeface="Calibri"/>
              </a:rPr>
              <a:t>Business Intelligence  |  Session 6 — Data Warehousing &amp; OLTP/OLAP  |  IILM Jaipur, MBA</a:t>
            </a:r>
          </a:p>
        </p:txBody>
      </p:sp>
      <p:sp>
        <p:nvSpPr>
          <p:cNvPr id="6" name="TextBox 5"/>
          <p:cNvSpPr txBox="1"/>
          <p:nvPr/>
        </p:nvSpPr>
        <p:spPr>
          <a:xfrm>
            <a:off x="10545775" y="6382512"/>
            <a:ext cx="1097280" cy="256032"/>
          </a:xfrm>
          <a:prstGeom prst="rect">
            <a:avLst/>
          </a:prstGeom>
          <a:noFill/>
        </p:spPr>
        <p:txBody>
          <a:bodyPr wrap="square" lIns="0" rIns="0" tIns="0" bIns="0" anchor="t">
            <a:spAutoFit/>
          </a:bodyPr>
          <a:lstStyle/>
          <a:p>
            <a:pPr algn="r">
              <a:spcBef>
                <a:spcPts val="0"/>
              </a:spcBef>
              <a:spcAft>
                <a:spcPts val="0"/>
              </a:spcAft>
            </a:pPr>
            <a:r>
              <a:rPr sz="950" b="1" i="0">
                <a:solidFill>
                  <a:srgbClr val="1B7F79"/>
                </a:solidFill>
                <a:latin typeface="Calibri"/>
              </a:rPr>
              <a:t>2</a:t>
            </a:r>
          </a:p>
        </p:txBody>
      </p:sp>
      <p:sp>
        <p:nvSpPr>
          <p:cNvPr id="7" name="Rounded Rectangle 6"/>
          <p:cNvSpPr/>
          <p:nvPr/>
        </p:nvSpPr>
        <p:spPr>
          <a:xfrm>
            <a:off x="548640" y="1316736"/>
            <a:ext cx="2581579" cy="2395728"/>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Oval 7"/>
          <p:cNvSpPr/>
          <p:nvPr/>
        </p:nvSpPr>
        <p:spPr>
          <a:xfrm>
            <a:off x="749808" y="1527048"/>
            <a:ext cx="384048" cy="384048"/>
          </a:xfrm>
          <a:prstGeom prst="ellipse">
            <a:avLst/>
          </a:prstGeom>
          <a:solidFill>
            <a:srgbClr val="1B7F7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250" b="1" i="0">
                <a:solidFill>
                  <a:srgbClr val="FFFFFF"/>
                </a:solidFill>
                <a:latin typeface="Calibri"/>
              </a:rPr>
              <a:t>1</a:t>
            </a:r>
          </a:p>
        </p:txBody>
      </p:sp>
      <p:sp>
        <p:nvSpPr>
          <p:cNvPr id="9" name="TextBox 8"/>
          <p:cNvSpPr txBox="1"/>
          <p:nvPr/>
        </p:nvSpPr>
        <p:spPr>
          <a:xfrm>
            <a:off x="1252728" y="1517904"/>
            <a:ext cx="1676323" cy="402336"/>
          </a:xfrm>
          <a:prstGeom prst="rect">
            <a:avLst/>
          </a:prstGeom>
          <a:noFill/>
        </p:spPr>
        <p:txBody>
          <a:bodyPr wrap="square" lIns="0" rIns="0" tIns="0" bIns="0" anchor="ctr">
            <a:spAutoFit/>
          </a:bodyPr>
          <a:lstStyle/>
          <a:p>
            <a:pPr algn="l">
              <a:spcBef>
                <a:spcPts val="0"/>
              </a:spcBef>
              <a:spcAft>
                <a:spcPts val="0"/>
              </a:spcAft>
            </a:pPr>
            <a:r>
              <a:rPr sz="1300" b="1" i="0">
                <a:solidFill>
                  <a:srgbClr val="123B47"/>
                </a:solidFill>
                <a:latin typeface="Calibri"/>
              </a:rPr>
              <a:t>Why a separate store?</a:t>
            </a:r>
          </a:p>
        </p:txBody>
      </p:sp>
      <p:sp>
        <p:nvSpPr>
          <p:cNvPr id="10" name="TextBox 9"/>
          <p:cNvSpPr txBox="1"/>
          <p:nvPr/>
        </p:nvSpPr>
        <p:spPr>
          <a:xfrm>
            <a:off x="749808" y="2048256"/>
            <a:ext cx="2179243" cy="1005840"/>
          </a:xfrm>
          <a:prstGeom prst="rect">
            <a:avLst/>
          </a:prstGeom>
          <a:noFill/>
        </p:spPr>
        <p:txBody>
          <a:bodyPr wrap="square" lIns="0" rIns="0" tIns="0" bIns="0" anchor="t">
            <a:spAutoFit/>
          </a:bodyPr>
          <a:lstStyle/>
          <a:p>
            <a:pPr algn="l">
              <a:lnSpc>
                <a:spcPct val="120000"/>
              </a:lnSpc>
              <a:spcBef>
                <a:spcPts val="0"/>
              </a:spcBef>
              <a:spcAft>
                <a:spcPts val="0"/>
              </a:spcAft>
            </a:pPr>
            <a:r>
              <a:rPr sz="950" b="0" i="0">
                <a:solidFill>
                  <a:srgbClr val="2E3F47"/>
                </a:solidFill>
                <a:latin typeface="Calibri"/>
              </a:rPr>
              <a:t>The conflict between two workloads and
Inmon's four defining properties</a:t>
            </a:r>
          </a:p>
        </p:txBody>
      </p:sp>
      <p:sp>
        <p:nvSpPr>
          <p:cNvPr id="11" name="Rounded Rectangle 10"/>
          <p:cNvSpPr/>
          <p:nvPr/>
        </p:nvSpPr>
        <p:spPr>
          <a:xfrm>
            <a:off x="749808" y="3127248"/>
            <a:ext cx="1051560" cy="310896"/>
          </a:xfrm>
          <a:prstGeom prst="roundRect">
            <a:avLst>
              <a:gd name="adj" fmla="val 40000"/>
            </a:avLst>
          </a:prstGeom>
          <a:solidFill>
            <a:srgbClr val="1B7F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900" b="1" i="0">
                <a:solidFill>
                  <a:srgbClr val="FFFFFF"/>
                </a:solidFill>
                <a:latin typeface="Calibri"/>
              </a:rPr>
              <a:t>18 min</a:t>
            </a:r>
          </a:p>
        </p:txBody>
      </p:sp>
      <p:sp>
        <p:nvSpPr>
          <p:cNvPr id="12" name="Rounded Rectangle 11"/>
          <p:cNvSpPr/>
          <p:nvPr/>
        </p:nvSpPr>
        <p:spPr>
          <a:xfrm>
            <a:off x="3386251" y="1316736"/>
            <a:ext cx="2581579" cy="2395728"/>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3587419" y="1527048"/>
            <a:ext cx="384048" cy="384048"/>
          </a:xfrm>
          <a:prstGeom prst="ellipse">
            <a:avLst/>
          </a:prstGeom>
          <a:solidFill>
            <a:srgbClr val="123B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250" b="1" i="0">
                <a:solidFill>
                  <a:srgbClr val="FFFFFF"/>
                </a:solidFill>
                <a:latin typeface="Calibri"/>
              </a:rPr>
              <a:t>2</a:t>
            </a:r>
          </a:p>
        </p:txBody>
      </p:sp>
      <p:sp>
        <p:nvSpPr>
          <p:cNvPr id="14" name="TextBox 13"/>
          <p:cNvSpPr txBox="1"/>
          <p:nvPr/>
        </p:nvSpPr>
        <p:spPr>
          <a:xfrm>
            <a:off x="4090339" y="1517904"/>
            <a:ext cx="1676323" cy="402336"/>
          </a:xfrm>
          <a:prstGeom prst="rect">
            <a:avLst/>
          </a:prstGeom>
          <a:noFill/>
        </p:spPr>
        <p:txBody>
          <a:bodyPr wrap="square" lIns="0" rIns="0" tIns="0" bIns="0" anchor="ctr">
            <a:spAutoFit/>
          </a:bodyPr>
          <a:lstStyle/>
          <a:p>
            <a:pPr algn="l">
              <a:spcBef>
                <a:spcPts val="0"/>
              </a:spcBef>
              <a:spcAft>
                <a:spcPts val="0"/>
              </a:spcAft>
            </a:pPr>
            <a:r>
              <a:rPr sz="1300" b="1" i="0">
                <a:solidFill>
                  <a:srgbClr val="123B47"/>
                </a:solidFill>
                <a:latin typeface="Calibri"/>
              </a:rPr>
              <a:t>OLTP against OLAP</a:t>
            </a:r>
          </a:p>
        </p:txBody>
      </p:sp>
      <p:sp>
        <p:nvSpPr>
          <p:cNvPr id="15" name="TextBox 14"/>
          <p:cNvSpPr txBox="1"/>
          <p:nvPr/>
        </p:nvSpPr>
        <p:spPr>
          <a:xfrm>
            <a:off x="3587419" y="2048256"/>
            <a:ext cx="2179243" cy="1005840"/>
          </a:xfrm>
          <a:prstGeom prst="rect">
            <a:avLst/>
          </a:prstGeom>
          <a:noFill/>
        </p:spPr>
        <p:txBody>
          <a:bodyPr wrap="square" lIns="0" rIns="0" tIns="0" bIns="0" anchor="t">
            <a:spAutoFit/>
          </a:bodyPr>
          <a:lstStyle/>
          <a:p>
            <a:pPr algn="l">
              <a:lnSpc>
                <a:spcPct val="120000"/>
              </a:lnSpc>
              <a:spcBef>
                <a:spcPts val="0"/>
              </a:spcBef>
              <a:spcAft>
                <a:spcPts val="0"/>
              </a:spcAft>
            </a:pPr>
            <a:r>
              <a:rPr sz="950" b="0" i="0">
                <a:solidFill>
                  <a:srgbClr val="2E3F47"/>
                </a:solidFill>
                <a:latin typeface="Calibri"/>
              </a:rPr>
              <a:t>The two workloads, the arithmetic
and the five OLAP operations</a:t>
            </a:r>
          </a:p>
        </p:txBody>
      </p:sp>
      <p:sp>
        <p:nvSpPr>
          <p:cNvPr id="16" name="Rounded Rectangle 15"/>
          <p:cNvSpPr/>
          <p:nvPr/>
        </p:nvSpPr>
        <p:spPr>
          <a:xfrm>
            <a:off x="3587419" y="3127248"/>
            <a:ext cx="1051560" cy="310896"/>
          </a:xfrm>
          <a:prstGeom prst="roundRect">
            <a:avLst>
              <a:gd name="adj" fmla="val 40000"/>
            </a:avLst>
          </a:prstGeom>
          <a:solidFill>
            <a:srgbClr val="123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900" b="1" i="0">
                <a:solidFill>
                  <a:srgbClr val="FFFFFF"/>
                </a:solidFill>
                <a:latin typeface="Calibri"/>
              </a:rPr>
              <a:t>22 min</a:t>
            </a:r>
          </a:p>
        </p:txBody>
      </p:sp>
      <p:sp>
        <p:nvSpPr>
          <p:cNvPr id="17" name="Rounded Rectangle 16"/>
          <p:cNvSpPr/>
          <p:nvPr/>
        </p:nvSpPr>
        <p:spPr>
          <a:xfrm>
            <a:off x="6223863" y="1316736"/>
            <a:ext cx="2581579" cy="2395728"/>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6425031" y="1527048"/>
            <a:ext cx="384048" cy="384048"/>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250" b="1" i="0">
                <a:solidFill>
                  <a:srgbClr val="3A2703"/>
                </a:solidFill>
                <a:latin typeface="Calibri"/>
              </a:rPr>
              <a:t>3</a:t>
            </a:r>
          </a:p>
        </p:txBody>
      </p:sp>
      <p:sp>
        <p:nvSpPr>
          <p:cNvPr id="19" name="TextBox 18"/>
          <p:cNvSpPr txBox="1"/>
          <p:nvPr/>
        </p:nvSpPr>
        <p:spPr>
          <a:xfrm>
            <a:off x="6927951" y="1517904"/>
            <a:ext cx="1676323" cy="402336"/>
          </a:xfrm>
          <a:prstGeom prst="rect">
            <a:avLst/>
          </a:prstGeom>
          <a:noFill/>
        </p:spPr>
        <p:txBody>
          <a:bodyPr wrap="square" lIns="0" rIns="0" tIns="0" bIns="0" anchor="ctr">
            <a:spAutoFit/>
          </a:bodyPr>
          <a:lstStyle/>
          <a:p>
            <a:pPr algn="l">
              <a:spcBef>
                <a:spcPts val="0"/>
              </a:spcBef>
              <a:spcAft>
                <a:spcPts val="0"/>
              </a:spcAft>
            </a:pPr>
            <a:r>
              <a:rPr sz="1300" b="1" i="0">
                <a:solidFill>
                  <a:srgbClr val="123B47"/>
                </a:solidFill>
                <a:latin typeface="Calibri"/>
              </a:rPr>
              <a:t>How is it built?</a:t>
            </a:r>
          </a:p>
        </p:txBody>
      </p:sp>
      <p:sp>
        <p:nvSpPr>
          <p:cNvPr id="20" name="TextBox 19"/>
          <p:cNvSpPr txBox="1"/>
          <p:nvPr/>
        </p:nvSpPr>
        <p:spPr>
          <a:xfrm>
            <a:off x="6425031" y="2048256"/>
            <a:ext cx="2179243" cy="1005840"/>
          </a:xfrm>
          <a:prstGeom prst="rect">
            <a:avLst/>
          </a:prstGeom>
          <a:noFill/>
        </p:spPr>
        <p:txBody>
          <a:bodyPr wrap="square" lIns="0" rIns="0" tIns="0" bIns="0" anchor="t">
            <a:spAutoFit/>
          </a:bodyPr>
          <a:lstStyle/>
          <a:p>
            <a:pPr algn="l">
              <a:lnSpc>
                <a:spcPct val="120000"/>
              </a:lnSpc>
              <a:spcBef>
                <a:spcPts val="0"/>
              </a:spcBef>
              <a:spcAft>
                <a:spcPts val="0"/>
              </a:spcAft>
            </a:pPr>
            <a:r>
              <a:rPr sz="950" b="0" i="0">
                <a:solidFill>
                  <a:srgbClr val="2E3F47"/>
                </a:solidFill>
                <a:latin typeface="Calibri"/>
              </a:rPr>
              <a:t>Layered architecture, ETL against ELT,
Inmon, Kimball and the lakehouse</a:t>
            </a:r>
          </a:p>
        </p:txBody>
      </p:sp>
      <p:sp>
        <p:nvSpPr>
          <p:cNvPr id="21" name="Rounded Rectangle 20"/>
          <p:cNvSpPr/>
          <p:nvPr/>
        </p:nvSpPr>
        <p:spPr>
          <a:xfrm>
            <a:off x="6425031" y="3127248"/>
            <a:ext cx="1051560" cy="310896"/>
          </a:xfrm>
          <a:prstGeom prst="roundRect">
            <a:avLst>
              <a:gd name="adj" fmla="val 40000"/>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900" b="1" i="0">
                <a:solidFill>
                  <a:srgbClr val="3A2703"/>
                </a:solidFill>
                <a:latin typeface="Calibri"/>
              </a:rPr>
              <a:t>25 min</a:t>
            </a:r>
          </a:p>
        </p:txBody>
      </p:sp>
      <p:sp>
        <p:nvSpPr>
          <p:cNvPr id="22" name="Rounded Rectangle 21"/>
          <p:cNvSpPr/>
          <p:nvPr/>
        </p:nvSpPr>
        <p:spPr>
          <a:xfrm>
            <a:off x="9061475" y="1316736"/>
            <a:ext cx="2581579" cy="2395728"/>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9262643" y="1527048"/>
            <a:ext cx="384048" cy="384048"/>
          </a:xfrm>
          <a:prstGeom prst="ellipse">
            <a:avLst/>
          </a:prstGeom>
          <a:solidFill>
            <a:srgbClr val="A63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250" b="1" i="0">
                <a:solidFill>
                  <a:srgbClr val="FFFFFF"/>
                </a:solidFill>
                <a:latin typeface="Calibri"/>
              </a:rPr>
              <a:t>4</a:t>
            </a:r>
          </a:p>
        </p:txBody>
      </p:sp>
      <p:sp>
        <p:nvSpPr>
          <p:cNvPr id="24" name="TextBox 23"/>
          <p:cNvSpPr txBox="1"/>
          <p:nvPr/>
        </p:nvSpPr>
        <p:spPr>
          <a:xfrm>
            <a:off x="9765563" y="1517904"/>
            <a:ext cx="1676323" cy="402336"/>
          </a:xfrm>
          <a:prstGeom prst="rect">
            <a:avLst/>
          </a:prstGeom>
          <a:noFill/>
        </p:spPr>
        <p:txBody>
          <a:bodyPr wrap="square" lIns="0" rIns="0" tIns="0" bIns="0" anchor="ctr">
            <a:spAutoFit/>
          </a:bodyPr>
          <a:lstStyle/>
          <a:p>
            <a:pPr algn="l">
              <a:spcBef>
                <a:spcPts val="0"/>
              </a:spcBef>
              <a:spcAft>
                <a:spcPts val="0"/>
              </a:spcAft>
            </a:pPr>
            <a:r>
              <a:rPr sz="1300" b="1" i="0">
                <a:solidFill>
                  <a:srgbClr val="123B47"/>
                </a:solidFill>
                <a:latin typeface="Calibri"/>
              </a:rPr>
              <a:t>How does it fail?</a:t>
            </a:r>
          </a:p>
        </p:txBody>
      </p:sp>
      <p:sp>
        <p:nvSpPr>
          <p:cNvPr id="25" name="TextBox 24"/>
          <p:cNvSpPr txBox="1"/>
          <p:nvPr/>
        </p:nvSpPr>
        <p:spPr>
          <a:xfrm>
            <a:off x="9262643" y="2048256"/>
            <a:ext cx="2179243" cy="1005840"/>
          </a:xfrm>
          <a:prstGeom prst="rect">
            <a:avLst/>
          </a:prstGeom>
          <a:noFill/>
        </p:spPr>
        <p:txBody>
          <a:bodyPr wrap="square" lIns="0" rIns="0" tIns="0" bIns="0" anchor="t">
            <a:spAutoFit/>
          </a:bodyPr>
          <a:lstStyle/>
          <a:p>
            <a:pPr algn="l">
              <a:lnSpc>
                <a:spcPct val="120000"/>
              </a:lnSpc>
              <a:spcBef>
                <a:spcPts val="0"/>
              </a:spcBef>
              <a:spcAft>
                <a:spcPts val="0"/>
              </a:spcAft>
            </a:pPr>
            <a:r>
              <a:rPr sz="950" b="0" i="0">
                <a:solidFill>
                  <a:srgbClr val="2E3F47"/>
                </a:solidFill>
                <a:latin typeface="Calibri"/>
              </a:rPr>
              <a:t>History, cost, a worked case
and the irreversible mistakes</a:t>
            </a:r>
          </a:p>
        </p:txBody>
      </p:sp>
      <p:sp>
        <p:nvSpPr>
          <p:cNvPr id="26" name="Rounded Rectangle 25"/>
          <p:cNvSpPr/>
          <p:nvPr/>
        </p:nvSpPr>
        <p:spPr>
          <a:xfrm>
            <a:off x="9262643" y="3127248"/>
            <a:ext cx="1051560" cy="310896"/>
          </a:xfrm>
          <a:prstGeom prst="roundRect">
            <a:avLst>
              <a:gd name="adj" fmla="val 40000"/>
            </a:avLst>
          </a:prstGeom>
          <a:solidFill>
            <a:srgbClr val="A63B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900" b="1" i="0">
                <a:solidFill>
                  <a:srgbClr val="FFFFFF"/>
                </a:solidFill>
                <a:latin typeface="Calibri"/>
              </a:rPr>
              <a:t>25 min</a:t>
            </a:r>
          </a:p>
        </p:txBody>
      </p:sp>
      <p:sp>
        <p:nvSpPr>
          <p:cNvPr id="27" name="Rounded Rectangle 26"/>
          <p:cNvSpPr/>
          <p:nvPr/>
        </p:nvSpPr>
        <p:spPr>
          <a:xfrm>
            <a:off x="548640" y="3877056"/>
            <a:ext cx="5394960" cy="1828800"/>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749808" y="4087368"/>
            <a:ext cx="384048" cy="384048"/>
          </a:xfrm>
          <a:prstGeom prst="ellipse">
            <a:avLst/>
          </a:prstGeom>
          <a:solidFill>
            <a:srgbClr val="1B7F7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250" b="1" i="0">
                <a:solidFill>
                  <a:srgbClr val="FFFFFF"/>
                </a:solidFill>
                <a:latin typeface="Calibri"/>
              </a:rPr>
              <a:t>✓</a:t>
            </a:r>
          </a:p>
        </p:txBody>
      </p:sp>
      <p:sp>
        <p:nvSpPr>
          <p:cNvPr id="29" name="TextBox 28"/>
          <p:cNvSpPr txBox="1"/>
          <p:nvPr/>
        </p:nvSpPr>
        <p:spPr>
          <a:xfrm>
            <a:off x="1252728" y="4078224"/>
            <a:ext cx="4480560" cy="402336"/>
          </a:xfrm>
          <a:prstGeom prst="rect">
            <a:avLst/>
          </a:prstGeom>
          <a:noFill/>
        </p:spPr>
        <p:txBody>
          <a:bodyPr wrap="square" lIns="0" rIns="0" tIns="0" bIns="0" anchor="ctr">
            <a:spAutoFit/>
          </a:bodyPr>
          <a:lstStyle/>
          <a:p>
            <a:pPr algn="l">
              <a:spcBef>
                <a:spcPts val="0"/>
              </a:spcBef>
              <a:spcAft>
                <a:spcPts val="0"/>
              </a:spcAft>
            </a:pPr>
            <a:r>
              <a:rPr sz="1300" b="1" i="0">
                <a:solidFill>
                  <a:srgbClr val="123B47"/>
                </a:solidFill>
                <a:latin typeface="Calibri"/>
              </a:rPr>
              <a:t>What you will be able to do</a:t>
            </a:r>
          </a:p>
        </p:txBody>
      </p:sp>
      <p:sp>
        <p:nvSpPr>
          <p:cNvPr id="30" name="TextBox 29"/>
          <p:cNvSpPr txBox="1"/>
          <p:nvPr/>
        </p:nvSpPr>
        <p:spPr>
          <a:xfrm>
            <a:off x="749808" y="4590288"/>
            <a:ext cx="4992624" cy="1005840"/>
          </a:xfrm>
          <a:prstGeom prst="rect">
            <a:avLst/>
          </a:prstGeom>
          <a:noFill/>
        </p:spPr>
        <p:txBody>
          <a:bodyPr wrap="square" lIns="0" rIns="0" tIns="0" bIns="0" anchor="t">
            <a:spAutoFit/>
          </a:bodyPr>
          <a:lstStyle/>
          <a:p>
            <a:pPr algn="l">
              <a:lnSpc>
                <a:spcPct val="112000"/>
              </a:lnSpc>
              <a:spcAft>
                <a:spcPts val="300"/>
              </a:spcAft>
            </a:pPr>
            <a:r>
              <a:rPr sz="950">
                <a:solidFill>
                  <a:srgbClr val="E8A33D"/>
                </a:solidFill>
                <a:latin typeface="Calibri"/>
              </a:rPr>
              <a:t>▪  </a:t>
            </a:r>
            <a:r>
              <a:rPr sz="950">
                <a:solidFill>
                  <a:srgbClr val="2E3F47"/>
                </a:solidFill>
                <a:latin typeface="Calibri"/>
              </a:rPr>
              <a:t>Diagnose which reporting complaints are caused by analysing on an operational database</a:t>
            </a:r>
          </a:p>
          <a:p>
            <a:pPr>
              <a:lnSpc>
                <a:spcPct val="112000"/>
              </a:lnSpc>
              <a:spcAft>
                <a:spcPts val="300"/>
              </a:spcAft>
            </a:pPr>
            <a:r>
              <a:rPr sz="950">
                <a:solidFill>
                  <a:srgbClr val="E8A33D"/>
                </a:solidFill>
                <a:latin typeface="Calibri"/>
              </a:rPr>
              <a:t>▪  </a:t>
            </a:r>
            <a:r>
              <a:rPr sz="950">
                <a:solidFill>
                  <a:srgbClr val="2E3F47"/>
                </a:solidFill>
                <a:latin typeface="Calibri"/>
              </a:rPr>
              <a:t>Specify the layers of an analytical architecture that would fix them</a:t>
            </a:r>
          </a:p>
          <a:p>
            <a:pPr>
              <a:lnSpc>
                <a:spcPct val="112000"/>
              </a:lnSpc>
              <a:spcAft>
                <a:spcPts val="300"/>
              </a:spcAft>
            </a:pPr>
            <a:r>
              <a:rPr sz="950">
                <a:solidFill>
                  <a:srgbClr val="E8A33D"/>
                </a:solidFill>
                <a:latin typeface="Calibri"/>
              </a:rPr>
              <a:t>▪  </a:t>
            </a:r>
            <a:r>
              <a:rPr sz="950">
                <a:solidFill>
                  <a:srgbClr val="2E3F47"/>
                </a:solidFill>
                <a:latin typeface="Calibri"/>
              </a:rPr>
              <a:t>Choose ETL or ELT, and Inmon or Kimball, with reasons</a:t>
            </a:r>
          </a:p>
        </p:txBody>
      </p:sp>
      <p:sp>
        <p:nvSpPr>
          <p:cNvPr id="31" name="Rounded Rectangle 30"/>
          <p:cNvSpPr/>
          <p:nvPr/>
        </p:nvSpPr>
        <p:spPr>
          <a:xfrm>
            <a:off x="6245352" y="3877056"/>
            <a:ext cx="5394960" cy="1828800"/>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6446520" y="4087368"/>
            <a:ext cx="384048" cy="384048"/>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250" b="1" i="0">
                <a:solidFill>
                  <a:srgbClr val="3A2703"/>
                </a:solidFill>
                <a:latin typeface="Calibri"/>
              </a:rPr>
              <a:t>₹</a:t>
            </a:r>
          </a:p>
        </p:txBody>
      </p:sp>
      <p:sp>
        <p:nvSpPr>
          <p:cNvPr id="33" name="TextBox 32"/>
          <p:cNvSpPr txBox="1"/>
          <p:nvPr/>
        </p:nvSpPr>
        <p:spPr>
          <a:xfrm>
            <a:off x="6949440" y="4078224"/>
            <a:ext cx="4480560" cy="402336"/>
          </a:xfrm>
          <a:prstGeom prst="rect">
            <a:avLst/>
          </a:prstGeom>
          <a:noFill/>
        </p:spPr>
        <p:txBody>
          <a:bodyPr wrap="square" lIns="0" rIns="0" tIns="0" bIns="0" anchor="ctr">
            <a:spAutoFit/>
          </a:bodyPr>
          <a:lstStyle/>
          <a:p>
            <a:pPr algn="l">
              <a:spcBef>
                <a:spcPts val="0"/>
              </a:spcBef>
              <a:spcAft>
                <a:spcPts val="0"/>
              </a:spcAft>
            </a:pPr>
            <a:r>
              <a:rPr sz="1300" b="1" i="0">
                <a:solidFill>
                  <a:srgbClr val="123B47"/>
                </a:solidFill>
                <a:latin typeface="Calibri"/>
              </a:rPr>
              <a:t>Why a manager should care</a:t>
            </a:r>
          </a:p>
        </p:txBody>
      </p:sp>
      <p:sp>
        <p:nvSpPr>
          <p:cNvPr id="34" name="TextBox 33"/>
          <p:cNvSpPr txBox="1"/>
          <p:nvPr/>
        </p:nvSpPr>
        <p:spPr>
          <a:xfrm>
            <a:off x="6446520" y="4590288"/>
            <a:ext cx="4992624" cy="1005840"/>
          </a:xfrm>
          <a:prstGeom prst="rect">
            <a:avLst/>
          </a:prstGeom>
          <a:noFill/>
        </p:spPr>
        <p:txBody>
          <a:bodyPr wrap="square" lIns="0" rIns="0" tIns="0" bIns="0" anchor="t">
            <a:spAutoFit/>
          </a:bodyPr>
          <a:lstStyle/>
          <a:p>
            <a:pPr algn="l">
              <a:lnSpc>
                <a:spcPct val="118000"/>
              </a:lnSpc>
              <a:spcBef>
                <a:spcPts val="0"/>
              </a:spcBef>
              <a:spcAft>
                <a:spcPts val="0"/>
              </a:spcAft>
            </a:pPr>
            <a:r>
              <a:rPr sz="950" b="0" i="0">
                <a:solidFill>
                  <a:srgbClr val="2E3F47"/>
                </a:solidFill>
                <a:latin typeface="Calibri"/>
              </a:rPr>
              <a:t>A warehouse is usually the largest single line in a BI budget and the one whose benefits are hardest to state in advance. Knowing what it is actually for — and which of its costs are unavoidable — is what lets you approve, scope or challenge the proposal rather than defer to the vendor.</a:t>
            </a:r>
          </a:p>
        </p:txBody>
      </p:sp>
      <p:sp>
        <p:nvSpPr>
          <p:cNvPr id="35" name="Rounded Rectangle 34"/>
          <p:cNvSpPr/>
          <p:nvPr/>
        </p:nvSpPr>
        <p:spPr>
          <a:xfrm>
            <a:off x="548640" y="5870448"/>
            <a:ext cx="11094415" cy="457200"/>
          </a:xfrm>
          <a:prstGeom prst="roundRect">
            <a:avLst>
              <a:gd name="adj" fmla="val 6000"/>
            </a:avLst>
          </a:prstGeom>
          <a:solidFill>
            <a:srgbClr val="123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768096" y="5971032"/>
            <a:ext cx="10655503" cy="256032"/>
          </a:xfrm>
          <a:prstGeom prst="rect">
            <a:avLst/>
          </a:prstGeom>
          <a:noFill/>
        </p:spPr>
        <p:txBody>
          <a:bodyPr wrap="square" lIns="0" rIns="0" tIns="0" bIns="0" anchor="ctr">
            <a:spAutoFit/>
          </a:bodyPr>
          <a:lstStyle/>
          <a:p>
            <a:pPr algn="l">
              <a:lnSpc>
                <a:spcPct val="114000"/>
              </a:lnSpc>
            </a:pPr>
            <a:r>
              <a:rPr sz="1100" b="1">
                <a:solidFill>
                  <a:srgbClr val="E8A33D"/>
                </a:solidFill>
                <a:latin typeface="Calibri"/>
              </a:rPr>
              <a:t>The thread through all four parts.  </a:t>
            </a:r>
            <a:r>
              <a:rPr sz="1100">
                <a:solidFill>
                  <a:srgbClr val="FFFFFF"/>
                </a:solidFill>
                <a:latin typeface="Calibri"/>
              </a:rPr>
              <a:t>OLTP runs the business; OLAP understands the business. Everything in this session follows from that one distinction.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bg>
    <p:bgPr>
      <a:solidFill>
        <a:srgbClr val="FFFFFF"/>
      </a:solidFill>
      <a:effectLst/>
    </p:bgPr>
  </p:bg>
  <p:cSld>
    <p:spTree>
      <p:nvGrpSpPr>
        <p:cNvPr id="1" name=""/>
        <p:cNvGrpSpPr/>
        <p:nvPr/>
      </p:nvGrpSpPr>
      <p:grpSpPr/>
      <p:sp>
        <p:nvSpPr>
          <p:cNvPr id="2" name="Oval 1"/>
          <p:cNvSpPr/>
          <p:nvPr/>
        </p:nvSpPr>
        <p:spPr>
          <a:xfrm>
            <a:off x="548640" y="374904"/>
            <a:ext cx="109728" cy="109728"/>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283464"/>
            <a:ext cx="10893247" cy="256032"/>
          </a:xfrm>
          <a:prstGeom prst="rect">
            <a:avLst/>
          </a:prstGeom>
          <a:noFill/>
        </p:spPr>
        <p:txBody>
          <a:bodyPr wrap="square" lIns="0" rIns="0" tIns="0" bIns="0" anchor="t">
            <a:spAutoFit/>
          </a:bodyPr>
          <a:lstStyle/>
          <a:p>
            <a:pPr algn="l">
              <a:spcBef>
                <a:spcPts val="0"/>
              </a:spcBef>
              <a:spcAft>
                <a:spcPts val="0"/>
              </a:spcAft>
            </a:pPr>
            <a:r>
              <a:rPr sz="1000" b="1" i="0">
                <a:solidFill>
                  <a:srgbClr val="B87A1E"/>
                </a:solidFill>
                <a:latin typeface="Calibri"/>
              </a:rPr>
              <a:t>PART 1 · THE CONFLICT</a:t>
            </a:r>
          </a:p>
        </p:txBody>
      </p:sp>
      <p:sp>
        <p:nvSpPr>
          <p:cNvPr id="4" name="TextBox 3"/>
          <p:cNvSpPr txBox="1"/>
          <p:nvPr/>
        </p:nvSpPr>
        <p:spPr>
          <a:xfrm>
            <a:off x="548640" y="548640"/>
            <a:ext cx="11094415" cy="640080"/>
          </a:xfrm>
          <a:prstGeom prst="rect">
            <a:avLst/>
          </a:prstGeom>
          <a:noFill/>
        </p:spPr>
        <p:txBody>
          <a:bodyPr wrap="square" lIns="0" rIns="0" tIns="0" bIns="0" anchor="t">
            <a:spAutoFit/>
          </a:bodyPr>
          <a:lstStyle/>
          <a:p>
            <a:pPr algn="l">
              <a:spcBef>
                <a:spcPts val="0"/>
              </a:spcBef>
              <a:spcAft>
                <a:spcPts val="0"/>
              </a:spcAft>
            </a:pPr>
            <a:r>
              <a:rPr sz="2600" b="1" i="0">
                <a:solidFill>
                  <a:srgbClr val="123B47"/>
                </a:solidFill>
                <a:latin typeface="Cambria"/>
              </a:rPr>
              <a:t>One database cannot serve two opposite purposes</a:t>
            </a:r>
          </a:p>
        </p:txBody>
      </p:sp>
      <p:sp>
        <p:nvSpPr>
          <p:cNvPr id="5" name="TextBox 4"/>
          <p:cNvSpPr txBox="1"/>
          <p:nvPr/>
        </p:nvSpPr>
        <p:spPr>
          <a:xfrm>
            <a:off x="548640" y="6382512"/>
            <a:ext cx="8686800" cy="256032"/>
          </a:xfrm>
          <a:prstGeom prst="rect">
            <a:avLst/>
          </a:prstGeom>
          <a:noFill/>
        </p:spPr>
        <p:txBody>
          <a:bodyPr wrap="square" lIns="0" rIns="0" tIns="0" bIns="0" anchor="t">
            <a:spAutoFit/>
          </a:bodyPr>
          <a:lstStyle/>
          <a:p>
            <a:pPr algn="l">
              <a:spcBef>
                <a:spcPts val="0"/>
              </a:spcBef>
              <a:spcAft>
                <a:spcPts val="0"/>
              </a:spcAft>
            </a:pPr>
            <a:r>
              <a:rPr sz="900" b="0" i="0">
                <a:solidFill>
                  <a:srgbClr val="5C7079"/>
                </a:solidFill>
                <a:latin typeface="Calibri"/>
              </a:rPr>
              <a:t>Business Intelligence  |  Session 6 — Data Warehousing &amp; OLTP/OLAP  |  IILM Jaipur, MBA</a:t>
            </a:r>
          </a:p>
        </p:txBody>
      </p:sp>
      <p:sp>
        <p:nvSpPr>
          <p:cNvPr id="6" name="TextBox 5"/>
          <p:cNvSpPr txBox="1"/>
          <p:nvPr/>
        </p:nvSpPr>
        <p:spPr>
          <a:xfrm>
            <a:off x="10545775" y="6382512"/>
            <a:ext cx="1097280" cy="256032"/>
          </a:xfrm>
          <a:prstGeom prst="rect">
            <a:avLst/>
          </a:prstGeom>
          <a:noFill/>
        </p:spPr>
        <p:txBody>
          <a:bodyPr wrap="square" lIns="0" rIns="0" tIns="0" bIns="0" anchor="t">
            <a:spAutoFit/>
          </a:bodyPr>
          <a:lstStyle/>
          <a:p>
            <a:pPr algn="r">
              <a:spcBef>
                <a:spcPts val="0"/>
              </a:spcBef>
              <a:spcAft>
                <a:spcPts val="0"/>
              </a:spcAft>
            </a:pPr>
            <a:r>
              <a:rPr sz="950" b="1" i="0">
                <a:solidFill>
                  <a:srgbClr val="1B7F79"/>
                </a:solidFill>
                <a:latin typeface="Calibri"/>
              </a:rPr>
              <a:t>3</a:t>
            </a:r>
          </a:p>
        </p:txBody>
      </p:sp>
      <p:sp>
        <p:nvSpPr>
          <p:cNvPr id="7" name="Rounded Rectangle 6"/>
          <p:cNvSpPr/>
          <p:nvPr/>
        </p:nvSpPr>
        <p:spPr>
          <a:xfrm>
            <a:off x="548640" y="1298448"/>
            <a:ext cx="2609011" cy="1060704"/>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31520" y="1408176"/>
            <a:ext cx="2243251" cy="402336"/>
          </a:xfrm>
          <a:prstGeom prst="rect">
            <a:avLst/>
          </a:prstGeom>
          <a:noFill/>
        </p:spPr>
        <p:txBody>
          <a:bodyPr wrap="square" lIns="0" rIns="0" tIns="0" bIns="0" anchor="t">
            <a:spAutoFit/>
          </a:bodyPr>
          <a:lstStyle/>
          <a:p>
            <a:pPr algn="l">
              <a:spcBef>
                <a:spcPts val="0"/>
              </a:spcBef>
              <a:spcAft>
                <a:spcPts val="0"/>
              </a:spcAft>
            </a:pPr>
            <a:r>
              <a:rPr sz="2400" b="1" i="0">
                <a:solidFill>
                  <a:srgbClr val="1B7F79"/>
                </a:solidFill>
                <a:latin typeface="Cambria"/>
              </a:rPr>
              <a:t>1 : 1000s</a:t>
            </a:r>
          </a:p>
        </p:txBody>
      </p:sp>
      <p:sp>
        <p:nvSpPr>
          <p:cNvPr id="9" name="TextBox 8"/>
          <p:cNvSpPr txBox="1"/>
          <p:nvPr/>
        </p:nvSpPr>
        <p:spPr>
          <a:xfrm>
            <a:off x="731520" y="1828800"/>
            <a:ext cx="2243251" cy="457200"/>
          </a:xfrm>
          <a:prstGeom prst="rect">
            <a:avLst/>
          </a:prstGeom>
          <a:noFill/>
        </p:spPr>
        <p:txBody>
          <a:bodyPr wrap="square" lIns="0" rIns="0" tIns="0" bIns="0" anchor="t">
            <a:spAutoFit/>
          </a:bodyPr>
          <a:lstStyle/>
          <a:p>
            <a:pPr algn="l">
              <a:lnSpc>
                <a:spcPct val="112000"/>
              </a:lnSpc>
              <a:spcBef>
                <a:spcPts val="0"/>
              </a:spcBef>
              <a:spcAft>
                <a:spcPts val="0"/>
              </a:spcAft>
            </a:pPr>
            <a:r>
              <a:rPr sz="850" b="0" i="0">
                <a:solidFill>
                  <a:srgbClr val="5C7079"/>
                </a:solidFill>
                <a:latin typeface="Calibri"/>
              </a:rPr>
              <a:t>rows touched by a transaction against rows touched by one analytical query</a:t>
            </a:r>
          </a:p>
        </p:txBody>
      </p:sp>
      <p:sp>
        <p:nvSpPr>
          <p:cNvPr id="10" name="Rounded Rectangle 9"/>
          <p:cNvSpPr/>
          <p:nvPr/>
        </p:nvSpPr>
        <p:spPr>
          <a:xfrm>
            <a:off x="3377107" y="1298448"/>
            <a:ext cx="2609011" cy="1060704"/>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3559987" y="1408176"/>
            <a:ext cx="2243251" cy="402336"/>
          </a:xfrm>
          <a:prstGeom prst="rect">
            <a:avLst/>
          </a:prstGeom>
          <a:noFill/>
        </p:spPr>
        <p:txBody>
          <a:bodyPr wrap="square" lIns="0" rIns="0" tIns="0" bIns="0" anchor="t">
            <a:spAutoFit/>
          </a:bodyPr>
          <a:lstStyle/>
          <a:p>
            <a:pPr algn="l">
              <a:spcBef>
                <a:spcPts val="0"/>
              </a:spcBef>
              <a:spcAft>
                <a:spcPts val="0"/>
              </a:spcAft>
            </a:pPr>
            <a:r>
              <a:rPr sz="2400" b="1" i="0">
                <a:solidFill>
                  <a:srgbClr val="1B7F79"/>
                </a:solidFill>
                <a:latin typeface="Cambria"/>
              </a:rPr>
              <a:t>5–10×</a:t>
            </a:r>
          </a:p>
        </p:txBody>
      </p:sp>
      <p:sp>
        <p:nvSpPr>
          <p:cNvPr id="12" name="TextBox 11"/>
          <p:cNvSpPr txBox="1"/>
          <p:nvPr/>
        </p:nvSpPr>
        <p:spPr>
          <a:xfrm>
            <a:off x="3559987" y="1828800"/>
            <a:ext cx="2243251" cy="457200"/>
          </a:xfrm>
          <a:prstGeom prst="rect">
            <a:avLst/>
          </a:prstGeom>
          <a:noFill/>
        </p:spPr>
        <p:txBody>
          <a:bodyPr wrap="square" lIns="0" rIns="0" tIns="0" bIns="0" anchor="t">
            <a:spAutoFit/>
          </a:bodyPr>
          <a:lstStyle/>
          <a:p>
            <a:pPr algn="l">
              <a:lnSpc>
                <a:spcPct val="112000"/>
              </a:lnSpc>
              <a:spcBef>
                <a:spcPts val="0"/>
              </a:spcBef>
              <a:spcAft>
                <a:spcPts val="0"/>
              </a:spcAft>
            </a:pPr>
            <a:r>
              <a:rPr sz="850" b="0" i="0">
                <a:solidFill>
                  <a:srgbClr val="5C7079"/>
                </a:solidFill>
                <a:latin typeface="Calibri"/>
              </a:rPr>
              <a:t>compression columnar analytical storage achieves over row storage</a:t>
            </a:r>
          </a:p>
        </p:txBody>
      </p:sp>
      <p:sp>
        <p:nvSpPr>
          <p:cNvPr id="13" name="Rounded Rectangle 12"/>
          <p:cNvSpPr/>
          <p:nvPr/>
        </p:nvSpPr>
        <p:spPr>
          <a:xfrm>
            <a:off x="6205575" y="1298448"/>
            <a:ext cx="2609011" cy="1060704"/>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388455" y="1408176"/>
            <a:ext cx="2243251" cy="402336"/>
          </a:xfrm>
          <a:prstGeom prst="rect">
            <a:avLst/>
          </a:prstGeom>
          <a:noFill/>
        </p:spPr>
        <p:txBody>
          <a:bodyPr wrap="square" lIns="0" rIns="0" tIns="0" bIns="0" anchor="t">
            <a:spAutoFit/>
          </a:bodyPr>
          <a:lstStyle/>
          <a:p>
            <a:pPr algn="l">
              <a:spcBef>
                <a:spcPts val="0"/>
              </a:spcBef>
              <a:spcAft>
                <a:spcPts val="0"/>
              </a:spcAft>
            </a:pPr>
            <a:r>
              <a:rPr sz="2400" b="1" i="0">
                <a:solidFill>
                  <a:srgbClr val="1B7F79"/>
                </a:solidFill>
                <a:latin typeface="Cambria"/>
              </a:rPr>
              <a:t>60–80%</a:t>
            </a:r>
          </a:p>
        </p:txBody>
      </p:sp>
      <p:sp>
        <p:nvSpPr>
          <p:cNvPr id="15" name="TextBox 14"/>
          <p:cNvSpPr txBox="1"/>
          <p:nvPr/>
        </p:nvSpPr>
        <p:spPr>
          <a:xfrm>
            <a:off x="6388455" y="1828800"/>
            <a:ext cx="2243251" cy="457200"/>
          </a:xfrm>
          <a:prstGeom prst="rect">
            <a:avLst/>
          </a:prstGeom>
          <a:noFill/>
        </p:spPr>
        <p:txBody>
          <a:bodyPr wrap="square" lIns="0" rIns="0" tIns="0" bIns="0" anchor="t">
            <a:spAutoFit/>
          </a:bodyPr>
          <a:lstStyle/>
          <a:p>
            <a:pPr algn="l">
              <a:lnSpc>
                <a:spcPct val="112000"/>
              </a:lnSpc>
              <a:spcBef>
                <a:spcPts val="0"/>
              </a:spcBef>
              <a:spcAft>
                <a:spcPts val="0"/>
              </a:spcAft>
            </a:pPr>
            <a:r>
              <a:rPr sz="850" b="0" i="0">
                <a:solidFill>
                  <a:srgbClr val="5C7079"/>
                </a:solidFill>
                <a:latin typeface="Calibri"/>
              </a:rPr>
              <a:t>of warehouse effort consumed by extraction, cleansing and integration</a:t>
            </a:r>
          </a:p>
        </p:txBody>
      </p:sp>
      <p:sp>
        <p:nvSpPr>
          <p:cNvPr id="16" name="Rounded Rectangle 15"/>
          <p:cNvSpPr/>
          <p:nvPr/>
        </p:nvSpPr>
        <p:spPr>
          <a:xfrm>
            <a:off x="9034043" y="1298448"/>
            <a:ext cx="2609011" cy="1060704"/>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9216923" y="1408176"/>
            <a:ext cx="2243251" cy="402336"/>
          </a:xfrm>
          <a:prstGeom prst="rect">
            <a:avLst/>
          </a:prstGeom>
          <a:noFill/>
        </p:spPr>
        <p:txBody>
          <a:bodyPr wrap="square" lIns="0" rIns="0" tIns="0" bIns="0" anchor="t">
            <a:spAutoFit/>
          </a:bodyPr>
          <a:lstStyle/>
          <a:p>
            <a:pPr algn="l">
              <a:spcBef>
                <a:spcPts val="0"/>
              </a:spcBef>
              <a:spcAft>
                <a:spcPts val="0"/>
              </a:spcAft>
            </a:pPr>
            <a:r>
              <a:rPr sz="2400" b="1" i="0">
                <a:solidFill>
                  <a:srgbClr val="1B7F79"/>
                </a:solidFill>
                <a:latin typeface="Cambria"/>
              </a:rPr>
              <a:t>≈ 50%</a:t>
            </a:r>
          </a:p>
        </p:txBody>
      </p:sp>
      <p:sp>
        <p:nvSpPr>
          <p:cNvPr id="18" name="TextBox 17"/>
          <p:cNvSpPr txBox="1"/>
          <p:nvPr/>
        </p:nvSpPr>
        <p:spPr>
          <a:xfrm>
            <a:off x="9216923" y="1828800"/>
            <a:ext cx="2243251" cy="457200"/>
          </a:xfrm>
          <a:prstGeom prst="rect">
            <a:avLst/>
          </a:prstGeom>
          <a:noFill/>
        </p:spPr>
        <p:txBody>
          <a:bodyPr wrap="square" lIns="0" rIns="0" tIns="0" bIns="0" anchor="t">
            <a:spAutoFit/>
          </a:bodyPr>
          <a:lstStyle/>
          <a:p>
            <a:pPr algn="l">
              <a:lnSpc>
                <a:spcPct val="112000"/>
              </a:lnSpc>
              <a:spcBef>
                <a:spcPts val="0"/>
              </a:spcBef>
              <a:spcAft>
                <a:spcPts val="0"/>
              </a:spcAft>
            </a:pPr>
            <a:r>
              <a:rPr sz="850" b="0" i="0">
                <a:solidFill>
                  <a:srgbClr val="5C7079"/>
                </a:solidFill>
                <a:latin typeface="Calibri"/>
              </a:rPr>
              <a:t>of first-generation warehouse programmes judged to have missed expectations</a:t>
            </a:r>
          </a:p>
        </p:txBody>
      </p:sp>
      <p:sp>
        <p:nvSpPr>
          <p:cNvPr id="19" name="Rounded Rectangle 18"/>
          <p:cNvSpPr/>
          <p:nvPr/>
        </p:nvSpPr>
        <p:spPr>
          <a:xfrm>
            <a:off x="548640" y="2523744"/>
            <a:ext cx="2609011" cy="2084831"/>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749808" y="2706624"/>
            <a:ext cx="365760" cy="365760"/>
          </a:xfrm>
          <a:prstGeom prst="ellipse">
            <a:avLst/>
          </a:prstGeom>
          <a:solidFill>
            <a:srgbClr val="1B7F7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250" b="1" i="0">
                <a:solidFill>
                  <a:srgbClr val="FFFFFF"/>
                </a:solidFill>
                <a:latin typeface="Calibri"/>
              </a:rPr>
              <a:t>1</a:t>
            </a:r>
          </a:p>
        </p:txBody>
      </p:sp>
      <p:sp>
        <p:nvSpPr>
          <p:cNvPr id="21" name="TextBox 20"/>
          <p:cNvSpPr txBox="1"/>
          <p:nvPr/>
        </p:nvSpPr>
        <p:spPr>
          <a:xfrm>
            <a:off x="1225295" y="2688336"/>
            <a:ext cx="1731187" cy="402336"/>
          </a:xfrm>
          <a:prstGeom prst="rect">
            <a:avLst/>
          </a:prstGeom>
          <a:noFill/>
        </p:spPr>
        <p:txBody>
          <a:bodyPr wrap="square" lIns="0" rIns="0" tIns="0" bIns="0" anchor="ctr">
            <a:spAutoFit/>
          </a:bodyPr>
          <a:lstStyle/>
          <a:p>
            <a:pPr algn="l">
              <a:spcBef>
                <a:spcPts val="0"/>
              </a:spcBef>
              <a:spcAft>
                <a:spcPts val="0"/>
              </a:spcAft>
            </a:pPr>
            <a:r>
              <a:rPr sz="1200" b="1" i="0">
                <a:solidFill>
                  <a:srgbClr val="123B47"/>
                </a:solidFill>
                <a:latin typeface="Calibri"/>
              </a:rPr>
              <a:t>Opposite physical design</a:t>
            </a:r>
          </a:p>
        </p:txBody>
      </p:sp>
      <p:sp>
        <p:nvSpPr>
          <p:cNvPr id="22" name="TextBox 21"/>
          <p:cNvSpPr txBox="1"/>
          <p:nvPr/>
        </p:nvSpPr>
        <p:spPr>
          <a:xfrm>
            <a:off x="749808" y="3200400"/>
            <a:ext cx="2206675" cy="1280160"/>
          </a:xfrm>
          <a:prstGeom prst="rect">
            <a:avLst/>
          </a:prstGeom>
          <a:noFill/>
        </p:spPr>
        <p:txBody>
          <a:bodyPr wrap="square" lIns="0" rIns="0" tIns="0" bIns="0" anchor="t">
            <a:spAutoFit/>
          </a:bodyPr>
          <a:lstStyle/>
          <a:p>
            <a:pPr algn="l">
              <a:lnSpc>
                <a:spcPct val="118000"/>
              </a:lnSpc>
              <a:spcBef>
                <a:spcPts val="0"/>
              </a:spcBef>
              <a:spcAft>
                <a:spcPts val="0"/>
              </a:spcAft>
            </a:pPr>
            <a:r>
              <a:rPr sz="900" b="0" i="0">
                <a:solidFill>
                  <a:srgbClr val="2E3F47"/>
                </a:solidFill>
                <a:latin typeface="Calibri"/>
              </a:rPr>
              <a:t>Transactions need row storage, many indexes, small reads. Analysis needs columnar storage, few indexes, enormous scans. The index that speeds the report slows every insert.</a:t>
            </a:r>
          </a:p>
        </p:txBody>
      </p:sp>
      <p:sp>
        <p:nvSpPr>
          <p:cNvPr id="23" name="Rounded Rectangle 22"/>
          <p:cNvSpPr/>
          <p:nvPr/>
        </p:nvSpPr>
        <p:spPr>
          <a:xfrm>
            <a:off x="3377107" y="2523744"/>
            <a:ext cx="2609011" cy="2084831"/>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3578275" y="2706624"/>
            <a:ext cx="365760" cy="365760"/>
          </a:xfrm>
          <a:prstGeom prst="ellipse">
            <a:avLst/>
          </a:prstGeom>
          <a:solidFill>
            <a:srgbClr val="123B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250" b="1" i="0">
                <a:solidFill>
                  <a:srgbClr val="FFFFFF"/>
                </a:solidFill>
                <a:latin typeface="Calibri"/>
              </a:rPr>
              <a:t>2</a:t>
            </a:r>
          </a:p>
        </p:txBody>
      </p:sp>
      <p:sp>
        <p:nvSpPr>
          <p:cNvPr id="25" name="TextBox 24"/>
          <p:cNvSpPr txBox="1"/>
          <p:nvPr/>
        </p:nvSpPr>
        <p:spPr>
          <a:xfrm>
            <a:off x="4053763" y="2688336"/>
            <a:ext cx="1731187" cy="402336"/>
          </a:xfrm>
          <a:prstGeom prst="rect">
            <a:avLst/>
          </a:prstGeom>
          <a:noFill/>
        </p:spPr>
        <p:txBody>
          <a:bodyPr wrap="square" lIns="0" rIns="0" tIns="0" bIns="0" anchor="ctr">
            <a:spAutoFit/>
          </a:bodyPr>
          <a:lstStyle/>
          <a:p>
            <a:pPr algn="l">
              <a:spcBef>
                <a:spcPts val="0"/>
              </a:spcBef>
              <a:spcAft>
                <a:spcPts val="0"/>
              </a:spcAft>
            </a:pPr>
            <a:r>
              <a:rPr sz="1200" b="1" i="0">
                <a:solidFill>
                  <a:srgbClr val="123B47"/>
                </a:solidFill>
                <a:latin typeface="Calibri"/>
              </a:rPr>
              <a:t>Opposite treatment of history</a:t>
            </a:r>
          </a:p>
        </p:txBody>
      </p:sp>
      <p:sp>
        <p:nvSpPr>
          <p:cNvPr id="26" name="TextBox 25"/>
          <p:cNvSpPr txBox="1"/>
          <p:nvPr/>
        </p:nvSpPr>
        <p:spPr>
          <a:xfrm>
            <a:off x="3578275" y="3200400"/>
            <a:ext cx="2206675" cy="1280160"/>
          </a:xfrm>
          <a:prstGeom prst="rect">
            <a:avLst/>
          </a:prstGeom>
          <a:noFill/>
        </p:spPr>
        <p:txBody>
          <a:bodyPr wrap="square" lIns="0" rIns="0" tIns="0" bIns="0" anchor="t">
            <a:spAutoFit/>
          </a:bodyPr>
          <a:lstStyle/>
          <a:p>
            <a:pPr algn="l">
              <a:lnSpc>
                <a:spcPct val="118000"/>
              </a:lnSpc>
              <a:spcBef>
                <a:spcPts val="0"/>
              </a:spcBef>
              <a:spcAft>
                <a:spcPts val="0"/>
              </a:spcAft>
            </a:pPr>
            <a:r>
              <a:rPr sz="900" b="0" i="0">
                <a:solidFill>
                  <a:srgbClr val="2E3F47"/>
                </a:solidFill>
                <a:latin typeface="Calibri"/>
              </a:rPr>
              <a:t>Operational systems overwrite: the customer's address is the current address. Analysis needs the address as it was when the order was placed.</a:t>
            </a:r>
          </a:p>
        </p:txBody>
      </p:sp>
      <p:sp>
        <p:nvSpPr>
          <p:cNvPr id="27" name="Rounded Rectangle 26"/>
          <p:cNvSpPr/>
          <p:nvPr/>
        </p:nvSpPr>
        <p:spPr>
          <a:xfrm>
            <a:off x="6205575" y="2523744"/>
            <a:ext cx="2609011" cy="2084831"/>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Oval 27"/>
          <p:cNvSpPr/>
          <p:nvPr/>
        </p:nvSpPr>
        <p:spPr>
          <a:xfrm>
            <a:off x="6406743" y="2706624"/>
            <a:ext cx="365760" cy="365760"/>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250" b="1" i="0">
                <a:solidFill>
                  <a:srgbClr val="3A2703"/>
                </a:solidFill>
                <a:latin typeface="Calibri"/>
              </a:rPr>
              <a:t>3</a:t>
            </a:r>
          </a:p>
        </p:txBody>
      </p:sp>
      <p:sp>
        <p:nvSpPr>
          <p:cNvPr id="29" name="TextBox 28"/>
          <p:cNvSpPr txBox="1"/>
          <p:nvPr/>
        </p:nvSpPr>
        <p:spPr>
          <a:xfrm>
            <a:off x="6882231" y="2688336"/>
            <a:ext cx="1731187" cy="402336"/>
          </a:xfrm>
          <a:prstGeom prst="rect">
            <a:avLst/>
          </a:prstGeom>
          <a:noFill/>
        </p:spPr>
        <p:txBody>
          <a:bodyPr wrap="square" lIns="0" rIns="0" tIns="0" bIns="0" anchor="ctr">
            <a:spAutoFit/>
          </a:bodyPr>
          <a:lstStyle/>
          <a:p>
            <a:pPr algn="l">
              <a:spcBef>
                <a:spcPts val="0"/>
              </a:spcBef>
              <a:spcAft>
                <a:spcPts val="0"/>
              </a:spcAft>
            </a:pPr>
            <a:r>
              <a:rPr sz="1200" b="1" i="0">
                <a:solidFill>
                  <a:srgbClr val="123B47"/>
                </a:solidFill>
                <a:latin typeface="Calibri"/>
              </a:rPr>
              <a:t>Opposite treatment of redundancy</a:t>
            </a:r>
          </a:p>
        </p:txBody>
      </p:sp>
      <p:sp>
        <p:nvSpPr>
          <p:cNvPr id="30" name="TextBox 29"/>
          <p:cNvSpPr txBox="1"/>
          <p:nvPr/>
        </p:nvSpPr>
        <p:spPr>
          <a:xfrm>
            <a:off x="6406743" y="3200400"/>
            <a:ext cx="2206675" cy="1280160"/>
          </a:xfrm>
          <a:prstGeom prst="rect">
            <a:avLst/>
          </a:prstGeom>
          <a:noFill/>
        </p:spPr>
        <p:txBody>
          <a:bodyPr wrap="square" lIns="0" rIns="0" tIns="0" bIns="0" anchor="t">
            <a:spAutoFit/>
          </a:bodyPr>
          <a:lstStyle/>
          <a:p>
            <a:pPr algn="l">
              <a:lnSpc>
                <a:spcPct val="118000"/>
              </a:lnSpc>
              <a:spcBef>
                <a:spcPts val="0"/>
              </a:spcBef>
              <a:spcAft>
                <a:spcPts val="0"/>
              </a:spcAft>
            </a:pPr>
            <a:r>
              <a:rPr sz="900" b="0" i="0">
                <a:solidFill>
                  <a:srgbClr val="2E3F47"/>
                </a:solidFill>
                <a:latin typeface="Calibri"/>
              </a:rPr>
              <a:t>Normalisation removes duplication so updates are safe. Analysis reintroduces it deliberately so reads avoid joins. Both are right; they cannot share one schema.</a:t>
            </a:r>
          </a:p>
        </p:txBody>
      </p:sp>
      <p:sp>
        <p:nvSpPr>
          <p:cNvPr id="31" name="Rounded Rectangle 30"/>
          <p:cNvSpPr/>
          <p:nvPr/>
        </p:nvSpPr>
        <p:spPr>
          <a:xfrm>
            <a:off x="9034043" y="2523744"/>
            <a:ext cx="2609011" cy="2084831"/>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Oval 31"/>
          <p:cNvSpPr/>
          <p:nvPr/>
        </p:nvSpPr>
        <p:spPr>
          <a:xfrm>
            <a:off x="9235211" y="2706624"/>
            <a:ext cx="365760" cy="365760"/>
          </a:xfrm>
          <a:prstGeom prst="ellipse">
            <a:avLst/>
          </a:prstGeom>
          <a:solidFill>
            <a:srgbClr val="A63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250" b="1" i="0">
                <a:solidFill>
                  <a:srgbClr val="FFFFFF"/>
                </a:solidFill>
                <a:latin typeface="Calibri"/>
              </a:rPr>
              <a:t>4</a:t>
            </a:r>
          </a:p>
        </p:txBody>
      </p:sp>
      <p:sp>
        <p:nvSpPr>
          <p:cNvPr id="33" name="TextBox 32"/>
          <p:cNvSpPr txBox="1"/>
          <p:nvPr/>
        </p:nvSpPr>
        <p:spPr>
          <a:xfrm>
            <a:off x="9710699" y="2688336"/>
            <a:ext cx="1731187" cy="402336"/>
          </a:xfrm>
          <a:prstGeom prst="rect">
            <a:avLst/>
          </a:prstGeom>
          <a:noFill/>
        </p:spPr>
        <p:txBody>
          <a:bodyPr wrap="square" lIns="0" rIns="0" tIns="0" bIns="0" anchor="ctr">
            <a:spAutoFit/>
          </a:bodyPr>
          <a:lstStyle/>
          <a:p>
            <a:pPr algn="l">
              <a:spcBef>
                <a:spcPts val="0"/>
              </a:spcBef>
              <a:spcAft>
                <a:spcPts val="0"/>
              </a:spcAft>
            </a:pPr>
            <a:r>
              <a:rPr sz="1200" b="1" i="0">
                <a:solidFill>
                  <a:srgbClr val="123B47"/>
                </a:solidFill>
                <a:latin typeface="Calibri"/>
              </a:rPr>
              <a:t>Opposite scope</a:t>
            </a:r>
          </a:p>
        </p:txBody>
      </p:sp>
      <p:sp>
        <p:nvSpPr>
          <p:cNvPr id="34" name="TextBox 33"/>
          <p:cNvSpPr txBox="1"/>
          <p:nvPr/>
        </p:nvSpPr>
        <p:spPr>
          <a:xfrm>
            <a:off x="9235211" y="3200400"/>
            <a:ext cx="2206675" cy="1280160"/>
          </a:xfrm>
          <a:prstGeom prst="rect">
            <a:avLst/>
          </a:prstGeom>
          <a:noFill/>
        </p:spPr>
        <p:txBody>
          <a:bodyPr wrap="square" lIns="0" rIns="0" tIns="0" bIns="0" anchor="t">
            <a:spAutoFit/>
          </a:bodyPr>
          <a:lstStyle/>
          <a:p>
            <a:pPr algn="l">
              <a:lnSpc>
                <a:spcPct val="118000"/>
              </a:lnSpc>
              <a:spcBef>
                <a:spcPts val="0"/>
              </a:spcBef>
              <a:spcAft>
                <a:spcPts val="0"/>
              </a:spcAft>
            </a:pPr>
            <a:r>
              <a:rPr sz="900" b="0" i="0">
                <a:solidFill>
                  <a:srgbClr val="2E3F47"/>
                </a:solidFill>
                <a:latin typeface="Calibri"/>
              </a:rPr>
              <a:t>An operational database holds one function's data. Almost every interesting business question crosses those boundaries.</a:t>
            </a:r>
          </a:p>
        </p:txBody>
      </p:sp>
      <p:sp>
        <p:nvSpPr>
          <p:cNvPr id="35" name="Rounded Rectangle 34"/>
          <p:cNvSpPr/>
          <p:nvPr/>
        </p:nvSpPr>
        <p:spPr>
          <a:xfrm>
            <a:off x="548640" y="4791456"/>
            <a:ext cx="11094415" cy="713232"/>
          </a:xfrm>
          <a:prstGeom prst="roundRect">
            <a:avLst>
              <a:gd name="adj" fmla="val 6000"/>
            </a:avLst>
          </a:prstGeom>
          <a:solidFill>
            <a:srgbClr val="123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768096" y="4892040"/>
            <a:ext cx="10655503" cy="512064"/>
          </a:xfrm>
          <a:prstGeom prst="rect">
            <a:avLst/>
          </a:prstGeom>
          <a:noFill/>
        </p:spPr>
        <p:txBody>
          <a:bodyPr wrap="square" lIns="0" rIns="0" tIns="0" bIns="0" anchor="ctr">
            <a:spAutoFit/>
          </a:bodyPr>
          <a:lstStyle/>
          <a:p>
            <a:pPr algn="l">
              <a:lnSpc>
                <a:spcPct val="114000"/>
              </a:lnSpc>
            </a:pPr>
            <a:r>
              <a:rPr sz="1100" b="1">
                <a:solidFill>
                  <a:srgbClr val="E8A33D"/>
                </a:solidFill>
                <a:latin typeface="Calibri"/>
              </a:rPr>
              <a:t>The proposition to hold on to.  </a:t>
            </a:r>
            <a:r>
              <a:rPr sz="1100">
                <a:solidFill>
                  <a:srgbClr val="FFFFFF"/>
                </a:solidFill>
                <a:latin typeface="Calibri"/>
              </a:rPr>
              <a:t>It is not a bigger database. It inverts every design priority: it optimises reads not writes, tolerates redundancy, preserves history, and loads in bulk. Each choice would be a fault in an operational system and is a virtue in an analytical one.</a:t>
            </a:r>
          </a:p>
        </p:txBody>
      </p:sp>
      <p:sp>
        <p:nvSpPr>
          <p:cNvPr id="37" name="Rounded Rectangle 36"/>
          <p:cNvSpPr/>
          <p:nvPr/>
        </p:nvSpPr>
        <p:spPr>
          <a:xfrm>
            <a:off x="548640" y="5632704"/>
            <a:ext cx="11094415" cy="585216"/>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768096" y="5742432"/>
            <a:ext cx="10655503" cy="384048"/>
          </a:xfrm>
          <a:prstGeom prst="rect">
            <a:avLst/>
          </a:prstGeom>
          <a:noFill/>
        </p:spPr>
        <p:txBody>
          <a:bodyPr wrap="square" lIns="0" rIns="0" tIns="0" bIns="0" anchor="ctr">
            <a:spAutoFit/>
          </a:bodyPr>
          <a:lstStyle/>
          <a:p>
            <a:pPr algn="l">
              <a:spcBef>
                <a:spcPts val="0"/>
              </a:spcBef>
              <a:spcAft>
                <a:spcPts val="0"/>
              </a:spcAft>
            </a:pPr>
            <a:r>
              <a:rPr sz="1000" b="0" i="0">
                <a:solidFill>
                  <a:srgbClr val="2E3F47"/>
                </a:solidFill>
                <a:latin typeface="Calibri"/>
              </a:rPr>
              <a:t>The one-question test:  ask where last year's version of a customer's territory assignment is held. If the answer is “it was overwritten”, the organisation has no analytical store — whatever it calls the server the reports run 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bg>
    <p:bgPr>
      <a:solidFill>
        <a:srgbClr val="FFFFFF"/>
      </a:solidFill>
      <a:effectLst/>
    </p:bgPr>
  </p:bg>
  <p:cSld>
    <p:spTree>
      <p:nvGrpSpPr>
        <p:cNvPr id="1" name=""/>
        <p:cNvGrpSpPr/>
        <p:nvPr/>
      </p:nvGrpSpPr>
      <p:grpSpPr/>
      <p:sp>
        <p:nvSpPr>
          <p:cNvPr id="2" name="Oval 1"/>
          <p:cNvSpPr/>
          <p:nvPr/>
        </p:nvSpPr>
        <p:spPr>
          <a:xfrm>
            <a:off x="548640" y="374904"/>
            <a:ext cx="109728" cy="109728"/>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283464"/>
            <a:ext cx="10893247" cy="256032"/>
          </a:xfrm>
          <a:prstGeom prst="rect">
            <a:avLst/>
          </a:prstGeom>
          <a:noFill/>
        </p:spPr>
        <p:txBody>
          <a:bodyPr wrap="square" lIns="0" rIns="0" tIns="0" bIns="0" anchor="t">
            <a:spAutoFit/>
          </a:bodyPr>
          <a:lstStyle/>
          <a:p>
            <a:pPr algn="l">
              <a:spcBef>
                <a:spcPts val="0"/>
              </a:spcBef>
              <a:spcAft>
                <a:spcPts val="0"/>
              </a:spcAft>
            </a:pPr>
            <a:r>
              <a:rPr sz="1000" b="1" i="0">
                <a:solidFill>
                  <a:srgbClr val="B87A1E"/>
                </a:solidFill>
                <a:latin typeface="Calibri"/>
              </a:rPr>
              <a:t>PART 1 · DEFINITION</a:t>
            </a:r>
          </a:p>
        </p:txBody>
      </p:sp>
      <p:sp>
        <p:nvSpPr>
          <p:cNvPr id="4" name="TextBox 3"/>
          <p:cNvSpPr txBox="1"/>
          <p:nvPr/>
        </p:nvSpPr>
        <p:spPr>
          <a:xfrm>
            <a:off x="548640" y="548640"/>
            <a:ext cx="11094415" cy="640080"/>
          </a:xfrm>
          <a:prstGeom prst="rect">
            <a:avLst/>
          </a:prstGeom>
          <a:noFill/>
        </p:spPr>
        <p:txBody>
          <a:bodyPr wrap="square" lIns="0" rIns="0" tIns="0" bIns="0" anchor="t">
            <a:spAutoFit/>
          </a:bodyPr>
          <a:lstStyle/>
          <a:p>
            <a:pPr algn="l">
              <a:spcBef>
                <a:spcPts val="0"/>
              </a:spcBef>
              <a:spcAft>
                <a:spcPts val="0"/>
              </a:spcAft>
            </a:pPr>
            <a:r>
              <a:rPr sz="2600" b="1" i="0">
                <a:solidFill>
                  <a:srgbClr val="123B47"/>
                </a:solidFill>
                <a:latin typeface="Cambria"/>
              </a:rPr>
              <a:t>Inmon's four properties — the examinable definition</a:t>
            </a:r>
          </a:p>
        </p:txBody>
      </p:sp>
      <p:sp>
        <p:nvSpPr>
          <p:cNvPr id="5" name="TextBox 4"/>
          <p:cNvSpPr txBox="1"/>
          <p:nvPr/>
        </p:nvSpPr>
        <p:spPr>
          <a:xfrm>
            <a:off x="548640" y="6382512"/>
            <a:ext cx="8686800" cy="256032"/>
          </a:xfrm>
          <a:prstGeom prst="rect">
            <a:avLst/>
          </a:prstGeom>
          <a:noFill/>
        </p:spPr>
        <p:txBody>
          <a:bodyPr wrap="square" lIns="0" rIns="0" tIns="0" bIns="0" anchor="t">
            <a:spAutoFit/>
          </a:bodyPr>
          <a:lstStyle/>
          <a:p>
            <a:pPr algn="l">
              <a:spcBef>
                <a:spcPts val="0"/>
              </a:spcBef>
              <a:spcAft>
                <a:spcPts val="0"/>
              </a:spcAft>
            </a:pPr>
            <a:r>
              <a:rPr sz="900" b="0" i="0">
                <a:solidFill>
                  <a:srgbClr val="5C7079"/>
                </a:solidFill>
                <a:latin typeface="Calibri"/>
              </a:rPr>
              <a:t>Business Intelligence  |  Session 6 — Data Warehousing &amp; OLTP/OLAP  |  IILM Jaipur, MBA</a:t>
            </a:r>
          </a:p>
        </p:txBody>
      </p:sp>
      <p:sp>
        <p:nvSpPr>
          <p:cNvPr id="6" name="TextBox 5"/>
          <p:cNvSpPr txBox="1"/>
          <p:nvPr/>
        </p:nvSpPr>
        <p:spPr>
          <a:xfrm>
            <a:off x="10545775" y="6382512"/>
            <a:ext cx="1097280" cy="256032"/>
          </a:xfrm>
          <a:prstGeom prst="rect">
            <a:avLst/>
          </a:prstGeom>
          <a:noFill/>
        </p:spPr>
        <p:txBody>
          <a:bodyPr wrap="square" lIns="0" rIns="0" tIns="0" bIns="0" anchor="t">
            <a:spAutoFit/>
          </a:bodyPr>
          <a:lstStyle/>
          <a:p>
            <a:pPr algn="r">
              <a:spcBef>
                <a:spcPts val="0"/>
              </a:spcBef>
              <a:spcAft>
                <a:spcPts val="0"/>
              </a:spcAft>
            </a:pPr>
            <a:r>
              <a:rPr sz="950" b="1" i="0">
                <a:solidFill>
                  <a:srgbClr val="1B7F79"/>
                </a:solidFill>
                <a:latin typeface="Calibri"/>
              </a:rPr>
              <a:t>4</a:t>
            </a:r>
          </a:p>
        </p:txBody>
      </p:sp>
      <p:sp>
        <p:nvSpPr>
          <p:cNvPr id="7" name="Rounded Rectangle 6"/>
          <p:cNvSpPr/>
          <p:nvPr/>
        </p:nvSpPr>
        <p:spPr>
          <a:xfrm>
            <a:off x="548640" y="1316736"/>
            <a:ext cx="2609011" cy="2212848"/>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Oval 7"/>
          <p:cNvSpPr/>
          <p:nvPr/>
        </p:nvSpPr>
        <p:spPr>
          <a:xfrm>
            <a:off x="749808" y="1527048"/>
            <a:ext cx="384048" cy="384048"/>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250" b="1" i="0">
                <a:solidFill>
                  <a:srgbClr val="3A2703"/>
                </a:solidFill>
                <a:latin typeface="Calibri"/>
              </a:rPr>
              <a:t>S</a:t>
            </a:r>
          </a:p>
        </p:txBody>
      </p:sp>
      <p:sp>
        <p:nvSpPr>
          <p:cNvPr id="9" name="TextBox 8"/>
          <p:cNvSpPr txBox="1"/>
          <p:nvPr/>
        </p:nvSpPr>
        <p:spPr>
          <a:xfrm>
            <a:off x="1252728" y="1517904"/>
            <a:ext cx="1703755" cy="402336"/>
          </a:xfrm>
          <a:prstGeom prst="rect">
            <a:avLst/>
          </a:prstGeom>
          <a:noFill/>
        </p:spPr>
        <p:txBody>
          <a:bodyPr wrap="square" lIns="0" rIns="0" tIns="0" bIns="0" anchor="ctr">
            <a:spAutoFit/>
          </a:bodyPr>
          <a:lstStyle/>
          <a:p>
            <a:pPr algn="l">
              <a:spcBef>
                <a:spcPts val="0"/>
              </a:spcBef>
              <a:spcAft>
                <a:spcPts val="0"/>
              </a:spcAft>
            </a:pPr>
            <a:r>
              <a:rPr sz="1300" b="1" i="0">
                <a:solidFill>
                  <a:srgbClr val="123B47"/>
                </a:solidFill>
                <a:latin typeface="Calibri"/>
              </a:rPr>
              <a:t>Subject-oriented</a:t>
            </a:r>
          </a:p>
        </p:txBody>
      </p:sp>
      <p:sp>
        <p:nvSpPr>
          <p:cNvPr id="10" name="TextBox 9"/>
          <p:cNvSpPr txBox="1"/>
          <p:nvPr/>
        </p:nvSpPr>
        <p:spPr>
          <a:xfrm>
            <a:off x="749808" y="2029968"/>
            <a:ext cx="2206675" cy="1371600"/>
          </a:xfrm>
          <a:prstGeom prst="rect">
            <a:avLst/>
          </a:prstGeom>
          <a:noFill/>
        </p:spPr>
        <p:txBody>
          <a:bodyPr wrap="square" lIns="0" rIns="0" tIns="0" bIns="0" anchor="t">
            <a:spAutoFit/>
          </a:bodyPr>
          <a:lstStyle/>
          <a:p>
            <a:pPr algn="l">
              <a:lnSpc>
                <a:spcPct val="118000"/>
              </a:lnSpc>
              <a:spcBef>
                <a:spcPts val="0"/>
              </a:spcBef>
              <a:spcAft>
                <a:spcPts val="0"/>
              </a:spcAft>
            </a:pPr>
            <a:r>
              <a:rPr sz="950" b="0" i="0">
                <a:solidFill>
                  <a:srgbClr val="2E3F47"/>
                </a:solidFill>
                <a:latin typeface="Calibri"/>
              </a:rPr>
              <a:t>Organised around what the business reasons about — customer, product, claim, patient — not around the applications that capture them. One customer entity, not the four held in billing, CRM, service and loyalty.</a:t>
            </a:r>
          </a:p>
        </p:txBody>
      </p:sp>
      <p:sp>
        <p:nvSpPr>
          <p:cNvPr id="11" name="Rounded Rectangle 10"/>
          <p:cNvSpPr/>
          <p:nvPr/>
        </p:nvSpPr>
        <p:spPr>
          <a:xfrm>
            <a:off x="3377107" y="1316736"/>
            <a:ext cx="2609011" cy="2212848"/>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Oval 11"/>
          <p:cNvSpPr/>
          <p:nvPr/>
        </p:nvSpPr>
        <p:spPr>
          <a:xfrm>
            <a:off x="3578275" y="1527048"/>
            <a:ext cx="384048" cy="384048"/>
          </a:xfrm>
          <a:prstGeom prst="ellipse">
            <a:avLst/>
          </a:prstGeom>
          <a:solidFill>
            <a:srgbClr val="123B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250" b="1" i="0">
                <a:solidFill>
                  <a:srgbClr val="FFFFFF"/>
                </a:solidFill>
                <a:latin typeface="Calibri"/>
              </a:rPr>
              <a:t>I</a:t>
            </a:r>
          </a:p>
        </p:txBody>
      </p:sp>
      <p:sp>
        <p:nvSpPr>
          <p:cNvPr id="13" name="TextBox 12"/>
          <p:cNvSpPr txBox="1"/>
          <p:nvPr/>
        </p:nvSpPr>
        <p:spPr>
          <a:xfrm>
            <a:off x="4081195" y="1517904"/>
            <a:ext cx="1703755" cy="402336"/>
          </a:xfrm>
          <a:prstGeom prst="rect">
            <a:avLst/>
          </a:prstGeom>
          <a:noFill/>
        </p:spPr>
        <p:txBody>
          <a:bodyPr wrap="square" lIns="0" rIns="0" tIns="0" bIns="0" anchor="ctr">
            <a:spAutoFit/>
          </a:bodyPr>
          <a:lstStyle/>
          <a:p>
            <a:pPr algn="l">
              <a:spcBef>
                <a:spcPts val="0"/>
              </a:spcBef>
              <a:spcAft>
                <a:spcPts val="0"/>
              </a:spcAft>
            </a:pPr>
            <a:r>
              <a:rPr sz="1300" b="1" i="0">
                <a:solidFill>
                  <a:srgbClr val="123B47"/>
                </a:solidFill>
                <a:latin typeface="Calibri"/>
              </a:rPr>
              <a:t>Integrated</a:t>
            </a:r>
          </a:p>
        </p:txBody>
      </p:sp>
      <p:sp>
        <p:nvSpPr>
          <p:cNvPr id="14" name="TextBox 13"/>
          <p:cNvSpPr txBox="1"/>
          <p:nvPr/>
        </p:nvSpPr>
        <p:spPr>
          <a:xfrm>
            <a:off x="3578275" y="2029968"/>
            <a:ext cx="2206675" cy="1371600"/>
          </a:xfrm>
          <a:prstGeom prst="rect">
            <a:avLst/>
          </a:prstGeom>
          <a:noFill/>
        </p:spPr>
        <p:txBody>
          <a:bodyPr wrap="square" lIns="0" rIns="0" tIns="0" bIns="0" anchor="t">
            <a:spAutoFit/>
          </a:bodyPr>
          <a:lstStyle/>
          <a:p>
            <a:pPr algn="l">
              <a:lnSpc>
                <a:spcPct val="118000"/>
              </a:lnSpc>
              <a:spcBef>
                <a:spcPts val="0"/>
              </a:spcBef>
              <a:spcAft>
                <a:spcPts val="0"/>
              </a:spcAft>
            </a:pPr>
            <a:r>
              <a:rPr sz="950" b="0" i="0">
                <a:solidFill>
                  <a:srgbClr val="2E3F47"/>
                </a:solidFill>
                <a:latin typeface="Calibri"/>
              </a:rPr>
              <a:t>Names, codes, units and definitions from many systems are reconciled before storage. Gender as M/F in one system and 1/2 in another becomes one code; four spellings of a customer become one entity.</a:t>
            </a:r>
          </a:p>
        </p:txBody>
      </p:sp>
      <p:sp>
        <p:nvSpPr>
          <p:cNvPr id="15" name="Rounded Rectangle 14"/>
          <p:cNvSpPr/>
          <p:nvPr/>
        </p:nvSpPr>
        <p:spPr>
          <a:xfrm>
            <a:off x="6205575" y="1316736"/>
            <a:ext cx="2609011" cy="2212848"/>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6406743" y="1527048"/>
            <a:ext cx="384048" cy="384048"/>
          </a:xfrm>
          <a:prstGeom prst="ellipse">
            <a:avLst/>
          </a:prstGeom>
          <a:solidFill>
            <a:srgbClr val="1B7F7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250" b="1" i="0">
                <a:solidFill>
                  <a:srgbClr val="FFFFFF"/>
                </a:solidFill>
                <a:latin typeface="Calibri"/>
              </a:rPr>
              <a:t>T</a:t>
            </a:r>
          </a:p>
        </p:txBody>
      </p:sp>
      <p:sp>
        <p:nvSpPr>
          <p:cNvPr id="17" name="TextBox 16"/>
          <p:cNvSpPr txBox="1"/>
          <p:nvPr/>
        </p:nvSpPr>
        <p:spPr>
          <a:xfrm>
            <a:off x="6909663" y="1517904"/>
            <a:ext cx="1703755" cy="402336"/>
          </a:xfrm>
          <a:prstGeom prst="rect">
            <a:avLst/>
          </a:prstGeom>
          <a:noFill/>
        </p:spPr>
        <p:txBody>
          <a:bodyPr wrap="square" lIns="0" rIns="0" tIns="0" bIns="0" anchor="ctr">
            <a:spAutoFit/>
          </a:bodyPr>
          <a:lstStyle/>
          <a:p>
            <a:pPr algn="l">
              <a:spcBef>
                <a:spcPts val="0"/>
              </a:spcBef>
              <a:spcAft>
                <a:spcPts val="0"/>
              </a:spcAft>
            </a:pPr>
            <a:r>
              <a:rPr sz="1300" b="1" i="0">
                <a:solidFill>
                  <a:srgbClr val="123B47"/>
                </a:solidFill>
                <a:latin typeface="Calibri"/>
              </a:rPr>
              <a:t>Time-variant</a:t>
            </a:r>
          </a:p>
        </p:txBody>
      </p:sp>
      <p:sp>
        <p:nvSpPr>
          <p:cNvPr id="18" name="TextBox 17"/>
          <p:cNvSpPr txBox="1"/>
          <p:nvPr/>
        </p:nvSpPr>
        <p:spPr>
          <a:xfrm>
            <a:off x="6406743" y="2029968"/>
            <a:ext cx="2206675" cy="1371600"/>
          </a:xfrm>
          <a:prstGeom prst="rect">
            <a:avLst/>
          </a:prstGeom>
          <a:noFill/>
        </p:spPr>
        <p:txBody>
          <a:bodyPr wrap="square" lIns="0" rIns="0" tIns="0" bIns="0" anchor="t">
            <a:spAutoFit/>
          </a:bodyPr>
          <a:lstStyle/>
          <a:p>
            <a:pPr algn="l">
              <a:lnSpc>
                <a:spcPct val="118000"/>
              </a:lnSpc>
              <a:spcBef>
                <a:spcPts val="0"/>
              </a:spcBef>
              <a:spcAft>
                <a:spcPts val="0"/>
              </a:spcAft>
            </a:pPr>
            <a:r>
              <a:rPr sz="950" b="0" i="0">
                <a:solidFill>
                  <a:srgbClr val="2E3F47"/>
                </a:solidFill>
                <a:latin typeface="Calibri"/>
              </a:rPr>
              <a:t>Every record carries a time context and history is kept, not overwritten. It can answer “what did this look like in March last year” — the question operational systems are designed not to answer.</a:t>
            </a:r>
          </a:p>
        </p:txBody>
      </p:sp>
      <p:sp>
        <p:nvSpPr>
          <p:cNvPr id="19" name="Rounded Rectangle 18"/>
          <p:cNvSpPr/>
          <p:nvPr/>
        </p:nvSpPr>
        <p:spPr>
          <a:xfrm>
            <a:off x="9034043" y="1316736"/>
            <a:ext cx="2609011" cy="2212848"/>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9235211" y="1527048"/>
            <a:ext cx="384048" cy="384048"/>
          </a:xfrm>
          <a:prstGeom prst="ellipse">
            <a:avLst/>
          </a:prstGeom>
          <a:solidFill>
            <a:srgbClr val="A63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250" b="1" i="0">
                <a:solidFill>
                  <a:srgbClr val="FFFFFF"/>
                </a:solidFill>
                <a:latin typeface="Calibri"/>
              </a:rPr>
              <a:t>N</a:t>
            </a:r>
          </a:p>
        </p:txBody>
      </p:sp>
      <p:sp>
        <p:nvSpPr>
          <p:cNvPr id="21" name="TextBox 20"/>
          <p:cNvSpPr txBox="1"/>
          <p:nvPr/>
        </p:nvSpPr>
        <p:spPr>
          <a:xfrm>
            <a:off x="9738131" y="1517904"/>
            <a:ext cx="1703755" cy="402336"/>
          </a:xfrm>
          <a:prstGeom prst="rect">
            <a:avLst/>
          </a:prstGeom>
          <a:noFill/>
        </p:spPr>
        <p:txBody>
          <a:bodyPr wrap="square" lIns="0" rIns="0" tIns="0" bIns="0" anchor="ctr">
            <a:spAutoFit/>
          </a:bodyPr>
          <a:lstStyle/>
          <a:p>
            <a:pPr algn="l">
              <a:spcBef>
                <a:spcPts val="0"/>
              </a:spcBef>
              <a:spcAft>
                <a:spcPts val="0"/>
              </a:spcAft>
            </a:pPr>
            <a:r>
              <a:rPr sz="1300" b="1" i="0">
                <a:solidFill>
                  <a:srgbClr val="123B47"/>
                </a:solidFill>
                <a:latin typeface="Calibri"/>
              </a:rPr>
              <a:t>Non-volatile</a:t>
            </a:r>
          </a:p>
        </p:txBody>
      </p:sp>
      <p:sp>
        <p:nvSpPr>
          <p:cNvPr id="22" name="TextBox 21"/>
          <p:cNvSpPr txBox="1"/>
          <p:nvPr/>
        </p:nvSpPr>
        <p:spPr>
          <a:xfrm>
            <a:off x="9235211" y="2029968"/>
            <a:ext cx="2206675" cy="1371600"/>
          </a:xfrm>
          <a:prstGeom prst="rect">
            <a:avLst/>
          </a:prstGeom>
          <a:noFill/>
        </p:spPr>
        <p:txBody>
          <a:bodyPr wrap="square" lIns="0" rIns="0" tIns="0" bIns="0" anchor="t">
            <a:spAutoFit/>
          </a:bodyPr>
          <a:lstStyle/>
          <a:p>
            <a:pPr algn="l">
              <a:lnSpc>
                <a:spcPct val="118000"/>
              </a:lnSpc>
              <a:spcBef>
                <a:spcPts val="0"/>
              </a:spcBef>
              <a:spcAft>
                <a:spcPts val="0"/>
              </a:spcAft>
            </a:pPr>
            <a:r>
              <a:rPr sz="950" b="0" i="0">
                <a:solidFill>
                  <a:srgbClr val="2E3F47"/>
                </a:solidFill>
                <a:latin typeface="Calibri"/>
              </a:rPr>
              <a:t>Loaded and read, never edited in place by users. Corrections arrive as new loads with effective dates, so a number reported last quarter can be reproduced exactly.</a:t>
            </a:r>
          </a:p>
        </p:txBody>
      </p:sp>
      <p:sp>
        <p:nvSpPr>
          <p:cNvPr id="23" name="Rounded Rectangle 22"/>
          <p:cNvSpPr/>
          <p:nvPr/>
        </p:nvSpPr>
        <p:spPr>
          <a:xfrm>
            <a:off x="548640" y="3675887"/>
            <a:ext cx="11094415" cy="841248"/>
          </a:xfrm>
          <a:prstGeom prst="roundRect">
            <a:avLst>
              <a:gd name="adj" fmla="val 6000"/>
            </a:avLst>
          </a:prstGeom>
          <a:solidFill>
            <a:srgbClr val="123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68096" y="3776472"/>
            <a:ext cx="10655503" cy="640080"/>
          </a:xfrm>
          <a:prstGeom prst="rect">
            <a:avLst/>
          </a:prstGeom>
          <a:noFill/>
        </p:spPr>
        <p:txBody>
          <a:bodyPr wrap="square" lIns="0" rIns="0" tIns="0" bIns="0" anchor="ctr">
            <a:spAutoFit/>
          </a:bodyPr>
          <a:lstStyle/>
          <a:p>
            <a:pPr algn="l">
              <a:lnSpc>
                <a:spcPct val="114000"/>
              </a:lnSpc>
            </a:pPr>
            <a:r>
              <a:rPr sz="1100" b="1">
                <a:solidFill>
                  <a:srgbClr val="E8A33D"/>
                </a:solidFill>
                <a:latin typeface="Calibri"/>
              </a:rPr>
              <a:t>Inmon's own sentence — learn it verbatim.  </a:t>
            </a:r>
            <a:r>
              <a:rPr sz="1100">
                <a:solidFill>
                  <a:srgbClr val="FFFFFF"/>
                </a:solidFill>
                <a:latin typeface="Calibri"/>
              </a:rPr>
              <a:t>“A data warehouse is a subject-oriented, integrated, time-variant and non-volatile collection of data in support of management's decision-making process.” Every clause does work: subject-oriented rules out an application-shaped copy; integrated rules out raw extracts; time-variant rules out a mirror of the present; non-volatile rules out users editing it.</a:t>
            </a:r>
          </a:p>
        </p:txBody>
      </p:sp>
      <p:sp>
        <p:nvSpPr>
          <p:cNvPr id="25" name="Rounded Rectangle 24"/>
          <p:cNvSpPr/>
          <p:nvPr/>
        </p:nvSpPr>
        <p:spPr>
          <a:xfrm>
            <a:off x="548640" y="4663440"/>
            <a:ext cx="5394960" cy="1152144"/>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749808" y="4873752"/>
            <a:ext cx="384048" cy="384048"/>
          </a:xfrm>
          <a:prstGeom prst="ellipse">
            <a:avLst/>
          </a:prstGeom>
          <a:solidFill>
            <a:srgbClr val="A63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250" b="1" i="0">
                <a:solidFill>
                  <a:srgbClr val="FFFFFF"/>
                </a:solidFill>
                <a:latin typeface="Calibri"/>
              </a:rPr>
              <a:t>?</a:t>
            </a:r>
          </a:p>
        </p:txBody>
      </p:sp>
      <p:sp>
        <p:nvSpPr>
          <p:cNvPr id="27" name="TextBox 26"/>
          <p:cNvSpPr txBox="1"/>
          <p:nvPr/>
        </p:nvSpPr>
        <p:spPr>
          <a:xfrm>
            <a:off x="1252728" y="4864608"/>
            <a:ext cx="4489704" cy="402336"/>
          </a:xfrm>
          <a:prstGeom prst="rect">
            <a:avLst/>
          </a:prstGeom>
          <a:noFill/>
        </p:spPr>
        <p:txBody>
          <a:bodyPr wrap="square" lIns="0" rIns="0" tIns="0" bIns="0" anchor="ctr">
            <a:spAutoFit/>
          </a:bodyPr>
          <a:lstStyle/>
          <a:p>
            <a:pPr algn="l">
              <a:spcBef>
                <a:spcPts val="0"/>
              </a:spcBef>
              <a:spcAft>
                <a:spcPts val="0"/>
              </a:spcAft>
            </a:pPr>
            <a:r>
              <a:rPr sz="1300" b="1" i="0">
                <a:solidFill>
                  <a:srgbClr val="123B47"/>
                </a:solidFill>
                <a:latin typeface="Calibri"/>
              </a:rPr>
              <a:t>Most often missing in practice</a:t>
            </a:r>
          </a:p>
        </p:txBody>
      </p:sp>
      <p:sp>
        <p:nvSpPr>
          <p:cNvPr id="28" name="TextBox 27"/>
          <p:cNvSpPr txBox="1"/>
          <p:nvPr/>
        </p:nvSpPr>
        <p:spPr>
          <a:xfrm>
            <a:off x="749808" y="5358384"/>
            <a:ext cx="4992624" cy="384048"/>
          </a:xfrm>
          <a:prstGeom prst="rect">
            <a:avLst/>
          </a:prstGeom>
          <a:noFill/>
        </p:spPr>
        <p:txBody>
          <a:bodyPr wrap="square" lIns="0" rIns="0" tIns="0" bIns="0" anchor="t">
            <a:spAutoFit/>
          </a:bodyPr>
          <a:lstStyle/>
          <a:p>
            <a:pPr algn="l">
              <a:lnSpc>
                <a:spcPct val="115000"/>
              </a:lnSpc>
              <a:spcBef>
                <a:spcPts val="0"/>
              </a:spcBef>
              <a:spcAft>
                <a:spcPts val="0"/>
              </a:spcAft>
            </a:pPr>
            <a:r>
              <a:rPr sz="900" b="0" i="0">
                <a:solidFill>
                  <a:srgbClr val="2E3F47"/>
                </a:solidFill>
                <a:latin typeface="Calibri"/>
              </a:rPr>
              <a:t>Integration. Organisations copy data faithfully and never reconcile it — producing a fast, well-governed store that still holds three definitions of revenue.</a:t>
            </a:r>
          </a:p>
        </p:txBody>
      </p:sp>
      <p:sp>
        <p:nvSpPr>
          <p:cNvPr id="29" name="Rounded Rectangle 28"/>
          <p:cNvSpPr/>
          <p:nvPr/>
        </p:nvSpPr>
        <p:spPr>
          <a:xfrm>
            <a:off x="6245352" y="4663440"/>
            <a:ext cx="5394960" cy="1152144"/>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6446520" y="4873752"/>
            <a:ext cx="384048" cy="384048"/>
          </a:xfrm>
          <a:prstGeom prst="ellipse">
            <a:avLst/>
          </a:prstGeom>
          <a:solidFill>
            <a:srgbClr val="1B7F7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250" b="1" i="0">
                <a:solidFill>
                  <a:srgbClr val="FFFFFF"/>
                </a:solidFill>
                <a:latin typeface="Calibri"/>
              </a:rPr>
              <a:t>!</a:t>
            </a:r>
          </a:p>
        </p:txBody>
      </p:sp>
      <p:sp>
        <p:nvSpPr>
          <p:cNvPr id="31" name="TextBox 30"/>
          <p:cNvSpPr txBox="1"/>
          <p:nvPr/>
        </p:nvSpPr>
        <p:spPr>
          <a:xfrm>
            <a:off x="6949440" y="4864608"/>
            <a:ext cx="4489704" cy="402336"/>
          </a:xfrm>
          <a:prstGeom prst="rect">
            <a:avLst/>
          </a:prstGeom>
          <a:noFill/>
        </p:spPr>
        <p:txBody>
          <a:bodyPr wrap="square" lIns="0" rIns="0" tIns="0" bIns="0" anchor="ctr">
            <a:spAutoFit/>
          </a:bodyPr>
          <a:lstStyle/>
          <a:p>
            <a:pPr algn="l">
              <a:spcBef>
                <a:spcPts val="0"/>
              </a:spcBef>
              <a:spcAft>
                <a:spcPts val="0"/>
              </a:spcAft>
            </a:pPr>
            <a:r>
              <a:rPr sz="1300" b="1" i="0">
                <a:solidFill>
                  <a:srgbClr val="123B47"/>
                </a:solidFill>
                <a:latin typeface="Calibri"/>
              </a:rPr>
              <a:t>Most often sacrificed to cost</a:t>
            </a:r>
          </a:p>
        </p:txBody>
      </p:sp>
      <p:sp>
        <p:nvSpPr>
          <p:cNvPr id="32" name="TextBox 31"/>
          <p:cNvSpPr txBox="1"/>
          <p:nvPr/>
        </p:nvSpPr>
        <p:spPr>
          <a:xfrm>
            <a:off x="6446520" y="5358384"/>
            <a:ext cx="4992624" cy="384048"/>
          </a:xfrm>
          <a:prstGeom prst="rect">
            <a:avLst/>
          </a:prstGeom>
          <a:noFill/>
        </p:spPr>
        <p:txBody>
          <a:bodyPr wrap="square" lIns="0" rIns="0" tIns="0" bIns="0" anchor="t">
            <a:spAutoFit/>
          </a:bodyPr>
          <a:lstStyle/>
          <a:p>
            <a:pPr algn="l">
              <a:lnSpc>
                <a:spcPct val="115000"/>
              </a:lnSpc>
              <a:spcBef>
                <a:spcPts val="0"/>
              </a:spcBef>
              <a:spcAft>
                <a:spcPts val="0"/>
              </a:spcAft>
            </a:pPr>
            <a:r>
              <a:rPr sz="900" b="0" i="0">
                <a:solidFill>
                  <a:srgbClr val="2E3F47"/>
                </a:solidFill>
                <a:latin typeface="Calibri"/>
              </a:rPr>
              <a:t>Time-variance. Retaining history costs storage and design effort, so it is invariably the first thing cut — and the first thing missed, eighteen months later.</a:t>
            </a:r>
          </a:p>
        </p:txBody>
      </p:sp>
      <p:sp>
        <p:nvSpPr>
          <p:cNvPr id="33" name="Rounded Rectangle 32"/>
          <p:cNvSpPr/>
          <p:nvPr/>
        </p:nvSpPr>
        <p:spPr>
          <a:xfrm>
            <a:off x="548640" y="5961888"/>
            <a:ext cx="11094415" cy="384048"/>
          </a:xfrm>
          <a:prstGeom prst="roundRect">
            <a:avLst>
              <a:gd name="adj" fmla="val 6000"/>
            </a:avLst>
          </a:prstGeom>
          <a:solidFill>
            <a:srgbClr val="FFFFFF"/>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768096" y="5998464"/>
            <a:ext cx="10655503" cy="310896"/>
          </a:xfrm>
          <a:prstGeom prst="rect">
            <a:avLst/>
          </a:prstGeom>
          <a:noFill/>
        </p:spPr>
        <p:txBody>
          <a:bodyPr wrap="square" lIns="0" rIns="0" tIns="0" bIns="0" anchor="ctr">
            <a:spAutoFit/>
          </a:bodyPr>
          <a:lstStyle/>
          <a:p>
            <a:pPr algn="l">
              <a:spcBef>
                <a:spcPts val="0"/>
              </a:spcBef>
              <a:spcAft>
                <a:spcPts val="0"/>
              </a:spcAft>
            </a:pPr>
            <a:r>
              <a:rPr sz="900" b="0" i="0">
                <a:solidFill>
                  <a:srgbClr val="5C7079"/>
                </a:solidFill>
                <a:latin typeface="Calibri"/>
              </a:rPr>
              <a:t>Boundaries:  a warehouse is not a backup, not a replica of production, not a data lake, not an operational data store (an ODS has three of the four properties but no time-variance), and not a reporting tool.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bg>
    <p:bgPr>
      <a:solidFill>
        <a:srgbClr val="FFFFFF"/>
      </a:solidFill>
      <a:effectLst/>
    </p:bgPr>
  </p:bg>
  <p:cSld>
    <p:spTree>
      <p:nvGrpSpPr>
        <p:cNvPr id="1" name=""/>
        <p:cNvGrpSpPr/>
        <p:nvPr/>
      </p:nvGrpSpPr>
      <p:grpSpPr/>
      <p:sp>
        <p:nvSpPr>
          <p:cNvPr id="2" name="Oval 1"/>
          <p:cNvSpPr/>
          <p:nvPr/>
        </p:nvSpPr>
        <p:spPr>
          <a:xfrm>
            <a:off x="548640" y="374904"/>
            <a:ext cx="109728" cy="109728"/>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283464"/>
            <a:ext cx="10893247" cy="256032"/>
          </a:xfrm>
          <a:prstGeom prst="rect">
            <a:avLst/>
          </a:prstGeom>
          <a:noFill/>
        </p:spPr>
        <p:txBody>
          <a:bodyPr wrap="square" lIns="0" rIns="0" tIns="0" bIns="0" anchor="t">
            <a:spAutoFit/>
          </a:bodyPr>
          <a:lstStyle/>
          <a:p>
            <a:pPr algn="l">
              <a:spcBef>
                <a:spcPts val="0"/>
              </a:spcBef>
              <a:spcAft>
                <a:spcPts val="0"/>
              </a:spcAft>
            </a:pPr>
            <a:r>
              <a:rPr sz="1000" b="1" i="0">
                <a:solidFill>
                  <a:srgbClr val="B87A1E"/>
                </a:solidFill>
                <a:latin typeface="Calibri"/>
              </a:rPr>
              <a:t>PART 2 · THE CONTRAST</a:t>
            </a:r>
          </a:p>
        </p:txBody>
      </p:sp>
      <p:sp>
        <p:nvSpPr>
          <p:cNvPr id="4" name="TextBox 3"/>
          <p:cNvSpPr txBox="1"/>
          <p:nvPr/>
        </p:nvSpPr>
        <p:spPr>
          <a:xfrm>
            <a:off x="548640" y="548640"/>
            <a:ext cx="11094415" cy="640080"/>
          </a:xfrm>
          <a:prstGeom prst="rect">
            <a:avLst/>
          </a:prstGeom>
          <a:noFill/>
        </p:spPr>
        <p:txBody>
          <a:bodyPr wrap="square" lIns="0" rIns="0" tIns="0" bIns="0" anchor="t">
            <a:spAutoFit/>
          </a:bodyPr>
          <a:lstStyle/>
          <a:p>
            <a:pPr algn="l">
              <a:spcBef>
                <a:spcPts val="0"/>
              </a:spcBef>
              <a:spcAft>
                <a:spcPts val="0"/>
              </a:spcAft>
            </a:pPr>
            <a:r>
              <a:rPr sz="2600" b="1" i="0">
                <a:solidFill>
                  <a:srgbClr val="123B47"/>
                </a:solidFill>
                <a:latin typeface="Cambria"/>
              </a:rPr>
              <a:t>OLTP against OLAP — the table most often examined</a:t>
            </a:r>
          </a:p>
        </p:txBody>
      </p:sp>
      <p:sp>
        <p:nvSpPr>
          <p:cNvPr id="5" name="TextBox 4"/>
          <p:cNvSpPr txBox="1"/>
          <p:nvPr/>
        </p:nvSpPr>
        <p:spPr>
          <a:xfrm>
            <a:off x="548640" y="6382512"/>
            <a:ext cx="8686800" cy="256032"/>
          </a:xfrm>
          <a:prstGeom prst="rect">
            <a:avLst/>
          </a:prstGeom>
          <a:noFill/>
        </p:spPr>
        <p:txBody>
          <a:bodyPr wrap="square" lIns="0" rIns="0" tIns="0" bIns="0" anchor="t">
            <a:spAutoFit/>
          </a:bodyPr>
          <a:lstStyle/>
          <a:p>
            <a:pPr algn="l">
              <a:spcBef>
                <a:spcPts val="0"/>
              </a:spcBef>
              <a:spcAft>
                <a:spcPts val="0"/>
              </a:spcAft>
            </a:pPr>
            <a:r>
              <a:rPr sz="900" b="0" i="0">
                <a:solidFill>
                  <a:srgbClr val="5C7079"/>
                </a:solidFill>
                <a:latin typeface="Calibri"/>
              </a:rPr>
              <a:t>Business Intelligence  |  Session 6 — Data Warehousing &amp; OLTP/OLAP  |  IILM Jaipur, MBA</a:t>
            </a:r>
          </a:p>
        </p:txBody>
      </p:sp>
      <p:sp>
        <p:nvSpPr>
          <p:cNvPr id="6" name="TextBox 5"/>
          <p:cNvSpPr txBox="1"/>
          <p:nvPr/>
        </p:nvSpPr>
        <p:spPr>
          <a:xfrm>
            <a:off x="10545775" y="6382512"/>
            <a:ext cx="1097280" cy="256032"/>
          </a:xfrm>
          <a:prstGeom prst="rect">
            <a:avLst/>
          </a:prstGeom>
          <a:noFill/>
        </p:spPr>
        <p:txBody>
          <a:bodyPr wrap="square" lIns="0" rIns="0" tIns="0" bIns="0" anchor="t">
            <a:spAutoFit/>
          </a:bodyPr>
          <a:lstStyle/>
          <a:p>
            <a:pPr algn="r">
              <a:spcBef>
                <a:spcPts val="0"/>
              </a:spcBef>
              <a:spcAft>
                <a:spcPts val="0"/>
              </a:spcAft>
            </a:pPr>
            <a:r>
              <a:rPr sz="950" b="1" i="0">
                <a:solidFill>
                  <a:srgbClr val="1B7F79"/>
                </a:solidFill>
                <a:latin typeface="Calibri"/>
              </a:rPr>
              <a:t>5</a:t>
            </a:r>
          </a:p>
        </p:txBody>
      </p:sp>
      <p:graphicFrame>
        <p:nvGraphicFramePr>
          <p:cNvPr id="7" name="Table 6"/>
          <p:cNvGraphicFramePr>
            <a:graphicFrameLocks noGrp="1"/>
          </p:cNvGraphicFramePr>
          <p:nvPr/>
        </p:nvGraphicFramePr>
        <p:xfrm>
          <a:off x="548640" y="1298448"/>
          <a:ext cx="11094413" cy="3337560"/>
        </p:xfrm>
        <a:graphic>
          <a:graphicData uri="http://schemas.openxmlformats.org/drawingml/2006/table">
            <a:tbl>
              <a:tblPr firstRow="1" bandRow="1">
                <a:tableStyleId>{5C22544A-7EE6-4342-B048-85BDC9FD1C3A}</a:tableStyleId>
              </a:tblPr>
              <a:tblGrid>
                <a:gridCol w="2061793"/>
                <a:gridCol w="4516310"/>
                <a:gridCol w="4516310"/>
              </a:tblGrid>
              <a:tr h="333756">
                <a:tc>
                  <a:txBody>
                    <a:bodyPr/>
                    <a:lstStyle/>
                    <a:p>
                      <a:pPr>
                        <a:lnSpc>
                          <a:spcPct val="105000"/>
                        </a:lnSpc>
                      </a:pPr>
                      <a:r>
                        <a:rPr sz="1000" b="1">
                          <a:solidFill>
                            <a:srgbClr val="FFFFFF"/>
                          </a:solidFill>
                          <a:latin typeface="Calibri"/>
                        </a:rPr>
                        <a:t>Dimension</a:t>
                      </a:r>
                    </a:p>
                  </a:txBody>
                  <a:tcPr marL="82296" marR="82296" marT="41148" marB="41148" anchor="ctr">
                    <a:solidFill>
                      <a:srgbClr val="123B47"/>
                    </a:solidFill>
                  </a:tcPr>
                </a:tc>
                <a:tc>
                  <a:txBody>
                    <a:bodyPr/>
                    <a:lstStyle/>
                    <a:p>
                      <a:pPr>
                        <a:lnSpc>
                          <a:spcPct val="105000"/>
                        </a:lnSpc>
                      </a:pPr>
                      <a:r>
                        <a:rPr sz="1000" b="1">
                          <a:solidFill>
                            <a:srgbClr val="FFFFFF"/>
                          </a:solidFill>
                          <a:latin typeface="Calibri"/>
                        </a:rPr>
                        <a:t>OLTP — running the business</a:t>
                      </a:r>
                    </a:p>
                  </a:txBody>
                  <a:tcPr marL="82296" marR="82296" marT="41148" marB="41148" anchor="ctr">
                    <a:solidFill>
                      <a:srgbClr val="123B47"/>
                    </a:solidFill>
                  </a:tcPr>
                </a:tc>
                <a:tc>
                  <a:txBody>
                    <a:bodyPr/>
                    <a:lstStyle/>
                    <a:p>
                      <a:pPr>
                        <a:lnSpc>
                          <a:spcPct val="105000"/>
                        </a:lnSpc>
                      </a:pPr>
                      <a:r>
                        <a:rPr sz="1000" b="1">
                          <a:solidFill>
                            <a:srgbClr val="FFFFFF"/>
                          </a:solidFill>
                          <a:latin typeface="Calibri"/>
                        </a:rPr>
                        <a:t>OLAP — understanding the business</a:t>
                      </a:r>
                    </a:p>
                  </a:txBody>
                  <a:tcPr marL="82296" marR="82296" marT="41148" marB="41148" anchor="ctr">
                    <a:solidFill>
                      <a:srgbClr val="123B47"/>
                    </a:solidFill>
                  </a:tcPr>
                </a:tc>
              </a:tr>
              <a:tr h="333756">
                <a:tc>
                  <a:txBody>
                    <a:bodyPr/>
                    <a:lstStyle/>
                    <a:p>
                      <a:pPr>
                        <a:lnSpc>
                          <a:spcPct val="105000"/>
                        </a:lnSpc>
                      </a:pPr>
                      <a:r>
                        <a:rPr sz="950" b="1">
                          <a:solidFill>
                            <a:srgbClr val="123B47"/>
                          </a:solidFill>
                          <a:latin typeface="Calibri"/>
                        </a:rPr>
                        <a:t>Purpose</a:t>
                      </a:r>
                    </a:p>
                  </a:txBody>
                  <a:tcPr marL="82296" marR="82296" marT="41148" marB="41148" anchor="ctr">
                    <a:solidFill>
                      <a:srgbClr val="FFFFFF"/>
                    </a:solidFill>
                  </a:tcPr>
                </a:tc>
                <a:tc>
                  <a:txBody>
                    <a:bodyPr/>
                    <a:lstStyle/>
                    <a:p>
                      <a:pPr>
                        <a:lnSpc>
                          <a:spcPct val="105000"/>
                        </a:lnSpc>
                      </a:pPr>
                      <a:r>
                        <a:rPr sz="950" b="0">
                          <a:solidFill>
                            <a:srgbClr val="2E3F47"/>
                          </a:solidFill>
                          <a:latin typeface="Calibri"/>
                        </a:rPr>
                        <a:t>Record and control day-to-day transactions</a:t>
                      </a:r>
                    </a:p>
                  </a:txBody>
                  <a:tcPr marL="82296" marR="82296" marT="41148" marB="41148" anchor="ctr">
                    <a:solidFill>
                      <a:srgbClr val="FFFFFF"/>
                    </a:solidFill>
                  </a:tcPr>
                </a:tc>
                <a:tc>
                  <a:txBody>
                    <a:bodyPr/>
                    <a:lstStyle/>
                    <a:p>
                      <a:pPr>
                        <a:lnSpc>
                          <a:spcPct val="105000"/>
                        </a:lnSpc>
                      </a:pPr>
                      <a:r>
                        <a:rPr sz="950" b="0">
                          <a:solidFill>
                            <a:srgbClr val="2E3F47"/>
                          </a:solidFill>
                          <a:latin typeface="Calibri"/>
                        </a:rPr>
                        <a:t>Analyse, compare and explain performance</a:t>
                      </a:r>
                    </a:p>
                  </a:txBody>
                  <a:tcPr marL="82296" marR="82296" marT="41148" marB="41148" anchor="ctr">
                    <a:solidFill>
                      <a:srgbClr val="FFFFFF"/>
                    </a:solidFill>
                  </a:tcPr>
                </a:tc>
              </a:tr>
              <a:tr h="333756">
                <a:tc>
                  <a:txBody>
                    <a:bodyPr/>
                    <a:lstStyle/>
                    <a:p>
                      <a:pPr>
                        <a:lnSpc>
                          <a:spcPct val="105000"/>
                        </a:lnSpc>
                      </a:pPr>
                      <a:r>
                        <a:rPr sz="950" b="1">
                          <a:solidFill>
                            <a:srgbClr val="123B47"/>
                          </a:solidFill>
                          <a:latin typeface="Calibri"/>
                        </a:rPr>
                        <a:t>Unit of work</a:t>
                      </a:r>
                    </a:p>
                  </a:txBody>
                  <a:tcPr marL="82296" marR="82296" marT="41148" marB="41148" anchor="ctr">
                    <a:solidFill>
                      <a:srgbClr val="F1F5F4"/>
                    </a:solidFill>
                  </a:tcPr>
                </a:tc>
                <a:tc>
                  <a:txBody>
                    <a:bodyPr/>
                    <a:lstStyle/>
                    <a:p>
                      <a:pPr>
                        <a:lnSpc>
                          <a:spcPct val="105000"/>
                        </a:lnSpc>
                      </a:pPr>
                      <a:r>
                        <a:rPr sz="950" b="0">
                          <a:solidFill>
                            <a:srgbClr val="2E3F47"/>
                          </a:solidFill>
                          <a:latin typeface="Calibri"/>
                        </a:rPr>
                        <a:t>Insert an order; post a payment (few rows)</a:t>
                      </a:r>
                    </a:p>
                  </a:txBody>
                  <a:tcPr marL="82296" marR="82296" marT="41148" marB="41148" anchor="ctr">
                    <a:solidFill>
                      <a:srgbClr val="F1F5F4"/>
                    </a:solidFill>
                  </a:tcPr>
                </a:tc>
                <a:tc>
                  <a:txBody>
                    <a:bodyPr/>
                    <a:lstStyle/>
                    <a:p>
                      <a:pPr>
                        <a:lnSpc>
                          <a:spcPct val="105000"/>
                        </a:lnSpc>
                      </a:pPr>
                      <a:r>
                        <a:rPr sz="950" b="0">
                          <a:solidFill>
                            <a:srgbClr val="2E3F47"/>
                          </a:solidFill>
                          <a:latin typeface="Calibri"/>
                        </a:rPr>
                        <a:t>Sales by region by month for three years (millions of rows)</a:t>
                      </a:r>
                    </a:p>
                  </a:txBody>
                  <a:tcPr marL="82296" marR="82296" marT="41148" marB="41148" anchor="ctr">
                    <a:solidFill>
                      <a:srgbClr val="F1F5F4"/>
                    </a:solidFill>
                  </a:tcPr>
                </a:tc>
              </a:tr>
              <a:tr h="333756">
                <a:tc>
                  <a:txBody>
                    <a:bodyPr/>
                    <a:lstStyle/>
                    <a:p>
                      <a:pPr>
                        <a:lnSpc>
                          <a:spcPct val="105000"/>
                        </a:lnSpc>
                      </a:pPr>
                      <a:r>
                        <a:rPr sz="950" b="1">
                          <a:solidFill>
                            <a:srgbClr val="123B47"/>
                          </a:solidFill>
                          <a:latin typeface="Calibri"/>
                        </a:rPr>
                        <a:t>Users</a:t>
                      </a:r>
                    </a:p>
                  </a:txBody>
                  <a:tcPr marL="82296" marR="82296" marT="41148" marB="41148" anchor="ctr">
                    <a:solidFill>
                      <a:srgbClr val="FFFFFF"/>
                    </a:solidFill>
                  </a:tcPr>
                </a:tc>
                <a:tc>
                  <a:txBody>
                    <a:bodyPr/>
                    <a:lstStyle/>
                    <a:p>
                      <a:pPr>
                        <a:lnSpc>
                          <a:spcPct val="105000"/>
                        </a:lnSpc>
                      </a:pPr>
                      <a:r>
                        <a:rPr sz="950" b="0">
                          <a:solidFill>
                            <a:srgbClr val="2E3F47"/>
                          </a:solidFill>
                          <a:latin typeface="Calibri"/>
                        </a:rPr>
                        <a:t>Hundreds–thousands of clerks, customers, devices</a:t>
                      </a:r>
                    </a:p>
                  </a:txBody>
                  <a:tcPr marL="82296" marR="82296" marT="41148" marB="41148" anchor="ctr">
                    <a:solidFill>
                      <a:srgbClr val="FFFFFF"/>
                    </a:solidFill>
                  </a:tcPr>
                </a:tc>
                <a:tc>
                  <a:txBody>
                    <a:bodyPr/>
                    <a:lstStyle/>
                    <a:p>
                      <a:pPr>
                        <a:lnSpc>
                          <a:spcPct val="105000"/>
                        </a:lnSpc>
                      </a:pPr>
                      <a:r>
                        <a:rPr sz="950" b="0">
                          <a:solidFill>
                            <a:srgbClr val="2E3F47"/>
                          </a:solidFill>
                          <a:latin typeface="Calibri"/>
                        </a:rPr>
                        <a:t>Tens–hundreds of analysts and managers</a:t>
                      </a:r>
                    </a:p>
                  </a:txBody>
                  <a:tcPr marL="82296" marR="82296" marT="41148" marB="41148" anchor="ctr">
                    <a:solidFill>
                      <a:srgbClr val="FFFFFF"/>
                    </a:solidFill>
                  </a:tcPr>
                </a:tc>
              </a:tr>
              <a:tr h="333756">
                <a:tc>
                  <a:txBody>
                    <a:bodyPr/>
                    <a:lstStyle/>
                    <a:p>
                      <a:pPr>
                        <a:lnSpc>
                          <a:spcPct val="105000"/>
                        </a:lnSpc>
                      </a:pPr>
                      <a:r>
                        <a:rPr sz="950" b="1">
                          <a:solidFill>
                            <a:srgbClr val="123B47"/>
                          </a:solidFill>
                          <a:latin typeface="Calibri"/>
                        </a:rPr>
                        <a:t>Data age</a:t>
                      </a:r>
                    </a:p>
                  </a:txBody>
                  <a:tcPr marL="82296" marR="82296" marT="41148" marB="41148" anchor="ctr">
                    <a:solidFill>
                      <a:srgbClr val="F1F5F4"/>
                    </a:solidFill>
                  </a:tcPr>
                </a:tc>
                <a:tc>
                  <a:txBody>
                    <a:bodyPr/>
                    <a:lstStyle/>
                    <a:p>
                      <a:pPr>
                        <a:lnSpc>
                          <a:spcPct val="105000"/>
                        </a:lnSpc>
                      </a:pPr>
                      <a:r>
                        <a:rPr sz="950" b="0">
                          <a:solidFill>
                            <a:srgbClr val="2E3F47"/>
                          </a:solidFill>
                          <a:latin typeface="Calibri"/>
                        </a:rPr>
                        <a:t>Current only; history overwritten</a:t>
                      </a:r>
                    </a:p>
                  </a:txBody>
                  <a:tcPr marL="82296" marR="82296" marT="41148" marB="41148" anchor="ctr">
                    <a:solidFill>
                      <a:srgbClr val="F1F5F4"/>
                    </a:solidFill>
                  </a:tcPr>
                </a:tc>
                <a:tc>
                  <a:txBody>
                    <a:bodyPr/>
                    <a:lstStyle/>
                    <a:p>
                      <a:pPr>
                        <a:lnSpc>
                          <a:spcPct val="105000"/>
                        </a:lnSpc>
                      </a:pPr>
                      <a:r>
                        <a:rPr sz="950" b="0">
                          <a:solidFill>
                            <a:srgbClr val="2E3F47"/>
                          </a:solidFill>
                          <a:latin typeface="Calibri"/>
                        </a:rPr>
                        <a:t>Historical; years retained with time context</a:t>
                      </a:r>
                    </a:p>
                  </a:txBody>
                  <a:tcPr marL="82296" marR="82296" marT="41148" marB="41148" anchor="ctr">
                    <a:solidFill>
                      <a:srgbClr val="F1F5F4"/>
                    </a:solidFill>
                  </a:tcPr>
                </a:tc>
              </a:tr>
              <a:tr h="333756">
                <a:tc>
                  <a:txBody>
                    <a:bodyPr/>
                    <a:lstStyle/>
                    <a:p>
                      <a:pPr>
                        <a:lnSpc>
                          <a:spcPct val="105000"/>
                        </a:lnSpc>
                      </a:pPr>
                      <a:r>
                        <a:rPr sz="950" b="1">
                          <a:solidFill>
                            <a:srgbClr val="123B47"/>
                          </a:solidFill>
                          <a:latin typeface="Calibri"/>
                        </a:rPr>
                        <a:t>Design</a:t>
                      </a:r>
                    </a:p>
                  </a:txBody>
                  <a:tcPr marL="82296" marR="82296" marT="41148" marB="41148" anchor="ctr">
                    <a:solidFill>
                      <a:srgbClr val="FFFFFF"/>
                    </a:solidFill>
                  </a:tcPr>
                </a:tc>
                <a:tc>
                  <a:txBody>
                    <a:bodyPr/>
                    <a:lstStyle/>
                    <a:p>
                      <a:pPr>
                        <a:lnSpc>
                          <a:spcPct val="105000"/>
                        </a:lnSpc>
                      </a:pPr>
                      <a:r>
                        <a:rPr sz="950" b="0">
                          <a:solidFill>
                            <a:srgbClr val="2E3F47"/>
                          </a:solidFill>
                          <a:latin typeface="Calibri"/>
                        </a:rPr>
                        <a:t>Normalised, row storage, many indexes</a:t>
                      </a:r>
                    </a:p>
                  </a:txBody>
                  <a:tcPr marL="82296" marR="82296" marT="41148" marB="41148" anchor="ctr">
                    <a:solidFill>
                      <a:srgbClr val="FFFFFF"/>
                    </a:solidFill>
                  </a:tcPr>
                </a:tc>
                <a:tc>
                  <a:txBody>
                    <a:bodyPr/>
                    <a:lstStyle/>
                    <a:p>
                      <a:pPr>
                        <a:lnSpc>
                          <a:spcPct val="105000"/>
                        </a:lnSpc>
                      </a:pPr>
                      <a:r>
                        <a:rPr sz="950" b="0">
                          <a:solidFill>
                            <a:srgbClr val="2E3F47"/>
                          </a:solidFill>
                          <a:latin typeface="Calibri"/>
                        </a:rPr>
                        <a:t>Denormalised star, columnar storage, few indexes</a:t>
                      </a:r>
                    </a:p>
                  </a:txBody>
                  <a:tcPr marL="82296" marR="82296" marT="41148" marB="41148" anchor="ctr">
                    <a:solidFill>
                      <a:srgbClr val="FFFFFF"/>
                    </a:solidFill>
                  </a:tcPr>
                </a:tc>
              </a:tr>
              <a:tr h="333756">
                <a:tc>
                  <a:txBody>
                    <a:bodyPr/>
                    <a:lstStyle/>
                    <a:p>
                      <a:pPr>
                        <a:lnSpc>
                          <a:spcPct val="105000"/>
                        </a:lnSpc>
                      </a:pPr>
                      <a:r>
                        <a:rPr sz="950" b="1">
                          <a:solidFill>
                            <a:srgbClr val="123B47"/>
                          </a:solidFill>
                          <a:latin typeface="Calibri"/>
                        </a:rPr>
                        <a:t>Updates</a:t>
                      </a:r>
                    </a:p>
                  </a:txBody>
                  <a:tcPr marL="82296" marR="82296" marT="41148" marB="41148" anchor="ctr">
                    <a:solidFill>
                      <a:srgbClr val="F1F5F4"/>
                    </a:solidFill>
                  </a:tcPr>
                </a:tc>
                <a:tc>
                  <a:txBody>
                    <a:bodyPr/>
                    <a:lstStyle/>
                    <a:p>
                      <a:pPr>
                        <a:lnSpc>
                          <a:spcPct val="105000"/>
                        </a:lnSpc>
                      </a:pPr>
                      <a:r>
                        <a:rPr sz="950" b="0">
                          <a:solidFill>
                            <a:srgbClr val="2E3F47"/>
                          </a:solidFill>
                          <a:latin typeface="Calibri"/>
                        </a:rPr>
                        <a:t>Continuous, small, transactional</a:t>
                      </a:r>
                    </a:p>
                  </a:txBody>
                  <a:tcPr marL="82296" marR="82296" marT="41148" marB="41148" anchor="ctr">
                    <a:solidFill>
                      <a:srgbClr val="F1F5F4"/>
                    </a:solidFill>
                  </a:tcPr>
                </a:tc>
                <a:tc>
                  <a:txBody>
                    <a:bodyPr/>
                    <a:lstStyle/>
                    <a:p>
                      <a:pPr>
                        <a:lnSpc>
                          <a:spcPct val="105000"/>
                        </a:lnSpc>
                      </a:pPr>
                      <a:r>
                        <a:rPr sz="950" b="0">
                          <a:solidFill>
                            <a:srgbClr val="2E3F47"/>
                          </a:solidFill>
                          <a:latin typeface="Calibri"/>
                        </a:rPr>
                        <a:t>Periodic bulk loads; read-only to users</a:t>
                      </a:r>
                    </a:p>
                  </a:txBody>
                  <a:tcPr marL="82296" marR="82296" marT="41148" marB="41148" anchor="ctr">
                    <a:solidFill>
                      <a:srgbClr val="F1F5F4"/>
                    </a:solidFill>
                  </a:tcPr>
                </a:tc>
              </a:tr>
              <a:tr h="333756">
                <a:tc>
                  <a:txBody>
                    <a:bodyPr/>
                    <a:lstStyle/>
                    <a:p>
                      <a:pPr>
                        <a:lnSpc>
                          <a:spcPct val="105000"/>
                        </a:lnSpc>
                      </a:pPr>
                      <a:r>
                        <a:rPr sz="950" b="1">
                          <a:solidFill>
                            <a:srgbClr val="123B47"/>
                          </a:solidFill>
                          <a:latin typeface="Calibri"/>
                        </a:rPr>
                        <a:t>Volume</a:t>
                      </a:r>
                    </a:p>
                  </a:txBody>
                  <a:tcPr marL="82296" marR="82296" marT="41148" marB="41148" anchor="ctr">
                    <a:solidFill>
                      <a:srgbClr val="FFFFFF"/>
                    </a:solidFill>
                  </a:tcPr>
                </a:tc>
                <a:tc>
                  <a:txBody>
                    <a:bodyPr/>
                    <a:lstStyle/>
                    <a:p>
                      <a:pPr>
                        <a:lnSpc>
                          <a:spcPct val="105000"/>
                        </a:lnSpc>
                      </a:pPr>
                      <a:r>
                        <a:rPr sz="950" b="0">
                          <a:solidFill>
                            <a:srgbClr val="2E3F47"/>
                          </a:solidFill>
                          <a:latin typeface="Calibri"/>
                        </a:rPr>
                        <a:t>Gigabytes — the active operational set</a:t>
                      </a:r>
                    </a:p>
                  </a:txBody>
                  <a:tcPr marL="82296" marR="82296" marT="41148" marB="41148" anchor="ctr">
                    <a:solidFill>
                      <a:srgbClr val="FFFFFF"/>
                    </a:solidFill>
                  </a:tcPr>
                </a:tc>
                <a:tc>
                  <a:txBody>
                    <a:bodyPr/>
                    <a:lstStyle/>
                    <a:p>
                      <a:pPr>
                        <a:lnSpc>
                          <a:spcPct val="105000"/>
                        </a:lnSpc>
                      </a:pPr>
                      <a:r>
                        <a:rPr sz="950" b="0">
                          <a:solidFill>
                            <a:srgbClr val="2E3F47"/>
                          </a:solidFill>
                          <a:latin typeface="Calibri"/>
                        </a:rPr>
                        <a:t>Terabytes — accumulated history across systems</a:t>
                      </a:r>
                    </a:p>
                  </a:txBody>
                  <a:tcPr marL="82296" marR="82296" marT="41148" marB="41148" anchor="ctr">
                    <a:solidFill>
                      <a:srgbClr val="FFFFFF"/>
                    </a:solidFill>
                  </a:tcPr>
                </a:tc>
              </a:tr>
              <a:tr h="333756">
                <a:tc>
                  <a:txBody>
                    <a:bodyPr/>
                    <a:lstStyle/>
                    <a:p>
                      <a:pPr>
                        <a:lnSpc>
                          <a:spcPct val="105000"/>
                        </a:lnSpc>
                      </a:pPr>
                      <a:r>
                        <a:rPr sz="950" b="1">
                          <a:solidFill>
                            <a:srgbClr val="123B47"/>
                          </a:solidFill>
                          <a:latin typeface="Calibri"/>
                        </a:rPr>
                        <a:t>Success measured by</a:t>
                      </a:r>
                    </a:p>
                  </a:txBody>
                  <a:tcPr marL="82296" marR="82296" marT="41148" marB="41148" anchor="ctr">
                    <a:solidFill>
                      <a:srgbClr val="F1F5F4"/>
                    </a:solidFill>
                  </a:tcPr>
                </a:tc>
                <a:tc>
                  <a:txBody>
                    <a:bodyPr/>
                    <a:lstStyle/>
                    <a:p>
                      <a:pPr>
                        <a:lnSpc>
                          <a:spcPct val="105000"/>
                        </a:lnSpc>
                      </a:pPr>
                      <a:r>
                        <a:rPr sz="950" b="0">
                          <a:solidFill>
                            <a:srgbClr val="2E3F47"/>
                          </a:solidFill>
                          <a:latin typeface="Calibri"/>
                        </a:rPr>
                        <a:t>Transactions per second; availability</a:t>
                      </a:r>
                    </a:p>
                  </a:txBody>
                  <a:tcPr marL="82296" marR="82296" marT="41148" marB="41148" anchor="ctr">
                    <a:solidFill>
                      <a:srgbClr val="F1F5F4"/>
                    </a:solidFill>
                  </a:tcPr>
                </a:tc>
                <a:tc>
                  <a:txBody>
                    <a:bodyPr/>
                    <a:lstStyle/>
                    <a:p>
                      <a:pPr>
                        <a:lnSpc>
                          <a:spcPct val="105000"/>
                        </a:lnSpc>
                      </a:pPr>
                      <a:r>
                        <a:rPr sz="950" b="0">
                          <a:solidFill>
                            <a:srgbClr val="2E3F47"/>
                          </a:solidFill>
                          <a:latin typeface="Calibri"/>
                        </a:rPr>
                        <a:t>Query response time; range of questions answerable</a:t>
                      </a:r>
                    </a:p>
                  </a:txBody>
                  <a:tcPr marL="82296" marR="82296" marT="41148" marB="41148" anchor="ctr">
                    <a:solidFill>
                      <a:srgbClr val="F1F5F4"/>
                    </a:solidFill>
                  </a:tcPr>
                </a:tc>
              </a:tr>
              <a:tr h="333756">
                <a:tc>
                  <a:txBody>
                    <a:bodyPr/>
                    <a:lstStyle/>
                    <a:p>
                      <a:pPr>
                        <a:lnSpc>
                          <a:spcPct val="105000"/>
                        </a:lnSpc>
                      </a:pPr>
                      <a:r>
                        <a:rPr sz="950" b="1">
                          <a:solidFill>
                            <a:srgbClr val="123B47"/>
                          </a:solidFill>
                          <a:latin typeface="Calibri"/>
                        </a:rPr>
                        <a:t>Failure looks like</a:t>
                      </a:r>
                    </a:p>
                  </a:txBody>
                  <a:tcPr marL="82296" marR="82296" marT="41148" marB="41148" anchor="ctr">
                    <a:solidFill>
                      <a:srgbClr val="FFFFFF"/>
                    </a:solidFill>
                  </a:tcPr>
                </a:tc>
                <a:tc>
                  <a:txBody>
                    <a:bodyPr/>
                    <a:lstStyle/>
                    <a:p>
                      <a:pPr>
                        <a:lnSpc>
                          <a:spcPct val="105000"/>
                        </a:lnSpc>
                      </a:pPr>
                      <a:r>
                        <a:rPr sz="950" b="0">
                          <a:solidFill>
                            <a:srgbClr val="2E3F47"/>
                          </a:solidFill>
                          <a:latin typeface="Calibri"/>
                        </a:rPr>
                        <a:t>A locked table, a timeout, a lost payment</a:t>
                      </a:r>
                    </a:p>
                  </a:txBody>
                  <a:tcPr marL="82296" marR="82296" marT="41148" marB="41148" anchor="ctr">
                    <a:solidFill>
                      <a:srgbClr val="FFFFFF"/>
                    </a:solidFill>
                  </a:tcPr>
                </a:tc>
                <a:tc>
                  <a:txBody>
                    <a:bodyPr/>
                    <a:lstStyle/>
                    <a:p>
                      <a:pPr>
                        <a:lnSpc>
                          <a:spcPct val="105000"/>
                        </a:lnSpc>
                      </a:pPr>
                      <a:r>
                        <a:rPr sz="950" b="0">
                          <a:solidFill>
                            <a:srgbClr val="2E3F47"/>
                          </a:solidFill>
                          <a:latin typeface="Calibri"/>
                        </a:rPr>
                        <a:t>A report nobody trusts, or one that takes four minutes</a:t>
                      </a:r>
                    </a:p>
                  </a:txBody>
                  <a:tcPr marL="82296" marR="82296" marT="41148" marB="41148" anchor="ctr">
                    <a:solidFill>
                      <a:srgbClr val="FFFFFF"/>
                    </a:solidFill>
                  </a:tcPr>
                </a:tc>
              </a:tr>
            </a:tbl>
          </a:graphicData>
        </a:graphic>
      </p:graphicFrame>
      <p:sp>
        <p:nvSpPr>
          <p:cNvPr id="8" name="Rounded Rectangle 7"/>
          <p:cNvSpPr/>
          <p:nvPr/>
        </p:nvSpPr>
        <p:spPr>
          <a:xfrm>
            <a:off x="548640" y="5120640"/>
            <a:ext cx="11094415" cy="603504"/>
          </a:xfrm>
          <a:prstGeom prst="roundRect">
            <a:avLst>
              <a:gd name="adj" fmla="val 6000"/>
            </a:avLst>
          </a:prstGeom>
          <a:solidFill>
            <a:srgbClr val="123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68096" y="5221224"/>
            <a:ext cx="10655503" cy="402336"/>
          </a:xfrm>
          <a:prstGeom prst="rect">
            <a:avLst/>
          </a:prstGeom>
          <a:noFill/>
        </p:spPr>
        <p:txBody>
          <a:bodyPr wrap="square" lIns="0" rIns="0" tIns="0" bIns="0" anchor="ctr">
            <a:spAutoFit/>
          </a:bodyPr>
          <a:lstStyle/>
          <a:p>
            <a:pPr algn="l">
              <a:lnSpc>
                <a:spcPct val="114000"/>
              </a:lnSpc>
            </a:pPr>
            <a:r>
              <a:rPr sz="1100" b="1">
                <a:solidFill>
                  <a:srgbClr val="E8A33D"/>
                </a:solidFill>
                <a:latin typeface="Calibri"/>
              </a:rPr>
              <a:t>The arithmetic, made concrete.  </a:t>
            </a:r>
            <a:r>
              <a:rPr sz="1100">
                <a:solidFill>
                  <a:srgbClr val="FFFFFF"/>
                </a:solidFill>
                <a:latin typeface="Calibri"/>
              </a:rPr>
              <a:t>Sarita Fashions writes 4 rows to bill a customer. “Average transaction value by store format by month for three years” must read 3 million bill lines to return 200 numbers. Six orders of magnitude apart — no single physical design is good at both.</a:t>
            </a:r>
          </a:p>
        </p:txBody>
      </p:sp>
      <p:sp>
        <p:nvSpPr>
          <p:cNvPr id="10" name="Rounded Rectangle 9"/>
          <p:cNvSpPr/>
          <p:nvPr/>
        </p:nvSpPr>
        <p:spPr>
          <a:xfrm>
            <a:off x="548640" y="5833872"/>
            <a:ext cx="5394960" cy="475488"/>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31520" y="5888736"/>
            <a:ext cx="5029200" cy="365760"/>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E3F47"/>
                </a:solidFill>
                <a:latin typeface="Calibri"/>
              </a:rPr>
              <a:t>Why indexes do not rescue the analytical query:  when most of the table qualifies, the optimiser correctly ignores the index and scans.</a:t>
            </a:r>
          </a:p>
        </p:txBody>
      </p:sp>
      <p:sp>
        <p:nvSpPr>
          <p:cNvPr id="12" name="Rounded Rectangle 11"/>
          <p:cNvSpPr/>
          <p:nvPr/>
        </p:nvSpPr>
        <p:spPr>
          <a:xfrm>
            <a:off x="6245352" y="5833872"/>
            <a:ext cx="5394960" cy="475488"/>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28232" y="5888736"/>
            <a:ext cx="5029200" cy="365760"/>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E3F47"/>
                </a:solidFill>
                <a:latin typeface="Calibri"/>
              </a:rPr>
              <a:t>Why the analyst is blamed unfairly:  the query is not badly written — the remedy is architectural, not a rewrite.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bg>
    <p:bgPr>
      <a:solidFill>
        <a:srgbClr val="FFFFFF"/>
      </a:solidFill>
      <a:effectLst/>
    </p:bgPr>
  </p:bg>
  <p:cSld>
    <p:spTree>
      <p:nvGrpSpPr>
        <p:cNvPr id="1" name=""/>
        <p:cNvGrpSpPr/>
        <p:nvPr/>
      </p:nvGrpSpPr>
      <p:grpSpPr/>
      <p:sp>
        <p:nvSpPr>
          <p:cNvPr id="2" name="Oval 1"/>
          <p:cNvSpPr/>
          <p:nvPr/>
        </p:nvSpPr>
        <p:spPr>
          <a:xfrm>
            <a:off x="548640" y="374904"/>
            <a:ext cx="109728" cy="109728"/>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283464"/>
            <a:ext cx="10893247" cy="256032"/>
          </a:xfrm>
          <a:prstGeom prst="rect">
            <a:avLst/>
          </a:prstGeom>
          <a:noFill/>
        </p:spPr>
        <p:txBody>
          <a:bodyPr wrap="square" lIns="0" rIns="0" tIns="0" bIns="0" anchor="t">
            <a:spAutoFit/>
          </a:bodyPr>
          <a:lstStyle/>
          <a:p>
            <a:pPr algn="l">
              <a:spcBef>
                <a:spcPts val="0"/>
              </a:spcBef>
              <a:spcAft>
                <a:spcPts val="0"/>
              </a:spcAft>
            </a:pPr>
            <a:r>
              <a:rPr sz="1000" b="1" i="0">
                <a:solidFill>
                  <a:srgbClr val="B87A1E"/>
                </a:solidFill>
                <a:latin typeface="Calibri"/>
              </a:rPr>
              <a:t>PART 2 · THE EVIDENCE</a:t>
            </a:r>
          </a:p>
        </p:txBody>
      </p:sp>
      <p:sp>
        <p:nvSpPr>
          <p:cNvPr id="4" name="TextBox 3"/>
          <p:cNvSpPr txBox="1"/>
          <p:nvPr/>
        </p:nvSpPr>
        <p:spPr>
          <a:xfrm>
            <a:off x="548640" y="548640"/>
            <a:ext cx="11094415" cy="640080"/>
          </a:xfrm>
          <a:prstGeom prst="rect">
            <a:avLst/>
          </a:prstGeom>
          <a:noFill/>
        </p:spPr>
        <p:txBody>
          <a:bodyPr wrap="square" lIns="0" rIns="0" tIns="0" bIns="0" anchor="t">
            <a:spAutoFit/>
          </a:bodyPr>
          <a:lstStyle/>
          <a:p>
            <a:pPr algn="l">
              <a:spcBef>
                <a:spcPts val="0"/>
              </a:spcBef>
              <a:spcAft>
                <a:spcPts val="0"/>
              </a:spcAft>
            </a:pPr>
            <a:r>
              <a:rPr sz="2600" b="1" i="0">
                <a:solidFill>
                  <a:srgbClr val="123B47"/>
                </a:solidFill>
                <a:latin typeface="Cambria"/>
              </a:rPr>
              <a:t>Why the two workloads cannot share one machine</a:t>
            </a:r>
          </a:p>
        </p:txBody>
      </p:sp>
      <p:sp>
        <p:nvSpPr>
          <p:cNvPr id="5" name="TextBox 4"/>
          <p:cNvSpPr txBox="1"/>
          <p:nvPr/>
        </p:nvSpPr>
        <p:spPr>
          <a:xfrm>
            <a:off x="548640" y="6382512"/>
            <a:ext cx="8686800" cy="256032"/>
          </a:xfrm>
          <a:prstGeom prst="rect">
            <a:avLst/>
          </a:prstGeom>
          <a:noFill/>
        </p:spPr>
        <p:txBody>
          <a:bodyPr wrap="square" lIns="0" rIns="0" tIns="0" bIns="0" anchor="t">
            <a:spAutoFit/>
          </a:bodyPr>
          <a:lstStyle/>
          <a:p>
            <a:pPr algn="l">
              <a:spcBef>
                <a:spcPts val="0"/>
              </a:spcBef>
              <a:spcAft>
                <a:spcPts val="0"/>
              </a:spcAft>
            </a:pPr>
            <a:r>
              <a:rPr sz="900" b="0" i="0">
                <a:solidFill>
                  <a:srgbClr val="5C7079"/>
                </a:solidFill>
                <a:latin typeface="Calibri"/>
              </a:rPr>
              <a:t>Business Intelligence  |  Session 6 — Data Warehousing &amp; OLTP/OLAP  |  IILM Jaipur, MBA</a:t>
            </a:r>
          </a:p>
        </p:txBody>
      </p:sp>
      <p:sp>
        <p:nvSpPr>
          <p:cNvPr id="6" name="TextBox 5"/>
          <p:cNvSpPr txBox="1"/>
          <p:nvPr/>
        </p:nvSpPr>
        <p:spPr>
          <a:xfrm>
            <a:off x="10545775" y="6382512"/>
            <a:ext cx="1097280" cy="256032"/>
          </a:xfrm>
          <a:prstGeom prst="rect">
            <a:avLst/>
          </a:prstGeom>
          <a:noFill/>
        </p:spPr>
        <p:txBody>
          <a:bodyPr wrap="square" lIns="0" rIns="0" tIns="0" bIns="0" anchor="t">
            <a:spAutoFit/>
          </a:bodyPr>
          <a:lstStyle/>
          <a:p>
            <a:pPr algn="r">
              <a:spcBef>
                <a:spcPts val="0"/>
              </a:spcBef>
              <a:spcAft>
                <a:spcPts val="0"/>
              </a:spcAft>
            </a:pPr>
            <a:r>
              <a:rPr sz="950" b="1" i="0">
                <a:solidFill>
                  <a:srgbClr val="1B7F79"/>
                </a:solidFill>
                <a:latin typeface="Calibri"/>
              </a:rPr>
              <a:t>6</a:t>
            </a:r>
          </a:p>
        </p:txBody>
      </p:sp>
      <p:sp>
        <p:nvSpPr>
          <p:cNvPr id="7" name="Rounded Rectangle 6"/>
          <p:cNvSpPr/>
          <p:nvPr/>
        </p:nvSpPr>
        <p:spPr>
          <a:xfrm>
            <a:off x="548640" y="1298448"/>
            <a:ext cx="5623560" cy="3703320"/>
          </a:xfrm>
          <a:prstGeom prst="roundRect">
            <a:avLst>
              <a:gd name="adj" fmla="val 6000"/>
            </a:avLst>
          </a:prstGeom>
          <a:solidFill>
            <a:srgbClr val="FFFFFF"/>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68096" y="1426464"/>
            <a:ext cx="5120640" cy="274320"/>
          </a:xfrm>
          <a:prstGeom prst="rect">
            <a:avLst/>
          </a:prstGeom>
          <a:noFill/>
        </p:spPr>
        <p:txBody>
          <a:bodyPr wrap="square" lIns="0" rIns="0" tIns="0" bIns="0" anchor="t">
            <a:spAutoFit/>
          </a:bodyPr>
          <a:lstStyle/>
          <a:p>
            <a:pPr algn="l">
              <a:spcBef>
                <a:spcPts val="0"/>
              </a:spcBef>
              <a:spcAft>
                <a:spcPts val="0"/>
              </a:spcAft>
            </a:pPr>
            <a:r>
              <a:rPr sz="1100" b="1" i="0">
                <a:solidFill>
                  <a:srgbClr val="123B47"/>
                </a:solidFill>
                <a:latin typeface="Calibri"/>
              </a:rPr>
              <a:t>Rows read to answer one request  (log scale)</a:t>
            </a:r>
          </a:p>
        </p:txBody>
      </p:sp>
      <p:graphicFrame>
        <p:nvGraphicFramePr>
          <p:cNvPr id="9" name="Chart 8"/>
          <p:cNvGraphicFramePr>
            <a:graphicFrameLocks noGrp="1"/>
          </p:cNvGraphicFramePr>
          <p:nvPr/>
        </p:nvGraphicFramePr>
        <p:xfrm>
          <a:off x="658368" y="1719072"/>
          <a:ext cx="5394960" cy="3108960"/>
        </p:xfrm>
        <a:graphic>
          <a:graphicData uri="http://schemas.openxmlformats.org/drawingml/2006/chart">
            <c:chart xmlns:c="http://schemas.openxmlformats.org/drawingml/2006/chart" r:id="rId2"/>
          </a:graphicData>
        </a:graphic>
      </p:graphicFrame>
      <p:sp>
        <p:nvSpPr>
          <p:cNvPr id="10" name="Rounded Rectangle 9"/>
          <p:cNvSpPr/>
          <p:nvPr/>
        </p:nvSpPr>
        <p:spPr>
          <a:xfrm>
            <a:off x="6446520" y="1298448"/>
            <a:ext cx="5193792" cy="3703320"/>
          </a:xfrm>
          <a:prstGeom prst="roundRect">
            <a:avLst>
              <a:gd name="adj" fmla="val 6000"/>
            </a:avLst>
          </a:prstGeom>
          <a:solidFill>
            <a:srgbClr val="FFFFFF"/>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665976" y="1426464"/>
            <a:ext cx="4754880" cy="274320"/>
          </a:xfrm>
          <a:prstGeom prst="rect">
            <a:avLst/>
          </a:prstGeom>
          <a:noFill/>
        </p:spPr>
        <p:txBody>
          <a:bodyPr wrap="square" lIns="0" rIns="0" tIns="0" bIns="0" anchor="t">
            <a:spAutoFit/>
          </a:bodyPr>
          <a:lstStyle/>
          <a:p>
            <a:pPr algn="l">
              <a:spcBef>
                <a:spcPts val="0"/>
              </a:spcBef>
              <a:spcAft>
                <a:spcPts val="0"/>
              </a:spcAft>
            </a:pPr>
            <a:r>
              <a:rPr sz="1100" b="1" i="0">
                <a:solidFill>
                  <a:srgbClr val="123B47"/>
                </a:solidFill>
                <a:latin typeface="Calibri"/>
              </a:rPr>
              <a:t>Where warehouse project effort actually goes</a:t>
            </a:r>
          </a:p>
        </p:txBody>
      </p:sp>
      <p:graphicFrame>
        <p:nvGraphicFramePr>
          <p:cNvPr id="12" name="Chart 11"/>
          <p:cNvGraphicFramePr>
            <a:graphicFrameLocks noGrp="1"/>
          </p:cNvGraphicFramePr>
          <p:nvPr/>
        </p:nvGraphicFramePr>
        <p:xfrm>
          <a:off x="6492240" y="1664208"/>
          <a:ext cx="5074920" cy="3200400"/>
        </p:xfrm>
        <a:graphic>
          <a:graphicData uri="http://schemas.openxmlformats.org/drawingml/2006/chart">
            <c:chart xmlns:c="http://schemas.openxmlformats.org/drawingml/2006/chart" r:id="rId3"/>
          </a:graphicData>
        </a:graphic>
      </p:graphicFrame>
      <p:sp>
        <p:nvSpPr>
          <p:cNvPr id="13" name="Rounded Rectangle 12"/>
          <p:cNvSpPr/>
          <p:nvPr/>
        </p:nvSpPr>
        <p:spPr>
          <a:xfrm>
            <a:off x="548640" y="5138928"/>
            <a:ext cx="11094415" cy="658368"/>
          </a:xfrm>
          <a:prstGeom prst="roundRect">
            <a:avLst>
              <a:gd name="adj" fmla="val 6000"/>
            </a:avLst>
          </a:prstGeom>
          <a:solidFill>
            <a:srgbClr val="123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68096" y="5239512"/>
            <a:ext cx="10655503" cy="457200"/>
          </a:xfrm>
          <a:prstGeom prst="rect">
            <a:avLst/>
          </a:prstGeom>
          <a:noFill/>
        </p:spPr>
        <p:txBody>
          <a:bodyPr wrap="square" lIns="0" rIns="0" tIns="0" bIns="0" anchor="ctr">
            <a:spAutoFit/>
          </a:bodyPr>
          <a:lstStyle/>
          <a:p>
            <a:pPr algn="l">
              <a:lnSpc>
                <a:spcPct val="114000"/>
              </a:lnSpc>
            </a:pPr>
            <a:r>
              <a:rPr sz="1100" b="1">
                <a:solidFill>
                  <a:srgbClr val="E8A33D"/>
                </a:solidFill>
                <a:latin typeface="Calibri"/>
              </a:rPr>
              <a:t>Read the two together.  </a:t>
            </a:r>
            <a:r>
              <a:rPr sz="1100">
                <a:solidFill>
                  <a:srgbClr val="FFFFFF"/>
                </a:solidFill>
                <a:latin typeface="Calibri"/>
              </a:rPr>
              <a:t>The left chart says the workloads are incompatible in kind, not merely in size. The right chart says the cost of fixing it is people agreeing definitions, not hardware — which is why warehouse projects stall in workshops rather than in code.</a:t>
            </a:r>
          </a:p>
        </p:txBody>
      </p:sp>
      <p:sp>
        <p:nvSpPr>
          <p:cNvPr id="15" name="Rounded Rectangle 14"/>
          <p:cNvSpPr/>
          <p:nvPr/>
        </p:nvSpPr>
        <p:spPr>
          <a:xfrm>
            <a:off x="548640" y="5907024"/>
            <a:ext cx="11094415" cy="402336"/>
          </a:xfrm>
          <a:prstGeom prst="roundRect">
            <a:avLst>
              <a:gd name="adj" fmla="val 6000"/>
            </a:avLst>
          </a:prstGeom>
          <a:solidFill>
            <a:srgbClr val="FFFFFF"/>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68096" y="5943600"/>
            <a:ext cx="10655503" cy="329184"/>
          </a:xfrm>
          <a:prstGeom prst="rect">
            <a:avLst/>
          </a:prstGeom>
          <a:noFill/>
        </p:spPr>
        <p:txBody>
          <a:bodyPr wrap="square" lIns="0" rIns="0" tIns="0" bIns="0" anchor="ctr">
            <a:spAutoFit/>
          </a:bodyPr>
          <a:lstStyle/>
          <a:p>
            <a:pPr algn="l">
              <a:spcBef>
                <a:spcPts val="0"/>
              </a:spcBef>
              <a:spcAft>
                <a:spcPts val="0"/>
              </a:spcAft>
            </a:pPr>
            <a:r>
              <a:rPr sz="900" b="0" i="0">
                <a:solidFill>
                  <a:srgbClr val="5C7079"/>
                </a:solidFill>
                <a:latin typeface="Calibri"/>
              </a:rPr>
              <a:t>Budget consequence:  storage is cheap and compute is elastic; integration effort is neither. Estimate the warehouse by the number of definitions to be agreed, not by terabytes.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bg>
    <p:bgPr>
      <a:solidFill>
        <a:srgbClr val="FFFFFF"/>
      </a:solidFill>
      <a:effectLst/>
    </p:bgPr>
  </p:bg>
  <p:cSld>
    <p:spTree>
      <p:nvGrpSpPr>
        <p:cNvPr id="1" name=""/>
        <p:cNvGrpSpPr/>
        <p:nvPr/>
      </p:nvGrpSpPr>
      <p:grpSpPr/>
      <p:sp>
        <p:nvSpPr>
          <p:cNvPr id="2" name="Oval 1"/>
          <p:cNvSpPr/>
          <p:nvPr/>
        </p:nvSpPr>
        <p:spPr>
          <a:xfrm>
            <a:off x="548640" y="374904"/>
            <a:ext cx="109728" cy="109728"/>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283464"/>
            <a:ext cx="10893247" cy="256032"/>
          </a:xfrm>
          <a:prstGeom prst="rect">
            <a:avLst/>
          </a:prstGeom>
          <a:noFill/>
        </p:spPr>
        <p:txBody>
          <a:bodyPr wrap="square" lIns="0" rIns="0" tIns="0" bIns="0" anchor="t">
            <a:spAutoFit/>
          </a:bodyPr>
          <a:lstStyle/>
          <a:p>
            <a:pPr algn="l">
              <a:spcBef>
                <a:spcPts val="0"/>
              </a:spcBef>
              <a:spcAft>
                <a:spcPts val="0"/>
              </a:spcAft>
            </a:pPr>
            <a:r>
              <a:rPr sz="1000" b="1" i="0">
                <a:solidFill>
                  <a:srgbClr val="B87A1E"/>
                </a:solidFill>
                <a:latin typeface="Calibri"/>
              </a:rPr>
              <a:t>PART 2 · THE CUBE</a:t>
            </a:r>
          </a:p>
        </p:txBody>
      </p:sp>
      <p:sp>
        <p:nvSpPr>
          <p:cNvPr id="4" name="TextBox 3"/>
          <p:cNvSpPr txBox="1"/>
          <p:nvPr/>
        </p:nvSpPr>
        <p:spPr>
          <a:xfrm>
            <a:off x="548640" y="548640"/>
            <a:ext cx="11094415" cy="640080"/>
          </a:xfrm>
          <a:prstGeom prst="rect">
            <a:avLst/>
          </a:prstGeom>
          <a:noFill/>
        </p:spPr>
        <p:txBody>
          <a:bodyPr wrap="square" lIns="0" rIns="0" tIns="0" bIns="0" anchor="t">
            <a:spAutoFit/>
          </a:bodyPr>
          <a:lstStyle/>
          <a:p>
            <a:pPr algn="l">
              <a:spcBef>
                <a:spcPts val="0"/>
              </a:spcBef>
              <a:spcAft>
                <a:spcPts val="0"/>
              </a:spcAft>
            </a:pPr>
            <a:r>
              <a:rPr sz="2600" b="1" i="0">
                <a:solidFill>
                  <a:srgbClr val="123B47"/>
                </a:solidFill>
                <a:latin typeface="Cambria"/>
              </a:rPr>
              <a:t>The five operations an analyst performs</a:t>
            </a:r>
          </a:p>
        </p:txBody>
      </p:sp>
      <p:sp>
        <p:nvSpPr>
          <p:cNvPr id="5" name="TextBox 4"/>
          <p:cNvSpPr txBox="1"/>
          <p:nvPr/>
        </p:nvSpPr>
        <p:spPr>
          <a:xfrm>
            <a:off x="548640" y="6382512"/>
            <a:ext cx="8686800" cy="256032"/>
          </a:xfrm>
          <a:prstGeom prst="rect">
            <a:avLst/>
          </a:prstGeom>
          <a:noFill/>
        </p:spPr>
        <p:txBody>
          <a:bodyPr wrap="square" lIns="0" rIns="0" tIns="0" bIns="0" anchor="t">
            <a:spAutoFit/>
          </a:bodyPr>
          <a:lstStyle/>
          <a:p>
            <a:pPr algn="l">
              <a:spcBef>
                <a:spcPts val="0"/>
              </a:spcBef>
              <a:spcAft>
                <a:spcPts val="0"/>
              </a:spcAft>
            </a:pPr>
            <a:r>
              <a:rPr sz="900" b="0" i="0">
                <a:solidFill>
                  <a:srgbClr val="5C7079"/>
                </a:solidFill>
                <a:latin typeface="Calibri"/>
              </a:rPr>
              <a:t>Business Intelligence  |  Session 6 — Data Warehousing &amp; OLTP/OLAP  |  IILM Jaipur, MBA</a:t>
            </a:r>
          </a:p>
        </p:txBody>
      </p:sp>
      <p:sp>
        <p:nvSpPr>
          <p:cNvPr id="6" name="TextBox 5"/>
          <p:cNvSpPr txBox="1"/>
          <p:nvPr/>
        </p:nvSpPr>
        <p:spPr>
          <a:xfrm>
            <a:off x="10545775" y="6382512"/>
            <a:ext cx="1097280" cy="256032"/>
          </a:xfrm>
          <a:prstGeom prst="rect">
            <a:avLst/>
          </a:prstGeom>
          <a:noFill/>
        </p:spPr>
        <p:txBody>
          <a:bodyPr wrap="square" lIns="0" rIns="0" tIns="0" bIns="0" anchor="t">
            <a:spAutoFit/>
          </a:bodyPr>
          <a:lstStyle/>
          <a:p>
            <a:pPr algn="r">
              <a:spcBef>
                <a:spcPts val="0"/>
              </a:spcBef>
              <a:spcAft>
                <a:spcPts val="0"/>
              </a:spcAft>
            </a:pPr>
            <a:r>
              <a:rPr sz="950" b="1" i="0">
                <a:solidFill>
                  <a:srgbClr val="1B7F79"/>
                </a:solidFill>
                <a:latin typeface="Calibri"/>
              </a:rPr>
              <a:t>7</a:t>
            </a:r>
          </a:p>
        </p:txBody>
      </p:sp>
      <p:sp>
        <p:nvSpPr>
          <p:cNvPr id="7" name="Rounded Rectangle 6"/>
          <p:cNvSpPr/>
          <p:nvPr/>
        </p:nvSpPr>
        <p:spPr>
          <a:xfrm>
            <a:off x="548640" y="1298448"/>
            <a:ext cx="4160520" cy="3977639"/>
          </a:xfrm>
          <a:prstGeom prst="roundRect">
            <a:avLst>
              <a:gd name="adj" fmla="val 6000"/>
            </a:avLst>
          </a:prstGeom>
          <a:solidFill>
            <a:srgbClr val="FFFFFF"/>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68096" y="1426464"/>
            <a:ext cx="3749039" cy="274320"/>
          </a:xfrm>
          <a:prstGeom prst="rect">
            <a:avLst/>
          </a:prstGeom>
          <a:noFill/>
        </p:spPr>
        <p:txBody>
          <a:bodyPr wrap="square" lIns="0" rIns="0" tIns="0" bIns="0" anchor="t">
            <a:spAutoFit/>
          </a:bodyPr>
          <a:lstStyle/>
          <a:p>
            <a:pPr algn="l">
              <a:spcBef>
                <a:spcPts val="0"/>
              </a:spcBef>
              <a:spcAft>
                <a:spcPts val="0"/>
              </a:spcAft>
            </a:pPr>
            <a:r>
              <a:rPr sz="1050" b="1" i="0">
                <a:solidFill>
                  <a:srgbClr val="123B47"/>
                </a:solidFill>
                <a:latin typeface="Calibri"/>
              </a:rPr>
              <a:t>Dimensions on the edges, measures in the cells</a:t>
            </a:r>
          </a:p>
        </p:txBody>
      </p:sp>
      <p:sp>
        <p:nvSpPr>
          <p:cNvPr id="9" name="Rectangle 8"/>
          <p:cNvSpPr/>
          <p:nvPr/>
        </p:nvSpPr>
        <p:spPr>
          <a:xfrm>
            <a:off x="1911095" y="1572768"/>
            <a:ext cx="1481328" cy="1481328"/>
          </a:xfrm>
          <a:prstGeom prst="rect">
            <a:avLst/>
          </a:prstGeom>
          <a:solidFill>
            <a:srgbClr val="C9DDDB"/>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1709928" y="1773936"/>
            <a:ext cx="1481328" cy="1481328"/>
          </a:xfrm>
          <a:prstGeom prst="rect">
            <a:avLst/>
          </a:prstGeom>
          <a:solidFill>
            <a:srgbClr val="9CC4C1"/>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1508760" y="1975104"/>
            <a:ext cx="475488" cy="475488"/>
          </a:xfrm>
          <a:prstGeom prst="rect">
            <a:avLst/>
          </a:prstGeom>
          <a:solidFill>
            <a:srgbClr val="1B7F7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900" b="1" i="0">
                <a:solidFill>
                  <a:srgbClr val="FFFFFF"/>
                </a:solidFill>
                <a:latin typeface="Calibri"/>
              </a:rPr>
              <a:t>12.4</a:t>
            </a:r>
          </a:p>
        </p:txBody>
      </p:sp>
      <p:sp>
        <p:nvSpPr>
          <p:cNvPr id="12" name="Rectangle 11"/>
          <p:cNvSpPr/>
          <p:nvPr/>
        </p:nvSpPr>
        <p:spPr>
          <a:xfrm>
            <a:off x="2011680" y="1975104"/>
            <a:ext cx="475488" cy="475488"/>
          </a:xfrm>
          <a:prstGeom prst="rect">
            <a:avLst/>
          </a:prstGeom>
          <a:solidFill>
            <a:srgbClr val="1B7F7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900" b="1" i="0">
                <a:solidFill>
                  <a:srgbClr val="FFFFFF"/>
                </a:solidFill>
                <a:latin typeface="Calibri"/>
              </a:rPr>
              <a:t>18.1</a:t>
            </a:r>
          </a:p>
        </p:txBody>
      </p:sp>
      <p:sp>
        <p:nvSpPr>
          <p:cNvPr id="13" name="Rectangle 12"/>
          <p:cNvSpPr/>
          <p:nvPr/>
        </p:nvSpPr>
        <p:spPr>
          <a:xfrm>
            <a:off x="2514600" y="1975104"/>
            <a:ext cx="475488" cy="475488"/>
          </a:xfrm>
          <a:prstGeom prst="rect">
            <a:avLst/>
          </a:prstGeom>
          <a:solidFill>
            <a:srgbClr val="1B7F7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900" b="1" i="0">
                <a:solidFill>
                  <a:srgbClr val="FFFFFF"/>
                </a:solidFill>
                <a:latin typeface="Calibri"/>
              </a:rPr>
              <a:t>9.6</a:t>
            </a:r>
          </a:p>
        </p:txBody>
      </p:sp>
      <p:sp>
        <p:nvSpPr>
          <p:cNvPr id="14" name="Rectangle 13"/>
          <p:cNvSpPr/>
          <p:nvPr/>
        </p:nvSpPr>
        <p:spPr>
          <a:xfrm>
            <a:off x="1508760" y="2478024"/>
            <a:ext cx="475488" cy="475488"/>
          </a:xfrm>
          <a:prstGeom prst="rect">
            <a:avLst/>
          </a:prstGeom>
          <a:solidFill>
            <a:srgbClr val="1B7F7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900" b="1" i="0">
                <a:solidFill>
                  <a:srgbClr val="FFFFFF"/>
                </a:solidFill>
                <a:latin typeface="Calibri"/>
              </a:rPr>
              <a:t>7.2</a:t>
            </a:r>
          </a:p>
        </p:txBody>
      </p:sp>
      <p:sp>
        <p:nvSpPr>
          <p:cNvPr id="15" name="Rectangle 14"/>
          <p:cNvSpPr/>
          <p:nvPr/>
        </p:nvSpPr>
        <p:spPr>
          <a:xfrm>
            <a:off x="2011680" y="2478024"/>
            <a:ext cx="475488" cy="475488"/>
          </a:xfrm>
          <a:prstGeom prst="rect">
            <a:avLst/>
          </a:prstGeom>
          <a:solidFill>
            <a:srgbClr val="E8A33D"/>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900" b="1" i="0">
                <a:solidFill>
                  <a:srgbClr val="3A2703"/>
                </a:solidFill>
                <a:latin typeface="Calibri"/>
              </a:rPr>
              <a:t>21.8</a:t>
            </a:r>
          </a:p>
        </p:txBody>
      </p:sp>
      <p:sp>
        <p:nvSpPr>
          <p:cNvPr id="16" name="Rectangle 15"/>
          <p:cNvSpPr/>
          <p:nvPr/>
        </p:nvSpPr>
        <p:spPr>
          <a:xfrm>
            <a:off x="2514600" y="2478024"/>
            <a:ext cx="475488" cy="475488"/>
          </a:xfrm>
          <a:prstGeom prst="rect">
            <a:avLst/>
          </a:prstGeom>
          <a:solidFill>
            <a:srgbClr val="1B7F7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900" b="1" i="0">
                <a:solidFill>
                  <a:srgbClr val="FFFFFF"/>
                </a:solidFill>
                <a:latin typeface="Calibri"/>
              </a:rPr>
              <a:t>14.3</a:t>
            </a:r>
          </a:p>
        </p:txBody>
      </p:sp>
      <p:sp>
        <p:nvSpPr>
          <p:cNvPr id="17" name="Rectangle 16"/>
          <p:cNvSpPr/>
          <p:nvPr/>
        </p:nvSpPr>
        <p:spPr>
          <a:xfrm>
            <a:off x="1508760" y="2980944"/>
            <a:ext cx="475488" cy="475488"/>
          </a:xfrm>
          <a:prstGeom prst="rect">
            <a:avLst/>
          </a:prstGeom>
          <a:solidFill>
            <a:srgbClr val="1B7F7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900" b="1" i="0">
                <a:solidFill>
                  <a:srgbClr val="FFFFFF"/>
                </a:solidFill>
                <a:latin typeface="Calibri"/>
              </a:rPr>
              <a:t>16.0</a:t>
            </a:r>
          </a:p>
        </p:txBody>
      </p:sp>
      <p:sp>
        <p:nvSpPr>
          <p:cNvPr id="18" name="Rectangle 17"/>
          <p:cNvSpPr/>
          <p:nvPr/>
        </p:nvSpPr>
        <p:spPr>
          <a:xfrm>
            <a:off x="2011680" y="2980944"/>
            <a:ext cx="475488" cy="475488"/>
          </a:xfrm>
          <a:prstGeom prst="rect">
            <a:avLst/>
          </a:prstGeom>
          <a:solidFill>
            <a:srgbClr val="1B7F7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900" b="1" i="0">
                <a:solidFill>
                  <a:srgbClr val="FFFFFF"/>
                </a:solidFill>
                <a:latin typeface="Calibri"/>
              </a:rPr>
              <a:t>11.5</a:t>
            </a:r>
          </a:p>
        </p:txBody>
      </p:sp>
      <p:sp>
        <p:nvSpPr>
          <p:cNvPr id="19" name="Rectangle 18"/>
          <p:cNvSpPr/>
          <p:nvPr/>
        </p:nvSpPr>
        <p:spPr>
          <a:xfrm>
            <a:off x="2514600" y="2980944"/>
            <a:ext cx="475488" cy="475488"/>
          </a:xfrm>
          <a:prstGeom prst="rect">
            <a:avLst/>
          </a:prstGeom>
          <a:solidFill>
            <a:srgbClr val="1B7F79"/>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900" b="1" i="0">
                <a:solidFill>
                  <a:srgbClr val="FFFFFF"/>
                </a:solidFill>
                <a:latin typeface="Calibri"/>
              </a:rPr>
              <a:t>19.7</a:t>
            </a:r>
          </a:p>
        </p:txBody>
      </p:sp>
      <p:sp>
        <p:nvSpPr>
          <p:cNvPr id="20" name="TextBox 19"/>
          <p:cNvSpPr txBox="1"/>
          <p:nvPr/>
        </p:nvSpPr>
        <p:spPr>
          <a:xfrm>
            <a:off x="612647" y="2551176"/>
            <a:ext cx="841248" cy="329184"/>
          </a:xfrm>
          <a:prstGeom prst="rect">
            <a:avLst/>
          </a:prstGeom>
          <a:noFill/>
        </p:spPr>
        <p:txBody>
          <a:bodyPr wrap="square" lIns="0" rIns="0" tIns="0" bIns="0" anchor="t">
            <a:spAutoFit/>
          </a:bodyPr>
          <a:lstStyle/>
          <a:p>
            <a:pPr algn="r">
              <a:spcBef>
                <a:spcPts val="0"/>
              </a:spcBef>
              <a:spcAft>
                <a:spcPts val="0"/>
              </a:spcAft>
            </a:pPr>
            <a:r>
              <a:rPr sz="850" b="1" i="0">
                <a:solidFill>
                  <a:srgbClr val="123B47"/>
                </a:solidFill>
                <a:latin typeface="Calibri"/>
              </a:rPr>
              <a:t>PRODUCT ↓</a:t>
            </a:r>
          </a:p>
        </p:txBody>
      </p:sp>
      <p:sp>
        <p:nvSpPr>
          <p:cNvPr id="21" name="TextBox 20"/>
          <p:cNvSpPr txBox="1"/>
          <p:nvPr/>
        </p:nvSpPr>
        <p:spPr>
          <a:xfrm>
            <a:off x="1508760" y="3547872"/>
            <a:ext cx="1481328" cy="237744"/>
          </a:xfrm>
          <a:prstGeom prst="rect">
            <a:avLst/>
          </a:prstGeom>
          <a:noFill/>
        </p:spPr>
        <p:txBody>
          <a:bodyPr wrap="square" lIns="0" rIns="0" tIns="0" bIns="0" anchor="t">
            <a:spAutoFit/>
          </a:bodyPr>
          <a:lstStyle/>
          <a:p>
            <a:pPr algn="ctr">
              <a:spcBef>
                <a:spcPts val="0"/>
              </a:spcBef>
              <a:spcAft>
                <a:spcPts val="0"/>
              </a:spcAft>
            </a:pPr>
            <a:r>
              <a:rPr sz="850" b="1" i="0">
                <a:solidFill>
                  <a:srgbClr val="123B47"/>
                </a:solidFill>
                <a:latin typeface="Calibri"/>
              </a:rPr>
              <a:t>TIME →</a:t>
            </a:r>
          </a:p>
        </p:txBody>
      </p:sp>
      <p:sp>
        <p:nvSpPr>
          <p:cNvPr id="22" name="TextBox 21"/>
          <p:cNvSpPr txBox="1"/>
          <p:nvPr/>
        </p:nvSpPr>
        <p:spPr>
          <a:xfrm>
            <a:off x="3081528" y="1591056"/>
            <a:ext cx="1325880" cy="237744"/>
          </a:xfrm>
          <a:prstGeom prst="rect">
            <a:avLst/>
          </a:prstGeom>
          <a:noFill/>
        </p:spPr>
        <p:txBody>
          <a:bodyPr wrap="square" lIns="0" rIns="0" tIns="0" bIns="0" anchor="t">
            <a:spAutoFit/>
          </a:bodyPr>
          <a:lstStyle/>
          <a:p>
            <a:pPr algn="l">
              <a:spcBef>
                <a:spcPts val="0"/>
              </a:spcBef>
              <a:spcAft>
                <a:spcPts val="0"/>
              </a:spcAft>
            </a:pPr>
            <a:r>
              <a:rPr sz="800" b="1" i="0">
                <a:solidFill>
                  <a:srgbClr val="123B47"/>
                </a:solidFill>
                <a:latin typeface="Calibri"/>
              </a:rPr>
              <a:t>GEOGRAPHY ↗</a:t>
            </a:r>
          </a:p>
        </p:txBody>
      </p:sp>
      <p:sp>
        <p:nvSpPr>
          <p:cNvPr id="23" name="TextBox 22"/>
          <p:cNvSpPr txBox="1"/>
          <p:nvPr/>
        </p:nvSpPr>
        <p:spPr>
          <a:xfrm>
            <a:off x="768096" y="3913632"/>
            <a:ext cx="3749039" cy="274320"/>
          </a:xfrm>
          <a:prstGeom prst="rect">
            <a:avLst/>
          </a:prstGeom>
          <a:noFill/>
        </p:spPr>
        <p:txBody>
          <a:bodyPr wrap="square" lIns="0" rIns="0" tIns="0" bIns="0" anchor="t">
            <a:spAutoFit/>
          </a:bodyPr>
          <a:lstStyle/>
          <a:p>
            <a:pPr algn="l">
              <a:spcBef>
                <a:spcPts val="0"/>
              </a:spcBef>
              <a:spcAft>
                <a:spcPts val="0"/>
              </a:spcAft>
            </a:pPr>
            <a:r>
              <a:rPr sz="900" b="1" i="0">
                <a:solidFill>
                  <a:srgbClr val="B87A1E"/>
                </a:solidFill>
                <a:latin typeface="Calibri"/>
              </a:rPr>
              <a:t>Highlighted cell: ₹ 21.8 lakh  —  ethnic wear × Q2 × Jaipur</a:t>
            </a:r>
          </a:p>
        </p:txBody>
      </p:sp>
      <p:sp>
        <p:nvSpPr>
          <p:cNvPr id="24" name="TextBox 23"/>
          <p:cNvSpPr txBox="1"/>
          <p:nvPr/>
        </p:nvSpPr>
        <p:spPr>
          <a:xfrm>
            <a:off x="768096" y="4224528"/>
            <a:ext cx="3749039" cy="914400"/>
          </a:xfrm>
          <a:prstGeom prst="rect">
            <a:avLst/>
          </a:prstGeom>
          <a:noFill/>
        </p:spPr>
        <p:txBody>
          <a:bodyPr wrap="square" lIns="0" rIns="0" tIns="0" bIns="0" anchor="t">
            <a:spAutoFit/>
          </a:bodyPr>
          <a:lstStyle/>
          <a:p>
            <a:pPr algn="l">
              <a:lnSpc>
                <a:spcPct val="116000"/>
              </a:lnSpc>
              <a:spcBef>
                <a:spcPts val="0"/>
              </a:spcBef>
              <a:spcAft>
                <a:spcPts val="0"/>
              </a:spcAft>
            </a:pPr>
            <a:r>
              <a:rPr sz="900" b="0" i="0">
                <a:solidFill>
                  <a:srgbClr val="2E3F47"/>
                </a:solidFill>
                <a:latin typeface="Calibri"/>
              </a:rPr>
              <a:t>Each cell holds a measure — sales value, units, margin — at the intersection of one member from every dimension. All analysis is navigation of this structure: the five operations opposite are its complete vocabulary.</a:t>
            </a:r>
          </a:p>
        </p:txBody>
      </p:sp>
      <p:sp>
        <p:nvSpPr>
          <p:cNvPr id="25" name="Rounded Rectangle 24"/>
          <p:cNvSpPr/>
          <p:nvPr/>
        </p:nvSpPr>
        <p:spPr>
          <a:xfrm>
            <a:off x="4956048" y="1298448"/>
            <a:ext cx="6684264" cy="731520"/>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5120640" y="1472184"/>
            <a:ext cx="384048" cy="384048"/>
          </a:xfrm>
          <a:prstGeom prst="ellipse">
            <a:avLst/>
          </a:prstGeom>
          <a:solidFill>
            <a:srgbClr val="1B7F7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250" b="1" i="0">
                <a:solidFill>
                  <a:srgbClr val="FFFFFF"/>
                </a:solidFill>
                <a:latin typeface="Calibri"/>
              </a:rPr>
              <a:t>↑</a:t>
            </a:r>
          </a:p>
        </p:txBody>
      </p:sp>
      <p:sp>
        <p:nvSpPr>
          <p:cNvPr id="27" name="TextBox 26"/>
          <p:cNvSpPr txBox="1"/>
          <p:nvPr/>
        </p:nvSpPr>
        <p:spPr>
          <a:xfrm>
            <a:off x="5614416" y="1417319"/>
            <a:ext cx="1371600" cy="274320"/>
          </a:xfrm>
          <a:prstGeom prst="rect">
            <a:avLst/>
          </a:prstGeom>
          <a:noFill/>
        </p:spPr>
        <p:txBody>
          <a:bodyPr wrap="square" lIns="0" rIns="0" tIns="0" bIns="0" anchor="t">
            <a:spAutoFit/>
          </a:bodyPr>
          <a:lstStyle/>
          <a:p>
            <a:pPr algn="l">
              <a:spcBef>
                <a:spcPts val="0"/>
              </a:spcBef>
              <a:spcAft>
                <a:spcPts val="0"/>
              </a:spcAft>
            </a:pPr>
            <a:r>
              <a:rPr sz="1200" b="1" i="0">
                <a:solidFill>
                  <a:srgbClr val="123B47"/>
                </a:solidFill>
                <a:latin typeface="Calibri"/>
              </a:rPr>
              <a:t>Roll-up</a:t>
            </a:r>
          </a:p>
        </p:txBody>
      </p:sp>
      <p:sp>
        <p:nvSpPr>
          <p:cNvPr id="28" name="TextBox 27"/>
          <p:cNvSpPr txBox="1"/>
          <p:nvPr/>
        </p:nvSpPr>
        <p:spPr>
          <a:xfrm>
            <a:off x="5614416" y="1664207"/>
            <a:ext cx="5843016" cy="310896"/>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2E3F47"/>
                </a:solidFill>
                <a:latin typeface="Calibri"/>
              </a:rPr>
              <a:t>Aggregate up a hierarchy: city → state → zone. What a manager does when detail is too fine.</a:t>
            </a:r>
          </a:p>
        </p:txBody>
      </p:sp>
      <p:sp>
        <p:nvSpPr>
          <p:cNvPr id="29" name="Rounded Rectangle 28"/>
          <p:cNvSpPr/>
          <p:nvPr/>
        </p:nvSpPr>
        <p:spPr>
          <a:xfrm>
            <a:off x="4956048" y="2112264"/>
            <a:ext cx="6684264" cy="731520"/>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5120640" y="2286000"/>
            <a:ext cx="384048" cy="384048"/>
          </a:xfrm>
          <a:prstGeom prst="ellipse">
            <a:avLst/>
          </a:prstGeom>
          <a:solidFill>
            <a:srgbClr val="123B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250" b="1" i="0">
                <a:solidFill>
                  <a:srgbClr val="FFFFFF"/>
                </a:solidFill>
                <a:latin typeface="Calibri"/>
              </a:rPr>
              <a:t>↓</a:t>
            </a:r>
          </a:p>
        </p:txBody>
      </p:sp>
      <p:sp>
        <p:nvSpPr>
          <p:cNvPr id="31" name="TextBox 30"/>
          <p:cNvSpPr txBox="1"/>
          <p:nvPr/>
        </p:nvSpPr>
        <p:spPr>
          <a:xfrm>
            <a:off x="5614416" y="2231136"/>
            <a:ext cx="1371600" cy="274320"/>
          </a:xfrm>
          <a:prstGeom prst="rect">
            <a:avLst/>
          </a:prstGeom>
          <a:noFill/>
        </p:spPr>
        <p:txBody>
          <a:bodyPr wrap="square" lIns="0" rIns="0" tIns="0" bIns="0" anchor="t">
            <a:spAutoFit/>
          </a:bodyPr>
          <a:lstStyle/>
          <a:p>
            <a:pPr algn="l">
              <a:spcBef>
                <a:spcPts val="0"/>
              </a:spcBef>
              <a:spcAft>
                <a:spcPts val="0"/>
              </a:spcAft>
            </a:pPr>
            <a:r>
              <a:rPr sz="1200" b="1" i="0">
                <a:solidFill>
                  <a:srgbClr val="123B47"/>
                </a:solidFill>
                <a:latin typeface="Calibri"/>
              </a:rPr>
              <a:t>Drill-down</a:t>
            </a:r>
          </a:p>
        </p:txBody>
      </p:sp>
      <p:sp>
        <p:nvSpPr>
          <p:cNvPr id="32" name="TextBox 31"/>
          <p:cNvSpPr txBox="1"/>
          <p:nvPr/>
        </p:nvSpPr>
        <p:spPr>
          <a:xfrm>
            <a:off x="5614416" y="2478024"/>
            <a:ext cx="5843016" cy="310896"/>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2E3F47"/>
                </a:solidFill>
                <a:latin typeface="Calibri"/>
              </a:rPr>
              <a:t>The inverse: zone → state → city → store. The path is set by the hierarchy in the model.</a:t>
            </a:r>
          </a:p>
        </p:txBody>
      </p:sp>
      <p:sp>
        <p:nvSpPr>
          <p:cNvPr id="33" name="Rounded Rectangle 32"/>
          <p:cNvSpPr/>
          <p:nvPr/>
        </p:nvSpPr>
        <p:spPr>
          <a:xfrm>
            <a:off x="4956048" y="2926080"/>
            <a:ext cx="6684264" cy="731520"/>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Oval 33"/>
          <p:cNvSpPr/>
          <p:nvPr/>
        </p:nvSpPr>
        <p:spPr>
          <a:xfrm>
            <a:off x="5120640" y="3099816"/>
            <a:ext cx="384048" cy="384048"/>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250" b="1" i="0">
                <a:solidFill>
                  <a:srgbClr val="3A2703"/>
                </a:solidFill>
                <a:latin typeface="Calibri"/>
              </a:rPr>
              <a:t>▭</a:t>
            </a:r>
          </a:p>
        </p:txBody>
      </p:sp>
      <p:sp>
        <p:nvSpPr>
          <p:cNvPr id="35" name="TextBox 34"/>
          <p:cNvSpPr txBox="1"/>
          <p:nvPr/>
        </p:nvSpPr>
        <p:spPr>
          <a:xfrm>
            <a:off x="5614416" y="3044952"/>
            <a:ext cx="1371600" cy="274320"/>
          </a:xfrm>
          <a:prstGeom prst="rect">
            <a:avLst/>
          </a:prstGeom>
          <a:noFill/>
        </p:spPr>
        <p:txBody>
          <a:bodyPr wrap="square" lIns="0" rIns="0" tIns="0" bIns="0" anchor="t">
            <a:spAutoFit/>
          </a:bodyPr>
          <a:lstStyle/>
          <a:p>
            <a:pPr algn="l">
              <a:spcBef>
                <a:spcPts val="0"/>
              </a:spcBef>
              <a:spcAft>
                <a:spcPts val="0"/>
              </a:spcAft>
            </a:pPr>
            <a:r>
              <a:rPr sz="1200" b="1" i="0">
                <a:solidFill>
                  <a:srgbClr val="123B47"/>
                </a:solidFill>
                <a:latin typeface="Calibri"/>
              </a:rPr>
              <a:t>Slice</a:t>
            </a:r>
          </a:p>
        </p:txBody>
      </p:sp>
      <p:sp>
        <p:nvSpPr>
          <p:cNvPr id="36" name="TextBox 35"/>
          <p:cNvSpPr txBox="1"/>
          <p:nvPr/>
        </p:nvSpPr>
        <p:spPr>
          <a:xfrm>
            <a:off x="5614416" y="3291840"/>
            <a:ext cx="5843016" cy="310896"/>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2E3F47"/>
                </a:solidFill>
                <a:latin typeface="Calibri"/>
              </a:rPr>
              <a:t>Fix one dimension to a single member — “only the festive quarter”. Reduces the cube by one dimension.</a:t>
            </a:r>
          </a:p>
        </p:txBody>
      </p:sp>
      <p:sp>
        <p:nvSpPr>
          <p:cNvPr id="37" name="Rounded Rectangle 36"/>
          <p:cNvSpPr/>
          <p:nvPr/>
        </p:nvSpPr>
        <p:spPr>
          <a:xfrm>
            <a:off x="4956048" y="3739896"/>
            <a:ext cx="6684264" cy="731520"/>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Oval 37"/>
          <p:cNvSpPr/>
          <p:nvPr/>
        </p:nvSpPr>
        <p:spPr>
          <a:xfrm>
            <a:off x="5120640" y="3913632"/>
            <a:ext cx="384048" cy="384048"/>
          </a:xfrm>
          <a:prstGeom prst="ellipse">
            <a:avLst/>
          </a:prstGeom>
          <a:solidFill>
            <a:srgbClr val="A63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250" b="1" i="0">
                <a:solidFill>
                  <a:srgbClr val="FFFFFF"/>
                </a:solidFill>
                <a:latin typeface="Calibri"/>
              </a:rPr>
              <a:t>▦</a:t>
            </a:r>
          </a:p>
        </p:txBody>
      </p:sp>
      <p:sp>
        <p:nvSpPr>
          <p:cNvPr id="39" name="TextBox 38"/>
          <p:cNvSpPr txBox="1"/>
          <p:nvPr/>
        </p:nvSpPr>
        <p:spPr>
          <a:xfrm>
            <a:off x="5614416" y="3858768"/>
            <a:ext cx="1371600" cy="274320"/>
          </a:xfrm>
          <a:prstGeom prst="rect">
            <a:avLst/>
          </a:prstGeom>
          <a:noFill/>
        </p:spPr>
        <p:txBody>
          <a:bodyPr wrap="square" lIns="0" rIns="0" tIns="0" bIns="0" anchor="t">
            <a:spAutoFit/>
          </a:bodyPr>
          <a:lstStyle/>
          <a:p>
            <a:pPr algn="l">
              <a:spcBef>
                <a:spcPts val="0"/>
              </a:spcBef>
              <a:spcAft>
                <a:spcPts val="0"/>
              </a:spcAft>
            </a:pPr>
            <a:r>
              <a:rPr sz="1200" b="1" i="0">
                <a:solidFill>
                  <a:srgbClr val="123B47"/>
                </a:solidFill>
                <a:latin typeface="Calibri"/>
              </a:rPr>
              <a:t>Dice</a:t>
            </a:r>
          </a:p>
        </p:txBody>
      </p:sp>
      <p:sp>
        <p:nvSpPr>
          <p:cNvPr id="40" name="TextBox 39"/>
          <p:cNvSpPr txBox="1"/>
          <p:nvPr/>
        </p:nvSpPr>
        <p:spPr>
          <a:xfrm>
            <a:off x="5614416" y="4105656"/>
            <a:ext cx="5843016" cy="310896"/>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2E3F47"/>
                </a:solidFill>
                <a:latin typeface="Calibri"/>
              </a:rPr>
              <a:t>Constrain several dimensions to ranges — “ethnic and western wear, Rajasthan and Gujarat, Q2–Q3”.</a:t>
            </a:r>
          </a:p>
        </p:txBody>
      </p:sp>
      <p:sp>
        <p:nvSpPr>
          <p:cNvPr id="41" name="Rounded Rectangle 40"/>
          <p:cNvSpPr/>
          <p:nvPr/>
        </p:nvSpPr>
        <p:spPr>
          <a:xfrm>
            <a:off x="4956048" y="4553712"/>
            <a:ext cx="6684264" cy="731520"/>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Oval 41"/>
          <p:cNvSpPr/>
          <p:nvPr/>
        </p:nvSpPr>
        <p:spPr>
          <a:xfrm>
            <a:off x="5120640" y="4727448"/>
            <a:ext cx="384048" cy="384048"/>
          </a:xfrm>
          <a:prstGeom prst="ellipse">
            <a:avLst/>
          </a:prstGeom>
          <a:solidFill>
            <a:srgbClr val="1B7F7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250" b="1" i="0">
                <a:solidFill>
                  <a:srgbClr val="FFFFFF"/>
                </a:solidFill>
                <a:latin typeface="Calibri"/>
              </a:rPr>
              <a:t>⟳</a:t>
            </a:r>
          </a:p>
        </p:txBody>
      </p:sp>
      <p:sp>
        <p:nvSpPr>
          <p:cNvPr id="43" name="TextBox 42"/>
          <p:cNvSpPr txBox="1"/>
          <p:nvPr/>
        </p:nvSpPr>
        <p:spPr>
          <a:xfrm>
            <a:off x="5614416" y="4672584"/>
            <a:ext cx="1371600" cy="274320"/>
          </a:xfrm>
          <a:prstGeom prst="rect">
            <a:avLst/>
          </a:prstGeom>
          <a:noFill/>
        </p:spPr>
        <p:txBody>
          <a:bodyPr wrap="square" lIns="0" rIns="0" tIns="0" bIns="0" anchor="t">
            <a:spAutoFit/>
          </a:bodyPr>
          <a:lstStyle/>
          <a:p>
            <a:pPr algn="l">
              <a:spcBef>
                <a:spcPts val="0"/>
              </a:spcBef>
              <a:spcAft>
                <a:spcPts val="0"/>
              </a:spcAft>
            </a:pPr>
            <a:r>
              <a:rPr sz="1200" b="1" i="0">
                <a:solidFill>
                  <a:srgbClr val="123B47"/>
                </a:solidFill>
                <a:latin typeface="Calibri"/>
              </a:rPr>
              <a:t>Pivot</a:t>
            </a:r>
          </a:p>
        </p:txBody>
      </p:sp>
      <p:sp>
        <p:nvSpPr>
          <p:cNvPr id="44" name="TextBox 43"/>
          <p:cNvSpPr txBox="1"/>
          <p:nvPr/>
        </p:nvSpPr>
        <p:spPr>
          <a:xfrm>
            <a:off x="5614416" y="4919472"/>
            <a:ext cx="5843016" cy="310896"/>
          </a:xfrm>
          <a:prstGeom prst="rect">
            <a:avLst/>
          </a:prstGeom>
          <a:noFill/>
        </p:spPr>
        <p:txBody>
          <a:bodyPr wrap="square" lIns="0" rIns="0" tIns="0" bIns="0" anchor="t">
            <a:spAutoFit/>
          </a:bodyPr>
          <a:lstStyle/>
          <a:p>
            <a:pPr algn="l">
              <a:lnSpc>
                <a:spcPct val="112000"/>
              </a:lnSpc>
              <a:spcBef>
                <a:spcPts val="0"/>
              </a:spcBef>
              <a:spcAft>
                <a:spcPts val="0"/>
              </a:spcAft>
            </a:pPr>
            <a:r>
              <a:rPr sz="900" b="0" i="0">
                <a:solidFill>
                  <a:srgbClr val="2E3F47"/>
                </a:solidFill>
                <a:latin typeface="Calibri"/>
              </a:rPr>
              <a:t>Swap rows and columns. Changes nothing in the data and a great deal in what the reader notices.</a:t>
            </a:r>
          </a:p>
        </p:txBody>
      </p:sp>
      <p:sp>
        <p:nvSpPr>
          <p:cNvPr id="45" name="Rounded Rectangle 44"/>
          <p:cNvSpPr/>
          <p:nvPr/>
        </p:nvSpPr>
        <p:spPr>
          <a:xfrm>
            <a:off x="548640" y="5340096"/>
            <a:ext cx="11094415" cy="621792"/>
          </a:xfrm>
          <a:prstGeom prst="roundRect">
            <a:avLst>
              <a:gd name="adj" fmla="val 6000"/>
            </a:avLst>
          </a:prstGeom>
          <a:solidFill>
            <a:srgbClr val="123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768096" y="5440680"/>
            <a:ext cx="10655503" cy="420624"/>
          </a:xfrm>
          <a:prstGeom prst="rect">
            <a:avLst/>
          </a:prstGeom>
          <a:noFill/>
        </p:spPr>
        <p:txBody>
          <a:bodyPr wrap="square" lIns="0" rIns="0" tIns="0" bIns="0" anchor="ctr">
            <a:spAutoFit/>
          </a:bodyPr>
          <a:lstStyle/>
          <a:p>
            <a:pPr algn="l">
              <a:lnSpc>
                <a:spcPct val="114000"/>
              </a:lnSpc>
            </a:pPr>
            <a:r>
              <a:rPr sz="1100" b="1">
                <a:solidFill>
                  <a:srgbClr val="E8A33D"/>
                </a:solidFill>
                <a:latin typeface="Calibri"/>
              </a:rPr>
              <a:t>Two more worth recognising.  </a:t>
            </a:r>
            <a:r>
              <a:rPr sz="1100">
                <a:solidFill>
                  <a:srgbClr val="FFFFFF"/>
                </a:solidFill>
                <a:latin typeface="Calibri"/>
              </a:rPr>
              <a:t>Drill-through moves from an aggregated cell to the underlying transaction rows. Drill-across compares the same dimension member across two fact tables — sales and returns, budget and actual — which is only possible where dimensions are conformed.</a:t>
            </a:r>
          </a:p>
        </p:txBody>
      </p:sp>
      <p:sp>
        <p:nvSpPr>
          <p:cNvPr id="47" name="Rounded Rectangle 46"/>
          <p:cNvSpPr/>
          <p:nvPr/>
        </p:nvSpPr>
        <p:spPr>
          <a:xfrm>
            <a:off x="548640" y="6016752"/>
            <a:ext cx="11094415" cy="27432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548640" y="6016752"/>
            <a:ext cx="11094415" cy="274320"/>
          </a:xfrm>
          <a:prstGeom prst="rect">
            <a:avLst/>
          </a:prstGeom>
          <a:noFill/>
        </p:spPr>
        <p:txBody>
          <a:bodyPr wrap="square" lIns="0" rIns="0" tIns="0" bIns="0" anchor="t">
            <a:spAutoFit/>
          </a:bodyPr>
          <a:lstStyle/>
          <a:p>
            <a:pPr algn="l">
              <a:spcBef>
                <a:spcPts val="0"/>
              </a:spcBef>
              <a:spcAft>
                <a:spcPts val="0"/>
              </a:spcAft>
            </a:pPr>
            <a:r>
              <a:rPr sz="850" b="0" i="0">
                <a:solidFill>
                  <a:srgbClr val="5C7079"/>
                </a:solidFill>
                <a:latin typeface="Calibri"/>
              </a:rPr>
              <a:t>MOLAP (pre-aggregated cube) · ROLAP (SQL on a star schema) · HOLAP (both) — columnar and in-memory engines have largely settled this argument in favour of ROLAP.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bg>
    <p:bgPr>
      <a:solidFill>
        <a:srgbClr val="FFFFFF"/>
      </a:solidFill>
      <a:effectLst/>
    </p:bgPr>
  </p:bg>
  <p:cSld>
    <p:spTree>
      <p:nvGrpSpPr>
        <p:cNvPr id="1" name=""/>
        <p:cNvGrpSpPr/>
        <p:nvPr/>
      </p:nvGrpSpPr>
      <p:grpSpPr/>
      <p:sp>
        <p:nvSpPr>
          <p:cNvPr id="2" name="Oval 1"/>
          <p:cNvSpPr/>
          <p:nvPr/>
        </p:nvSpPr>
        <p:spPr>
          <a:xfrm>
            <a:off x="548640" y="374904"/>
            <a:ext cx="109728" cy="109728"/>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283464"/>
            <a:ext cx="10893247" cy="256032"/>
          </a:xfrm>
          <a:prstGeom prst="rect">
            <a:avLst/>
          </a:prstGeom>
          <a:noFill/>
        </p:spPr>
        <p:txBody>
          <a:bodyPr wrap="square" lIns="0" rIns="0" tIns="0" bIns="0" anchor="t">
            <a:spAutoFit/>
          </a:bodyPr>
          <a:lstStyle/>
          <a:p>
            <a:pPr algn="l">
              <a:spcBef>
                <a:spcPts val="0"/>
              </a:spcBef>
              <a:spcAft>
                <a:spcPts val="0"/>
              </a:spcAft>
            </a:pPr>
            <a:r>
              <a:rPr sz="1000" b="1" i="0">
                <a:solidFill>
                  <a:srgbClr val="B87A1E"/>
                </a:solidFill>
                <a:latin typeface="Calibri"/>
              </a:rPr>
              <a:t>PART 3 · ARCHITECTURE</a:t>
            </a:r>
          </a:p>
        </p:txBody>
      </p:sp>
      <p:sp>
        <p:nvSpPr>
          <p:cNvPr id="4" name="TextBox 3"/>
          <p:cNvSpPr txBox="1"/>
          <p:nvPr/>
        </p:nvSpPr>
        <p:spPr>
          <a:xfrm>
            <a:off x="548640" y="548640"/>
            <a:ext cx="11094415" cy="640080"/>
          </a:xfrm>
          <a:prstGeom prst="rect">
            <a:avLst/>
          </a:prstGeom>
          <a:noFill/>
        </p:spPr>
        <p:txBody>
          <a:bodyPr wrap="square" lIns="0" rIns="0" tIns="0" bIns="0" anchor="t">
            <a:spAutoFit/>
          </a:bodyPr>
          <a:lstStyle/>
          <a:p>
            <a:pPr algn="l">
              <a:spcBef>
                <a:spcPts val="0"/>
              </a:spcBef>
              <a:spcAft>
                <a:spcPts val="0"/>
              </a:spcAft>
            </a:pPr>
            <a:r>
              <a:rPr sz="2600" b="1" i="0">
                <a:solidFill>
                  <a:srgbClr val="123B47"/>
                </a:solidFill>
                <a:latin typeface="Cambria"/>
              </a:rPr>
              <a:t>The layered reference architecture</a:t>
            </a:r>
          </a:p>
        </p:txBody>
      </p:sp>
      <p:sp>
        <p:nvSpPr>
          <p:cNvPr id="5" name="TextBox 4"/>
          <p:cNvSpPr txBox="1"/>
          <p:nvPr/>
        </p:nvSpPr>
        <p:spPr>
          <a:xfrm>
            <a:off x="548640" y="6382512"/>
            <a:ext cx="8686800" cy="256032"/>
          </a:xfrm>
          <a:prstGeom prst="rect">
            <a:avLst/>
          </a:prstGeom>
          <a:noFill/>
        </p:spPr>
        <p:txBody>
          <a:bodyPr wrap="square" lIns="0" rIns="0" tIns="0" bIns="0" anchor="t">
            <a:spAutoFit/>
          </a:bodyPr>
          <a:lstStyle/>
          <a:p>
            <a:pPr algn="l">
              <a:spcBef>
                <a:spcPts val="0"/>
              </a:spcBef>
              <a:spcAft>
                <a:spcPts val="0"/>
              </a:spcAft>
            </a:pPr>
            <a:r>
              <a:rPr sz="900" b="0" i="0">
                <a:solidFill>
                  <a:srgbClr val="5C7079"/>
                </a:solidFill>
                <a:latin typeface="Calibri"/>
              </a:rPr>
              <a:t>Business Intelligence  |  Session 6 — Data Warehousing &amp; OLTP/OLAP  |  IILM Jaipur, MBA</a:t>
            </a:r>
          </a:p>
        </p:txBody>
      </p:sp>
      <p:sp>
        <p:nvSpPr>
          <p:cNvPr id="6" name="TextBox 5"/>
          <p:cNvSpPr txBox="1"/>
          <p:nvPr/>
        </p:nvSpPr>
        <p:spPr>
          <a:xfrm>
            <a:off x="10545775" y="6382512"/>
            <a:ext cx="1097280" cy="256032"/>
          </a:xfrm>
          <a:prstGeom prst="rect">
            <a:avLst/>
          </a:prstGeom>
          <a:noFill/>
        </p:spPr>
        <p:txBody>
          <a:bodyPr wrap="square" lIns="0" rIns="0" tIns="0" bIns="0" anchor="t">
            <a:spAutoFit/>
          </a:bodyPr>
          <a:lstStyle/>
          <a:p>
            <a:pPr algn="r">
              <a:spcBef>
                <a:spcPts val="0"/>
              </a:spcBef>
              <a:spcAft>
                <a:spcPts val="0"/>
              </a:spcAft>
            </a:pPr>
            <a:r>
              <a:rPr sz="950" b="1" i="0">
                <a:solidFill>
                  <a:srgbClr val="1B7F79"/>
                </a:solidFill>
                <a:latin typeface="Calibri"/>
              </a:rPr>
              <a:t>8</a:t>
            </a:r>
          </a:p>
        </p:txBody>
      </p:sp>
      <p:sp>
        <p:nvSpPr>
          <p:cNvPr id="7" name="Chevron 6"/>
          <p:cNvSpPr/>
          <p:nvPr/>
        </p:nvSpPr>
        <p:spPr>
          <a:xfrm>
            <a:off x="548640" y="1371600"/>
            <a:ext cx="2121408" cy="1115568"/>
          </a:xfrm>
          <a:prstGeom prst="chevron">
            <a:avLst/>
          </a:prstGeom>
          <a:solidFill>
            <a:srgbClr val="123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rIns="18288"/>
          <a:lstStyle/>
          <a:p>
            <a:pPr algn="ctr">
              <a:spcBef>
                <a:spcPts val="0"/>
              </a:spcBef>
              <a:spcAft>
                <a:spcPts val="0"/>
              </a:spcAft>
            </a:pPr>
            <a:r>
              <a:rPr sz="1050" b="1" i="0">
                <a:solidFill>
                  <a:srgbClr val="FFFFFF"/>
                </a:solidFill>
                <a:latin typeface="Calibri"/>
              </a:rPr>
              <a:t>Source</a:t>
            </a:r>
          </a:p>
        </p:txBody>
      </p:sp>
      <p:sp>
        <p:nvSpPr>
          <p:cNvPr id="8" name="TextBox 7"/>
          <p:cNvSpPr txBox="1"/>
          <p:nvPr/>
        </p:nvSpPr>
        <p:spPr>
          <a:xfrm>
            <a:off x="822959" y="2578608"/>
            <a:ext cx="1737360" cy="685800"/>
          </a:xfrm>
          <a:prstGeom prst="rect">
            <a:avLst/>
          </a:prstGeom>
          <a:noFill/>
        </p:spPr>
        <p:txBody>
          <a:bodyPr wrap="square" lIns="0" rIns="0" tIns="0" bIns="0" anchor="t">
            <a:spAutoFit/>
          </a:bodyPr>
          <a:lstStyle/>
          <a:p>
            <a:pPr algn="l">
              <a:lnSpc>
                <a:spcPct val="115000"/>
              </a:lnSpc>
              <a:spcBef>
                <a:spcPts val="0"/>
              </a:spcBef>
              <a:spcAft>
                <a:spcPts val="0"/>
              </a:spcAft>
            </a:pPr>
            <a:r>
              <a:rPr sz="850" b="0" i="0">
                <a:solidFill>
                  <a:srgbClr val="2E3F47"/>
                </a:solidFill>
                <a:latin typeface="Calibri"/>
              </a:rPr>
              <a:t>Operational systems,
files, APIs, feeds</a:t>
            </a:r>
          </a:p>
        </p:txBody>
      </p:sp>
      <p:sp>
        <p:nvSpPr>
          <p:cNvPr id="9" name="Chevron 8"/>
          <p:cNvSpPr/>
          <p:nvPr/>
        </p:nvSpPr>
        <p:spPr>
          <a:xfrm>
            <a:off x="2414016" y="1371600"/>
            <a:ext cx="2121408" cy="1115568"/>
          </a:xfrm>
          <a:prstGeom prst="chevron">
            <a:avLst/>
          </a:prstGeom>
          <a:solidFill>
            <a:srgbClr val="17545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rIns="18288"/>
          <a:lstStyle/>
          <a:p>
            <a:pPr algn="ctr">
              <a:spcBef>
                <a:spcPts val="0"/>
              </a:spcBef>
              <a:spcAft>
                <a:spcPts val="0"/>
              </a:spcAft>
            </a:pPr>
            <a:r>
              <a:rPr sz="1050" b="1" i="0">
                <a:solidFill>
                  <a:srgbClr val="FFFFFF"/>
                </a:solidFill>
                <a:latin typeface="Calibri"/>
              </a:rPr>
              <a:t>Staging</a:t>
            </a:r>
          </a:p>
          <a:p>
            <a:pPr algn="ctr">
              <a:lnSpc>
                <a:spcPct val="100000"/>
              </a:lnSpc>
              <a:spcBef>
                <a:spcPts val="0"/>
              </a:spcBef>
              <a:spcAft>
                <a:spcPts val="0"/>
              </a:spcAft>
            </a:pPr>
            <a:r>
              <a:rPr sz="800" b="0" i="0">
                <a:solidFill>
                  <a:srgbClr val="AFC6C4"/>
                </a:solidFill>
                <a:latin typeface="Calibri"/>
              </a:rPr>
              <a:t>bronze</a:t>
            </a:r>
          </a:p>
        </p:txBody>
      </p:sp>
      <p:sp>
        <p:nvSpPr>
          <p:cNvPr id="10" name="TextBox 9"/>
          <p:cNvSpPr txBox="1"/>
          <p:nvPr/>
        </p:nvSpPr>
        <p:spPr>
          <a:xfrm>
            <a:off x="2688336" y="2578608"/>
            <a:ext cx="1737360" cy="685800"/>
          </a:xfrm>
          <a:prstGeom prst="rect">
            <a:avLst/>
          </a:prstGeom>
          <a:noFill/>
        </p:spPr>
        <p:txBody>
          <a:bodyPr wrap="square" lIns="0" rIns="0" tIns="0" bIns="0" anchor="t">
            <a:spAutoFit/>
          </a:bodyPr>
          <a:lstStyle/>
          <a:p>
            <a:pPr algn="l">
              <a:lnSpc>
                <a:spcPct val="115000"/>
              </a:lnSpc>
              <a:spcBef>
                <a:spcPts val="0"/>
              </a:spcBef>
              <a:spcAft>
                <a:spcPts val="0"/>
              </a:spcAft>
            </a:pPr>
            <a:r>
              <a:rPr sz="850" b="0" i="0">
                <a:solidFill>
                  <a:srgbClr val="2E3F47"/>
                </a:solidFill>
                <a:latin typeface="Calibri"/>
              </a:rPr>
              <a:t>Raw extracts as received;
re-runnable loads</a:t>
            </a:r>
          </a:p>
        </p:txBody>
      </p:sp>
      <p:sp>
        <p:nvSpPr>
          <p:cNvPr id="11" name="Chevron 10"/>
          <p:cNvSpPr/>
          <p:nvPr/>
        </p:nvSpPr>
        <p:spPr>
          <a:xfrm>
            <a:off x="4279392" y="1371600"/>
            <a:ext cx="2121408" cy="1115568"/>
          </a:xfrm>
          <a:prstGeom prst="chevron">
            <a:avLst/>
          </a:prstGeom>
          <a:solidFill>
            <a:srgbClr val="1B7F79"/>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rIns="18288"/>
          <a:lstStyle/>
          <a:p>
            <a:pPr algn="ctr">
              <a:spcBef>
                <a:spcPts val="0"/>
              </a:spcBef>
              <a:spcAft>
                <a:spcPts val="0"/>
              </a:spcAft>
            </a:pPr>
            <a:r>
              <a:rPr sz="1050" b="1" i="0">
                <a:solidFill>
                  <a:srgbClr val="FFFFFF"/>
                </a:solidFill>
                <a:latin typeface="Calibri"/>
              </a:rPr>
              <a:t>Integration</a:t>
            </a:r>
          </a:p>
          <a:p>
            <a:pPr algn="ctr">
              <a:lnSpc>
                <a:spcPct val="100000"/>
              </a:lnSpc>
              <a:spcBef>
                <a:spcPts val="0"/>
              </a:spcBef>
              <a:spcAft>
                <a:spcPts val="0"/>
              </a:spcAft>
            </a:pPr>
            <a:r>
              <a:rPr sz="800" b="0" i="0">
                <a:solidFill>
                  <a:srgbClr val="AFC6C4"/>
                </a:solidFill>
                <a:latin typeface="Calibri"/>
              </a:rPr>
              <a:t>silver</a:t>
            </a:r>
          </a:p>
        </p:txBody>
      </p:sp>
      <p:sp>
        <p:nvSpPr>
          <p:cNvPr id="12" name="TextBox 11"/>
          <p:cNvSpPr txBox="1"/>
          <p:nvPr/>
        </p:nvSpPr>
        <p:spPr>
          <a:xfrm>
            <a:off x="4553712" y="2578608"/>
            <a:ext cx="1737360" cy="685800"/>
          </a:xfrm>
          <a:prstGeom prst="rect">
            <a:avLst/>
          </a:prstGeom>
          <a:noFill/>
        </p:spPr>
        <p:txBody>
          <a:bodyPr wrap="square" lIns="0" rIns="0" tIns="0" bIns="0" anchor="t">
            <a:spAutoFit/>
          </a:bodyPr>
          <a:lstStyle/>
          <a:p>
            <a:pPr algn="l">
              <a:lnSpc>
                <a:spcPct val="115000"/>
              </a:lnSpc>
              <a:spcBef>
                <a:spcPts val="0"/>
              </a:spcBef>
              <a:spcAft>
                <a:spcPts val="0"/>
              </a:spcAft>
            </a:pPr>
            <a:r>
              <a:rPr sz="850" b="0" i="0">
                <a:solidFill>
                  <a:srgbClr val="2E3F47"/>
                </a:solidFill>
                <a:latin typeface="Calibri"/>
              </a:rPr>
              <a:t>Conform codes, match keys,
apply quality rules</a:t>
            </a:r>
          </a:p>
        </p:txBody>
      </p:sp>
      <p:sp>
        <p:nvSpPr>
          <p:cNvPr id="13" name="Chevron 12"/>
          <p:cNvSpPr/>
          <p:nvPr/>
        </p:nvSpPr>
        <p:spPr>
          <a:xfrm>
            <a:off x="6144768" y="1371600"/>
            <a:ext cx="2121408" cy="1115568"/>
          </a:xfrm>
          <a:prstGeom prst="chevron">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rIns="18288"/>
          <a:lstStyle/>
          <a:p>
            <a:pPr algn="ctr">
              <a:spcBef>
                <a:spcPts val="0"/>
              </a:spcBef>
              <a:spcAft>
                <a:spcPts val="0"/>
              </a:spcAft>
            </a:pPr>
            <a:r>
              <a:rPr sz="1050" b="1" i="0">
                <a:solidFill>
                  <a:srgbClr val="3A2703"/>
                </a:solidFill>
                <a:latin typeface="Calibri"/>
              </a:rPr>
              <a:t>Warehouse</a:t>
            </a:r>
          </a:p>
          <a:p>
            <a:pPr algn="ctr">
              <a:lnSpc>
                <a:spcPct val="100000"/>
              </a:lnSpc>
              <a:spcBef>
                <a:spcPts val="0"/>
              </a:spcBef>
              <a:spcAft>
                <a:spcPts val="0"/>
              </a:spcAft>
            </a:pPr>
            <a:r>
              <a:rPr sz="800" b="0" i="0">
                <a:solidFill>
                  <a:srgbClr val="3A2703"/>
                </a:solidFill>
                <a:latin typeface="Calibri"/>
              </a:rPr>
              <a:t>gold</a:t>
            </a:r>
          </a:p>
        </p:txBody>
      </p:sp>
      <p:sp>
        <p:nvSpPr>
          <p:cNvPr id="14" name="TextBox 13"/>
          <p:cNvSpPr txBox="1"/>
          <p:nvPr/>
        </p:nvSpPr>
        <p:spPr>
          <a:xfrm>
            <a:off x="6419088" y="2578608"/>
            <a:ext cx="1737360" cy="685800"/>
          </a:xfrm>
          <a:prstGeom prst="rect">
            <a:avLst/>
          </a:prstGeom>
          <a:noFill/>
        </p:spPr>
        <p:txBody>
          <a:bodyPr wrap="square" lIns="0" rIns="0" tIns="0" bIns="0" anchor="t">
            <a:spAutoFit/>
          </a:bodyPr>
          <a:lstStyle/>
          <a:p>
            <a:pPr algn="l">
              <a:lnSpc>
                <a:spcPct val="115000"/>
              </a:lnSpc>
              <a:spcBef>
                <a:spcPts val="0"/>
              </a:spcBef>
              <a:spcAft>
                <a:spcPts val="0"/>
              </a:spcAft>
            </a:pPr>
            <a:r>
              <a:rPr sz="850" b="0" i="0">
                <a:solidFill>
                  <a:srgbClr val="2E3F47"/>
                </a:solidFill>
                <a:latin typeface="Calibri"/>
              </a:rPr>
              <a:t>Integrated, time-variant,
finest grain</a:t>
            </a:r>
          </a:p>
        </p:txBody>
      </p:sp>
      <p:sp>
        <p:nvSpPr>
          <p:cNvPr id="15" name="Chevron 14"/>
          <p:cNvSpPr/>
          <p:nvPr/>
        </p:nvSpPr>
        <p:spPr>
          <a:xfrm>
            <a:off x="8010144" y="1371600"/>
            <a:ext cx="2121408" cy="1115568"/>
          </a:xfrm>
          <a:prstGeom prst="chevron">
            <a:avLst/>
          </a:prstGeom>
          <a:solidFill>
            <a:srgbClr val="A63B26"/>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rIns="18288"/>
          <a:lstStyle/>
          <a:p>
            <a:pPr algn="ctr">
              <a:spcBef>
                <a:spcPts val="0"/>
              </a:spcBef>
              <a:spcAft>
                <a:spcPts val="0"/>
              </a:spcAft>
            </a:pPr>
            <a:r>
              <a:rPr sz="1050" b="1" i="0">
                <a:solidFill>
                  <a:srgbClr val="FFFFFF"/>
                </a:solidFill>
                <a:latin typeface="Calibri"/>
              </a:rPr>
              <a:t>Marts</a:t>
            </a:r>
          </a:p>
          <a:p>
            <a:pPr algn="ctr">
              <a:lnSpc>
                <a:spcPct val="100000"/>
              </a:lnSpc>
              <a:spcBef>
                <a:spcPts val="0"/>
              </a:spcBef>
              <a:spcAft>
                <a:spcPts val="0"/>
              </a:spcAft>
            </a:pPr>
            <a:r>
              <a:rPr sz="800" b="0" i="0">
                <a:solidFill>
                  <a:srgbClr val="AFC6C4"/>
                </a:solidFill>
                <a:latin typeface="Calibri"/>
              </a:rPr>
              <a:t>semantic layer</a:t>
            </a:r>
          </a:p>
        </p:txBody>
      </p:sp>
      <p:sp>
        <p:nvSpPr>
          <p:cNvPr id="16" name="TextBox 15"/>
          <p:cNvSpPr txBox="1"/>
          <p:nvPr/>
        </p:nvSpPr>
        <p:spPr>
          <a:xfrm>
            <a:off x="8284464" y="2578608"/>
            <a:ext cx="1737360" cy="685800"/>
          </a:xfrm>
          <a:prstGeom prst="rect">
            <a:avLst/>
          </a:prstGeom>
          <a:noFill/>
        </p:spPr>
        <p:txBody>
          <a:bodyPr wrap="square" lIns="0" rIns="0" tIns="0" bIns="0" anchor="t">
            <a:spAutoFit/>
          </a:bodyPr>
          <a:lstStyle/>
          <a:p>
            <a:pPr algn="l">
              <a:lnSpc>
                <a:spcPct val="115000"/>
              </a:lnSpc>
              <a:spcBef>
                <a:spcPts val="0"/>
              </a:spcBef>
              <a:spcAft>
                <a:spcPts val="0"/>
              </a:spcAft>
            </a:pPr>
            <a:r>
              <a:rPr sz="850" b="0" i="0">
                <a:solidFill>
                  <a:srgbClr val="2E3F47"/>
                </a:solidFill>
                <a:latin typeface="Calibri"/>
              </a:rPr>
              <a:t>Subject subsets, measures,
business definitions</a:t>
            </a:r>
          </a:p>
        </p:txBody>
      </p:sp>
      <p:sp>
        <p:nvSpPr>
          <p:cNvPr id="17" name="Chevron 16"/>
          <p:cNvSpPr/>
          <p:nvPr/>
        </p:nvSpPr>
        <p:spPr>
          <a:xfrm>
            <a:off x="9875519" y="1371600"/>
            <a:ext cx="2121408" cy="1115568"/>
          </a:xfrm>
          <a:prstGeom prst="chevron">
            <a:avLst/>
          </a:prstGeom>
          <a:solidFill>
            <a:srgbClr val="7A2B1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rIns="18288"/>
          <a:lstStyle/>
          <a:p>
            <a:pPr algn="ctr">
              <a:spcBef>
                <a:spcPts val="0"/>
              </a:spcBef>
              <a:spcAft>
                <a:spcPts val="0"/>
              </a:spcAft>
            </a:pPr>
            <a:r>
              <a:rPr sz="1050" b="1" i="0">
                <a:solidFill>
                  <a:srgbClr val="FFFFFF"/>
                </a:solidFill>
                <a:latin typeface="Calibri"/>
              </a:rPr>
              <a:t>Delivery</a:t>
            </a:r>
          </a:p>
        </p:txBody>
      </p:sp>
      <p:sp>
        <p:nvSpPr>
          <p:cNvPr id="18" name="TextBox 17"/>
          <p:cNvSpPr txBox="1"/>
          <p:nvPr/>
        </p:nvSpPr>
        <p:spPr>
          <a:xfrm>
            <a:off x="10149840" y="2578608"/>
            <a:ext cx="1737360" cy="685800"/>
          </a:xfrm>
          <a:prstGeom prst="rect">
            <a:avLst/>
          </a:prstGeom>
          <a:noFill/>
        </p:spPr>
        <p:txBody>
          <a:bodyPr wrap="square" lIns="0" rIns="0" tIns="0" bIns="0" anchor="t">
            <a:spAutoFit/>
          </a:bodyPr>
          <a:lstStyle/>
          <a:p>
            <a:pPr algn="l">
              <a:lnSpc>
                <a:spcPct val="115000"/>
              </a:lnSpc>
              <a:spcBef>
                <a:spcPts val="0"/>
              </a:spcBef>
              <a:spcAft>
                <a:spcPts val="0"/>
              </a:spcAft>
            </a:pPr>
            <a:r>
              <a:rPr sz="850" b="0" i="0">
                <a:solidFill>
                  <a:srgbClr val="2E3F47"/>
                </a:solidFill>
                <a:latin typeface="Calibri"/>
              </a:rPr>
              <a:t>Dashboards, self-service,
APIs, row-level security</a:t>
            </a:r>
          </a:p>
        </p:txBody>
      </p:sp>
      <p:sp>
        <p:nvSpPr>
          <p:cNvPr id="19" name="Rounded Rectangle 18"/>
          <p:cNvSpPr/>
          <p:nvPr/>
        </p:nvSpPr>
        <p:spPr>
          <a:xfrm>
            <a:off x="548640" y="3383280"/>
            <a:ext cx="5623560" cy="1481328"/>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749808" y="3584448"/>
            <a:ext cx="384048" cy="384048"/>
          </a:xfrm>
          <a:prstGeom prst="ellipse">
            <a:avLst/>
          </a:prstGeom>
          <a:solidFill>
            <a:srgbClr val="A63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250" b="1" i="0">
                <a:solidFill>
                  <a:srgbClr val="FFFFFF"/>
                </a:solidFill>
                <a:latin typeface="Calibri"/>
              </a:rPr>
              <a:t>!</a:t>
            </a:r>
          </a:p>
        </p:txBody>
      </p:sp>
      <p:sp>
        <p:nvSpPr>
          <p:cNvPr id="21" name="TextBox 20"/>
          <p:cNvSpPr txBox="1"/>
          <p:nvPr/>
        </p:nvSpPr>
        <p:spPr>
          <a:xfrm>
            <a:off x="1252728" y="3575304"/>
            <a:ext cx="4663440" cy="402336"/>
          </a:xfrm>
          <a:prstGeom prst="rect">
            <a:avLst/>
          </a:prstGeom>
          <a:noFill/>
        </p:spPr>
        <p:txBody>
          <a:bodyPr wrap="square" lIns="0" rIns="0" tIns="0" bIns="0" anchor="ctr">
            <a:spAutoFit/>
          </a:bodyPr>
          <a:lstStyle/>
          <a:p>
            <a:pPr algn="l">
              <a:spcBef>
                <a:spcPts val="0"/>
              </a:spcBef>
              <a:spcAft>
                <a:spcPts val="0"/>
              </a:spcAft>
            </a:pPr>
            <a:r>
              <a:rPr sz="1250" b="1" i="0">
                <a:solidFill>
                  <a:srgbClr val="123B47"/>
                </a:solidFill>
                <a:latin typeface="Calibri"/>
              </a:rPr>
              <a:t>The rule that keeps it honest</a:t>
            </a:r>
          </a:p>
        </p:txBody>
      </p:sp>
      <p:sp>
        <p:nvSpPr>
          <p:cNvPr id="22" name="TextBox 21"/>
          <p:cNvSpPr txBox="1"/>
          <p:nvPr/>
        </p:nvSpPr>
        <p:spPr>
          <a:xfrm>
            <a:off x="749808" y="4078224"/>
            <a:ext cx="5212080" cy="694944"/>
          </a:xfrm>
          <a:prstGeom prst="rect">
            <a:avLst/>
          </a:prstGeom>
          <a:noFill/>
        </p:spPr>
        <p:txBody>
          <a:bodyPr wrap="square" lIns="0" rIns="0" tIns="0" bIns="0" anchor="t">
            <a:spAutoFit/>
          </a:bodyPr>
          <a:lstStyle/>
          <a:p>
            <a:pPr algn="l">
              <a:lnSpc>
                <a:spcPct val="116000"/>
              </a:lnSpc>
              <a:spcBef>
                <a:spcPts val="0"/>
              </a:spcBef>
              <a:spcAft>
                <a:spcPts val="0"/>
              </a:spcAft>
            </a:pPr>
            <a:r>
              <a:rPr sz="950" b="0" i="0">
                <a:solidFill>
                  <a:srgbClr val="2E3F47"/>
                </a:solidFill>
                <a:latin typeface="Calibri"/>
              </a:rPr>
              <a:t>Data flows one way and each layer has exactly one job. The moment a report reads directly from staging, or a mart is loaded from a spreadsheet outside the flow, lineage is broken and the architecture becomes decorative.</a:t>
            </a:r>
          </a:p>
        </p:txBody>
      </p:sp>
      <p:sp>
        <p:nvSpPr>
          <p:cNvPr id="23" name="Rounded Rectangle 22"/>
          <p:cNvSpPr/>
          <p:nvPr/>
        </p:nvSpPr>
        <p:spPr>
          <a:xfrm>
            <a:off x="6382512" y="3383280"/>
            <a:ext cx="5257800" cy="1481328"/>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Oval 23"/>
          <p:cNvSpPr/>
          <p:nvPr/>
        </p:nvSpPr>
        <p:spPr>
          <a:xfrm>
            <a:off x="6583680" y="3584448"/>
            <a:ext cx="384048" cy="384048"/>
          </a:xfrm>
          <a:prstGeom prst="ellipse">
            <a:avLst/>
          </a:prstGeom>
          <a:solidFill>
            <a:srgbClr val="1B7F7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250" b="1" i="0">
                <a:solidFill>
                  <a:srgbClr val="FFFFFF"/>
                </a:solidFill>
                <a:latin typeface="Calibri"/>
              </a:rPr>
              <a:t>i</a:t>
            </a:r>
          </a:p>
        </p:txBody>
      </p:sp>
      <p:sp>
        <p:nvSpPr>
          <p:cNvPr id="25" name="TextBox 24"/>
          <p:cNvSpPr txBox="1"/>
          <p:nvPr/>
        </p:nvSpPr>
        <p:spPr>
          <a:xfrm>
            <a:off x="7086600" y="3575304"/>
            <a:ext cx="4297680" cy="402336"/>
          </a:xfrm>
          <a:prstGeom prst="rect">
            <a:avLst/>
          </a:prstGeom>
          <a:noFill/>
        </p:spPr>
        <p:txBody>
          <a:bodyPr wrap="square" lIns="0" rIns="0" tIns="0" bIns="0" anchor="ctr">
            <a:spAutoFit/>
          </a:bodyPr>
          <a:lstStyle/>
          <a:p>
            <a:pPr algn="l">
              <a:spcBef>
                <a:spcPts val="0"/>
              </a:spcBef>
              <a:spcAft>
                <a:spcPts val="0"/>
              </a:spcAft>
            </a:pPr>
            <a:r>
              <a:rPr sz="1250" b="1" i="0">
                <a:solidFill>
                  <a:srgbClr val="123B47"/>
                </a:solidFill>
                <a:latin typeface="Calibri"/>
              </a:rPr>
              <a:t>Where the ODS and the lake fit</a:t>
            </a:r>
          </a:p>
        </p:txBody>
      </p:sp>
      <p:sp>
        <p:nvSpPr>
          <p:cNvPr id="26" name="TextBox 25"/>
          <p:cNvSpPr txBox="1"/>
          <p:nvPr/>
        </p:nvSpPr>
        <p:spPr>
          <a:xfrm>
            <a:off x="6583680" y="4078224"/>
            <a:ext cx="4846320" cy="694944"/>
          </a:xfrm>
          <a:prstGeom prst="rect">
            <a:avLst/>
          </a:prstGeom>
          <a:noFill/>
        </p:spPr>
        <p:txBody>
          <a:bodyPr wrap="square" lIns="0" rIns="0" tIns="0" bIns="0" anchor="t">
            <a:spAutoFit/>
          </a:bodyPr>
          <a:lstStyle/>
          <a:p>
            <a:pPr algn="l">
              <a:lnSpc>
                <a:spcPct val="112000"/>
              </a:lnSpc>
              <a:spcAft>
                <a:spcPts val="300"/>
              </a:spcAft>
            </a:pPr>
            <a:r>
              <a:rPr sz="900">
                <a:solidFill>
                  <a:srgbClr val="E8A33D"/>
                </a:solidFill>
                <a:latin typeface="Calibri"/>
              </a:rPr>
              <a:t>▪  </a:t>
            </a:r>
            <a:r>
              <a:rPr sz="900" b="1">
                <a:solidFill>
                  <a:srgbClr val="123B47"/>
                </a:solidFill>
                <a:latin typeface="Calibri"/>
              </a:rPr>
              <a:t>ODS — </a:t>
            </a:r>
            <a:r>
              <a:rPr sz="900">
                <a:solidFill>
                  <a:srgbClr val="2E3F47"/>
                </a:solidFill>
                <a:latin typeface="Calibri"/>
              </a:rPr>
              <a:t>current, integrated, subject-oriented; for people who must act now. Often feeds the warehouse.</a:t>
            </a:r>
          </a:p>
          <a:p>
            <a:pPr>
              <a:lnSpc>
                <a:spcPct val="112000"/>
              </a:lnSpc>
              <a:spcAft>
                <a:spcPts val="300"/>
              </a:spcAft>
            </a:pPr>
            <a:r>
              <a:rPr sz="900">
                <a:solidFill>
                  <a:srgbClr val="E8A33D"/>
                </a:solidFill>
                <a:latin typeface="Calibri"/>
              </a:rPr>
              <a:t>▪  </a:t>
            </a:r>
            <a:r>
              <a:rPr sz="900" b="1">
                <a:solidFill>
                  <a:srgbClr val="123B47"/>
                </a:solidFill>
                <a:latin typeface="Calibri"/>
              </a:rPr>
              <a:t>Lake / lakehouse — </a:t>
            </a:r>
            <a:r>
              <a:rPr sz="900">
                <a:solidFill>
                  <a:srgbClr val="2E3F47"/>
                </a:solidFill>
                <a:latin typeface="Calibri"/>
              </a:rPr>
              <a:t>a landing area with open table formats; the medallion names are the same layers.</a:t>
            </a:r>
          </a:p>
        </p:txBody>
      </p:sp>
      <p:sp>
        <p:nvSpPr>
          <p:cNvPr id="27" name="Rounded Rectangle 26"/>
          <p:cNvSpPr/>
          <p:nvPr/>
        </p:nvSpPr>
        <p:spPr>
          <a:xfrm>
            <a:off x="548640" y="4992624"/>
            <a:ext cx="11094415" cy="731520"/>
          </a:xfrm>
          <a:prstGeom prst="roundRect">
            <a:avLst>
              <a:gd name="adj" fmla="val 6000"/>
            </a:avLst>
          </a:prstGeom>
          <a:solidFill>
            <a:srgbClr val="123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768096" y="5093208"/>
            <a:ext cx="10655503" cy="530352"/>
          </a:xfrm>
          <a:prstGeom prst="rect">
            <a:avLst/>
          </a:prstGeom>
          <a:noFill/>
        </p:spPr>
        <p:txBody>
          <a:bodyPr wrap="square" lIns="0" rIns="0" tIns="0" bIns="0" anchor="ctr">
            <a:spAutoFit/>
          </a:bodyPr>
          <a:lstStyle/>
          <a:p>
            <a:pPr algn="l">
              <a:lnSpc>
                <a:spcPct val="114000"/>
              </a:lnSpc>
            </a:pPr>
            <a:r>
              <a:rPr sz="1100" b="1">
                <a:solidFill>
                  <a:srgbClr val="E8A33D"/>
                </a:solidFill>
                <a:latin typeface="Calibri"/>
              </a:rPr>
              <a:t>A caution about vocabulary.  </a:t>
            </a:r>
            <a:r>
              <a:rPr sz="1100">
                <a:solidFill>
                  <a:srgbClr val="FFFFFF"/>
                </a:solidFill>
                <a:latin typeface="Calibri"/>
              </a:rPr>
              <a:t>Vendors sell “lakehouse”, “fabric”, “data cloud” and “data mesh”. The names change every few years; the four requirements — integration, history, a read-optimised structure and isolation from the operational system — do not. Learn the requirements and you can evaluate whatever the product is called.</a:t>
            </a:r>
          </a:p>
        </p:txBody>
      </p:sp>
      <p:sp>
        <p:nvSpPr>
          <p:cNvPr id="29" name="Rounded Rectangle 28"/>
          <p:cNvSpPr/>
          <p:nvPr/>
        </p:nvSpPr>
        <p:spPr>
          <a:xfrm>
            <a:off x="548640" y="5852160"/>
            <a:ext cx="11094415" cy="457200"/>
          </a:xfrm>
          <a:prstGeom prst="roundRect">
            <a:avLst>
              <a:gd name="adj" fmla="val 6000"/>
            </a:avLst>
          </a:prstGeom>
          <a:solidFill>
            <a:srgbClr val="FFFFFF"/>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768096" y="5907024"/>
            <a:ext cx="10655503" cy="365760"/>
          </a:xfrm>
          <a:prstGeom prst="rect">
            <a:avLst/>
          </a:prstGeom>
          <a:noFill/>
        </p:spPr>
        <p:txBody>
          <a:bodyPr wrap="square" lIns="0" rIns="0" tIns="0" bIns="0" anchor="ctr">
            <a:spAutoFit/>
          </a:bodyPr>
          <a:lstStyle/>
          <a:p>
            <a:pPr algn="l">
              <a:spcBef>
                <a:spcPts val="0"/>
              </a:spcBef>
              <a:spcAft>
                <a:spcPts val="0"/>
              </a:spcAft>
            </a:pPr>
            <a:r>
              <a:rPr sz="900" b="0" i="0">
                <a:solidFill>
                  <a:srgbClr val="5C7079"/>
                </a:solidFill>
                <a:latin typeface="Calibri"/>
              </a:rPr>
              <a:t>Practical advice for a first project:  start on a managed cloud warehouse with a Kimball-style star schema for one business process, and treat the lake as a landing area rather than the destination. Most mid-market failures come from reversing that order.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bg>
    <p:bgPr>
      <a:solidFill>
        <a:srgbClr val="FFFFFF"/>
      </a:solidFill>
      <a:effectLst/>
    </p:bgPr>
  </p:bg>
  <p:cSld>
    <p:spTree>
      <p:nvGrpSpPr>
        <p:cNvPr id="1" name=""/>
        <p:cNvGrpSpPr/>
        <p:nvPr/>
      </p:nvGrpSpPr>
      <p:grpSpPr/>
      <p:sp>
        <p:nvSpPr>
          <p:cNvPr id="2" name="Oval 1"/>
          <p:cNvSpPr/>
          <p:nvPr/>
        </p:nvSpPr>
        <p:spPr>
          <a:xfrm>
            <a:off x="548640" y="374904"/>
            <a:ext cx="109728" cy="109728"/>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283464"/>
            <a:ext cx="10893247" cy="256032"/>
          </a:xfrm>
          <a:prstGeom prst="rect">
            <a:avLst/>
          </a:prstGeom>
          <a:noFill/>
        </p:spPr>
        <p:txBody>
          <a:bodyPr wrap="square" lIns="0" rIns="0" tIns="0" bIns="0" anchor="t">
            <a:spAutoFit/>
          </a:bodyPr>
          <a:lstStyle/>
          <a:p>
            <a:pPr algn="l">
              <a:spcBef>
                <a:spcPts val="0"/>
              </a:spcBef>
              <a:spcAft>
                <a:spcPts val="0"/>
              </a:spcAft>
            </a:pPr>
            <a:r>
              <a:rPr sz="1000" b="1" i="0">
                <a:solidFill>
                  <a:srgbClr val="B87A1E"/>
                </a:solidFill>
                <a:latin typeface="Calibri"/>
              </a:rPr>
              <a:t>PART 3 · MOVEMENT</a:t>
            </a:r>
          </a:p>
        </p:txBody>
      </p:sp>
      <p:sp>
        <p:nvSpPr>
          <p:cNvPr id="4" name="TextBox 3"/>
          <p:cNvSpPr txBox="1"/>
          <p:nvPr/>
        </p:nvSpPr>
        <p:spPr>
          <a:xfrm>
            <a:off x="548640" y="548640"/>
            <a:ext cx="11094415" cy="640080"/>
          </a:xfrm>
          <a:prstGeom prst="rect">
            <a:avLst/>
          </a:prstGeom>
          <a:noFill/>
        </p:spPr>
        <p:txBody>
          <a:bodyPr wrap="square" lIns="0" rIns="0" tIns="0" bIns="0" anchor="t">
            <a:spAutoFit/>
          </a:bodyPr>
          <a:lstStyle/>
          <a:p>
            <a:pPr algn="l">
              <a:spcBef>
                <a:spcPts val="0"/>
              </a:spcBef>
              <a:spcAft>
                <a:spcPts val="0"/>
              </a:spcAft>
            </a:pPr>
            <a:r>
              <a:rPr sz="2600" b="1" i="0">
                <a:solidFill>
                  <a:srgbClr val="123B47"/>
                </a:solidFill>
                <a:latin typeface="Cambria"/>
              </a:rPr>
              <a:t>ETL and ELT — the same three verbs, a different order</a:t>
            </a:r>
          </a:p>
        </p:txBody>
      </p:sp>
      <p:sp>
        <p:nvSpPr>
          <p:cNvPr id="5" name="TextBox 4"/>
          <p:cNvSpPr txBox="1"/>
          <p:nvPr/>
        </p:nvSpPr>
        <p:spPr>
          <a:xfrm>
            <a:off x="548640" y="6382512"/>
            <a:ext cx="8686800" cy="256032"/>
          </a:xfrm>
          <a:prstGeom prst="rect">
            <a:avLst/>
          </a:prstGeom>
          <a:noFill/>
        </p:spPr>
        <p:txBody>
          <a:bodyPr wrap="square" lIns="0" rIns="0" tIns="0" bIns="0" anchor="t">
            <a:spAutoFit/>
          </a:bodyPr>
          <a:lstStyle/>
          <a:p>
            <a:pPr algn="l">
              <a:spcBef>
                <a:spcPts val="0"/>
              </a:spcBef>
              <a:spcAft>
                <a:spcPts val="0"/>
              </a:spcAft>
            </a:pPr>
            <a:r>
              <a:rPr sz="900" b="0" i="0">
                <a:solidFill>
                  <a:srgbClr val="5C7079"/>
                </a:solidFill>
                <a:latin typeface="Calibri"/>
              </a:rPr>
              <a:t>Business Intelligence  |  Session 6 — Data Warehousing &amp; OLTP/OLAP  |  IILM Jaipur, MBA</a:t>
            </a:r>
          </a:p>
        </p:txBody>
      </p:sp>
      <p:sp>
        <p:nvSpPr>
          <p:cNvPr id="6" name="TextBox 5"/>
          <p:cNvSpPr txBox="1"/>
          <p:nvPr/>
        </p:nvSpPr>
        <p:spPr>
          <a:xfrm>
            <a:off x="10545775" y="6382512"/>
            <a:ext cx="1097280" cy="256032"/>
          </a:xfrm>
          <a:prstGeom prst="rect">
            <a:avLst/>
          </a:prstGeom>
          <a:noFill/>
        </p:spPr>
        <p:txBody>
          <a:bodyPr wrap="square" lIns="0" rIns="0" tIns="0" bIns="0" anchor="t">
            <a:spAutoFit/>
          </a:bodyPr>
          <a:lstStyle/>
          <a:p>
            <a:pPr algn="r">
              <a:spcBef>
                <a:spcPts val="0"/>
              </a:spcBef>
              <a:spcAft>
                <a:spcPts val="0"/>
              </a:spcAft>
            </a:pPr>
            <a:r>
              <a:rPr sz="950" b="1" i="0">
                <a:solidFill>
                  <a:srgbClr val="1B7F79"/>
                </a:solidFill>
                <a:latin typeface="Calibri"/>
              </a:rPr>
              <a:t>9</a:t>
            </a:r>
          </a:p>
        </p:txBody>
      </p:sp>
      <p:sp>
        <p:nvSpPr>
          <p:cNvPr id="7" name="Rounded Rectangle 6"/>
          <p:cNvSpPr/>
          <p:nvPr/>
        </p:nvSpPr>
        <p:spPr>
          <a:xfrm>
            <a:off x="548640" y="1298448"/>
            <a:ext cx="11094415" cy="1298448"/>
          </a:xfrm>
          <a:prstGeom prst="roundRect">
            <a:avLst>
              <a:gd name="adj" fmla="val 6000"/>
            </a:avLst>
          </a:prstGeom>
          <a:solidFill>
            <a:srgbClr val="FFFFFF"/>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48640" y="1481328"/>
            <a:ext cx="1828800" cy="274320"/>
          </a:xfrm>
          <a:prstGeom prst="rect">
            <a:avLst/>
          </a:prstGeom>
          <a:noFill/>
        </p:spPr>
        <p:txBody>
          <a:bodyPr wrap="square" lIns="0" rIns="0" tIns="0" bIns="0" anchor="t">
            <a:spAutoFit/>
          </a:bodyPr>
          <a:lstStyle/>
          <a:p>
            <a:pPr algn="l">
              <a:spcBef>
                <a:spcPts val="0"/>
              </a:spcBef>
              <a:spcAft>
                <a:spcPts val="0"/>
              </a:spcAft>
            </a:pPr>
            <a:r>
              <a:rPr sz="1300" b="1" i="0">
                <a:solidFill>
                  <a:srgbClr val="123B47"/>
                </a:solidFill>
                <a:latin typeface="Calibri"/>
              </a:rPr>
              <a:t>ETL</a:t>
            </a:r>
          </a:p>
        </p:txBody>
      </p:sp>
      <p:sp>
        <p:nvSpPr>
          <p:cNvPr id="9" name="Rounded Rectangle 8"/>
          <p:cNvSpPr/>
          <p:nvPr/>
        </p:nvSpPr>
        <p:spPr>
          <a:xfrm>
            <a:off x="2423160" y="1435608"/>
            <a:ext cx="1481328" cy="475488"/>
          </a:xfrm>
          <a:prstGeom prst="roundRect">
            <a:avLst>
              <a:gd name="adj" fmla="val 20000"/>
            </a:avLst>
          </a:prstGeom>
          <a:solidFill>
            <a:srgbClr val="1B7F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050" b="1" i="0">
                <a:solidFill>
                  <a:srgbClr val="FFFFFF"/>
                </a:solidFill>
                <a:latin typeface="Calibri"/>
              </a:rPr>
              <a:t>Extract</a:t>
            </a:r>
          </a:p>
        </p:txBody>
      </p:sp>
      <p:sp>
        <p:nvSpPr>
          <p:cNvPr id="10" name="Right Arrow 9"/>
          <p:cNvSpPr/>
          <p:nvPr/>
        </p:nvSpPr>
        <p:spPr>
          <a:xfrm>
            <a:off x="3959351" y="1563624"/>
            <a:ext cx="274320" cy="219456"/>
          </a:xfrm>
          <a:prstGeom prst="rightArrow">
            <a:avLst/>
          </a:prstGeom>
          <a:solidFill>
            <a:srgbClr val="5C70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288536" y="1435608"/>
            <a:ext cx="1481328" cy="475488"/>
          </a:xfrm>
          <a:prstGeom prst="roundRect">
            <a:avLst>
              <a:gd name="adj" fmla="val 20000"/>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050" b="1" i="0">
                <a:solidFill>
                  <a:srgbClr val="3A2703"/>
                </a:solidFill>
                <a:latin typeface="Calibri"/>
              </a:rPr>
              <a:t>Transform</a:t>
            </a:r>
          </a:p>
        </p:txBody>
      </p:sp>
      <p:sp>
        <p:nvSpPr>
          <p:cNvPr id="12" name="Right Arrow 11"/>
          <p:cNvSpPr/>
          <p:nvPr/>
        </p:nvSpPr>
        <p:spPr>
          <a:xfrm>
            <a:off x="5824727" y="1563624"/>
            <a:ext cx="274320" cy="219456"/>
          </a:xfrm>
          <a:prstGeom prst="rightArrow">
            <a:avLst/>
          </a:prstGeom>
          <a:solidFill>
            <a:srgbClr val="5C70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153912" y="1435608"/>
            <a:ext cx="1481328" cy="475488"/>
          </a:xfrm>
          <a:prstGeom prst="roundRect">
            <a:avLst>
              <a:gd name="adj" fmla="val 20000"/>
            </a:avLst>
          </a:prstGeom>
          <a:solidFill>
            <a:srgbClr val="123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050" b="1" i="0">
                <a:solidFill>
                  <a:srgbClr val="FFFFFF"/>
                </a:solidFill>
                <a:latin typeface="Calibri"/>
              </a:rPr>
              <a:t>Load</a:t>
            </a:r>
          </a:p>
        </p:txBody>
      </p:sp>
      <p:sp>
        <p:nvSpPr>
          <p:cNvPr id="14" name="TextBox 13"/>
          <p:cNvSpPr txBox="1"/>
          <p:nvPr/>
        </p:nvSpPr>
        <p:spPr>
          <a:xfrm>
            <a:off x="8019288" y="1499616"/>
            <a:ext cx="3623767" cy="402336"/>
          </a:xfrm>
          <a:prstGeom prst="rect">
            <a:avLst/>
          </a:prstGeom>
          <a:noFill/>
        </p:spPr>
        <p:txBody>
          <a:bodyPr wrap="square" lIns="0" rIns="0" tIns="0" bIns="0" anchor="ctr">
            <a:spAutoFit/>
          </a:bodyPr>
          <a:lstStyle/>
          <a:p>
            <a:pPr algn="l">
              <a:lnSpc>
                <a:spcPct val="112000"/>
              </a:lnSpc>
              <a:spcBef>
                <a:spcPts val="0"/>
              </a:spcBef>
              <a:spcAft>
                <a:spcPts val="0"/>
              </a:spcAft>
            </a:pPr>
            <a:r>
              <a:rPr sz="900" b="0" i="0">
                <a:solidFill>
                  <a:srgbClr val="2E3F47"/>
                </a:solidFill>
                <a:latin typeface="Calibri"/>
              </a:rPr>
              <a:t>Transform on a dedicated server; only conformed, validated data ever reaches the warehouse.</a:t>
            </a:r>
          </a:p>
        </p:txBody>
      </p:sp>
      <p:sp>
        <p:nvSpPr>
          <p:cNvPr id="15" name="TextBox 14"/>
          <p:cNvSpPr txBox="1"/>
          <p:nvPr/>
        </p:nvSpPr>
        <p:spPr>
          <a:xfrm>
            <a:off x="548640" y="2084831"/>
            <a:ext cx="1828800" cy="274320"/>
          </a:xfrm>
          <a:prstGeom prst="rect">
            <a:avLst/>
          </a:prstGeom>
          <a:noFill/>
        </p:spPr>
        <p:txBody>
          <a:bodyPr wrap="square" lIns="0" rIns="0" tIns="0" bIns="0" anchor="t">
            <a:spAutoFit/>
          </a:bodyPr>
          <a:lstStyle/>
          <a:p>
            <a:pPr algn="l">
              <a:spcBef>
                <a:spcPts val="0"/>
              </a:spcBef>
              <a:spcAft>
                <a:spcPts val="0"/>
              </a:spcAft>
            </a:pPr>
            <a:r>
              <a:rPr sz="1300" b="1" i="0">
                <a:solidFill>
                  <a:srgbClr val="123B47"/>
                </a:solidFill>
                <a:latin typeface="Calibri"/>
              </a:rPr>
              <a:t>ELT</a:t>
            </a:r>
          </a:p>
        </p:txBody>
      </p:sp>
      <p:sp>
        <p:nvSpPr>
          <p:cNvPr id="16" name="Rounded Rectangle 15"/>
          <p:cNvSpPr/>
          <p:nvPr/>
        </p:nvSpPr>
        <p:spPr>
          <a:xfrm>
            <a:off x="2423160" y="2039112"/>
            <a:ext cx="1481328" cy="475488"/>
          </a:xfrm>
          <a:prstGeom prst="roundRect">
            <a:avLst>
              <a:gd name="adj" fmla="val 20000"/>
            </a:avLst>
          </a:prstGeom>
          <a:solidFill>
            <a:srgbClr val="1B7F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050" b="1" i="0">
                <a:solidFill>
                  <a:srgbClr val="FFFFFF"/>
                </a:solidFill>
                <a:latin typeface="Calibri"/>
              </a:rPr>
              <a:t>Extract</a:t>
            </a:r>
          </a:p>
        </p:txBody>
      </p:sp>
      <p:sp>
        <p:nvSpPr>
          <p:cNvPr id="17" name="Right Arrow 16"/>
          <p:cNvSpPr/>
          <p:nvPr/>
        </p:nvSpPr>
        <p:spPr>
          <a:xfrm>
            <a:off x="3959351" y="2167127"/>
            <a:ext cx="274320" cy="219456"/>
          </a:xfrm>
          <a:prstGeom prst="rightArrow">
            <a:avLst/>
          </a:prstGeom>
          <a:solidFill>
            <a:srgbClr val="5C70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288536" y="2039112"/>
            <a:ext cx="1481328" cy="475488"/>
          </a:xfrm>
          <a:prstGeom prst="roundRect">
            <a:avLst>
              <a:gd name="adj" fmla="val 20000"/>
            </a:avLst>
          </a:prstGeom>
          <a:solidFill>
            <a:srgbClr val="123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050" b="1" i="0">
                <a:solidFill>
                  <a:srgbClr val="FFFFFF"/>
                </a:solidFill>
                <a:latin typeface="Calibri"/>
              </a:rPr>
              <a:t>Load</a:t>
            </a:r>
          </a:p>
        </p:txBody>
      </p:sp>
      <p:sp>
        <p:nvSpPr>
          <p:cNvPr id="19" name="Right Arrow 18"/>
          <p:cNvSpPr/>
          <p:nvPr/>
        </p:nvSpPr>
        <p:spPr>
          <a:xfrm>
            <a:off x="5824727" y="2167127"/>
            <a:ext cx="274320" cy="219456"/>
          </a:xfrm>
          <a:prstGeom prst="rightArrow">
            <a:avLst/>
          </a:prstGeom>
          <a:solidFill>
            <a:srgbClr val="5C70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153912" y="2039112"/>
            <a:ext cx="1481328" cy="475488"/>
          </a:xfrm>
          <a:prstGeom prst="roundRect">
            <a:avLst>
              <a:gd name="adj" fmla="val 20000"/>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1050" b="1" i="0">
                <a:solidFill>
                  <a:srgbClr val="3A2703"/>
                </a:solidFill>
                <a:latin typeface="Calibri"/>
              </a:rPr>
              <a:t>Transform</a:t>
            </a:r>
          </a:p>
        </p:txBody>
      </p:sp>
      <p:sp>
        <p:nvSpPr>
          <p:cNvPr id="21" name="TextBox 20"/>
          <p:cNvSpPr txBox="1"/>
          <p:nvPr/>
        </p:nvSpPr>
        <p:spPr>
          <a:xfrm>
            <a:off x="8019288" y="2103120"/>
            <a:ext cx="3623767" cy="402336"/>
          </a:xfrm>
          <a:prstGeom prst="rect">
            <a:avLst/>
          </a:prstGeom>
          <a:noFill/>
        </p:spPr>
        <p:txBody>
          <a:bodyPr wrap="square" lIns="0" rIns="0" tIns="0" bIns="0" anchor="ctr">
            <a:spAutoFit/>
          </a:bodyPr>
          <a:lstStyle/>
          <a:p>
            <a:pPr algn="l">
              <a:lnSpc>
                <a:spcPct val="112000"/>
              </a:lnSpc>
              <a:spcBef>
                <a:spcPts val="0"/>
              </a:spcBef>
              <a:spcAft>
                <a:spcPts val="0"/>
              </a:spcAft>
            </a:pPr>
            <a:r>
              <a:rPr sz="900" b="0" i="0">
                <a:solidFill>
                  <a:srgbClr val="2E3F47"/>
                </a:solidFill>
                <a:latin typeface="Calibri"/>
              </a:rPr>
              <a:t>Land raw data first; transform with the warehouse's own elastic engine, and re-run when logic changes.</a:t>
            </a:r>
          </a:p>
        </p:txBody>
      </p:sp>
      <p:graphicFrame>
        <p:nvGraphicFramePr>
          <p:cNvPr id="22" name="Table 21"/>
          <p:cNvGraphicFramePr>
            <a:graphicFrameLocks noGrp="1"/>
          </p:cNvGraphicFramePr>
          <p:nvPr/>
        </p:nvGraphicFramePr>
        <p:xfrm>
          <a:off x="548640" y="2834640"/>
          <a:ext cx="6903720" cy="1920240"/>
        </p:xfrm>
        <a:graphic>
          <a:graphicData uri="http://schemas.openxmlformats.org/drawingml/2006/table">
            <a:tbl>
              <a:tblPr firstRow="1" bandRow="1">
                <a:tableStyleId>{5C22544A-7EE6-4342-B048-85BDC9FD1C3A}</a:tableStyleId>
              </a:tblPr>
              <a:tblGrid>
                <a:gridCol w="3451860"/>
                <a:gridCol w="3451860"/>
              </a:tblGrid>
              <a:tr h="384048">
                <a:tc>
                  <a:txBody>
                    <a:bodyPr/>
                    <a:lstStyle/>
                    <a:p>
                      <a:pPr>
                        <a:lnSpc>
                          <a:spcPct val="105000"/>
                        </a:lnSpc>
                      </a:pPr>
                      <a:r>
                        <a:rPr sz="1000" b="1">
                          <a:solidFill>
                            <a:srgbClr val="FFFFFF"/>
                          </a:solidFill>
                          <a:latin typeface="Calibri"/>
                        </a:rPr>
                        <a:t>Choose ETL when…</a:t>
                      </a:r>
                    </a:p>
                  </a:txBody>
                  <a:tcPr marL="82296" marR="82296" marT="41148" marB="41148" anchor="ctr">
                    <a:solidFill>
                      <a:srgbClr val="123B47"/>
                    </a:solidFill>
                  </a:tcPr>
                </a:tc>
                <a:tc>
                  <a:txBody>
                    <a:bodyPr/>
                    <a:lstStyle/>
                    <a:p>
                      <a:pPr>
                        <a:lnSpc>
                          <a:spcPct val="105000"/>
                        </a:lnSpc>
                      </a:pPr>
                      <a:r>
                        <a:rPr sz="1000" b="1">
                          <a:solidFill>
                            <a:srgbClr val="FFFFFF"/>
                          </a:solidFill>
                          <a:latin typeface="Calibri"/>
                        </a:rPr>
                        <a:t>Choose ELT when…</a:t>
                      </a:r>
                    </a:p>
                  </a:txBody>
                  <a:tcPr marL="82296" marR="82296" marT="41148" marB="41148" anchor="ctr">
                    <a:solidFill>
                      <a:srgbClr val="123B47"/>
                    </a:solidFill>
                  </a:tcPr>
                </a:tc>
              </a:tr>
              <a:tr h="384048">
                <a:tc>
                  <a:txBody>
                    <a:bodyPr/>
                    <a:lstStyle/>
                    <a:p>
                      <a:pPr>
                        <a:lnSpc>
                          <a:spcPct val="105000"/>
                        </a:lnSpc>
                      </a:pPr>
                      <a:r>
                        <a:rPr sz="900" b="0">
                          <a:solidFill>
                            <a:srgbClr val="2E3F47"/>
                          </a:solidFill>
                          <a:latin typeface="Calibri"/>
                        </a:rPr>
                        <a:t>Regulation forbids landing raw personal data</a:t>
                      </a:r>
                    </a:p>
                  </a:txBody>
                  <a:tcPr marL="82296" marR="82296" marT="41148" marB="41148" anchor="ctr">
                    <a:solidFill>
                      <a:srgbClr val="FFFFFF"/>
                    </a:solidFill>
                  </a:tcPr>
                </a:tc>
                <a:tc>
                  <a:txBody>
                    <a:bodyPr/>
                    <a:lstStyle/>
                    <a:p>
                      <a:pPr>
                        <a:lnSpc>
                          <a:spcPct val="105000"/>
                        </a:lnSpc>
                      </a:pPr>
                      <a:r>
                        <a:rPr sz="900" b="0">
                          <a:solidFill>
                            <a:srgbClr val="2E3F47"/>
                          </a:solidFill>
                          <a:latin typeface="Calibri"/>
                        </a:rPr>
                        <a:t>The platform is cloud-native with elastic compute</a:t>
                      </a:r>
                    </a:p>
                  </a:txBody>
                  <a:tcPr marL="82296" marR="82296" marT="41148" marB="41148" anchor="ctr">
                    <a:solidFill>
                      <a:srgbClr val="FFFFFF"/>
                    </a:solidFill>
                  </a:tcPr>
                </a:tc>
              </a:tr>
              <a:tr h="384048">
                <a:tc>
                  <a:txBody>
                    <a:bodyPr/>
                    <a:lstStyle/>
                    <a:p>
                      <a:pPr>
                        <a:lnSpc>
                          <a:spcPct val="105000"/>
                        </a:lnSpc>
                      </a:pPr>
                      <a:r>
                        <a:rPr sz="900" b="0">
                          <a:solidFill>
                            <a:srgbClr val="2E3F47"/>
                          </a:solidFill>
                          <a:latin typeface="Calibri"/>
                        </a:rPr>
                        <a:t>Sensitive fields must be masked before crossing a boundary</a:t>
                      </a:r>
                    </a:p>
                  </a:txBody>
                  <a:tcPr marL="82296" marR="82296" marT="41148" marB="41148" anchor="ctr">
                    <a:solidFill>
                      <a:srgbClr val="F1F5F4"/>
                    </a:solidFill>
                  </a:tcPr>
                </a:tc>
                <a:tc>
                  <a:txBody>
                    <a:bodyPr/>
                    <a:lstStyle/>
                    <a:p>
                      <a:pPr>
                        <a:lnSpc>
                          <a:spcPct val="105000"/>
                        </a:lnSpc>
                      </a:pPr>
                      <a:r>
                        <a:rPr sz="900" b="0">
                          <a:solidFill>
                            <a:srgbClr val="2E3F47"/>
                          </a:solidFill>
                          <a:latin typeface="Calibri"/>
                        </a:rPr>
                        <a:t>Future uses of the source are not yet known</a:t>
                      </a:r>
                    </a:p>
                  </a:txBody>
                  <a:tcPr marL="82296" marR="82296" marT="41148" marB="41148" anchor="ctr">
                    <a:solidFill>
                      <a:srgbClr val="F1F5F4"/>
                    </a:solidFill>
                  </a:tcPr>
                </a:tc>
              </a:tr>
              <a:tr h="384048">
                <a:tc>
                  <a:txBody>
                    <a:bodyPr/>
                    <a:lstStyle/>
                    <a:p>
                      <a:pPr>
                        <a:lnSpc>
                          <a:spcPct val="105000"/>
                        </a:lnSpc>
                      </a:pPr>
                      <a:r>
                        <a:rPr sz="900" b="0">
                          <a:solidFill>
                            <a:srgbClr val="2E3F47"/>
                          </a:solidFill>
                          <a:latin typeface="Calibri"/>
                        </a:rPr>
                        <a:t>The warehouse has fixed, limited compute</a:t>
                      </a:r>
                    </a:p>
                  </a:txBody>
                  <a:tcPr marL="82296" marR="82296" marT="41148" marB="41148" anchor="ctr">
                    <a:solidFill>
                      <a:srgbClr val="FFFFFF"/>
                    </a:solidFill>
                  </a:tcPr>
                </a:tc>
                <a:tc>
                  <a:txBody>
                    <a:bodyPr/>
                    <a:lstStyle/>
                    <a:p>
                      <a:pPr>
                        <a:lnSpc>
                          <a:spcPct val="105000"/>
                        </a:lnSpc>
                      </a:pPr>
                      <a:r>
                        <a:rPr sz="900" b="0">
                          <a:solidFill>
                            <a:srgbClr val="2E3F47"/>
                          </a:solidFill>
                          <a:latin typeface="Calibri"/>
                        </a:rPr>
                        <a:t>Transformation logic should live in version-controlled SQL</a:t>
                      </a:r>
                    </a:p>
                  </a:txBody>
                  <a:tcPr marL="82296" marR="82296" marT="41148" marB="41148" anchor="ctr">
                    <a:solidFill>
                      <a:srgbClr val="FFFFFF"/>
                    </a:solidFill>
                  </a:tcPr>
                </a:tc>
              </a:tr>
              <a:tr h="384048">
                <a:tc>
                  <a:txBody>
                    <a:bodyPr/>
                    <a:lstStyle/>
                    <a:p>
                      <a:pPr>
                        <a:lnSpc>
                          <a:spcPct val="105000"/>
                        </a:lnSpc>
                      </a:pPr>
                      <a:r>
                        <a:rPr sz="900" b="0">
                          <a:solidFill>
                            <a:srgbClr val="2E3F47"/>
                          </a:solidFill>
                          <a:latin typeface="Calibri"/>
                        </a:rPr>
                        <a:t>Heavy matching and cleansing is needed before storage</a:t>
                      </a:r>
                    </a:p>
                  </a:txBody>
                  <a:tcPr marL="82296" marR="82296" marT="41148" marB="41148" anchor="ctr">
                    <a:solidFill>
                      <a:srgbClr val="F1F5F4"/>
                    </a:solidFill>
                  </a:tcPr>
                </a:tc>
                <a:tc>
                  <a:txBody>
                    <a:bodyPr/>
                    <a:lstStyle/>
                    <a:p>
                      <a:pPr>
                        <a:lnSpc>
                          <a:spcPct val="105000"/>
                        </a:lnSpc>
                      </a:pPr>
                      <a:r>
                        <a:rPr sz="900" b="0">
                          <a:solidFill>
                            <a:srgbClr val="2E3F47"/>
                          </a:solidFill>
                          <a:latin typeface="Calibri"/>
                        </a:rPr>
                        <a:t>Raw data must be retained so loads can be corrected and re-run</a:t>
                      </a:r>
                    </a:p>
                  </a:txBody>
                  <a:tcPr marL="82296" marR="82296" marT="41148" marB="41148" anchor="ctr">
                    <a:solidFill>
                      <a:srgbClr val="F1F5F4"/>
                    </a:solidFill>
                  </a:tcPr>
                </a:tc>
              </a:tr>
            </a:tbl>
          </a:graphicData>
        </a:graphic>
      </p:graphicFrame>
      <p:sp>
        <p:nvSpPr>
          <p:cNvPr id="23" name="Rounded Rectangle 22"/>
          <p:cNvSpPr/>
          <p:nvPr/>
        </p:nvSpPr>
        <p:spPr>
          <a:xfrm>
            <a:off x="7635240" y="2834640"/>
            <a:ext cx="4005072" cy="1078992"/>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818120" y="2926080"/>
            <a:ext cx="3657600" cy="219456"/>
          </a:xfrm>
          <a:prstGeom prst="rect">
            <a:avLst/>
          </a:prstGeom>
          <a:noFill/>
        </p:spPr>
        <p:txBody>
          <a:bodyPr wrap="square" lIns="0" rIns="0" tIns="0" bIns="0" anchor="t">
            <a:spAutoFit/>
          </a:bodyPr>
          <a:lstStyle/>
          <a:p>
            <a:pPr algn="l">
              <a:spcBef>
                <a:spcPts val="0"/>
              </a:spcBef>
              <a:spcAft>
                <a:spcPts val="0"/>
              </a:spcAft>
            </a:pPr>
            <a:r>
              <a:rPr sz="1150" b="1" i="0">
                <a:solidFill>
                  <a:srgbClr val="123B47"/>
                </a:solidFill>
                <a:latin typeface="Calibri"/>
              </a:rPr>
              <a:t>Load patterns to name</a:t>
            </a:r>
          </a:p>
        </p:txBody>
      </p:sp>
      <p:sp>
        <p:nvSpPr>
          <p:cNvPr id="25" name="TextBox 24"/>
          <p:cNvSpPr txBox="1"/>
          <p:nvPr/>
        </p:nvSpPr>
        <p:spPr>
          <a:xfrm>
            <a:off x="7818120" y="3182112"/>
            <a:ext cx="3657600" cy="566928"/>
          </a:xfrm>
          <a:prstGeom prst="rect">
            <a:avLst/>
          </a:prstGeom>
          <a:noFill/>
        </p:spPr>
        <p:txBody>
          <a:bodyPr wrap="square" lIns="0" rIns="0" tIns="0" bIns="0" anchor="t">
            <a:spAutoFit/>
          </a:bodyPr>
          <a:lstStyle/>
          <a:p>
            <a:pPr algn="l">
              <a:lnSpc>
                <a:spcPct val="112000"/>
              </a:lnSpc>
              <a:spcAft>
                <a:spcPts val="200"/>
              </a:spcAft>
            </a:pPr>
            <a:r>
              <a:rPr sz="850">
                <a:solidFill>
                  <a:srgbClr val="E8A33D"/>
                </a:solidFill>
                <a:latin typeface="Calibri"/>
              </a:rPr>
              <a:t>▪  </a:t>
            </a:r>
            <a:r>
              <a:rPr sz="850" b="1">
                <a:solidFill>
                  <a:srgbClr val="123B47"/>
                </a:solidFill>
                <a:latin typeface="Calibri"/>
              </a:rPr>
              <a:t>Full reload — </a:t>
            </a:r>
            <a:r>
              <a:rPr sz="850">
                <a:solidFill>
                  <a:srgbClr val="2E3F47"/>
                </a:solidFill>
                <a:latin typeface="Calibri"/>
              </a:rPr>
              <a:t>safe for small dimensions, not for facts</a:t>
            </a:r>
          </a:p>
          <a:p>
            <a:pPr>
              <a:lnSpc>
                <a:spcPct val="112000"/>
              </a:lnSpc>
              <a:spcAft>
                <a:spcPts val="200"/>
              </a:spcAft>
            </a:pPr>
            <a:r>
              <a:rPr sz="850">
                <a:solidFill>
                  <a:srgbClr val="E8A33D"/>
                </a:solidFill>
                <a:latin typeface="Calibri"/>
              </a:rPr>
              <a:t>▪  </a:t>
            </a:r>
            <a:r>
              <a:rPr sz="850" b="1">
                <a:solidFill>
                  <a:srgbClr val="123B47"/>
                </a:solidFill>
                <a:latin typeface="Calibri"/>
              </a:rPr>
              <a:t>Incremental — </a:t>
            </a:r>
            <a:r>
              <a:rPr sz="850">
                <a:solidFill>
                  <a:srgbClr val="2E3F47"/>
                </a:solidFill>
                <a:latin typeface="Calibri"/>
              </a:rPr>
              <a:t>only rows changed since a watermark</a:t>
            </a:r>
          </a:p>
          <a:p>
            <a:pPr>
              <a:lnSpc>
                <a:spcPct val="112000"/>
              </a:lnSpc>
              <a:spcAft>
                <a:spcPts val="200"/>
              </a:spcAft>
            </a:pPr>
            <a:r>
              <a:rPr sz="850">
                <a:solidFill>
                  <a:srgbClr val="E8A33D"/>
                </a:solidFill>
                <a:latin typeface="Calibri"/>
              </a:rPr>
              <a:t>▪  </a:t>
            </a:r>
            <a:r>
              <a:rPr sz="850" b="1">
                <a:solidFill>
                  <a:srgbClr val="123B47"/>
                </a:solidFill>
                <a:latin typeface="Calibri"/>
              </a:rPr>
              <a:t>CDC — </a:t>
            </a:r>
            <a:r>
              <a:rPr sz="850">
                <a:solidFill>
                  <a:srgbClr val="2E3F47"/>
                </a:solidFill>
                <a:latin typeface="Calibri"/>
              </a:rPr>
              <a:t>reads the source log; also catches deletes</a:t>
            </a:r>
          </a:p>
        </p:txBody>
      </p:sp>
      <p:sp>
        <p:nvSpPr>
          <p:cNvPr id="26" name="Rounded Rectangle 25"/>
          <p:cNvSpPr/>
          <p:nvPr/>
        </p:nvSpPr>
        <p:spPr>
          <a:xfrm>
            <a:off x="7635240" y="3950208"/>
            <a:ext cx="4005072" cy="1078992"/>
          </a:xfrm>
          <a:prstGeom prst="roundRect">
            <a:avLst>
              <a:gd name="adj" fmla="val 6000"/>
            </a:avLst>
          </a:prstGeom>
          <a:solidFill>
            <a:srgbClr val="FFFFFF"/>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818120" y="4041648"/>
            <a:ext cx="3657600" cy="219456"/>
          </a:xfrm>
          <a:prstGeom prst="rect">
            <a:avLst/>
          </a:prstGeom>
          <a:noFill/>
        </p:spPr>
        <p:txBody>
          <a:bodyPr wrap="square" lIns="0" rIns="0" tIns="0" bIns="0" anchor="t">
            <a:spAutoFit/>
          </a:bodyPr>
          <a:lstStyle/>
          <a:p>
            <a:pPr algn="l">
              <a:spcBef>
                <a:spcPts val="0"/>
              </a:spcBef>
              <a:spcAft>
                <a:spcPts val="0"/>
              </a:spcAft>
            </a:pPr>
            <a:r>
              <a:rPr sz="1150" b="1" i="0">
                <a:solidFill>
                  <a:srgbClr val="123B47"/>
                </a:solidFill>
                <a:latin typeface="Calibri"/>
              </a:rPr>
              <a:t>Where loads go wrong</a:t>
            </a:r>
          </a:p>
        </p:txBody>
      </p:sp>
      <p:sp>
        <p:nvSpPr>
          <p:cNvPr id="28" name="TextBox 27"/>
          <p:cNvSpPr txBox="1"/>
          <p:nvPr/>
        </p:nvSpPr>
        <p:spPr>
          <a:xfrm>
            <a:off x="7818120" y="4297680"/>
            <a:ext cx="3657600" cy="566928"/>
          </a:xfrm>
          <a:prstGeom prst="rect">
            <a:avLst/>
          </a:prstGeom>
          <a:noFill/>
        </p:spPr>
        <p:txBody>
          <a:bodyPr wrap="square" lIns="0" rIns="0" tIns="0" bIns="0" anchor="t">
            <a:spAutoFit/>
          </a:bodyPr>
          <a:lstStyle/>
          <a:p>
            <a:pPr algn="l">
              <a:lnSpc>
                <a:spcPct val="112000"/>
              </a:lnSpc>
              <a:spcAft>
                <a:spcPts val="200"/>
              </a:spcAft>
            </a:pPr>
            <a:r>
              <a:rPr sz="850">
                <a:solidFill>
                  <a:srgbClr val="E8A33D"/>
                </a:solidFill>
                <a:latin typeface="Calibri"/>
              </a:rPr>
              <a:t>▪  </a:t>
            </a:r>
            <a:r>
              <a:rPr sz="850" b="1">
                <a:solidFill>
                  <a:srgbClr val="123B47"/>
                </a:solidFill>
                <a:latin typeface="Calibri"/>
              </a:rPr>
              <a:t>Late arrivals — </a:t>
            </a:r>
            <a:r>
              <a:rPr sz="850">
                <a:solidFill>
                  <a:srgbClr val="2E3F47"/>
                </a:solidFill>
                <a:latin typeface="Calibri"/>
              </a:rPr>
              <a:t>Monday's sale lands on Thursday</a:t>
            </a:r>
          </a:p>
          <a:p>
            <a:pPr>
              <a:lnSpc>
                <a:spcPct val="112000"/>
              </a:lnSpc>
              <a:spcAft>
                <a:spcPts val="200"/>
              </a:spcAft>
            </a:pPr>
            <a:r>
              <a:rPr sz="850">
                <a:solidFill>
                  <a:srgbClr val="E8A33D"/>
                </a:solidFill>
                <a:latin typeface="Calibri"/>
              </a:rPr>
              <a:t>▪  </a:t>
            </a:r>
            <a:r>
              <a:rPr sz="850" b="1">
                <a:solidFill>
                  <a:srgbClr val="123B47"/>
                </a:solidFill>
                <a:latin typeface="Calibri"/>
              </a:rPr>
              <a:t>Deletes — </a:t>
            </a:r>
            <a:r>
              <a:rPr sz="850">
                <a:solidFill>
                  <a:srgbClr val="2E3F47"/>
                </a:solidFill>
                <a:latin typeface="Calibri"/>
              </a:rPr>
              <a:t>removed at source, retained downstream</a:t>
            </a:r>
          </a:p>
          <a:p>
            <a:pPr>
              <a:lnSpc>
                <a:spcPct val="112000"/>
              </a:lnSpc>
              <a:spcAft>
                <a:spcPts val="200"/>
              </a:spcAft>
            </a:pPr>
            <a:r>
              <a:rPr sz="850">
                <a:solidFill>
                  <a:srgbClr val="E8A33D"/>
                </a:solidFill>
                <a:latin typeface="Calibri"/>
              </a:rPr>
              <a:t>▪  </a:t>
            </a:r>
            <a:r>
              <a:rPr sz="850" b="1">
                <a:solidFill>
                  <a:srgbClr val="123B47"/>
                </a:solidFill>
                <a:latin typeface="Calibri"/>
              </a:rPr>
              <a:t>Restatement — </a:t>
            </a:r>
            <a:r>
              <a:rPr sz="850">
                <a:solidFill>
                  <a:srgbClr val="2E3F47"/>
                </a:solidFill>
                <a:latin typeface="Calibri"/>
              </a:rPr>
              <a:t>source corrects last month's figure</a:t>
            </a:r>
          </a:p>
        </p:txBody>
      </p:sp>
      <p:sp>
        <p:nvSpPr>
          <p:cNvPr id="29" name="Rounded Rectangle 28"/>
          <p:cNvSpPr/>
          <p:nvPr/>
        </p:nvSpPr>
        <p:spPr>
          <a:xfrm>
            <a:off x="548640" y="5138928"/>
            <a:ext cx="11094415" cy="548640"/>
          </a:xfrm>
          <a:prstGeom prst="roundRect">
            <a:avLst>
              <a:gd name="adj" fmla="val 6000"/>
            </a:avLst>
          </a:prstGeom>
          <a:solidFill>
            <a:srgbClr val="123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768096" y="5239512"/>
            <a:ext cx="10655503" cy="347472"/>
          </a:xfrm>
          <a:prstGeom prst="rect">
            <a:avLst/>
          </a:prstGeom>
          <a:noFill/>
        </p:spPr>
        <p:txBody>
          <a:bodyPr wrap="square" lIns="0" rIns="0" tIns="0" bIns="0" anchor="ctr">
            <a:spAutoFit/>
          </a:bodyPr>
          <a:lstStyle/>
          <a:p>
            <a:pPr algn="l">
              <a:lnSpc>
                <a:spcPct val="114000"/>
              </a:lnSpc>
            </a:pPr>
            <a:r>
              <a:rPr sz="1100" b="1">
                <a:solidFill>
                  <a:srgbClr val="E8A33D"/>
                </a:solidFill>
                <a:latin typeface="Calibri"/>
              </a:rPr>
              <a:t>How to choose, in one sentence.  </a:t>
            </a:r>
            <a:r>
              <a:rPr sz="1100">
                <a:solidFill>
                  <a:srgbClr val="FFFFFF"/>
                </a:solidFill>
                <a:latin typeface="Calibri"/>
              </a:rPr>
              <a:t>ELT is now the cloud default: cheaper, it preserves the raw record for re-processing, and it keeps logic in version-controlled SQL beside the data. ETL survives where raw data may not be landed at all.</a:t>
            </a:r>
          </a:p>
        </p:txBody>
      </p:sp>
      <p:sp>
        <p:nvSpPr>
          <p:cNvPr id="31" name="Rounded Rectangle 30"/>
          <p:cNvSpPr/>
          <p:nvPr/>
        </p:nvSpPr>
        <p:spPr>
          <a:xfrm>
            <a:off x="548640" y="5833872"/>
            <a:ext cx="11094415" cy="475488"/>
          </a:xfrm>
          <a:prstGeom prst="roundRect">
            <a:avLst>
              <a:gd name="adj" fmla="val 6000"/>
            </a:avLst>
          </a:prstGeom>
          <a:solidFill>
            <a:srgbClr val="FFFFFF"/>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68096" y="5888736"/>
            <a:ext cx="10655503" cy="365760"/>
          </a:xfrm>
          <a:prstGeom prst="rect">
            <a:avLst/>
          </a:prstGeom>
          <a:noFill/>
        </p:spPr>
        <p:txBody>
          <a:bodyPr wrap="square" lIns="0" rIns="0" tIns="0" bIns="0" anchor="ctr">
            <a:spAutoFit/>
          </a:bodyPr>
          <a:lstStyle/>
          <a:p>
            <a:pPr algn="l">
              <a:spcBef>
                <a:spcPts val="0"/>
              </a:spcBef>
              <a:spcAft>
                <a:spcPts val="0"/>
              </a:spcAft>
            </a:pPr>
            <a:r>
              <a:rPr sz="950" b="0" i="0">
                <a:solidFill>
                  <a:srgbClr val="5C7079"/>
                </a:solidFill>
                <a:latin typeface="Calibri"/>
              </a:rPr>
              <a:t>The non-negotiable:  every load must be idempotent — running it twice must not double the data. This is tested, not assumed.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bg>
    <p:bgPr>
      <a:solidFill>
        <a:srgbClr val="FFFFFF"/>
      </a:solidFill>
      <a:effectLst/>
    </p:bgPr>
  </p:bg>
  <p:cSld>
    <p:spTree>
      <p:nvGrpSpPr>
        <p:cNvPr id="1" name=""/>
        <p:cNvGrpSpPr/>
        <p:nvPr/>
      </p:nvGrpSpPr>
      <p:grpSpPr/>
      <p:sp>
        <p:nvSpPr>
          <p:cNvPr id="2" name="Oval 1"/>
          <p:cNvSpPr/>
          <p:nvPr/>
        </p:nvSpPr>
        <p:spPr>
          <a:xfrm>
            <a:off x="548640" y="374904"/>
            <a:ext cx="109728" cy="109728"/>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283464"/>
            <a:ext cx="10893247" cy="256032"/>
          </a:xfrm>
          <a:prstGeom prst="rect">
            <a:avLst/>
          </a:prstGeom>
          <a:noFill/>
        </p:spPr>
        <p:txBody>
          <a:bodyPr wrap="square" lIns="0" rIns="0" tIns="0" bIns="0" anchor="t">
            <a:spAutoFit/>
          </a:bodyPr>
          <a:lstStyle/>
          <a:p>
            <a:pPr algn="l">
              <a:spcBef>
                <a:spcPts val="0"/>
              </a:spcBef>
              <a:spcAft>
                <a:spcPts val="0"/>
              </a:spcAft>
            </a:pPr>
            <a:r>
              <a:rPr sz="1000" b="1" i="0">
                <a:solidFill>
                  <a:srgbClr val="B87A1E"/>
                </a:solidFill>
                <a:latin typeface="Calibri"/>
              </a:rPr>
              <a:t>PART 3 · APPROACHES</a:t>
            </a:r>
          </a:p>
        </p:txBody>
      </p:sp>
      <p:sp>
        <p:nvSpPr>
          <p:cNvPr id="4" name="TextBox 3"/>
          <p:cNvSpPr txBox="1"/>
          <p:nvPr/>
        </p:nvSpPr>
        <p:spPr>
          <a:xfrm>
            <a:off x="548640" y="548640"/>
            <a:ext cx="11094415" cy="640080"/>
          </a:xfrm>
          <a:prstGeom prst="rect">
            <a:avLst/>
          </a:prstGeom>
          <a:noFill/>
        </p:spPr>
        <p:txBody>
          <a:bodyPr wrap="square" lIns="0" rIns="0" tIns="0" bIns="0" anchor="t">
            <a:spAutoFit/>
          </a:bodyPr>
          <a:lstStyle/>
          <a:p>
            <a:pPr algn="l">
              <a:spcBef>
                <a:spcPts val="0"/>
              </a:spcBef>
              <a:spcAft>
                <a:spcPts val="0"/>
              </a:spcAft>
            </a:pPr>
            <a:r>
              <a:rPr sz="2600" b="1" i="0">
                <a:solidFill>
                  <a:srgbClr val="123B47"/>
                </a:solidFill>
                <a:latin typeface="Cambria"/>
              </a:rPr>
              <a:t>Inmon, Kimball and Data Vault — choosing a route</a:t>
            </a:r>
          </a:p>
        </p:txBody>
      </p:sp>
      <p:sp>
        <p:nvSpPr>
          <p:cNvPr id="5" name="TextBox 4"/>
          <p:cNvSpPr txBox="1"/>
          <p:nvPr/>
        </p:nvSpPr>
        <p:spPr>
          <a:xfrm>
            <a:off x="548640" y="6382512"/>
            <a:ext cx="8686800" cy="256032"/>
          </a:xfrm>
          <a:prstGeom prst="rect">
            <a:avLst/>
          </a:prstGeom>
          <a:noFill/>
        </p:spPr>
        <p:txBody>
          <a:bodyPr wrap="square" lIns="0" rIns="0" tIns="0" bIns="0" anchor="t">
            <a:spAutoFit/>
          </a:bodyPr>
          <a:lstStyle/>
          <a:p>
            <a:pPr algn="l">
              <a:spcBef>
                <a:spcPts val="0"/>
              </a:spcBef>
              <a:spcAft>
                <a:spcPts val="0"/>
              </a:spcAft>
            </a:pPr>
            <a:r>
              <a:rPr sz="900" b="0" i="0">
                <a:solidFill>
                  <a:srgbClr val="5C7079"/>
                </a:solidFill>
                <a:latin typeface="Calibri"/>
              </a:rPr>
              <a:t>Business Intelligence  |  Session 6 — Data Warehousing &amp; OLTP/OLAP  |  IILM Jaipur, MBA</a:t>
            </a:r>
          </a:p>
        </p:txBody>
      </p:sp>
      <p:sp>
        <p:nvSpPr>
          <p:cNvPr id="6" name="TextBox 5"/>
          <p:cNvSpPr txBox="1"/>
          <p:nvPr/>
        </p:nvSpPr>
        <p:spPr>
          <a:xfrm>
            <a:off x="10545775" y="6382512"/>
            <a:ext cx="1097280" cy="256032"/>
          </a:xfrm>
          <a:prstGeom prst="rect">
            <a:avLst/>
          </a:prstGeom>
          <a:noFill/>
        </p:spPr>
        <p:txBody>
          <a:bodyPr wrap="square" lIns="0" rIns="0" tIns="0" bIns="0" anchor="t">
            <a:spAutoFit/>
          </a:bodyPr>
          <a:lstStyle/>
          <a:p>
            <a:pPr algn="r">
              <a:spcBef>
                <a:spcPts val="0"/>
              </a:spcBef>
              <a:spcAft>
                <a:spcPts val="0"/>
              </a:spcAft>
            </a:pPr>
            <a:r>
              <a:rPr sz="950" b="1" i="0">
                <a:solidFill>
                  <a:srgbClr val="1B7F79"/>
                </a:solidFill>
                <a:latin typeface="Calibri"/>
              </a:rPr>
              <a:t>10</a:t>
            </a:r>
          </a:p>
        </p:txBody>
      </p:sp>
      <p:graphicFrame>
        <p:nvGraphicFramePr>
          <p:cNvPr id="7" name="Table 6"/>
          <p:cNvGraphicFramePr>
            <a:graphicFrameLocks noGrp="1"/>
          </p:cNvGraphicFramePr>
          <p:nvPr/>
        </p:nvGraphicFramePr>
        <p:xfrm>
          <a:off x="548640" y="1316736"/>
          <a:ext cx="11094413" cy="3218688"/>
        </p:xfrm>
        <a:graphic>
          <a:graphicData uri="http://schemas.openxmlformats.org/drawingml/2006/table">
            <a:tbl>
              <a:tblPr firstRow="1" bandRow="1">
                <a:tableStyleId>{5C22544A-7EE6-4342-B048-85BDC9FD1C3A}</a:tableStyleId>
              </a:tblPr>
              <a:tblGrid>
                <a:gridCol w="1640043"/>
                <a:gridCol w="3183614"/>
                <a:gridCol w="3376561"/>
                <a:gridCol w="2894195"/>
              </a:tblGrid>
              <a:tr h="402336">
                <a:tc>
                  <a:txBody>
                    <a:bodyPr/>
                    <a:lstStyle/>
                    <a:p>
                      <a:pPr>
                        <a:lnSpc>
                          <a:spcPct val="105000"/>
                        </a:lnSpc>
                      </a:pPr>
                    </a:p>
                  </a:txBody>
                  <a:tcPr marL="82296" marR="82296" marT="41148" marB="41148" anchor="ctr">
                    <a:solidFill>
                      <a:srgbClr val="123B47"/>
                    </a:solidFill>
                  </a:tcPr>
                </a:tc>
                <a:tc>
                  <a:txBody>
                    <a:bodyPr/>
                    <a:lstStyle/>
                    <a:p>
                      <a:pPr>
                        <a:lnSpc>
                          <a:spcPct val="105000"/>
                        </a:lnSpc>
                      </a:pPr>
                      <a:r>
                        <a:rPr sz="950" b="1">
                          <a:solidFill>
                            <a:srgbClr val="FFFFFF"/>
                          </a:solidFill>
                          <a:latin typeface="Calibri"/>
                        </a:rPr>
                        <a:t>Inmon — Corporate Information Factory</a:t>
                      </a:r>
                    </a:p>
                  </a:txBody>
                  <a:tcPr marL="82296" marR="82296" marT="41148" marB="41148" anchor="ctr">
                    <a:solidFill>
                      <a:srgbClr val="123B47"/>
                    </a:solidFill>
                  </a:tcPr>
                </a:tc>
                <a:tc>
                  <a:txBody>
                    <a:bodyPr/>
                    <a:lstStyle/>
                    <a:p>
                      <a:pPr>
                        <a:lnSpc>
                          <a:spcPct val="105000"/>
                        </a:lnSpc>
                      </a:pPr>
                      <a:r>
                        <a:rPr sz="950" b="1">
                          <a:solidFill>
                            <a:srgbClr val="FFFFFF"/>
                          </a:solidFill>
                          <a:latin typeface="Calibri"/>
                        </a:rPr>
                        <a:t>Kimball — dimensional bus</a:t>
                      </a:r>
                    </a:p>
                  </a:txBody>
                  <a:tcPr marL="82296" marR="82296" marT="41148" marB="41148" anchor="ctr">
                    <a:solidFill>
                      <a:srgbClr val="123B47"/>
                    </a:solidFill>
                  </a:tcPr>
                </a:tc>
                <a:tc>
                  <a:txBody>
                    <a:bodyPr/>
                    <a:lstStyle/>
                    <a:p>
                      <a:pPr>
                        <a:lnSpc>
                          <a:spcPct val="105000"/>
                        </a:lnSpc>
                      </a:pPr>
                      <a:r>
                        <a:rPr sz="950" b="1">
                          <a:solidFill>
                            <a:srgbClr val="FFFFFF"/>
                          </a:solidFill>
                          <a:latin typeface="Calibri"/>
                        </a:rPr>
                        <a:t>Data Vault — Linstedt</a:t>
                      </a:r>
                    </a:p>
                  </a:txBody>
                  <a:tcPr marL="82296" marR="82296" marT="41148" marB="41148" anchor="ctr">
                    <a:solidFill>
                      <a:srgbClr val="123B47"/>
                    </a:solidFill>
                  </a:tcPr>
                </a:tc>
              </a:tr>
              <a:tr h="402336">
                <a:tc>
                  <a:txBody>
                    <a:bodyPr/>
                    <a:lstStyle/>
                    <a:p>
                      <a:pPr>
                        <a:lnSpc>
                          <a:spcPct val="105000"/>
                        </a:lnSpc>
                      </a:pPr>
                      <a:r>
                        <a:rPr sz="900" b="1">
                          <a:solidFill>
                            <a:srgbClr val="123B47"/>
                          </a:solidFill>
                          <a:latin typeface="Calibri"/>
                        </a:rPr>
                        <a:t>Direction</a:t>
                      </a:r>
                    </a:p>
                  </a:txBody>
                  <a:tcPr marL="82296" marR="82296" marT="41148" marB="41148" anchor="ctr">
                    <a:solidFill>
                      <a:srgbClr val="FFFFFF"/>
                    </a:solidFill>
                  </a:tcPr>
                </a:tc>
                <a:tc>
                  <a:txBody>
                    <a:bodyPr/>
                    <a:lstStyle/>
                    <a:p>
                      <a:pPr>
                        <a:lnSpc>
                          <a:spcPct val="105000"/>
                        </a:lnSpc>
                      </a:pPr>
                      <a:r>
                        <a:rPr sz="900" b="0">
                          <a:solidFill>
                            <a:srgbClr val="2E3F47"/>
                          </a:solidFill>
                          <a:latin typeface="Calibri"/>
                        </a:rPr>
                        <a:t>Top-down: enterprise warehouse first</a:t>
                      </a:r>
                    </a:p>
                  </a:txBody>
                  <a:tcPr marL="82296" marR="82296" marT="41148" marB="41148" anchor="ctr">
                    <a:solidFill>
                      <a:srgbClr val="FFFFFF"/>
                    </a:solidFill>
                  </a:tcPr>
                </a:tc>
                <a:tc>
                  <a:txBody>
                    <a:bodyPr/>
                    <a:lstStyle/>
                    <a:p>
                      <a:pPr>
                        <a:lnSpc>
                          <a:spcPct val="105000"/>
                        </a:lnSpc>
                      </a:pPr>
                      <a:r>
                        <a:rPr sz="900" b="0">
                          <a:solidFill>
                            <a:srgbClr val="2E3F47"/>
                          </a:solidFill>
                          <a:latin typeface="Calibri"/>
                        </a:rPr>
                        <a:t>Bottom-up: one business process at a time</a:t>
                      </a:r>
                    </a:p>
                  </a:txBody>
                  <a:tcPr marL="82296" marR="82296" marT="41148" marB="41148" anchor="ctr">
                    <a:solidFill>
                      <a:srgbClr val="FFFFFF"/>
                    </a:solidFill>
                  </a:tcPr>
                </a:tc>
                <a:tc>
                  <a:txBody>
                    <a:bodyPr/>
                    <a:lstStyle/>
                    <a:p>
                      <a:pPr>
                        <a:lnSpc>
                          <a:spcPct val="105000"/>
                        </a:lnSpc>
                      </a:pPr>
                      <a:r>
                        <a:rPr sz="900" b="0">
                          <a:solidFill>
                            <a:srgbClr val="2E3F47"/>
                          </a:solidFill>
                          <a:latin typeface="Calibri"/>
                        </a:rPr>
                        <a:t>Auditable raw layer, marts on top</a:t>
                      </a:r>
                    </a:p>
                  </a:txBody>
                  <a:tcPr marL="82296" marR="82296" marT="41148" marB="41148" anchor="ctr">
                    <a:solidFill>
                      <a:srgbClr val="FFFFFF"/>
                    </a:solidFill>
                  </a:tcPr>
                </a:tc>
              </a:tr>
              <a:tr h="402336">
                <a:tc>
                  <a:txBody>
                    <a:bodyPr/>
                    <a:lstStyle/>
                    <a:p>
                      <a:pPr>
                        <a:lnSpc>
                          <a:spcPct val="105000"/>
                        </a:lnSpc>
                      </a:pPr>
                      <a:r>
                        <a:rPr sz="900" b="1">
                          <a:solidFill>
                            <a:srgbClr val="123B47"/>
                          </a:solidFill>
                          <a:latin typeface="Calibri"/>
                        </a:rPr>
                        <a:t>Core structure</a:t>
                      </a:r>
                    </a:p>
                  </a:txBody>
                  <a:tcPr marL="82296" marR="82296" marT="41148" marB="41148" anchor="ctr">
                    <a:solidFill>
                      <a:srgbClr val="F1F5F4"/>
                    </a:solidFill>
                  </a:tcPr>
                </a:tc>
                <a:tc>
                  <a:txBody>
                    <a:bodyPr/>
                    <a:lstStyle/>
                    <a:p>
                      <a:pPr>
                        <a:lnSpc>
                          <a:spcPct val="105000"/>
                        </a:lnSpc>
                      </a:pPr>
                      <a:r>
                        <a:rPr sz="900" b="0">
                          <a:solidFill>
                            <a:srgbClr val="2E3F47"/>
                          </a:solidFill>
                          <a:latin typeface="Calibri"/>
                        </a:rPr>
                        <a:t>Normalised (3NF) enterprise warehouse</a:t>
                      </a:r>
                    </a:p>
                  </a:txBody>
                  <a:tcPr marL="82296" marR="82296" marT="41148" marB="41148" anchor="ctr">
                    <a:solidFill>
                      <a:srgbClr val="F1F5F4"/>
                    </a:solidFill>
                  </a:tcPr>
                </a:tc>
                <a:tc>
                  <a:txBody>
                    <a:bodyPr/>
                    <a:lstStyle/>
                    <a:p>
                      <a:pPr>
                        <a:lnSpc>
                          <a:spcPct val="105000"/>
                        </a:lnSpc>
                      </a:pPr>
                      <a:r>
                        <a:rPr sz="900" b="0">
                          <a:solidFill>
                            <a:srgbClr val="2E3F47"/>
                          </a:solidFill>
                          <a:latin typeface="Calibri"/>
                        </a:rPr>
                        <a:t>Star schemas of conformed dimensions</a:t>
                      </a:r>
                    </a:p>
                  </a:txBody>
                  <a:tcPr marL="82296" marR="82296" marT="41148" marB="41148" anchor="ctr">
                    <a:solidFill>
                      <a:srgbClr val="F1F5F4"/>
                    </a:solidFill>
                  </a:tcPr>
                </a:tc>
                <a:tc>
                  <a:txBody>
                    <a:bodyPr/>
                    <a:lstStyle/>
                    <a:p>
                      <a:pPr>
                        <a:lnSpc>
                          <a:spcPct val="105000"/>
                        </a:lnSpc>
                      </a:pPr>
                      <a:r>
                        <a:rPr sz="900" b="0">
                          <a:solidFill>
                            <a:srgbClr val="2E3F47"/>
                          </a:solidFill>
                          <a:latin typeface="Calibri"/>
                        </a:rPr>
                        <a:t>Hubs, links and satellites</a:t>
                      </a:r>
                    </a:p>
                  </a:txBody>
                  <a:tcPr marL="82296" marR="82296" marT="41148" marB="41148" anchor="ctr">
                    <a:solidFill>
                      <a:srgbClr val="F1F5F4"/>
                    </a:solidFill>
                  </a:tcPr>
                </a:tc>
              </a:tr>
              <a:tr h="402336">
                <a:tc>
                  <a:txBody>
                    <a:bodyPr/>
                    <a:lstStyle/>
                    <a:p>
                      <a:pPr>
                        <a:lnSpc>
                          <a:spcPct val="105000"/>
                        </a:lnSpc>
                      </a:pPr>
                      <a:r>
                        <a:rPr sz="900" b="1">
                          <a:solidFill>
                            <a:srgbClr val="123B47"/>
                          </a:solidFill>
                          <a:latin typeface="Calibri"/>
                        </a:rPr>
                        <a:t>Integration through</a:t>
                      </a:r>
                    </a:p>
                  </a:txBody>
                  <a:tcPr marL="82296" marR="82296" marT="41148" marB="41148" anchor="ctr">
                    <a:solidFill>
                      <a:srgbClr val="FFFFFF"/>
                    </a:solidFill>
                  </a:tcPr>
                </a:tc>
                <a:tc>
                  <a:txBody>
                    <a:bodyPr/>
                    <a:lstStyle/>
                    <a:p>
                      <a:pPr>
                        <a:lnSpc>
                          <a:spcPct val="105000"/>
                        </a:lnSpc>
                      </a:pPr>
                      <a:r>
                        <a:rPr sz="900" b="0">
                          <a:solidFill>
                            <a:srgbClr val="2E3F47"/>
                          </a:solidFill>
                          <a:latin typeface="Calibri"/>
                        </a:rPr>
                        <a:t>A single enterprise data model</a:t>
                      </a:r>
                    </a:p>
                  </a:txBody>
                  <a:tcPr marL="82296" marR="82296" marT="41148" marB="41148" anchor="ctr">
                    <a:solidFill>
                      <a:srgbClr val="FFFFFF"/>
                    </a:solidFill>
                  </a:tcPr>
                </a:tc>
                <a:tc>
                  <a:txBody>
                    <a:bodyPr/>
                    <a:lstStyle/>
                    <a:p>
                      <a:pPr>
                        <a:lnSpc>
                          <a:spcPct val="105000"/>
                        </a:lnSpc>
                      </a:pPr>
                      <a:r>
                        <a:rPr sz="900" b="0">
                          <a:solidFill>
                            <a:srgbClr val="2E3F47"/>
                          </a:solidFill>
                          <a:latin typeface="Calibri"/>
                        </a:rPr>
                        <a:t>Conformed dimensions shared across processes</a:t>
                      </a:r>
                    </a:p>
                  </a:txBody>
                  <a:tcPr marL="82296" marR="82296" marT="41148" marB="41148" anchor="ctr">
                    <a:solidFill>
                      <a:srgbClr val="FFFFFF"/>
                    </a:solidFill>
                  </a:tcPr>
                </a:tc>
                <a:tc>
                  <a:txBody>
                    <a:bodyPr/>
                    <a:lstStyle/>
                    <a:p>
                      <a:pPr>
                        <a:lnSpc>
                          <a:spcPct val="105000"/>
                        </a:lnSpc>
                      </a:pPr>
                      <a:r>
                        <a:rPr sz="900" b="0">
                          <a:solidFill>
                            <a:srgbClr val="2E3F47"/>
                          </a:solidFill>
                          <a:latin typeface="Calibri"/>
                        </a:rPr>
                        <a:t>Business keys held in hubs</a:t>
                      </a:r>
                    </a:p>
                  </a:txBody>
                  <a:tcPr marL="82296" marR="82296" marT="41148" marB="41148" anchor="ctr">
                    <a:solidFill>
                      <a:srgbClr val="FFFFFF"/>
                    </a:solidFill>
                  </a:tcPr>
                </a:tc>
              </a:tr>
              <a:tr h="402336">
                <a:tc>
                  <a:txBody>
                    <a:bodyPr/>
                    <a:lstStyle/>
                    <a:p>
                      <a:pPr>
                        <a:lnSpc>
                          <a:spcPct val="105000"/>
                        </a:lnSpc>
                      </a:pPr>
                      <a:r>
                        <a:rPr sz="900" b="1">
                          <a:solidFill>
                            <a:srgbClr val="123B47"/>
                          </a:solidFill>
                          <a:latin typeface="Calibri"/>
                        </a:rPr>
                        <a:t>First delivery</a:t>
                      </a:r>
                    </a:p>
                  </a:txBody>
                  <a:tcPr marL="82296" marR="82296" marT="41148" marB="41148" anchor="ctr">
                    <a:solidFill>
                      <a:srgbClr val="F1F5F4"/>
                    </a:solidFill>
                  </a:tcPr>
                </a:tc>
                <a:tc>
                  <a:txBody>
                    <a:bodyPr/>
                    <a:lstStyle/>
                    <a:p>
                      <a:pPr>
                        <a:lnSpc>
                          <a:spcPct val="105000"/>
                        </a:lnSpc>
                      </a:pPr>
                      <a:r>
                        <a:rPr sz="900" b="0">
                          <a:solidFill>
                            <a:srgbClr val="2E3F47"/>
                          </a:solidFill>
                          <a:latin typeface="Calibri"/>
                        </a:rPr>
                        <a:t>Long — 12 to 24 months</a:t>
                      </a:r>
                    </a:p>
                  </a:txBody>
                  <a:tcPr marL="82296" marR="82296" marT="41148" marB="41148" anchor="ctr">
                    <a:solidFill>
                      <a:srgbClr val="F1F5F4"/>
                    </a:solidFill>
                  </a:tcPr>
                </a:tc>
                <a:tc>
                  <a:txBody>
                    <a:bodyPr/>
                    <a:lstStyle/>
                    <a:p>
                      <a:pPr>
                        <a:lnSpc>
                          <a:spcPct val="105000"/>
                        </a:lnSpc>
                      </a:pPr>
                      <a:r>
                        <a:rPr sz="900" b="0">
                          <a:solidFill>
                            <a:srgbClr val="2E3F47"/>
                          </a:solidFill>
                          <a:latin typeface="Calibri"/>
                        </a:rPr>
                        <a:t>Short — a first mart in 3 to 6 months</a:t>
                      </a:r>
                    </a:p>
                  </a:txBody>
                  <a:tcPr marL="82296" marR="82296" marT="41148" marB="41148" anchor="ctr">
                    <a:solidFill>
                      <a:srgbClr val="F1F5F4"/>
                    </a:solidFill>
                  </a:tcPr>
                </a:tc>
                <a:tc>
                  <a:txBody>
                    <a:bodyPr/>
                    <a:lstStyle/>
                    <a:p>
                      <a:pPr>
                        <a:lnSpc>
                          <a:spcPct val="105000"/>
                        </a:lnSpc>
                      </a:pPr>
                      <a:r>
                        <a:rPr sz="900" b="0">
                          <a:solidFill>
                            <a:srgbClr val="2E3F47"/>
                          </a:solidFill>
                          <a:latin typeface="Calibri"/>
                        </a:rPr>
                        <a:t>Medium; vault early, marts later</a:t>
                      </a:r>
                    </a:p>
                  </a:txBody>
                  <a:tcPr marL="82296" marR="82296" marT="41148" marB="41148" anchor="ctr">
                    <a:solidFill>
                      <a:srgbClr val="F1F5F4"/>
                    </a:solidFill>
                  </a:tcPr>
                </a:tc>
              </a:tr>
              <a:tr h="402336">
                <a:tc>
                  <a:txBody>
                    <a:bodyPr/>
                    <a:lstStyle/>
                    <a:p>
                      <a:pPr>
                        <a:lnSpc>
                          <a:spcPct val="105000"/>
                        </a:lnSpc>
                      </a:pPr>
                      <a:r>
                        <a:rPr sz="900" b="1">
                          <a:solidFill>
                            <a:srgbClr val="123B47"/>
                          </a:solidFill>
                          <a:latin typeface="Calibri"/>
                        </a:rPr>
                        <a:t>Greatest strength</a:t>
                      </a:r>
                    </a:p>
                  </a:txBody>
                  <a:tcPr marL="82296" marR="82296" marT="41148" marB="41148" anchor="ctr">
                    <a:solidFill>
                      <a:srgbClr val="FFFFFF"/>
                    </a:solidFill>
                  </a:tcPr>
                </a:tc>
                <a:tc>
                  <a:txBody>
                    <a:bodyPr/>
                    <a:lstStyle/>
                    <a:p>
                      <a:pPr>
                        <a:lnSpc>
                          <a:spcPct val="105000"/>
                        </a:lnSpc>
                      </a:pPr>
                      <a:r>
                        <a:rPr sz="900" b="0">
                          <a:solidFill>
                            <a:srgbClr val="2E3F47"/>
                          </a:solidFill>
                          <a:latin typeface="Calibri"/>
                        </a:rPr>
                        <a:t>Consistency and enterprise-wide truth</a:t>
                      </a:r>
                    </a:p>
                  </a:txBody>
                  <a:tcPr marL="82296" marR="82296" marT="41148" marB="41148" anchor="ctr">
                    <a:solidFill>
                      <a:srgbClr val="FFFFFF"/>
                    </a:solidFill>
                  </a:tcPr>
                </a:tc>
                <a:tc>
                  <a:txBody>
                    <a:bodyPr/>
                    <a:lstStyle/>
                    <a:p>
                      <a:pPr>
                        <a:lnSpc>
                          <a:spcPct val="105000"/>
                        </a:lnSpc>
                      </a:pPr>
                      <a:r>
                        <a:rPr sz="900" b="0">
                          <a:solidFill>
                            <a:srgbClr val="2E3F47"/>
                          </a:solidFill>
                          <a:latin typeface="Calibri"/>
                        </a:rPr>
                        <a:t>Speed to value and business engagement</a:t>
                      </a:r>
                    </a:p>
                  </a:txBody>
                  <a:tcPr marL="82296" marR="82296" marT="41148" marB="41148" anchor="ctr">
                    <a:solidFill>
                      <a:srgbClr val="FFFFFF"/>
                    </a:solidFill>
                  </a:tcPr>
                </a:tc>
                <a:tc>
                  <a:txBody>
                    <a:bodyPr/>
                    <a:lstStyle/>
                    <a:p>
                      <a:pPr>
                        <a:lnSpc>
                          <a:spcPct val="105000"/>
                        </a:lnSpc>
                      </a:pPr>
                      <a:r>
                        <a:rPr sz="900" b="0">
                          <a:solidFill>
                            <a:srgbClr val="2E3F47"/>
                          </a:solidFill>
                          <a:latin typeface="Calibri"/>
                        </a:rPr>
                        <a:t>Auditability; tolerates source change</a:t>
                      </a:r>
                    </a:p>
                  </a:txBody>
                  <a:tcPr marL="82296" marR="82296" marT="41148" marB="41148" anchor="ctr">
                    <a:solidFill>
                      <a:srgbClr val="FFFFFF"/>
                    </a:solidFill>
                  </a:tcPr>
                </a:tc>
              </a:tr>
              <a:tr h="402336">
                <a:tc>
                  <a:txBody>
                    <a:bodyPr/>
                    <a:lstStyle/>
                    <a:p>
                      <a:pPr>
                        <a:lnSpc>
                          <a:spcPct val="105000"/>
                        </a:lnSpc>
                      </a:pPr>
                      <a:r>
                        <a:rPr sz="900" b="1">
                          <a:solidFill>
                            <a:srgbClr val="123B47"/>
                          </a:solidFill>
                          <a:latin typeface="Calibri"/>
                        </a:rPr>
                        <a:t>Greatest risk</a:t>
                      </a:r>
                    </a:p>
                  </a:txBody>
                  <a:tcPr marL="82296" marR="82296" marT="41148" marB="41148" anchor="ctr">
                    <a:solidFill>
                      <a:srgbClr val="F1F5F4"/>
                    </a:solidFill>
                  </a:tcPr>
                </a:tc>
                <a:tc>
                  <a:txBody>
                    <a:bodyPr/>
                    <a:lstStyle/>
                    <a:p>
                      <a:pPr>
                        <a:lnSpc>
                          <a:spcPct val="105000"/>
                        </a:lnSpc>
                      </a:pPr>
                      <a:r>
                        <a:rPr sz="900" b="0">
                          <a:solidFill>
                            <a:srgbClr val="2E3F47"/>
                          </a:solidFill>
                          <a:latin typeface="Calibri"/>
                        </a:rPr>
                        <a:t>Cost, delay, sponsorship lost before delivery</a:t>
                      </a:r>
                    </a:p>
                  </a:txBody>
                  <a:tcPr marL="82296" marR="82296" marT="41148" marB="41148" anchor="ctr">
                    <a:solidFill>
                      <a:srgbClr val="F1F5F4"/>
                    </a:solidFill>
                  </a:tcPr>
                </a:tc>
                <a:tc>
                  <a:txBody>
                    <a:bodyPr/>
                    <a:lstStyle/>
                    <a:p>
                      <a:pPr>
                        <a:lnSpc>
                          <a:spcPct val="105000"/>
                        </a:lnSpc>
                      </a:pPr>
                      <a:r>
                        <a:rPr sz="900" b="0">
                          <a:solidFill>
                            <a:srgbClr val="2E3F47"/>
                          </a:solidFill>
                          <a:latin typeface="Calibri"/>
                        </a:rPr>
                        <a:t>Stovepipes if dimensions are not genuinely conformed</a:t>
                      </a:r>
                    </a:p>
                  </a:txBody>
                  <a:tcPr marL="82296" marR="82296" marT="41148" marB="41148" anchor="ctr">
                    <a:solidFill>
                      <a:srgbClr val="F1F5F4"/>
                    </a:solidFill>
                  </a:tcPr>
                </a:tc>
                <a:tc>
                  <a:txBody>
                    <a:bodyPr/>
                    <a:lstStyle/>
                    <a:p>
                      <a:pPr>
                        <a:lnSpc>
                          <a:spcPct val="105000"/>
                        </a:lnSpc>
                      </a:pPr>
                      <a:r>
                        <a:rPr sz="900" b="0">
                          <a:solidFill>
                            <a:srgbClr val="2E3F47"/>
                          </a:solidFill>
                          <a:latin typeface="Calibri"/>
                        </a:rPr>
                        <a:t>Complexity; many tables, heavy dependencies</a:t>
                      </a:r>
                    </a:p>
                  </a:txBody>
                  <a:tcPr marL="82296" marR="82296" marT="41148" marB="41148" anchor="ctr">
                    <a:solidFill>
                      <a:srgbClr val="F1F5F4"/>
                    </a:solidFill>
                  </a:tcPr>
                </a:tc>
              </a:tr>
              <a:tr h="402336">
                <a:tc>
                  <a:txBody>
                    <a:bodyPr/>
                    <a:lstStyle/>
                    <a:p>
                      <a:pPr>
                        <a:lnSpc>
                          <a:spcPct val="105000"/>
                        </a:lnSpc>
                      </a:pPr>
                      <a:r>
                        <a:rPr sz="900" b="1">
                          <a:solidFill>
                            <a:srgbClr val="123B47"/>
                          </a:solidFill>
                          <a:latin typeface="Calibri"/>
                        </a:rPr>
                        <a:t>Fits</a:t>
                      </a:r>
                    </a:p>
                  </a:txBody>
                  <a:tcPr marL="82296" marR="82296" marT="41148" marB="41148" anchor="ctr">
                    <a:solidFill>
                      <a:srgbClr val="FFFFFF"/>
                    </a:solidFill>
                  </a:tcPr>
                </a:tc>
                <a:tc>
                  <a:txBody>
                    <a:bodyPr/>
                    <a:lstStyle/>
                    <a:p>
                      <a:pPr>
                        <a:lnSpc>
                          <a:spcPct val="105000"/>
                        </a:lnSpc>
                      </a:pPr>
                      <a:r>
                        <a:rPr sz="900" b="0">
                          <a:solidFill>
                            <a:srgbClr val="2E3F47"/>
                          </a:solidFill>
                          <a:latin typeface="Calibri"/>
                        </a:rPr>
                        <a:t>Large, regulated, stable enterprises</a:t>
                      </a:r>
                    </a:p>
                  </a:txBody>
                  <a:tcPr marL="82296" marR="82296" marT="41148" marB="41148" anchor="ctr">
                    <a:solidFill>
                      <a:srgbClr val="FFFFFF"/>
                    </a:solidFill>
                  </a:tcPr>
                </a:tc>
                <a:tc>
                  <a:txBody>
                    <a:bodyPr/>
                    <a:lstStyle/>
                    <a:p>
                      <a:pPr>
                        <a:lnSpc>
                          <a:spcPct val="105000"/>
                        </a:lnSpc>
                      </a:pPr>
                      <a:r>
                        <a:rPr sz="900" b="0">
                          <a:solidFill>
                            <a:srgbClr val="2E3F47"/>
                          </a:solidFill>
                          <a:latin typeface="Calibri"/>
                        </a:rPr>
                        <a:t>Most mid-market organisations, most of the time</a:t>
                      </a:r>
                    </a:p>
                  </a:txBody>
                  <a:tcPr marL="82296" marR="82296" marT="41148" marB="41148" anchor="ctr">
                    <a:solidFill>
                      <a:srgbClr val="FFFFFF"/>
                    </a:solidFill>
                  </a:tcPr>
                </a:tc>
                <a:tc>
                  <a:txBody>
                    <a:bodyPr/>
                    <a:lstStyle/>
                    <a:p>
                      <a:pPr>
                        <a:lnSpc>
                          <a:spcPct val="105000"/>
                        </a:lnSpc>
                      </a:pPr>
                      <a:r>
                        <a:rPr sz="900" b="0">
                          <a:solidFill>
                            <a:srgbClr val="2E3F47"/>
                          </a:solidFill>
                          <a:latin typeface="Calibri"/>
                        </a:rPr>
                        <a:t>Many volatile sources, strict audit demands</a:t>
                      </a:r>
                    </a:p>
                  </a:txBody>
                  <a:tcPr marL="82296" marR="82296" marT="41148" marB="41148" anchor="ctr">
                    <a:solidFill>
                      <a:srgbClr val="FFFFFF"/>
                    </a:solidFill>
                  </a:tcPr>
                </a:tc>
              </a:tr>
            </a:tbl>
          </a:graphicData>
        </a:graphic>
      </p:graphicFrame>
      <p:sp>
        <p:nvSpPr>
          <p:cNvPr id="8" name="Rounded Rectangle 7"/>
          <p:cNvSpPr/>
          <p:nvPr/>
        </p:nvSpPr>
        <p:spPr>
          <a:xfrm>
            <a:off x="548640" y="4956048"/>
            <a:ext cx="11094415" cy="603504"/>
          </a:xfrm>
          <a:prstGeom prst="roundRect">
            <a:avLst>
              <a:gd name="adj" fmla="val 6000"/>
            </a:avLst>
          </a:prstGeom>
          <a:solidFill>
            <a:srgbClr val="123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68096" y="5056632"/>
            <a:ext cx="10655503" cy="402336"/>
          </a:xfrm>
          <a:prstGeom prst="rect">
            <a:avLst/>
          </a:prstGeom>
          <a:noFill/>
        </p:spPr>
        <p:txBody>
          <a:bodyPr wrap="square" lIns="0" rIns="0" tIns="0" bIns="0" anchor="ctr">
            <a:spAutoFit/>
          </a:bodyPr>
          <a:lstStyle/>
          <a:p>
            <a:pPr algn="l">
              <a:lnSpc>
                <a:spcPct val="114000"/>
              </a:lnSpc>
            </a:pPr>
            <a:r>
              <a:rPr sz="1100" b="1">
                <a:solidFill>
                  <a:srgbClr val="E8A33D"/>
                </a:solidFill>
                <a:latin typeface="Calibri"/>
              </a:rPr>
              <a:t>The advice that survives the argument.  </a:t>
            </a:r>
            <a:r>
              <a:rPr sz="1100">
                <a:solidFill>
                  <a:srgbClr val="FFFFFF"/>
                </a:solidFill>
                <a:latin typeface="Calibri"/>
              </a:rPr>
              <a:t>Kimball delivers value earlier and is what most Indian mid-market organisations should adopt — provided the conformed dimensions are genuinely governed. Without that governance it degrades into exactly the stovepipes Inmon warned about.</a:t>
            </a:r>
          </a:p>
        </p:txBody>
      </p:sp>
      <p:sp>
        <p:nvSpPr>
          <p:cNvPr id="10" name="Rounded Rectangle 9"/>
          <p:cNvSpPr/>
          <p:nvPr/>
        </p:nvSpPr>
        <p:spPr>
          <a:xfrm>
            <a:off x="548640" y="5687568"/>
            <a:ext cx="5394960" cy="621792"/>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31520" y="5760720"/>
            <a:ext cx="5029200" cy="475488"/>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E3F47"/>
                </a:solidFill>
                <a:latin typeface="Calibri"/>
              </a:rPr>
              <a:t>Examination note:  be able to draw both architectures and state two advantages and two risks of each.</a:t>
            </a:r>
          </a:p>
        </p:txBody>
      </p:sp>
      <p:sp>
        <p:nvSpPr>
          <p:cNvPr id="12" name="Rounded Rectangle 11"/>
          <p:cNvSpPr/>
          <p:nvPr/>
        </p:nvSpPr>
        <p:spPr>
          <a:xfrm>
            <a:off x="6245352" y="5687568"/>
            <a:ext cx="5394960" cy="621792"/>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428232" y="5760720"/>
            <a:ext cx="5029200" cy="475488"/>
          </a:xfrm>
          <a:prstGeom prst="rect">
            <a:avLst/>
          </a:prstGeom>
          <a:noFill/>
        </p:spPr>
        <p:txBody>
          <a:bodyPr wrap="square" lIns="0" rIns="0" tIns="0" bIns="0" anchor="ctr">
            <a:spAutoFit/>
          </a:bodyPr>
          <a:lstStyle/>
          <a:p>
            <a:pPr algn="l">
              <a:lnSpc>
                <a:spcPct val="110000"/>
              </a:lnSpc>
              <a:spcBef>
                <a:spcPts val="0"/>
              </a:spcBef>
              <a:spcAft>
                <a:spcPts val="0"/>
              </a:spcAft>
            </a:pPr>
            <a:r>
              <a:rPr sz="900" b="0" i="0">
                <a:solidFill>
                  <a:srgbClr val="2E3F47"/>
                </a:solidFill>
                <a:latin typeface="Calibri"/>
              </a:rPr>
              <a:t>Attribution:  Inmon — the four properties and the CIF  ·  Kimball — dimensional modelling and the bus  ·  Linstedt — Data Vault.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bg>
    <p:bgPr>
      <a:solidFill>
        <a:srgbClr val="FFFFFF"/>
      </a:solidFill>
      <a:effectLst/>
    </p:bgPr>
  </p:bg>
  <p:cSld>
    <p:spTree>
      <p:nvGrpSpPr>
        <p:cNvPr id="1" name=""/>
        <p:cNvGrpSpPr/>
        <p:nvPr/>
      </p:nvGrpSpPr>
      <p:grpSpPr/>
      <p:sp>
        <p:nvSpPr>
          <p:cNvPr id="2" name="Oval 1"/>
          <p:cNvSpPr/>
          <p:nvPr/>
        </p:nvSpPr>
        <p:spPr>
          <a:xfrm>
            <a:off x="548640" y="374904"/>
            <a:ext cx="109728" cy="109728"/>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283464"/>
            <a:ext cx="10893247" cy="256032"/>
          </a:xfrm>
          <a:prstGeom prst="rect">
            <a:avLst/>
          </a:prstGeom>
          <a:noFill/>
        </p:spPr>
        <p:txBody>
          <a:bodyPr wrap="square" lIns="0" rIns="0" tIns="0" bIns="0" anchor="t">
            <a:spAutoFit/>
          </a:bodyPr>
          <a:lstStyle/>
          <a:p>
            <a:pPr algn="l">
              <a:spcBef>
                <a:spcPts val="0"/>
              </a:spcBef>
              <a:spcAft>
                <a:spcPts val="0"/>
              </a:spcAft>
            </a:pPr>
            <a:r>
              <a:rPr sz="1000" b="1" i="0">
                <a:solidFill>
                  <a:srgbClr val="B87A1E"/>
                </a:solidFill>
                <a:latin typeface="Calibri"/>
              </a:rPr>
              <a:t>PART 4 · HISTORY</a:t>
            </a:r>
          </a:p>
        </p:txBody>
      </p:sp>
      <p:sp>
        <p:nvSpPr>
          <p:cNvPr id="4" name="TextBox 3"/>
          <p:cNvSpPr txBox="1"/>
          <p:nvPr/>
        </p:nvSpPr>
        <p:spPr>
          <a:xfrm>
            <a:off x="548640" y="548640"/>
            <a:ext cx="11094415" cy="640080"/>
          </a:xfrm>
          <a:prstGeom prst="rect">
            <a:avLst/>
          </a:prstGeom>
          <a:noFill/>
        </p:spPr>
        <p:txBody>
          <a:bodyPr wrap="square" lIns="0" rIns="0" tIns="0" bIns="0" anchor="t">
            <a:spAutoFit/>
          </a:bodyPr>
          <a:lstStyle/>
          <a:p>
            <a:pPr algn="l">
              <a:spcBef>
                <a:spcPts val="0"/>
              </a:spcBef>
              <a:spcAft>
                <a:spcPts val="0"/>
              </a:spcAft>
            </a:pPr>
            <a:r>
              <a:rPr sz="2600" b="1" i="0">
                <a:solidFill>
                  <a:srgbClr val="123B47"/>
                </a:solidFill>
                <a:latin typeface="Cambria"/>
              </a:rPr>
              <a:t>Time-variance is a design choice with a price</a:t>
            </a:r>
          </a:p>
        </p:txBody>
      </p:sp>
      <p:sp>
        <p:nvSpPr>
          <p:cNvPr id="5" name="TextBox 4"/>
          <p:cNvSpPr txBox="1"/>
          <p:nvPr/>
        </p:nvSpPr>
        <p:spPr>
          <a:xfrm>
            <a:off x="548640" y="6382512"/>
            <a:ext cx="8686800" cy="256032"/>
          </a:xfrm>
          <a:prstGeom prst="rect">
            <a:avLst/>
          </a:prstGeom>
          <a:noFill/>
        </p:spPr>
        <p:txBody>
          <a:bodyPr wrap="square" lIns="0" rIns="0" tIns="0" bIns="0" anchor="t">
            <a:spAutoFit/>
          </a:bodyPr>
          <a:lstStyle/>
          <a:p>
            <a:pPr algn="l">
              <a:spcBef>
                <a:spcPts val="0"/>
              </a:spcBef>
              <a:spcAft>
                <a:spcPts val="0"/>
              </a:spcAft>
            </a:pPr>
            <a:r>
              <a:rPr sz="900" b="0" i="0">
                <a:solidFill>
                  <a:srgbClr val="5C7079"/>
                </a:solidFill>
                <a:latin typeface="Calibri"/>
              </a:rPr>
              <a:t>Business Intelligence  |  Session 6 — Data Warehousing &amp; OLTP/OLAP  |  IILM Jaipur, MBA</a:t>
            </a:r>
          </a:p>
        </p:txBody>
      </p:sp>
      <p:sp>
        <p:nvSpPr>
          <p:cNvPr id="6" name="TextBox 5"/>
          <p:cNvSpPr txBox="1"/>
          <p:nvPr/>
        </p:nvSpPr>
        <p:spPr>
          <a:xfrm>
            <a:off x="10545775" y="6382512"/>
            <a:ext cx="1097280" cy="256032"/>
          </a:xfrm>
          <a:prstGeom prst="rect">
            <a:avLst/>
          </a:prstGeom>
          <a:noFill/>
        </p:spPr>
        <p:txBody>
          <a:bodyPr wrap="square" lIns="0" rIns="0" tIns="0" bIns="0" anchor="t">
            <a:spAutoFit/>
          </a:bodyPr>
          <a:lstStyle/>
          <a:p>
            <a:pPr algn="r">
              <a:spcBef>
                <a:spcPts val="0"/>
              </a:spcBef>
              <a:spcAft>
                <a:spcPts val="0"/>
              </a:spcAft>
            </a:pPr>
            <a:r>
              <a:rPr sz="950" b="1" i="0">
                <a:solidFill>
                  <a:srgbClr val="1B7F79"/>
                </a:solidFill>
                <a:latin typeface="Calibri"/>
              </a:rPr>
              <a:t>11</a:t>
            </a:r>
          </a:p>
        </p:txBody>
      </p:sp>
      <p:sp>
        <p:nvSpPr>
          <p:cNvPr id="7" name="Rounded Rectangle 6"/>
          <p:cNvSpPr/>
          <p:nvPr/>
        </p:nvSpPr>
        <p:spPr>
          <a:xfrm>
            <a:off x="548640" y="1298448"/>
            <a:ext cx="11094415" cy="530352"/>
          </a:xfrm>
          <a:prstGeom prst="roundRect">
            <a:avLst>
              <a:gd name="adj" fmla="val 6000"/>
            </a:avLst>
          </a:prstGeom>
          <a:solidFill>
            <a:srgbClr val="123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68096" y="1371600"/>
            <a:ext cx="10655503" cy="384048"/>
          </a:xfrm>
          <a:prstGeom prst="rect">
            <a:avLst/>
          </a:prstGeom>
          <a:noFill/>
        </p:spPr>
        <p:txBody>
          <a:bodyPr wrap="square" lIns="0" rIns="0" tIns="0" bIns="0" anchor="ctr">
            <a:spAutoFit/>
          </a:bodyPr>
          <a:lstStyle/>
          <a:p>
            <a:pPr algn="l">
              <a:lnSpc>
                <a:spcPct val="115000"/>
              </a:lnSpc>
              <a:spcBef>
                <a:spcPts val="0"/>
              </a:spcBef>
              <a:spcAft>
                <a:spcPts val="0"/>
              </a:spcAft>
            </a:pPr>
            <a:r>
              <a:rPr sz="1050" b="0" i="0">
                <a:solidFill>
                  <a:srgbClr val="FFFFFF"/>
                </a:solidFill>
                <a:latin typeface="Calibri"/>
              </a:rPr>
              <a:t>The operational system holds the customer's current territory; the analyst needs the territory the customer was in when the sale happened. Unless the warehouse keeps both, last year's numbers change silently every time somebody is reassigned.</a:t>
            </a:r>
          </a:p>
        </p:txBody>
      </p:sp>
      <p:graphicFrame>
        <p:nvGraphicFramePr>
          <p:cNvPr id="9" name="Table 8"/>
          <p:cNvGraphicFramePr>
            <a:graphicFrameLocks noGrp="1"/>
          </p:cNvGraphicFramePr>
          <p:nvPr/>
        </p:nvGraphicFramePr>
        <p:xfrm>
          <a:off x="548640" y="1956816"/>
          <a:ext cx="6903718" cy="2514600"/>
        </p:xfrm>
        <a:graphic>
          <a:graphicData uri="http://schemas.openxmlformats.org/drawingml/2006/table">
            <a:tbl>
              <a:tblPr firstRow="1" bandRow="1">
                <a:tableStyleId>{5C22544A-7EE6-4342-B048-85BDC9FD1C3A}</a:tableStyleId>
              </a:tblPr>
              <a:tblGrid>
                <a:gridCol w="1255221"/>
                <a:gridCol w="1882832"/>
                <a:gridCol w="2039735"/>
                <a:gridCol w="1725930"/>
              </a:tblGrid>
              <a:tr h="502920">
                <a:tc>
                  <a:txBody>
                    <a:bodyPr/>
                    <a:lstStyle/>
                    <a:p>
                      <a:pPr>
                        <a:lnSpc>
                          <a:spcPct val="105000"/>
                        </a:lnSpc>
                      </a:pPr>
                      <a:r>
                        <a:rPr sz="950" b="1">
                          <a:solidFill>
                            <a:srgbClr val="FFFFFF"/>
                          </a:solidFill>
                          <a:latin typeface="Calibri"/>
                        </a:rPr>
                        <a:t>Technique</a:t>
                      </a:r>
                    </a:p>
                  </a:txBody>
                  <a:tcPr marL="82296" marR="82296" marT="41148" marB="41148" anchor="ctr">
                    <a:solidFill>
                      <a:srgbClr val="123B47"/>
                    </a:solidFill>
                  </a:tcPr>
                </a:tc>
                <a:tc>
                  <a:txBody>
                    <a:bodyPr/>
                    <a:lstStyle/>
                    <a:p>
                      <a:pPr>
                        <a:lnSpc>
                          <a:spcPct val="105000"/>
                        </a:lnSpc>
                      </a:pPr>
                      <a:r>
                        <a:rPr sz="950" b="1">
                          <a:solidFill>
                            <a:srgbClr val="FFFFFF"/>
                          </a:solidFill>
                          <a:latin typeface="Calibri"/>
                        </a:rPr>
                        <a:t>What it does</a:t>
                      </a:r>
                    </a:p>
                  </a:txBody>
                  <a:tcPr marL="82296" marR="82296" marT="41148" marB="41148" anchor="ctr">
                    <a:solidFill>
                      <a:srgbClr val="123B47"/>
                    </a:solidFill>
                  </a:tcPr>
                </a:tc>
                <a:tc>
                  <a:txBody>
                    <a:bodyPr/>
                    <a:lstStyle/>
                    <a:p>
                      <a:pPr>
                        <a:lnSpc>
                          <a:spcPct val="105000"/>
                        </a:lnSpc>
                      </a:pPr>
                      <a:r>
                        <a:rPr sz="950" b="1">
                          <a:solidFill>
                            <a:srgbClr val="FFFFFF"/>
                          </a:solidFill>
                          <a:latin typeface="Calibri"/>
                        </a:rPr>
                        <a:t>When to use it</a:t>
                      </a:r>
                    </a:p>
                  </a:txBody>
                  <a:tcPr marL="82296" marR="82296" marT="41148" marB="41148" anchor="ctr">
                    <a:solidFill>
                      <a:srgbClr val="123B47"/>
                    </a:solidFill>
                  </a:tcPr>
                </a:tc>
                <a:tc>
                  <a:txBody>
                    <a:bodyPr/>
                    <a:lstStyle/>
                    <a:p>
                      <a:pPr>
                        <a:lnSpc>
                          <a:spcPct val="105000"/>
                        </a:lnSpc>
                      </a:pPr>
                      <a:r>
                        <a:rPr sz="950" b="1">
                          <a:solidFill>
                            <a:srgbClr val="FFFFFF"/>
                          </a:solidFill>
                          <a:latin typeface="Calibri"/>
                        </a:rPr>
                        <a:t>What it costs</a:t>
                      </a:r>
                    </a:p>
                  </a:txBody>
                  <a:tcPr marL="82296" marR="82296" marT="41148" marB="41148" anchor="ctr">
                    <a:solidFill>
                      <a:srgbClr val="123B47"/>
                    </a:solidFill>
                  </a:tcPr>
                </a:tc>
              </a:tr>
              <a:tr h="502920">
                <a:tc>
                  <a:txBody>
                    <a:bodyPr/>
                    <a:lstStyle/>
                    <a:p>
                      <a:pPr>
                        <a:lnSpc>
                          <a:spcPct val="105000"/>
                        </a:lnSpc>
                      </a:pPr>
                      <a:r>
                        <a:rPr sz="850" b="1">
                          <a:solidFill>
                            <a:srgbClr val="123B47"/>
                          </a:solidFill>
                          <a:latin typeface="Calibri"/>
                        </a:rPr>
                        <a:t>Type 1 — overwrite</a:t>
                      </a:r>
                    </a:p>
                  </a:txBody>
                  <a:tcPr marL="82296" marR="82296" marT="41148" marB="41148" anchor="ctr">
                    <a:solidFill>
                      <a:srgbClr val="FFFFFF"/>
                    </a:solidFill>
                  </a:tcPr>
                </a:tc>
                <a:tc>
                  <a:txBody>
                    <a:bodyPr/>
                    <a:lstStyle/>
                    <a:p>
                      <a:pPr>
                        <a:lnSpc>
                          <a:spcPct val="105000"/>
                        </a:lnSpc>
                      </a:pPr>
                      <a:r>
                        <a:rPr sz="850" b="0">
                          <a:solidFill>
                            <a:srgbClr val="2E3F47"/>
                          </a:solidFill>
                          <a:latin typeface="Calibri"/>
                        </a:rPr>
                        <a:t>New value replaces the old; no history kept</a:t>
                      </a:r>
                    </a:p>
                  </a:txBody>
                  <a:tcPr marL="82296" marR="82296" marT="41148" marB="41148" anchor="ctr">
                    <a:solidFill>
                      <a:srgbClr val="FFFFFF"/>
                    </a:solidFill>
                  </a:tcPr>
                </a:tc>
                <a:tc>
                  <a:txBody>
                    <a:bodyPr/>
                    <a:lstStyle/>
                    <a:p>
                      <a:pPr>
                        <a:lnSpc>
                          <a:spcPct val="105000"/>
                        </a:lnSpc>
                      </a:pPr>
                      <a:r>
                        <a:rPr sz="850" b="0">
                          <a:solidFill>
                            <a:srgbClr val="2E3F47"/>
                          </a:solidFill>
                          <a:latin typeface="Calibri"/>
                        </a:rPr>
                        <a:t>Correcting a genuine data error, e.g. a misspelt name</a:t>
                      </a:r>
                    </a:p>
                  </a:txBody>
                  <a:tcPr marL="82296" marR="82296" marT="41148" marB="41148" anchor="ctr">
                    <a:solidFill>
                      <a:srgbClr val="FFFFFF"/>
                    </a:solidFill>
                  </a:tcPr>
                </a:tc>
                <a:tc>
                  <a:txBody>
                    <a:bodyPr/>
                    <a:lstStyle/>
                    <a:p>
                      <a:pPr>
                        <a:lnSpc>
                          <a:spcPct val="105000"/>
                        </a:lnSpc>
                      </a:pPr>
                      <a:r>
                        <a:rPr sz="850" b="0">
                          <a:solidFill>
                            <a:srgbClr val="2E3F47"/>
                          </a:solidFill>
                          <a:latin typeface="Calibri"/>
                        </a:rPr>
                        <a:t>History is restated; last year's report changes</a:t>
                      </a:r>
                    </a:p>
                  </a:txBody>
                  <a:tcPr marL="82296" marR="82296" marT="41148" marB="41148" anchor="ctr">
                    <a:solidFill>
                      <a:srgbClr val="FFFFFF"/>
                    </a:solidFill>
                  </a:tcPr>
                </a:tc>
              </a:tr>
              <a:tr h="502920">
                <a:tc>
                  <a:txBody>
                    <a:bodyPr/>
                    <a:lstStyle/>
                    <a:p>
                      <a:pPr>
                        <a:lnSpc>
                          <a:spcPct val="105000"/>
                        </a:lnSpc>
                      </a:pPr>
                      <a:r>
                        <a:rPr sz="850" b="1">
                          <a:solidFill>
                            <a:srgbClr val="123B47"/>
                          </a:solidFill>
                          <a:latin typeface="Calibri"/>
                        </a:rPr>
                        <a:t>Type 2 — new row</a:t>
                      </a:r>
                    </a:p>
                  </a:txBody>
                  <a:tcPr marL="82296" marR="82296" marT="41148" marB="41148" anchor="ctr">
                    <a:solidFill>
                      <a:srgbClr val="F1F5F4"/>
                    </a:solidFill>
                  </a:tcPr>
                </a:tc>
                <a:tc>
                  <a:txBody>
                    <a:bodyPr/>
                    <a:lstStyle/>
                    <a:p>
                      <a:pPr>
                        <a:lnSpc>
                          <a:spcPct val="105000"/>
                        </a:lnSpc>
                      </a:pPr>
                      <a:r>
                        <a:rPr sz="850" b="0">
                          <a:solidFill>
                            <a:srgbClr val="2E3F47"/>
                          </a:solidFill>
                          <a:latin typeface="Calibri"/>
                        </a:rPr>
                        <a:t>A version row with effective-from and effective-to dates</a:t>
                      </a:r>
                    </a:p>
                  </a:txBody>
                  <a:tcPr marL="82296" marR="82296" marT="41148" marB="41148" anchor="ctr">
                    <a:solidFill>
                      <a:srgbClr val="F1F5F4"/>
                    </a:solidFill>
                  </a:tcPr>
                </a:tc>
                <a:tc>
                  <a:txBody>
                    <a:bodyPr/>
                    <a:lstStyle/>
                    <a:p>
                      <a:pPr>
                        <a:lnSpc>
                          <a:spcPct val="105000"/>
                        </a:lnSpc>
                      </a:pPr>
                      <a:r>
                        <a:rPr sz="850" b="0">
                          <a:solidFill>
                            <a:srgbClr val="2E3F47"/>
                          </a:solidFill>
                          <a:latin typeface="Calibri"/>
                        </a:rPr>
                        <a:t>Territory, tier, segment — anything a report is grouped by</a:t>
                      </a:r>
                    </a:p>
                  </a:txBody>
                  <a:tcPr marL="82296" marR="82296" marT="41148" marB="41148" anchor="ctr">
                    <a:solidFill>
                      <a:srgbClr val="F1F5F4"/>
                    </a:solidFill>
                  </a:tcPr>
                </a:tc>
                <a:tc>
                  <a:txBody>
                    <a:bodyPr/>
                    <a:lstStyle/>
                    <a:p>
                      <a:pPr>
                        <a:lnSpc>
                          <a:spcPct val="105000"/>
                        </a:lnSpc>
                      </a:pPr>
                      <a:r>
                        <a:rPr sz="850" b="0">
                          <a:solidFill>
                            <a:srgbClr val="2E3F47"/>
                          </a:solidFill>
                          <a:latin typeface="Calibri"/>
                        </a:rPr>
                        <a:t>Row counts grow; every join must respect the date</a:t>
                      </a:r>
                    </a:p>
                  </a:txBody>
                  <a:tcPr marL="82296" marR="82296" marT="41148" marB="41148" anchor="ctr">
                    <a:solidFill>
                      <a:srgbClr val="F1F5F4"/>
                    </a:solidFill>
                  </a:tcPr>
                </a:tc>
              </a:tr>
              <a:tr h="502920">
                <a:tc>
                  <a:txBody>
                    <a:bodyPr/>
                    <a:lstStyle/>
                    <a:p>
                      <a:pPr>
                        <a:lnSpc>
                          <a:spcPct val="105000"/>
                        </a:lnSpc>
                      </a:pPr>
                      <a:r>
                        <a:rPr sz="850" b="1">
                          <a:solidFill>
                            <a:srgbClr val="123B47"/>
                          </a:solidFill>
                          <a:latin typeface="Calibri"/>
                        </a:rPr>
                        <a:t>Type 3 — new column</a:t>
                      </a:r>
                    </a:p>
                  </a:txBody>
                  <a:tcPr marL="82296" marR="82296" marT="41148" marB="41148" anchor="ctr">
                    <a:solidFill>
                      <a:srgbClr val="FFFFFF"/>
                    </a:solidFill>
                  </a:tcPr>
                </a:tc>
                <a:tc>
                  <a:txBody>
                    <a:bodyPr/>
                    <a:lstStyle/>
                    <a:p>
                      <a:pPr>
                        <a:lnSpc>
                          <a:spcPct val="105000"/>
                        </a:lnSpc>
                      </a:pPr>
                      <a:r>
                        <a:rPr sz="850" b="0">
                          <a:solidFill>
                            <a:srgbClr val="2E3F47"/>
                          </a:solidFill>
                          <a:latin typeface="Calibri"/>
                        </a:rPr>
                        <a:t>Keeps only the previous value beside the current one</a:t>
                      </a:r>
                    </a:p>
                  </a:txBody>
                  <a:tcPr marL="82296" marR="82296" marT="41148" marB="41148" anchor="ctr">
                    <a:solidFill>
                      <a:srgbClr val="FFFFFF"/>
                    </a:solidFill>
                  </a:tcPr>
                </a:tc>
                <a:tc>
                  <a:txBody>
                    <a:bodyPr/>
                    <a:lstStyle/>
                    <a:p>
                      <a:pPr>
                        <a:lnSpc>
                          <a:spcPct val="105000"/>
                        </a:lnSpc>
                      </a:pPr>
                      <a:r>
                        <a:rPr sz="850" b="0">
                          <a:solidFill>
                            <a:srgbClr val="2E3F47"/>
                          </a:solidFill>
                          <a:latin typeface="Calibri"/>
                        </a:rPr>
                        <a:t>A single reorganisation where “before and after” is enough</a:t>
                      </a:r>
                    </a:p>
                  </a:txBody>
                  <a:tcPr marL="82296" marR="82296" marT="41148" marB="41148" anchor="ctr">
                    <a:solidFill>
                      <a:srgbClr val="FFFFFF"/>
                    </a:solidFill>
                  </a:tcPr>
                </a:tc>
                <a:tc>
                  <a:txBody>
                    <a:bodyPr/>
                    <a:lstStyle/>
                    <a:p>
                      <a:pPr>
                        <a:lnSpc>
                          <a:spcPct val="105000"/>
                        </a:lnSpc>
                      </a:pPr>
                      <a:r>
                        <a:rPr sz="850" b="0">
                          <a:solidFill>
                            <a:srgbClr val="2E3F47"/>
                          </a:solidFill>
                          <a:latin typeface="Calibri"/>
                        </a:rPr>
                        <a:t>Only one prior version survives</a:t>
                      </a:r>
                    </a:p>
                  </a:txBody>
                  <a:tcPr marL="82296" marR="82296" marT="41148" marB="41148" anchor="ctr">
                    <a:solidFill>
                      <a:srgbClr val="FFFFFF"/>
                    </a:solidFill>
                  </a:tcPr>
                </a:tc>
              </a:tr>
              <a:tr h="502920">
                <a:tc>
                  <a:txBody>
                    <a:bodyPr/>
                    <a:lstStyle/>
                    <a:p>
                      <a:pPr>
                        <a:lnSpc>
                          <a:spcPct val="105000"/>
                        </a:lnSpc>
                      </a:pPr>
                      <a:r>
                        <a:rPr sz="850" b="1">
                          <a:solidFill>
                            <a:srgbClr val="123B47"/>
                          </a:solidFill>
                          <a:latin typeface="Calibri"/>
                        </a:rPr>
                        <a:t>Type 0 / 4 / 6</a:t>
                      </a:r>
                    </a:p>
                  </a:txBody>
                  <a:tcPr marL="82296" marR="82296" marT="41148" marB="41148" anchor="ctr">
                    <a:solidFill>
                      <a:srgbClr val="F1F5F4"/>
                    </a:solidFill>
                  </a:tcPr>
                </a:tc>
                <a:tc>
                  <a:txBody>
                    <a:bodyPr/>
                    <a:lstStyle/>
                    <a:p>
                      <a:pPr>
                        <a:lnSpc>
                          <a:spcPct val="105000"/>
                        </a:lnSpc>
                      </a:pPr>
                      <a:r>
                        <a:rPr sz="850" b="0">
                          <a:solidFill>
                            <a:srgbClr val="2E3F47"/>
                          </a:solidFill>
                          <a:latin typeface="Calibri"/>
                        </a:rPr>
                        <a:t>Retain original, or split current and history tables</a:t>
                      </a:r>
                    </a:p>
                  </a:txBody>
                  <a:tcPr marL="82296" marR="82296" marT="41148" marB="41148" anchor="ctr">
                    <a:solidFill>
                      <a:srgbClr val="F1F5F4"/>
                    </a:solidFill>
                  </a:tcPr>
                </a:tc>
                <a:tc>
                  <a:txBody>
                    <a:bodyPr/>
                    <a:lstStyle/>
                    <a:p>
                      <a:pPr>
                        <a:lnSpc>
                          <a:spcPct val="105000"/>
                        </a:lnSpc>
                      </a:pPr>
                      <a:r>
                        <a:rPr sz="850" b="0">
                          <a:solidFill>
                            <a:srgbClr val="2E3F47"/>
                          </a:solidFill>
                          <a:latin typeface="Calibri"/>
                        </a:rPr>
                        <a:t>Date of birth; or very large dimensions</a:t>
                      </a:r>
                    </a:p>
                  </a:txBody>
                  <a:tcPr marL="82296" marR="82296" marT="41148" marB="41148" anchor="ctr">
                    <a:solidFill>
                      <a:srgbClr val="F1F5F4"/>
                    </a:solidFill>
                  </a:tcPr>
                </a:tc>
                <a:tc>
                  <a:txBody>
                    <a:bodyPr/>
                    <a:lstStyle/>
                    <a:p>
                      <a:pPr>
                        <a:lnSpc>
                          <a:spcPct val="105000"/>
                        </a:lnSpc>
                      </a:pPr>
                      <a:r>
                        <a:rPr sz="850" b="0">
                          <a:solidFill>
                            <a:srgbClr val="2E3F47"/>
                          </a:solidFill>
                          <a:latin typeface="Calibri"/>
                        </a:rPr>
                        <a:t>Design and query complexity</a:t>
                      </a:r>
                    </a:p>
                  </a:txBody>
                  <a:tcPr marL="82296" marR="82296" marT="41148" marB="41148" anchor="ctr">
                    <a:solidFill>
                      <a:srgbClr val="F1F5F4"/>
                    </a:solidFill>
                  </a:tcPr>
                </a:tc>
              </a:tr>
            </a:tbl>
          </a:graphicData>
        </a:graphic>
      </p:graphicFrame>
      <p:sp>
        <p:nvSpPr>
          <p:cNvPr id="10" name="Rounded Rectangle 9"/>
          <p:cNvSpPr/>
          <p:nvPr/>
        </p:nvSpPr>
        <p:spPr>
          <a:xfrm>
            <a:off x="7635240" y="1956816"/>
            <a:ext cx="4005072" cy="2761488"/>
          </a:xfrm>
          <a:prstGeom prst="roundRect">
            <a:avLst>
              <a:gd name="adj" fmla="val 6000"/>
            </a:avLst>
          </a:prstGeom>
          <a:solidFill>
            <a:srgbClr val="FFFFFF"/>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836408" y="2048256"/>
            <a:ext cx="3657600" cy="237744"/>
          </a:xfrm>
          <a:prstGeom prst="rect">
            <a:avLst/>
          </a:prstGeom>
          <a:noFill/>
        </p:spPr>
        <p:txBody>
          <a:bodyPr wrap="square" lIns="0" rIns="0" tIns="0" bIns="0" anchor="t">
            <a:spAutoFit/>
          </a:bodyPr>
          <a:lstStyle/>
          <a:p>
            <a:pPr algn="l">
              <a:spcBef>
                <a:spcPts val="0"/>
              </a:spcBef>
              <a:spcAft>
                <a:spcPts val="0"/>
              </a:spcAft>
            </a:pPr>
            <a:r>
              <a:rPr sz="1150" b="1" i="0">
                <a:solidFill>
                  <a:srgbClr val="123B47"/>
                </a:solidFill>
                <a:latin typeface="Calibri"/>
              </a:rPr>
              <a:t>The same fact, two designs</a:t>
            </a:r>
          </a:p>
        </p:txBody>
      </p:sp>
      <p:sp>
        <p:nvSpPr>
          <p:cNvPr id="12" name="TextBox 11"/>
          <p:cNvSpPr txBox="1"/>
          <p:nvPr/>
        </p:nvSpPr>
        <p:spPr>
          <a:xfrm>
            <a:off x="7836408" y="2304288"/>
            <a:ext cx="3657600" cy="256032"/>
          </a:xfrm>
          <a:prstGeom prst="rect">
            <a:avLst/>
          </a:prstGeom>
          <a:noFill/>
        </p:spPr>
        <p:txBody>
          <a:bodyPr wrap="square" lIns="0" rIns="0" tIns="0" bIns="0" anchor="t">
            <a:spAutoFit/>
          </a:bodyPr>
          <a:lstStyle/>
          <a:p>
            <a:pPr algn="l">
              <a:lnSpc>
                <a:spcPct val="110000"/>
              </a:lnSpc>
              <a:spcBef>
                <a:spcPts val="0"/>
              </a:spcBef>
              <a:spcAft>
                <a:spcPts val="0"/>
              </a:spcAft>
            </a:pPr>
            <a:r>
              <a:rPr sz="850" b="0" i="0">
                <a:solidFill>
                  <a:srgbClr val="5C7079"/>
                </a:solidFill>
                <a:latin typeface="Calibri"/>
              </a:rPr>
              <a:t>Distributor D-104 moves from West to North on 1 Apr 2025</a:t>
            </a:r>
          </a:p>
        </p:txBody>
      </p:sp>
      <p:graphicFrame>
        <p:nvGraphicFramePr>
          <p:cNvPr id="13" name="Table 12"/>
          <p:cNvGraphicFramePr>
            <a:graphicFrameLocks noGrp="1"/>
          </p:cNvGraphicFramePr>
          <p:nvPr/>
        </p:nvGraphicFramePr>
        <p:xfrm>
          <a:off x="7836408" y="2615184"/>
          <a:ext cx="3621024" cy="768096"/>
        </p:xfrm>
        <a:graphic>
          <a:graphicData uri="http://schemas.openxmlformats.org/drawingml/2006/table">
            <a:tbl>
              <a:tblPr firstRow="1" bandRow="1">
                <a:tableStyleId>{5C22544A-7EE6-4342-B048-85BDC9FD1C3A}</a:tableStyleId>
              </a:tblPr>
              <a:tblGrid>
                <a:gridCol w="2523744"/>
                <a:gridCol w="1097280"/>
              </a:tblGrid>
              <a:tr h="256032">
                <a:tc>
                  <a:txBody>
                    <a:bodyPr/>
                    <a:lstStyle/>
                    <a:p>
                      <a:pPr>
                        <a:lnSpc>
                          <a:spcPct val="105000"/>
                        </a:lnSpc>
                      </a:pPr>
                      <a:r>
                        <a:rPr sz="850" b="1">
                          <a:solidFill>
                            <a:srgbClr val="FFFFFF"/>
                          </a:solidFill>
                          <a:latin typeface="Calibri"/>
                        </a:rPr>
                        <a:t>Type 1 (overwrite)</a:t>
                      </a:r>
                    </a:p>
                  </a:txBody>
                  <a:tcPr marL="82296" marR="82296" marT="41148" marB="41148" anchor="ctr">
                    <a:solidFill>
                      <a:srgbClr val="A63B26"/>
                    </a:solidFill>
                  </a:tcPr>
                </a:tc>
                <a:tc>
                  <a:txBody>
                    <a:bodyPr/>
                    <a:lstStyle/>
                    <a:p>
                      <a:pPr>
                        <a:lnSpc>
                          <a:spcPct val="105000"/>
                        </a:lnSpc>
                      </a:pPr>
                      <a:r>
                        <a:rPr sz="850" b="1">
                          <a:solidFill>
                            <a:srgbClr val="FFFFFF"/>
                          </a:solidFill>
                          <a:latin typeface="Calibri"/>
                        </a:rPr>
                        <a:t>Zone</a:t>
                      </a:r>
                    </a:p>
                  </a:txBody>
                  <a:tcPr marL="82296" marR="82296" marT="41148" marB="41148" anchor="ctr">
                    <a:solidFill>
                      <a:srgbClr val="A63B26"/>
                    </a:solidFill>
                  </a:tcPr>
                </a:tc>
              </a:tr>
              <a:tr h="256032">
                <a:tc>
                  <a:txBody>
                    <a:bodyPr/>
                    <a:lstStyle/>
                    <a:p>
                      <a:pPr>
                        <a:lnSpc>
                          <a:spcPct val="105000"/>
                        </a:lnSpc>
                      </a:pPr>
                      <a:r>
                        <a:rPr sz="850" b="1">
                          <a:solidFill>
                            <a:srgbClr val="123B47"/>
                          </a:solidFill>
                          <a:latin typeface="Calibri"/>
                        </a:rPr>
                        <a:t>FY24 sales ₹ 2.1 cr</a:t>
                      </a:r>
                    </a:p>
                  </a:txBody>
                  <a:tcPr marL="82296" marR="82296" marT="41148" marB="41148" anchor="ctr">
                    <a:solidFill>
                      <a:srgbClr val="FFFFFF"/>
                    </a:solidFill>
                  </a:tcPr>
                </a:tc>
                <a:tc>
                  <a:txBody>
                    <a:bodyPr/>
                    <a:lstStyle/>
                    <a:p>
                      <a:pPr>
                        <a:lnSpc>
                          <a:spcPct val="105000"/>
                        </a:lnSpc>
                      </a:pPr>
                      <a:r>
                        <a:rPr sz="850" b="0">
                          <a:solidFill>
                            <a:srgbClr val="2E3F47"/>
                          </a:solidFill>
                          <a:latin typeface="Calibri"/>
                        </a:rPr>
                        <a:t>North</a:t>
                      </a:r>
                    </a:p>
                  </a:txBody>
                  <a:tcPr marL="82296" marR="82296" marT="41148" marB="41148" anchor="ctr">
                    <a:solidFill>
                      <a:srgbClr val="FFFFFF"/>
                    </a:solidFill>
                  </a:tcPr>
                </a:tc>
              </a:tr>
              <a:tr h="256032">
                <a:tc>
                  <a:txBody>
                    <a:bodyPr/>
                    <a:lstStyle/>
                    <a:p>
                      <a:pPr>
                        <a:lnSpc>
                          <a:spcPct val="105000"/>
                        </a:lnSpc>
                      </a:pPr>
                      <a:r>
                        <a:rPr sz="850" b="1">
                          <a:solidFill>
                            <a:srgbClr val="123B47"/>
                          </a:solidFill>
                          <a:latin typeface="Calibri"/>
                        </a:rPr>
                        <a:t>FY25 sales ₹ 2.6 cr</a:t>
                      </a:r>
                    </a:p>
                  </a:txBody>
                  <a:tcPr marL="82296" marR="82296" marT="41148" marB="41148" anchor="ctr">
                    <a:solidFill>
                      <a:srgbClr val="F1F5F4"/>
                    </a:solidFill>
                  </a:tcPr>
                </a:tc>
                <a:tc>
                  <a:txBody>
                    <a:bodyPr/>
                    <a:lstStyle/>
                    <a:p>
                      <a:pPr>
                        <a:lnSpc>
                          <a:spcPct val="105000"/>
                        </a:lnSpc>
                      </a:pPr>
                      <a:r>
                        <a:rPr sz="850" b="0">
                          <a:solidFill>
                            <a:srgbClr val="2E3F47"/>
                          </a:solidFill>
                          <a:latin typeface="Calibri"/>
                        </a:rPr>
                        <a:t>North</a:t>
                      </a:r>
                    </a:p>
                  </a:txBody>
                  <a:tcPr marL="82296" marR="82296" marT="41148" marB="41148" anchor="ctr">
                    <a:solidFill>
                      <a:srgbClr val="F1F5F4"/>
                    </a:solidFill>
                  </a:tcPr>
                </a:tc>
              </a:tr>
            </a:tbl>
          </a:graphicData>
        </a:graphic>
      </p:graphicFrame>
      <p:sp>
        <p:nvSpPr>
          <p:cNvPr id="14" name="TextBox 13"/>
          <p:cNvSpPr txBox="1"/>
          <p:nvPr/>
        </p:nvSpPr>
        <p:spPr>
          <a:xfrm>
            <a:off x="7836408" y="3419856"/>
            <a:ext cx="3621024" cy="201168"/>
          </a:xfrm>
          <a:prstGeom prst="rect">
            <a:avLst/>
          </a:prstGeom>
          <a:noFill/>
        </p:spPr>
        <p:txBody>
          <a:bodyPr wrap="square" lIns="0" rIns="0" tIns="0" bIns="0" anchor="t">
            <a:spAutoFit/>
          </a:bodyPr>
          <a:lstStyle/>
          <a:p>
            <a:pPr algn="l">
              <a:spcBef>
                <a:spcPts val="0"/>
              </a:spcBef>
              <a:spcAft>
                <a:spcPts val="0"/>
              </a:spcAft>
            </a:pPr>
            <a:r>
              <a:rPr sz="800" b="1" i="0">
                <a:solidFill>
                  <a:srgbClr val="A63B26"/>
                </a:solidFill>
                <a:latin typeface="Calibri"/>
              </a:rPr>
              <a:t>West's history has disappeared.</a:t>
            </a:r>
          </a:p>
        </p:txBody>
      </p:sp>
      <p:graphicFrame>
        <p:nvGraphicFramePr>
          <p:cNvPr id="15" name="Table 14"/>
          <p:cNvGraphicFramePr>
            <a:graphicFrameLocks noGrp="1"/>
          </p:cNvGraphicFramePr>
          <p:nvPr/>
        </p:nvGraphicFramePr>
        <p:xfrm>
          <a:off x="7836408" y="3657600"/>
          <a:ext cx="3621024" cy="768096"/>
        </p:xfrm>
        <a:graphic>
          <a:graphicData uri="http://schemas.openxmlformats.org/drawingml/2006/table">
            <a:tbl>
              <a:tblPr firstRow="1" bandRow="1">
                <a:tableStyleId>{5C22544A-7EE6-4342-B048-85BDC9FD1C3A}</a:tableStyleId>
              </a:tblPr>
              <a:tblGrid>
                <a:gridCol w="2523744"/>
                <a:gridCol w="1097280"/>
              </a:tblGrid>
              <a:tr h="256032">
                <a:tc>
                  <a:txBody>
                    <a:bodyPr/>
                    <a:lstStyle/>
                    <a:p>
                      <a:pPr>
                        <a:lnSpc>
                          <a:spcPct val="105000"/>
                        </a:lnSpc>
                      </a:pPr>
                      <a:r>
                        <a:rPr sz="850" b="1">
                          <a:solidFill>
                            <a:srgbClr val="FFFFFF"/>
                          </a:solidFill>
                          <a:latin typeface="Calibri"/>
                        </a:rPr>
                        <a:t>Type 2 (versioned)</a:t>
                      </a:r>
                    </a:p>
                  </a:txBody>
                  <a:tcPr marL="82296" marR="82296" marT="41148" marB="41148" anchor="ctr">
                    <a:solidFill>
                      <a:srgbClr val="1B7F79"/>
                    </a:solidFill>
                  </a:tcPr>
                </a:tc>
                <a:tc>
                  <a:txBody>
                    <a:bodyPr/>
                    <a:lstStyle/>
                    <a:p>
                      <a:pPr>
                        <a:lnSpc>
                          <a:spcPct val="105000"/>
                        </a:lnSpc>
                      </a:pPr>
                      <a:r>
                        <a:rPr sz="850" b="1">
                          <a:solidFill>
                            <a:srgbClr val="FFFFFF"/>
                          </a:solidFill>
                          <a:latin typeface="Calibri"/>
                        </a:rPr>
                        <a:t>Zone</a:t>
                      </a:r>
                    </a:p>
                  </a:txBody>
                  <a:tcPr marL="82296" marR="82296" marT="41148" marB="41148" anchor="ctr">
                    <a:solidFill>
                      <a:srgbClr val="1B7F79"/>
                    </a:solidFill>
                  </a:tcPr>
                </a:tc>
              </a:tr>
              <a:tr h="256032">
                <a:tc>
                  <a:txBody>
                    <a:bodyPr/>
                    <a:lstStyle/>
                    <a:p>
                      <a:pPr>
                        <a:lnSpc>
                          <a:spcPct val="105000"/>
                        </a:lnSpc>
                      </a:pPr>
                      <a:r>
                        <a:rPr sz="850" b="1">
                          <a:solidFill>
                            <a:srgbClr val="123B47"/>
                          </a:solidFill>
                          <a:latin typeface="Calibri"/>
                        </a:rPr>
                        <a:t>FY24 sales ₹ 2.1 cr</a:t>
                      </a:r>
                    </a:p>
                  </a:txBody>
                  <a:tcPr marL="82296" marR="82296" marT="41148" marB="41148" anchor="ctr">
                    <a:solidFill>
                      <a:srgbClr val="FFFFFF"/>
                    </a:solidFill>
                  </a:tcPr>
                </a:tc>
                <a:tc>
                  <a:txBody>
                    <a:bodyPr/>
                    <a:lstStyle/>
                    <a:p>
                      <a:pPr>
                        <a:lnSpc>
                          <a:spcPct val="105000"/>
                        </a:lnSpc>
                      </a:pPr>
                      <a:r>
                        <a:rPr sz="850" b="0">
                          <a:solidFill>
                            <a:srgbClr val="2E3F47"/>
                          </a:solidFill>
                          <a:latin typeface="Calibri"/>
                        </a:rPr>
                        <a:t>West</a:t>
                      </a:r>
                    </a:p>
                  </a:txBody>
                  <a:tcPr marL="82296" marR="82296" marT="41148" marB="41148" anchor="ctr">
                    <a:solidFill>
                      <a:srgbClr val="FFFFFF"/>
                    </a:solidFill>
                  </a:tcPr>
                </a:tc>
              </a:tr>
              <a:tr h="256032">
                <a:tc>
                  <a:txBody>
                    <a:bodyPr/>
                    <a:lstStyle/>
                    <a:p>
                      <a:pPr>
                        <a:lnSpc>
                          <a:spcPct val="105000"/>
                        </a:lnSpc>
                      </a:pPr>
                      <a:r>
                        <a:rPr sz="850" b="1">
                          <a:solidFill>
                            <a:srgbClr val="123B47"/>
                          </a:solidFill>
                          <a:latin typeface="Calibri"/>
                        </a:rPr>
                        <a:t>FY25 sales ₹ 2.6 cr</a:t>
                      </a:r>
                    </a:p>
                  </a:txBody>
                  <a:tcPr marL="82296" marR="82296" marT="41148" marB="41148" anchor="ctr">
                    <a:solidFill>
                      <a:srgbClr val="F1F5F4"/>
                    </a:solidFill>
                  </a:tcPr>
                </a:tc>
                <a:tc>
                  <a:txBody>
                    <a:bodyPr/>
                    <a:lstStyle/>
                    <a:p>
                      <a:pPr>
                        <a:lnSpc>
                          <a:spcPct val="105000"/>
                        </a:lnSpc>
                      </a:pPr>
                      <a:r>
                        <a:rPr sz="850" b="0">
                          <a:solidFill>
                            <a:srgbClr val="2E3F47"/>
                          </a:solidFill>
                          <a:latin typeface="Calibri"/>
                        </a:rPr>
                        <a:t>North</a:t>
                      </a:r>
                    </a:p>
                  </a:txBody>
                  <a:tcPr marL="82296" marR="82296" marT="41148" marB="41148" anchor="ctr">
                    <a:solidFill>
                      <a:srgbClr val="F1F5F4"/>
                    </a:solidFill>
                  </a:tcPr>
                </a:tc>
              </a:tr>
            </a:tbl>
          </a:graphicData>
        </a:graphic>
      </p:graphicFrame>
      <p:sp>
        <p:nvSpPr>
          <p:cNvPr id="16" name="TextBox 15"/>
          <p:cNvSpPr txBox="1"/>
          <p:nvPr/>
        </p:nvSpPr>
        <p:spPr>
          <a:xfrm>
            <a:off x="7836408" y="4462272"/>
            <a:ext cx="3621024" cy="201168"/>
          </a:xfrm>
          <a:prstGeom prst="rect">
            <a:avLst/>
          </a:prstGeom>
          <a:noFill/>
        </p:spPr>
        <p:txBody>
          <a:bodyPr wrap="square" lIns="0" rIns="0" tIns="0" bIns="0" anchor="t">
            <a:spAutoFit/>
          </a:bodyPr>
          <a:lstStyle/>
          <a:p>
            <a:pPr algn="l">
              <a:spcBef>
                <a:spcPts val="0"/>
              </a:spcBef>
              <a:spcAft>
                <a:spcPts val="0"/>
              </a:spcAft>
            </a:pPr>
            <a:r>
              <a:rPr sz="800" b="1" i="0">
                <a:solidFill>
                  <a:srgbClr val="1B7F79"/>
                </a:solidFill>
                <a:latin typeface="Calibri"/>
              </a:rPr>
              <a:t>Both years reported on the correct zone.</a:t>
            </a:r>
          </a:p>
        </p:txBody>
      </p:sp>
      <p:sp>
        <p:nvSpPr>
          <p:cNvPr id="17" name="Rounded Rectangle 16"/>
          <p:cNvSpPr/>
          <p:nvPr/>
        </p:nvSpPr>
        <p:spPr>
          <a:xfrm>
            <a:off x="548640" y="4828032"/>
            <a:ext cx="11094415" cy="640080"/>
          </a:xfrm>
          <a:prstGeom prst="roundRect">
            <a:avLst>
              <a:gd name="adj" fmla="val 6000"/>
            </a:avLst>
          </a:prstGeom>
          <a:solidFill>
            <a:srgbClr val="123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768096" y="4928616"/>
            <a:ext cx="10655503" cy="438912"/>
          </a:xfrm>
          <a:prstGeom prst="rect">
            <a:avLst/>
          </a:prstGeom>
          <a:noFill/>
        </p:spPr>
        <p:txBody>
          <a:bodyPr wrap="square" lIns="0" rIns="0" tIns="0" bIns="0" anchor="ctr">
            <a:spAutoFit/>
          </a:bodyPr>
          <a:lstStyle/>
          <a:p>
            <a:pPr algn="l">
              <a:lnSpc>
                <a:spcPct val="114000"/>
              </a:lnSpc>
            </a:pPr>
            <a:r>
              <a:rPr sz="1100" b="1">
                <a:solidFill>
                  <a:srgbClr val="E8A33D"/>
                </a:solidFill>
                <a:latin typeface="Calibri"/>
              </a:rPr>
              <a:t>This is a business decision, not a technical one.  </a:t>
            </a:r>
            <a:r>
              <a:rPr sz="1100">
                <a:solidFill>
                  <a:srgbClr val="FFFFFF"/>
                </a:solidFill>
                <a:latin typeface="Calibri"/>
              </a:rPr>
              <a:t>Ask the business owner: “when the territory changes, should last year's report change too?” If no, it is Type 2. If “it was simply wrong before”, it is Type 1. Getting this wrong is the commonest cause of historical figures that will not reconcile with what was published at the time.</a:t>
            </a:r>
          </a:p>
        </p:txBody>
      </p:sp>
      <p:sp>
        <p:nvSpPr>
          <p:cNvPr id="19" name="Rounded Rectangle 18"/>
          <p:cNvSpPr/>
          <p:nvPr/>
        </p:nvSpPr>
        <p:spPr>
          <a:xfrm>
            <a:off x="548640" y="5486400"/>
            <a:ext cx="5394960" cy="822960"/>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31520" y="5577840"/>
            <a:ext cx="5029200" cy="219456"/>
          </a:xfrm>
          <a:prstGeom prst="rect">
            <a:avLst/>
          </a:prstGeom>
          <a:noFill/>
        </p:spPr>
        <p:txBody>
          <a:bodyPr wrap="square" lIns="0" rIns="0" tIns="0" bIns="0" anchor="t">
            <a:spAutoFit/>
          </a:bodyPr>
          <a:lstStyle/>
          <a:p>
            <a:pPr algn="l">
              <a:spcBef>
                <a:spcPts val="0"/>
              </a:spcBef>
              <a:spcAft>
                <a:spcPts val="0"/>
              </a:spcAft>
            </a:pPr>
            <a:r>
              <a:rPr sz="1100" b="1" i="0">
                <a:solidFill>
                  <a:srgbClr val="123B47"/>
                </a:solidFill>
                <a:latin typeface="Calibri"/>
              </a:rPr>
              <a:t>Governance that must exist from day one</a:t>
            </a:r>
          </a:p>
        </p:txBody>
      </p:sp>
      <p:sp>
        <p:nvSpPr>
          <p:cNvPr id="21" name="TextBox 20"/>
          <p:cNvSpPr txBox="1"/>
          <p:nvPr/>
        </p:nvSpPr>
        <p:spPr>
          <a:xfrm>
            <a:off x="731520" y="5815584"/>
            <a:ext cx="5029200" cy="438912"/>
          </a:xfrm>
          <a:prstGeom prst="rect">
            <a:avLst/>
          </a:prstGeom>
          <a:noFill/>
        </p:spPr>
        <p:txBody>
          <a:bodyPr wrap="square" lIns="0" rIns="0" tIns="0" bIns="0" anchor="t">
            <a:spAutoFit/>
          </a:bodyPr>
          <a:lstStyle/>
          <a:p>
            <a:pPr algn="l">
              <a:lnSpc>
                <a:spcPct val="112000"/>
              </a:lnSpc>
              <a:spcAft>
                <a:spcPts val="150"/>
              </a:spcAft>
            </a:pPr>
            <a:r>
              <a:rPr sz="850">
                <a:solidFill>
                  <a:srgbClr val="E8A33D"/>
                </a:solidFill>
                <a:latin typeface="Calibri"/>
              </a:rPr>
              <a:t>▪  </a:t>
            </a:r>
            <a:r>
              <a:rPr sz="850">
                <a:solidFill>
                  <a:srgbClr val="2E3F47"/>
                </a:solidFill>
                <a:latin typeface="Calibri"/>
              </a:rPr>
              <a:t>Row-level security in the model, never separate report copies</a:t>
            </a:r>
          </a:p>
          <a:p>
            <a:pPr>
              <a:lnSpc>
                <a:spcPct val="112000"/>
              </a:lnSpc>
              <a:spcAft>
                <a:spcPts val="150"/>
              </a:spcAft>
            </a:pPr>
            <a:r>
              <a:rPr sz="850">
                <a:solidFill>
                  <a:srgbClr val="E8A33D"/>
                </a:solidFill>
                <a:latin typeface="Calibri"/>
              </a:rPr>
              <a:t>▪  </a:t>
            </a:r>
            <a:r>
              <a:rPr sz="850">
                <a:solidFill>
                  <a:srgbClr val="2E3F47"/>
                </a:solidFill>
                <a:latin typeface="Calibri"/>
              </a:rPr>
              <a:t>Masking for salary, diagnosis, Aadhaar and PAN identifiers</a:t>
            </a:r>
          </a:p>
          <a:p>
            <a:pPr>
              <a:lnSpc>
                <a:spcPct val="112000"/>
              </a:lnSpc>
              <a:spcAft>
                <a:spcPts val="150"/>
              </a:spcAft>
            </a:pPr>
            <a:r>
              <a:rPr sz="850">
                <a:solidFill>
                  <a:srgbClr val="E8A33D"/>
                </a:solidFill>
                <a:latin typeface="Calibri"/>
              </a:rPr>
              <a:t>▪  </a:t>
            </a:r>
            <a:r>
              <a:rPr sz="850">
                <a:solidFill>
                  <a:srgbClr val="2E3F47"/>
                </a:solidFill>
                <a:latin typeface="Calibri"/>
              </a:rPr>
              <a:t>A named business owner and technical custodian per measure</a:t>
            </a:r>
          </a:p>
        </p:txBody>
      </p:sp>
      <p:sp>
        <p:nvSpPr>
          <p:cNvPr id="22" name="Rounded Rectangle 21"/>
          <p:cNvSpPr/>
          <p:nvPr/>
        </p:nvSpPr>
        <p:spPr>
          <a:xfrm>
            <a:off x="6245352" y="5486400"/>
            <a:ext cx="5394960" cy="822960"/>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28232" y="5577840"/>
            <a:ext cx="5029200" cy="219456"/>
          </a:xfrm>
          <a:prstGeom prst="rect">
            <a:avLst/>
          </a:prstGeom>
          <a:noFill/>
        </p:spPr>
        <p:txBody>
          <a:bodyPr wrap="square" lIns="0" rIns="0" tIns="0" bIns="0" anchor="t">
            <a:spAutoFit/>
          </a:bodyPr>
          <a:lstStyle/>
          <a:p>
            <a:pPr algn="l">
              <a:spcBef>
                <a:spcPts val="0"/>
              </a:spcBef>
              <a:spcAft>
                <a:spcPts val="0"/>
              </a:spcAft>
            </a:pPr>
            <a:r>
              <a:rPr sz="1100" b="1" i="0">
                <a:solidFill>
                  <a:srgbClr val="123B47"/>
                </a:solidFill>
                <a:latin typeface="Calibri"/>
              </a:rPr>
              <a:t>The cost driver that surprises people</a:t>
            </a:r>
          </a:p>
        </p:txBody>
      </p:sp>
      <p:sp>
        <p:nvSpPr>
          <p:cNvPr id="24" name="TextBox 23"/>
          <p:cNvSpPr txBox="1"/>
          <p:nvPr/>
        </p:nvSpPr>
        <p:spPr>
          <a:xfrm>
            <a:off x="6428232" y="5815584"/>
            <a:ext cx="5029200" cy="438912"/>
          </a:xfrm>
          <a:prstGeom prst="rect">
            <a:avLst/>
          </a:prstGeom>
          <a:noFill/>
        </p:spPr>
        <p:txBody>
          <a:bodyPr wrap="square" lIns="0" rIns="0" tIns="0" bIns="0" anchor="t">
            <a:spAutoFit/>
          </a:bodyPr>
          <a:lstStyle/>
          <a:p>
            <a:pPr algn="l">
              <a:lnSpc>
                <a:spcPct val="112000"/>
              </a:lnSpc>
              <a:spcBef>
                <a:spcPts val="0"/>
              </a:spcBef>
              <a:spcAft>
                <a:spcPts val="0"/>
              </a:spcAft>
            </a:pPr>
            <a:r>
              <a:rPr sz="850" b="0" i="0">
                <a:solidFill>
                  <a:srgbClr val="2E3F47"/>
                </a:solidFill>
                <a:latin typeface="Calibri"/>
              </a:rPr>
              <a:t>Not storage, which is cheap, but compute — the frequency of full refreshes and the habit of rebuilding all history nightly because incremental loading was never designed. Most cloud bill shocks trace to exactly that.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bg>
    <p:bgPr>
      <a:solidFill>
        <a:srgbClr val="FFFFFF"/>
      </a:solidFill>
      <a:effectLst/>
    </p:bgPr>
  </p:bg>
  <p:cSld>
    <p:spTree>
      <p:nvGrpSpPr>
        <p:cNvPr id="1" name=""/>
        <p:cNvGrpSpPr/>
        <p:nvPr/>
      </p:nvGrpSpPr>
      <p:grpSpPr/>
      <p:sp>
        <p:nvSpPr>
          <p:cNvPr id="2" name="Oval 1"/>
          <p:cNvSpPr/>
          <p:nvPr/>
        </p:nvSpPr>
        <p:spPr>
          <a:xfrm>
            <a:off x="548640" y="374904"/>
            <a:ext cx="109728" cy="109728"/>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283464"/>
            <a:ext cx="10893247" cy="256032"/>
          </a:xfrm>
          <a:prstGeom prst="rect">
            <a:avLst/>
          </a:prstGeom>
          <a:noFill/>
        </p:spPr>
        <p:txBody>
          <a:bodyPr wrap="square" lIns="0" rIns="0" tIns="0" bIns="0" anchor="t">
            <a:spAutoFit/>
          </a:bodyPr>
          <a:lstStyle/>
          <a:p>
            <a:pPr algn="l">
              <a:spcBef>
                <a:spcPts val="0"/>
              </a:spcBef>
              <a:spcAft>
                <a:spcPts val="0"/>
              </a:spcAft>
            </a:pPr>
            <a:r>
              <a:rPr sz="1000" b="1" i="0">
                <a:solidFill>
                  <a:srgbClr val="B87A1E"/>
                </a:solidFill>
                <a:latin typeface="Calibri"/>
              </a:rPr>
              <a:t>PART 4 · WORKED CASE</a:t>
            </a:r>
          </a:p>
        </p:txBody>
      </p:sp>
      <p:sp>
        <p:nvSpPr>
          <p:cNvPr id="4" name="TextBox 3"/>
          <p:cNvSpPr txBox="1"/>
          <p:nvPr/>
        </p:nvSpPr>
        <p:spPr>
          <a:xfrm>
            <a:off x="548640" y="548640"/>
            <a:ext cx="11094415" cy="640080"/>
          </a:xfrm>
          <a:prstGeom prst="rect">
            <a:avLst/>
          </a:prstGeom>
          <a:noFill/>
        </p:spPr>
        <p:txBody>
          <a:bodyPr wrap="square" lIns="0" rIns="0" tIns="0" bIns="0" anchor="t">
            <a:spAutoFit/>
          </a:bodyPr>
          <a:lstStyle/>
          <a:p>
            <a:pPr algn="l">
              <a:spcBef>
                <a:spcPts val="0"/>
              </a:spcBef>
              <a:spcAft>
                <a:spcPts val="0"/>
              </a:spcAft>
            </a:pPr>
            <a:r>
              <a:rPr sz="2600" b="1" i="0">
                <a:solidFill>
                  <a:srgbClr val="123B47"/>
                </a:solidFill>
                <a:latin typeface="Cambria"/>
              </a:rPr>
              <a:t>Rajputana Dairy Ltd — complaint, diagnosis, remedy</a:t>
            </a:r>
          </a:p>
        </p:txBody>
      </p:sp>
      <p:sp>
        <p:nvSpPr>
          <p:cNvPr id="5" name="TextBox 4"/>
          <p:cNvSpPr txBox="1"/>
          <p:nvPr/>
        </p:nvSpPr>
        <p:spPr>
          <a:xfrm>
            <a:off x="548640" y="6382512"/>
            <a:ext cx="8686800" cy="256032"/>
          </a:xfrm>
          <a:prstGeom prst="rect">
            <a:avLst/>
          </a:prstGeom>
          <a:noFill/>
        </p:spPr>
        <p:txBody>
          <a:bodyPr wrap="square" lIns="0" rIns="0" tIns="0" bIns="0" anchor="t">
            <a:spAutoFit/>
          </a:bodyPr>
          <a:lstStyle/>
          <a:p>
            <a:pPr algn="l">
              <a:spcBef>
                <a:spcPts val="0"/>
              </a:spcBef>
              <a:spcAft>
                <a:spcPts val="0"/>
              </a:spcAft>
            </a:pPr>
            <a:r>
              <a:rPr sz="900" b="0" i="0">
                <a:solidFill>
                  <a:srgbClr val="5C7079"/>
                </a:solidFill>
                <a:latin typeface="Calibri"/>
              </a:rPr>
              <a:t>Business Intelligence  |  Session 6 — Data Warehousing &amp; OLTP/OLAP  |  IILM Jaipur, MBA</a:t>
            </a:r>
          </a:p>
        </p:txBody>
      </p:sp>
      <p:sp>
        <p:nvSpPr>
          <p:cNvPr id="6" name="TextBox 5"/>
          <p:cNvSpPr txBox="1"/>
          <p:nvPr/>
        </p:nvSpPr>
        <p:spPr>
          <a:xfrm>
            <a:off x="10545775" y="6382512"/>
            <a:ext cx="1097280" cy="256032"/>
          </a:xfrm>
          <a:prstGeom prst="rect">
            <a:avLst/>
          </a:prstGeom>
          <a:noFill/>
        </p:spPr>
        <p:txBody>
          <a:bodyPr wrap="square" lIns="0" rIns="0" tIns="0" bIns="0" anchor="t">
            <a:spAutoFit/>
          </a:bodyPr>
          <a:lstStyle/>
          <a:p>
            <a:pPr algn="r">
              <a:spcBef>
                <a:spcPts val="0"/>
              </a:spcBef>
              <a:spcAft>
                <a:spcPts val="0"/>
              </a:spcAft>
            </a:pPr>
            <a:r>
              <a:rPr sz="950" b="1" i="0">
                <a:solidFill>
                  <a:srgbClr val="1B7F79"/>
                </a:solidFill>
                <a:latin typeface="Calibri"/>
              </a:rPr>
              <a:t>12</a:t>
            </a:r>
          </a:p>
        </p:txBody>
      </p:sp>
      <p:sp>
        <p:nvSpPr>
          <p:cNvPr id="7" name="Rounded Rectangle 6"/>
          <p:cNvSpPr/>
          <p:nvPr/>
        </p:nvSpPr>
        <p:spPr>
          <a:xfrm>
            <a:off x="548640" y="1298448"/>
            <a:ext cx="11094415" cy="475488"/>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68096" y="1353312"/>
            <a:ext cx="10655503" cy="365760"/>
          </a:xfrm>
          <a:prstGeom prst="rect">
            <a:avLst/>
          </a:prstGeom>
          <a:noFill/>
        </p:spPr>
        <p:txBody>
          <a:bodyPr wrap="square" lIns="0" rIns="0" tIns="0" bIns="0" anchor="ctr">
            <a:spAutoFit/>
          </a:bodyPr>
          <a:lstStyle/>
          <a:p>
            <a:pPr algn="l">
              <a:spcBef>
                <a:spcPts val="0"/>
              </a:spcBef>
              <a:spcAft>
                <a:spcPts val="0"/>
              </a:spcAft>
            </a:pPr>
            <a:r>
              <a:rPr sz="950" b="0" i="0">
                <a:solidFill>
                  <a:srgbClr val="2E3F47"/>
                </a:solidFill>
                <a:latin typeface="Calibri"/>
              </a:rPr>
              <a:t>1,240 village societies · 3 plants · 42 products · 380 distributors · ₹ 890 crore turnover · four unconnected systems: ERP, procurement, distributor management, payroll.</a:t>
            </a:r>
          </a:p>
        </p:txBody>
      </p:sp>
      <p:graphicFrame>
        <p:nvGraphicFramePr>
          <p:cNvPr id="9" name="Table 8"/>
          <p:cNvGraphicFramePr>
            <a:graphicFrameLocks noGrp="1"/>
          </p:cNvGraphicFramePr>
          <p:nvPr/>
        </p:nvGraphicFramePr>
        <p:xfrm>
          <a:off x="548640" y="1920240"/>
          <a:ext cx="11094413" cy="2834640"/>
        </p:xfrm>
        <a:graphic>
          <a:graphicData uri="http://schemas.openxmlformats.org/drawingml/2006/table">
            <a:tbl>
              <a:tblPr firstRow="1" bandRow="1">
                <a:tableStyleId>{5C22544A-7EE6-4342-B048-85BDC9FD1C3A}</a:tableStyleId>
              </a:tblPr>
              <a:tblGrid>
                <a:gridCol w="3300817"/>
                <a:gridCol w="2750681"/>
                <a:gridCol w="1558719"/>
                <a:gridCol w="3484196"/>
              </a:tblGrid>
              <a:tr h="566928">
                <a:tc>
                  <a:txBody>
                    <a:bodyPr/>
                    <a:lstStyle/>
                    <a:p>
                      <a:pPr>
                        <a:lnSpc>
                          <a:spcPct val="105000"/>
                        </a:lnSpc>
                      </a:pPr>
                      <a:r>
                        <a:rPr sz="950" b="1">
                          <a:solidFill>
                            <a:srgbClr val="FFFFFF"/>
                          </a:solidFill>
                          <a:latin typeface="Calibri"/>
                        </a:rPr>
                        <a:t>The complaint to the MD</a:t>
                      </a:r>
                    </a:p>
                  </a:txBody>
                  <a:tcPr marL="82296" marR="82296" marT="41148" marB="41148" anchor="ctr">
                    <a:solidFill>
                      <a:srgbClr val="123B47"/>
                    </a:solidFill>
                  </a:tcPr>
                </a:tc>
                <a:tc>
                  <a:txBody>
                    <a:bodyPr/>
                    <a:lstStyle/>
                    <a:p>
                      <a:pPr>
                        <a:lnSpc>
                          <a:spcPct val="105000"/>
                        </a:lnSpc>
                      </a:pPr>
                      <a:r>
                        <a:rPr sz="950" b="1">
                          <a:solidFill>
                            <a:srgbClr val="FFFFFF"/>
                          </a:solidFill>
                          <a:latin typeface="Calibri"/>
                        </a:rPr>
                        <a:t>Root cause</a:t>
                      </a:r>
                    </a:p>
                  </a:txBody>
                  <a:tcPr marL="82296" marR="82296" marT="41148" marB="41148" anchor="ctr">
                    <a:solidFill>
                      <a:srgbClr val="123B47"/>
                    </a:solidFill>
                  </a:tcPr>
                </a:tc>
                <a:tc>
                  <a:txBody>
                    <a:bodyPr/>
                    <a:lstStyle/>
                    <a:p>
                      <a:pPr>
                        <a:lnSpc>
                          <a:spcPct val="105000"/>
                        </a:lnSpc>
                      </a:pPr>
                      <a:r>
                        <a:rPr sz="950" b="1">
                          <a:solidFill>
                            <a:srgbClr val="FFFFFF"/>
                          </a:solidFill>
                          <a:latin typeface="Calibri"/>
                        </a:rPr>
                        <a:t>Missing property</a:t>
                      </a:r>
                    </a:p>
                  </a:txBody>
                  <a:tcPr marL="82296" marR="82296" marT="41148" marB="41148" anchor="ctr">
                    <a:solidFill>
                      <a:srgbClr val="123B47"/>
                    </a:solidFill>
                  </a:tcPr>
                </a:tc>
                <a:tc>
                  <a:txBody>
                    <a:bodyPr/>
                    <a:lstStyle/>
                    <a:p>
                      <a:pPr>
                        <a:lnSpc>
                          <a:spcPct val="105000"/>
                        </a:lnSpc>
                      </a:pPr>
                      <a:r>
                        <a:rPr sz="950" b="1">
                          <a:solidFill>
                            <a:srgbClr val="FFFFFF"/>
                          </a:solidFill>
                          <a:latin typeface="Calibri"/>
                        </a:rPr>
                        <a:t>What was built</a:t>
                      </a:r>
                    </a:p>
                  </a:txBody>
                  <a:tcPr marL="82296" marR="82296" marT="41148" marB="41148" anchor="ctr">
                    <a:solidFill>
                      <a:srgbClr val="123B47"/>
                    </a:solidFill>
                  </a:tcPr>
                </a:tc>
              </a:tr>
              <a:tr h="566928">
                <a:tc>
                  <a:txBody>
                    <a:bodyPr/>
                    <a:lstStyle/>
                    <a:p>
                      <a:pPr>
                        <a:lnSpc>
                          <a:spcPct val="105000"/>
                        </a:lnSpc>
                      </a:pPr>
                      <a:r>
                        <a:rPr sz="850" b="1">
                          <a:solidFill>
                            <a:srgbClr val="123B47"/>
                          </a:solidFill>
                          <a:latin typeface="Calibri"/>
                        </a:rPr>
                        <a:t>“Three departments give three different despatch figures.”</a:t>
                      </a:r>
                    </a:p>
                  </a:txBody>
                  <a:tcPr marL="82296" marR="82296" marT="41148" marB="41148" anchor="ctr">
                    <a:solidFill>
                      <a:srgbClr val="FFFFFF"/>
                    </a:solidFill>
                  </a:tcPr>
                </a:tc>
                <a:tc>
                  <a:txBody>
                    <a:bodyPr/>
                    <a:lstStyle/>
                    <a:p>
                      <a:pPr>
                        <a:lnSpc>
                          <a:spcPct val="105000"/>
                        </a:lnSpc>
                      </a:pPr>
                      <a:r>
                        <a:rPr sz="850" b="0">
                          <a:solidFill>
                            <a:srgbClr val="2E3F47"/>
                          </a:solidFill>
                          <a:latin typeface="Calibri"/>
                        </a:rPr>
                        <a:t>No integration layer; each system defines despatch differently</a:t>
                      </a:r>
                    </a:p>
                  </a:txBody>
                  <a:tcPr marL="82296" marR="82296" marT="41148" marB="41148" anchor="ctr">
                    <a:solidFill>
                      <a:srgbClr val="FFFFFF"/>
                    </a:solidFill>
                  </a:tcPr>
                </a:tc>
                <a:tc>
                  <a:txBody>
                    <a:bodyPr/>
                    <a:lstStyle/>
                    <a:p>
                      <a:pPr>
                        <a:lnSpc>
                          <a:spcPct val="105000"/>
                        </a:lnSpc>
                      </a:pPr>
                      <a:r>
                        <a:rPr sz="850" b="0">
                          <a:solidFill>
                            <a:srgbClr val="2E3F47"/>
                          </a:solidFill>
                          <a:latin typeface="Calibri"/>
                        </a:rPr>
                        <a:t>Integrated</a:t>
                      </a:r>
                    </a:p>
                  </a:txBody>
                  <a:tcPr marL="82296" marR="82296" marT="41148" marB="41148" anchor="ctr">
                    <a:solidFill>
                      <a:srgbClr val="FFFFFF"/>
                    </a:solidFill>
                  </a:tcPr>
                </a:tc>
                <a:tc>
                  <a:txBody>
                    <a:bodyPr/>
                    <a:lstStyle/>
                    <a:p>
                      <a:pPr>
                        <a:lnSpc>
                          <a:spcPct val="105000"/>
                        </a:lnSpc>
                      </a:pPr>
                      <a:r>
                        <a:rPr sz="850" b="0">
                          <a:solidFill>
                            <a:srgbClr val="2E3F47"/>
                          </a:solidFill>
                          <a:latin typeface="Calibri"/>
                        </a:rPr>
                        <a:t>Conformed distributor, society and product dimensions in silver</a:t>
                      </a:r>
                    </a:p>
                  </a:txBody>
                  <a:tcPr marL="82296" marR="82296" marT="41148" marB="41148" anchor="ctr">
                    <a:solidFill>
                      <a:srgbClr val="FFFFFF"/>
                    </a:solidFill>
                  </a:tcPr>
                </a:tc>
              </a:tr>
              <a:tr h="566928">
                <a:tc>
                  <a:txBody>
                    <a:bodyPr/>
                    <a:lstStyle/>
                    <a:p>
                      <a:pPr>
                        <a:lnSpc>
                          <a:spcPct val="105000"/>
                        </a:lnSpc>
                      </a:pPr>
                      <a:r>
                        <a:rPr sz="850" b="1">
                          <a:solidFill>
                            <a:srgbClr val="123B47"/>
                          </a:solidFill>
                          <a:latin typeface="Calibri"/>
                        </a:rPr>
                        <a:t>“Distributor profitability takes eleven days and is a fortnight old.”</a:t>
                      </a:r>
                    </a:p>
                  </a:txBody>
                  <a:tcPr marL="82296" marR="82296" marT="41148" marB="41148" anchor="ctr">
                    <a:solidFill>
                      <a:srgbClr val="F1F5F4"/>
                    </a:solidFill>
                  </a:tcPr>
                </a:tc>
                <a:tc>
                  <a:txBody>
                    <a:bodyPr/>
                    <a:lstStyle/>
                    <a:p>
                      <a:pPr>
                        <a:lnSpc>
                          <a:spcPct val="105000"/>
                        </a:lnSpc>
                      </a:pPr>
                      <a:r>
                        <a:rPr sz="850" b="0">
                          <a:solidFill>
                            <a:srgbClr val="2E3F47"/>
                          </a:solidFill>
                          <a:latin typeface="Calibri"/>
                        </a:rPr>
                        <a:t>Assembled by hand across four systems</a:t>
                      </a:r>
                    </a:p>
                  </a:txBody>
                  <a:tcPr marL="82296" marR="82296" marT="41148" marB="41148" anchor="ctr">
                    <a:solidFill>
                      <a:srgbClr val="F1F5F4"/>
                    </a:solidFill>
                  </a:tcPr>
                </a:tc>
                <a:tc>
                  <a:txBody>
                    <a:bodyPr/>
                    <a:lstStyle/>
                    <a:p>
                      <a:pPr>
                        <a:lnSpc>
                          <a:spcPct val="105000"/>
                        </a:lnSpc>
                      </a:pPr>
                      <a:r>
                        <a:rPr sz="850" b="0">
                          <a:solidFill>
                            <a:srgbClr val="2E3F47"/>
                          </a:solidFill>
                          <a:latin typeface="Calibri"/>
                        </a:rPr>
                        <a:t>Subject-oriented</a:t>
                      </a:r>
                    </a:p>
                  </a:txBody>
                  <a:tcPr marL="82296" marR="82296" marT="41148" marB="41148" anchor="ctr">
                    <a:solidFill>
                      <a:srgbClr val="F1F5F4"/>
                    </a:solidFill>
                  </a:tcPr>
                </a:tc>
                <a:tc>
                  <a:txBody>
                    <a:bodyPr/>
                    <a:lstStyle/>
                    <a:p>
                      <a:pPr>
                        <a:lnSpc>
                          <a:spcPct val="105000"/>
                        </a:lnSpc>
                      </a:pPr>
                      <a:r>
                        <a:rPr sz="850" b="0">
                          <a:solidFill>
                            <a:srgbClr val="2E3F47"/>
                          </a:solidFill>
                          <a:latin typeface="Calibri"/>
                        </a:rPr>
                        <a:t>Star schema at invoice-line grain; same-day refresh</a:t>
                      </a:r>
                    </a:p>
                  </a:txBody>
                  <a:tcPr marL="82296" marR="82296" marT="41148" marB="41148" anchor="ctr">
                    <a:solidFill>
                      <a:srgbClr val="F1F5F4"/>
                    </a:solidFill>
                  </a:tcPr>
                </a:tc>
              </a:tr>
              <a:tr h="566928">
                <a:tc>
                  <a:txBody>
                    <a:bodyPr/>
                    <a:lstStyle/>
                    <a:p>
                      <a:pPr>
                        <a:lnSpc>
                          <a:spcPct val="105000"/>
                        </a:lnSpc>
                      </a:pPr>
                      <a:r>
                        <a:rPr sz="850" b="1">
                          <a:solidFill>
                            <a:srgbClr val="123B47"/>
                          </a:solidFill>
                          <a:latin typeface="Calibri"/>
                        </a:rPr>
                        <a:t>“We cannot tell what we paid per litre by society last October.”</a:t>
                      </a:r>
                    </a:p>
                  </a:txBody>
                  <a:tcPr marL="82296" marR="82296" marT="41148" marB="41148" anchor="ctr">
                    <a:solidFill>
                      <a:srgbClr val="FFFFFF"/>
                    </a:solidFill>
                  </a:tcPr>
                </a:tc>
                <a:tc>
                  <a:txBody>
                    <a:bodyPr/>
                    <a:lstStyle/>
                    <a:p>
                      <a:pPr>
                        <a:lnSpc>
                          <a:spcPct val="105000"/>
                        </a:lnSpc>
                      </a:pPr>
                      <a:r>
                        <a:rPr sz="850" b="0">
                          <a:solidFill>
                            <a:srgbClr val="2E3F47"/>
                          </a:solidFill>
                          <a:latin typeface="Calibri"/>
                        </a:rPr>
                        <a:t>Rate table overwritten on update</a:t>
                      </a:r>
                    </a:p>
                  </a:txBody>
                  <a:tcPr marL="82296" marR="82296" marT="41148" marB="41148" anchor="ctr">
                    <a:solidFill>
                      <a:srgbClr val="FFFFFF"/>
                    </a:solidFill>
                  </a:tcPr>
                </a:tc>
                <a:tc>
                  <a:txBody>
                    <a:bodyPr/>
                    <a:lstStyle/>
                    <a:p>
                      <a:pPr>
                        <a:lnSpc>
                          <a:spcPct val="105000"/>
                        </a:lnSpc>
                      </a:pPr>
                      <a:r>
                        <a:rPr sz="850" b="0">
                          <a:solidFill>
                            <a:srgbClr val="2E3F47"/>
                          </a:solidFill>
                          <a:latin typeface="Calibri"/>
                        </a:rPr>
                        <a:t>Time-variant</a:t>
                      </a:r>
                    </a:p>
                  </a:txBody>
                  <a:tcPr marL="82296" marR="82296" marT="41148" marB="41148" anchor="ctr">
                    <a:solidFill>
                      <a:srgbClr val="FFFFFF"/>
                    </a:solidFill>
                  </a:tcPr>
                </a:tc>
                <a:tc>
                  <a:txBody>
                    <a:bodyPr/>
                    <a:lstStyle/>
                    <a:p>
                      <a:pPr>
                        <a:lnSpc>
                          <a:spcPct val="105000"/>
                        </a:lnSpc>
                      </a:pPr>
                      <a:r>
                        <a:rPr sz="850" b="0">
                          <a:solidFill>
                            <a:srgbClr val="2E3F47"/>
                          </a:solidFill>
                          <a:latin typeface="Calibri"/>
                        </a:rPr>
                        <a:t>Type 2 on procurement rate and distributor attributes</a:t>
                      </a:r>
                    </a:p>
                  </a:txBody>
                  <a:tcPr marL="82296" marR="82296" marT="41148" marB="41148" anchor="ctr">
                    <a:solidFill>
                      <a:srgbClr val="FFFFFF"/>
                    </a:solidFill>
                  </a:tcPr>
                </a:tc>
              </a:tr>
              <a:tr h="566928">
                <a:tc>
                  <a:txBody>
                    <a:bodyPr/>
                    <a:lstStyle/>
                    <a:p>
                      <a:pPr>
                        <a:lnSpc>
                          <a:spcPct val="105000"/>
                        </a:lnSpc>
                      </a:pPr>
                      <a:r>
                        <a:rPr sz="850" b="1">
                          <a:solidFill>
                            <a:srgbClr val="123B47"/>
                          </a:solidFill>
                          <a:latin typeface="Calibri"/>
                        </a:rPr>
                        <a:t>“Every morning 9–10 the ERP crawls.”</a:t>
                      </a:r>
                    </a:p>
                  </a:txBody>
                  <a:tcPr marL="82296" marR="82296" marT="41148" marB="41148" anchor="ctr">
                    <a:solidFill>
                      <a:srgbClr val="F1F5F4"/>
                    </a:solidFill>
                  </a:tcPr>
                </a:tc>
                <a:tc>
                  <a:txBody>
                    <a:bodyPr/>
                    <a:lstStyle/>
                    <a:p>
                      <a:pPr>
                        <a:lnSpc>
                          <a:spcPct val="105000"/>
                        </a:lnSpc>
                      </a:pPr>
                      <a:r>
                        <a:rPr sz="850" b="0">
                          <a:solidFill>
                            <a:srgbClr val="2E3F47"/>
                          </a:solidFill>
                          <a:latin typeface="Calibri"/>
                        </a:rPr>
                        <a:t>Analytical query scanning the OLTP row store</a:t>
                      </a:r>
                    </a:p>
                  </a:txBody>
                  <a:tcPr marL="82296" marR="82296" marT="41148" marB="41148" anchor="ctr">
                    <a:solidFill>
                      <a:srgbClr val="F1F5F4"/>
                    </a:solidFill>
                  </a:tcPr>
                </a:tc>
                <a:tc>
                  <a:txBody>
                    <a:bodyPr/>
                    <a:lstStyle/>
                    <a:p>
                      <a:pPr>
                        <a:lnSpc>
                          <a:spcPct val="105000"/>
                        </a:lnSpc>
                      </a:pPr>
                      <a:r>
                        <a:rPr sz="850" b="0">
                          <a:solidFill>
                            <a:srgbClr val="2E3F47"/>
                          </a:solidFill>
                          <a:latin typeface="Calibri"/>
                        </a:rPr>
                        <a:t>Isolation</a:t>
                      </a:r>
                    </a:p>
                  </a:txBody>
                  <a:tcPr marL="82296" marR="82296" marT="41148" marB="41148" anchor="ctr">
                    <a:solidFill>
                      <a:srgbClr val="F1F5F4"/>
                    </a:solidFill>
                  </a:tcPr>
                </a:tc>
                <a:tc>
                  <a:txBody>
                    <a:bodyPr/>
                    <a:lstStyle/>
                    <a:p>
                      <a:pPr>
                        <a:lnSpc>
                          <a:spcPct val="105000"/>
                        </a:lnSpc>
                      </a:pPr>
                      <a:r>
                        <a:rPr sz="850" b="0">
                          <a:solidFill>
                            <a:srgbClr val="2E3F47"/>
                          </a:solidFill>
                          <a:latin typeface="Calibri"/>
                        </a:rPr>
                        <a:t>Extraction moved to 01:30 into a separate analytical store</a:t>
                      </a:r>
                    </a:p>
                  </a:txBody>
                  <a:tcPr marL="82296" marR="82296" marT="41148" marB="41148" anchor="ctr">
                    <a:solidFill>
                      <a:srgbClr val="F1F5F4"/>
                    </a:solidFill>
                  </a:tcPr>
                </a:tc>
              </a:tr>
            </a:tbl>
          </a:graphicData>
        </a:graphic>
      </p:graphicFrame>
      <p:sp>
        <p:nvSpPr>
          <p:cNvPr id="10" name="Rounded Rectangle 9"/>
          <p:cNvSpPr/>
          <p:nvPr/>
        </p:nvSpPr>
        <p:spPr>
          <a:xfrm>
            <a:off x="548640" y="4846320"/>
            <a:ext cx="5623560" cy="932688"/>
          </a:xfrm>
          <a:prstGeom prst="roundRect">
            <a:avLst>
              <a:gd name="adj" fmla="val 6000"/>
            </a:avLst>
          </a:prstGeom>
          <a:solidFill>
            <a:srgbClr val="FFFFFF"/>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49808" y="4937760"/>
            <a:ext cx="5212080" cy="219456"/>
          </a:xfrm>
          <a:prstGeom prst="rect">
            <a:avLst/>
          </a:prstGeom>
          <a:noFill/>
        </p:spPr>
        <p:txBody>
          <a:bodyPr wrap="square" lIns="0" rIns="0" tIns="0" bIns="0" anchor="t">
            <a:spAutoFit/>
          </a:bodyPr>
          <a:lstStyle/>
          <a:p>
            <a:pPr algn="l">
              <a:spcBef>
                <a:spcPts val="0"/>
              </a:spcBef>
              <a:spcAft>
                <a:spcPts val="0"/>
              </a:spcAft>
            </a:pPr>
            <a:r>
              <a:rPr sz="1150" b="1" i="0">
                <a:solidFill>
                  <a:srgbClr val="123B47"/>
                </a:solidFill>
                <a:latin typeface="Calibri"/>
              </a:rPr>
              <a:t>Result after two quarters</a:t>
            </a:r>
          </a:p>
        </p:txBody>
      </p:sp>
      <p:sp>
        <p:nvSpPr>
          <p:cNvPr id="12" name="TextBox 11"/>
          <p:cNvSpPr txBox="1"/>
          <p:nvPr/>
        </p:nvSpPr>
        <p:spPr>
          <a:xfrm>
            <a:off x="749808" y="5175504"/>
            <a:ext cx="5212080" cy="512064"/>
          </a:xfrm>
          <a:prstGeom prst="rect">
            <a:avLst/>
          </a:prstGeom>
          <a:noFill/>
        </p:spPr>
        <p:txBody>
          <a:bodyPr wrap="square" lIns="0" rIns="0" tIns="0" bIns="0" anchor="t">
            <a:spAutoFit/>
          </a:bodyPr>
          <a:lstStyle/>
          <a:p>
            <a:pPr algn="l">
              <a:lnSpc>
                <a:spcPct val="112000"/>
              </a:lnSpc>
              <a:spcAft>
                <a:spcPts val="100"/>
              </a:spcAft>
            </a:pPr>
            <a:r>
              <a:rPr sz="850">
                <a:solidFill>
                  <a:srgbClr val="E8A33D"/>
                </a:solidFill>
                <a:latin typeface="Calibri"/>
              </a:rPr>
              <a:t>▪  </a:t>
            </a:r>
            <a:r>
              <a:rPr sz="850">
                <a:solidFill>
                  <a:srgbClr val="2E3F47"/>
                </a:solidFill>
                <a:latin typeface="Calibri"/>
              </a:rPr>
              <a:t>Distributor profitability: 11 days → same-day refresh</a:t>
            </a:r>
          </a:p>
          <a:p>
            <a:pPr>
              <a:lnSpc>
                <a:spcPct val="112000"/>
              </a:lnSpc>
              <a:spcAft>
                <a:spcPts val="100"/>
              </a:spcAft>
            </a:pPr>
            <a:r>
              <a:rPr sz="850">
                <a:solidFill>
                  <a:srgbClr val="E8A33D"/>
                </a:solidFill>
                <a:latin typeface="Calibri"/>
              </a:rPr>
              <a:t>▪  </a:t>
            </a:r>
            <a:r>
              <a:rPr sz="850">
                <a:solidFill>
                  <a:srgbClr val="2E3F47"/>
                </a:solidFill>
                <a:latin typeface="Calibri"/>
              </a:rPr>
              <a:t>Morning ERP contention eliminated entirely</a:t>
            </a:r>
          </a:p>
          <a:p>
            <a:pPr>
              <a:lnSpc>
                <a:spcPct val="112000"/>
              </a:lnSpc>
              <a:spcAft>
                <a:spcPts val="100"/>
              </a:spcAft>
            </a:pPr>
            <a:r>
              <a:rPr sz="850">
                <a:solidFill>
                  <a:srgbClr val="E8A33D"/>
                </a:solidFill>
                <a:latin typeface="Calibri"/>
              </a:rPr>
              <a:t>▪  </a:t>
            </a:r>
            <a:r>
              <a:rPr sz="850">
                <a:solidFill>
                  <a:srgbClr val="2E3F47"/>
                </a:solidFill>
                <a:latin typeface="Calibri"/>
              </a:rPr>
              <a:t>One owner and one definition for the despatch figure</a:t>
            </a:r>
          </a:p>
          <a:p>
            <a:pPr>
              <a:lnSpc>
                <a:spcPct val="112000"/>
              </a:lnSpc>
              <a:spcAft>
                <a:spcPts val="100"/>
              </a:spcAft>
            </a:pPr>
            <a:r>
              <a:rPr sz="850">
                <a:solidFill>
                  <a:srgbClr val="E8A33D"/>
                </a:solidFill>
                <a:latin typeface="Calibri"/>
              </a:rPr>
              <a:t>▪  </a:t>
            </a:r>
            <a:r>
              <a:rPr sz="850">
                <a:solidFill>
                  <a:srgbClr val="2E3F47"/>
                </a:solidFill>
                <a:latin typeface="Calibri"/>
              </a:rPr>
              <a:t>A historical rate analysis found ₹ 1.9 crore of annual overpayment</a:t>
            </a:r>
          </a:p>
        </p:txBody>
      </p:sp>
      <p:sp>
        <p:nvSpPr>
          <p:cNvPr id="13" name="Rounded Rectangle 12"/>
          <p:cNvSpPr/>
          <p:nvPr/>
        </p:nvSpPr>
        <p:spPr>
          <a:xfrm>
            <a:off x="6382512" y="4846320"/>
            <a:ext cx="5257800" cy="932688"/>
          </a:xfrm>
          <a:prstGeom prst="roundRect">
            <a:avLst>
              <a:gd name="adj" fmla="val 6000"/>
            </a:avLst>
          </a:prstGeom>
          <a:solidFill>
            <a:srgbClr val="FFFFFF"/>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583680" y="4937760"/>
            <a:ext cx="4846320" cy="219456"/>
          </a:xfrm>
          <a:prstGeom prst="rect">
            <a:avLst/>
          </a:prstGeom>
          <a:noFill/>
        </p:spPr>
        <p:txBody>
          <a:bodyPr wrap="square" lIns="0" rIns="0" tIns="0" bIns="0" anchor="t">
            <a:spAutoFit/>
          </a:bodyPr>
          <a:lstStyle/>
          <a:p>
            <a:pPr algn="l">
              <a:spcBef>
                <a:spcPts val="0"/>
              </a:spcBef>
              <a:spcAft>
                <a:spcPts val="0"/>
              </a:spcAft>
            </a:pPr>
            <a:r>
              <a:rPr sz="1150" b="1" i="0">
                <a:solidFill>
                  <a:srgbClr val="123B47"/>
                </a:solidFill>
                <a:latin typeface="Calibri"/>
              </a:rPr>
              <a:t>How to write the business case</a:t>
            </a:r>
          </a:p>
        </p:txBody>
      </p:sp>
      <p:sp>
        <p:nvSpPr>
          <p:cNvPr id="15" name="TextBox 14"/>
          <p:cNvSpPr txBox="1"/>
          <p:nvPr/>
        </p:nvSpPr>
        <p:spPr>
          <a:xfrm>
            <a:off x="6583680" y="5175504"/>
            <a:ext cx="4846320" cy="512064"/>
          </a:xfrm>
          <a:prstGeom prst="rect">
            <a:avLst/>
          </a:prstGeom>
          <a:noFill/>
        </p:spPr>
        <p:txBody>
          <a:bodyPr wrap="square" lIns="0" rIns="0" tIns="0" bIns="0" anchor="t">
            <a:spAutoFit/>
          </a:bodyPr>
          <a:lstStyle/>
          <a:p>
            <a:pPr algn="l">
              <a:lnSpc>
                <a:spcPct val="112000"/>
              </a:lnSpc>
              <a:spcBef>
                <a:spcPts val="0"/>
              </a:spcBef>
              <a:spcAft>
                <a:spcPts val="0"/>
              </a:spcAft>
            </a:pPr>
            <a:r>
              <a:rPr sz="850" b="0" i="0">
                <a:solidFill>
                  <a:srgbClr val="2E3F47"/>
                </a:solidFill>
                <a:latin typeface="Calibri"/>
              </a:rPr>
              <a:t>Do not promise a percentage revenue uplift; no finance director believes it and you cannot attribute it afterwards. Promise three measurable things: a named report's cycle time, hours spent reconciling a specified figure, and questions the business has asked and been unable to answer. Measure all three again after two quarters.</a:t>
            </a:r>
          </a:p>
        </p:txBody>
      </p:sp>
      <p:sp>
        <p:nvSpPr>
          <p:cNvPr id="16" name="Rounded Rectangle 15"/>
          <p:cNvSpPr/>
          <p:nvPr/>
        </p:nvSpPr>
        <p:spPr>
          <a:xfrm>
            <a:off x="548640" y="5888736"/>
            <a:ext cx="11094415" cy="457200"/>
          </a:xfrm>
          <a:prstGeom prst="roundRect">
            <a:avLst>
              <a:gd name="adj" fmla="val 6000"/>
            </a:avLst>
          </a:prstGeom>
          <a:solidFill>
            <a:srgbClr val="123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68096" y="5989320"/>
            <a:ext cx="10655503" cy="256032"/>
          </a:xfrm>
          <a:prstGeom prst="rect">
            <a:avLst/>
          </a:prstGeom>
          <a:noFill/>
        </p:spPr>
        <p:txBody>
          <a:bodyPr wrap="square" lIns="0" rIns="0" tIns="0" bIns="0" anchor="ctr">
            <a:spAutoFit/>
          </a:bodyPr>
          <a:lstStyle/>
          <a:p>
            <a:pPr algn="l">
              <a:lnSpc>
                <a:spcPct val="114000"/>
              </a:lnSpc>
            </a:pPr>
            <a:r>
              <a:rPr sz="1100" b="1">
                <a:solidFill>
                  <a:srgbClr val="E8A33D"/>
                </a:solidFill>
                <a:latin typeface="Calibri"/>
              </a:rPr>
              <a:t>The lesson.  </a:t>
            </a:r>
            <a:r>
              <a:rPr sz="1100">
                <a:solidFill>
                  <a:srgbClr val="FFFFFF"/>
                </a:solidFill>
                <a:latin typeface="Calibri"/>
              </a:rPr>
              <a:t>The architecture was not chosen for elegance. Each layer was justified by a named complaint, and each complaint traced to a missing property of an analytical store. That is how an architecture proposal should be written and defended.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bg>
    <p:bgPr>
      <a:solidFill>
        <a:srgbClr val="FFFFFF"/>
      </a:solidFill>
      <a:effectLst/>
    </p:bgPr>
  </p:bg>
  <p:cSld>
    <p:spTree>
      <p:nvGrpSpPr>
        <p:cNvPr id="1" name=""/>
        <p:cNvGrpSpPr/>
        <p:nvPr/>
      </p:nvGrpSpPr>
      <p:grpSpPr/>
      <p:sp>
        <p:nvSpPr>
          <p:cNvPr id="2" name="Oval 1"/>
          <p:cNvSpPr/>
          <p:nvPr/>
        </p:nvSpPr>
        <p:spPr>
          <a:xfrm>
            <a:off x="548640" y="374904"/>
            <a:ext cx="109728" cy="109728"/>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283464"/>
            <a:ext cx="10893247" cy="256032"/>
          </a:xfrm>
          <a:prstGeom prst="rect">
            <a:avLst/>
          </a:prstGeom>
          <a:noFill/>
        </p:spPr>
        <p:txBody>
          <a:bodyPr wrap="square" lIns="0" rIns="0" tIns="0" bIns="0" anchor="t">
            <a:spAutoFit/>
          </a:bodyPr>
          <a:lstStyle/>
          <a:p>
            <a:pPr algn="l">
              <a:spcBef>
                <a:spcPts val="0"/>
              </a:spcBef>
              <a:spcAft>
                <a:spcPts val="0"/>
              </a:spcAft>
            </a:pPr>
            <a:r>
              <a:rPr sz="1000" b="1" i="0">
                <a:solidFill>
                  <a:srgbClr val="B87A1E"/>
                </a:solidFill>
                <a:latin typeface="Calibri"/>
              </a:rPr>
              <a:t>PART 4 · PRACTICE</a:t>
            </a:r>
          </a:p>
        </p:txBody>
      </p:sp>
      <p:sp>
        <p:nvSpPr>
          <p:cNvPr id="4" name="TextBox 3"/>
          <p:cNvSpPr txBox="1"/>
          <p:nvPr/>
        </p:nvSpPr>
        <p:spPr>
          <a:xfrm>
            <a:off x="548640" y="548640"/>
            <a:ext cx="11094415" cy="640080"/>
          </a:xfrm>
          <a:prstGeom prst="rect">
            <a:avLst/>
          </a:prstGeom>
          <a:noFill/>
        </p:spPr>
        <p:txBody>
          <a:bodyPr wrap="square" lIns="0" rIns="0" tIns="0" bIns="0" anchor="t">
            <a:spAutoFit/>
          </a:bodyPr>
          <a:lstStyle/>
          <a:p>
            <a:pPr algn="l">
              <a:spcBef>
                <a:spcPts val="0"/>
              </a:spcBef>
              <a:spcAft>
                <a:spcPts val="0"/>
              </a:spcAft>
            </a:pPr>
            <a:r>
              <a:rPr sz="2600" b="1" i="0">
                <a:solidFill>
                  <a:srgbClr val="123B47"/>
                </a:solidFill>
                <a:latin typeface="Cambria"/>
              </a:rPr>
              <a:t>Six ways the programme fails — two of them permanently</a:t>
            </a:r>
          </a:p>
        </p:txBody>
      </p:sp>
      <p:sp>
        <p:nvSpPr>
          <p:cNvPr id="5" name="TextBox 4"/>
          <p:cNvSpPr txBox="1"/>
          <p:nvPr/>
        </p:nvSpPr>
        <p:spPr>
          <a:xfrm>
            <a:off x="548640" y="6382512"/>
            <a:ext cx="8686800" cy="256032"/>
          </a:xfrm>
          <a:prstGeom prst="rect">
            <a:avLst/>
          </a:prstGeom>
          <a:noFill/>
        </p:spPr>
        <p:txBody>
          <a:bodyPr wrap="square" lIns="0" rIns="0" tIns="0" bIns="0" anchor="t">
            <a:spAutoFit/>
          </a:bodyPr>
          <a:lstStyle/>
          <a:p>
            <a:pPr algn="l">
              <a:spcBef>
                <a:spcPts val="0"/>
              </a:spcBef>
              <a:spcAft>
                <a:spcPts val="0"/>
              </a:spcAft>
            </a:pPr>
            <a:r>
              <a:rPr sz="900" b="0" i="0">
                <a:solidFill>
                  <a:srgbClr val="5C7079"/>
                </a:solidFill>
                <a:latin typeface="Calibri"/>
              </a:rPr>
              <a:t>Business Intelligence  |  Session 6 — Data Warehousing &amp; OLTP/OLAP  |  IILM Jaipur, MBA</a:t>
            </a:r>
          </a:p>
        </p:txBody>
      </p:sp>
      <p:sp>
        <p:nvSpPr>
          <p:cNvPr id="6" name="TextBox 5"/>
          <p:cNvSpPr txBox="1"/>
          <p:nvPr/>
        </p:nvSpPr>
        <p:spPr>
          <a:xfrm>
            <a:off x="10545775" y="6382512"/>
            <a:ext cx="1097280" cy="256032"/>
          </a:xfrm>
          <a:prstGeom prst="rect">
            <a:avLst/>
          </a:prstGeom>
          <a:noFill/>
        </p:spPr>
        <p:txBody>
          <a:bodyPr wrap="square" lIns="0" rIns="0" tIns="0" bIns="0" anchor="t">
            <a:spAutoFit/>
          </a:bodyPr>
          <a:lstStyle/>
          <a:p>
            <a:pPr algn="r">
              <a:spcBef>
                <a:spcPts val="0"/>
              </a:spcBef>
              <a:spcAft>
                <a:spcPts val="0"/>
              </a:spcAft>
            </a:pPr>
            <a:r>
              <a:rPr sz="950" b="1" i="0">
                <a:solidFill>
                  <a:srgbClr val="1B7F79"/>
                </a:solidFill>
                <a:latin typeface="Calibri"/>
              </a:rPr>
              <a:t>13</a:t>
            </a:r>
          </a:p>
        </p:txBody>
      </p:sp>
      <p:sp>
        <p:nvSpPr>
          <p:cNvPr id="7" name="Rounded Rectangle 6"/>
          <p:cNvSpPr/>
          <p:nvPr/>
        </p:nvSpPr>
        <p:spPr>
          <a:xfrm>
            <a:off x="548640" y="1316736"/>
            <a:ext cx="3539642" cy="1645920"/>
          </a:xfrm>
          <a:prstGeom prst="roundRect">
            <a:avLst>
              <a:gd name="adj" fmla="val 6000"/>
            </a:avLst>
          </a:prstGeom>
          <a:solidFill>
            <a:srgbClr val="FBF1EE"/>
          </a:solidFill>
          <a:ln w="12700">
            <a:solidFill>
              <a:srgbClr val="EED5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Oval 7"/>
          <p:cNvSpPr/>
          <p:nvPr/>
        </p:nvSpPr>
        <p:spPr>
          <a:xfrm>
            <a:off x="749808" y="1499616"/>
            <a:ext cx="384048" cy="384048"/>
          </a:xfrm>
          <a:prstGeom prst="ellipse">
            <a:avLst/>
          </a:prstGeom>
          <a:solidFill>
            <a:srgbClr val="A63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250" b="1" i="0">
                <a:solidFill>
                  <a:srgbClr val="FFFFFF"/>
                </a:solidFill>
                <a:latin typeface="Calibri"/>
              </a:rPr>
              <a:t>1</a:t>
            </a:r>
          </a:p>
        </p:txBody>
      </p:sp>
      <p:sp>
        <p:nvSpPr>
          <p:cNvPr id="9" name="TextBox 8"/>
          <p:cNvSpPr txBox="1"/>
          <p:nvPr/>
        </p:nvSpPr>
        <p:spPr>
          <a:xfrm>
            <a:off x="1243584" y="1481328"/>
            <a:ext cx="2643530" cy="420624"/>
          </a:xfrm>
          <a:prstGeom prst="rect">
            <a:avLst/>
          </a:prstGeom>
          <a:noFill/>
        </p:spPr>
        <p:txBody>
          <a:bodyPr wrap="square" lIns="0" rIns="0" tIns="0" bIns="0" anchor="ctr">
            <a:spAutoFit/>
          </a:bodyPr>
          <a:lstStyle/>
          <a:p>
            <a:pPr algn="l">
              <a:spcBef>
                <a:spcPts val="0"/>
              </a:spcBef>
              <a:spcAft>
                <a:spcPts val="0"/>
              </a:spcAft>
            </a:pPr>
            <a:r>
              <a:rPr sz="1200" b="1" i="0">
                <a:solidFill>
                  <a:srgbClr val="123B47"/>
                </a:solidFill>
                <a:latin typeface="Calibri"/>
              </a:rPr>
              <a:t>Grain chosen too coarse</a:t>
            </a:r>
          </a:p>
        </p:txBody>
      </p:sp>
      <p:sp>
        <p:nvSpPr>
          <p:cNvPr id="10" name="TextBox 9"/>
          <p:cNvSpPr txBox="1"/>
          <p:nvPr/>
        </p:nvSpPr>
        <p:spPr>
          <a:xfrm>
            <a:off x="749808" y="1993391"/>
            <a:ext cx="3137306" cy="822960"/>
          </a:xfrm>
          <a:prstGeom prst="rect">
            <a:avLst/>
          </a:prstGeom>
          <a:noFill/>
        </p:spPr>
        <p:txBody>
          <a:bodyPr wrap="square" lIns="0" rIns="0" tIns="0" bIns="0" anchor="t">
            <a:spAutoFit/>
          </a:bodyPr>
          <a:lstStyle/>
          <a:p>
            <a:pPr algn="l">
              <a:lnSpc>
                <a:spcPct val="116000"/>
              </a:lnSpc>
              <a:spcBef>
                <a:spcPts val="0"/>
              </a:spcBef>
              <a:spcAft>
                <a:spcPts val="0"/>
              </a:spcAft>
            </a:pPr>
            <a:r>
              <a:rPr sz="900" b="0" i="0">
                <a:solidFill>
                  <a:srgbClr val="2E3F47"/>
                </a:solidFill>
                <a:latin typeface="Calibri"/>
              </a:rPr>
              <a:t>Loaded at monthly summary to save space. Every later question about a day, a basket or a customer is unanswerable, and the fix is a reload of years of history.</a:t>
            </a:r>
          </a:p>
        </p:txBody>
      </p:sp>
      <p:sp>
        <p:nvSpPr>
          <p:cNvPr id="11" name="Rounded Rectangle 10"/>
          <p:cNvSpPr/>
          <p:nvPr/>
        </p:nvSpPr>
        <p:spPr>
          <a:xfrm>
            <a:off x="2789834" y="2615184"/>
            <a:ext cx="1097280" cy="237744"/>
          </a:xfrm>
          <a:prstGeom prst="roundRect">
            <a:avLst>
              <a:gd name="adj" fmla="val 40000"/>
            </a:avLst>
          </a:prstGeom>
          <a:solidFill>
            <a:srgbClr val="A63B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750" b="1" i="0">
                <a:solidFill>
                  <a:srgbClr val="FFFFFF"/>
                </a:solidFill>
                <a:latin typeface="Calibri"/>
              </a:rPr>
              <a:t>IRREVERSIBLE</a:t>
            </a:r>
          </a:p>
        </p:txBody>
      </p:sp>
      <p:sp>
        <p:nvSpPr>
          <p:cNvPr id="12" name="Rounded Rectangle 11"/>
          <p:cNvSpPr/>
          <p:nvPr/>
        </p:nvSpPr>
        <p:spPr>
          <a:xfrm>
            <a:off x="4326026" y="1316736"/>
            <a:ext cx="3539642" cy="1645920"/>
          </a:xfrm>
          <a:prstGeom prst="roundRect">
            <a:avLst>
              <a:gd name="adj" fmla="val 6000"/>
            </a:avLst>
          </a:prstGeom>
          <a:solidFill>
            <a:srgbClr val="FBF1EE"/>
          </a:solidFill>
          <a:ln w="12700">
            <a:solidFill>
              <a:srgbClr val="EED5CE"/>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Oval 12"/>
          <p:cNvSpPr/>
          <p:nvPr/>
        </p:nvSpPr>
        <p:spPr>
          <a:xfrm>
            <a:off x="4527194" y="1499616"/>
            <a:ext cx="384048" cy="384048"/>
          </a:xfrm>
          <a:prstGeom prst="ellipse">
            <a:avLst/>
          </a:prstGeom>
          <a:solidFill>
            <a:srgbClr val="A63B2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250" b="1" i="0">
                <a:solidFill>
                  <a:srgbClr val="FFFFFF"/>
                </a:solidFill>
                <a:latin typeface="Calibri"/>
              </a:rPr>
              <a:t>2</a:t>
            </a:r>
          </a:p>
        </p:txBody>
      </p:sp>
      <p:sp>
        <p:nvSpPr>
          <p:cNvPr id="14" name="TextBox 13"/>
          <p:cNvSpPr txBox="1"/>
          <p:nvPr/>
        </p:nvSpPr>
        <p:spPr>
          <a:xfrm>
            <a:off x="5020970" y="1481328"/>
            <a:ext cx="2643530" cy="420624"/>
          </a:xfrm>
          <a:prstGeom prst="rect">
            <a:avLst/>
          </a:prstGeom>
          <a:noFill/>
        </p:spPr>
        <p:txBody>
          <a:bodyPr wrap="square" lIns="0" rIns="0" tIns="0" bIns="0" anchor="ctr">
            <a:spAutoFit/>
          </a:bodyPr>
          <a:lstStyle/>
          <a:p>
            <a:pPr algn="l">
              <a:spcBef>
                <a:spcPts val="0"/>
              </a:spcBef>
              <a:spcAft>
                <a:spcPts val="0"/>
              </a:spcAft>
            </a:pPr>
            <a:r>
              <a:rPr sz="1200" b="1" i="0">
                <a:solidFill>
                  <a:srgbClr val="123B47"/>
                </a:solidFill>
                <a:latin typeface="Calibri"/>
              </a:rPr>
              <a:t>History not retained</a:t>
            </a:r>
          </a:p>
        </p:txBody>
      </p:sp>
      <p:sp>
        <p:nvSpPr>
          <p:cNvPr id="15" name="TextBox 14"/>
          <p:cNvSpPr txBox="1"/>
          <p:nvPr/>
        </p:nvSpPr>
        <p:spPr>
          <a:xfrm>
            <a:off x="4527194" y="1993391"/>
            <a:ext cx="3137306" cy="822960"/>
          </a:xfrm>
          <a:prstGeom prst="rect">
            <a:avLst/>
          </a:prstGeom>
          <a:noFill/>
        </p:spPr>
        <p:txBody>
          <a:bodyPr wrap="square" lIns="0" rIns="0" tIns="0" bIns="0" anchor="t">
            <a:spAutoFit/>
          </a:bodyPr>
          <a:lstStyle/>
          <a:p>
            <a:pPr algn="l">
              <a:lnSpc>
                <a:spcPct val="116000"/>
              </a:lnSpc>
              <a:spcBef>
                <a:spcPts val="0"/>
              </a:spcBef>
              <a:spcAft>
                <a:spcPts val="0"/>
              </a:spcAft>
            </a:pPr>
            <a:r>
              <a:rPr sz="900" b="0" i="0">
                <a:solidFill>
                  <a:srgbClr val="2E3F47"/>
                </a:solidFill>
                <a:latin typeface="Calibri"/>
              </a:rPr>
              <a:t>Type 1 everywhere because it was quicker. Eighteen months later, no report about the past can be reproduced.</a:t>
            </a:r>
          </a:p>
        </p:txBody>
      </p:sp>
      <p:sp>
        <p:nvSpPr>
          <p:cNvPr id="16" name="Rounded Rectangle 15"/>
          <p:cNvSpPr/>
          <p:nvPr/>
        </p:nvSpPr>
        <p:spPr>
          <a:xfrm>
            <a:off x="6567220" y="2615184"/>
            <a:ext cx="1097280" cy="237744"/>
          </a:xfrm>
          <a:prstGeom prst="roundRect">
            <a:avLst>
              <a:gd name="adj" fmla="val 40000"/>
            </a:avLst>
          </a:prstGeom>
          <a:solidFill>
            <a:srgbClr val="A63B2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0"/>
              </a:spcBef>
              <a:spcAft>
                <a:spcPts val="0"/>
              </a:spcAft>
            </a:pPr>
            <a:r>
              <a:rPr sz="750" b="1" i="0">
                <a:solidFill>
                  <a:srgbClr val="FFFFFF"/>
                </a:solidFill>
                <a:latin typeface="Calibri"/>
              </a:rPr>
              <a:t>IRREVERSIBLE</a:t>
            </a:r>
          </a:p>
        </p:txBody>
      </p:sp>
      <p:sp>
        <p:nvSpPr>
          <p:cNvPr id="17" name="Rounded Rectangle 16"/>
          <p:cNvSpPr/>
          <p:nvPr/>
        </p:nvSpPr>
        <p:spPr>
          <a:xfrm>
            <a:off x="8103412" y="1316736"/>
            <a:ext cx="3539642" cy="1645920"/>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Oval 17"/>
          <p:cNvSpPr/>
          <p:nvPr/>
        </p:nvSpPr>
        <p:spPr>
          <a:xfrm>
            <a:off x="8304580" y="1499616"/>
            <a:ext cx="384048" cy="384048"/>
          </a:xfrm>
          <a:prstGeom prst="ellipse">
            <a:avLst/>
          </a:prstGeom>
          <a:solidFill>
            <a:srgbClr val="123B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250" b="1" i="0">
                <a:solidFill>
                  <a:srgbClr val="FFFFFF"/>
                </a:solidFill>
                <a:latin typeface="Calibri"/>
              </a:rPr>
              <a:t>3</a:t>
            </a:r>
          </a:p>
        </p:txBody>
      </p:sp>
      <p:sp>
        <p:nvSpPr>
          <p:cNvPr id="19" name="TextBox 18"/>
          <p:cNvSpPr txBox="1"/>
          <p:nvPr/>
        </p:nvSpPr>
        <p:spPr>
          <a:xfrm>
            <a:off x="8798356" y="1481328"/>
            <a:ext cx="2643530" cy="420624"/>
          </a:xfrm>
          <a:prstGeom prst="rect">
            <a:avLst/>
          </a:prstGeom>
          <a:noFill/>
        </p:spPr>
        <p:txBody>
          <a:bodyPr wrap="square" lIns="0" rIns="0" tIns="0" bIns="0" anchor="ctr">
            <a:spAutoFit/>
          </a:bodyPr>
          <a:lstStyle/>
          <a:p>
            <a:pPr algn="l">
              <a:spcBef>
                <a:spcPts val="0"/>
              </a:spcBef>
              <a:spcAft>
                <a:spcPts val="0"/>
              </a:spcAft>
            </a:pPr>
            <a:r>
              <a:rPr sz="1200" b="1" i="0">
                <a:solidFill>
                  <a:srgbClr val="123B47"/>
                </a:solidFill>
                <a:latin typeface="Calibri"/>
              </a:rPr>
              <a:t>Built without a business question</a:t>
            </a:r>
          </a:p>
        </p:txBody>
      </p:sp>
      <p:sp>
        <p:nvSpPr>
          <p:cNvPr id="20" name="TextBox 19"/>
          <p:cNvSpPr txBox="1"/>
          <p:nvPr/>
        </p:nvSpPr>
        <p:spPr>
          <a:xfrm>
            <a:off x="8304580" y="1993391"/>
            <a:ext cx="3137306" cy="822960"/>
          </a:xfrm>
          <a:prstGeom prst="rect">
            <a:avLst/>
          </a:prstGeom>
          <a:noFill/>
        </p:spPr>
        <p:txBody>
          <a:bodyPr wrap="square" lIns="0" rIns="0" tIns="0" bIns="0" anchor="t">
            <a:spAutoFit/>
          </a:bodyPr>
          <a:lstStyle/>
          <a:p>
            <a:pPr algn="l">
              <a:lnSpc>
                <a:spcPct val="116000"/>
              </a:lnSpc>
              <a:spcBef>
                <a:spcPts val="0"/>
              </a:spcBef>
              <a:spcAft>
                <a:spcPts val="0"/>
              </a:spcAft>
            </a:pPr>
            <a:r>
              <a:rPr sz="900" b="0" i="0">
                <a:solidFill>
                  <a:srgbClr val="2E3F47"/>
                </a:solidFill>
                <a:latin typeface="Calibri"/>
              </a:rPr>
              <a:t>Sponsored as IT modernisation, scoped by source systems rather than by decisions. It completes, and nobody uses it.</a:t>
            </a:r>
          </a:p>
        </p:txBody>
      </p:sp>
      <p:sp>
        <p:nvSpPr>
          <p:cNvPr id="21" name="Rounded Rectangle 20"/>
          <p:cNvSpPr/>
          <p:nvPr/>
        </p:nvSpPr>
        <p:spPr>
          <a:xfrm>
            <a:off x="548640" y="3127248"/>
            <a:ext cx="3539642" cy="1645920"/>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Oval 21"/>
          <p:cNvSpPr/>
          <p:nvPr/>
        </p:nvSpPr>
        <p:spPr>
          <a:xfrm>
            <a:off x="749808" y="3310128"/>
            <a:ext cx="384048" cy="384048"/>
          </a:xfrm>
          <a:prstGeom prst="ellipse">
            <a:avLst/>
          </a:prstGeom>
          <a:solidFill>
            <a:srgbClr val="123B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250" b="1" i="0">
                <a:solidFill>
                  <a:srgbClr val="FFFFFF"/>
                </a:solidFill>
                <a:latin typeface="Calibri"/>
              </a:rPr>
              <a:t>4</a:t>
            </a:r>
          </a:p>
        </p:txBody>
      </p:sp>
      <p:sp>
        <p:nvSpPr>
          <p:cNvPr id="23" name="TextBox 22"/>
          <p:cNvSpPr txBox="1"/>
          <p:nvPr/>
        </p:nvSpPr>
        <p:spPr>
          <a:xfrm>
            <a:off x="1243584" y="3291840"/>
            <a:ext cx="2643530" cy="420624"/>
          </a:xfrm>
          <a:prstGeom prst="rect">
            <a:avLst/>
          </a:prstGeom>
          <a:noFill/>
        </p:spPr>
        <p:txBody>
          <a:bodyPr wrap="square" lIns="0" rIns="0" tIns="0" bIns="0" anchor="ctr">
            <a:spAutoFit/>
          </a:bodyPr>
          <a:lstStyle/>
          <a:p>
            <a:pPr algn="l">
              <a:spcBef>
                <a:spcPts val="0"/>
              </a:spcBef>
              <a:spcAft>
                <a:spcPts val="0"/>
              </a:spcAft>
            </a:pPr>
            <a:r>
              <a:rPr sz="1200" b="1" i="0">
                <a:solidFill>
                  <a:srgbClr val="123B47"/>
                </a:solidFill>
                <a:latin typeface="Calibri"/>
              </a:rPr>
              <a:t>Integration skipped</a:t>
            </a:r>
          </a:p>
        </p:txBody>
      </p:sp>
      <p:sp>
        <p:nvSpPr>
          <p:cNvPr id="24" name="TextBox 23"/>
          <p:cNvSpPr txBox="1"/>
          <p:nvPr/>
        </p:nvSpPr>
        <p:spPr>
          <a:xfrm>
            <a:off x="749808" y="3803904"/>
            <a:ext cx="3137306" cy="822960"/>
          </a:xfrm>
          <a:prstGeom prst="rect">
            <a:avLst/>
          </a:prstGeom>
          <a:noFill/>
        </p:spPr>
        <p:txBody>
          <a:bodyPr wrap="square" lIns="0" rIns="0" tIns="0" bIns="0" anchor="t">
            <a:spAutoFit/>
          </a:bodyPr>
          <a:lstStyle/>
          <a:p>
            <a:pPr algn="l">
              <a:lnSpc>
                <a:spcPct val="116000"/>
              </a:lnSpc>
              <a:spcBef>
                <a:spcPts val="0"/>
              </a:spcBef>
              <a:spcAft>
                <a:spcPts val="0"/>
              </a:spcAft>
            </a:pPr>
            <a:r>
              <a:rPr sz="900" b="0" i="0">
                <a:solidFill>
                  <a:srgbClr val="2E3F47"/>
                </a:solidFill>
                <a:latin typeface="Calibri"/>
              </a:rPr>
              <a:t>Sources copied faithfully and never reconciled. The warehouse now holds three definitions of revenue with the authority of a single system.</a:t>
            </a:r>
          </a:p>
        </p:txBody>
      </p:sp>
      <p:sp>
        <p:nvSpPr>
          <p:cNvPr id="25" name="Rounded Rectangle 24"/>
          <p:cNvSpPr/>
          <p:nvPr/>
        </p:nvSpPr>
        <p:spPr>
          <a:xfrm>
            <a:off x="4326026" y="3127248"/>
            <a:ext cx="3539642" cy="1645920"/>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4527194" y="3310128"/>
            <a:ext cx="384048" cy="384048"/>
          </a:xfrm>
          <a:prstGeom prst="ellipse">
            <a:avLst/>
          </a:prstGeom>
          <a:solidFill>
            <a:srgbClr val="1B7F7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250" b="1" i="0">
                <a:solidFill>
                  <a:srgbClr val="FFFFFF"/>
                </a:solidFill>
                <a:latin typeface="Calibri"/>
              </a:rPr>
              <a:t>5</a:t>
            </a:r>
          </a:p>
        </p:txBody>
      </p:sp>
      <p:sp>
        <p:nvSpPr>
          <p:cNvPr id="27" name="TextBox 26"/>
          <p:cNvSpPr txBox="1"/>
          <p:nvPr/>
        </p:nvSpPr>
        <p:spPr>
          <a:xfrm>
            <a:off x="5020970" y="3291840"/>
            <a:ext cx="2643530" cy="420624"/>
          </a:xfrm>
          <a:prstGeom prst="rect">
            <a:avLst/>
          </a:prstGeom>
          <a:noFill/>
        </p:spPr>
        <p:txBody>
          <a:bodyPr wrap="square" lIns="0" rIns="0" tIns="0" bIns="0" anchor="ctr">
            <a:spAutoFit/>
          </a:bodyPr>
          <a:lstStyle/>
          <a:p>
            <a:pPr algn="l">
              <a:spcBef>
                <a:spcPts val="0"/>
              </a:spcBef>
              <a:spcAft>
                <a:spcPts val="0"/>
              </a:spcAft>
            </a:pPr>
            <a:r>
              <a:rPr sz="1200" b="1" i="0">
                <a:solidFill>
                  <a:srgbClr val="123B47"/>
                </a:solidFill>
                <a:latin typeface="Calibri"/>
              </a:rPr>
              <a:t>Big-bang scope</a:t>
            </a:r>
          </a:p>
        </p:txBody>
      </p:sp>
      <p:sp>
        <p:nvSpPr>
          <p:cNvPr id="28" name="TextBox 27"/>
          <p:cNvSpPr txBox="1"/>
          <p:nvPr/>
        </p:nvSpPr>
        <p:spPr>
          <a:xfrm>
            <a:off x="4527194" y="3803904"/>
            <a:ext cx="3137306" cy="822960"/>
          </a:xfrm>
          <a:prstGeom prst="rect">
            <a:avLst/>
          </a:prstGeom>
          <a:noFill/>
        </p:spPr>
        <p:txBody>
          <a:bodyPr wrap="square" lIns="0" rIns="0" tIns="0" bIns="0" anchor="t">
            <a:spAutoFit/>
          </a:bodyPr>
          <a:lstStyle/>
          <a:p>
            <a:pPr algn="l">
              <a:lnSpc>
                <a:spcPct val="116000"/>
              </a:lnSpc>
              <a:spcBef>
                <a:spcPts val="0"/>
              </a:spcBef>
              <a:spcAft>
                <a:spcPts val="0"/>
              </a:spcAft>
            </a:pPr>
            <a:r>
              <a:rPr sz="900" b="0" i="0">
                <a:solidFill>
                  <a:srgbClr val="2E3F47"/>
                </a:solidFill>
                <a:latin typeface="Calibri"/>
              </a:rPr>
              <a:t>Two years to first delivery. The sponsor changes, priorities move, and the programme is cancelled at 70 per cent complete.</a:t>
            </a:r>
          </a:p>
        </p:txBody>
      </p:sp>
      <p:sp>
        <p:nvSpPr>
          <p:cNvPr id="29" name="Rounded Rectangle 28"/>
          <p:cNvSpPr/>
          <p:nvPr/>
        </p:nvSpPr>
        <p:spPr>
          <a:xfrm>
            <a:off x="8103412" y="3127248"/>
            <a:ext cx="3539642" cy="1645920"/>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8304580" y="3310128"/>
            <a:ext cx="384048" cy="384048"/>
          </a:xfrm>
          <a:prstGeom prst="ellipse">
            <a:avLst/>
          </a:prstGeom>
          <a:solidFill>
            <a:srgbClr val="1B7F7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250" b="1" i="0">
                <a:solidFill>
                  <a:srgbClr val="FFFFFF"/>
                </a:solidFill>
                <a:latin typeface="Calibri"/>
              </a:rPr>
              <a:t>6</a:t>
            </a:r>
          </a:p>
        </p:txBody>
      </p:sp>
      <p:sp>
        <p:nvSpPr>
          <p:cNvPr id="31" name="TextBox 30"/>
          <p:cNvSpPr txBox="1"/>
          <p:nvPr/>
        </p:nvSpPr>
        <p:spPr>
          <a:xfrm>
            <a:off x="8798356" y="3291840"/>
            <a:ext cx="2643530" cy="420624"/>
          </a:xfrm>
          <a:prstGeom prst="rect">
            <a:avLst/>
          </a:prstGeom>
          <a:noFill/>
        </p:spPr>
        <p:txBody>
          <a:bodyPr wrap="square" lIns="0" rIns="0" tIns="0" bIns="0" anchor="ctr">
            <a:spAutoFit/>
          </a:bodyPr>
          <a:lstStyle/>
          <a:p>
            <a:pPr algn="l">
              <a:spcBef>
                <a:spcPts val="0"/>
              </a:spcBef>
              <a:spcAft>
                <a:spcPts val="0"/>
              </a:spcAft>
            </a:pPr>
            <a:r>
              <a:rPr sz="1200" b="1" i="0">
                <a:solidFill>
                  <a:srgbClr val="123B47"/>
                </a:solidFill>
                <a:latin typeface="Calibri"/>
              </a:rPr>
              <a:t>Funded as a project, not a capability</a:t>
            </a:r>
          </a:p>
        </p:txBody>
      </p:sp>
      <p:sp>
        <p:nvSpPr>
          <p:cNvPr id="32" name="TextBox 31"/>
          <p:cNvSpPr txBox="1"/>
          <p:nvPr/>
        </p:nvSpPr>
        <p:spPr>
          <a:xfrm>
            <a:off x="8304580" y="3803904"/>
            <a:ext cx="3137306" cy="822960"/>
          </a:xfrm>
          <a:prstGeom prst="rect">
            <a:avLst/>
          </a:prstGeom>
          <a:noFill/>
        </p:spPr>
        <p:txBody>
          <a:bodyPr wrap="square" lIns="0" rIns="0" tIns="0" bIns="0" anchor="t">
            <a:spAutoFit/>
          </a:bodyPr>
          <a:lstStyle/>
          <a:p>
            <a:pPr algn="l">
              <a:lnSpc>
                <a:spcPct val="116000"/>
              </a:lnSpc>
              <a:spcBef>
                <a:spcPts val="0"/>
              </a:spcBef>
              <a:spcAft>
                <a:spcPts val="0"/>
              </a:spcAft>
            </a:pPr>
            <a:r>
              <a:rPr sz="900" b="0" i="0">
                <a:solidFill>
                  <a:srgbClr val="2E3F47"/>
                </a:solidFill>
                <a:latin typeface="Calibri"/>
              </a:rPr>
              <a:t>No budget for source changes, new questions or refactoring. The warehouse ages into the very spider's web it replaced.</a:t>
            </a:r>
          </a:p>
        </p:txBody>
      </p:sp>
      <p:sp>
        <p:nvSpPr>
          <p:cNvPr id="33" name="Rounded Rectangle 32"/>
          <p:cNvSpPr/>
          <p:nvPr/>
        </p:nvSpPr>
        <p:spPr>
          <a:xfrm>
            <a:off x="548640" y="4974336"/>
            <a:ext cx="11094415" cy="566928"/>
          </a:xfrm>
          <a:prstGeom prst="roundRect">
            <a:avLst>
              <a:gd name="adj" fmla="val 6000"/>
            </a:avLst>
          </a:prstGeom>
          <a:solidFill>
            <a:srgbClr val="123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768096" y="5074920"/>
            <a:ext cx="10655503" cy="365760"/>
          </a:xfrm>
          <a:prstGeom prst="rect">
            <a:avLst/>
          </a:prstGeom>
          <a:noFill/>
        </p:spPr>
        <p:txBody>
          <a:bodyPr wrap="square" lIns="0" rIns="0" tIns="0" bIns="0" anchor="ctr">
            <a:spAutoFit/>
          </a:bodyPr>
          <a:lstStyle/>
          <a:p>
            <a:pPr algn="l">
              <a:lnSpc>
                <a:spcPct val="114000"/>
              </a:lnSpc>
            </a:pPr>
            <a:r>
              <a:rPr sz="1100" b="1">
                <a:solidFill>
                  <a:srgbClr val="E8A33D"/>
                </a:solidFill>
                <a:latin typeface="Calibri"/>
              </a:rPr>
              <a:t>Why the first two are marked in red.  </a:t>
            </a:r>
            <a:r>
              <a:rPr sz="1100">
                <a:solidFill>
                  <a:srgbClr val="FFFFFF"/>
                </a:solidFill>
                <a:latin typeface="Calibri"/>
              </a:rPr>
              <a:t>Grain chosen too coarse and history not retained both destroy information that cannot be recovered later at any price. Every other failure on this slide can be repaired with money and time; these two cannot.</a:t>
            </a:r>
          </a:p>
        </p:txBody>
      </p:sp>
      <p:sp>
        <p:nvSpPr>
          <p:cNvPr id="35" name="Rounded Rectangle 34"/>
          <p:cNvSpPr/>
          <p:nvPr/>
        </p:nvSpPr>
        <p:spPr>
          <a:xfrm>
            <a:off x="548640" y="5669280"/>
            <a:ext cx="11094415" cy="640080"/>
          </a:xfrm>
          <a:prstGeom prst="roundRect">
            <a:avLst>
              <a:gd name="adj" fmla="val 6000"/>
            </a:avLst>
          </a:prstGeom>
          <a:solidFill>
            <a:srgbClr val="FFFFFF"/>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768096" y="5742432"/>
            <a:ext cx="10655503" cy="512064"/>
          </a:xfrm>
          <a:prstGeom prst="rect">
            <a:avLst/>
          </a:prstGeom>
          <a:noFill/>
        </p:spPr>
        <p:txBody>
          <a:bodyPr wrap="square" lIns="0" rIns="0" tIns="0" bIns="0" anchor="ctr">
            <a:spAutoFit/>
          </a:bodyPr>
          <a:lstStyle/>
          <a:p>
            <a:pPr algn="l">
              <a:lnSpc>
                <a:spcPct val="118000"/>
              </a:lnSpc>
              <a:spcBef>
                <a:spcPts val="0"/>
              </a:spcBef>
              <a:spcAft>
                <a:spcPts val="0"/>
              </a:spcAft>
            </a:pPr>
            <a:r>
              <a:rPr sz="900" b="0" i="0">
                <a:solidFill>
                  <a:srgbClr val="2E3F47"/>
                </a:solidFill>
                <a:latin typeface="Calibri"/>
              </a:rPr>
              <a:t>In-session activity (20 minutes, groups of four) — Aravalli Hospitals runs four hospitals and eleven clinics on five unconnected systems. Classify seven stated requirements as OLTP or OLAP, name the missing Inmon property behind each complaint, sketch a layered architecture, and choose ETL or ELT with two reasons. Budget ₹ 1.6 crore over eighteen months; the medical director's patience is one quarter.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bg>
    <p:bgPr>
      <a:solidFill>
        <a:srgbClr val="FFFFFF"/>
      </a:solidFill>
      <a:effectLst/>
    </p:bgPr>
  </p:bg>
  <p:cSld>
    <p:spTree>
      <p:nvGrpSpPr>
        <p:cNvPr id="1" name=""/>
        <p:cNvGrpSpPr/>
        <p:nvPr/>
      </p:nvGrpSpPr>
      <p:grpSpPr/>
      <p:sp>
        <p:nvSpPr>
          <p:cNvPr id="2" name="Oval 1"/>
          <p:cNvSpPr/>
          <p:nvPr/>
        </p:nvSpPr>
        <p:spPr>
          <a:xfrm>
            <a:off x="548640" y="374904"/>
            <a:ext cx="109728" cy="109728"/>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49808" y="283464"/>
            <a:ext cx="10893247" cy="256032"/>
          </a:xfrm>
          <a:prstGeom prst="rect">
            <a:avLst/>
          </a:prstGeom>
          <a:noFill/>
        </p:spPr>
        <p:txBody>
          <a:bodyPr wrap="square" lIns="0" rIns="0" tIns="0" bIns="0" anchor="t">
            <a:spAutoFit/>
          </a:bodyPr>
          <a:lstStyle/>
          <a:p>
            <a:pPr algn="l">
              <a:spcBef>
                <a:spcPts val="0"/>
              </a:spcBef>
              <a:spcAft>
                <a:spcPts val="0"/>
              </a:spcAft>
            </a:pPr>
            <a:r>
              <a:rPr sz="1000" b="1" i="0">
                <a:solidFill>
                  <a:srgbClr val="B87A1E"/>
                </a:solidFill>
                <a:latin typeface="Calibri"/>
              </a:rPr>
              <a:t>SESSION SUMMARY</a:t>
            </a:r>
          </a:p>
        </p:txBody>
      </p:sp>
      <p:sp>
        <p:nvSpPr>
          <p:cNvPr id="4" name="TextBox 3"/>
          <p:cNvSpPr txBox="1"/>
          <p:nvPr/>
        </p:nvSpPr>
        <p:spPr>
          <a:xfrm>
            <a:off x="548640" y="548640"/>
            <a:ext cx="11094415" cy="640080"/>
          </a:xfrm>
          <a:prstGeom prst="rect">
            <a:avLst/>
          </a:prstGeom>
          <a:noFill/>
        </p:spPr>
        <p:txBody>
          <a:bodyPr wrap="square" lIns="0" rIns="0" tIns="0" bIns="0" anchor="t">
            <a:spAutoFit/>
          </a:bodyPr>
          <a:lstStyle/>
          <a:p>
            <a:pPr algn="l">
              <a:spcBef>
                <a:spcPts val="0"/>
              </a:spcBef>
              <a:spcAft>
                <a:spcPts val="0"/>
              </a:spcAft>
            </a:pPr>
            <a:r>
              <a:rPr sz="2600" b="1" i="0">
                <a:solidFill>
                  <a:srgbClr val="123B47"/>
                </a:solidFill>
                <a:latin typeface="Cambria"/>
              </a:rPr>
              <a:t>Eight propositions to carry forward</a:t>
            </a:r>
          </a:p>
        </p:txBody>
      </p:sp>
      <p:sp>
        <p:nvSpPr>
          <p:cNvPr id="5" name="TextBox 4"/>
          <p:cNvSpPr txBox="1"/>
          <p:nvPr/>
        </p:nvSpPr>
        <p:spPr>
          <a:xfrm>
            <a:off x="548640" y="6382512"/>
            <a:ext cx="8686800" cy="256032"/>
          </a:xfrm>
          <a:prstGeom prst="rect">
            <a:avLst/>
          </a:prstGeom>
          <a:noFill/>
        </p:spPr>
        <p:txBody>
          <a:bodyPr wrap="square" lIns="0" rIns="0" tIns="0" bIns="0" anchor="t">
            <a:spAutoFit/>
          </a:bodyPr>
          <a:lstStyle/>
          <a:p>
            <a:pPr algn="l">
              <a:spcBef>
                <a:spcPts val="0"/>
              </a:spcBef>
              <a:spcAft>
                <a:spcPts val="0"/>
              </a:spcAft>
            </a:pPr>
            <a:r>
              <a:rPr sz="900" b="0" i="0">
                <a:solidFill>
                  <a:srgbClr val="5C7079"/>
                </a:solidFill>
                <a:latin typeface="Calibri"/>
              </a:rPr>
              <a:t>Business Intelligence  |  Session 6 — Data Warehousing &amp; OLTP/OLAP  |  IILM Jaipur, MBA</a:t>
            </a:r>
          </a:p>
        </p:txBody>
      </p:sp>
      <p:sp>
        <p:nvSpPr>
          <p:cNvPr id="6" name="TextBox 5"/>
          <p:cNvSpPr txBox="1"/>
          <p:nvPr/>
        </p:nvSpPr>
        <p:spPr>
          <a:xfrm>
            <a:off x="10545775" y="6382512"/>
            <a:ext cx="1097280" cy="256032"/>
          </a:xfrm>
          <a:prstGeom prst="rect">
            <a:avLst/>
          </a:prstGeom>
          <a:noFill/>
        </p:spPr>
        <p:txBody>
          <a:bodyPr wrap="square" lIns="0" rIns="0" tIns="0" bIns="0" anchor="t">
            <a:spAutoFit/>
          </a:bodyPr>
          <a:lstStyle/>
          <a:p>
            <a:pPr algn="r">
              <a:spcBef>
                <a:spcPts val="0"/>
              </a:spcBef>
              <a:spcAft>
                <a:spcPts val="0"/>
              </a:spcAft>
            </a:pPr>
            <a:r>
              <a:rPr sz="950" b="1" i="0">
                <a:solidFill>
                  <a:srgbClr val="1B7F79"/>
                </a:solidFill>
                <a:latin typeface="Calibri"/>
              </a:rPr>
              <a:t>14</a:t>
            </a:r>
          </a:p>
        </p:txBody>
      </p:sp>
      <p:sp>
        <p:nvSpPr>
          <p:cNvPr id="7" name="Rounded Rectangle 6"/>
          <p:cNvSpPr/>
          <p:nvPr/>
        </p:nvSpPr>
        <p:spPr>
          <a:xfrm>
            <a:off x="548640" y="1316736"/>
            <a:ext cx="5428335" cy="676656"/>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Oval 7"/>
          <p:cNvSpPr/>
          <p:nvPr/>
        </p:nvSpPr>
        <p:spPr>
          <a:xfrm>
            <a:off x="731520" y="1463039"/>
            <a:ext cx="365760" cy="365760"/>
          </a:xfrm>
          <a:prstGeom prst="ellipse">
            <a:avLst/>
          </a:prstGeom>
          <a:solidFill>
            <a:srgbClr val="1B7F7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250" b="1" i="0">
                <a:solidFill>
                  <a:srgbClr val="FFFFFF"/>
                </a:solidFill>
                <a:latin typeface="Calibri"/>
              </a:rPr>
              <a:t>1</a:t>
            </a:r>
          </a:p>
        </p:txBody>
      </p:sp>
      <p:sp>
        <p:nvSpPr>
          <p:cNvPr id="9" name="TextBox 8"/>
          <p:cNvSpPr txBox="1"/>
          <p:nvPr/>
        </p:nvSpPr>
        <p:spPr>
          <a:xfrm>
            <a:off x="1207007" y="1426464"/>
            <a:ext cx="4568799" cy="493776"/>
          </a:xfrm>
          <a:prstGeom prst="rect">
            <a:avLst/>
          </a:prstGeom>
          <a:noFill/>
        </p:spPr>
        <p:txBody>
          <a:bodyPr wrap="square" lIns="0" rIns="0" tIns="0" bIns="0" anchor="ctr">
            <a:spAutoFit/>
          </a:bodyPr>
          <a:lstStyle/>
          <a:p>
            <a:pPr algn="l">
              <a:lnSpc>
                <a:spcPct val="114000"/>
              </a:lnSpc>
              <a:spcBef>
                <a:spcPts val="0"/>
              </a:spcBef>
              <a:spcAft>
                <a:spcPts val="0"/>
              </a:spcAft>
            </a:pPr>
            <a:r>
              <a:rPr sz="1000" b="0" i="0">
                <a:solidFill>
                  <a:srgbClr val="2E3F47"/>
                </a:solidFill>
                <a:latin typeface="Calibri"/>
              </a:rPr>
              <a:t>Operational and analytical databases have opposite design priorities; no single structure serves both well.</a:t>
            </a:r>
          </a:p>
        </p:txBody>
      </p:sp>
      <p:sp>
        <p:nvSpPr>
          <p:cNvPr id="10" name="Rounded Rectangle 9"/>
          <p:cNvSpPr/>
          <p:nvPr/>
        </p:nvSpPr>
        <p:spPr>
          <a:xfrm>
            <a:off x="6214719" y="1316736"/>
            <a:ext cx="5428335" cy="676656"/>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6397599" y="1463039"/>
            <a:ext cx="365760" cy="365760"/>
          </a:xfrm>
          <a:prstGeom prst="ellipse">
            <a:avLst/>
          </a:prstGeom>
          <a:solidFill>
            <a:srgbClr val="123B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250" b="1" i="0">
                <a:solidFill>
                  <a:srgbClr val="FFFFFF"/>
                </a:solidFill>
                <a:latin typeface="Calibri"/>
              </a:rPr>
              <a:t>2</a:t>
            </a:r>
          </a:p>
        </p:txBody>
      </p:sp>
      <p:sp>
        <p:nvSpPr>
          <p:cNvPr id="12" name="TextBox 11"/>
          <p:cNvSpPr txBox="1"/>
          <p:nvPr/>
        </p:nvSpPr>
        <p:spPr>
          <a:xfrm>
            <a:off x="6873087" y="1426464"/>
            <a:ext cx="4568799" cy="493776"/>
          </a:xfrm>
          <a:prstGeom prst="rect">
            <a:avLst/>
          </a:prstGeom>
          <a:noFill/>
        </p:spPr>
        <p:txBody>
          <a:bodyPr wrap="square" lIns="0" rIns="0" tIns="0" bIns="0" anchor="ctr">
            <a:spAutoFit/>
          </a:bodyPr>
          <a:lstStyle/>
          <a:p>
            <a:pPr algn="l">
              <a:lnSpc>
                <a:spcPct val="114000"/>
              </a:lnSpc>
              <a:spcBef>
                <a:spcPts val="0"/>
              </a:spcBef>
              <a:spcAft>
                <a:spcPts val="0"/>
              </a:spcAft>
            </a:pPr>
            <a:r>
              <a:rPr sz="1000" b="0" i="0">
                <a:solidFill>
                  <a:srgbClr val="2E3F47"/>
                </a:solidFill>
                <a:latin typeface="Calibri"/>
              </a:rPr>
              <a:t>A data warehouse is subject-oriented, integrated, time-variant and non-volatile — Inmon's four properties.</a:t>
            </a:r>
          </a:p>
        </p:txBody>
      </p:sp>
      <p:sp>
        <p:nvSpPr>
          <p:cNvPr id="13" name="Rounded Rectangle 12"/>
          <p:cNvSpPr/>
          <p:nvPr/>
        </p:nvSpPr>
        <p:spPr>
          <a:xfrm>
            <a:off x="548640" y="2103120"/>
            <a:ext cx="5428335" cy="676656"/>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Oval 13"/>
          <p:cNvSpPr/>
          <p:nvPr/>
        </p:nvSpPr>
        <p:spPr>
          <a:xfrm>
            <a:off x="731520" y="2249424"/>
            <a:ext cx="365760" cy="365760"/>
          </a:xfrm>
          <a:prstGeom prst="ellipse">
            <a:avLst/>
          </a:prstGeom>
          <a:solidFill>
            <a:srgbClr val="1B7F7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250" b="1" i="0">
                <a:solidFill>
                  <a:srgbClr val="FFFFFF"/>
                </a:solidFill>
                <a:latin typeface="Calibri"/>
              </a:rPr>
              <a:t>3</a:t>
            </a:r>
          </a:p>
        </p:txBody>
      </p:sp>
      <p:sp>
        <p:nvSpPr>
          <p:cNvPr id="15" name="TextBox 14"/>
          <p:cNvSpPr txBox="1"/>
          <p:nvPr/>
        </p:nvSpPr>
        <p:spPr>
          <a:xfrm>
            <a:off x="1207007" y="2212848"/>
            <a:ext cx="4568799" cy="493776"/>
          </a:xfrm>
          <a:prstGeom prst="rect">
            <a:avLst/>
          </a:prstGeom>
          <a:noFill/>
        </p:spPr>
        <p:txBody>
          <a:bodyPr wrap="square" lIns="0" rIns="0" tIns="0" bIns="0" anchor="ctr">
            <a:spAutoFit/>
          </a:bodyPr>
          <a:lstStyle/>
          <a:p>
            <a:pPr algn="l">
              <a:lnSpc>
                <a:spcPct val="114000"/>
              </a:lnSpc>
              <a:spcBef>
                <a:spcPts val="0"/>
              </a:spcBef>
              <a:spcAft>
                <a:spcPts val="0"/>
              </a:spcAft>
            </a:pPr>
            <a:r>
              <a:rPr sz="1000" b="0" i="0">
                <a:solidFill>
                  <a:srgbClr val="2E3F47"/>
                </a:solidFill>
                <a:latin typeface="Calibri"/>
              </a:rPr>
              <a:t>Integration is the property most often skipped; time-variance the one most often cut for cost.</a:t>
            </a:r>
          </a:p>
        </p:txBody>
      </p:sp>
      <p:sp>
        <p:nvSpPr>
          <p:cNvPr id="16" name="Rounded Rectangle 15"/>
          <p:cNvSpPr/>
          <p:nvPr/>
        </p:nvSpPr>
        <p:spPr>
          <a:xfrm>
            <a:off x="6214719" y="2103120"/>
            <a:ext cx="5428335" cy="676656"/>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Oval 16"/>
          <p:cNvSpPr/>
          <p:nvPr/>
        </p:nvSpPr>
        <p:spPr>
          <a:xfrm>
            <a:off x="6397599" y="2249424"/>
            <a:ext cx="365760" cy="365760"/>
          </a:xfrm>
          <a:prstGeom prst="ellipse">
            <a:avLst/>
          </a:prstGeom>
          <a:solidFill>
            <a:srgbClr val="123B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250" b="1" i="0">
                <a:solidFill>
                  <a:srgbClr val="FFFFFF"/>
                </a:solidFill>
                <a:latin typeface="Calibri"/>
              </a:rPr>
              <a:t>4</a:t>
            </a:r>
          </a:p>
        </p:txBody>
      </p:sp>
      <p:sp>
        <p:nvSpPr>
          <p:cNvPr id="18" name="TextBox 17"/>
          <p:cNvSpPr txBox="1"/>
          <p:nvPr/>
        </p:nvSpPr>
        <p:spPr>
          <a:xfrm>
            <a:off x="6873087" y="2212848"/>
            <a:ext cx="4568799" cy="493776"/>
          </a:xfrm>
          <a:prstGeom prst="rect">
            <a:avLst/>
          </a:prstGeom>
          <a:noFill/>
        </p:spPr>
        <p:txBody>
          <a:bodyPr wrap="square" lIns="0" rIns="0" tIns="0" bIns="0" anchor="ctr">
            <a:spAutoFit/>
          </a:bodyPr>
          <a:lstStyle/>
          <a:p>
            <a:pPr algn="l">
              <a:lnSpc>
                <a:spcPct val="114000"/>
              </a:lnSpc>
              <a:spcBef>
                <a:spcPts val="0"/>
              </a:spcBef>
              <a:spcAft>
                <a:spcPts val="0"/>
              </a:spcAft>
            </a:pPr>
            <a:r>
              <a:rPr sz="1000" b="0" i="0">
                <a:solidFill>
                  <a:srgbClr val="2E3F47"/>
                </a:solidFill>
                <a:latin typeface="Calibri"/>
              </a:rPr>
              <a:t>OLTP touches few rows very often; OLAP touches very many rows occasionally — six orders of magnitude apart.</a:t>
            </a:r>
          </a:p>
        </p:txBody>
      </p:sp>
      <p:sp>
        <p:nvSpPr>
          <p:cNvPr id="19" name="Rounded Rectangle 18"/>
          <p:cNvSpPr/>
          <p:nvPr/>
        </p:nvSpPr>
        <p:spPr>
          <a:xfrm>
            <a:off x="548640" y="2889504"/>
            <a:ext cx="5428335" cy="676656"/>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731520" y="3035808"/>
            <a:ext cx="365760" cy="365760"/>
          </a:xfrm>
          <a:prstGeom prst="ellipse">
            <a:avLst/>
          </a:prstGeom>
          <a:solidFill>
            <a:srgbClr val="1B7F7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250" b="1" i="0">
                <a:solidFill>
                  <a:srgbClr val="FFFFFF"/>
                </a:solidFill>
                <a:latin typeface="Calibri"/>
              </a:rPr>
              <a:t>5</a:t>
            </a:r>
          </a:p>
        </p:txBody>
      </p:sp>
      <p:sp>
        <p:nvSpPr>
          <p:cNvPr id="21" name="TextBox 20"/>
          <p:cNvSpPr txBox="1"/>
          <p:nvPr/>
        </p:nvSpPr>
        <p:spPr>
          <a:xfrm>
            <a:off x="1207007" y="2999232"/>
            <a:ext cx="4568799" cy="493776"/>
          </a:xfrm>
          <a:prstGeom prst="rect">
            <a:avLst/>
          </a:prstGeom>
          <a:noFill/>
        </p:spPr>
        <p:txBody>
          <a:bodyPr wrap="square" lIns="0" rIns="0" tIns="0" bIns="0" anchor="ctr">
            <a:spAutoFit/>
          </a:bodyPr>
          <a:lstStyle/>
          <a:p>
            <a:pPr algn="l">
              <a:lnSpc>
                <a:spcPct val="114000"/>
              </a:lnSpc>
              <a:spcBef>
                <a:spcPts val="0"/>
              </a:spcBef>
              <a:spcAft>
                <a:spcPts val="0"/>
              </a:spcAft>
            </a:pPr>
            <a:r>
              <a:rPr sz="1000" b="0" i="0">
                <a:solidFill>
                  <a:srgbClr val="2E3F47"/>
                </a:solidFill>
                <a:latin typeface="Calibri"/>
              </a:rPr>
              <a:t>The five OLAP operations are roll-up, drill-down, slice, dice and pivot.</a:t>
            </a:r>
          </a:p>
        </p:txBody>
      </p:sp>
      <p:sp>
        <p:nvSpPr>
          <p:cNvPr id="22" name="Rounded Rectangle 21"/>
          <p:cNvSpPr/>
          <p:nvPr/>
        </p:nvSpPr>
        <p:spPr>
          <a:xfrm>
            <a:off x="6214719" y="2889504"/>
            <a:ext cx="5428335" cy="676656"/>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6397599" y="3035808"/>
            <a:ext cx="365760" cy="365760"/>
          </a:xfrm>
          <a:prstGeom prst="ellipse">
            <a:avLst/>
          </a:prstGeom>
          <a:solidFill>
            <a:srgbClr val="123B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250" b="1" i="0">
                <a:solidFill>
                  <a:srgbClr val="FFFFFF"/>
                </a:solidFill>
                <a:latin typeface="Calibri"/>
              </a:rPr>
              <a:t>6</a:t>
            </a:r>
          </a:p>
        </p:txBody>
      </p:sp>
      <p:sp>
        <p:nvSpPr>
          <p:cNvPr id="24" name="TextBox 23"/>
          <p:cNvSpPr txBox="1"/>
          <p:nvPr/>
        </p:nvSpPr>
        <p:spPr>
          <a:xfrm>
            <a:off x="6873087" y="2999232"/>
            <a:ext cx="4568799" cy="493776"/>
          </a:xfrm>
          <a:prstGeom prst="rect">
            <a:avLst/>
          </a:prstGeom>
          <a:noFill/>
        </p:spPr>
        <p:txBody>
          <a:bodyPr wrap="square" lIns="0" rIns="0" tIns="0" bIns="0" anchor="ctr">
            <a:spAutoFit/>
          </a:bodyPr>
          <a:lstStyle/>
          <a:p>
            <a:pPr algn="l">
              <a:lnSpc>
                <a:spcPct val="114000"/>
              </a:lnSpc>
              <a:spcBef>
                <a:spcPts val="0"/>
              </a:spcBef>
              <a:spcAft>
                <a:spcPts val="0"/>
              </a:spcAft>
            </a:pPr>
            <a:r>
              <a:rPr sz="1000" b="0" i="0">
                <a:solidFill>
                  <a:srgbClr val="2E3F47"/>
                </a:solidFill>
                <a:latin typeface="Calibri"/>
              </a:rPr>
              <a:t>Each architectural layer has one job and data flows one way; a report reading from staging breaks the design.</a:t>
            </a:r>
          </a:p>
        </p:txBody>
      </p:sp>
      <p:sp>
        <p:nvSpPr>
          <p:cNvPr id="25" name="Rounded Rectangle 24"/>
          <p:cNvSpPr/>
          <p:nvPr/>
        </p:nvSpPr>
        <p:spPr>
          <a:xfrm>
            <a:off x="548640" y="3675887"/>
            <a:ext cx="5428335" cy="676656"/>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731520" y="3822191"/>
            <a:ext cx="365760" cy="365760"/>
          </a:xfrm>
          <a:prstGeom prst="ellipse">
            <a:avLst/>
          </a:prstGeom>
          <a:solidFill>
            <a:srgbClr val="1B7F7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250" b="1" i="0">
                <a:solidFill>
                  <a:srgbClr val="FFFFFF"/>
                </a:solidFill>
                <a:latin typeface="Calibri"/>
              </a:rPr>
              <a:t>7</a:t>
            </a:r>
          </a:p>
        </p:txBody>
      </p:sp>
      <p:sp>
        <p:nvSpPr>
          <p:cNvPr id="27" name="TextBox 26"/>
          <p:cNvSpPr txBox="1"/>
          <p:nvPr/>
        </p:nvSpPr>
        <p:spPr>
          <a:xfrm>
            <a:off x="1207007" y="3785615"/>
            <a:ext cx="4568799" cy="493776"/>
          </a:xfrm>
          <a:prstGeom prst="rect">
            <a:avLst/>
          </a:prstGeom>
          <a:noFill/>
        </p:spPr>
        <p:txBody>
          <a:bodyPr wrap="square" lIns="0" rIns="0" tIns="0" bIns="0" anchor="ctr">
            <a:spAutoFit/>
          </a:bodyPr>
          <a:lstStyle/>
          <a:p>
            <a:pPr algn="l">
              <a:lnSpc>
                <a:spcPct val="114000"/>
              </a:lnSpc>
              <a:spcBef>
                <a:spcPts val="0"/>
              </a:spcBef>
              <a:spcAft>
                <a:spcPts val="0"/>
              </a:spcAft>
            </a:pPr>
            <a:r>
              <a:rPr sz="1000" b="0" i="0">
                <a:solidFill>
                  <a:srgbClr val="2E3F47"/>
                </a:solidFill>
                <a:latin typeface="Calibri"/>
              </a:rPr>
              <a:t>ELT is the cloud default; ETL survives where raw data may not be landed. Every load must be idempotent.</a:t>
            </a:r>
          </a:p>
        </p:txBody>
      </p:sp>
      <p:sp>
        <p:nvSpPr>
          <p:cNvPr id="28" name="Rounded Rectangle 27"/>
          <p:cNvSpPr/>
          <p:nvPr/>
        </p:nvSpPr>
        <p:spPr>
          <a:xfrm>
            <a:off x="6214719" y="3675887"/>
            <a:ext cx="5428335" cy="676656"/>
          </a:xfrm>
          <a:prstGeom prst="roundRect">
            <a:avLst>
              <a:gd name="adj" fmla="val 6000"/>
            </a:avLst>
          </a:prstGeom>
          <a:solidFill>
            <a:srgbClr val="F1F5F4"/>
          </a:solidFill>
          <a:ln w="12700">
            <a:solidFill>
              <a:srgbClr val="E4EDE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Oval 28"/>
          <p:cNvSpPr/>
          <p:nvPr/>
        </p:nvSpPr>
        <p:spPr>
          <a:xfrm>
            <a:off x="6397599" y="3822191"/>
            <a:ext cx="365760" cy="365760"/>
          </a:xfrm>
          <a:prstGeom prst="ellipse">
            <a:avLst/>
          </a:prstGeom>
          <a:solidFill>
            <a:srgbClr val="123B4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250" b="1" i="0">
                <a:solidFill>
                  <a:srgbClr val="FFFFFF"/>
                </a:solidFill>
                <a:latin typeface="Calibri"/>
              </a:rPr>
              <a:t>8</a:t>
            </a:r>
          </a:p>
        </p:txBody>
      </p:sp>
      <p:sp>
        <p:nvSpPr>
          <p:cNvPr id="30" name="TextBox 29"/>
          <p:cNvSpPr txBox="1"/>
          <p:nvPr/>
        </p:nvSpPr>
        <p:spPr>
          <a:xfrm>
            <a:off x="6873087" y="3785615"/>
            <a:ext cx="4568799" cy="493776"/>
          </a:xfrm>
          <a:prstGeom prst="rect">
            <a:avLst/>
          </a:prstGeom>
          <a:noFill/>
        </p:spPr>
        <p:txBody>
          <a:bodyPr wrap="square" lIns="0" rIns="0" tIns="0" bIns="0" anchor="ctr">
            <a:spAutoFit/>
          </a:bodyPr>
          <a:lstStyle/>
          <a:p>
            <a:pPr algn="l">
              <a:lnSpc>
                <a:spcPct val="114000"/>
              </a:lnSpc>
              <a:spcBef>
                <a:spcPts val="0"/>
              </a:spcBef>
              <a:spcAft>
                <a:spcPts val="0"/>
              </a:spcAft>
            </a:pPr>
            <a:r>
              <a:rPr sz="1000" b="0" i="0">
                <a:solidFill>
                  <a:srgbClr val="2E3F47"/>
                </a:solidFill>
                <a:latin typeface="Calibri"/>
              </a:rPr>
              <a:t>Kimball delivers value sooner and suits most organisations, provided conformed dimensions are genuinely governed.</a:t>
            </a:r>
          </a:p>
        </p:txBody>
      </p:sp>
      <p:graphicFrame>
        <p:nvGraphicFramePr>
          <p:cNvPr id="31" name="Table 30"/>
          <p:cNvGraphicFramePr>
            <a:graphicFrameLocks noGrp="1"/>
          </p:cNvGraphicFramePr>
          <p:nvPr/>
        </p:nvGraphicFramePr>
        <p:xfrm>
          <a:off x="548640" y="4517136"/>
          <a:ext cx="11094414" cy="1243584"/>
        </p:xfrm>
        <a:graphic>
          <a:graphicData uri="http://schemas.openxmlformats.org/drawingml/2006/table">
            <a:tbl>
              <a:tblPr firstRow="1" bandRow="1">
                <a:tableStyleId>{5C22544A-7EE6-4342-B048-85BDC9FD1C3A}</a:tableStyleId>
              </a:tblPr>
              <a:tblGrid>
                <a:gridCol w="1664162"/>
                <a:gridCol w="3883045"/>
                <a:gridCol w="1664162"/>
                <a:gridCol w="3883045"/>
              </a:tblGrid>
              <a:tr h="310896">
                <a:tc>
                  <a:txBody>
                    <a:bodyPr/>
                    <a:lstStyle/>
                    <a:p>
                      <a:pPr>
                        <a:lnSpc>
                          <a:spcPct val="105000"/>
                        </a:lnSpc>
                      </a:pPr>
                      <a:r>
                        <a:rPr sz="900" b="1">
                          <a:solidFill>
                            <a:srgbClr val="FFFFFF"/>
                          </a:solidFill>
                          <a:latin typeface="Calibri"/>
                        </a:rPr>
                        <a:t>Term</a:t>
                      </a:r>
                    </a:p>
                  </a:txBody>
                  <a:tcPr marL="82296" marR="82296" marT="41148" marB="41148" anchor="ctr">
                    <a:solidFill>
                      <a:srgbClr val="123B47"/>
                    </a:solidFill>
                  </a:tcPr>
                </a:tc>
                <a:tc>
                  <a:txBody>
                    <a:bodyPr/>
                    <a:lstStyle/>
                    <a:p>
                      <a:pPr>
                        <a:lnSpc>
                          <a:spcPct val="105000"/>
                        </a:lnSpc>
                      </a:pPr>
                      <a:r>
                        <a:rPr sz="900" b="1">
                          <a:solidFill>
                            <a:srgbClr val="FFFFFF"/>
                          </a:solidFill>
                          <a:latin typeface="Calibri"/>
                        </a:rPr>
                        <a:t>One line to memorise</a:t>
                      </a:r>
                    </a:p>
                  </a:txBody>
                  <a:tcPr marL="82296" marR="82296" marT="41148" marB="41148" anchor="ctr">
                    <a:solidFill>
                      <a:srgbClr val="123B47"/>
                    </a:solidFill>
                  </a:tcPr>
                </a:tc>
                <a:tc>
                  <a:txBody>
                    <a:bodyPr/>
                    <a:lstStyle/>
                    <a:p>
                      <a:pPr>
                        <a:lnSpc>
                          <a:spcPct val="105000"/>
                        </a:lnSpc>
                      </a:pPr>
                      <a:r>
                        <a:rPr sz="900" b="1">
                          <a:solidFill>
                            <a:srgbClr val="FFFFFF"/>
                          </a:solidFill>
                          <a:latin typeface="Calibri"/>
                        </a:rPr>
                        <a:t>Term</a:t>
                      </a:r>
                    </a:p>
                  </a:txBody>
                  <a:tcPr marL="82296" marR="82296" marT="41148" marB="41148" anchor="ctr">
                    <a:solidFill>
                      <a:srgbClr val="123B47"/>
                    </a:solidFill>
                  </a:tcPr>
                </a:tc>
                <a:tc>
                  <a:txBody>
                    <a:bodyPr/>
                    <a:lstStyle/>
                    <a:p>
                      <a:pPr>
                        <a:lnSpc>
                          <a:spcPct val="105000"/>
                        </a:lnSpc>
                      </a:pPr>
                      <a:r>
                        <a:rPr sz="900" b="1">
                          <a:solidFill>
                            <a:srgbClr val="FFFFFF"/>
                          </a:solidFill>
                          <a:latin typeface="Calibri"/>
                        </a:rPr>
                        <a:t>One line to memorise</a:t>
                      </a:r>
                    </a:p>
                  </a:txBody>
                  <a:tcPr marL="82296" marR="82296" marT="41148" marB="41148" anchor="ctr">
                    <a:solidFill>
                      <a:srgbClr val="123B47"/>
                    </a:solidFill>
                  </a:tcPr>
                </a:tc>
              </a:tr>
              <a:tr h="310896">
                <a:tc>
                  <a:txBody>
                    <a:bodyPr/>
                    <a:lstStyle/>
                    <a:p>
                      <a:pPr>
                        <a:lnSpc>
                          <a:spcPct val="105000"/>
                        </a:lnSpc>
                      </a:pPr>
                      <a:r>
                        <a:rPr sz="850" b="1">
                          <a:solidFill>
                            <a:srgbClr val="123B47"/>
                          </a:solidFill>
                          <a:latin typeface="Calibri"/>
                        </a:rPr>
                        <a:t>Staging area</a:t>
                      </a:r>
                    </a:p>
                  </a:txBody>
                  <a:tcPr marL="82296" marR="82296" marT="41148" marB="41148" anchor="ctr">
                    <a:solidFill>
                      <a:srgbClr val="FFFFFF"/>
                    </a:solidFill>
                  </a:tcPr>
                </a:tc>
                <a:tc>
                  <a:txBody>
                    <a:bodyPr/>
                    <a:lstStyle/>
                    <a:p>
                      <a:pPr>
                        <a:lnSpc>
                          <a:spcPct val="105000"/>
                        </a:lnSpc>
                      </a:pPr>
                      <a:r>
                        <a:rPr sz="850" b="0">
                          <a:solidFill>
                            <a:srgbClr val="2E3F47"/>
                          </a:solidFill>
                          <a:latin typeface="Calibri"/>
                        </a:rPr>
                        <a:t>Landing zone for raw extracts; decouples extraction from processing</a:t>
                      </a:r>
                    </a:p>
                  </a:txBody>
                  <a:tcPr marL="82296" marR="82296" marT="41148" marB="41148" anchor="ctr">
                    <a:solidFill>
                      <a:srgbClr val="FFFFFF"/>
                    </a:solidFill>
                  </a:tcPr>
                </a:tc>
                <a:tc>
                  <a:txBody>
                    <a:bodyPr/>
                    <a:lstStyle/>
                    <a:p>
                      <a:pPr>
                        <a:lnSpc>
                          <a:spcPct val="105000"/>
                        </a:lnSpc>
                      </a:pPr>
                      <a:r>
                        <a:rPr sz="850" b="0">
                          <a:solidFill>
                            <a:srgbClr val="2E3F47"/>
                          </a:solidFill>
                          <a:latin typeface="Calibri"/>
                        </a:rPr>
                        <a:t>Conformed dimension</a:t>
                      </a:r>
                    </a:p>
                  </a:txBody>
                  <a:tcPr marL="82296" marR="82296" marT="41148" marB="41148" anchor="ctr">
                    <a:solidFill>
                      <a:srgbClr val="FFFFFF"/>
                    </a:solidFill>
                  </a:tcPr>
                </a:tc>
                <a:tc>
                  <a:txBody>
                    <a:bodyPr/>
                    <a:lstStyle/>
                    <a:p>
                      <a:pPr>
                        <a:lnSpc>
                          <a:spcPct val="105000"/>
                        </a:lnSpc>
                      </a:pPr>
                      <a:r>
                        <a:rPr sz="850" b="0">
                          <a:solidFill>
                            <a:srgbClr val="2E3F47"/>
                          </a:solidFill>
                          <a:latin typeface="Calibri"/>
                        </a:rPr>
                        <a:t>One dimension shared identically across several fact tables</a:t>
                      </a:r>
                    </a:p>
                  </a:txBody>
                  <a:tcPr marL="82296" marR="82296" marT="41148" marB="41148" anchor="ctr">
                    <a:solidFill>
                      <a:srgbClr val="FFFFFF"/>
                    </a:solidFill>
                  </a:tcPr>
                </a:tc>
              </a:tr>
              <a:tr h="310896">
                <a:tc>
                  <a:txBody>
                    <a:bodyPr/>
                    <a:lstStyle/>
                    <a:p>
                      <a:pPr>
                        <a:lnSpc>
                          <a:spcPct val="105000"/>
                        </a:lnSpc>
                      </a:pPr>
                      <a:r>
                        <a:rPr sz="850" b="1">
                          <a:solidFill>
                            <a:srgbClr val="123B47"/>
                          </a:solidFill>
                          <a:latin typeface="Calibri"/>
                        </a:rPr>
                        <a:t>ODS</a:t>
                      </a:r>
                    </a:p>
                  </a:txBody>
                  <a:tcPr marL="82296" marR="82296" marT="41148" marB="41148" anchor="ctr">
                    <a:solidFill>
                      <a:srgbClr val="F1F5F4"/>
                    </a:solidFill>
                  </a:tcPr>
                </a:tc>
                <a:tc>
                  <a:txBody>
                    <a:bodyPr/>
                    <a:lstStyle/>
                    <a:p>
                      <a:pPr>
                        <a:lnSpc>
                          <a:spcPct val="105000"/>
                        </a:lnSpc>
                      </a:pPr>
                      <a:r>
                        <a:rPr sz="850" b="0">
                          <a:solidFill>
                            <a:srgbClr val="2E3F47"/>
                          </a:solidFill>
                          <a:latin typeface="Calibri"/>
                        </a:rPr>
                        <a:t>Current, integrated, subject-oriented — but not time-variant</a:t>
                      </a:r>
                    </a:p>
                  </a:txBody>
                  <a:tcPr marL="82296" marR="82296" marT="41148" marB="41148" anchor="ctr">
                    <a:solidFill>
                      <a:srgbClr val="F1F5F4"/>
                    </a:solidFill>
                  </a:tcPr>
                </a:tc>
                <a:tc>
                  <a:txBody>
                    <a:bodyPr/>
                    <a:lstStyle/>
                    <a:p>
                      <a:pPr>
                        <a:lnSpc>
                          <a:spcPct val="105000"/>
                        </a:lnSpc>
                      </a:pPr>
                      <a:r>
                        <a:rPr sz="850" b="0">
                          <a:solidFill>
                            <a:srgbClr val="2E3F47"/>
                          </a:solidFill>
                          <a:latin typeface="Calibri"/>
                        </a:rPr>
                        <a:t>Idempotent load</a:t>
                      </a:r>
                    </a:p>
                  </a:txBody>
                  <a:tcPr marL="82296" marR="82296" marT="41148" marB="41148" anchor="ctr">
                    <a:solidFill>
                      <a:srgbClr val="F1F5F4"/>
                    </a:solidFill>
                  </a:tcPr>
                </a:tc>
                <a:tc>
                  <a:txBody>
                    <a:bodyPr/>
                    <a:lstStyle/>
                    <a:p>
                      <a:pPr>
                        <a:lnSpc>
                          <a:spcPct val="105000"/>
                        </a:lnSpc>
                      </a:pPr>
                      <a:r>
                        <a:rPr sz="850" b="0">
                          <a:solidFill>
                            <a:srgbClr val="2E3F47"/>
                          </a:solidFill>
                          <a:latin typeface="Calibri"/>
                        </a:rPr>
                        <a:t>Running it twice produces the same result, not double the data</a:t>
                      </a:r>
                    </a:p>
                  </a:txBody>
                  <a:tcPr marL="82296" marR="82296" marT="41148" marB="41148" anchor="ctr">
                    <a:solidFill>
                      <a:srgbClr val="F1F5F4"/>
                    </a:solidFill>
                  </a:tcPr>
                </a:tc>
              </a:tr>
              <a:tr h="310896">
                <a:tc>
                  <a:txBody>
                    <a:bodyPr/>
                    <a:lstStyle/>
                    <a:p>
                      <a:pPr>
                        <a:lnSpc>
                          <a:spcPct val="105000"/>
                        </a:lnSpc>
                      </a:pPr>
                      <a:r>
                        <a:rPr sz="850" b="1">
                          <a:solidFill>
                            <a:srgbClr val="123B47"/>
                          </a:solidFill>
                          <a:latin typeface="Calibri"/>
                        </a:rPr>
                        <a:t>Data mart</a:t>
                      </a:r>
                    </a:p>
                  </a:txBody>
                  <a:tcPr marL="82296" marR="82296" marT="41148" marB="41148" anchor="ctr">
                    <a:solidFill>
                      <a:srgbClr val="FFFFFF"/>
                    </a:solidFill>
                  </a:tcPr>
                </a:tc>
                <a:tc>
                  <a:txBody>
                    <a:bodyPr/>
                    <a:lstStyle/>
                    <a:p>
                      <a:pPr>
                        <a:lnSpc>
                          <a:spcPct val="105000"/>
                        </a:lnSpc>
                      </a:pPr>
                      <a:r>
                        <a:rPr sz="850" b="0">
                          <a:solidFill>
                            <a:srgbClr val="2E3F47"/>
                          </a:solidFill>
                          <a:latin typeface="Calibri"/>
                        </a:rPr>
                        <a:t>Subject-specific subset shaped for one function's questions</a:t>
                      </a:r>
                    </a:p>
                  </a:txBody>
                  <a:tcPr marL="82296" marR="82296" marT="41148" marB="41148" anchor="ctr">
                    <a:solidFill>
                      <a:srgbClr val="FFFFFF"/>
                    </a:solidFill>
                  </a:tcPr>
                </a:tc>
                <a:tc>
                  <a:txBody>
                    <a:bodyPr/>
                    <a:lstStyle/>
                    <a:p>
                      <a:pPr>
                        <a:lnSpc>
                          <a:spcPct val="105000"/>
                        </a:lnSpc>
                      </a:pPr>
                      <a:r>
                        <a:rPr sz="850" b="0">
                          <a:solidFill>
                            <a:srgbClr val="2E3F47"/>
                          </a:solidFill>
                          <a:latin typeface="Calibri"/>
                        </a:rPr>
                        <a:t>Medallion</a:t>
                      </a:r>
                    </a:p>
                  </a:txBody>
                  <a:tcPr marL="82296" marR="82296" marT="41148" marB="41148" anchor="ctr">
                    <a:solidFill>
                      <a:srgbClr val="FFFFFF"/>
                    </a:solidFill>
                  </a:tcPr>
                </a:tc>
                <a:tc>
                  <a:txBody>
                    <a:bodyPr/>
                    <a:lstStyle/>
                    <a:p>
                      <a:pPr>
                        <a:lnSpc>
                          <a:spcPct val="105000"/>
                        </a:lnSpc>
                      </a:pPr>
                      <a:r>
                        <a:rPr sz="850" b="0">
                          <a:solidFill>
                            <a:srgbClr val="2E3F47"/>
                          </a:solidFill>
                          <a:latin typeface="Calibri"/>
                        </a:rPr>
                        <a:t>Bronze raw, silver conformed, gold business-ready</a:t>
                      </a:r>
                    </a:p>
                  </a:txBody>
                  <a:tcPr marL="82296" marR="82296" marT="41148" marB="41148" anchor="ctr">
                    <a:solidFill>
                      <a:srgbClr val="FFFFFF"/>
                    </a:solidFill>
                  </a:tcPr>
                </a:tc>
              </a:tr>
            </a:tbl>
          </a:graphicData>
        </a:graphic>
      </p:graphicFrame>
      <p:sp>
        <p:nvSpPr>
          <p:cNvPr id="32" name="Rounded Rectangle 31"/>
          <p:cNvSpPr/>
          <p:nvPr/>
        </p:nvSpPr>
        <p:spPr>
          <a:xfrm>
            <a:off x="548640" y="5870448"/>
            <a:ext cx="11094415" cy="438912"/>
          </a:xfrm>
          <a:prstGeom prst="roundRect">
            <a:avLst>
              <a:gd name="adj" fmla="val 6000"/>
            </a:avLst>
          </a:prstGeom>
          <a:solidFill>
            <a:srgbClr val="123B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68096" y="5925312"/>
            <a:ext cx="10655503" cy="329184"/>
          </a:xfrm>
          <a:prstGeom prst="rect">
            <a:avLst/>
          </a:prstGeom>
          <a:noFill/>
        </p:spPr>
        <p:txBody>
          <a:bodyPr wrap="square" lIns="0" rIns="0" tIns="0" bIns="0" anchor="ctr">
            <a:spAutoFit/>
          </a:bodyPr>
          <a:lstStyle/>
          <a:p>
            <a:pPr algn="l">
              <a:spcBef>
                <a:spcPts val="0"/>
              </a:spcBef>
              <a:spcAft>
                <a:spcPts val="0"/>
              </a:spcAft>
            </a:pPr>
            <a:r>
              <a:rPr sz="900" b="0" i="0">
                <a:solidFill>
                  <a:srgbClr val="FFFFFF"/>
                </a:solidFill>
                <a:latin typeface="Calibri"/>
              </a:rPr>
              <a:t>Attribution for the examination:  Inmon — the four properties and the Corporate Information Factory  ·  Codd — OLAP and its twelve rules  ·  Kimball — dimensional modelling and the bus architecture  ·  Linstedt — Data Vault.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bg>
    <p:bgPr>
      <a:solidFill>
        <a:srgbClr val="0B2830"/>
      </a:solidFill>
      <a:effectLst/>
    </p:bgPr>
  </p:bg>
  <p:cSld>
    <p:spTree>
      <p:nvGrpSpPr>
        <p:cNvPr id="1" name=""/>
        <p:cNvGrpSpPr/>
        <p:nvPr/>
      </p:nvGrpSpPr>
      <p:grpSpPr/>
      <p:sp>
        <p:nvSpPr>
          <p:cNvPr id="2" name="Oval 1"/>
          <p:cNvSpPr/>
          <p:nvPr/>
        </p:nvSpPr>
        <p:spPr>
          <a:xfrm>
            <a:off x="9692640" y="1737360"/>
            <a:ext cx="2194560" cy="2194560"/>
          </a:xfrm>
          <a:prstGeom prst="ellipse">
            <a:avLst/>
          </a:prstGeom>
          <a:solidFill>
            <a:srgbClr val="124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424160" y="2468880"/>
            <a:ext cx="731520" cy="731520"/>
          </a:xfrm>
          <a:prstGeom prst="ellipse">
            <a:avLst/>
          </a:prstGeom>
          <a:solidFill>
            <a:srgbClr val="E8A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822960"/>
            <a:ext cx="8412480" cy="274320"/>
          </a:xfrm>
          <a:prstGeom prst="rect">
            <a:avLst/>
          </a:prstGeom>
          <a:noFill/>
        </p:spPr>
        <p:txBody>
          <a:bodyPr wrap="square" lIns="0" rIns="0" tIns="0" bIns="0" anchor="t">
            <a:spAutoFit/>
          </a:bodyPr>
          <a:lstStyle/>
          <a:p>
            <a:pPr algn="l">
              <a:spcBef>
                <a:spcPts val="0"/>
              </a:spcBef>
              <a:spcAft>
                <a:spcPts val="0"/>
              </a:spcAft>
            </a:pPr>
            <a:r>
              <a:rPr sz="1100" b="1" i="0">
                <a:solidFill>
                  <a:srgbClr val="E8A33D"/>
                </a:solidFill>
                <a:latin typeface="Calibri"/>
              </a:rPr>
              <a:t>AFTER THIS SESSION</a:t>
            </a:r>
          </a:p>
        </p:txBody>
      </p:sp>
      <p:sp>
        <p:nvSpPr>
          <p:cNvPr id="5" name="TextBox 4"/>
          <p:cNvSpPr txBox="1"/>
          <p:nvPr/>
        </p:nvSpPr>
        <p:spPr>
          <a:xfrm>
            <a:off x="548640" y="1133856"/>
            <a:ext cx="8503920" cy="731520"/>
          </a:xfrm>
          <a:prstGeom prst="rect">
            <a:avLst/>
          </a:prstGeom>
          <a:noFill/>
        </p:spPr>
        <p:txBody>
          <a:bodyPr wrap="square" lIns="0" rIns="0" tIns="0" bIns="0" anchor="t">
            <a:spAutoFit/>
          </a:bodyPr>
          <a:lstStyle/>
          <a:p>
            <a:pPr algn="l">
              <a:spcBef>
                <a:spcPts val="0"/>
              </a:spcBef>
              <a:spcAft>
                <a:spcPts val="0"/>
              </a:spcAft>
            </a:pPr>
            <a:r>
              <a:rPr sz="3400" b="1" i="0">
                <a:solidFill>
                  <a:srgbClr val="FFFFFF"/>
                </a:solidFill>
                <a:latin typeface="Cambria"/>
              </a:rPr>
              <a:t>What to do before Session 7</a:t>
            </a:r>
          </a:p>
        </p:txBody>
      </p:sp>
      <p:sp>
        <p:nvSpPr>
          <p:cNvPr id="6" name="Rounded Rectangle 5"/>
          <p:cNvSpPr/>
          <p:nvPr/>
        </p:nvSpPr>
        <p:spPr>
          <a:xfrm>
            <a:off x="548640" y="2103120"/>
            <a:ext cx="4572000" cy="2148840"/>
          </a:xfrm>
          <a:prstGeom prst="roundRect">
            <a:avLst>
              <a:gd name="adj" fmla="val 6000"/>
            </a:avLst>
          </a:prstGeom>
          <a:solidFill>
            <a:srgbClr val="1241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86384" y="2249424"/>
            <a:ext cx="4114800" cy="274320"/>
          </a:xfrm>
          <a:prstGeom prst="rect">
            <a:avLst/>
          </a:prstGeom>
          <a:noFill/>
        </p:spPr>
        <p:txBody>
          <a:bodyPr wrap="square" lIns="0" rIns="0" tIns="0" bIns="0" anchor="t">
            <a:spAutoFit/>
          </a:bodyPr>
          <a:lstStyle/>
          <a:p>
            <a:pPr algn="l">
              <a:spcBef>
                <a:spcPts val="0"/>
              </a:spcBef>
              <a:spcAft>
                <a:spcPts val="0"/>
              </a:spcAft>
            </a:pPr>
            <a:r>
              <a:rPr sz="1300" b="1" i="0">
                <a:solidFill>
                  <a:srgbClr val="E8A33D"/>
                </a:solidFill>
                <a:latin typeface="Calibri"/>
              </a:rPr>
              <a:t>Self-assessment</a:t>
            </a:r>
          </a:p>
        </p:txBody>
      </p:sp>
      <p:sp>
        <p:nvSpPr>
          <p:cNvPr id="8" name="TextBox 7"/>
          <p:cNvSpPr txBox="1"/>
          <p:nvPr/>
        </p:nvSpPr>
        <p:spPr>
          <a:xfrm>
            <a:off x="786384" y="2578608"/>
            <a:ext cx="4114800" cy="1554480"/>
          </a:xfrm>
          <a:prstGeom prst="rect">
            <a:avLst/>
          </a:prstGeom>
          <a:noFill/>
        </p:spPr>
        <p:txBody>
          <a:bodyPr wrap="square" lIns="0" rIns="0" tIns="0" bIns="0" anchor="t">
            <a:spAutoFit/>
          </a:bodyPr>
          <a:lstStyle/>
          <a:p>
            <a:pPr algn="l">
              <a:lnSpc>
                <a:spcPct val="112000"/>
              </a:lnSpc>
              <a:spcAft>
                <a:spcPts val="500"/>
              </a:spcAft>
            </a:pPr>
            <a:r>
              <a:rPr sz="950">
                <a:solidFill>
                  <a:srgbClr val="E8A33D"/>
                </a:solidFill>
                <a:latin typeface="Calibri"/>
              </a:rPr>
              <a:t>▪  </a:t>
            </a:r>
            <a:r>
              <a:rPr sz="950">
                <a:solidFill>
                  <a:srgbClr val="AFC6C4"/>
                </a:solidFill>
                <a:latin typeface="Calibri"/>
              </a:rPr>
              <a:t>State Inmon's four properties with an example of each from an organisation you know</a:t>
            </a:r>
          </a:p>
          <a:p>
            <a:pPr>
              <a:lnSpc>
                <a:spcPct val="112000"/>
              </a:lnSpc>
              <a:spcAft>
                <a:spcPts val="500"/>
              </a:spcAft>
            </a:pPr>
            <a:r>
              <a:rPr sz="950">
                <a:solidFill>
                  <a:srgbClr val="E8A33D"/>
                </a:solidFill>
                <a:latin typeface="Calibri"/>
              </a:rPr>
              <a:t>▪  </a:t>
            </a:r>
            <a:r>
              <a:rPr sz="950">
                <a:solidFill>
                  <a:srgbClr val="AFC6C4"/>
                </a:solidFill>
                <a:latin typeface="Calibri"/>
              </a:rPr>
              <a:t>Tabulate eight differences between OLTP and OLAP with a business example per row</a:t>
            </a:r>
          </a:p>
          <a:p>
            <a:pPr>
              <a:lnSpc>
                <a:spcPct val="112000"/>
              </a:lnSpc>
              <a:spcAft>
                <a:spcPts val="500"/>
              </a:spcAft>
            </a:pPr>
            <a:r>
              <a:rPr sz="950">
                <a:solidFill>
                  <a:srgbClr val="E8A33D"/>
                </a:solidFill>
                <a:latin typeface="Calibri"/>
              </a:rPr>
              <a:t>▪  </a:t>
            </a:r>
            <a:r>
              <a:rPr sz="950">
                <a:solidFill>
                  <a:srgbClr val="AFC6C4"/>
                </a:solidFill>
                <a:latin typeface="Calibri"/>
              </a:rPr>
              <a:t>Explain to a finance director, without technical vocabulary, why the sales report slows billing</a:t>
            </a:r>
          </a:p>
          <a:p>
            <a:pPr>
              <a:lnSpc>
                <a:spcPct val="112000"/>
              </a:lnSpc>
              <a:spcAft>
                <a:spcPts val="500"/>
              </a:spcAft>
            </a:pPr>
            <a:r>
              <a:rPr sz="950">
                <a:solidFill>
                  <a:srgbClr val="E8A33D"/>
                </a:solidFill>
                <a:latin typeface="Calibri"/>
              </a:rPr>
              <a:t>▪  </a:t>
            </a:r>
            <a:r>
              <a:rPr sz="950">
                <a:solidFill>
                  <a:srgbClr val="AFC6C4"/>
                </a:solidFill>
                <a:latin typeface="Calibri"/>
              </a:rPr>
              <a:t>Name the five OLAP operations and demonstrate each on a sales cube</a:t>
            </a:r>
          </a:p>
        </p:txBody>
      </p:sp>
      <p:sp>
        <p:nvSpPr>
          <p:cNvPr id="9" name="Rounded Rectangle 8"/>
          <p:cNvSpPr/>
          <p:nvPr/>
        </p:nvSpPr>
        <p:spPr>
          <a:xfrm>
            <a:off x="5358384" y="2103120"/>
            <a:ext cx="4572000" cy="2148840"/>
          </a:xfrm>
          <a:prstGeom prst="roundRect">
            <a:avLst>
              <a:gd name="adj" fmla="val 6000"/>
            </a:avLst>
          </a:prstGeom>
          <a:solidFill>
            <a:srgbClr val="12414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596128" y="2249424"/>
            <a:ext cx="4114800" cy="274320"/>
          </a:xfrm>
          <a:prstGeom prst="rect">
            <a:avLst/>
          </a:prstGeom>
          <a:noFill/>
        </p:spPr>
        <p:txBody>
          <a:bodyPr wrap="square" lIns="0" rIns="0" tIns="0" bIns="0" anchor="t">
            <a:spAutoFit/>
          </a:bodyPr>
          <a:lstStyle/>
          <a:p>
            <a:pPr algn="l">
              <a:spcBef>
                <a:spcPts val="0"/>
              </a:spcBef>
              <a:spcAft>
                <a:spcPts val="0"/>
              </a:spcAft>
            </a:pPr>
            <a:r>
              <a:rPr sz="1300" b="1" i="0">
                <a:solidFill>
                  <a:srgbClr val="E8A33D"/>
                </a:solidFill>
                <a:latin typeface="Calibri"/>
              </a:rPr>
              <a:t>Reading</a:t>
            </a:r>
          </a:p>
        </p:txBody>
      </p:sp>
      <p:sp>
        <p:nvSpPr>
          <p:cNvPr id="11" name="TextBox 10"/>
          <p:cNvSpPr txBox="1"/>
          <p:nvPr/>
        </p:nvSpPr>
        <p:spPr>
          <a:xfrm>
            <a:off x="5596128" y="2578608"/>
            <a:ext cx="4114800" cy="1554480"/>
          </a:xfrm>
          <a:prstGeom prst="rect">
            <a:avLst/>
          </a:prstGeom>
          <a:noFill/>
        </p:spPr>
        <p:txBody>
          <a:bodyPr wrap="square" lIns="0" rIns="0" tIns="0" bIns="0" anchor="t">
            <a:spAutoFit/>
          </a:bodyPr>
          <a:lstStyle/>
          <a:p>
            <a:pPr algn="l">
              <a:lnSpc>
                <a:spcPct val="112000"/>
              </a:lnSpc>
              <a:spcAft>
                <a:spcPts val="500"/>
              </a:spcAft>
            </a:pPr>
            <a:r>
              <a:rPr sz="950">
                <a:solidFill>
                  <a:srgbClr val="E8A33D"/>
                </a:solidFill>
                <a:latin typeface="Calibri"/>
              </a:rPr>
              <a:t>▪  </a:t>
            </a:r>
            <a:r>
              <a:rPr sz="950">
                <a:solidFill>
                  <a:srgbClr val="AFC6C4"/>
                </a:solidFill>
                <a:latin typeface="Calibri"/>
              </a:rPr>
              <a:t>Inmon, Building the Data Warehouse, 4th ed., Ch. 1–3</a:t>
            </a:r>
          </a:p>
          <a:p>
            <a:pPr>
              <a:lnSpc>
                <a:spcPct val="112000"/>
              </a:lnSpc>
              <a:spcAft>
                <a:spcPts val="500"/>
              </a:spcAft>
            </a:pPr>
            <a:r>
              <a:rPr sz="950">
                <a:solidFill>
                  <a:srgbClr val="E8A33D"/>
                </a:solidFill>
                <a:latin typeface="Calibri"/>
              </a:rPr>
              <a:t>▪  </a:t>
            </a:r>
            <a:r>
              <a:rPr sz="950">
                <a:solidFill>
                  <a:srgbClr val="AFC6C4"/>
                </a:solidFill>
                <a:latin typeface="Calibri"/>
              </a:rPr>
              <a:t>Kimball &amp; Ross, The Data Warehouse Toolkit, 3rd ed., Ch. 1</a:t>
            </a:r>
          </a:p>
          <a:p>
            <a:pPr>
              <a:lnSpc>
                <a:spcPct val="112000"/>
              </a:lnSpc>
              <a:spcAft>
                <a:spcPts val="500"/>
              </a:spcAft>
            </a:pPr>
            <a:r>
              <a:rPr sz="950">
                <a:solidFill>
                  <a:srgbClr val="E8A33D"/>
                </a:solidFill>
                <a:latin typeface="Calibri"/>
              </a:rPr>
              <a:t>▪  </a:t>
            </a:r>
            <a:r>
              <a:rPr sz="950">
                <a:solidFill>
                  <a:srgbClr val="AFC6C4"/>
                </a:solidFill>
                <a:latin typeface="Calibri"/>
              </a:rPr>
              <a:t>Sharda, Delen &amp; Turban, Business Intelligence and Analytics, Ch. 8</a:t>
            </a:r>
          </a:p>
          <a:p>
            <a:pPr>
              <a:lnSpc>
                <a:spcPct val="112000"/>
              </a:lnSpc>
              <a:spcAft>
                <a:spcPts val="500"/>
              </a:spcAft>
            </a:pPr>
            <a:r>
              <a:rPr sz="950">
                <a:solidFill>
                  <a:srgbClr val="E8A33D"/>
                </a:solidFill>
                <a:latin typeface="Calibri"/>
              </a:rPr>
              <a:t>▪  </a:t>
            </a:r>
            <a:r>
              <a:rPr sz="950">
                <a:solidFill>
                  <a:srgbClr val="AFC6C4"/>
                </a:solidFill>
                <a:latin typeface="Calibri"/>
              </a:rPr>
              <a:t>Codd, Codd &amp; Salley (1993), “Providing OLAP to User-Analysts”</a:t>
            </a:r>
          </a:p>
        </p:txBody>
      </p:sp>
      <p:sp>
        <p:nvSpPr>
          <p:cNvPr id="12" name="Rounded Rectangle 11"/>
          <p:cNvSpPr/>
          <p:nvPr/>
        </p:nvSpPr>
        <p:spPr>
          <a:xfrm>
            <a:off x="548640" y="4498848"/>
            <a:ext cx="9381744" cy="1005840"/>
          </a:xfrm>
          <a:prstGeom prst="roundRect">
            <a:avLst>
              <a:gd name="adj" fmla="val 6000"/>
            </a:avLst>
          </a:prstGeom>
          <a:solidFill>
            <a:srgbClr val="1B7F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86384" y="4626864"/>
            <a:ext cx="8869680" cy="274320"/>
          </a:xfrm>
          <a:prstGeom prst="rect">
            <a:avLst/>
          </a:prstGeom>
          <a:noFill/>
        </p:spPr>
        <p:txBody>
          <a:bodyPr wrap="square" lIns="0" rIns="0" tIns="0" bIns="0" anchor="t">
            <a:spAutoFit/>
          </a:bodyPr>
          <a:lstStyle/>
          <a:p>
            <a:pPr algn="l">
              <a:spcBef>
                <a:spcPts val="0"/>
              </a:spcBef>
              <a:spcAft>
                <a:spcPts val="0"/>
              </a:spcAft>
            </a:pPr>
            <a:r>
              <a:rPr sz="1300" b="1" i="0">
                <a:solidFill>
                  <a:srgbClr val="FFFFFF"/>
                </a:solidFill>
                <a:latin typeface="Calibri"/>
              </a:rPr>
              <a:t>NEXT — Session 7: Data Modelling for BI</a:t>
            </a:r>
          </a:p>
        </p:txBody>
      </p:sp>
      <p:sp>
        <p:nvSpPr>
          <p:cNvPr id="14" name="TextBox 13"/>
          <p:cNvSpPr txBox="1"/>
          <p:nvPr/>
        </p:nvSpPr>
        <p:spPr>
          <a:xfrm>
            <a:off x="786384" y="4937760"/>
            <a:ext cx="8869680" cy="457200"/>
          </a:xfrm>
          <a:prstGeom prst="rect">
            <a:avLst/>
          </a:prstGeom>
          <a:noFill/>
        </p:spPr>
        <p:txBody>
          <a:bodyPr wrap="square" lIns="0" rIns="0" tIns="0" bIns="0" anchor="t">
            <a:spAutoFit/>
          </a:bodyPr>
          <a:lstStyle/>
          <a:p>
            <a:pPr algn="l">
              <a:lnSpc>
                <a:spcPct val="116000"/>
              </a:lnSpc>
              <a:spcBef>
                <a:spcPts val="0"/>
              </a:spcBef>
              <a:spcAft>
                <a:spcPts val="0"/>
              </a:spcAft>
            </a:pPr>
            <a:r>
              <a:rPr sz="950" b="0" i="0">
                <a:solidFill>
                  <a:srgbClr val="FFFFFF"/>
                </a:solidFill>
                <a:latin typeface="Calibri"/>
              </a:rPr>
              <a:t>We have argued for a separate store and described its layers, but said almost nothing about the shape of the tables inside it. Session 7 takes the normalised Sarita Fashions schema apart and rebuilds it as a star. Bring it with you.</a:t>
            </a:r>
          </a:p>
        </p:txBody>
      </p:sp>
      <p:sp>
        <p:nvSpPr>
          <p:cNvPr id="15" name="TextBox 14"/>
          <p:cNvSpPr txBox="1"/>
          <p:nvPr/>
        </p:nvSpPr>
        <p:spPr>
          <a:xfrm>
            <a:off x="548640" y="5760720"/>
            <a:ext cx="9601200" cy="274320"/>
          </a:xfrm>
          <a:prstGeom prst="rect">
            <a:avLst/>
          </a:prstGeom>
          <a:noFill/>
        </p:spPr>
        <p:txBody>
          <a:bodyPr wrap="square" lIns="0" rIns="0" tIns="0" bIns="0" anchor="t">
            <a:spAutoFit/>
          </a:bodyPr>
          <a:lstStyle/>
          <a:p>
            <a:pPr algn="l">
              <a:lnSpc>
                <a:spcPct val="120000"/>
              </a:lnSpc>
              <a:spcBef>
                <a:spcPts val="0"/>
              </a:spcBef>
              <a:spcAft>
                <a:spcPts val="0"/>
              </a:spcAft>
            </a:pPr>
            <a:r>
              <a:rPr sz="900" b="0" i="0">
                <a:solidFill>
                  <a:srgbClr val="8FAAA8"/>
                </a:solidFill>
                <a:latin typeface="Calibri"/>
              </a:rPr>
              <a:t>Assessment note:  the mid-term contains one compulsory OLTP-versus-OLAP question (10 marks); the end-term contains one architecture case (15 marks), marked chiefly on whether each architectural choice is tied to a stated business complaint.</a:t>
            </a:r>
          </a:p>
        </p:txBody>
      </p:sp>
      <p:sp>
        <p:nvSpPr>
          <p:cNvPr id="16" name="TextBox 15"/>
          <p:cNvSpPr txBox="1"/>
          <p:nvPr/>
        </p:nvSpPr>
        <p:spPr>
          <a:xfrm>
            <a:off x="548640" y="6382512"/>
            <a:ext cx="8686800" cy="256032"/>
          </a:xfrm>
          <a:prstGeom prst="rect">
            <a:avLst/>
          </a:prstGeom>
          <a:noFill/>
        </p:spPr>
        <p:txBody>
          <a:bodyPr wrap="square" lIns="0" rIns="0" tIns="0" bIns="0" anchor="t">
            <a:spAutoFit/>
          </a:bodyPr>
          <a:lstStyle/>
          <a:p>
            <a:pPr algn="l">
              <a:spcBef>
                <a:spcPts val="0"/>
              </a:spcBef>
              <a:spcAft>
                <a:spcPts val="0"/>
              </a:spcAft>
            </a:pPr>
            <a:r>
              <a:rPr sz="900" b="0" i="0">
                <a:solidFill>
                  <a:srgbClr val="6D8A88"/>
                </a:solidFill>
                <a:latin typeface="Calibri"/>
              </a:rPr>
              <a:t>Business Intelligence  |  Session 6 — Data Warehousing &amp; OLTP/OLAP  |  IILM Jaipur, MBA</a:t>
            </a:r>
          </a:p>
        </p:txBody>
      </p:sp>
      <p:sp>
        <p:nvSpPr>
          <p:cNvPr id="17" name="TextBox 16"/>
          <p:cNvSpPr txBox="1"/>
          <p:nvPr/>
        </p:nvSpPr>
        <p:spPr>
          <a:xfrm>
            <a:off x="10545775" y="6382512"/>
            <a:ext cx="1097280" cy="256032"/>
          </a:xfrm>
          <a:prstGeom prst="rect">
            <a:avLst/>
          </a:prstGeom>
          <a:noFill/>
        </p:spPr>
        <p:txBody>
          <a:bodyPr wrap="square" lIns="0" rIns="0" tIns="0" bIns="0" anchor="t">
            <a:spAutoFit/>
          </a:bodyPr>
          <a:lstStyle/>
          <a:p>
            <a:pPr algn="r">
              <a:spcBef>
                <a:spcPts val="0"/>
              </a:spcBef>
              <a:spcAft>
                <a:spcPts val="0"/>
              </a:spcAft>
            </a:pPr>
            <a:r>
              <a:rPr sz="950" b="1" i="0">
                <a:solidFill>
                  <a:srgbClr val="E8A33D"/>
                </a:solidFill>
                <a:latin typeface="Calibri"/>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