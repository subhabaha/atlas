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Not an AI fundamentals course. Everyone here has built PoCs. Today addresses why they stop at 60% and what the engineering route past that looks like. Ask each team to keep one specific PoC in mind all day; every lab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day as this loop and return to it after each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half the day is hands-on. Keep labs to time — they overrun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 six they recognise. Usually four or five. This slide earns the room's attention because it describes their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justify the week's structure — Day 2 architecture, Day 3 observability, Day 4 MLOps, Day 5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for the week. Ask: which column was your number measured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three different kinds of work in the third row — this is why the week is not all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teams to write at least four SLIs for their system. Most have only thought about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substantive answer to the 95% brief. Return to it whenever the question arises.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each team draft their metric set during Module 1 — it feeds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a false reject and a false accept each cost them. Most will not know. That is the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numbers — the shape is the point. Cost falls, bottoms out, rises. Have teams sketch this for their own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resolves a lot of confused arguments about whether to collect more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for Day 3 LLM work — asking a model how confident it is produces a fluent number with little relation to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reliability diagram on the whiteboard — the clearest way to explain over-confidence.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scaling is one parameter and often removes most miscalibration in a neural network. Cheap; do it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teams have never deliberately chosen a threshold. Any of these four beats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practical insight of Module 1. Many teams chase accuracy when the right move is a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teams run these six lines for their own system. It usually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feedback loop point connects directly to active learning on Day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Gives a concrete answer to 'when are we done' — when you are comfortably inside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for specifics. 'Model errors' teaches nothing; 'confuses variant A with variant B when the label is partly obscured' is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on how many meet all six. Usually two or three out of twenty-five.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teams use simple random by default and are surprised that rare classes barely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temporal split point is the most important line here for the predictive maintenance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where the real value is — the written rule is often more valuable than the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whiteboard too. Then ask each team which cell is expensive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drown them. The two to insist on: PR-AUC under imbalance, per-class recall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lands well. Use the numbers on the whiteboard if the room engages.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as a question first: 'I have a 99.9% accurate failure predictor — would you ship it?' Wait for answers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often changes behaviour more than any other in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lines of code, works everywhere, no distributional assumptions. Probably the most practically useful statistical tool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teams write all three for one change they are considering. The third is much harder than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 the pass criterion before looking at results. Otherwise you will always find a reason to keep your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match the test to the data shape, and pair wherever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people who apply tests correctly from people who apply them by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often compare accuracies with a t-test when McNemar is both correct and more sensitive.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with the bootstrap, this covers most practical situations without arguing about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many have concluded a change 'made no difference' on fewer than 100 examples. Most hands go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quadrupling rule is the memorable takeaway. Write it on the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never report a p-value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common and rarely recognised. The fix is cheap: name the primary metric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funnel: cheap filters first, expensive evidence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Connects A/B discipline back to everyday offline evaluation, where the same error is far more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this firmly — it becomes the central lesson of the computer vision work on Day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calibration back to threshold design. Without it the escalation architecture collapses.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Covariate shift is detectable without labels — important, because labels arrive late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every team on the power calculation — most will discover their planned eval set is too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is the exception that proves the rule — targeted, not bulk.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framing reorients teams who have spent months on hyperparameters.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an industrial example for each — maintenance logs for weak ground truth, shift lighting for domain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resists automation and teams resist doing it. Insist. An afternoon of looking at failures beats a month of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Slice analysis is cheap to implement and consistently surfaces the real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rapport moment with a mechanical engineering audience: they will have used all three on physical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preprocessing and duplicate rows are the two most often missed by experienced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 teams adopt this as a standing checklist in their review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regression testing on Day 3 for RAG and Day 4 for 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keeps a pipeline from accumulating unjustified complexity. Run one before every major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conversation is more valuable than the numbers. Make it explicit and revisit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4 and 7 are the ones teams skip, and they are the two that make the loop compound rather than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2's independent classification mirrors the labelling ambiguity problem — it makes 2.23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structured templates for each item — it dramatically improves what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team for the single biggest thing they learned about their own PoC. Most answers will turn out to be architecture problems — which sets up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1554480"/>
            <a:ext cx="10515600" cy="365760"/>
          </a:xfrm>
          <a:prstGeom prst="rect">
            <a:avLst/>
          </a:prstGeom>
          <a:noFill/>
          <a:ln/>
        </p:spPr>
        <p:txBody>
          <a:bodyPr wrap="square" rtlCol="0" anchor="ctr"/>
          <a:lstStyle/>
          <a:p>
            <a:pPr indent="0" marL="0">
              <a:buNone/>
            </a:pPr>
            <a:r>
              <a:rPr lang="en-US" sz="1300" b="1" spc="300" kern="0" dirty="0">
                <a:solidFill>
                  <a:srgbClr val="8FB8CC"/>
                </a:solidFill>
                <a:latin typeface="Calibri" pitchFamily="34" charset="0"/>
                <a:ea typeface="Calibri" pitchFamily="34" charset="-122"/>
                <a:cs typeface="Calibri" pitchFamily="34" charset="-120"/>
              </a:rPr>
              <a:t>DAY 1 OF 5</a:t>
            </a:r>
            <a:endParaRPr lang="en-US" sz="1300" dirty="0"/>
          </a:p>
        </p:txBody>
      </p:sp>
      <p:sp>
        <p:nvSpPr>
          <p:cNvPr id="3" name="Text 1"/>
          <p:cNvSpPr/>
          <p:nvPr/>
        </p:nvSpPr>
        <p:spPr>
          <a:xfrm>
            <a:off x="822960" y="1965960"/>
            <a:ext cx="10515600" cy="1737360"/>
          </a:xfrm>
          <a:prstGeom prst="rect">
            <a:avLst/>
          </a:prstGeom>
          <a:noFill/>
          <a:ln/>
        </p:spPr>
        <p:txBody>
          <a:bodyPr wrap="square"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AI Accuracy Engineering,</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Statistics and PoC Diagnosis</a:t>
            </a:r>
            <a:endParaRPr lang="en-US" sz="3800" dirty="0"/>
          </a:p>
        </p:txBody>
      </p:sp>
      <p:sp>
        <p:nvSpPr>
          <p:cNvPr id="4" name="Text 2"/>
          <p:cNvSpPr/>
          <p:nvPr/>
        </p:nvSpPr>
        <p:spPr>
          <a:xfrm>
            <a:off x="822960" y="3840480"/>
            <a:ext cx="10058400" cy="54864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Why AI proofs of concept stall at 60% — and the engineering discipline that moves them past it</a:t>
            </a:r>
            <a:endParaRPr lang="en-US" sz="1600" dirty="0"/>
          </a:p>
        </p:txBody>
      </p:sp>
      <p:sp>
        <p:nvSpPr>
          <p:cNvPr id="5" name="Shape 3"/>
          <p:cNvSpPr/>
          <p:nvPr/>
        </p:nvSpPr>
        <p:spPr>
          <a:xfrm>
            <a:off x="822960" y="4663440"/>
            <a:ext cx="1463040" cy="32004"/>
          </a:xfrm>
          <a:prstGeom prst="rect">
            <a:avLst/>
          </a:prstGeom>
          <a:solidFill>
            <a:srgbClr val="4E9DBE"/>
          </a:solidFill>
          <a:ln/>
        </p:spPr>
      </p:sp>
      <p:sp>
        <p:nvSpPr>
          <p:cNvPr id="6" name="Text 4"/>
          <p:cNvSpPr/>
          <p:nvPr/>
        </p:nvSpPr>
        <p:spPr>
          <a:xfrm>
            <a:off x="822960" y="4937760"/>
            <a:ext cx="9144000" cy="365760"/>
          </a:xfrm>
          <a:prstGeom prst="rect">
            <a:avLst/>
          </a:prstGeom>
          <a:noFill/>
          <a:ln/>
        </p:spPr>
        <p:txBody>
          <a:bodyPr wrap="square" rtlCol="0" anchor="ctr"/>
          <a:lstStyle/>
          <a:p>
            <a:pPr indent="0" marL="0">
              <a:buNone/>
            </a:pPr>
            <a:r>
              <a:rPr lang="en-US" sz="1250" dirty="0">
                <a:solidFill>
                  <a:srgbClr val="9FB4C7"/>
                </a:solidFill>
                <a:latin typeface="Calibri" pitchFamily="34" charset="0"/>
                <a:ea typeface="Calibri" pitchFamily="34" charset="-122"/>
                <a:cs typeface="Calibri" pitchFamily="34" charset="-120"/>
              </a:rPr>
              <a:t>Enterprise AI Engineering Bootcamp  ·  Full day, three modules, three hands-on labs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problem this day exists to solve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640080" y="1371600"/>
            <a:ext cx="10881360" cy="777240"/>
          </a:xfrm>
          <a:prstGeom prst="rect">
            <a:avLst/>
          </a:prstGeom>
          <a:noFill/>
          <a:ln/>
        </p:spPr>
        <p:txBody>
          <a:bodyPr wrap="square" rtlCol="0" anchor="ctr"/>
          <a:lstStyle/>
          <a:p>
            <a:pPr indent="0" marL="0">
              <a:lnSpc>
                <a:spcPts val="2400"/>
              </a:lnSpc>
              <a:buNone/>
            </a:pPr>
            <a:r>
              <a:rPr lang="en-US" sz="1600" i="1" dirty="0">
                <a:solidFill>
                  <a:srgbClr val="5A6B7C"/>
                </a:solidFill>
                <a:latin typeface="Calibri" pitchFamily="34" charset="0"/>
                <a:ea typeface="Calibri" pitchFamily="34" charset="-122"/>
                <a:cs typeface="Calibri" pitchFamily="34" charset="-120"/>
              </a:rPr>
              <a:t>Most AI proofs of concept do not stall because the model is weak. They stall because nobody can state what "better" means, measure it honestly, or prove a change caused it.</a:t>
            </a:r>
            <a:endParaRPr lang="en-US" sz="1600" dirty="0"/>
          </a:p>
        </p:txBody>
      </p:sp>
      <p:sp>
        <p:nvSpPr>
          <p:cNvPr id="6" name="Shape 4"/>
          <p:cNvSpPr/>
          <p:nvPr/>
        </p:nvSpPr>
        <p:spPr>
          <a:xfrm>
            <a:off x="640080" y="2377440"/>
            <a:ext cx="2560320" cy="2194560"/>
          </a:xfrm>
          <a:prstGeom prst="roundRect">
            <a:avLst>
              <a:gd name="adj" fmla="val 2500"/>
            </a:avLst>
          </a:prstGeom>
          <a:solidFill>
            <a:srgbClr val="E4EEF4"/>
          </a:solidFill>
          <a:ln w="12700">
            <a:solidFill>
              <a:srgbClr val="D3E1EA"/>
            </a:solidFill>
            <a:prstDash val="solid"/>
          </a:ln>
        </p:spPr>
      </p:sp>
      <p:sp>
        <p:nvSpPr>
          <p:cNvPr id="7" name="Shape 5"/>
          <p:cNvSpPr/>
          <p:nvPr/>
        </p:nvSpPr>
        <p:spPr>
          <a:xfrm>
            <a:off x="896112" y="2606040"/>
            <a:ext cx="365760" cy="365760"/>
          </a:xfrm>
          <a:prstGeom prst="ellipse">
            <a:avLst/>
          </a:prstGeom>
          <a:solidFill>
            <a:srgbClr val="065A82"/>
          </a:solidFill>
          <a:ln/>
        </p:spPr>
      </p:sp>
      <p:sp>
        <p:nvSpPr>
          <p:cNvPr id="8" name="Text 6"/>
          <p:cNvSpPr/>
          <p:nvPr/>
        </p:nvSpPr>
        <p:spPr>
          <a:xfrm>
            <a:off x="896112" y="2606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96112" y="3127248"/>
            <a:ext cx="2103120" cy="365760"/>
          </a:xfrm>
          <a:prstGeom prst="rect">
            <a:avLst/>
          </a:prstGeom>
          <a:noFill/>
          <a:ln/>
        </p:spPr>
        <p:txBody>
          <a:bodyPr wrap="square" lIns="0" tIns="0" rIns="0" bIns="0" rtlCol="0" anchor="ctr"/>
          <a:lstStyle/>
          <a:p>
            <a:pPr indent="0" marL="0">
              <a:buNone/>
            </a:pPr>
            <a:r>
              <a:rPr lang="en-US" sz="1600" b="1" dirty="0">
                <a:solidFill>
                  <a:srgbClr val="1A2430"/>
                </a:solidFill>
                <a:latin typeface="Cambria" pitchFamily="34" charset="0"/>
                <a:ea typeface="Cambria" pitchFamily="34" charset="-122"/>
                <a:cs typeface="Cambria" pitchFamily="34" charset="-120"/>
              </a:rPr>
              <a:t>Measure</a:t>
            </a:r>
            <a:endParaRPr lang="en-US" sz="1600" dirty="0"/>
          </a:p>
        </p:txBody>
      </p:sp>
      <p:sp>
        <p:nvSpPr>
          <p:cNvPr id="10" name="Text 8"/>
          <p:cNvSpPr/>
          <p:nvPr/>
        </p:nvSpPr>
        <p:spPr>
          <a:xfrm>
            <a:off x="896112" y="3520440"/>
            <a:ext cx="2103120" cy="9601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Build an honest evaluation baseline before touching the model</a:t>
            </a:r>
            <a:endParaRPr lang="en-US" sz="1150" dirty="0"/>
          </a:p>
        </p:txBody>
      </p:sp>
      <p:sp>
        <p:nvSpPr>
          <p:cNvPr id="11" name="Shape 9"/>
          <p:cNvSpPr/>
          <p:nvPr/>
        </p:nvSpPr>
        <p:spPr>
          <a:xfrm>
            <a:off x="3429000" y="2377440"/>
            <a:ext cx="2560320" cy="2194560"/>
          </a:xfrm>
          <a:prstGeom prst="roundRect">
            <a:avLst>
              <a:gd name="adj" fmla="val 2500"/>
            </a:avLst>
          </a:prstGeom>
          <a:solidFill>
            <a:srgbClr val="EEF3F7"/>
          </a:solidFill>
          <a:ln w="12700">
            <a:solidFill>
              <a:srgbClr val="D3E1EA"/>
            </a:solidFill>
            <a:prstDash val="solid"/>
          </a:ln>
        </p:spPr>
      </p:sp>
      <p:sp>
        <p:nvSpPr>
          <p:cNvPr id="12" name="Shape 10"/>
          <p:cNvSpPr/>
          <p:nvPr/>
        </p:nvSpPr>
        <p:spPr>
          <a:xfrm>
            <a:off x="3685032" y="2606040"/>
            <a:ext cx="365760" cy="365760"/>
          </a:xfrm>
          <a:prstGeom prst="ellipse">
            <a:avLst/>
          </a:prstGeom>
          <a:solidFill>
            <a:srgbClr val="065A82"/>
          </a:solidFill>
          <a:ln/>
        </p:spPr>
      </p:sp>
      <p:sp>
        <p:nvSpPr>
          <p:cNvPr id="13" name="Text 11"/>
          <p:cNvSpPr/>
          <p:nvPr/>
        </p:nvSpPr>
        <p:spPr>
          <a:xfrm>
            <a:off x="3685032" y="2606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685032" y="3127248"/>
            <a:ext cx="2103120" cy="365760"/>
          </a:xfrm>
          <a:prstGeom prst="rect">
            <a:avLst/>
          </a:prstGeom>
          <a:noFill/>
          <a:ln/>
        </p:spPr>
        <p:txBody>
          <a:bodyPr wrap="square" lIns="0" tIns="0" rIns="0" bIns="0" rtlCol="0" anchor="ctr"/>
          <a:lstStyle/>
          <a:p>
            <a:pPr indent="0" marL="0">
              <a:buNone/>
            </a:pPr>
            <a:r>
              <a:rPr lang="en-US" sz="1600" b="1" dirty="0">
                <a:solidFill>
                  <a:srgbClr val="1A2430"/>
                </a:solidFill>
                <a:latin typeface="Cambria" pitchFamily="34" charset="0"/>
                <a:ea typeface="Cambria" pitchFamily="34" charset="-122"/>
                <a:cs typeface="Cambria" pitchFamily="34" charset="-120"/>
              </a:rPr>
              <a:t>Diagnose</a:t>
            </a:r>
            <a:endParaRPr lang="en-US" sz="1600" dirty="0"/>
          </a:p>
        </p:txBody>
      </p:sp>
      <p:sp>
        <p:nvSpPr>
          <p:cNvPr id="15" name="Text 13"/>
          <p:cNvSpPr/>
          <p:nvPr/>
        </p:nvSpPr>
        <p:spPr>
          <a:xfrm>
            <a:off x="3685032" y="3520440"/>
            <a:ext cx="2103120" cy="9601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Classify real failures into a structured, counted taxonomy</a:t>
            </a:r>
            <a:endParaRPr lang="en-US" sz="1150" dirty="0"/>
          </a:p>
        </p:txBody>
      </p:sp>
      <p:sp>
        <p:nvSpPr>
          <p:cNvPr id="16" name="Shape 14"/>
          <p:cNvSpPr/>
          <p:nvPr/>
        </p:nvSpPr>
        <p:spPr>
          <a:xfrm>
            <a:off x="6217920" y="2377440"/>
            <a:ext cx="2560320" cy="2194560"/>
          </a:xfrm>
          <a:prstGeom prst="roundRect">
            <a:avLst>
              <a:gd name="adj" fmla="val 2500"/>
            </a:avLst>
          </a:prstGeom>
          <a:solidFill>
            <a:srgbClr val="E4EEF4"/>
          </a:solidFill>
          <a:ln w="12700">
            <a:solidFill>
              <a:srgbClr val="D3E1EA"/>
            </a:solidFill>
            <a:prstDash val="solid"/>
          </a:ln>
        </p:spPr>
      </p:sp>
      <p:sp>
        <p:nvSpPr>
          <p:cNvPr id="17" name="Shape 15"/>
          <p:cNvSpPr/>
          <p:nvPr/>
        </p:nvSpPr>
        <p:spPr>
          <a:xfrm>
            <a:off x="6473952" y="2606040"/>
            <a:ext cx="365760" cy="365760"/>
          </a:xfrm>
          <a:prstGeom prst="ellipse">
            <a:avLst/>
          </a:prstGeom>
          <a:solidFill>
            <a:srgbClr val="065A82"/>
          </a:solidFill>
          <a:ln/>
        </p:spPr>
      </p:sp>
      <p:sp>
        <p:nvSpPr>
          <p:cNvPr id="18" name="Text 16"/>
          <p:cNvSpPr/>
          <p:nvPr/>
        </p:nvSpPr>
        <p:spPr>
          <a:xfrm>
            <a:off x="6473952" y="2606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473952" y="3127248"/>
            <a:ext cx="2103120" cy="365760"/>
          </a:xfrm>
          <a:prstGeom prst="rect">
            <a:avLst/>
          </a:prstGeom>
          <a:noFill/>
          <a:ln/>
        </p:spPr>
        <p:txBody>
          <a:bodyPr wrap="square" lIns="0" tIns="0" rIns="0" bIns="0" rtlCol="0" anchor="ctr"/>
          <a:lstStyle/>
          <a:p>
            <a:pPr indent="0" marL="0">
              <a:buNone/>
            </a:pPr>
            <a:r>
              <a:rPr lang="en-US" sz="1600" b="1" dirty="0">
                <a:solidFill>
                  <a:srgbClr val="1A2430"/>
                </a:solidFill>
                <a:latin typeface="Cambria" pitchFamily="34" charset="0"/>
                <a:ea typeface="Cambria" pitchFamily="34" charset="-122"/>
                <a:cs typeface="Cambria" pitchFamily="34" charset="-120"/>
              </a:rPr>
              <a:t>Hypothesise</a:t>
            </a:r>
            <a:endParaRPr lang="en-US" sz="1600" dirty="0"/>
          </a:p>
        </p:txBody>
      </p:sp>
      <p:sp>
        <p:nvSpPr>
          <p:cNvPr id="20" name="Text 18"/>
          <p:cNvSpPr/>
          <p:nvPr/>
        </p:nvSpPr>
        <p:spPr>
          <a:xfrm>
            <a:off x="6473952" y="3520440"/>
            <a:ext cx="2103120" cy="9601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State a testable claim with a number and a pass criterion</a:t>
            </a:r>
            <a:endParaRPr lang="en-US" sz="1150" dirty="0"/>
          </a:p>
        </p:txBody>
      </p:sp>
      <p:sp>
        <p:nvSpPr>
          <p:cNvPr id="21" name="Shape 19"/>
          <p:cNvSpPr/>
          <p:nvPr/>
        </p:nvSpPr>
        <p:spPr>
          <a:xfrm>
            <a:off x="9006840" y="2377440"/>
            <a:ext cx="2560320" cy="2194560"/>
          </a:xfrm>
          <a:prstGeom prst="roundRect">
            <a:avLst>
              <a:gd name="adj" fmla="val 2500"/>
            </a:avLst>
          </a:prstGeom>
          <a:solidFill>
            <a:srgbClr val="EEF3F7"/>
          </a:solidFill>
          <a:ln w="12700">
            <a:solidFill>
              <a:srgbClr val="D3E1EA"/>
            </a:solidFill>
            <a:prstDash val="solid"/>
          </a:ln>
        </p:spPr>
      </p:sp>
      <p:sp>
        <p:nvSpPr>
          <p:cNvPr id="22" name="Shape 20"/>
          <p:cNvSpPr/>
          <p:nvPr/>
        </p:nvSpPr>
        <p:spPr>
          <a:xfrm>
            <a:off x="9262872" y="2606040"/>
            <a:ext cx="365760" cy="365760"/>
          </a:xfrm>
          <a:prstGeom prst="ellipse">
            <a:avLst/>
          </a:prstGeom>
          <a:solidFill>
            <a:srgbClr val="065A82"/>
          </a:solidFill>
          <a:ln/>
        </p:spPr>
      </p:sp>
      <p:sp>
        <p:nvSpPr>
          <p:cNvPr id="23" name="Text 21"/>
          <p:cNvSpPr/>
          <p:nvPr/>
        </p:nvSpPr>
        <p:spPr>
          <a:xfrm>
            <a:off x="9262872" y="2606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262872" y="3127248"/>
            <a:ext cx="2103120" cy="365760"/>
          </a:xfrm>
          <a:prstGeom prst="rect">
            <a:avLst/>
          </a:prstGeom>
          <a:noFill/>
          <a:ln/>
        </p:spPr>
        <p:txBody>
          <a:bodyPr wrap="square" lIns="0" tIns="0" rIns="0" bIns="0" rtlCol="0" anchor="ctr"/>
          <a:lstStyle/>
          <a:p>
            <a:pPr indent="0" marL="0">
              <a:buNone/>
            </a:pPr>
            <a:r>
              <a:rPr lang="en-US" sz="1600" b="1" dirty="0">
                <a:solidFill>
                  <a:srgbClr val="1A2430"/>
                </a:solidFill>
                <a:latin typeface="Cambria" pitchFamily="34" charset="0"/>
                <a:ea typeface="Cambria" pitchFamily="34" charset="-122"/>
                <a:cs typeface="Cambria" pitchFamily="34" charset="-120"/>
              </a:rPr>
              <a:t>Prove</a:t>
            </a:r>
            <a:endParaRPr lang="en-US" sz="1600" dirty="0"/>
          </a:p>
        </p:txBody>
      </p:sp>
      <p:sp>
        <p:nvSpPr>
          <p:cNvPr id="25" name="Text 23"/>
          <p:cNvSpPr/>
          <p:nvPr/>
        </p:nvSpPr>
        <p:spPr>
          <a:xfrm>
            <a:off x="9262872" y="3520440"/>
            <a:ext cx="2103120" cy="9601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Choose the right statistical test and run it properly</a:t>
            </a:r>
            <a:endParaRPr lang="en-US" sz="1150" dirty="0"/>
          </a:p>
        </p:txBody>
      </p:sp>
      <p:sp>
        <p:nvSpPr>
          <p:cNvPr id="26" name="Text 24"/>
          <p:cNvSpPr/>
          <p:nvPr/>
        </p:nvSpPr>
        <p:spPr>
          <a:xfrm>
            <a:off x="640080" y="4846320"/>
            <a:ext cx="10881360" cy="45720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Skipping step 1 makes steps 2 to 4 opinion. Skipping step 4 means you never learn which changes worked.</a:t>
            </a:r>
            <a:endParaRPr lang="en-US" sz="1400" dirty="0"/>
          </a:p>
        </p:txBody>
      </p:sp>
      <p:sp>
        <p:nvSpPr>
          <p:cNvPr id="27" name="Text 25"/>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Everything on Days 2 to 5 assumes you can do these four things.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STRUCTURE · 8 HOURS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Day 1 schedule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640080" y="1371600"/>
            <a:ext cx="1188720" cy="384048"/>
          </a:xfrm>
          <a:prstGeom prst="rect">
            <a:avLst/>
          </a:prstGeom>
          <a:solidFill>
            <a:srgbClr val="21295C"/>
          </a:solidFill>
          <a:ln/>
        </p:spPr>
      </p:sp>
      <p:sp>
        <p:nvSpPr>
          <p:cNvPr id="6" name="Text 4"/>
          <p:cNvSpPr/>
          <p:nvPr/>
        </p:nvSpPr>
        <p:spPr>
          <a:xfrm>
            <a:off x="749808" y="1371600"/>
            <a:ext cx="9692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p:txBody>
      </p:sp>
      <p:sp>
        <p:nvSpPr>
          <p:cNvPr id="7" name="Shape 5"/>
          <p:cNvSpPr/>
          <p:nvPr/>
        </p:nvSpPr>
        <p:spPr>
          <a:xfrm>
            <a:off x="1828800" y="1371600"/>
            <a:ext cx="3840480" cy="384048"/>
          </a:xfrm>
          <a:prstGeom prst="rect">
            <a:avLst/>
          </a:prstGeom>
          <a:solidFill>
            <a:srgbClr val="21295C"/>
          </a:solidFill>
          <a:ln/>
        </p:spPr>
      </p:sp>
      <p:sp>
        <p:nvSpPr>
          <p:cNvPr id="8" name="Text 6"/>
          <p:cNvSpPr/>
          <p:nvPr/>
        </p:nvSpPr>
        <p:spPr>
          <a:xfrm>
            <a:off x="1938528" y="1371600"/>
            <a:ext cx="36210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p>
        </p:txBody>
      </p:sp>
      <p:sp>
        <p:nvSpPr>
          <p:cNvPr id="9" name="Shape 7"/>
          <p:cNvSpPr/>
          <p:nvPr/>
        </p:nvSpPr>
        <p:spPr>
          <a:xfrm>
            <a:off x="5669280" y="1371600"/>
            <a:ext cx="5852160" cy="384048"/>
          </a:xfrm>
          <a:prstGeom prst="rect">
            <a:avLst/>
          </a:prstGeom>
          <a:solidFill>
            <a:srgbClr val="21295C"/>
          </a:solidFill>
          <a:ln/>
        </p:spPr>
      </p:sp>
      <p:sp>
        <p:nvSpPr>
          <p:cNvPr id="10" name="Text 8"/>
          <p:cNvSpPr/>
          <p:nvPr/>
        </p:nvSpPr>
        <p:spPr>
          <a:xfrm>
            <a:off x="5779008" y="1371600"/>
            <a:ext cx="56327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p>
        </p:txBody>
      </p:sp>
      <p:sp>
        <p:nvSpPr>
          <p:cNvPr id="11" name="Shape 9"/>
          <p:cNvSpPr/>
          <p:nvPr/>
        </p:nvSpPr>
        <p:spPr>
          <a:xfrm>
            <a:off x="640080" y="1755648"/>
            <a:ext cx="1188720" cy="484632"/>
          </a:xfrm>
          <a:prstGeom prst="rect">
            <a:avLst/>
          </a:prstGeom>
          <a:solidFill>
            <a:srgbClr val="FFFFFF"/>
          </a:solidFill>
          <a:ln w="9525">
            <a:solidFill>
              <a:srgbClr val="E3EBF0"/>
            </a:solidFill>
            <a:prstDash val="solid"/>
          </a:ln>
        </p:spPr>
      </p:sp>
      <p:sp>
        <p:nvSpPr>
          <p:cNvPr id="12" name="Text 10"/>
          <p:cNvSpPr/>
          <p:nvPr/>
        </p:nvSpPr>
        <p:spPr>
          <a:xfrm>
            <a:off x="749808" y="1755648"/>
            <a:ext cx="969264" cy="48463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09:00</a:t>
            </a:r>
            <a:endParaRPr lang="en-US" sz="1050" dirty="0"/>
          </a:p>
        </p:txBody>
      </p:sp>
      <p:sp>
        <p:nvSpPr>
          <p:cNvPr id="13" name="Shape 11"/>
          <p:cNvSpPr/>
          <p:nvPr/>
        </p:nvSpPr>
        <p:spPr>
          <a:xfrm>
            <a:off x="1828800" y="1755648"/>
            <a:ext cx="3840480" cy="484632"/>
          </a:xfrm>
          <a:prstGeom prst="rect">
            <a:avLst/>
          </a:prstGeom>
          <a:solidFill>
            <a:srgbClr val="FFFFFF"/>
          </a:solidFill>
          <a:ln w="9525">
            <a:solidFill>
              <a:srgbClr val="E3EBF0"/>
            </a:solidFill>
            <a:prstDash val="solid"/>
          </a:ln>
        </p:spPr>
      </p:sp>
      <p:sp>
        <p:nvSpPr>
          <p:cNvPr id="14" name="Text 12"/>
          <p:cNvSpPr/>
          <p:nvPr/>
        </p:nvSpPr>
        <p:spPr>
          <a:xfrm>
            <a:off x="1938528" y="1755648"/>
            <a:ext cx="362102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Module 1 — Accuracy to system reliability</a:t>
            </a:r>
            <a:endParaRPr lang="en-US" sz="1050" dirty="0"/>
          </a:p>
        </p:txBody>
      </p:sp>
      <p:sp>
        <p:nvSpPr>
          <p:cNvPr id="15" name="Shape 13"/>
          <p:cNvSpPr/>
          <p:nvPr/>
        </p:nvSpPr>
        <p:spPr>
          <a:xfrm>
            <a:off x="5669280" y="1755648"/>
            <a:ext cx="5852160" cy="484632"/>
          </a:xfrm>
          <a:prstGeom prst="rect">
            <a:avLst/>
          </a:prstGeom>
          <a:solidFill>
            <a:srgbClr val="FFFFFF"/>
          </a:solidFill>
          <a:ln w="9525">
            <a:solidFill>
              <a:srgbClr val="E3EBF0"/>
            </a:solidFill>
            <a:prstDash val="solid"/>
          </a:ln>
        </p:spPr>
      </p:sp>
      <p:sp>
        <p:nvSpPr>
          <p:cNvPr id="16" name="Text 14"/>
          <p:cNvSpPr/>
          <p:nvPr/>
        </p:nvSpPr>
        <p:spPr>
          <a:xfrm>
            <a:off x="5779008" y="1755648"/>
            <a:ext cx="563270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Failure modes, metric selection, cost of error, uncertainty, calibration, thresholds, error budgets</a:t>
            </a:r>
            <a:endParaRPr lang="en-US" sz="1050" dirty="0"/>
          </a:p>
        </p:txBody>
      </p:sp>
      <p:sp>
        <p:nvSpPr>
          <p:cNvPr id="17" name="Shape 15"/>
          <p:cNvSpPr/>
          <p:nvPr/>
        </p:nvSpPr>
        <p:spPr>
          <a:xfrm>
            <a:off x="640080" y="2240280"/>
            <a:ext cx="1188720" cy="484632"/>
          </a:xfrm>
          <a:prstGeom prst="rect">
            <a:avLst/>
          </a:prstGeom>
          <a:solidFill>
            <a:srgbClr val="F5F9FB"/>
          </a:solidFill>
          <a:ln w="9525">
            <a:solidFill>
              <a:srgbClr val="E3EBF0"/>
            </a:solidFill>
            <a:prstDash val="solid"/>
          </a:ln>
        </p:spPr>
      </p:sp>
      <p:sp>
        <p:nvSpPr>
          <p:cNvPr id="18" name="Text 16"/>
          <p:cNvSpPr/>
          <p:nvPr/>
        </p:nvSpPr>
        <p:spPr>
          <a:xfrm>
            <a:off x="749808" y="2240280"/>
            <a:ext cx="969264" cy="48463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11:00</a:t>
            </a:r>
            <a:endParaRPr lang="en-US" sz="1050" dirty="0"/>
          </a:p>
        </p:txBody>
      </p:sp>
      <p:sp>
        <p:nvSpPr>
          <p:cNvPr id="19" name="Shape 17"/>
          <p:cNvSpPr/>
          <p:nvPr/>
        </p:nvSpPr>
        <p:spPr>
          <a:xfrm>
            <a:off x="1828800" y="2240280"/>
            <a:ext cx="3840480" cy="484632"/>
          </a:xfrm>
          <a:prstGeom prst="rect">
            <a:avLst/>
          </a:prstGeom>
          <a:solidFill>
            <a:srgbClr val="F5F9FB"/>
          </a:solidFill>
          <a:ln w="9525">
            <a:solidFill>
              <a:srgbClr val="E3EBF0"/>
            </a:solidFill>
            <a:prstDash val="solid"/>
          </a:ln>
        </p:spPr>
      </p:sp>
      <p:sp>
        <p:nvSpPr>
          <p:cNvPr id="20" name="Text 18"/>
          <p:cNvSpPr/>
          <p:nvPr/>
        </p:nvSpPr>
        <p:spPr>
          <a:xfrm>
            <a:off x="1938528" y="2240280"/>
            <a:ext cx="362102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Lab 1 — Failure map</a:t>
            </a:r>
            <a:endParaRPr lang="en-US" sz="1050" dirty="0"/>
          </a:p>
        </p:txBody>
      </p:sp>
      <p:sp>
        <p:nvSpPr>
          <p:cNvPr id="21" name="Shape 19"/>
          <p:cNvSpPr/>
          <p:nvPr/>
        </p:nvSpPr>
        <p:spPr>
          <a:xfrm>
            <a:off x="5669280" y="2240280"/>
            <a:ext cx="5852160" cy="484632"/>
          </a:xfrm>
          <a:prstGeom prst="rect">
            <a:avLst/>
          </a:prstGeom>
          <a:solidFill>
            <a:srgbClr val="F5F9FB"/>
          </a:solidFill>
          <a:ln w="9525">
            <a:solidFill>
              <a:srgbClr val="E3EBF0"/>
            </a:solidFill>
            <a:prstDash val="solid"/>
          </a:ln>
        </p:spPr>
      </p:sp>
      <p:sp>
        <p:nvSpPr>
          <p:cNvPr id="22" name="Text 20"/>
          <p:cNvSpPr/>
          <p:nvPr/>
        </p:nvSpPr>
        <p:spPr>
          <a:xfrm>
            <a:off x="5779008" y="2240280"/>
            <a:ext cx="563270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Nine failure categories applied to one real PoC</a:t>
            </a:r>
            <a:endParaRPr lang="en-US" sz="1050" dirty="0"/>
          </a:p>
        </p:txBody>
      </p:sp>
      <p:sp>
        <p:nvSpPr>
          <p:cNvPr id="23" name="Shape 21"/>
          <p:cNvSpPr/>
          <p:nvPr/>
        </p:nvSpPr>
        <p:spPr>
          <a:xfrm>
            <a:off x="640080" y="2724912"/>
            <a:ext cx="1188720" cy="484632"/>
          </a:xfrm>
          <a:prstGeom prst="rect">
            <a:avLst/>
          </a:prstGeom>
          <a:solidFill>
            <a:srgbClr val="FFFFFF"/>
          </a:solidFill>
          <a:ln w="9525">
            <a:solidFill>
              <a:srgbClr val="E3EBF0"/>
            </a:solidFill>
            <a:prstDash val="solid"/>
          </a:ln>
        </p:spPr>
      </p:sp>
      <p:sp>
        <p:nvSpPr>
          <p:cNvPr id="24" name="Text 22"/>
          <p:cNvSpPr/>
          <p:nvPr/>
        </p:nvSpPr>
        <p:spPr>
          <a:xfrm>
            <a:off x="749808" y="2724912"/>
            <a:ext cx="969264" cy="48463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11:45</a:t>
            </a:r>
            <a:endParaRPr lang="en-US" sz="1050" dirty="0"/>
          </a:p>
        </p:txBody>
      </p:sp>
      <p:sp>
        <p:nvSpPr>
          <p:cNvPr id="25" name="Shape 23"/>
          <p:cNvSpPr/>
          <p:nvPr/>
        </p:nvSpPr>
        <p:spPr>
          <a:xfrm>
            <a:off x="1828800" y="2724912"/>
            <a:ext cx="3840480" cy="484632"/>
          </a:xfrm>
          <a:prstGeom prst="rect">
            <a:avLst/>
          </a:prstGeom>
          <a:solidFill>
            <a:srgbClr val="FFFFFF"/>
          </a:solidFill>
          <a:ln w="9525">
            <a:solidFill>
              <a:srgbClr val="E3EBF0"/>
            </a:solidFill>
            <a:prstDash val="solid"/>
          </a:ln>
        </p:spPr>
      </p:sp>
      <p:sp>
        <p:nvSpPr>
          <p:cNvPr id="26" name="Text 24"/>
          <p:cNvSpPr/>
          <p:nvPr/>
        </p:nvSpPr>
        <p:spPr>
          <a:xfrm>
            <a:off x="1938528" y="2724912"/>
            <a:ext cx="362102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Module 2A — Evaluation foundations</a:t>
            </a:r>
            <a:endParaRPr lang="en-US" sz="1050" dirty="0"/>
          </a:p>
        </p:txBody>
      </p:sp>
      <p:sp>
        <p:nvSpPr>
          <p:cNvPr id="27" name="Shape 25"/>
          <p:cNvSpPr/>
          <p:nvPr/>
        </p:nvSpPr>
        <p:spPr>
          <a:xfrm>
            <a:off x="5669280" y="2724912"/>
            <a:ext cx="5852160" cy="484632"/>
          </a:xfrm>
          <a:prstGeom prst="rect">
            <a:avLst/>
          </a:prstGeom>
          <a:solidFill>
            <a:srgbClr val="FFFFFF"/>
          </a:solidFill>
          <a:ln w="9525">
            <a:solidFill>
              <a:srgbClr val="E3EBF0"/>
            </a:solidFill>
            <a:prstDash val="solid"/>
          </a:ln>
        </p:spPr>
      </p:sp>
      <p:sp>
        <p:nvSpPr>
          <p:cNvPr id="28" name="Text 26"/>
          <p:cNvSpPr/>
          <p:nvPr/>
        </p:nvSpPr>
        <p:spPr>
          <a:xfrm>
            <a:off x="5779008" y="2724912"/>
            <a:ext cx="563270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Sampling, splitting, gold sets, metric families, imbalance, confidence intervals, bootstrap</a:t>
            </a:r>
            <a:endParaRPr lang="en-US" sz="1050" dirty="0"/>
          </a:p>
        </p:txBody>
      </p:sp>
      <p:sp>
        <p:nvSpPr>
          <p:cNvPr id="29" name="Shape 27"/>
          <p:cNvSpPr/>
          <p:nvPr/>
        </p:nvSpPr>
        <p:spPr>
          <a:xfrm>
            <a:off x="640080" y="3209544"/>
            <a:ext cx="1188720" cy="484632"/>
          </a:xfrm>
          <a:prstGeom prst="rect">
            <a:avLst/>
          </a:prstGeom>
          <a:solidFill>
            <a:srgbClr val="F5F9FB"/>
          </a:solidFill>
          <a:ln w="9525">
            <a:solidFill>
              <a:srgbClr val="E3EBF0"/>
            </a:solidFill>
            <a:prstDash val="solid"/>
          </a:ln>
        </p:spPr>
      </p:sp>
      <p:sp>
        <p:nvSpPr>
          <p:cNvPr id="30" name="Text 28"/>
          <p:cNvSpPr/>
          <p:nvPr/>
        </p:nvSpPr>
        <p:spPr>
          <a:xfrm>
            <a:off x="749808" y="3209544"/>
            <a:ext cx="969264" cy="48463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13:00</a:t>
            </a:r>
            <a:endParaRPr lang="en-US" sz="1050" dirty="0"/>
          </a:p>
        </p:txBody>
      </p:sp>
      <p:sp>
        <p:nvSpPr>
          <p:cNvPr id="31" name="Shape 29"/>
          <p:cNvSpPr/>
          <p:nvPr/>
        </p:nvSpPr>
        <p:spPr>
          <a:xfrm>
            <a:off x="1828800" y="3209544"/>
            <a:ext cx="3840480" cy="484632"/>
          </a:xfrm>
          <a:prstGeom prst="rect">
            <a:avLst/>
          </a:prstGeom>
          <a:solidFill>
            <a:srgbClr val="F5F9FB"/>
          </a:solidFill>
          <a:ln w="9525">
            <a:solidFill>
              <a:srgbClr val="E3EBF0"/>
            </a:solidFill>
            <a:prstDash val="solid"/>
          </a:ln>
        </p:spPr>
      </p:sp>
      <p:sp>
        <p:nvSpPr>
          <p:cNvPr id="32" name="Text 30"/>
          <p:cNvSpPr/>
          <p:nvPr/>
        </p:nvSpPr>
        <p:spPr>
          <a:xfrm>
            <a:off x="1938528" y="3209544"/>
            <a:ext cx="362102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Lunch</a:t>
            </a:r>
            <a:endParaRPr lang="en-US" sz="1050" dirty="0"/>
          </a:p>
        </p:txBody>
      </p:sp>
      <p:sp>
        <p:nvSpPr>
          <p:cNvPr id="33" name="Shape 31"/>
          <p:cNvSpPr/>
          <p:nvPr/>
        </p:nvSpPr>
        <p:spPr>
          <a:xfrm>
            <a:off x="5669280" y="3209544"/>
            <a:ext cx="5852160" cy="484632"/>
          </a:xfrm>
          <a:prstGeom prst="rect">
            <a:avLst/>
          </a:prstGeom>
          <a:solidFill>
            <a:srgbClr val="F5F9FB"/>
          </a:solidFill>
          <a:ln w="9525">
            <a:solidFill>
              <a:srgbClr val="E3EBF0"/>
            </a:solidFill>
            <a:prstDash val="solid"/>
          </a:ln>
        </p:spPr>
      </p:sp>
      <p:sp>
        <p:nvSpPr>
          <p:cNvPr id="34" name="Text 32"/>
          <p:cNvSpPr/>
          <p:nvPr/>
        </p:nvSpPr>
        <p:spPr>
          <a:xfrm>
            <a:off x="5779008" y="3209544"/>
            <a:ext cx="5632704" cy="484632"/>
          </a:xfrm>
          <a:prstGeom prst="rect">
            <a:avLst/>
          </a:prstGeom>
          <a:noFill/>
          <a:ln/>
        </p:spPr>
        <p:txBody>
          <a:bodyPr wrap="square" lIns="0" tIns="0" rIns="0" bIns="0" rtlCol="0" anchor="ctr"/>
          <a:lstStyle/>
          <a:p>
            <a:pPr indent="0" marL="0">
              <a:lnSpc>
                <a:spcPts val="1300"/>
              </a:lnSpc>
              <a:buNone/>
            </a:pPr>
            <a:endParaRPr lang="en-US" sz="1050" dirty="0"/>
          </a:p>
        </p:txBody>
      </p:sp>
      <p:sp>
        <p:nvSpPr>
          <p:cNvPr id="35" name="Shape 33"/>
          <p:cNvSpPr/>
          <p:nvPr/>
        </p:nvSpPr>
        <p:spPr>
          <a:xfrm>
            <a:off x="640080" y="3694176"/>
            <a:ext cx="1188720" cy="484632"/>
          </a:xfrm>
          <a:prstGeom prst="rect">
            <a:avLst/>
          </a:prstGeom>
          <a:solidFill>
            <a:srgbClr val="FFFFFF"/>
          </a:solidFill>
          <a:ln w="9525">
            <a:solidFill>
              <a:srgbClr val="E3EBF0"/>
            </a:solidFill>
            <a:prstDash val="solid"/>
          </a:ln>
        </p:spPr>
      </p:sp>
      <p:sp>
        <p:nvSpPr>
          <p:cNvPr id="36" name="Text 34"/>
          <p:cNvSpPr/>
          <p:nvPr/>
        </p:nvSpPr>
        <p:spPr>
          <a:xfrm>
            <a:off x="749808" y="3694176"/>
            <a:ext cx="969264" cy="48463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13:45</a:t>
            </a:r>
            <a:endParaRPr lang="en-US" sz="1050" dirty="0"/>
          </a:p>
        </p:txBody>
      </p:sp>
      <p:sp>
        <p:nvSpPr>
          <p:cNvPr id="37" name="Shape 35"/>
          <p:cNvSpPr/>
          <p:nvPr/>
        </p:nvSpPr>
        <p:spPr>
          <a:xfrm>
            <a:off x="1828800" y="3694176"/>
            <a:ext cx="3840480" cy="484632"/>
          </a:xfrm>
          <a:prstGeom prst="rect">
            <a:avLst/>
          </a:prstGeom>
          <a:solidFill>
            <a:srgbClr val="FFFFFF"/>
          </a:solidFill>
          <a:ln w="9525">
            <a:solidFill>
              <a:srgbClr val="E3EBF0"/>
            </a:solidFill>
            <a:prstDash val="solid"/>
          </a:ln>
        </p:spPr>
      </p:sp>
      <p:sp>
        <p:nvSpPr>
          <p:cNvPr id="38" name="Text 36"/>
          <p:cNvSpPr/>
          <p:nvPr/>
        </p:nvSpPr>
        <p:spPr>
          <a:xfrm>
            <a:off x="1938528" y="3694176"/>
            <a:ext cx="362102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Module 2B — Hypothesis testing</a:t>
            </a:r>
            <a:endParaRPr lang="en-US" sz="1050" dirty="0"/>
          </a:p>
        </p:txBody>
      </p:sp>
      <p:sp>
        <p:nvSpPr>
          <p:cNvPr id="39" name="Shape 37"/>
          <p:cNvSpPr/>
          <p:nvPr/>
        </p:nvSpPr>
        <p:spPr>
          <a:xfrm>
            <a:off x="5669280" y="3694176"/>
            <a:ext cx="5852160" cy="484632"/>
          </a:xfrm>
          <a:prstGeom prst="rect">
            <a:avLst/>
          </a:prstGeom>
          <a:solidFill>
            <a:srgbClr val="FFFFFF"/>
          </a:solidFill>
          <a:ln w="9525">
            <a:solidFill>
              <a:srgbClr val="E3EBF0"/>
            </a:solidFill>
            <a:prstDash val="solid"/>
          </a:ln>
        </p:spPr>
      </p:sp>
      <p:sp>
        <p:nvSpPr>
          <p:cNvPr id="40" name="Text 38"/>
          <p:cNvSpPr/>
          <p:nvPr/>
        </p:nvSpPr>
        <p:spPr>
          <a:xfrm>
            <a:off x="5779008" y="3694176"/>
            <a:ext cx="563270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Hypothesis design, test selection, Type I/II, power, effect size, multiplicity, drift</a:t>
            </a:r>
            <a:endParaRPr lang="en-US" sz="1050" dirty="0"/>
          </a:p>
        </p:txBody>
      </p:sp>
      <p:sp>
        <p:nvSpPr>
          <p:cNvPr id="41" name="Shape 39"/>
          <p:cNvSpPr/>
          <p:nvPr/>
        </p:nvSpPr>
        <p:spPr>
          <a:xfrm>
            <a:off x="640080" y="4178808"/>
            <a:ext cx="1188720" cy="484632"/>
          </a:xfrm>
          <a:prstGeom prst="rect">
            <a:avLst/>
          </a:prstGeom>
          <a:solidFill>
            <a:srgbClr val="F5F9FB"/>
          </a:solidFill>
          <a:ln w="9525">
            <a:solidFill>
              <a:srgbClr val="E3EBF0"/>
            </a:solidFill>
            <a:prstDash val="solid"/>
          </a:ln>
        </p:spPr>
      </p:sp>
      <p:sp>
        <p:nvSpPr>
          <p:cNvPr id="42" name="Text 40"/>
          <p:cNvSpPr/>
          <p:nvPr/>
        </p:nvSpPr>
        <p:spPr>
          <a:xfrm>
            <a:off x="749808" y="4178808"/>
            <a:ext cx="969264" cy="48463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15:15</a:t>
            </a:r>
            <a:endParaRPr lang="en-US" sz="1050" dirty="0"/>
          </a:p>
        </p:txBody>
      </p:sp>
      <p:sp>
        <p:nvSpPr>
          <p:cNvPr id="43" name="Shape 41"/>
          <p:cNvSpPr/>
          <p:nvPr/>
        </p:nvSpPr>
        <p:spPr>
          <a:xfrm>
            <a:off x="1828800" y="4178808"/>
            <a:ext cx="3840480" cy="484632"/>
          </a:xfrm>
          <a:prstGeom prst="rect">
            <a:avLst/>
          </a:prstGeom>
          <a:solidFill>
            <a:srgbClr val="F5F9FB"/>
          </a:solidFill>
          <a:ln w="9525">
            <a:solidFill>
              <a:srgbClr val="E3EBF0"/>
            </a:solidFill>
            <a:prstDash val="solid"/>
          </a:ln>
        </p:spPr>
      </p:sp>
      <p:sp>
        <p:nvSpPr>
          <p:cNvPr id="44" name="Text 42"/>
          <p:cNvSpPr/>
          <p:nvPr/>
        </p:nvSpPr>
        <p:spPr>
          <a:xfrm>
            <a:off x="1938528" y="4178808"/>
            <a:ext cx="362102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Lab 2 — Hypothesis design</a:t>
            </a:r>
            <a:endParaRPr lang="en-US" sz="1050" dirty="0"/>
          </a:p>
        </p:txBody>
      </p:sp>
      <p:sp>
        <p:nvSpPr>
          <p:cNvPr id="45" name="Shape 43"/>
          <p:cNvSpPr/>
          <p:nvPr/>
        </p:nvSpPr>
        <p:spPr>
          <a:xfrm>
            <a:off x="5669280" y="4178808"/>
            <a:ext cx="5852160" cy="484632"/>
          </a:xfrm>
          <a:prstGeom prst="rect">
            <a:avLst/>
          </a:prstGeom>
          <a:solidFill>
            <a:srgbClr val="F5F9FB"/>
          </a:solidFill>
          <a:ln w="9525">
            <a:solidFill>
              <a:srgbClr val="E3EBF0"/>
            </a:solidFill>
            <a:prstDash val="solid"/>
          </a:ln>
        </p:spPr>
      </p:sp>
      <p:sp>
        <p:nvSpPr>
          <p:cNvPr id="46" name="Text 44"/>
          <p:cNvSpPr/>
          <p:nvPr/>
        </p:nvSpPr>
        <p:spPr>
          <a:xfrm>
            <a:off x="5779008" y="4178808"/>
            <a:ext cx="563270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Three testable hypotheses with full experiment design</a:t>
            </a:r>
            <a:endParaRPr lang="en-US" sz="1050" dirty="0"/>
          </a:p>
        </p:txBody>
      </p:sp>
      <p:sp>
        <p:nvSpPr>
          <p:cNvPr id="47" name="Shape 45"/>
          <p:cNvSpPr/>
          <p:nvPr/>
        </p:nvSpPr>
        <p:spPr>
          <a:xfrm>
            <a:off x="640080" y="4663440"/>
            <a:ext cx="1188720" cy="484632"/>
          </a:xfrm>
          <a:prstGeom prst="rect">
            <a:avLst/>
          </a:prstGeom>
          <a:solidFill>
            <a:srgbClr val="FFFFFF"/>
          </a:solidFill>
          <a:ln w="9525">
            <a:solidFill>
              <a:srgbClr val="E3EBF0"/>
            </a:solidFill>
            <a:prstDash val="solid"/>
          </a:ln>
        </p:spPr>
      </p:sp>
      <p:sp>
        <p:nvSpPr>
          <p:cNvPr id="48" name="Text 46"/>
          <p:cNvSpPr/>
          <p:nvPr/>
        </p:nvSpPr>
        <p:spPr>
          <a:xfrm>
            <a:off x="749808" y="4663440"/>
            <a:ext cx="969264" cy="48463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16:15</a:t>
            </a:r>
            <a:endParaRPr lang="en-US" sz="1050" dirty="0"/>
          </a:p>
        </p:txBody>
      </p:sp>
      <p:sp>
        <p:nvSpPr>
          <p:cNvPr id="49" name="Shape 47"/>
          <p:cNvSpPr/>
          <p:nvPr/>
        </p:nvSpPr>
        <p:spPr>
          <a:xfrm>
            <a:off x="1828800" y="4663440"/>
            <a:ext cx="3840480" cy="484632"/>
          </a:xfrm>
          <a:prstGeom prst="rect">
            <a:avLst/>
          </a:prstGeom>
          <a:solidFill>
            <a:srgbClr val="FFFFFF"/>
          </a:solidFill>
          <a:ln w="9525">
            <a:solidFill>
              <a:srgbClr val="E3EBF0"/>
            </a:solidFill>
            <a:prstDash val="solid"/>
          </a:ln>
        </p:spPr>
      </p:sp>
      <p:sp>
        <p:nvSpPr>
          <p:cNvPr id="50" name="Text 48"/>
          <p:cNvSpPr/>
          <p:nvPr/>
        </p:nvSpPr>
        <p:spPr>
          <a:xfrm>
            <a:off x="1938528" y="4663440"/>
            <a:ext cx="362102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Module 3 — Error taxonomy and root cause</a:t>
            </a:r>
            <a:endParaRPr lang="en-US" sz="1050" dirty="0"/>
          </a:p>
        </p:txBody>
      </p:sp>
      <p:sp>
        <p:nvSpPr>
          <p:cNvPr id="51" name="Shape 49"/>
          <p:cNvSpPr/>
          <p:nvPr/>
        </p:nvSpPr>
        <p:spPr>
          <a:xfrm>
            <a:off x="5669280" y="4663440"/>
            <a:ext cx="5852160" cy="484632"/>
          </a:xfrm>
          <a:prstGeom prst="rect">
            <a:avLst/>
          </a:prstGeom>
          <a:solidFill>
            <a:srgbClr val="FFFFFF"/>
          </a:solidFill>
          <a:ln w="9525">
            <a:solidFill>
              <a:srgbClr val="E3EBF0"/>
            </a:solidFill>
            <a:prstDash val="solid"/>
          </a:ln>
        </p:spPr>
      </p:sp>
      <p:sp>
        <p:nvSpPr>
          <p:cNvPr id="52" name="Text 50"/>
          <p:cNvSpPr/>
          <p:nvPr/>
        </p:nvSpPr>
        <p:spPr>
          <a:xfrm>
            <a:off x="5779008" y="4663440"/>
            <a:ext cx="563270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Data-centric analysis, slicing, leakage, failure tests, ablation, backlog</a:t>
            </a:r>
            <a:endParaRPr lang="en-US" sz="1050" dirty="0"/>
          </a:p>
        </p:txBody>
      </p:sp>
      <p:sp>
        <p:nvSpPr>
          <p:cNvPr id="53" name="Shape 51"/>
          <p:cNvSpPr/>
          <p:nvPr/>
        </p:nvSpPr>
        <p:spPr>
          <a:xfrm>
            <a:off x="640080" y="5148072"/>
            <a:ext cx="1188720" cy="484632"/>
          </a:xfrm>
          <a:prstGeom prst="rect">
            <a:avLst/>
          </a:prstGeom>
          <a:solidFill>
            <a:srgbClr val="F5F9FB"/>
          </a:solidFill>
          <a:ln w="9525">
            <a:solidFill>
              <a:srgbClr val="E3EBF0"/>
            </a:solidFill>
            <a:prstDash val="solid"/>
          </a:ln>
        </p:spPr>
      </p:sp>
      <p:sp>
        <p:nvSpPr>
          <p:cNvPr id="54" name="Text 52"/>
          <p:cNvSpPr/>
          <p:nvPr/>
        </p:nvSpPr>
        <p:spPr>
          <a:xfrm>
            <a:off x="749808" y="5148072"/>
            <a:ext cx="969264" cy="48463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17:15</a:t>
            </a:r>
            <a:endParaRPr lang="en-US" sz="1050" dirty="0"/>
          </a:p>
        </p:txBody>
      </p:sp>
      <p:sp>
        <p:nvSpPr>
          <p:cNvPr id="55" name="Shape 53"/>
          <p:cNvSpPr/>
          <p:nvPr/>
        </p:nvSpPr>
        <p:spPr>
          <a:xfrm>
            <a:off x="1828800" y="5148072"/>
            <a:ext cx="3840480" cy="484632"/>
          </a:xfrm>
          <a:prstGeom prst="rect">
            <a:avLst/>
          </a:prstGeom>
          <a:solidFill>
            <a:srgbClr val="F5F9FB"/>
          </a:solidFill>
          <a:ln w="9525">
            <a:solidFill>
              <a:srgbClr val="E3EBF0"/>
            </a:solidFill>
            <a:prstDash val="solid"/>
          </a:ln>
        </p:spPr>
      </p:sp>
      <p:sp>
        <p:nvSpPr>
          <p:cNvPr id="56" name="Text 54"/>
          <p:cNvSpPr/>
          <p:nvPr/>
        </p:nvSpPr>
        <p:spPr>
          <a:xfrm>
            <a:off x="1938528" y="5148072"/>
            <a:ext cx="362102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Lab 3 — Classify 100 failures</a:t>
            </a:r>
            <a:endParaRPr lang="en-US" sz="1050" dirty="0"/>
          </a:p>
        </p:txBody>
      </p:sp>
      <p:sp>
        <p:nvSpPr>
          <p:cNvPr id="57" name="Shape 55"/>
          <p:cNvSpPr/>
          <p:nvPr/>
        </p:nvSpPr>
        <p:spPr>
          <a:xfrm>
            <a:off x="5669280" y="5148072"/>
            <a:ext cx="5852160" cy="484632"/>
          </a:xfrm>
          <a:prstGeom prst="rect">
            <a:avLst/>
          </a:prstGeom>
          <a:solidFill>
            <a:srgbClr val="F5F9FB"/>
          </a:solidFill>
          <a:ln w="9525">
            <a:solidFill>
              <a:srgbClr val="E3EBF0"/>
            </a:solidFill>
            <a:prstDash val="solid"/>
          </a:ln>
        </p:spPr>
      </p:sp>
      <p:sp>
        <p:nvSpPr>
          <p:cNvPr id="58" name="Text 56"/>
          <p:cNvSpPr/>
          <p:nvPr/>
        </p:nvSpPr>
        <p:spPr>
          <a:xfrm>
            <a:off x="5779008" y="5148072"/>
            <a:ext cx="563270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Ranked taxonomy and top three improvement levers</a:t>
            </a:r>
            <a:endParaRPr lang="en-US" sz="1050" dirty="0"/>
          </a:p>
        </p:txBody>
      </p:sp>
      <p:sp>
        <p:nvSpPr>
          <p:cNvPr id="59" name="Shape 57"/>
          <p:cNvSpPr/>
          <p:nvPr/>
        </p:nvSpPr>
        <p:spPr>
          <a:xfrm>
            <a:off x="640080" y="5632704"/>
            <a:ext cx="1188720" cy="484632"/>
          </a:xfrm>
          <a:prstGeom prst="rect">
            <a:avLst/>
          </a:prstGeom>
          <a:solidFill>
            <a:srgbClr val="FFFFFF"/>
          </a:solidFill>
          <a:ln w="9525">
            <a:solidFill>
              <a:srgbClr val="E3EBF0"/>
            </a:solidFill>
            <a:prstDash val="solid"/>
          </a:ln>
        </p:spPr>
      </p:sp>
      <p:sp>
        <p:nvSpPr>
          <p:cNvPr id="60" name="Text 58"/>
          <p:cNvSpPr/>
          <p:nvPr/>
        </p:nvSpPr>
        <p:spPr>
          <a:xfrm>
            <a:off x="749808" y="5632704"/>
            <a:ext cx="969264" cy="48463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18:00</a:t>
            </a:r>
            <a:endParaRPr lang="en-US" sz="1050" dirty="0"/>
          </a:p>
        </p:txBody>
      </p:sp>
      <p:sp>
        <p:nvSpPr>
          <p:cNvPr id="61" name="Shape 59"/>
          <p:cNvSpPr/>
          <p:nvPr/>
        </p:nvSpPr>
        <p:spPr>
          <a:xfrm>
            <a:off x="1828800" y="5632704"/>
            <a:ext cx="3840480" cy="484632"/>
          </a:xfrm>
          <a:prstGeom prst="rect">
            <a:avLst/>
          </a:prstGeom>
          <a:solidFill>
            <a:srgbClr val="FFFFFF"/>
          </a:solidFill>
          <a:ln w="9525">
            <a:solidFill>
              <a:srgbClr val="E3EBF0"/>
            </a:solidFill>
            <a:prstDash val="solid"/>
          </a:ln>
        </p:spPr>
      </p:sp>
      <p:sp>
        <p:nvSpPr>
          <p:cNvPr id="62" name="Text 60"/>
          <p:cNvSpPr/>
          <p:nvPr/>
        </p:nvSpPr>
        <p:spPr>
          <a:xfrm>
            <a:off x="1938528" y="5632704"/>
            <a:ext cx="3621024" cy="48463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Assignment brief and close</a:t>
            </a:r>
            <a:endParaRPr lang="en-US" sz="1050" dirty="0"/>
          </a:p>
        </p:txBody>
      </p:sp>
      <p:sp>
        <p:nvSpPr>
          <p:cNvPr id="63" name="Shape 61"/>
          <p:cNvSpPr/>
          <p:nvPr/>
        </p:nvSpPr>
        <p:spPr>
          <a:xfrm>
            <a:off x="5669280" y="5632704"/>
            <a:ext cx="5852160" cy="484632"/>
          </a:xfrm>
          <a:prstGeom prst="rect">
            <a:avLst/>
          </a:prstGeom>
          <a:solidFill>
            <a:srgbClr val="FFFFFF"/>
          </a:solidFill>
          <a:ln w="9525">
            <a:solidFill>
              <a:srgbClr val="E3EBF0"/>
            </a:solidFill>
            <a:prstDash val="solid"/>
          </a:ln>
        </p:spPr>
      </p:sp>
      <p:sp>
        <p:nvSpPr>
          <p:cNvPr id="64" name="Text 62"/>
          <p:cNvSpPr/>
          <p:nvPr/>
        </p:nvSpPr>
        <p:spPr>
          <a:xfrm>
            <a:off x="5779008" y="5632704"/>
            <a:ext cx="5632704" cy="484632"/>
          </a:xfrm>
          <a:prstGeom prst="rect">
            <a:avLst/>
          </a:prstGeom>
          <a:noFill/>
          <a:ln/>
        </p:spPr>
        <p:txBody>
          <a:bodyPr wrap="square" lIns="0" tIns="0" rIns="0" bIns="0" rtlCol="0" anchor="ctr"/>
          <a:lstStyle/>
          <a:p>
            <a:pPr indent="0" marL="0">
              <a:lnSpc>
                <a:spcPts val="1300"/>
              </a:lnSpc>
              <a:buNone/>
            </a:pP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indent="0" marL="0">
              <a:buNone/>
            </a:pPr>
            <a:r>
              <a:rPr lang="en-US" sz="1200" b="1" spc="300" kern="0" dirty="0">
                <a:solidFill>
                  <a:srgbClr val="9FD0E3"/>
                </a:solidFill>
                <a:latin typeface="Calibri" pitchFamily="34" charset="0"/>
                <a:ea typeface="Calibri" pitchFamily="34" charset="-122"/>
                <a:cs typeface="Calibri" pitchFamily="34" charset="-120"/>
              </a:rPr>
              <a:t>MODULE 1</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From Model Accuracy to System Reliability</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indent="0" marL="0">
              <a:lnSpc>
                <a:spcPts val="2100"/>
              </a:lnSpc>
              <a:buNone/>
            </a:pPr>
            <a:r>
              <a:rPr lang="en-US" sz="1500" dirty="0">
                <a:solidFill>
                  <a:srgbClr val="D5E8F0"/>
                </a:solidFill>
                <a:latin typeface="Calibri" pitchFamily="34" charset="0"/>
                <a:ea typeface="Calibri" pitchFamily="34" charset="-122"/>
                <a:cs typeface="Calibri" pitchFamily="34" charset="-120"/>
              </a:rPr>
              <a:t>A model has accuracy. A system has reliability. Only one of them reaches production — and the gap between them is engineering work, not modelling work.</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Why AI proofs of concept fail in production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640080" y="1417320"/>
            <a:ext cx="3474720" cy="1965960"/>
          </a:xfrm>
          <a:prstGeom prst="roundRect">
            <a:avLst>
              <a:gd name="adj" fmla="val 2791"/>
            </a:avLst>
          </a:prstGeom>
          <a:solidFill>
            <a:srgbClr val="EEF3F7"/>
          </a:solidFill>
          <a:ln w="12700">
            <a:solidFill>
              <a:srgbClr val="D8E4EC"/>
            </a:solidFill>
            <a:prstDash val="solid"/>
          </a:ln>
        </p:spPr>
      </p:sp>
      <p:sp>
        <p:nvSpPr>
          <p:cNvPr id="6" name="Text 4"/>
          <p:cNvSpPr/>
          <p:nvPr/>
        </p:nvSpPr>
        <p:spPr>
          <a:xfrm>
            <a:off x="841248" y="1554480"/>
            <a:ext cx="30723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Distribution shift</a:t>
            </a:r>
            <a:endParaRPr lang="en-US" sz="1400" dirty="0"/>
          </a:p>
        </p:txBody>
      </p:sp>
      <p:sp>
        <p:nvSpPr>
          <p:cNvPr id="7" name="Text 5"/>
          <p:cNvSpPr/>
          <p:nvPr/>
        </p:nvSpPr>
        <p:spPr>
          <a:xfrm>
            <a:off x="841248" y="1920240"/>
            <a:ext cx="3072384" cy="13075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demo used data the team curated. Production data arrives incomplete, in new formats, with new variants, and changes gradually. The model was never asked to handle any of it.</a:t>
            </a:r>
            <a:endParaRPr lang="en-US" sz="1150" dirty="0"/>
          </a:p>
        </p:txBody>
      </p:sp>
      <p:sp>
        <p:nvSpPr>
          <p:cNvPr id="8" name="Shape 6"/>
          <p:cNvSpPr/>
          <p:nvPr/>
        </p:nvSpPr>
        <p:spPr>
          <a:xfrm>
            <a:off x="4343400" y="1417320"/>
            <a:ext cx="3474720" cy="1965960"/>
          </a:xfrm>
          <a:prstGeom prst="roundRect">
            <a:avLst>
              <a:gd name="adj" fmla="val 2791"/>
            </a:avLst>
          </a:prstGeom>
          <a:solidFill>
            <a:srgbClr val="EEF3F7"/>
          </a:solidFill>
          <a:ln w="12700">
            <a:solidFill>
              <a:srgbClr val="D8E4EC"/>
            </a:solidFill>
            <a:prstDash val="solid"/>
          </a:ln>
        </p:spPr>
      </p:sp>
      <p:sp>
        <p:nvSpPr>
          <p:cNvPr id="9" name="Text 7"/>
          <p:cNvSpPr/>
          <p:nvPr/>
        </p:nvSpPr>
        <p:spPr>
          <a:xfrm>
            <a:off x="4544568" y="1554480"/>
            <a:ext cx="307238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No definition of done</a:t>
            </a:r>
            <a:endParaRPr lang="en-US" sz="1400" dirty="0"/>
          </a:p>
        </p:txBody>
      </p:sp>
      <p:sp>
        <p:nvSpPr>
          <p:cNvPr id="10" name="Text 8"/>
          <p:cNvSpPr/>
          <p:nvPr/>
        </p:nvSpPr>
        <p:spPr>
          <a:xfrm>
            <a:off x="4544568" y="1920240"/>
            <a:ext cx="3072384" cy="13075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"Make it more accurate" has no end state. Without a named metric and an agreed threshold, the project cannot be completed — only funded until patience runs out.</a:t>
            </a:r>
            <a:endParaRPr lang="en-US" sz="1150" dirty="0"/>
          </a:p>
        </p:txBody>
      </p:sp>
      <p:sp>
        <p:nvSpPr>
          <p:cNvPr id="11" name="Shape 9"/>
          <p:cNvSpPr/>
          <p:nvPr/>
        </p:nvSpPr>
        <p:spPr>
          <a:xfrm>
            <a:off x="8046720" y="1417320"/>
            <a:ext cx="3474720" cy="1965960"/>
          </a:xfrm>
          <a:prstGeom prst="roundRect">
            <a:avLst>
              <a:gd name="adj" fmla="val 2791"/>
            </a:avLst>
          </a:prstGeom>
          <a:solidFill>
            <a:srgbClr val="EEF3F7"/>
          </a:solidFill>
          <a:ln w="12700">
            <a:solidFill>
              <a:srgbClr val="D8E4EC"/>
            </a:solidFill>
            <a:prstDash val="solid"/>
          </a:ln>
        </p:spPr>
      </p:sp>
      <p:sp>
        <p:nvSpPr>
          <p:cNvPr id="12" name="Text 10"/>
          <p:cNvSpPr/>
          <p:nvPr/>
        </p:nvSpPr>
        <p:spPr>
          <a:xfrm>
            <a:off x="8247888" y="1554480"/>
            <a:ext cx="3072384"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The last 10% is 90% of the work</a:t>
            </a:r>
            <a:endParaRPr lang="en-US" sz="1400" dirty="0"/>
          </a:p>
        </p:txBody>
      </p:sp>
      <p:sp>
        <p:nvSpPr>
          <p:cNvPr id="13" name="Text 11"/>
          <p:cNvSpPr/>
          <p:nvPr/>
        </p:nvSpPr>
        <p:spPr>
          <a:xfrm>
            <a:off x="8247888" y="1920240"/>
            <a:ext cx="3072384" cy="13075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A convincing demo takes weeks. Edge cases, error handling, monitoring, access control and integration take quarters.</a:t>
            </a:r>
            <a:endParaRPr lang="en-US" sz="1150" dirty="0"/>
          </a:p>
        </p:txBody>
      </p:sp>
      <p:sp>
        <p:nvSpPr>
          <p:cNvPr id="14" name="Shape 12"/>
          <p:cNvSpPr/>
          <p:nvPr/>
        </p:nvSpPr>
        <p:spPr>
          <a:xfrm>
            <a:off x="640080" y="3611880"/>
            <a:ext cx="3474720" cy="1965960"/>
          </a:xfrm>
          <a:prstGeom prst="roundRect">
            <a:avLst>
              <a:gd name="adj" fmla="val 2791"/>
            </a:avLst>
          </a:prstGeom>
          <a:solidFill>
            <a:srgbClr val="EEF3F7"/>
          </a:solidFill>
          <a:ln w="12700">
            <a:solidFill>
              <a:srgbClr val="D8E4EC"/>
            </a:solidFill>
            <a:prstDash val="solid"/>
          </a:ln>
        </p:spPr>
      </p:sp>
      <p:sp>
        <p:nvSpPr>
          <p:cNvPr id="15" name="Text 13"/>
          <p:cNvSpPr/>
          <p:nvPr/>
        </p:nvSpPr>
        <p:spPr>
          <a:xfrm>
            <a:off x="841248" y="3749040"/>
            <a:ext cx="3072384" cy="347472"/>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No failure ownership</a:t>
            </a:r>
            <a:endParaRPr lang="en-US" sz="1400" dirty="0"/>
          </a:p>
        </p:txBody>
      </p:sp>
      <p:sp>
        <p:nvSpPr>
          <p:cNvPr id="16" name="Text 14"/>
          <p:cNvSpPr/>
          <p:nvPr/>
        </p:nvSpPr>
        <p:spPr>
          <a:xfrm>
            <a:off x="841248" y="4114800"/>
            <a:ext cx="3072384" cy="13075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When the system is wrong, nothing captures it. No queue, no record, no feedback path. The system cannot improve and trust erodes with every unlogged mistake.</a:t>
            </a:r>
            <a:endParaRPr lang="en-US" sz="1150" dirty="0"/>
          </a:p>
        </p:txBody>
      </p:sp>
      <p:sp>
        <p:nvSpPr>
          <p:cNvPr id="17" name="Shape 15"/>
          <p:cNvSpPr/>
          <p:nvPr/>
        </p:nvSpPr>
        <p:spPr>
          <a:xfrm>
            <a:off x="4343400" y="3611880"/>
            <a:ext cx="3474720" cy="1965960"/>
          </a:xfrm>
          <a:prstGeom prst="roundRect">
            <a:avLst>
              <a:gd name="adj" fmla="val 2791"/>
            </a:avLst>
          </a:prstGeom>
          <a:solidFill>
            <a:srgbClr val="EEF3F7"/>
          </a:solidFill>
          <a:ln w="12700">
            <a:solidFill>
              <a:srgbClr val="D8E4EC"/>
            </a:solidFill>
            <a:prstDash val="solid"/>
          </a:ln>
        </p:spPr>
      </p:sp>
      <p:sp>
        <p:nvSpPr>
          <p:cNvPr id="18" name="Text 16"/>
          <p:cNvSpPr/>
          <p:nvPr/>
        </p:nvSpPr>
        <p:spPr>
          <a:xfrm>
            <a:off x="4544568" y="3749040"/>
            <a:ext cx="3072384" cy="347472"/>
          </a:xfrm>
          <a:prstGeom prst="rect">
            <a:avLst/>
          </a:prstGeom>
          <a:noFill/>
          <a:ln/>
        </p:spPr>
        <p:txBody>
          <a:bodyPr wrap="square" lIns="0" tIns="0" rIns="0" bIns="0" rtlCol="0" anchor="ctr"/>
          <a:lstStyle/>
          <a:p>
            <a:pPr indent="0" marL="0">
              <a:buNone/>
            </a:pPr>
            <a:r>
              <a:rPr lang="en-US" sz="1400" b="1" dirty="0">
                <a:solidFill>
                  <a:srgbClr val="6B3A5B"/>
                </a:solidFill>
                <a:latin typeface="Calibri" pitchFamily="34" charset="0"/>
                <a:ea typeface="Calibri" pitchFamily="34" charset="-122"/>
                <a:cs typeface="Calibri" pitchFamily="34" charset="-120"/>
              </a:rPr>
              <a:t>Integration debt</a:t>
            </a:r>
            <a:endParaRPr lang="en-US" sz="1400" dirty="0"/>
          </a:p>
        </p:txBody>
      </p:sp>
      <p:sp>
        <p:nvSpPr>
          <p:cNvPr id="19" name="Text 17"/>
          <p:cNvSpPr/>
          <p:nvPr/>
        </p:nvSpPr>
        <p:spPr>
          <a:xfrm>
            <a:off x="4544568" y="4114800"/>
            <a:ext cx="3072384" cy="13075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PoC ran in a notebook against a CSV. Production needs authentication, rate limits, retries, audit logs and a rollback path — none of which were designed.</a:t>
            </a:r>
            <a:endParaRPr lang="en-US" sz="1150" dirty="0"/>
          </a:p>
        </p:txBody>
      </p:sp>
      <p:sp>
        <p:nvSpPr>
          <p:cNvPr id="20" name="Shape 18"/>
          <p:cNvSpPr/>
          <p:nvPr/>
        </p:nvSpPr>
        <p:spPr>
          <a:xfrm>
            <a:off x="8046720" y="3611880"/>
            <a:ext cx="3474720" cy="1965960"/>
          </a:xfrm>
          <a:prstGeom prst="roundRect">
            <a:avLst>
              <a:gd name="adj" fmla="val 2791"/>
            </a:avLst>
          </a:prstGeom>
          <a:solidFill>
            <a:srgbClr val="EEF3F7"/>
          </a:solidFill>
          <a:ln w="12700">
            <a:solidFill>
              <a:srgbClr val="D8E4EC"/>
            </a:solidFill>
            <a:prstDash val="solid"/>
          </a:ln>
        </p:spPr>
      </p:sp>
      <p:sp>
        <p:nvSpPr>
          <p:cNvPr id="21" name="Text 19"/>
          <p:cNvSpPr/>
          <p:nvPr/>
        </p:nvSpPr>
        <p:spPr>
          <a:xfrm>
            <a:off x="8247888" y="3749040"/>
            <a:ext cx="3072384" cy="347472"/>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Unowned metric drift</a:t>
            </a:r>
            <a:endParaRPr lang="en-US" sz="1400" dirty="0"/>
          </a:p>
        </p:txBody>
      </p:sp>
      <p:sp>
        <p:nvSpPr>
          <p:cNvPr id="22" name="Text 20"/>
          <p:cNvSpPr/>
          <p:nvPr/>
        </p:nvSpPr>
        <p:spPr>
          <a:xfrm>
            <a:off x="8247888" y="4114800"/>
            <a:ext cx="3072384" cy="13075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business definition of success shifts but the measurement does not. The team optimises a number nobody uses any more.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PoC-to-production gap has seven dimensions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640080" y="1280160"/>
            <a:ext cx="1828800" cy="384048"/>
          </a:xfrm>
          <a:prstGeom prst="rect">
            <a:avLst/>
          </a:prstGeom>
          <a:solidFill>
            <a:srgbClr val="21295C"/>
          </a:solidFill>
          <a:ln/>
        </p:spPr>
      </p:sp>
      <p:sp>
        <p:nvSpPr>
          <p:cNvPr id="6" name="Text 4"/>
          <p:cNvSpPr/>
          <p:nvPr/>
        </p:nvSpPr>
        <p:spPr>
          <a:xfrm>
            <a:off x="749808" y="1280160"/>
            <a:ext cx="1609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p>
        </p:txBody>
      </p:sp>
      <p:sp>
        <p:nvSpPr>
          <p:cNvPr id="7" name="Shape 5"/>
          <p:cNvSpPr/>
          <p:nvPr/>
        </p:nvSpPr>
        <p:spPr>
          <a:xfrm>
            <a:off x="2468880" y="1280160"/>
            <a:ext cx="4023360" cy="384048"/>
          </a:xfrm>
          <a:prstGeom prst="rect">
            <a:avLst/>
          </a:prstGeom>
          <a:solidFill>
            <a:srgbClr val="21295C"/>
          </a:solidFill>
          <a:ln/>
        </p:spPr>
      </p:sp>
      <p:sp>
        <p:nvSpPr>
          <p:cNvPr id="8" name="Text 6"/>
          <p:cNvSpPr/>
          <p:nvPr/>
        </p:nvSpPr>
        <p:spPr>
          <a:xfrm>
            <a:off x="2578608" y="1280160"/>
            <a:ext cx="38039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 the PoC</a:t>
            </a:r>
            <a:endParaRPr lang="en-US" sz="1100" dirty="0"/>
          </a:p>
        </p:txBody>
      </p:sp>
      <p:sp>
        <p:nvSpPr>
          <p:cNvPr id="9" name="Shape 7"/>
          <p:cNvSpPr/>
          <p:nvPr/>
        </p:nvSpPr>
        <p:spPr>
          <a:xfrm>
            <a:off x="6492240" y="1280160"/>
            <a:ext cx="5029200" cy="384048"/>
          </a:xfrm>
          <a:prstGeom prst="rect">
            <a:avLst/>
          </a:prstGeom>
          <a:solidFill>
            <a:srgbClr val="21295C"/>
          </a:solidFill>
          <a:ln/>
        </p:spPr>
      </p:sp>
      <p:sp>
        <p:nvSpPr>
          <p:cNvPr id="10" name="Text 8"/>
          <p:cNvSpPr/>
          <p:nvPr/>
        </p:nvSpPr>
        <p:spPr>
          <a:xfrm>
            <a:off x="6601968" y="1280160"/>
            <a:ext cx="48097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 production</a:t>
            </a:r>
            <a:endParaRPr lang="en-US" sz="1100" dirty="0"/>
          </a:p>
        </p:txBody>
      </p:sp>
      <p:sp>
        <p:nvSpPr>
          <p:cNvPr id="11" name="Shape 9"/>
          <p:cNvSpPr/>
          <p:nvPr/>
        </p:nvSpPr>
        <p:spPr>
          <a:xfrm>
            <a:off x="640080" y="1664208"/>
            <a:ext cx="1828800" cy="548640"/>
          </a:xfrm>
          <a:prstGeom prst="rect">
            <a:avLst/>
          </a:prstGeom>
          <a:solidFill>
            <a:srgbClr val="FFFFFF"/>
          </a:solidFill>
          <a:ln w="9525">
            <a:solidFill>
              <a:srgbClr val="E3EBF0"/>
            </a:solidFill>
            <a:prstDash val="solid"/>
          </a:ln>
        </p:spPr>
      </p:sp>
      <p:sp>
        <p:nvSpPr>
          <p:cNvPr id="12" name="Text 10"/>
          <p:cNvSpPr/>
          <p:nvPr/>
        </p:nvSpPr>
        <p:spPr>
          <a:xfrm>
            <a:off x="749808" y="1664208"/>
            <a:ext cx="1609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Data</a:t>
            </a:r>
            <a:endParaRPr lang="en-US" sz="1050" dirty="0"/>
          </a:p>
        </p:txBody>
      </p:sp>
      <p:sp>
        <p:nvSpPr>
          <p:cNvPr id="13" name="Shape 11"/>
          <p:cNvSpPr/>
          <p:nvPr/>
        </p:nvSpPr>
        <p:spPr>
          <a:xfrm>
            <a:off x="2468880" y="1664208"/>
            <a:ext cx="4023360" cy="548640"/>
          </a:xfrm>
          <a:prstGeom prst="rect">
            <a:avLst/>
          </a:prstGeom>
          <a:solidFill>
            <a:srgbClr val="FFFFFF"/>
          </a:solidFill>
          <a:ln w="9525">
            <a:solidFill>
              <a:srgbClr val="E3EBF0"/>
            </a:solidFill>
            <a:prstDash val="solid"/>
          </a:ln>
        </p:spPr>
      </p:sp>
      <p:sp>
        <p:nvSpPr>
          <p:cNvPr id="14" name="Text 12"/>
          <p:cNvSpPr/>
          <p:nvPr/>
        </p:nvSpPr>
        <p:spPr>
          <a:xfrm>
            <a:off x="2578608" y="166420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Curated, static snapshot</a:t>
            </a:r>
            <a:endParaRPr lang="en-US" sz="1050" dirty="0"/>
          </a:p>
        </p:txBody>
      </p:sp>
      <p:sp>
        <p:nvSpPr>
          <p:cNvPr id="15" name="Shape 13"/>
          <p:cNvSpPr/>
          <p:nvPr/>
        </p:nvSpPr>
        <p:spPr>
          <a:xfrm>
            <a:off x="6492240" y="1664208"/>
            <a:ext cx="5029200" cy="548640"/>
          </a:xfrm>
          <a:prstGeom prst="rect">
            <a:avLst/>
          </a:prstGeom>
          <a:solidFill>
            <a:srgbClr val="FFFFFF"/>
          </a:solidFill>
          <a:ln w="9525">
            <a:solidFill>
              <a:srgbClr val="E3EBF0"/>
            </a:solidFill>
            <a:prstDash val="solid"/>
          </a:ln>
        </p:spPr>
      </p:sp>
      <p:sp>
        <p:nvSpPr>
          <p:cNvPr id="16" name="Text 14"/>
          <p:cNvSpPr/>
          <p:nvPr/>
        </p:nvSpPr>
        <p:spPr>
          <a:xfrm>
            <a:off x="6601968" y="1664208"/>
            <a:ext cx="48097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Live, drifting, incomplete, occasionally adversarial</a:t>
            </a:r>
            <a:endParaRPr lang="en-US" sz="1050" dirty="0"/>
          </a:p>
        </p:txBody>
      </p:sp>
      <p:sp>
        <p:nvSpPr>
          <p:cNvPr id="17" name="Shape 15"/>
          <p:cNvSpPr/>
          <p:nvPr/>
        </p:nvSpPr>
        <p:spPr>
          <a:xfrm>
            <a:off x="640080" y="2212848"/>
            <a:ext cx="1828800" cy="548640"/>
          </a:xfrm>
          <a:prstGeom prst="rect">
            <a:avLst/>
          </a:prstGeom>
          <a:solidFill>
            <a:srgbClr val="F5F9FB"/>
          </a:solidFill>
          <a:ln w="9525">
            <a:solidFill>
              <a:srgbClr val="E3EBF0"/>
            </a:solidFill>
            <a:prstDash val="solid"/>
          </a:ln>
        </p:spPr>
      </p:sp>
      <p:sp>
        <p:nvSpPr>
          <p:cNvPr id="18" name="Text 16"/>
          <p:cNvSpPr/>
          <p:nvPr/>
        </p:nvSpPr>
        <p:spPr>
          <a:xfrm>
            <a:off x="749808" y="2212848"/>
            <a:ext cx="1609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Scale</a:t>
            </a:r>
            <a:endParaRPr lang="en-US" sz="1050" dirty="0"/>
          </a:p>
        </p:txBody>
      </p:sp>
      <p:sp>
        <p:nvSpPr>
          <p:cNvPr id="19" name="Shape 17"/>
          <p:cNvSpPr/>
          <p:nvPr/>
        </p:nvSpPr>
        <p:spPr>
          <a:xfrm>
            <a:off x="2468880" y="2212848"/>
            <a:ext cx="4023360" cy="548640"/>
          </a:xfrm>
          <a:prstGeom prst="rect">
            <a:avLst/>
          </a:prstGeom>
          <a:solidFill>
            <a:srgbClr val="F5F9FB"/>
          </a:solidFill>
          <a:ln w="9525">
            <a:solidFill>
              <a:srgbClr val="E3EBF0"/>
            </a:solidFill>
            <a:prstDash val="solid"/>
          </a:ln>
        </p:spPr>
      </p:sp>
      <p:sp>
        <p:nvSpPr>
          <p:cNvPr id="20" name="Text 18"/>
          <p:cNvSpPr/>
          <p:nvPr/>
        </p:nvSpPr>
        <p:spPr>
          <a:xfrm>
            <a:off x="2578608" y="221284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Tens of examples per run</a:t>
            </a:r>
            <a:endParaRPr lang="en-US" sz="1050" dirty="0"/>
          </a:p>
        </p:txBody>
      </p:sp>
      <p:sp>
        <p:nvSpPr>
          <p:cNvPr id="21" name="Shape 19"/>
          <p:cNvSpPr/>
          <p:nvPr/>
        </p:nvSpPr>
        <p:spPr>
          <a:xfrm>
            <a:off x="6492240" y="2212848"/>
            <a:ext cx="5029200" cy="548640"/>
          </a:xfrm>
          <a:prstGeom prst="rect">
            <a:avLst/>
          </a:prstGeom>
          <a:solidFill>
            <a:srgbClr val="F5F9FB"/>
          </a:solidFill>
          <a:ln w="9525">
            <a:solidFill>
              <a:srgbClr val="E3EBF0"/>
            </a:solidFill>
            <a:prstDash val="solid"/>
          </a:ln>
        </p:spPr>
      </p:sp>
      <p:sp>
        <p:nvSpPr>
          <p:cNvPr id="22" name="Text 20"/>
          <p:cNvSpPr/>
          <p:nvPr/>
        </p:nvSpPr>
        <p:spPr>
          <a:xfrm>
            <a:off x="6601968" y="2212848"/>
            <a:ext cx="48097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Thousands per hour, with latency limits</a:t>
            </a:r>
            <a:endParaRPr lang="en-US" sz="1050" dirty="0"/>
          </a:p>
        </p:txBody>
      </p:sp>
      <p:sp>
        <p:nvSpPr>
          <p:cNvPr id="23" name="Shape 21"/>
          <p:cNvSpPr/>
          <p:nvPr/>
        </p:nvSpPr>
        <p:spPr>
          <a:xfrm>
            <a:off x="640080" y="2761488"/>
            <a:ext cx="1828800" cy="548640"/>
          </a:xfrm>
          <a:prstGeom prst="rect">
            <a:avLst/>
          </a:prstGeom>
          <a:solidFill>
            <a:srgbClr val="FFFFFF"/>
          </a:solidFill>
          <a:ln w="9525">
            <a:solidFill>
              <a:srgbClr val="E3EBF0"/>
            </a:solidFill>
            <a:prstDash val="solid"/>
          </a:ln>
        </p:spPr>
      </p:sp>
      <p:sp>
        <p:nvSpPr>
          <p:cNvPr id="24" name="Text 22"/>
          <p:cNvSpPr/>
          <p:nvPr/>
        </p:nvSpPr>
        <p:spPr>
          <a:xfrm>
            <a:off x="749808" y="2761488"/>
            <a:ext cx="1609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Users</a:t>
            </a:r>
            <a:endParaRPr lang="en-US" sz="1050" dirty="0"/>
          </a:p>
        </p:txBody>
      </p:sp>
      <p:sp>
        <p:nvSpPr>
          <p:cNvPr id="25" name="Shape 23"/>
          <p:cNvSpPr/>
          <p:nvPr/>
        </p:nvSpPr>
        <p:spPr>
          <a:xfrm>
            <a:off x="2468880" y="2761488"/>
            <a:ext cx="4023360" cy="548640"/>
          </a:xfrm>
          <a:prstGeom prst="rect">
            <a:avLst/>
          </a:prstGeom>
          <a:solidFill>
            <a:srgbClr val="FFFFFF"/>
          </a:solidFill>
          <a:ln w="9525">
            <a:solidFill>
              <a:srgbClr val="E3EBF0"/>
            </a:solidFill>
            <a:prstDash val="solid"/>
          </a:ln>
        </p:spPr>
      </p:sp>
      <p:sp>
        <p:nvSpPr>
          <p:cNvPr id="26" name="Text 24"/>
          <p:cNvSpPr/>
          <p:nvPr/>
        </p:nvSpPr>
        <p:spPr>
          <a:xfrm>
            <a:off x="2578608" y="276148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builder</a:t>
            </a:r>
            <a:endParaRPr lang="en-US" sz="1050" dirty="0"/>
          </a:p>
        </p:txBody>
      </p:sp>
      <p:sp>
        <p:nvSpPr>
          <p:cNvPr id="27" name="Shape 25"/>
          <p:cNvSpPr/>
          <p:nvPr/>
        </p:nvSpPr>
        <p:spPr>
          <a:xfrm>
            <a:off x="6492240" y="2761488"/>
            <a:ext cx="5029200" cy="548640"/>
          </a:xfrm>
          <a:prstGeom prst="rect">
            <a:avLst/>
          </a:prstGeom>
          <a:solidFill>
            <a:srgbClr val="FFFFFF"/>
          </a:solidFill>
          <a:ln w="9525">
            <a:solidFill>
              <a:srgbClr val="E3EBF0"/>
            </a:solidFill>
            <a:prstDash val="solid"/>
          </a:ln>
        </p:spPr>
      </p:sp>
      <p:sp>
        <p:nvSpPr>
          <p:cNvPr id="28" name="Text 26"/>
          <p:cNvSpPr/>
          <p:nvPr/>
        </p:nvSpPr>
        <p:spPr>
          <a:xfrm>
            <a:off x="6601968" y="2761488"/>
            <a:ext cx="48097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People with no context and no patience</a:t>
            </a:r>
            <a:endParaRPr lang="en-US" sz="1050" dirty="0"/>
          </a:p>
        </p:txBody>
      </p:sp>
      <p:sp>
        <p:nvSpPr>
          <p:cNvPr id="29" name="Shape 27"/>
          <p:cNvSpPr/>
          <p:nvPr/>
        </p:nvSpPr>
        <p:spPr>
          <a:xfrm>
            <a:off x="640080" y="3310128"/>
            <a:ext cx="1828800" cy="548640"/>
          </a:xfrm>
          <a:prstGeom prst="rect">
            <a:avLst/>
          </a:prstGeom>
          <a:solidFill>
            <a:srgbClr val="F5F9FB"/>
          </a:solidFill>
          <a:ln w="9525">
            <a:solidFill>
              <a:srgbClr val="E3EBF0"/>
            </a:solidFill>
            <a:prstDash val="solid"/>
          </a:ln>
        </p:spPr>
      </p:sp>
      <p:sp>
        <p:nvSpPr>
          <p:cNvPr id="30" name="Text 28"/>
          <p:cNvSpPr/>
          <p:nvPr/>
        </p:nvSpPr>
        <p:spPr>
          <a:xfrm>
            <a:off x="749808" y="3310128"/>
            <a:ext cx="1609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Failure</a:t>
            </a:r>
            <a:endParaRPr lang="en-US" sz="1050" dirty="0"/>
          </a:p>
        </p:txBody>
      </p:sp>
      <p:sp>
        <p:nvSpPr>
          <p:cNvPr id="31" name="Shape 29"/>
          <p:cNvSpPr/>
          <p:nvPr/>
        </p:nvSpPr>
        <p:spPr>
          <a:xfrm>
            <a:off x="2468880" y="3310128"/>
            <a:ext cx="4023360" cy="548640"/>
          </a:xfrm>
          <a:prstGeom prst="rect">
            <a:avLst/>
          </a:prstGeom>
          <a:solidFill>
            <a:srgbClr val="F5F9FB"/>
          </a:solidFill>
          <a:ln w="9525">
            <a:solidFill>
              <a:srgbClr val="E3EBF0"/>
            </a:solidFill>
            <a:prstDash val="solid"/>
          </a:ln>
        </p:spPr>
      </p:sp>
      <p:sp>
        <p:nvSpPr>
          <p:cNvPr id="32" name="Text 30"/>
          <p:cNvSpPr/>
          <p:nvPr/>
        </p:nvSpPr>
        <p:spPr>
          <a:xfrm>
            <a:off x="2578608" y="331012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Explained away in the room</a:t>
            </a:r>
            <a:endParaRPr lang="en-US" sz="1050" dirty="0"/>
          </a:p>
        </p:txBody>
      </p:sp>
      <p:sp>
        <p:nvSpPr>
          <p:cNvPr id="33" name="Shape 31"/>
          <p:cNvSpPr/>
          <p:nvPr/>
        </p:nvSpPr>
        <p:spPr>
          <a:xfrm>
            <a:off x="6492240" y="3310128"/>
            <a:ext cx="5029200" cy="548640"/>
          </a:xfrm>
          <a:prstGeom prst="rect">
            <a:avLst/>
          </a:prstGeom>
          <a:solidFill>
            <a:srgbClr val="F5F9FB"/>
          </a:solidFill>
          <a:ln w="9525">
            <a:solidFill>
              <a:srgbClr val="E3EBF0"/>
            </a:solidFill>
            <a:prstDash val="solid"/>
          </a:ln>
        </p:spPr>
      </p:sp>
      <p:sp>
        <p:nvSpPr>
          <p:cNvPr id="34" name="Text 32"/>
          <p:cNvSpPr/>
          <p:nvPr/>
        </p:nvSpPr>
        <p:spPr>
          <a:xfrm>
            <a:off x="6601968" y="3310128"/>
            <a:ext cx="48097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Becomes a ticket, a cost, or a safety event</a:t>
            </a:r>
            <a:endParaRPr lang="en-US" sz="1050" dirty="0"/>
          </a:p>
        </p:txBody>
      </p:sp>
      <p:sp>
        <p:nvSpPr>
          <p:cNvPr id="35" name="Shape 33"/>
          <p:cNvSpPr/>
          <p:nvPr/>
        </p:nvSpPr>
        <p:spPr>
          <a:xfrm>
            <a:off x="640080" y="3858768"/>
            <a:ext cx="1828800" cy="548640"/>
          </a:xfrm>
          <a:prstGeom prst="rect">
            <a:avLst/>
          </a:prstGeom>
          <a:solidFill>
            <a:srgbClr val="FFFFFF"/>
          </a:solidFill>
          <a:ln w="9525">
            <a:solidFill>
              <a:srgbClr val="E3EBF0"/>
            </a:solidFill>
            <a:prstDash val="solid"/>
          </a:ln>
        </p:spPr>
      </p:sp>
      <p:sp>
        <p:nvSpPr>
          <p:cNvPr id="36" name="Text 34"/>
          <p:cNvSpPr/>
          <p:nvPr/>
        </p:nvSpPr>
        <p:spPr>
          <a:xfrm>
            <a:off x="749808" y="3858768"/>
            <a:ext cx="1609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Change</a:t>
            </a:r>
            <a:endParaRPr lang="en-US" sz="1050" dirty="0"/>
          </a:p>
        </p:txBody>
      </p:sp>
      <p:sp>
        <p:nvSpPr>
          <p:cNvPr id="37" name="Shape 35"/>
          <p:cNvSpPr/>
          <p:nvPr/>
        </p:nvSpPr>
        <p:spPr>
          <a:xfrm>
            <a:off x="2468880" y="3858768"/>
            <a:ext cx="4023360" cy="548640"/>
          </a:xfrm>
          <a:prstGeom prst="rect">
            <a:avLst/>
          </a:prstGeom>
          <a:solidFill>
            <a:srgbClr val="FFFFFF"/>
          </a:solidFill>
          <a:ln w="9525">
            <a:solidFill>
              <a:srgbClr val="E3EBF0"/>
            </a:solidFill>
            <a:prstDash val="solid"/>
          </a:ln>
        </p:spPr>
      </p:sp>
      <p:sp>
        <p:nvSpPr>
          <p:cNvPr id="38" name="Text 36"/>
          <p:cNvSpPr/>
          <p:nvPr/>
        </p:nvSpPr>
        <p:spPr>
          <a:xfrm>
            <a:off x="2578608" y="385876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Nothing changes during the demo</a:t>
            </a:r>
            <a:endParaRPr lang="en-US" sz="1050" dirty="0"/>
          </a:p>
        </p:txBody>
      </p:sp>
      <p:sp>
        <p:nvSpPr>
          <p:cNvPr id="39" name="Shape 37"/>
          <p:cNvSpPr/>
          <p:nvPr/>
        </p:nvSpPr>
        <p:spPr>
          <a:xfrm>
            <a:off x="6492240" y="3858768"/>
            <a:ext cx="5029200" cy="548640"/>
          </a:xfrm>
          <a:prstGeom prst="rect">
            <a:avLst/>
          </a:prstGeom>
          <a:solidFill>
            <a:srgbClr val="FFFFFF"/>
          </a:solidFill>
          <a:ln w="9525">
            <a:solidFill>
              <a:srgbClr val="E3EBF0"/>
            </a:solidFill>
            <a:prstDash val="solid"/>
          </a:ln>
        </p:spPr>
      </p:sp>
      <p:sp>
        <p:nvSpPr>
          <p:cNvPr id="40" name="Text 38"/>
          <p:cNvSpPr/>
          <p:nvPr/>
        </p:nvSpPr>
        <p:spPr>
          <a:xfrm>
            <a:off x="6601968" y="3858768"/>
            <a:ext cx="48097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Models, data, prompts and dependencies all move</a:t>
            </a:r>
            <a:endParaRPr lang="en-US" sz="1050" dirty="0"/>
          </a:p>
        </p:txBody>
      </p:sp>
      <p:sp>
        <p:nvSpPr>
          <p:cNvPr id="41" name="Shape 39"/>
          <p:cNvSpPr/>
          <p:nvPr/>
        </p:nvSpPr>
        <p:spPr>
          <a:xfrm>
            <a:off x="640080" y="4407408"/>
            <a:ext cx="1828800" cy="548640"/>
          </a:xfrm>
          <a:prstGeom prst="rect">
            <a:avLst/>
          </a:prstGeom>
          <a:solidFill>
            <a:srgbClr val="F5F9FB"/>
          </a:solidFill>
          <a:ln w="9525">
            <a:solidFill>
              <a:srgbClr val="E3EBF0"/>
            </a:solidFill>
            <a:prstDash val="solid"/>
          </a:ln>
        </p:spPr>
      </p:sp>
      <p:sp>
        <p:nvSpPr>
          <p:cNvPr id="42" name="Text 40"/>
          <p:cNvSpPr/>
          <p:nvPr/>
        </p:nvSpPr>
        <p:spPr>
          <a:xfrm>
            <a:off x="749808" y="4407408"/>
            <a:ext cx="1609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Observability</a:t>
            </a:r>
            <a:endParaRPr lang="en-US" sz="1050" dirty="0"/>
          </a:p>
        </p:txBody>
      </p:sp>
      <p:sp>
        <p:nvSpPr>
          <p:cNvPr id="43" name="Shape 41"/>
          <p:cNvSpPr/>
          <p:nvPr/>
        </p:nvSpPr>
        <p:spPr>
          <a:xfrm>
            <a:off x="2468880" y="4407408"/>
            <a:ext cx="4023360" cy="548640"/>
          </a:xfrm>
          <a:prstGeom prst="rect">
            <a:avLst/>
          </a:prstGeom>
          <a:solidFill>
            <a:srgbClr val="F5F9FB"/>
          </a:solidFill>
          <a:ln w="9525">
            <a:solidFill>
              <a:srgbClr val="E3EBF0"/>
            </a:solidFill>
            <a:prstDash val="solid"/>
          </a:ln>
        </p:spPr>
      </p:sp>
      <p:sp>
        <p:nvSpPr>
          <p:cNvPr id="44" name="Text 42"/>
          <p:cNvSpPr/>
          <p:nvPr/>
        </p:nvSpPr>
        <p:spPr>
          <a:xfrm>
            <a:off x="2578608" y="440740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print statements</a:t>
            </a:r>
            <a:endParaRPr lang="en-US" sz="1050" dirty="0"/>
          </a:p>
        </p:txBody>
      </p:sp>
      <p:sp>
        <p:nvSpPr>
          <p:cNvPr id="45" name="Shape 43"/>
          <p:cNvSpPr/>
          <p:nvPr/>
        </p:nvSpPr>
        <p:spPr>
          <a:xfrm>
            <a:off x="6492240" y="4407408"/>
            <a:ext cx="5029200" cy="548640"/>
          </a:xfrm>
          <a:prstGeom prst="rect">
            <a:avLst/>
          </a:prstGeom>
          <a:solidFill>
            <a:srgbClr val="F5F9FB"/>
          </a:solidFill>
          <a:ln w="9525">
            <a:solidFill>
              <a:srgbClr val="E3EBF0"/>
            </a:solidFill>
            <a:prstDash val="solid"/>
          </a:ln>
        </p:spPr>
      </p:sp>
      <p:sp>
        <p:nvSpPr>
          <p:cNvPr id="46" name="Text 44"/>
          <p:cNvSpPr/>
          <p:nvPr/>
        </p:nvSpPr>
        <p:spPr>
          <a:xfrm>
            <a:off x="6601968" y="4407408"/>
            <a:ext cx="48097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Traces, metrics, alerts, audit trail</a:t>
            </a:r>
            <a:endParaRPr lang="en-US" sz="1050" dirty="0"/>
          </a:p>
        </p:txBody>
      </p:sp>
      <p:sp>
        <p:nvSpPr>
          <p:cNvPr id="47" name="Shape 45"/>
          <p:cNvSpPr/>
          <p:nvPr/>
        </p:nvSpPr>
        <p:spPr>
          <a:xfrm>
            <a:off x="640080" y="4956048"/>
            <a:ext cx="1828800" cy="548640"/>
          </a:xfrm>
          <a:prstGeom prst="rect">
            <a:avLst/>
          </a:prstGeom>
          <a:solidFill>
            <a:srgbClr val="FFFFFF"/>
          </a:solidFill>
          <a:ln w="9525">
            <a:solidFill>
              <a:srgbClr val="E3EBF0"/>
            </a:solidFill>
            <a:prstDash val="solid"/>
          </a:ln>
        </p:spPr>
      </p:sp>
      <p:sp>
        <p:nvSpPr>
          <p:cNvPr id="48" name="Text 46"/>
          <p:cNvSpPr/>
          <p:nvPr/>
        </p:nvSpPr>
        <p:spPr>
          <a:xfrm>
            <a:off x="749808" y="4956048"/>
            <a:ext cx="1609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Accountability</a:t>
            </a:r>
            <a:endParaRPr lang="en-US" sz="1050" dirty="0"/>
          </a:p>
        </p:txBody>
      </p:sp>
      <p:sp>
        <p:nvSpPr>
          <p:cNvPr id="49" name="Shape 47"/>
          <p:cNvSpPr/>
          <p:nvPr/>
        </p:nvSpPr>
        <p:spPr>
          <a:xfrm>
            <a:off x="2468880" y="4956048"/>
            <a:ext cx="4023360" cy="548640"/>
          </a:xfrm>
          <a:prstGeom prst="rect">
            <a:avLst/>
          </a:prstGeom>
          <a:solidFill>
            <a:srgbClr val="FFFFFF"/>
          </a:solidFill>
          <a:ln w="9525">
            <a:solidFill>
              <a:srgbClr val="E3EBF0"/>
            </a:solidFill>
            <a:prstDash val="solid"/>
          </a:ln>
        </p:spPr>
      </p:sp>
      <p:sp>
        <p:nvSpPr>
          <p:cNvPr id="50" name="Text 48"/>
          <p:cNvSpPr/>
          <p:nvPr/>
        </p:nvSpPr>
        <p:spPr>
          <a:xfrm>
            <a:off x="2578608" y="495604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Nobody</a:t>
            </a:r>
            <a:endParaRPr lang="en-US" sz="1050" dirty="0"/>
          </a:p>
        </p:txBody>
      </p:sp>
      <p:sp>
        <p:nvSpPr>
          <p:cNvPr id="51" name="Shape 49"/>
          <p:cNvSpPr/>
          <p:nvPr/>
        </p:nvSpPr>
        <p:spPr>
          <a:xfrm>
            <a:off x="6492240" y="4956048"/>
            <a:ext cx="5029200" cy="548640"/>
          </a:xfrm>
          <a:prstGeom prst="rect">
            <a:avLst/>
          </a:prstGeom>
          <a:solidFill>
            <a:srgbClr val="FFFFFF"/>
          </a:solidFill>
          <a:ln w="9525">
            <a:solidFill>
              <a:srgbClr val="E3EBF0"/>
            </a:solidFill>
            <a:prstDash val="solid"/>
          </a:ln>
        </p:spPr>
      </p:sp>
      <p:sp>
        <p:nvSpPr>
          <p:cNvPr id="52" name="Text 50"/>
          <p:cNvSpPr/>
          <p:nvPr/>
        </p:nvSpPr>
        <p:spPr>
          <a:xfrm>
            <a:off x="6601968" y="4956048"/>
            <a:ext cx="48097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Someone is named when it goes wrong</a:t>
            </a:r>
            <a:endParaRPr lang="en-US" sz="1050" dirty="0"/>
          </a:p>
        </p:txBody>
      </p:sp>
      <p:sp>
        <p:nvSpPr>
          <p:cNvPr id="53" name="Text 5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Each dimension is a separate engineering workstream. Teams that budget only for the model are surprised by six of the seven.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Demo accuracy versus production accuracy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640080" y="1371600"/>
            <a:ext cx="5303520" cy="3657600"/>
          </a:xfrm>
          <a:prstGeom prst="roundRect">
            <a:avLst>
              <a:gd name="adj" fmla="val 1500"/>
            </a:avLst>
          </a:prstGeom>
          <a:solidFill>
            <a:srgbClr val="F2F6F9"/>
          </a:solidFill>
          <a:ln w="12700">
            <a:solidFill>
              <a:srgbClr val="D8E4EC"/>
            </a:solidFill>
            <a:prstDash val="solid"/>
          </a:ln>
        </p:spPr>
      </p:sp>
      <p:sp>
        <p:nvSpPr>
          <p:cNvPr id="6" name="Text 4"/>
          <p:cNvSpPr/>
          <p:nvPr/>
        </p:nvSpPr>
        <p:spPr>
          <a:xfrm>
            <a:off x="914400" y="1572768"/>
            <a:ext cx="4754880" cy="411480"/>
          </a:xfrm>
          <a:prstGeom prst="rect">
            <a:avLst/>
          </a:prstGeom>
          <a:noFill/>
          <a:ln/>
        </p:spPr>
        <p:txBody>
          <a:bodyPr wrap="square" lIns="0" tIns="0" rIns="0" bIns="0"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In the demo</a:t>
            </a:r>
            <a:endParaRPr lang="en-US" sz="1800" dirty="0"/>
          </a:p>
        </p:txBody>
      </p:sp>
      <p:sp>
        <p:nvSpPr>
          <p:cNvPr id="7" name="Text 5"/>
          <p:cNvSpPr/>
          <p:nvPr/>
        </p:nvSpPr>
        <p:spPr>
          <a:xfrm>
            <a:off x="914400" y="2057400"/>
            <a:ext cx="4754880" cy="2834640"/>
          </a:xfrm>
          <a:prstGeom prst="rect">
            <a:avLst/>
          </a:prstGeom>
          <a:noFill/>
          <a:ln/>
        </p:spPr>
        <p:txBody>
          <a:bodyPr wrap="square" rtlCol="0" anchor="ctr"/>
          <a:lstStyle/>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Data you selected yourself</a:t>
            </a:r>
            <a:endParaRPr lang="en-US" sz="1300" dirty="0"/>
          </a:p>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Questions you already know it answers</a:t>
            </a:r>
            <a:endParaRPr lang="en-US" sz="1300" dirty="0"/>
          </a:p>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One user, unlimited patience</a:t>
            </a:r>
            <a:endParaRPr lang="en-US" sz="1300" dirty="0"/>
          </a:p>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Failures explained away in the room</a:t>
            </a:r>
            <a:endParaRPr lang="en-US" sz="1300" dirty="0"/>
          </a:p>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No latency, cost or uptime constraint</a:t>
            </a:r>
            <a:endParaRPr lang="en-US" sz="1300" dirty="0"/>
          </a:p>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Success judged by whether it impresses</a:t>
            </a:r>
            <a:endParaRPr lang="en-US" sz="1300" dirty="0"/>
          </a:p>
        </p:txBody>
      </p:sp>
      <p:sp>
        <p:nvSpPr>
          <p:cNvPr id="8" name="Shape 6"/>
          <p:cNvSpPr/>
          <p:nvPr/>
        </p:nvSpPr>
        <p:spPr>
          <a:xfrm>
            <a:off x="6263640" y="1371600"/>
            <a:ext cx="5257800" cy="3657600"/>
          </a:xfrm>
          <a:prstGeom prst="roundRect">
            <a:avLst>
              <a:gd name="adj" fmla="val 1500"/>
            </a:avLst>
          </a:prstGeom>
          <a:solidFill>
            <a:srgbClr val="21295C"/>
          </a:solidFill>
          <a:ln/>
        </p:spPr>
      </p:sp>
      <p:sp>
        <p:nvSpPr>
          <p:cNvPr id="9" name="Text 7"/>
          <p:cNvSpPr/>
          <p:nvPr/>
        </p:nvSpPr>
        <p:spPr>
          <a:xfrm>
            <a:off x="6537960" y="1572768"/>
            <a:ext cx="4754880" cy="411480"/>
          </a:xfrm>
          <a:prstGeom prst="rect">
            <a:avLst/>
          </a:prstGeom>
          <a:noFill/>
          <a:ln/>
        </p:spPr>
        <p:txBody>
          <a:bodyPr wrap="square" lIns="0" tIns="0" rIns="0" bIns="0" rtlCol="0" anchor="ctr"/>
          <a:lstStyle/>
          <a:p>
            <a:pPr indent="0" marL="0">
              <a:buNone/>
            </a:pPr>
            <a:r>
              <a:rPr lang="en-US" sz="1800" b="1" dirty="0">
                <a:solidFill>
                  <a:srgbClr val="9FD0E3"/>
                </a:solidFill>
                <a:latin typeface="Cambria" pitchFamily="34" charset="0"/>
                <a:ea typeface="Cambria" pitchFamily="34" charset="-122"/>
                <a:cs typeface="Cambria" pitchFamily="34" charset="-120"/>
              </a:rPr>
              <a:t>In production</a:t>
            </a:r>
            <a:endParaRPr lang="en-US" sz="1800" dirty="0"/>
          </a:p>
        </p:txBody>
      </p:sp>
      <p:sp>
        <p:nvSpPr>
          <p:cNvPr id="10" name="Text 8"/>
          <p:cNvSpPr/>
          <p:nvPr/>
        </p:nvSpPr>
        <p:spPr>
          <a:xfrm>
            <a:off x="6537960" y="2057400"/>
            <a:ext cx="4754880" cy="2834640"/>
          </a:xfrm>
          <a:prstGeom prst="rect">
            <a:avLst/>
          </a:prstGeom>
          <a:noFill/>
          <a:ln/>
        </p:spPr>
        <p:txBody>
          <a:bodyPr wrap="square" rtlCol="0" anchor="ctr"/>
          <a:lstStyle/>
          <a:p>
            <a:pPr marL="342900" indent="-342900">
              <a:lnSpc>
                <a:spcPts val="1800"/>
              </a:lnSpc>
              <a:spcAft>
                <a:spcPts val="800"/>
              </a:spcAft>
              <a:buSzPct val="100000"/>
              <a:buChar char="•"/>
            </a:pPr>
            <a:r>
              <a:rPr lang="en-US" sz="1300" dirty="0">
                <a:solidFill>
                  <a:srgbClr val="E2EFF5"/>
                </a:solidFill>
                <a:latin typeface="Calibri" pitchFamily="34" charset="0"/>
                <a:ea typeface="Calibri" pitchFamily="34" charset="-122"/>
                <a:cs typeface="Calibri" pitchFamily="34" charset="-120"/>
              </a:rPr>
              <a:t>Data you have never seen</a:t>
            </a:r>
            <a:endParaRPr lang="en-US" sz="1300" dirty="0"/>
          </a:p>
          <a:p>
            <a:pPr marL="342900" indent="-342900">
              <a:lnSpc>
                <a:spcPts val="1800"/>
              </a:lnSpc>
              <a:spcAft>
                <a:spcPts val="800"/>
              </a:spcAft>
              <a:buSzPct val="100000"/>
              <a:buChar char="•"/>
            </a:pPr>
            <a:r>
              <a:rPr lang="en-US" sz="1300" dirty="0">
                <a:solidFill>
                  <a:srgbClr val="E2EFF5"/>
                </a:solidFill>
                <a:latin typeface="Calibri" pitchFamily="34" charset="0"/>
                <a:ea typeface="Calibri" pitchFamily="34" charset="-122"/>
                <a:cs typeface="Calibri" pitchFamily="34" charset="-120"/>
              </a:rPr>
              <a:t>Questions nobody anticipated</a:t>
            </a:r>
            <a:endParaRPr lang="en-US" sz="1300" dirty="0"/>
          </a:p>
          <a:p>
            <a:pPr marL="342900" indent="-342900">
              <a:lnSpc>
                <a:spcPts val="1800"/>
              </a:lnSpc>
              <a:spcAft>
                <a:spcPts val="800"/>
              </a:spcAft>
              <a:buSzPct val="100000"/>
              <a:buChar char="•"/>
            </a:pPr>
            <a:r>
              <a:rPr lang="en-US" sz="1300" dirty="0">
                <a:solidFill>
                  <a:srgbClr val="E2EFF5"/>
                </a:solidFill>
                <a:latin typeface="Calibri" pitchFamily="34" charset="0"/>
                <a:ea typeface="Calibri" pitchFamily="34" charset="-122"/>
                <a:cs typeface="Calibri" pitchFamily="34" charset="-120"/>
              </a:rPr>
              <a:t>Many users, no patience</a:t>
            </a:r>
            <a:endParaRPr lang="en-US" sz="1300" dirty="0"/>
          </a:p>
          <a:p>
            <a:pPr marL="342900" indent="-342900">
              <a:lnSpc>
                <a:spcPts val="1800"/>
              </a:lnSpc>
              <a:spcAft>
                <a:spcPts val="800"/>
              </a:spcAft>
              <a:buSzPct val="100000"/>
              <a:buChar char="•"/>
            </a:pPr>
            <a:r>
              <a:rPr lang="en-US" sz="1300" dirty="0">
                <a:solidFill>
                  <a:srgbClr val="E2EFF5"/>
                </a:solidFill>
                <a:latin typeface="Calibri" pitchFamily="34" charset="0"/>
                <a:ea typeface="Calibri" pitchFamily="34" charset="-122"/>
                <a:cs typeface="Calibri" pitchFamily="34" charset="-120"/>
              </a:rPr>
              <a:t>Failures become tickets and lost trust</a:t>
            </a:r>
            <a:endParaRPr lang="en-US" sz="1300" dirty="0"/>
          </a:p>
          <a:p>
            <a:pPr marL="342900" indent="-342900">
              <a:lnSpc>
                <a:spcPts val="1800"/>
              </a:lnSpc>
              <a:spcAft>
                <a:spcPts val="800"/>
              </a:spcAft>
              <a:buSzPct val="100000"/>
              <a:buChar char="•"/>
            </a:pPr>
            <a:r>
              <a:rPr lang="en-US" sz="1300" dirty="0">
                <a:solidFill>
                  <a:srgbClr val="E2EFF5"/>
                </a:solidFill>
                <a:latin typeface="Calibri" pitchFamily="34" charset="0"/>
                <a:ea typeface="Calibri" pitchFamily="34" charset="-122"/>
                <a:cs typeface="Calibri" pitchFamily="34" charset="-120"/>
              </a:rPr>
              <a:t>Hard limits on latency, cost, uptime</a:t>
            </a:r>
            <a:endParaRPr lang="en-US" sz="1300" dirty="0"/>
          </a:p>
          <a:p>
            <a:pPr marL="342900" indent="-342900">
              <a:lnSpc>
                <a:spcPts val="1800"/>
              </a:lnSpc>
              <a:spcAft>
                <a:spcPts val="800"/>
              </a:spcAft>
              <a:buSzPct val="100000"/>
              <a:buChar char="•"/>
            </a:pPr>
            <a:r>
              <a:rPr lang="en-US" sz="1300" dirty="0">
                <a:solidFill>
                  <a:srgbClr val="E2EFF5"/>
                </a:solidFill>
                <a:latin typeface="Calibri" pitchFamily="34" charset="0"/>
                <a:ea typeface="Calibri" pitchFamily="34" charset="-122"/>
                <a:cs typeface="Calibri" pitchFamily="34" charset="-120"/>
              </a:rPr>
              <a:t>Success judged by business outcome</a:t>
            </a:r>
            <a:endParaRPr lang="en-US" sz="1300" dirty="0"/>
          </a:p>
        </p:txBody>
      </p:sp>
      <p:sp>
        <p:nvSpPr>
          <p:cNvPr id="11" name="Text 9"/>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The gap between these two columns is the entire subject of this programme.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Accuracy, reliability and trustworthiness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640080" y="1417320"/>
            <a:ext cx="3474720" cy="3291840"/>
          </a:xfrm>
          <a:prstGeom prst="roundRect">
            <a:avLst>
              <a:gd name="adj" fmla="val 1667"/>
            </a:avLst>
          </a:prstGeom>
          <a:solidFill>
            <a:srgbClr val="EEF3F7"/>
          </a:solidFill>
          <a:ln w="12700">
            <a:solidFill>
              <a:srgbClr val="D8E4EC"/>
            </a:solidFill>
            <a:prstDash val="solid"/>
          </a:ln>
        </p:spPr>
      </p:sp>
      <p:sp>
        <p:nvSpPr>
          <p:cNvPr id="6" name="Shape 4"/>
          <p:cNvSpPr/>
          <p:nvPr/>
        </p:nvSpPr>
        <p:spPr>
          <a:xfrm>
            <a:off x="914400" y="1691640"/>
            <a:ext cx="365760" cy="365760"/>
          </a:xfrm>
          <a:prstGeom prst="ellipse">
            <a:avLst/>
          </a:prstGeom>
          <a:solidFill>
            <a:srgbClr val="065A82"/>
          </a:solidFill>
          <a:ln/>
        </p:spPr>
      </p:sp>
      <p:sp>
        <p:nvSpPr>
          <p:cNvPr id="7" name="Text 5"/>
          <p:cNvSpPr/>
          <p:nvPr/>
        </p:nvSpPr>
        <p:spPr>
          <a:xfrm>
            <a:off x="914400"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14400" y="2240280"/>
            <a:ext cx="2926080" cy="365760"/>
          </a:xfrm>
          <a:prstGeom prst="rect">
            <a:avLst/>
          </a:prstGeom>
          <a:noFill/>
          <a:ln/>
        </p:spPr>
        <p:txBody>
          <a:bodyPr wrap="square" lIns="0" tIns="0" rIns="0" bIns="0" rtlCol="0" anchor="ctr"/>
          <a:lstStyle/>
          <a:p>
            <a:pPr indent="0" marL="0">
              <a:buNone/>
            </a:pPr>
            <a:r>
              <a:rPr lang="en-US" sz="1900" b="1" dirty="0">
                <a:solidFill>
                  <a:srgbClr val="1A2430"/>
                </a:solidFill>
                <a:latin typeface="Cambria" pitchFamily="34" charset="0"/>
                <a:ea typeface="Cambria" pitchFamily="34" charset="-122"/>
                <a:cs typeface="Cambria" pitchFamily="34" charset="-120"/>
              </a:rPr>
              <a:t>Accuracy</a:t>
            </a:r>
            <a:endParaRPr lang="en-US" sz="1900" dirty="0"/>
          </a:p>
        </p:txBody>
      </p:sp>
      <p:sp>
        <p:nvSpPr>
          <p:cNvPr id="9" name="Text 7"/>
          <p:cNvSpPr/>
          <p:nvPr/>
        </p:nvSpPr>
        <p:spPr>
          <a:xfrm>
            <a:off x="914400" y="2651760"/>
            <a:ext cx="2926080" cy="548640"/>
          </a:xfrm>
          <a:prstGeom prst="rect">
            <a:avLst/>
          </a:prstGeom>
          <a:noFill/>
          <a:ln/>
        </p:spPr>
        <p:txBody>
          <a:bodyPr wrap="square" lIns="0" tIns="0" rIns="0" bIns="0" rtlCol="0" anchor="ctr"/>
          <a:lstStyle/>
          <a:p>
            <a:pPr indent="0" marL="0">
              <a:lnSpc>
                <a:spcPts val="1600"/>
              </a:lnSpc>
              <a:buNone/>
            </a:pPr>
            <a:r>
              <a:rPr lang="en-US" sz="1250" b="1" dirty="0">
                <a:solidFill>
                  <a:srgbClr val="065A82"/>
                </a:solidFill>
                <a:latin typeface="Calibri" pitchFamily="34" charset="0"/>
                <a:ea typeface="Calibri" pitchFamily="34" charset="-122"/>
                <a:cs typeface="Calibri" pitchFamily="34" charset="-120"/>
              </a:rPr>
              <a:t>How often is the output correct?</a:t>
            </a:r>
            <a:endParaRPr lang="en-US" sz="1250" dirty="0"/>
          </a:p>
        </p:txBody>
      </p:sp>
      <p:sp>
        <p:nvSpPr>
          <p:cNvPr id="10" name="Text 8"/>
          <p:cNvSpPr/>
          <p:nvPr/>
        </p:nvSpPr>
        <p:spPr>
          <a:xfrm>
            <a:off x="914400" y="3246120"/>
            <a:ext cx="2926080" cy="13716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 property of the model, measured on a test set. Necessary, never sufficient. Improves with modelling work.</a:t>
            </a:r>
            <a:endParaRPr lang="en-US" sz="1150" dirty="0"/>
          </a:p>
        </p:txBody>
      </p:sp>
      <p:sp>
        <p:nvSpPr>
          <p:cNvPr id="11" name="Shape 9"/>
          <p:cNvSpPr/>
          <p:nvPr/>
        </p:nvSpPr>
        <p:spPr>
          <a:xfrm>
            <a:off x="4343400" y="1417320"/>
            <a:ext cx="3474720" cy="3291840"/>
          </a:xfrm>
          <a:prstGeom prst="roundRect">
            <a:avLst>
              <a:gd name="adj" fmla="val 1667"/>
            </a:avLst>
          </a:prstGeom>
          <a:solidFill>
            <a:srgbClr val="EEF3F7"/>
          </a:solidFill>
          <a:ln w="12700">
            <a:solidFill>
              <a:srgbClr val="D8E4EC"/>
            </a:solidFill>
            <a:prstDash val="solid"/>
          </a:ln>
        </p:spPr>
      </p:sp>
      <p:sp>
        <p:nvSpPr>
          <p:cNvPr id="12" name="Shape 10"/>
          <p:cNvSpPr/>
          <p:nvPr/>
        </p:nvSpPr>
        <p:spPr>
          <a:xfrm>
            <a:off x="4617720" y="1691640"/>
            <a:ext cx="365760" cy="365760"/>
          </a:xfrm>
          <a:prstGeom prst="ellipse">
            <a:avLst/>
          </a:prstGeom>
          <a:solidFill>
            <a:srgbClr val="1C7293"/>
          </a:solidFill>
          <a:ln/>
        </p:spPr>
      </p:sp>
      <p:sp>
        <p:nvSpPr>
          <p:cNvPr id="13" name="Text 11"/>
          <p:cNvSpPr/>
          <p:nvPr/>
        </p:nvSpPr>
        <p:spPr>
          <a:xfrm>
            <a:off x="4617720"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617720" y="2240280"/>
            <a:ext cx="2926080" cy="365760"/>
          </a:xfrm>
          <a:prstGeom prst="rect">
            <a:avLst/>
          </a:prstGeom>
          <a:noFill/>
          <a:ln/>
        </p:spPr>
        <p:txBody>
          <a:bodyPr wrap="square" lIns="0" tIns="0" rIns="0" bIns="0" rtlCol="0" anchor="ctr"/>
          <a:lstStyle/>
          <a:p>
            <a:pPr indent="0" marL="0">
              <a:buNone/>
            </a:pPr>
            <a:r>
              <a:rPr lang="en-US" sz="1900" b="1" dirty="0">
                <a:solidFill>
                  <a:srgbClr val="1A2430"/>
                </a:solidFill>
                <a:latin typeface="Cambria" pitchFamily="34" charset="0"/>
                <a:ea typeface="Cambria" pitchFamily="34" charset="-122"/>
                <a:cs typeface="Cambria" pitchFamily="34" charset="-120"/>
              </a:rPr>
              <a:t>Reliability</a:t>
            </a:r>
            <a:endParaRPr lang="en-US" sz="1900" dirty="0"/>
          </a:p>
        </p:txBody>
      </p:sp>
      <p:sp>
        <p:nvSpPr>
          <p:cNvPr id="15" name="Text 13"/>
          <p:cNvSpPr/>
          <p:nvPr/>
        </p:nvSpPr>
        <p:spPr>
          <a:xfrm>
            <a:off x="4617720" y="2651760"/>
            <a:ext cx="2926080" cy="548640"/>
          </a:xfrm>
          <a:prstGeom prst="rect">
            <a:avLst/>
          </a:prstGeom>
          <a:noFill/>
          <a:ln/>
        </p:spPr>
        <p:txBody>
          <a:bodyPr wrap="square" lIns="0" tIns="0" rIns="0" bIns="0"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Is it correct consistently, under real conditions, over time?</a:t>
            </a:r>
            <a:endParaRPr lang="en-US" sz="1250" dirty="0"/>
          </a:p>
        </p:txBody>
      </p:sp>
      <p:sp>
        <p:nvSpPr>
          <p:cNvPr id="16" name="Text 14"/>
          <p:cNvSpPr/>
          <p:nvPr/>
        </p:nvSpPr>
        <p:spPr>
          <a:xfrm>
            <a:off x="4617720" y="3246120"/>
            <a:ext cx="2926080" cy="13716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 property of the system. Covers drift, edge cases, load, degradation, failure handling. Improves with engineering work.</a:t>
            </a:r>
            <a:endParaRPr lang="en-US" sz="1150" dirty="0"/>
          </a:p>
        </p:txBody>
      </p:sp>
      <p:sp>
        <p:nvSpPr>
          <p:cNvPr id="17" name="Shape 15"/>
          <p:cNvSpPr/>
          <p:nvPr/>
        </p:nvSpPr>
        <p:spPr>
          <a:xfrm>
            <a:off x="8046720" y="1417320"/>
            <a:ext cx="3474720" cy="3291840"/>
          </a:xfrm>
          <a:prstGeom prst="roundRect">
            <a:avLst>
              <a:gd name="adj" fmla="val 1667"/>
            </a:avLst>
          </a:prstGeom>
          <a:solidFill>
            <a:srgbClr val="EEF3F7"/>
          </a:solidFill>
          <a:ln w="12700">
            <a:solidFill>
              <a:srgbClr val="D8E4EC"/>
            </a:solidFill>
            <a:prstDash val="solid"/>
          </a:ln>
        </p:spPr>
      </p:sp>
      <p:sp>
        <p:nvSpPr>
          <p:cNvPr id="18" name="Shape 16"/>
          <p:cNvSpPr/>
          <p:nvPr/>
        </p:nvSpPr>
        <p:spPr>
          <a:xfrm>
            <a:off x="8321040" y="1691640"/>
            <a:ext cx="365760" cy="365760"/>
          </a:xfrm>
          <a:prstGeom prst="ellipse">
            <a:avLst/>
          </a:prstGeom>
          <a:solidFill>
            <a:srgbClr val="21295C"/>
          </a:solidFill>
          <a:ln/>
        </p:spPr>
      </p:sp>
      <p:sp>
        <p:nvSpPr>
          <p:cNvPr id="19" name="Text 17"/>
          <p:cNvSpPr/>
          <p:nvPr/>
        </p:nvSpPr>
        <p:spPr>
          <a:xfrm>
            <a:off x="8321040"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8321040" y="2240280"/>
            <a:ext cx="2926080" cy="365760"/>
          </a:xfrm>
          <a:prstGeom prst="rect">
            <a:avLst/>
          </a:prstGeom>
          <a:noFill/>
          <a:ln/>
        </p:spPr>
        <p:txBody>
          <a:bodyPr wrap="square" lIns="0" tIns="0" rIns="0" bIns="0" rtlCol="0" anchor="ctr"/>
          <a:lstStyle/>
          <a:p>
            <a:pPr indent="0" marL="0">
              <a:buNone/>
            </a:pPr>
            <a:r>
              <a:rPr lang="en-US" sz="1900" b="1" dirty="0">
                <a:solidFill>
                  <a:srgbClr val="1A2430"/>
                </a:solidFill>
                <a:latin typeface="Cambria" pitchFamily="34" charset="0"/>
                <a:ea typeface="Cambria" pitchFamily="34" charset="-122"/>
                <a:cs typeface="Cambria" pitchFamily="34" charset="-120"/>
              </a:rPr>
              <a:t>Trustworthiness</a:t>
            </a:r>
            <a:endParaRPr lang="en-US" sz="1900" dirty="0"/>
          </a:p>
        </p:txBody>
      </p:sp>
      <p:sp>
        <p:nvSpPr>
          <p:cNvPr id="21" name="Text 19"/>
          <p:cNvSpPr/>
          <p:nvPr/>
        </p:nvSpPr>
        <p:spPr>
          <a:xfrm>
            <a:off x="8321040" y="2651760"/>
            <a:ext cx="2926080" cy="548640"/>
          </a:xfrm>
          <a:prstGeom prst="rect">
            <a:avLst/>
          </a:prstGeom>
          <a:noFill/>
          <a:ln/>
        </p:spPr>
        <p:txBody>
          <a:bodyPr wrap="square" lIns="0" tIns="0" rIns="0" bIns="0" rtlCol="0" anchor="ctr"/>
          <a:lstStyle/>
          <a:p>
            <a:pPr indent="0" marL="0">
              <a:lnSpc>
                <a:spcPts val="1600"/>
              </a:lnSpc>
              <a:buNone/>
            </a:pPr>
            <a:r>
              <a:rPr lang="en-US" sz="1250" b="1" dirty="0">
                <a:solidFill>
                  <a:srgbClr val="21295C"/>
                </a:solidFill>
                <a:latin typeface="Calibri" pitchFamily="34" charset="0"/>
                <a:ea typeface="Calibri" pitchFamily="34" charset="-122"/>
                <a:cs typeface="Calibri" pitchFamily="34" charset="-120"/>
              </a:rPr>
              <a:t>Will a user actually act on the output?</a:t>
            </a:r>
            <a:endParaRPr lang="en-US" sz="1250" dirty="0"/>
          </a:p>
        </p:txBody>
      </p:sp>
      <p:sp>
        <p:nvSpPr>
          <p:cNvPr id="22" name="Text 20"/>
          <p:cNvSpPr/>
          <p:nvPr/>
        </p:nvSpPr>
        <p:spPr>
          <a:xfrm>
            <a:off x="8321040" y="3246120"/>
            <a:ext cx="2926080" cy="13716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 property of the relationship. Needs explanation, citation, calibrated confidence and a safe way to be wrong. Improves with design work.</a:t>
            </a:r>
            <a:endParaRPr lang="en-US" sz="1150" dirty="0"/>
          </a:p>
        </p:txBody>
      </p:sp>
      <p:sp>
        <p:nvSpPr>
          <p:cNvPr id="23" name="Text 2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A 95% accurate system nobody trusts delivers zero value. An 85% accurate system that reliably says "I am not sure" can be deployed on Monday.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Service level indicators and objectives for AI systems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8</a:t>
            </a:r>
            <a:endParaRPr lang="en-US" sz="1000" dirty="0"/>
          </a:p>
        </p:txBody>
      </p:sp>
      <p:sp>
        <p:nvSpPr>
          <p:cNvPr id="5" name="Text 3"/>
          <p:cNvSpPr/>
          <p:nvPr/>
        </p:nvSpPr>
        <p:spPr>
          <a:xfrm>
            <a:off x="640080" y="1325880"/>
            <a:ext cx="10881360" cy="365760"/>
          </a:xfrm>
          <a:prstGeom prst="rect">
            <a:avLst/>
          </a:prstGeom>
          <a:noFill/>
          <a:ln/>
        </p:spPr>
        <p:txBody>
          <a:bodyPr wrap="square"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Borrowed from site reliability engineering. An SLI is what you measure; an SLO is the target you commit to.</a:t>
            </a:r>
            <a:endParaRPr lang="en-US" sz="1400" dirty="0"/>
          </a:p>
        </p:txBody>
      </p:sp>
      <p:sp>
        <p:nvSpPr>
          <p:cNvPr id="6" name="Shape 4"/>
          <p:cNvSpPr/>
          <p:nvPr/>
        </p:nvSpPr>
        <p:spPr>
          <a:xfrm>
            <a:off x="640080" y="1783080"/>
            <a:ext cx="1737360" cy="384048"/>
          </a:xfrm>
          <a:prstGeom prst="rect">
            <a:avLst/>
          </a:prstGeom>
          <a:solidFill>
            <a:srgbClr val="21295C"/>
          </a:solidFill>
          <a:ln/>
        </p:spPr>
      </p:sp>
      <p:sp>
        <p:nvSpPr>
          <p:cNvPr id="7" name="Text 5"/>
          <p:cNvSpPr/>
          <p:nvPr/>
        </p:nvSpPr>
        <p:spPr>
          <a:xfrm>
            <a:off x="749808" y="1783080"/>
            <a:ext cx="15179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p>
        </p:txBody>
      </p:sp>
      <p:sp>
        <p:nvSpPr>
          <p:cNvPr id="8" name="Shape 6"/>
          <p:cNvSpPr/>
          <p:nvPr/>
        </p:nvSpPr>
        <p:spPr>
          <a:xfrm>
            <a:off x="2377440" y="1783080"/>
            <a:ext cx="4937760" cy="384048"/>
          </a:xfrm>
          <a:prstGeom prst="rect">
            <a:avLst/>
          </a:prstGeom>
          <a:solidFill>
            <a:srgbClr val="21295C"/>
          </a:solidFill>
          <a:ln/>
        </p:spPr>
      </p:sp>
      <p:sp>
        <p:nvSpPr>
          <p:cNvPr id="9" name="Text 7"/>
          <p:cNvSpPr/>
          <p:nvPr/>
        </p:nvSpPr>
        <p:spPr>
          <a:xfrm>
            <a:off x="2487168" y="1783080"/>
            <a:ext cx="47183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Example indicator (SLI)</a:t>
            </a:r>
            <a:endParaRPr lang="en-US" sz="1100" dirty="0"/>
          </a:p>
        </p:txBody>
      </p:sp>
      <p:sp>
        <p:nvSpPr>
          <p:cNvPr id="10" name="Shape 8"/>
          <p:cNvSpPr/>
          <p:nvPr/>
        </p:nvSpPr>
        <p:spPr>
          <a:xfrm>
            <a:off x="7315200" y="1783080"/>
            <a:ext cx="4206240" cy="384048"/>
          </a:xfrm>
          <a:prstGeom prst="rect">
            <a:avLst/>
          </a:prstGeom>
          <a:solidFill>
            <a:srgbClr val="21295C"/>
          </a:solidFill>
          <a:ln/>
        </p:spPr>
      </p:sp>
      <p:sp>
        <p:nvSpPr>
          <p:cNvPr id="11" name="Text 9"/>
          <p:cNvSpPr/>
          <p:nvPr/>
        </p:nvSpPr>
        <p:spPr>
          <a:xfrm>
            <a:off x="7424928" y="1783080"/>
            <a:ext cx="3986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Example objective (SLO)</a:t>
            </a:r>
            <a:endParaRPr lang="en-US" sz="1100" dirty="0"/>
          </a:p>
        </p:txBody>
      </p:sp>
      <p:sp>
        <p:nvSpPr>
          <p:cNvPr id="12" name="Shape 10"/>
          <p:cNvSpPr/>
          <p:nvPr/>
        </p:nvSpPr>
        <p:spPr>
          <a:xfrm>
            <a:off x="640080" y="2167128"/>
            <a:ext cx="1737360" cy="512064"/>
          </a:xfrm>
          <a:prstGeom prst="rect">
            <a:avLst/>
          </a:prstGeom>
          <a:solidFill>
            <a:srgbClr val="FFFFFF"/>
          </a:solidFill>
          <a:ln w="9525">
            <a:solidFill>
              <a:srgbClr val="E3EBF0"/>
            </a:solidFill>
            <a:prstDash val="solid"/>
          </a:ln>
        </p:spPr>
      </p:sp>
      <p:sp>
        <p:nvSpPr>
          <p:cNvPr id="13" name="Text 11"/>
          <p:cNvSpPr/>
          <p:nvPr/>
        </p:nvSpPr>
        <p:spPr>
          <a:xfrm>
            <a:off x="749808" y="2167128"/>
            <a:ext cx="1517904" cy="51206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Quality</a:t>
            </a:r>
            <a:endParaRPr lang="en-US" sz="1050" dirty="0"/>
          </a:p>
        </p:txBody>
      </p:sp>
      <p:sp>
        <p:nvSpPr>
          <p:cNvPr id="14" name="Shape 12"/>
          <p:cNvSpPr/>
          <p:nvPr/>
        </p:nvSpPr>
        <p:spPr>
          <a:xfrm>
            <a:off x="2377440" y="2167128"/>
            <a:ext cx="4937760" cy="512064"/>
          </a:xfrm>
          <a:prstGeom prst="rect">
            <a:avLst/>
          </a:prstGeom>
          <a:solidFill>
            <a:srgbClr val="FFFFFF"/>
          </a:solidFill>
          <a:ln w="9525">
            <a:solidFill>
              <a:srgbClr val="E3EBF0"/>
            </a:solidFill>
            <a:prstDash val="solid"/>
          </a:ln>
        </p:spPr>
      </p:sp>
      <p:sp>
        <p:nvSpPr>
          <p:cNvPr id="15" name="Text 13"/>
          <p:cNvSpPr/>
          <p:nvPr/>
        </p:nvSpPr>
        <p:spPr>
          <a:xfrm>
            <a:off x="2487168" y="2167128"/>
            <a:ext cx="471830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Proportion of answers judged correct on review</a:t>
            </a:r>
            <a:endParaRPr lang="en-US" sz="1050" dirty="0"/>
          </a:p>
        </p:txBody>
      </p:sp>
      <p:sp>
        <p:nvSpPr>
          <p:cNvPr id="16" name="Shape 14"/>
          <p:cNvSpPr/>
          <p:nvPr/>
        </p:nvSpPr>
        <p:spPr>
          <a:xfrm>
            <a:off x="7315200" y="2167128"/>
            <a:ext cx="4206240" cy="512064"/>
          </a:xfrm>
          <a:prstGeom prst="rect">
            <a:avLst/>
          </a:prstGeom>
          <a:solidFill>
            <a:srgbClr val="FFFFFF"/>
          </a:solidFill>
          <a:ln w="9525">
            <a:solidFill>
              <a:srgbClr val="E3EBF0"/>
            </a:solidFill>
            <a:prstDash val="solid"/>
          </a:ln>
        </p:spPr>
      </p:sp>
      <p:sp>
        <p:nvSpPr>
          <p:cNvPr id="17" name="Text 15"/>
          <p:cNvSpPr/>
          <p:nvPr/>
        </p:nvSpPr>
        <p:spPr>
          <a:xfrm>
            <a:off x="7424928" y="2167128"/>
            <a:ext cx="398678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 92% over a rolling 30 days</a:t>
            </a:r>
            <a:endParaRPr lang="en-US" sz="1050" dirty="0"/>
          </a:p>
        </p:txBody>
      </p:sp>
      <p:sp>
        <p:nvSpPr>
          <p:cNvPr id="18" name="Shape 16"/>
          <p:cNvSpPr/>
          <p:nvPr/>
        </p:nvSpPr>
        <p:spPr>
          <a:xfrm>
            <a:off x="640080" y="2679192"/>
            <a:ext cx="1737360" cy="512064"/>
          </a:xfrm>
          <a:prstGeom prst="rect">
            <a:avLst/>
          </a:prstGeom>
          <a:solidFill>
            <a:srgbClr val="F5F9FB"/>
          </a:solidFill>
          <a:ln w="9525">
            <a:solidFill>
              <a:srgbClr val="E3EBF0"/>
            </a:solidFill>
            <a:prstDash val="solid"/>
          </a:ln>
        </p:spPr>
      </p:sp>
      <p:sp>
        <p:nvSpPr>
          <p:cNvPr id="19" name="Text 17"/>
          <p:cNvSpPr/>
          <p:nvPr/>
        </p:nvSpPr>
        <p:spPr>
          <a:xfrm>
            <a:off x="749808" y="2679192"/>
            <a:ext cx="1517904" cy="51206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Safety</a:t>
            </a:r>
            <a:endParaRPr lang="en-US" sz="1050" dirty="0"/>
          </a:p>
        </p:txBody>
      </p:sp>
      <p:sp>
        <p:nvSpPr>
          <p:cNvPr id="20" name="Shape 18"/>
          <p:cNvSpPr/>
          <p:nvPr/>
        </p:nvSpPr>
        <p:spPr>
          <a:xfrm>
            <a:off x="2377440" y="2679192"/>
            <a:ext cx="4937760" cy="512064"/>
          </a:xfrm>
          <a:prstGeom prst="rect">
            <a:avLst/>
          </a:prstGeom>
          <a:solidFill>
            <a:srgbClr val="F5F9FB"/>
          </a:solidFill>
          <a:ln w="9525">
            <a:solidFill>
              <a:srgbClr val="E3EBF0"/>
            </a:solidFill>
            <a:prstDash val="solid"/>
          </a:ln>
        </p:spPr>
      </p:sp>
      <p:sp>
        <p:nvSpPr>
          <p:cNvPr id="21" name="Text 19"/>
          <p:cNvSpPr/>
          <p:nvPr/>
        </p:nvSpPr>
        <p:spPr>
          <a:xfrm>
            <a:off x="2487168" y="2679192"/>
            <a:ext cx="471830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Rate of policy violations or unsafe outputs</a:t>
            </a:r>
            <a:endParaRPr lang="en-US" sz="1050" dirty="0"/>
          </a:p>
        </p:txBody>
      </p:sp>
      <p:sp>
        <p:nvSpPr>
          <p:cNvPr id="22" name="Shape 20"/>
          <p:cNvSpPr/>
          <p:nvPr/>
        </p:nvSpPr>
        <p:spPr>
          <a:xfrm>
            <a:off x="7315200" y="2679192"/>
            <a:ext cx="4206240" cy="512064"/>
          </a:xfrm>
          <a:prstGeom prst="rect">
            <a:avLst/>
          </a:prstGeom>
          <a:solidFill>
            <a:srgbClr val="F5F9FB"/>
          </a:solidFill>
          <a:ln w="9525">
            <a:solidFill>
              <a:srgbClr val="E3EBF0"/>
            </a:solidFill>
            <a:prstDash val="solid"/>
          </a:ln>
        </p:spPr>
      </p:sp>
      <p:sp>
        <p:nvSpPr>
          <p:cNvPr id="23" name="Text 21"/>
          <p:cNvSpPr/>
          <p:nvPr/>
        </p:nvSpPr>
        <p:spPr>
          <a:xfrm>
            <a:off x="7424928" y="2679192"/>
            <a:ext cx="398678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 0.1% of requests</a:t>
            </a:r>
            <a:endParaRPr lang="en-US" sz="1050" dirty="0"/>
          </a:p>
        </p:txBody>
      </p:sp>
      <p:sp>
        <p:nvSpPr>
          <p:cNvPr id="24" name="Shape 22"/>
          <p:cNvSpPr/>
          <p:nvPr/>
        </p:nvSpPr>
        <p:spPr>
          <a:xfrm>
            <a:off x="640080" y="3191256"/>
            <a:ext cx="1737360" cy="512064"/>
          </a:xfrm>
          <a:prstGeom prst="rect">
            <a:avLst/>
          </a:prstGeom>
          <a:solidFill>
            <a:srgbClr val="FFFFFF"/>
          </a:solidFill>
          <a:ln w="9525">
            <a:solidFill>
              <a:srgbClr val="E3EBF0"/>
            </a:solidFill>
            <a:prstDash val="solid"/>
          </a:ln>
        </p:spPr>
      </p:sp>
      <p:sp>
        <p:nvSpPr>
          <p:cNvPr id="25" name="Text 23"/>
          <p:cNvSpPr/>
          <p:nvPr/>
        </p:nvSpPr>
        <p:spPr>
          <a:xfrm>
            <a:off x="749808" y="3191256"/>
            <a:ext cx="1517904" cy="51206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Coverage</a:t>
            </a:r>
            <a:endParaRPr lang="en-US" sz="1050" dirty="0"/>
          </a:p>
        </p:txBody>
      </p:sp>
      <p:sp>
        <p:nvSpPr>
          <p:cNvPr id="26" name="Shape 24"/>
          <p:cNvSpPr/>
          <p:nvPr/>
        </p:nvSpPr>
        <p:spPr>
          <a:xfrm>
            <a:off x="2377440" y="3191256"/>
            <a:ext cx="4937760" cy="512064"/>
          </a:xfrm>
          <a:prstGeom prst="rect">
            <a:avLst/>
          </a:prstGeom>
          <a:solidFill>
            <a:srgbClr val="FFFFFF"/>
          </a:solidFill>
          <a:ln w="9525">
            <a:solidFill>
              <a:srgbClr val="E3EBF0"/>
            </a:solidFill>
            <a:prstDash val="solid"/>
          </a:ln>
        </p:spPr>
      </p:sp>
      <p:sp>
        <p:nvSpPr>
          <p:cNvPr id="27" name="Text 25"/>
          <p:cNvSpPr/>
          <p:nvPr/>
        </p:nvSpPr>
        <p:spPr>
          <a:xfrm>
            <a:off x="2487168" y="3191256"/>
            <a:ext cx="471830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Proportion answered without escalation</a:t>
            </a:r>
            <a:endParaRPr lang="en-US" sz="1050" dirty="0"/>
          </a:p>
        </p:txBody>
      </p:sp>
      <p:sp>
        <p:nvSpPr>
          <p:cNvPr id="28" name="Shape 26"/>
          <p:cNvSpPr/>
          <p:nvPr/>
        </p:nvSpPr>
        <p:spPr>
          <a:xfrm>
            <a:off x="7315200" y="3191256"/>
            <a:ext cx="4206240" cy="512064"/>
          </a:xfrm>
          <a:prstGeom prst="rect">
            <a:avLst/>
          </a:prstGeom>
          <a:solidFill>
            <a:srgbClr val="FFFFFF"/>
          </a:solidFill>
          <a:ln w="9525">
            <a:solidFill>
              <a:srgbClr val="E3EBF0"/>
            </a:solidFill>
            <a:prstDash val="solid"/>
          </a:ln>
        </p:spPr>
      </p:sp>
      <p:sp>
        <p:nvSpPr>
          <p:cNvPr id="29" name="Text 27"/>
          <p:cNvSpPr/>
          <p:nvPr/>
        </p:nvSpPr>
        <p:spPr>
          <a:xfrm>
            <a:off x="7424928" y="3191256"/>
            <a:ext cx="398678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 70% automated</a:t>
            </a:r>
            <a:endParaRPr lang="en-US" sz="1050" dirty="0"/>
          </a:p>
        </p:txBody>
      </p:sp>
      <p:sp>
        <p:nvSpPr>
          <p:cNvPr id="30" name="Shape 28"/>
          <p:cNvSpPr/>
          <p:nvPr/>
        </p:nvSpPr>
        <p:spPr>
          <a:xfrm>
            <a:off x="640080" y="3703320"/>
            <a:ext cx="1737360" cy="512064"/>
          </a:xfrm>
          <a:prstGeom prst="rect">
            <a:avLst/>
          </a:prstGeom>
          <a:solidFill>
            <a:srgbClr val="F5F9FB"/>
          </a:solidFill>
          <a:ln w="9525">
            <a:solidFill>
              <a:srgbClr val="E3EBF0"/>
            </a:solidFill>
            <a:prstDash val="solid"/>
          </a:ln>
        </p:spPr>
      </p:sp>
      <p:sp>
        <p:nvSpPr>
          <p:cNvPr id="31" name="Text 29"/>
          <p:cNvSpPr/>
          <p:nvPr/>
        </p:nvSpPr>
        <p:spPr>
          <a:xfrm>
            <a:off x="749808" y="3703320"/>
            <a:ext cx="1517904" cy="51206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Latency</a:t>
            </a:r>
            <a:endParaRPr lang="en-US" sz="1050" dirty="0"/>
          </a:p>
        </p:txBody>
      </p:sp>
      <p:sp>
        <p:nvSpPr>
          <p:cNvPr id="32" name="Shape 30"/>
          <p:cNvSpPr/>
          <p:nvPr/>
        </p:nvSpPr>
        <p:spPr>
          <a:xfrm>
            <a:off x="2377440" y="3703320"/>
            <a:ext cx="4937760" cy="512064"/>
          </a:xfrm>
          <a:prstGeom prst="rect">
            <a:avLst/>
          </a:prstGeom>
          <a:solidFill>
            <a:srgbClr val="F5F9FB"/>
          </a:solidFill>
          <a:ln w="9525">
            <a:solidFill>
              <a:srgbClr val="E3EBF0"/>
            </a:solidFill>
            <a:prstDash val="solid"/>
          </a:ln>
        </p:spPr>
      </p:sp>
      <p:sp>
        <p:nvSpPr>
          <p:cNvPr id="33" name="Text 31"/>
          <p:cNvSpPr/>
          <p:nvPr/>
        </p:nvSpPr>
        <p:spPr>
          <a:xfrm>
            <a:off x="2487168" y="3703320"/>
            <a:ext cx="471830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95th percentile end-to-end response time</a:t>
            </a:r>
            <a:endParaRPr lang="en-US" sz="1050" dirty="0"/>
          </a:p>
        </p:txBody>
      </p:sp>
      <p:sp>
        <p:nvSpPr>
          <p:cNvPr id="34" name="Shape 32"/>
          <p:cNvSpPr/>
          <p:nvPr/>
        </p:nvSpPr>
        <p:spPr>
          <a:xfrm>
            <a:off x="7315200" y="3703320"/>
            <a:ext cx="4206240" cy="512064"/>
          </a:xfrm>
          <a:prstGeom prst="rect">
            <a:avLst/>
          </a:prstGeom>
          <a:solidFill>
            <a:srgbClr val="F5F9FB"/>
          </a:solidFill>
          <a:ln w="9525">
            <a:solidFill>
              <a:srgbClr val="E3EBF0"/>
            </a:solidFill>
            <a:prstDash val="solid"/>
          </a:ln>
        </p:spPr>
      </p:sp>
      <p:sp>
        <p:nvSpPr>
          <p:cNvPr id="35" name="Text 33"/>
          <p:cNvSpPr/>
          <p:nvPr/>
        </p:nvSpPr>
        <p:spPr>
          <a:xfrm>
            <a:off x="7424928" y="3703320"/>
            <a:ext cx="398678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 4 seconds</a:t>
            </a:r>
            <a:endParaRPr lang="en-US" sz="1050" dirty="0"/>
          </a:p>
        </p:txBody>
      </p:sp>
      <p:sp>
        <p:nvSpPr>
          <p:cNvPr id="36" name="Shape 34"/>
          <p:cNvSpPr/>
          <p:nvPr/>
        </p:nvSpPr>
        <p:spPr>
          <a:xfrm>
            <a:off x="640080" y="4215384"/>
            <a:ext cx="1737360" cy="512064"/>
          </a:xfrm>
          <a:prstGeom prst="rect">
            <a:avLst/>
          </a:prstGeom>
          <a:solidFill>
            <a:srgbClr val="FFFFFF"/>
          </a:solidFill>
          <a:ln w="9525">
            <a:solidFill>
              <a:srgbClr val="E3EBF0"/>
            </a:solidFill>
            <a:prstDash val="solid"/>
          </a:ln>
        </p:spPr>
      </p:sp>
      <p:sp>
        <p:nvSpPr>
          <p:cNvPr id="37" name="Text 35"/>
          <p:cNvSpPr/>
          <p:nvPr/>
        </p:nvSpPr>
        <p:spPr>
          <a:xfrm>
            <a:off x="749808" y="4215384"/>
            <a:ext cx="1517904" cy="51206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Cost</a:t>
            </a:r>
            <a:endParaRPr lang="en-US" sz="1050" dirty="0"/>
          </a:p>
        </p:txBody>
      </p:sp>
      <p:sp>
        <p:nvSpPr>
          <p:cNvPr id="38" name="Shape 36"/>
          <p:cNvSpPr/>
          <p:nvPr/>
        </p:nvSpPr>
        <p:spPr>
          <a:xfrm>
            <a:off x="2377440" y="4215384"/>
            <a:ext cx="4937760" cy="512064"/>
          </a:xfrm>
          <a:prstGeom prst="rect">
            <a:avLst/>
          </a:prstGeom>
          <a:solidFill>
            <a:srgbClr val="FFFFFF"/>
          </a:solidFill>
          <a:ln w="9525">
            <a:solidFill>
              <a:srgbClr val="E3EBF0"/>
            </a:solidFill>
            <a:prstDash val="solid"/>
          </a:ln>
        </p:spPr>
      </p:sp>
      <p:sp>
        <p:nvSpPr>
          <p:cNvPr id="39" name="Text 37"/>
          <p:cNvSpPr/>
          <p:nvPr/>
        </p:nvSpPr>
        <p:spPr>
          <a:xfrm>
            <a:off x="2487168" y="4215384"/>
            <a:ext cx="471830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Cost per successful resolution</a:t>
            </a:r>
            <a:endParaRPr lang="en-US" sz="1050" dirty="0"/>
          </a:p>
        </p:txBody>
      </p:sp>
      <p:sp>
        <p:nvSpPr>
          <p:cNvPr id="40" name="Shape 38"/>
          <p:cNvSpPr/>
          <p:nvPr/>
        </p:nvSpPr>
        <p:spPr>
          <a:xfrm>
            <a:off x="7315200" y="4215384"/>
            <a:ext cx="4206240" cy="512064"/>
          </a:xfrm>
          <a:prstGeom prst="rect">
            <a:avLst/>
          </a:prstGeom>
          <a:solidFill>
            <a:srgbClr val="FFFFFF"/>
          </a:solidFill>
          <a:ln w="9525">
            <a:solidFill>
              <a:srgbClr val="E3EBF0"/>
            </a:solidFill>
            <a:prstDash val="solid"/>
          </a:ln>
        </p:spPr>
      </p:sp>
      <p:sp>
        <p:nvSpPr>
          <p:cNvPr id="41" name="Text 39"/>
          <p:cNvSpPr/>
          <p:nvPr/>
        </p:nvSpPr>
        <p:spPr>
          <a:xfrm>
            <a:off x="7424928" y="4215384"/>
            <a:ext cx="398678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 ₹12 per query</a:t>
            </a:r>
            <a:endParaRPr lang="en-US" sz="1050" dirty="0"/>
          </a:p>
        </p:txBody>
      </p:sp>
      <p:sp>
        <p:nvSpPr>
          <p:cNvPr id="42" name="Shape 40"/>
          <p:cNvSpPr/>
          <p:nvPr/>
        </p:nvSpPr>
        <p:spPr>
          <a:xfrm>
            <a:off x="640080" y="4727448"/>
            <a:ext cx="1737360" cy="512064"/>
          </a:xfrm>
          <a:prstGeom prst="rect">
            <a:avLst/>
          </a:prstGeom>
          <a:solidFill>
            <a:srgbClr val="F5F9FB"/>
          </a:solidFill>
          <a:ln w="9525">
            <a:solidFill>
              <a:srgbClr val="E3EBF0"/>
            </a:solidFill>
            <a:prstDash val="solid"/>
          </a:ln>
        </p:spPr>
      </p:sp>
      <p:sp>
        <p:nvSpPr>
          <p:cNvPr id="43" name="Text 41"/>
          <p:cNvSpPr/>
          <p:nvPr/>
        </p:nvSpPr>
        <p:spPr>
          <a:xfrm>
            <a:off x="749808" y="4727448"/>
            <a:ext cx="1517904" cy="51206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Availability</a:t>
            </a:r>
            <a:endParaRPr lang="en-US" sz="1050" dirty="0"/>
          </a:p>
        </p:txBody>
      </p:sp>
      <p:sp>
        <p:nvSpPr>
          <p:cNvPr id="44" name="Shape 42"/>
          <p:cNvSpPr/>
          <p:nvPr/>
        </p:nvSpPr>
        <p:spPr>
          <a:xfrm>
            <a:off x="2377440" y="4727448"/>
            <a:ext cx="4937760" cy="512064"/>
          </a:xfrm>
          <a:prstGeom prst="rect">
            <a:avLst/>
          </a:prstGeom>
          <a:solidFill>
            <a:srgbClr val="F5F9FB"/>
          </a:solidFill>
          <a:ln w="9525">
            <a:solidFill>
              <a:srgbClr val="E3EBF0"/>
            </a:solidFill>
            <a:prstDash val="solid"/>
          </a:ln>
        </p:spPr>
      </p:sp>
      <p:sp>
        <p:nvSpPr>
          <p:cNvPr id="45" name="Text 43"/>
          <p:cNvSpPr/>
          <p:nvPr/>
        </p:nvSpPr>
        <p:spPr>
          <a:xfrm>
            <a:off x="2487168" y="4727448"/>
            <a:ext cx="471830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Successful responses / total requests</a:t>
            </a:r>
            <a:endParaRPr lang="en-US" sz="1050" dirty="0"/>
          </a:p>
        </p:txBody>
      </p:sp>
      <p:sp>
        <p:nvSpPr>
          <p:cNvPr id="46" name="Shape 44"/>
          <p:cNvSpPr/>
          <p:nvPr/>
        </p:nvSpPr>
        <p:spPr>
          <a:xfrm>
            <a:off x="7315200" y="4727448"/>
            <a:ext cx="4206240" cy="512064"/>
          </a:xfrm>
          <a:prstGeom prst="rect">
            <a:avLst/>
          </a:prstGeom>
          <a:solidFill>
            <a:srgbClr val="F5F9FB"/>
          </a:solidFill>
          <a:ln w="9525">
            <a:solidFill>
              <a:srgbClr val="E3EBF0"/>
            </a:solidFill>
            <a:prstDash val="solid"/>
          </a:ln>
        </p:spPr>
      </p:sp>
      <p:sp>
        <p:nvSpPr>
          <p:cNvPr id="47" name="Text 45"/>
          <p:cNvSpPr/>
          <p:nvPr/>
        </p:nvSpPr>
        <p:spPr>
          <a:xfrm>
            <a:off x="7424928" y="4727448"/>
            <a:ext cx="3986784" cy="51206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 99.5%</a:t>
            </a:r>
            <a:endParaRPr lang="en-US" sz="1050" dirty="0"/>
          </a:p>
        </p:txBody>
      </p:sp>
      <p:sp>
        <p:nvSpPr>
          <p:cNvPr id="48" name="Text 46"/>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Quality alone is not an SLO set. A system that is accurate, slow, expensive and unavailable has still failed.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There is no single "accuracy" — metrics are use-case specific</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640080" y="1280160"/>
            <a:ext cx="2743200" cy="384048"/>
          </a:xfrm>
          <a:prstGeom prst="rect">
            <a:avLst/>
          </a:prstGeom>
          <a:solidFill>
            <a:srgbClr val="21295C"/>
          </a:solidFill>
          <a:ln/>
        </p:spPr>
      </p:sp>
      <p:sp>
        <p:nvSpPr>
          <p:cNvPr id="6" name="Text 4"/>
          <p:cNvSpPr/>
          <p:nvPr/>
        </p:nvSpPr>
        <p:spPr>
          <a:xfrm>
            <a:off x="749808" y="1280160"/>
            <a:ext cx="25237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System type</a:t>
            </a:r>
            <a:endParaRPr lang="en-US" sz="1100" dirty="0"/>
          </a:p>
        </p:txBody>
      </p:sp>
      <p:sp>
        <p:nvSpPr>
          <p:cNvPr id="7" name="Shape 5"/>
          <p:cNvSpPr/>
          <p:nvPr/>
        </p:nvSpPr>
        <p:spPr>
          <a:xfrm>
            <a:off x="3383280" y="1280160"/>
            <a:ext cx="8138160" cy="384048"/>
          </a:xfrm>
          <a:prstGeom prst="rect">
            <a:avLst/>
          </a:prstGeom>
          <a:solidFill>
            <a:srgbClr val="21295C"/>
          </a:solidFill>
          <a:ln/>
        </p:spPr>
      </p:sp>
      <p:sp>
        <p:nvSpPr>
          <p:cNvPr id="8" name="Text 6"/>
          <p:cNvSpPr/>
          <p:nvPr/>
        </p:nvSpPr>
        <p:spPr>
          <a:xfrm>
            <a:off x="3493008" y="1280160"/>
            <a:ext cx="79187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Metrics that actually define quality</a:t>
            </a:r>
            <a:endParaRPr lang="en-US" sz="1100" dirty="0"/>
          </a:p>
        </p:txBody>
      </p:sp>
      <p:sp>
        <p:nvSpPr>
          <p:cNvPr id="9" name="Shape 7"/>
          <p:cNvSpPr/>
          <p:nvPr/>
        </p:nvSpPr>
        <p:spPr>
          <a:xfrm>
            <a:off x="640080" y="1664208"/>
            <a:ext cx="2743200" cy="530352"/>
          </a:xfrm>
          <a:prstGeom prst="rect">
            <a:avLst/>
          </a:prstGeom>
          <a:solidFill>
            <a:srgbClr val="FFFFFF"/>
          </a:solidFill>
          <a:ln w="9525">
            <a:solidFill>
              <a:srgbClr val="E3EBF0"/>
            </a:solidFill>
            <a:prstDash val="solid"/>
          </a:ln>
        </p:spPr>
      </p:sp>
      <p:sp>
        <p:nvSpPr>
          <p:cNvPr id="10" name="Text 8"/>
          <p:cNvSpPr/>
          <p:nvPr/>
        </p:nvSpPr>
        <p:spPr>
          <a:xfrm>
            <a:off x="749808" y="1664208"/>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Classification</a:t>
            </a:r>
            <a:endParaRPr lang="en-US" sz="1050" dirty="0"/>
          </a:p>
        </p:txBody>
      </p:sp>
      <p:sp>
        <p:nvSpPr>
          <p:cNvPr id="11" name="Shape 9"/>
          <p:cNvSpPr/>
          <p:nvPr/>
        </p:nvSpPr>
        <p:spPr>
          <a:xfrm>
            <a:off x="3383280" y="1664208"/>
            <a:ext cx="8138160" cy="530352"/>
          </a:xfrm>
          <a:prstGeom prst="rect">
            <a:avLst/>
          </a:prstGeom>
          <a:solidFill>
            <a:srgbClr val="FFFFFF"/>
          </a:solidFill>
          <a:ln w="9525">
            <a:solidFill>
              <a:srgbClr val="E3EBF0"/>
            </a:solidFill>
            <a:prstDash val="solid"/>
          </a:ln>
        </p:spPr>
      </p:sp>
      <p:sp>
        <p:nvSpPr>
          <p:cNvPr id="12" name="Text 10"/>
          <p:cNvSpPr/>
          <p:nvPr/>
        </p:nvSpPr>
        <p:spPr>
          <a:xfrm>
            <a:off x="3493008" y="1664208"/>
            <a:ext cx="791870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Accuracy, precision, recall, F1, ROC-AUC, PR-AUC, calibration error</a:t>
            </a:r>
            <a:endParaRPr lang="en-US" sz="1050" dirty="0"/>
          </a:p>
        </p:txBody>
      </p:sp>
      <p:sp>
        <p:nvSpPr>
          <p:cNvPr id="13" name="Shape 11"/>
          <p:cNvSpPr/>
          <p:nvPr/>
        </p:nvSpPr>
        <p:spPr>
          <a:xfrm>
            <a:off x="640080" y="2194560"/>
            <a:ext cx="2743200" cy="530352"/>
          </a:xfrm>
          <a:prstGeom prst="rect">
            <a:avLst/>
          </a:prstGeom>
          <a:solidFill>
            <a:srgbClr val="F5F9FB"/>
          </a:solidFill>
          <a:ln w="9525">
            <a:solidFill>
              <a:srgbClr val="E3EBF0"/>
            </a:solidFill>
            <a:prstDash val="solid"/>
          </a:ln>
        </p:spPr>
      </p:sp>
      <p:sp>
        <p:nvSpPr>
          <p:cNvPr id="14" name="Text 12"/>
          <p:cNvSpPr/>
          <p:nvPr/>
        </p:nvSpPr>
        <p:spPr>
          <a:xfrm>
            <a:off x="749808" y="2194560"/>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Defect detection / vision</a:t>
            </a:r>
            <a:endParaRPr lang="en-US" sz="1050" dirty="0"/>
          </a:p>
        </p:txBody>
      </p:sp>
      <p:sp>
        <p:nvSpPr>
          <p:cNvPr id="15" name="Shape 13"/>
          <p:cNvSpPr/>
          <p:nvPr/>
        </p:nvSpPr>
        <p:spPr>
          <a:xfrm>
            <a:off x="3383280" y="2194560"/>
            <a:ext cx="8138160" cy="530352"/>
          </a:xfrm>
          <a:prstGeom prst="rect">
            <a:avLst/>
          </a:prstGeom>
          <a:solidFill>
            <a:srgbClr val="F5F9FB"/>
          </a:solidFill>
          <a:ln w="9525">
            <a:solidFill>
              <a:srgbClr val="E3EBF0"/>
            </a:solidFill>
            <a:prstDash val="solid"/>
          </a:ln>
        </p:spPr>
      </p:sp>
      <p:sp>
        <p:nvSpPr>
          <p:cNvPr id="16" name="Text 14"/>
          <p:cNvSpPr/>
          <p:nvPr/>
        </p:nvSpPr>
        <p:spPr>
          <a:xfrm>
            <a:off x="3493008" y="2194560"/>
            <a:ext cx="791870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mAP, false rejection rate, false acceptance rate, small-object recall, per-class recall</a:t>
            </a:r>
            <a:endParaRPr lang="en-US" sz="1050" dirty="0"/>
          </a:p>
        </p:txBody>
      </p:sp>
      <p:sp>
        <p:nvSpPr>
          <p:cNvPr id="17" name="Shape 15"/>
          <p:cNvSpPr/>
          <p:nvPr/>
        </p:nvSpPr>
        <p:spPr>
          <a:xfrm>
            <a:off x="640080" y="2724912"/>
            <a:ext cx="2743200" cy="530352"/>
          </a:xfrm>
          <a:prstGeom prst="rect">
            <a:avLst/>
          </a:prstGeom>
          <a:solidFill>
            <a:srgbClr val="FFFFFF"/>
          </a:solidFill>
          <a:ln w="9525">
            <a:solidFill>
              <a:srgbClr val="E3EBF0"/>
            </a:solidFill>
            <a:prstDash val="solid"/>
          </a:ln>
        </p:spPr>
      </p:sp>
      <p:sp>
        <p:nvSpPr>
          <p:cNvPr id="18" name="Text 16"/>
          <p:cNvSpPr/>
          <p:nvPr/>
        </p:nvSpPr>
        <p:spPr>
          <a:xfrm>
            <a:off x="749808" y="2724912"/>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RAG systems</a:t>
            </a:r>
            <a:endParaRPr lang="en-US" sz="1050" dirty="0"/>
          </a:p>
        </p:txBody>
      </p:sp>
      <p:sp>
        <p:nvSpPr>
          <p:cNvPr id="19" name="Shape 17"/>
          <p:cNvSpPr/>
          <p:nvPr/>
        </p:nvSpPr>
        <p:spPr>
          <a:xfrm>
            <a:off x="3383280" y="2724912"/>
            <a:ext cx="8138160" cy="530352"/>
          </a:xfrm>
          <a:prstGeom prst="rect">
            <a:avLst/>
          </a:prstGeom>
          <a:solidFill>
            <a:srgbClr val="FFFFFF"/>
          </a:solidFill>
          <a:ln w="9525">
            <a:solidFill>
              <a:srgbClr val="E3EBF0"/>
            </a:solidFill>
            <a:prstDash val="solid"/>
          </a:ln>
        </p:spPr>
      </p:sp>
      <p:sp>
        <p:nvSpPr>
          <p:cNvPr id="20" name="Text 18"/>
          <p:cNvSpPr/>
          <p:nvPr/>
        </p:nvSpPr>
        <p:spPr>
          <a:xfrm>
            <a:off x="3493008" y="2724912"/>
            <a:ext cx="791870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Context precision, context recall, faithfulness, answer relevance, citation accuracy, no-answer accuracy</a:t>
            </a:r>
            <a:endParaRPr lang="en-US" sz="1050" dirty="0"/>
          </a:p>
        </p:txBody>
      </p:sp>
      <p:sp>
        <p:nvSpPr>
          <p:cNvPr id="21" name="Shape 19"/>
          <p:cNvSpPr/>
          <p:nvPr/>
        </p:nvSpPr>
        <p:spPr>
          <a:xfrm>
            <a:off x="640080" y="3255264"/>
            <a:ext cx="2743200" cy="530352"/>
          </a:xfrm>
          <a:prstGeom prst="rect">
            <a:avLst/>
          </a:prstGeom>
          <a:solidFill>
            <a:srgbClr val="F5F9FB"/>
          </a:solidFill>
          <a:ln w="9525">
            <a:solidFill>
              <a:srgbClr val="E3EBF0"/>
            </a:solidFill>
            <a:prstDash val="solid"/>
          </a:ln>
        </p:spPr>
      </p:sp>
      <p:sp>
        <p:nvSpPr>
          <p:cNvPr id="22" name="Text 20"/>
          <p:cNvSpPr/>
          <p:nvPr/>
        </p:nvSpPr>
        <p:spPr>
          <a:xfrm>
            <a:off x="749808" y="3255264"/>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Predictive maintenance</a:t>
            </a:r>
            <a:endParaRPr lang="en-US" sz="1050" dirty="0"/>
          </a:p>
        </p:txBody>
      </p:sp>
      <p:sp>
        <p:nvSpPr>
          <p:cNvPr id="23" name="Shape 21"/>
          <p:cNvSpPr/>
          <p:nvPr/>
        </p:nvSpPr>
        <p:spPr>
          <a:xfrm>
            <a:off x="3383280" y="3255264"/>
            <a:ext cx="8138160" cy="530352"/>
          </a:xfrm>
          <a:prstGeom prst="rect">
            <a:avLst/>
          </a:prstGeom>
          <a:solidFill>
            <a:srgbClr val="F5F9FB"/>
          </a:solidFill>
          <a:ln w="9525">
            <a:solidFill>
              <a:srgbClr val="E3EBF0"/>
            </a:solidFill>
            <a:prstDash val="solid"/>
          </a:ln>
        </p:spPr>
      </p:sp>
      <p:sp>
        <p:nvSpPr>
          <p:cNvPr id="24" name="Text 22"/>
          <p:cNvSpPr/>
          <p:nvPr/>
        </p:nvSpPr>
        <p:spPr>
          <a:xfrm>
            <a:off x="3493008" y="3255264"/>
            <a:ext cx="791870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Precision, recall, lead-time distribution, false alarm rate per asset-month, missed failure rate</a:t>
            </a:r>
            <a:endParaRPr lang="en-US" sz="1050" dirty="0"/>
          </a:p>
        </p:txBody>
      </p:sp>
      <p:sp>
        <p:nvSpPr>
          <p:cNvPr id="25" name="Shape 23"/>
          <p:cNvSpPr/>
          <p:nvPr/>
        </p:nvSpPr>
        <p:spPr>
          <a:xfrm>
            <a:off x="640080" y="3785616"/>
            <a:ext cx="2743200" cy="530352"/>
          </a:xfrm>
          <a:prstGeom prst="rect">
            <a:avLst/>
          </a:prstGeom>
          <a:solidFill>
            <a:srgbClr val="FFFFFF"/>
          </a:solidFill>
          <a:ln w="9525">
            <a:solidFill>
              <a:srgbClr val="E3EBF0"/>
            </a:solidFill>
            <a:prstDash val="solid"/>
          </a:ln>
        </p:spPr>
      </p:sp>
      <p:sp>
        <p:nvSpPr>
          <p:cNvPr id="26" name="Text 24"/>
          <p:cNvSpPr/>
          <p:nvPr/>
        </p:nvSpPr>
        <p:spPr>
          <a:xfrm>
            <a:off x="749808" y="3785616"/>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Generative AI</a:t>
            </a:r>
            <a:endParaRPr lang="en-US" sz="1050" dirty="0"/>
          </a:p>
        </p:txBody>
      </p:sp>
      <p:sp>
        <p:nvSpPr>
          <p:cNvPr id="27" name="Shape 25"/>
          <p:cNvSpPr/>
          <p:nvPr/>
        </p:nvSpPr>
        <p:spPr>
          <a:xfrm>
            <a:off x="3383280" y="3785616"/>
            <a:ext cx="8138160" cy="530352"/>
          </a:xfrm>
          <a:prstGeom prst="rect">
            <a:avLst/>
          </a:prstGeom>
          <a:solidFill>
            <a:srgbClr val="FFFFFF"/>
          </a:solidFill>
          <a:ln w="9525">
            <a:solidFill>
              <a:srgbClr val="E3EBF0"/>
            </a:solidFill>
            <a:prstDash val="solid"/>
          </a:ln>
        </p:spPr>
      </p:sp>
      <p:sp>
        <p:nvSpPr>
          <p:cNvPr id="28" name="Text 26"/>
          <p:cNvSpPr/>
          <p:nvPr/>
        </p:nvSpPr>
        <p:spPr>
          <a:xfrm>
            <a:off x="3493008" y="3785616"/>
            <a:ext cx="791870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Groundedness, hallucination rate, policy compliance, latency, cost per query</a:t>
            </a:r>
            <a:endParaRPr lang="en-US" sz="1050" dirty="0"/>
          </a:p>
        </p:txBody>
      </p:sp>
      <p:sp>
        <p:nvSpPr>
          <p:cNvPr id="29" name="Shape 27"/>
          <p:cNvSpPr/>
          <p:nvPr/>
        </p:nvSpPr>
        <p:spPr>
          <a:xfrm>
            <a:off x="640080" y="4315968"/>
            <a:ext cx="2743200" cy="530352"/>
          </a:xfrm>
          <a:prstGeom prst="rect">
            <a:avLst/>
          </a:prstGeom>
          <a:solidFill>
            <a:srgbClr val="F5F9FB"/>
          </a:solidFill>
          <a:ln w="9525">
            <a:solidFill>
              <a:srgbClr val="E3EBF0"/>
            </a:solidFill>
            <a:prstDash val="solid"/>
          </a:ln>
        </p:spPr>
      </p:sp>
      <p:sp>
        <p:nvSpPr>
          <p:cNvPr id="30" name="Text 28"/>
          <p:cNvSpPr/>
          <p:nvPr/>
        </p:nvSpPr>
        <p:spPr>
          <a:xfrm>
            <a:off x="749808" y="4315968"/>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Agentic systems</a:t>
            </a:r>
            <a:endParaRPr lang="en-US" sz="1050" dirty="0"/>
          </a:p>
        </p:txBody>
      </p:sp>
      <p:sp>
        <p:nvSpPr>
          <p:cNvPr id="31" name="Shape 29"/>
          <p:cNvSpPr/>
          <p:nvPr/>
        </p:nvSpPr>
        <p:spPr>
          <a:xfrm>
            <a:off x="3383280" y="4315968"/>
            <a:ext cx="8138160" cy="530352"/>
          </a:xfrm>
          <a:prstGeom prst="rect">
            <a:avLst/>
          </a:prstGeom>
          <a:solidFill>
            <a:srgbClr val="F5F9FB"/>
          </a:solidFill>
          <a:ln w="9525">
            <a:solidFill>
              <a:srgbClr val="E3EBF0"/>
            </a:solidFill>
            <a:prstDash val="solid"/>
          </a:ln>
        </p:spPr>
      </p:sp>
      <p:sp>
        <p:nvSpPr>
          <p:cNvPr id="32" name="Text 30"/>
          <p:cNvSpPr/>
          <p:nvPr/>
        </p:nvSpPr>
        <p:spPr>
          <a:xfrm>
            <a:off x="3493008" y="4315968"/>
            <a:ext cx="791870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Task completion rate, per-step success, tool-call accuracy, escalation rate, safety violation rate</a:t>
            </a:r>
            <a:endParaRPr lang="en-US" sz="1050" dirty="0"/>
          </a:p>
        </p:txBody>
      </p:sp>
      <p:sp>
        <p:nvSpPr>
          <p:cNvPr id="33" name="Shape 31"/>
          <p:cNvSpPr/>
          <p:nvPr/>
        </p:nvSpPr>
        <p:spPr>
          <a:xfrm>
            <a:off x="640080" y="4846320"/>
            <a:ext cx="2743200" cy="530352"/>
          </a:xfrm>
          <a:prstGeom prst="rect">
            <a:avLst/>
          </a:prstGeom>
          <a:solidFill>
            <a:srgbClr val="FFFFFF"/>
          </a:solidFill>
          <a:ln w="9525">
            <a:solidFill>
              <a:srgbClr val="E3EBF0"/>
            </a:solidFill>
            <a:prstDash val="solid"/>
          </a:ln>
        </p:spPr>
      </p:sp>
      <p:sp>
        <p:nvSpPr>
          <p:cNvPr id="34" name="Text 32"/>
          <p:cNvSpPr/>
          <p:nvPr/>
        </p:nvSpPr>
        <p:spPr>
          <a:xfrm>
            <a:off x="749808" y="4846320"/>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Ranking and search</a:t>
            </a:r>
            <a:endParaRPr lang="en-US" sz="1050" dirty="0"/>
          </a:p>
        </p:txBody>
      </p:sp>
      <p:sp>
        <p:nvSpPr>
          <p:cNvPr id="35" name="Shape 33"/>
          <p:cNvSpPr/>
          <p:nvPr/>
        </p:nvSpPr>
        <p:spPr>
          <a:xfrm>
            <a:off x="3383280" y="4846320"/>
            <a:ext cx="8138160" cy="530352"/>
          </a:xfrm>
          <a:prstGeom prst="rect">
            <a:avLst/>
          </a:prstGeom>
          <a:solidFill>
            <a:srgbClr val="FFFFFF"/>
          </a:solidFill>
          <a:ln w="9525">
            <a:solidFill>
              <a:srgbClr val="E3EBF0"/>
            </a:solidFill>
            <a:prstDash val="solid"/>
          </a:ln>
        </p:spPr>
      </p:sp>
      <p:sp>
        <p:nvSpPr>
          <p:cNvPr id="36" name="Text 34"/>
          <p:cNvSpPr/>
          <p:nvPr/>
        </p:nvSpPr>
        <p:spPr>
          <a:xfrm>
            <a:off x="3493008" y="4846320"/>
            <a:ext cx="791870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Precision@k, recall@k, mean reciprocal rank, NDCG</a:t>
            </a:r>
            <a:endParaRPr lang="en-US" sz="1050" dirty="0"/>
          </a:p>
        </p:txBody>
      </p:sp>
      <p:sp>
        <p:nvSpPr>
          <p:cNvPr id="37" name="Text 35"/>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Ask of every project: which of these is the number the business actually experiences?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1.7</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A framework for choosing your metric set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640080" y="1463040"/>
            <a:ext cx="365760" cy="365760"/>
          </a:xfrm>
          <a:prstGeom prst="ellipse">
            <a:avLst/>
          </a:prstGeom>
          <a:solidFill>
            <a:srgbClr val="065A82"/>
          </a:solidFill>
          <a:ln/>
        </p:spPr>
      </p:sp>
      <p:sp>
        <p:nvSpPr>
          <p:cNvPr id="6" name="Text 4"/>
          <p:cNvSpPr/>
          <p:nvPr/>
        </p:nvSpPr>
        <p:spPr>
          <a:xfrm>
            <a:off x="640080" y="1463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4206240" cy="54864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What decision does the output drive?</a:t>
            </a:r>
            <a:endParaRPr lang="en-US" sz="1300" dirty="0"/>
          </a:p>
        </p:txBody>
      </p:sp>
      <p:sp>
        <p:nvSpPr>
          <p:cNvPr id="8" name="Text 6"/>
          <p:cNvSpPr/>
          <p:nvPr/>
        </p:nvSpPr>
        <p:spPr>
          <a:xfrm>
            <a:off x="5577840" y="1371600"/>
            <a:ext cx="594360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The metric must reflect the cost of that decision going wrong, not the elegance of the model.</a:t>
            </a:r>
            <a:endParaRPr lang="en-US" sz="1150" dirty="0"/>
          </a:p>
        </p:txBody>
      </p:sp>
      <p:sp>
        <p:nvSpPr>
          <p:cNvPr id="9" name="Shape 7"/>
          <p:cNvSpPr/>
          <p:nvPr/>
        </p:nvSpPr>
        <p:spPr>
          <a:xfrm>
            <a:off x="640080" y="2240280"/>
            <a:ext cx="365760" cy="365760"/>
          </a:xfrm>
          <a:prstGeom prst="ellipse">
            <a:avLst/>
          </a:prstGeom>
          <a:solidFill>
            <a:srgbClr val="065A82"/>
          </a:solidFill>
          <a:ln/>
        </p:spPr>
      </p:sp>
      <p:sp>
        <p:nvSpPr>
          <p:cNvPr id="10" name="Text 8"/>
          <p:cNvSpPr/>
          <p:nvPr/>
        </p:nvSpPr>
        <p:spPr>
          <a:xfrm>
            <a:off x="640080" y="22402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148840"/>
            <a:ext cx="4206240" cy="54864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Which error is more expensive?</a:t>
            </a:r>
            <a:endParaRPr lang="en-US" sz="1300" dirty="0"/>
          </a:p>
        </p:txBody>
      </p:sp>
      <p:sp>
        <p:nvSpPr>
          <p:cNvPr id="12" name="Text 10"/>
          <p:cNvSpPr/>
          <p:nvPr/>
        </p:nvSpPr>
        <p:spPr>
          <a:xfrm>
            <a:off x="5577840" y="2148840"/>
            <a:ext cx="594360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Determines whether you optimise precision, recall, or a weighted F-beta.</a:t>
            </a:r>
            <a:endParaRPr lang="en-US" sz="1150" dirty="0"/>
          </a:p>
        </p:txBody>
      </p:sp>
      <p:sp>
        <p:nvSpPr>
          <p:cNvPr id="13" name="Shape 11"/>
          <p:cNvSpPr/>
          <p:nvPr/>
        </p:nvSpPr>
        <p:spPr>
          <a:xfrm>
            <a:off x="640080" y="3017520"/>
            <a:ext cx="365760" cy="365760"/>
          </a:xfrm>
          <a:prstGeom prst="ellipse">
            <a:avLst/>
          </a:prstGeom>
          <a:solidFill>
            <a:srgbClr val="065A82"/>
          </a:solidFill>
          <a:ln/>
        </p:spPr>
      </p:sp>
      <p:sp>
        <p:nvSpPr>
          <p:cNvPr id="14" name="Text 12"/>
          <p:cNvSpPr/>
          <p:nvPr/>
        </p:nvSpPr>
        <p:spPr>
          <a:xfrm>
            <a:off x="640080" y="3017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926080"/>
            <a:ext cx="4206240" cy="54864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How rare is the positive class?</a:t>
            </a:r>
            <a:endParaRPr lang="en-US" sz="1300" dirty="0"/>
          </a:p>
        </p:txBody>
      </p:sp>
      <p:sp>
        <p:nvSpPr>
          <p:cNvPr id="16" name="Text 14"/>
          <p:cNvSpPr/>
          <p:nvPr/>
        </p:nvSpPr>
        <p:spPr>
          <a:xfrm>
            <a:off x="5577840" y="2926080"/>
            <a:ext cx="594360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Under heavy imbalance, accuracy and ROC-AUC mislead. Use PR-AUC and per-class recall.</a:t>
            </a:r>
            <a:endParaRPr lang="en-US" sz="1150" dirty="0"/>
          </a:p>
        </p:txBody>
      </p:sp>
      <p:sp>
        <p:nvSpPr>
          <p:cNvPr id="17" name="Shape 15"/>
          <p:cNvSpPr/>
          <p:nvPr/>
        </p:nvSpPr>
        <p:spPr>
          <a:xfrm>
            <a:off x="640080" y="3794760"/>
            <a:ext cx="365760" cy="365760"/>
          </a:xfrm>
          <a:prstGeom prst="ellipse">
            <a:avLst/>
          </a:prstGeom>
          <a:solidFill>
            <a:srgbClr val="065A82"/>
          </a:solidFill>
          <a:ln/>
        </p:spPr>
      </p:sp>
      <p:sp>
        <p:nvSpPr>
          <p:cNvPr id="18" name="Text 16"/>
          <p:cNvSpPr/>
          <p:nvPr/>
        </p:nvSpPr>
        <p:spPr>
          <a:xfrm>
            <a:off x="640080" y="3794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703320"/>
            <a:ext cx="4206240" cy="54864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Is confidence used downstream?</a:t>
            </a:r>
            <a:endParaRPr lang="en-US" sz="1300" dirty="0"/>
          </a:p>
        </p:txBody>
      </p:sp>
      <p:sp>
        <p:nvSpPr>
          <p:cNvPr id="20" name="Text 18"/>
          <p:cNvSpPr/>
          <p:nvPr/>
        </p:nvSpPr>
        <p:spPr>
          <a:xfrm>
            <a:off x="5577840" y="3703320"/>
            <a:ext cx="594360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If thresholds or escalation depend on it, calibration error becomes a first-class metric.</a:t>
            </a:r>
            <a:endParaRPr lang="en-US" sz="1150" dirty="0"/>
          </a:p>
        </p:txBody>
      </p:sp>
      <p:sp>
        <p:nvSpPr>
          <p:cNvPr id="21" name="Shape 19"/>
          <p:cNvSpPr/>
          <p:nvPr/>
        </p:nvSpPr>
        <p:spPr>
          <a:xfrm>
            <a:off x="640080" y="4572000"/>
            <a:ext cx="365760" cy="365760"/>
          </a:xfrm>
          <a:prstGeom prst="ellipse">
            <a:avLst/>
          </a:prstGeom>
          <a:solidFill>
            <a:srgbClr val="065A82"/>
          </a:solidFill>
          <a:ln/>
        </p:spPr>
      </p:sp>
      <p:sp>
        <p:nvSpPr>
          <p:cNvPr id="22" name="Text 20"/>
          <p:cNvSpPr/>
          <p:nvPr/>
        </p:nvSpPr>
        <p:spPr>
          <a:xfrm>
            <a:off x="640080" y="4572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480560"/>
            <a:ext cx="4206240" cy="54864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Does timing matter?</a:t>
            </a:r>
            <a:endParaRPr lang="en-US" sz="1300" dirty="0"/>
          </a:p>
        </p:txBody>
      </p:sp>
      <p:sp>
        <p:nvSpPr>
          <p:cNvPr id="24" name="Text 22"/>
          <p:cNvSpPr/>
          <p:nvPr/>
        </p:nvSpPr>
        <p:spPr>
          <a:xfrm>
            <a:off x="5577840" y="4480560"/>
            <a:ext cx="594360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For prediction problems, lead time is often the metric that determines business value.</a:t>
            </a:r>
            <a:endParaRPr lang="en-US" sz="1150" dirty="0"/>
          </a:p>
        </p:txBody>
      </p:sp>
      <p:sp>
        <p:nvSpPr>
          <p:cNvPr id="25" name="Shape 23"/>
          <p:cNvSpPr/>
          <p:nvPr/>
        </p:nvSpPr>
        <p:spPr>
          <a:xfrm>
            <a:off x="640080" y="5349240"/>
            <a:ext cx="365760" cy="365760"/>
          </a:xfrm>
          <a:prstGeom prst="ellipse">
            <a:avLst/>
          </a:prstGeom>
          <a:solidFill>
            <a:srgbClr val="065A82"/>
          </a:solidFill>
          <a:ln/>
        </p:spPr>
      </p:sp>
      <p:sp>
        <p:nvSpPr>
          <p:cNvPr id="26" name="Text 24"/>
          <p:cNvSpPr/>
          <p:nvPr/>
        </p:nvSpPr>
        <p:spPr>
          <a:xfrm>
            <a:off x="640080" y="5349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5257800"/>
            <a:ext cx="4206240" cy="54864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What does the user actually experience?</a:t>
            </a:r>
            <a:endParaRPr lang="en-US" sz="1300" dirty="0"/>
          </a:p>
        </p:txBody>
      </p:sp>
      <p:sp>
        <p:nvSpPr>
          <p:cNvPr id="28" name="Text 26"/>
          <p:cNvSpPr/>
          <p:nvPr/>
        </p:nvSpPr>
        <p:spPr>
          <a:xfrm>
            <a:off x="5577840" y="5257800"/>
            <a:ext cx="594360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Latency, cost and coverage belong in the metric set alongside quality.</a:t>
            </a:r>
            <a:endParaRPr lang="en-US" sz="1150" dirty="0"/>
          </a:p>
        </p:txBody>
      </p:sp>
      <p:sp>
        <p:nvSpPr>
          <p:cNvPr id="29" name="Text 27"/>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Output: three to five metrics with targets, not one number. Write them down before any improvement work starts.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1.8</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business cost of false positives and false negatives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00" dirty="0">
                <a:solidFill>
                  <a:srgbClr val="5A6B7C"/>
                </a:solidFill>
                <a:latin typeface="Calibri" pitchFamily="34" charset="0"/>
                <a:ea typeface="Calibri" pitchFamily="34" charset="-122"/>
                <a:cs typeface="Calibri" pitchFamily="34" charset="-120"/>
              </a:rPr>
              <a:t>These two errors almost never cost the same. The decision threshold should follow from that difference — not from a library default.</a:t>
            </a:r>
            <a:endParaRPr lang="en-US" sz="1400" dirty="0"/>
          </a:p>
        </p:txBody>
      </p:sp>
      <p:sp>
        <p:nvSpPr>
          <p:cNvPr id="6" name="Shape 4"/>
          <p:cNvSpPr/>
          <p:nvPr/>
        </p:nvSpPr>
        <p:spPr>
          <a:xfrm>
            <a:off x="640080" y="1828800"/>
            <a:ext cx="5303520" cy="1600200"/>
          </a:xfrm>
          <a:prstGeom prst="roundRect">
            <a:avLst>
              <a:gd name="adj" fmla="val 3429"/>
            </a:avLst>
          </a:prstGeom>
          <a:solidFill>
            <a:srgbClr val="FBEEE8"/>
          </a:solidFill>
          <a:ln w="12700">
            <a:solidFill>
              <a:srgbClr val="D8E4EC"/>
            </a:solidFill>
            <a:prstDash val="solid"/>
          </a:ln>
        </p:spPr>
      </p:sp>
      <p:sp>
        <p:nvSpPr>
          <p:cNvPr id="7" name="Text 5"/>
          <p:cNvSpPr/>
          <p:nvPr/>
        </p:nvSpPr>
        <p:spPr>
          <a:xfrm>
            <a:off x="841248" y="1965960"/>
            <a:ext cx="4901184" cy="347472"/>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False positive — a false alarm</a:t>
            </a:r>
            <a:endParaRPr lang="en-US" sz="1400" dirty="0"/>
          </a:p>
        </p:txBody>
      </p:sp>
      <p:sp>
        <p:nvSpPr>
          <p:cNvPr id="8" name="Text 6"/>
          <p:cNvSpPr/>
          <p:nvPr/>
        </p:nvSpPr>
        <p:spPr>
          <a:xfrm>
            <a:off x="841248" y="2331720"/>
            <a:ext cx="4901184" cy="9418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Inspection: a good part is scrapped.</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Maintenance: an engineer is dispatched needlessly.</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RAG: an irrelevant document is surfaced.</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Cost: waste, lost capacity, alert fatigue, eroded trust.</a:t>
            </a:r>
            <a:endParaRPr lang="en-US" sz="1150" dirty="0"/>
          </a:p>
        </p:txBody>
      </p:sp>
      <p:sp>
        <p:nvSpPr>
          <p:cNvPr id="9" name="Shape 7"/>
          <p:cNvSpPr/>
          <p:nvPr/>
        </p:nvSpPr>
        <p:spPr>
          <a:xfrm>
            <a:off x="6263640" y="1828800"/>
            <a:ext cx="5257800" cy="1600200"/>
          </a:xfrm>
          <a:prstGeom prst="roundRect">
            <a:avLst>
              <a:gd name="adj" fmla="val 3429"/>
            </a:avLst>
          </a:prstGeom>
          <a:solidFill>
            <a:srgbClr val="EDF1F7"/>
          </a:solidFill>
          <a:ln w="12700">
            <a:solidFill>
              <a:srgbClr val="D8E4EC"/>
            </a:solidFill>
            <a:prstDash val="solid"/>
          </a:ln>
        </p:spPr>
      </p:sp>
      <p:sp>
        <p:nvSpPr>
          <p:cNvPr id="10" name="Text 8"/>
          <p:cNvSpPr/>
          <p:nvPr/>
        </p:nvSpPr>
        <p:spPr>
          <a:xfrm>
            <a:off x="6464808" y="1965960"/>
            <a:ext cx="4855464"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False negative — a missed detection</a:t>
            </a:r>
            <a:endParaRPr lang="en-US" sz="1400" dirty="0"/>
          </a:p>
        </p:txBody>
      </p:sp>
      <p:sp>
        <p:nvSpPr>
          <p:cNvPr id="11" name="Text 9"/>
          <p:cNvSpPr/>
          <p:nvPr/>
        </p:nvSpPr>
        <p:spPr>
          <a:xfrm>
            <a:off x="6464808" y="2331720"/>
            <a:ext cx="4855464" cy="9418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Inspection: a defective part ships to a customer.</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Maintenance: the machine fails unplanned.</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RAG: the answer is wrong or absent.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Cost: warranty, downtime, safety, reputation.</a:t>
            </a:r>
            <a:endParaRPr lang="en-US" sz="1150" dirty="0"/>
          </a:p>
        </p:txBody>
      </p:sp>
      <p:sp>
        <p:nvSpPr>
          <p:cNvPr id="12" name="Shape 10"/>
          <p:cNvSpPr/>
          <p:nvPr/>
        </p:nvSpPr>
        <p:spPr>
          <a:xfrm>
            <a:off x="640080" y="3657600"/>
            <a:ext cx="10881360" cy="1737360"/>
          </a:xfrm>
          <a:prstGeom prst="roundRect">
            <a:avLst>
              <a:gd name="adj" fmla="val 3158"/>
            </a:avLst>
          </a:prstGeom>
          <a:solidFill>
            <a:srgbClr val="E8F1E9"/>
          </a:solidFill>
          <a:ln w="12700">
            <a:solidFill>
              <a:srgbClr val="C2DCC8"/>
            </a:solidFill>
            <a:prstDash val="solid"/>
          </a:ln>
        </p:spPr>
      </p:sp>
      <p:sp>
        <p:nvSpPr>
          <p:cNvPr id="13" name="Text 11"/>
          <p:cNvSpPr/>
          <p:nvPr/>
        </p:nvSpPr>
        <p:spPr>
          <a:xfrm>
            <a:off x="914400" y="3822192"/>
            <a:ext cx="10332720" cy="320040"/>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Expected cost — the equation that decides the threshold</a:t>
            </a:r>
            <a:endParaRPr lang="en-US" sz="1400" dirty="0"/>
          </a:p>
        </p:txBody>
      </p:sp>
      <p:sp>
        <p:nvSpPr>
          <p:cNvPr id="14" name="Text 12"/>
          <p:cNvSpPr/>
          <p:nvPr/>
        </p:nvSpPr>
        <p:spPr>
          <a:xfrm>
            <a:off x="914400" y="4160520"/>
            <a:ext cx="10332720" cy="365760"/>
          </a:xfrm>
          <a:prstGeom prst="rect">
            <a:avLst/>
          </a:prstGeom>
          <a:noFill/>
          <a:ln/>
        </p:spPr>
        <p:txBody>
          <a:bodyPr wrap="square" lIns="0" tIns="0" rIns="0" bIns="0" rtlCol="0" anchor="ctr"/>
          <a:lstStyle/>
          <a:p>
            <a:pPr indent="0" marL="0">
              <a:buNone/>
            </a:pPr>
            <a:r>
              <a:rPr lang="en-US" sz="1350" i="1" dirty="0">
                <a:solidFill>
                  <a:srgbClr val="1A2430"/>
                </a:solidFill>
                <a:latin typeface="Calibri" pitchFamily="34" charset="0"/>
                <a:ea typeface="Calibri" pitchFamily="34" charset="-122"/>
                <a:cs typeface="Calibri" pitchFamily="34" charset="-120"/>
              </a:rPr>
              <a:t>Total cost  =  (false positives × cost of a false positive)  +  (false negatives × cost of a false negative)</a:t>
            </a:r>
            <a:endParaRPr lang="en-US" sz="1350" dirty="0"/>
          </a:p>
        </p:txBody>
      </p:sp>
      <p:sp>
        <p:nvSpPr>
          <p:cNvPr id="15" name="Text 13"/>
          <p:cNvSpPr/>
          <p:nvPr/>
        </p:nvSpPr>
        <p:spPr>
          <a:xfrm>
            <a:off x="914400" y="4572000"/>
            <a:ext cx="10332720" cy="685800"/>
          </a:xfrm>
          <a:prstGeom prst="rect">
            <a:avLst/>
          </a:prstGeom>
          <a:noFill/>
          <a:ln/>
        </p:spPr>
        <p:txBody>
          <a:bodyPr wrap="square" lIns="0" tIns="0" rIns="0" bIns="0" rtlCol="0" anchor="ctr"/>
          <a:lstStyle/>
          <a:p>
            <a:pPr indent="0" marL="0">
              <a:lnSpc>
                <a:spcPts val="1600"/>
              </a:lnSpc>
              <a:buNone/>
            </a:pPr>
            <a:r>
              <a:rPr lang="en-US" sz="1250" dirty="0">
                <a:solidFill>
                  <a:srgbClr val="1A2430"/>
                </a:solidFill>
                <a:latin typeface="Calibri" pitchFamily="34" charset="0"/>
                <a:ea typeface="Calibri" pitchFamily="34" charset="-122"/>
                <a:cs typeface="Calibri" pitchFamily="34" charset="-120"/>
              </a:rPr>
              <a:t>Both counts change as you move the threshold. Sweep it, compute total cost at each point, choose the minimum. No retraining is involved — this is arithmetic, and it is frequently the largest single improvement available.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1.9</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Worked example — finding the cost-optimal threshold</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12</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Cost of a false reject: ₹400 (scrapped material).   Cost of a false accept: ₹40,000 (warranty and rework).   Ratio 1 : 100.</a:t>
            </a:r>
            <a:endParaRPr lang="en-US" sz="1300" dirty="0"/>
          </a:p>
        </p:txBody>
      </p:sp>
      <p:sp>
        <p:nvSpPr>
          <p:cNvPr id="6" name="Shape 4"/>
          <p:cNvSpPr/>
          <p:nvPr/>
        </p:nvSpPr>
        <p:spPr>
          <a:xfrm>
            <a:off x="640080" y="1737360"/>
            <a:ext cx="1554480" cy="384048"/>
          </a:xfrm>
          <a:prstGeom prst="rect">
            <a:avLst/>
          </a:prstGeom>
          <a:solidFill>
            <a:srgbClr val="21295C"/>
          </a:solidFill>
          <a:ln/>
        </p:spPr>
      </p:sp>
      <p:sp>
        <p:nvSpPr>
          <p:cNvPr id="7" name="Text 5"/>
          <p:cNvSpPr/>
          <p:nvPr/>
        </p:nvSpPr>
        <p:spPr>
          <a:xfrm>
            <a:off x="749808" y="1737360"/>
            <a:ext cx="13350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Threshold</a:t>
            </a:r>
            <a:endParaRPr lang="en-US" sz="1100" dirty="0"/>
          </a:p>
        </p:txBody>
      </p:sp>
      <p:sp>
        <p:nvSpPr>
          <p:cNvPr id="8" name="Shape 6"/>
          <p:cNvSpPr/>
          <p:nvPr/>
        </p:nvSpPr>
        <p:spPr>
          <a:xfrm>
            <a:off x="2194560" y="1737360"/>
            <a:ext cx="1920240" cy="384048"/>
          </a:xfrm>
          <a:prstGeom prst="rect">
            <a:avLst/>
          </a:prstGeom>
          <a:solidFill>
            <a:srgbClr val="21295C"/>
          </a:solidFill>
          <a:ln/>
        </p:spPr>
      </p:sp>
      <p:sp>
        <p:nvSpPr>
          <p:cNvPr id="9" name="Text 7"/>
          <p:cNvSpPr/>
          <p:nvPr/>
        </p:nvSpPr>
        <p:spPr>
          <a:xfrm>
            <a:off x="2304288" y="1737360"/>
            <a:ext cx="1700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False rejects</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per 1,000</a:t>
            </a:r>
            <a:endParaRPr lang="en-US" sz="1100" dirty="0"/>
          </a:p>
        </p:txBody>
      </p:sp>
      <p:sp>
        <p:nvSpPr>
          <p:cNvPr id="10" name="Shape 8"/>
          <p:cNvSpPr/>
          <p:nvPr/>
        </p:nvSpPr>
        <p:spPr>
          <a:xfrm>
            <a:off x="4114800" y="1737360"/>
            <a:ext cx="1920240" cy="384048"/>
          </a:xfrm>
          <a:prstGeom prst="rect">
            <a:avLst/>
          </a:prstGeom>
          <a:solidFill>
            <a:srgbClr val="21295C"/>
          </a:solidFill>
          <a:ln/>
        </p:spPr>
      </p:sp>
      <p:sp>
        <p:nvSpPr>
          <p:cNvPr id="11" name="Text 9"/>
          <p:cNvSpPr/>
          <p:nvPr/>
        </p:nvSpPr>
        <p:spPr>
          <a:xfrm>
            <a:off x="4224528" y="1737360"/>
            <a:ext cx="1700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False accepts</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per 1,000</a:t>
            </a:r>
            <a:endParaRPr lang="en-US" sz="1100" dirty="0"/>
          </a:p>
        </p:txBody>
      </p:sp>
      <p:sp>
        <p:nvSpPr>
          <p:cNvPr id="12" name="Shape 10"/>
          <p:cNvSpPr/>
          <p:nvPr/>
        </p:nvSpPr>
        <p:spPr>
          <a:xfrm>
            <a:off x="6035040" y="1737360"/>
            <a:ext cx="1828800" cy="384048"/>
          </a:xfrm>
          <a:prstGeom prst="rect">
            <a:avLst/>
          </a:prstGeom>
          <a:solidFill>
            <a:srgbClr val="21295C"/>
          </a:solidFill>
          <a:ln/>
        </p:spPr>
      </p:sp>
      <p:sp>
        <p:nvSpPr>
          <p:cNvPr id="13" name="Text 11"/>
          <p:cNvSpPr/>
          <p:nvPr/>
        </p:nvSpPr>
        <p:spPr>
          <a:xfrm>
            <a:off x="6144768" y="1737360"/>
            <a:ext cx="1609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Reject cost</a:t>
            </a:r>
            <a:endParaRPr lang="en-US" sz="1100" dirty="0"/>
          </a:p>
        </p:txBody>
      </p:sp>
      <p:sp>
        <p:nvSpPr>
          <p:cNvPr id="14" name="Shape 12"/>
          <p:cNvSpPr/>
          <p:nvPr/>
        </p:nvSpPr>
        <p:spPr>
          <a:xfrm>
            <a:off x="7863840" y="1737360"/>
            <a:ext cx="1828800" cy="384048"/>
          </a:xfrm>
          <a:prstGeom prst="rect">
            <a:avLst/>
          </a:prstGeom>
          <a:solidFill>
            <a:srgbClr val="21295C"/>
          </a:solidFill>
          <a:ln/>
        </p:spPr>
      </p:sp>
      <p:sp>
        <p:nvSpPr>
          <p:cNvPr id="15" name="Text 13"/>
          <p:cNvSpPr/>
          <p:nvPr/>
        </p:nvSpPr>
        <p:spPr>
          <a:xfrm>
            <a:off x="7973568" y="1737360"/>
            <a:ext cx="1609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Accept cost</a:t>
            </a:r>
            <a:endParaRPr lang="en-US" sz="1100" dirty="0"/>
          </a:p>
        </p:txBody>
      </p:sp>
      <p:sp>
        <p:nvSpPr>
          <p:cNvPr id="16" name="Shape 14"/>
          <p:cNvSpPr/>
          <p:nvPr/>
        </p:nvSpPr>
        <p:spPr>
          <a:xfrm>
            <a:off x="9692640" y="1737360"/>
            <a:ext cx="1828800" cy="384048"/>
          </a:xfrm>
          <a:prstGeom prst="rect">
            <a:avLst/>
          </a:prstGeom>
          <a:solidFill>
            <a:srgbClr val="21295C"/>
          </a:solidFill>
          <a:ln/>
        </p:spPr>
      </p:sp>
      <p:sp>
        <p:nvSpPr>
          <p:cNvPr id="17" name="Text 15"/>
          <p:cNvSpPr/>
          <p:nvPr/>
        </p:nvSpPr>
        <p:spPr>
          <a:xfrm>
            <a:off x="9802368" y="1737360"/>
            <a:ext cx="1609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Total cost</a:t>
            </a:r>
            <a:endParaRPr lang="en-US" sz="1100" dirty="0"/>
          </a:p>
        </p:txBody>
      </p:sp>
      <p:sp>
        <p:nvSpPr>
          <p:cNvPr id="18" name="Shape 16"/>
          <p:cNvSpPr/>
          <p:nvPr/>
        </p:nvSpPr>
        <p:spPr>
          <a:xfrm>
            <a:off x="640080" y="2121408"/>
            <a:ext cx="1554480" cy="502920"/>
          </a:xfrm>
          <a:prstGeom prst="rect">
            <a:avLst/>
          </a:prstGeom>
          <a:solidFill>
            <a:srgbClr val="FFFFFF"/>
          </a:solidFill>
          <a:ln w="9525">
            <a:solidFill>
              <a:srgbClr val="E3EBF0"/>
            </a:solidFill>
            <a:prstDash val="solid"/>
          </a:ln>
        </p:spPr>
      </p:sp>
      <p:sp>
        <p:nvSpPr>
          <p:cNvPr id="19" name="Text 17"/>
          <p:cNvSpPr/>
          <p:nvPr/>
        </p:nvSpPr>
        <p:spPr>
          <a:xfrm>
            <a:off x="749808" y="2121408"/>
            <a:ext cx="133502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0.50</a:t>
            </a:r>
            <a:endParaRPr lang="en-US" sz="1050" dirty="0"/>
          </a:p>
        </p:txBody>
      </p:sp>
      <p:sp>
        <p:nvSpPr>
          <p:cNvPr id="20" name="Shape 18"/>
          <p:cNvSpPr/>
          <p:nvPr/>
        </p:nvSpPr>
        <p:spPr>
          <a:xfrm>
            <a:off x="2194560" y="2121408"/>
            <a:ext cx="1920240" cy="502920"/>
          </a:xfrm>
          <a:prstGeom prst="rect">
            <a:avLst/>
          </a:prstGeom>
          <a:solidFill>
            <a:srgbClr val="FFFFFF"/>
          </a:solidFill>
          <a:ln w="9525">
            <a:solidFill>
              <a:srgbClr val="E3EBF0"/>
            </a:solidFill>
            <a:prstDash val="solid"/>
          </a:ln>
        </p:spPr>
      </p:sp>
      <p:sp>
        <p:nvSpPr>
          <p:cNvPr id="21" name="Text 19"/>
          <p:cNvSpPr/>
          <p:nvPr/>
        </p:nvSpPr>
        <p:spPr>
          <a:xfrm>
            <a:off x="2304288" y="212140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30</a:t>
            </a:r>
            <a:endParaRPr lang="en-US" sz="1050" dirty="0"/>
          </a:p>
        </p:txBody>
      </p:sp>
      <p:sp>
        <p:nvSpPr>
          <p:cNvPr id="22" name="Shape 20"/>
          <p:cNvSpPr/>
          <p:nvPr/>
        </p:nvSpPr>
        <p:spPr>
          <a:xfrm>
            <a:off x="4114800" y="2121408"/>
            <a:ext cx="1920240" cy="502920"/>
          </a:xfrm>
          <a:prstGeom prst="rect">
            <a:avLst/>
          </a:prstGeom>
          <a:solidFill>
            <a:srgbClr val="FFFFFF"/>
          </a:solidFill>
          <a:ln w="9525">
            <a:solidFill>
              <a:srgbClr val="E3EBF0"/>
            </a:solidFill>
            <a:prstDash val="solid"/>
          </a:ln>
        </p:spPr>
      </p:sp>
      <p:sp>
        <p:nvSpPr>
          <p:cNvPr id="23" name="Text 21"/>
          <p:cNvSpPr/>
          <p:nvPr/>
        </p:nvSpPr>
        <p:spPr>
          <a:xfrm>
            <a:off x="4224528" y="212140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4</a:t>
            </a:r>
            <a:endParaRPr lang="en-US" sz="1050" dirty="0"/>
          </a:p>
        </p:txBody>
      </p:sp>
      <p:sp>
        <p:nvSpPr>
          <p:cNvPr id="24" name="Shape 22"/>
          <p:cNvSpPr/>
          <p:nvPr/>
        </p:nvSpPr>
        <p:spPr>
          <a:xfrm>
            <a:off x="6035040" y="2121408"/>
            <a:ext cx="1828800" cy="502920"/>
          </a:xfrm>
          <a:prstGeom prst="rect">
            <a:avLst/>
          </a:prstGeom>
          <a:solidFill>
            <a:srgbClr val="FFFFFF"/>
          </a:solidFill>
          <a:ln w="9525">
            <a:solidFill>
              <a:srgbClr val="E3EBF0"/>
            </a:solidFill>
            <a:prstDash val="solid"/>
          </a:ln>
        </p:spPr>
      </p:sp>
      <p:sp>
        <p:nvSpPr>
          <p:cNvPr id="25" name="Text 23"/>
          <p:cNvSpPr/>
          <p:nvPr/>
        </p:nvSpPr>
        <p:spPr>
          <a:xfrm>
            <a:off x="6144768" y="212140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₹12,000</a:t>
            </a:r>
            <a:endParaRPr lang="en-US" sz="1050" dirty="0"/>
          </a:p>
        </p:txBody>
      </p:sp>
      <p:sp>
        <p:nvSpPr>
          <p:cNvPr id="26" name="Shape 24"/>
          <p:cNvSpPr/>
          <p:nvPr/>
        </p:nvSpPr>
        <p:spPr>
          <a:xfrm>
            <a:off x="7863840" y="2121408"/>
            <a:ext cx="1828800" cy="502920"/>
          </a:xfrm>
          <a:prstGeom prst="rect">
            <a:avLst/>
          </a:prstGeom>
          <a:solidFill>
            <a:srgbClr val="FFFFFF"/>
          </a:solidFill>
          <a:ln w="9525">
            <a:solidFill>
              <a:srgbClr val="E3EBF0"/>
            </a:solidFill>
            <a:prstDash val="solid"/>
          </a:ln>
        </p:spPr>
      </p:sp>
      <p:sp>
        <p:nvSpPr>
          <p:cNvPr id="27" name="Text 25"/>
          <p:cNvSpPr/>
          <p:nvPr/>
        </p:nvSpPr>
        <p:spPr>
          <a:xfrm>
            <a:off x="7973568" y="212140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₹160,000</a:t>
            </a:r>
            <a:endParaRPr lang="en-US" sz="1050" dirty="0"/>
          </a:p>
        </p:txBody>
      </p:sp>
      <p:sp>
        <p:nvSpPr>
          <p:cNvPr id="28" name="Shape 26"/>
          <p:cNvSpPr/>
          <p:nvPr/>
        </p:nvSpPr>
        <p:spPr>
          <a:xfrm>
            <a:off x="9692640" y="2121408"/>
            <a:ext cx="1828800" cy="502920"/>
          </a:xfrm>
          <a:prstGeom prst="rect">
            <a:avLst/>
          </a:prstGeom>
          <a:solidFill>
            <a:srgbClr val="FFFFFF"/>
          </a:solidFill>
          <a:ln w="9525">
            <a:solidFill>
              <a:srgbClr val="E3EBF0"/>
            </a:solidFill>
            <a:prstDash val="solid"/>
          </a:ln>
        </p:spPr>
      </p:sp>
      <p:sp>
        <p:nvSpPr>
          <p:cNvPr id="29" name="Text 27"/>
          <p:cNvSpPr/>
          <p:nvPr/>
        </p:nvSpPr>
        <p:spPr>
          <a:xfrm>
            <a:off x="9802368" y="212140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₹172,000</a:t>
            </a:r>
            <a:endParaRPr lang="en-US" sz="1050" dirty="0"/>
          </a:p>
        </p:txBody>
      </p:sp>
      <p:sp>
        <p:nvSpPr>
          <p:cNvPr id="30" name="Shape 28"/>
          <p:cNvSpPr/>
          <p:nvPr/>
        </p:nvSpPr>
        <p:spPr>
          <a:xfrm>
            <a:off x="640080" y="2624328"/>
            <a:ext cx="1554480" cy="502920"/>
          </a:xfrm>
          <a:prstGeom prst="rect">
            <a:avLst/>
          </a:prstGeom>
          <a:solidFill>
            <a:srgbClr val="F5F9FB"/>
          </a:solidFill>
          <a:ln w="9525">
            <a:solidFill>
              <a:srgbClr val="E3EBF0"/>
            </a:solidFill>
            <a:prstDash val="solid"/>
          </a:ln>
        </p:spPr>
      </p:sp>
      <p:sp>
        <p:nvSpPr>
          <p:cNvPr id="31" name="Text 29"/>
          <p:cNvSpPr/>
          <p:nvPr/>
        </p:nvSpPr>
        <p:spPr>
          <a:xfrm>
            <a:off x="749808" y="2624328"/>
            <a:ext cx="133502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0.35</a:t>
            </a:r>
            <a:endParaRPr lang="en-US" sz="1050" dirty="0"/>
          </a:p>
        </p:txBody>
      </p:sp>
      <p:sp>
        <p:nvSpPr>
          <p:cNvPr id="32" name="Shape 30"/>
          <p:cNvSpPr/>
          <p:nvPr/>
        </p:nvSpPr>
        <p:spPr>
          <a:xfrm>
            <a:off x="2194560" y="2624328"/>
            <a:ext cx="1920240" cy="502920"/>
          </a:xfrm>
          <a:prstGeom prst="rect">
            <a:avLst/>
          </a:prstGeom>
          <a:solidFill>
            <a:srgbClr val="F5F9FB"/>
          </a:solidFill>
          <a:ln w="9525">
            <a:solidFill>
              <a:srgbClr val="E3EBF0"/>
            </a:solidFill>
            <a:prstDash val="solid"/>
          </a:ln>
        </p:spPr>
      </p:sp>
      <p:sp>
        <p:nvSpPr>
          <p:cNvPr id="33" name="Text 31"/>
          <p:cNvSpPr/>
          <p:nvPr/>
        </p:nvSpPr>
        <p:spPr>
          <a:xfrm>
            <a:off x="2304288" y="262432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62</a:t>
            </a:r>
            <a:endParaRPr lang="en-US" sz="1050" dirty="0"/>
          </a:p>
        </p:txBody>
      </p:sp>
      <p:sp>
        <p:nvSpPr>
          <p:cNvPr id="34" name="Shape 32"/>
          <p:cNvSpPr/>
          <p:nvPr/>
        </p:nvSpPr>
        <p:spPr>
          <a:xfrm>
            <a:off x="4114800" y="2624328"/>
            <a:ext cx="1920240" cy="502920"/>
          </a:xfrm>
          <a:prstGeom prst="rect">
            <a:avLst/>
          </a:prstGeom>
          <a:solidFill>
            <a:srgbClr val="F5F9FB"/>
          </a:solidFill>
          <a:ln w="9525">
            <a:solidFill>
              <a:srgbClr val="E3EBF0"/>
            </a:solidFill>
            <a:prstDash val="solid"/>
          </a:ln>
        </p:spPr>
      </p:sp>
      <p:sp>
        <p:nvSpPr>
          <p:cNvPr id="35" name="Text 33"/>
          <p:cNvSpPr/>
          <p:nvPr/>
        </p:nvSpPr>
        <p:spPr>
          <a:xfrm>
            <a:off x="4224528" y="262432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2</a:t>
            </a:r>
            <a:endParaRPr lang="en-US" sz="1050" dirty="0"/>
          </a:p>
        </p:txBody>
      </p:sp>
      <p:sp>
        <p:nvSpPr>
          <p:cNvPr id="36" name="Shape 34"/>
          <p:cNvSpPr/>
          <p:nvPr/>
        </p:nvSpPr>
        <p:spPr>
          <a:xfrm>
            <a:off x="6035040" y="2624328"/>
            <a:ext cx="1828800" cy="502920"/>
          </a:xfrm>
          <a:prstGeom prst="rect">
            <a:avLst/>
          </a:prstGeom>
          <a:solidFill>
            <a:srgbClr val="F5F9FB"/>
          </a:solidFill>
          <a:ln w="9525">
            <a:solidFill>
              <a:srgbClr val="E3EBF0"/>
            </a:solidFill>
            <a:prstDash val="solid"/>
          </a:ln>
        </p:spPr>
      </p:sp>
      <p:sp>
        <p:nvSpPr>
          <p:cNvPr id="37" name="Text 35"/>
          <p:cNvSpPr/>
          <p:nvPr/>
        </p:nvSpPr>
        <p:spPr>
          <a:xfrm>
            <a:off x="6144768" y="262432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₹24,800</a:t>
            </a:r>
            <a:endParaRPr lang="en-US" sz="1050" dirty="0"/>
          </a:p>
        </p:txBody>
      </p:sp>
      <p:sp>
        <p:nvSpPr>
          <p:cNvPr id="38" name="Shape 36"/>
          <p:cNvSpPr/>
          <p:nvPr/>
        </p:nvSpPr>
        <p:spPr>
          <a:xfrm>
            <a:off x="7863840" y="2624328"/>
            <a:ext cx="1828800" cy="502920"/>
          </a:xfrm>
          <a:prstGeom prst="rect">
            <a:avLst/>
          </a:prstGeom>
          <a:solidFill>
            <a:srgbClr val="F5F9FB"/>
          </a:solidFill>
          <a:ln w="9525">
            <a:solidFill>
              <a:srgbClr val="E3EBF0"/>
            </a:solidFill>
            <a:prstDash val="solid"/>
          </a:ln>
        </p:spPr>
      </p:sp>
      <p:sp>
        <p:nvSpPr>
          <p:cNvPr id="39" name="Text 37"/>
          <p:cNvSpPr/>
          <p:nvPr/>
        </p:nvSpPr>
        <p:spPr>
          <a:xfrm>
            <a:off x="7973568" y="262432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₹80,000</a:t>
            </a:r>
            <a:endParaRPr lang="en-US" sz="1050" dirty="0"/>
          </a:p>
        </p:txBody>
      </p:sp>
      <p:sp>
        <p:nvSpPr>
          <p:cNvPr id="40" name="Shape 38"/>
          <p:cNvSpPr/>
          <p:nvPr/>
        </p:nvSpPr>
        <p:spPr>
          <a:xfrm>
            <a:off x="9692640" y="2624328"/>
            <a:ext cx="1828800" cy="502920"/>
          </a:xfrm>
          <a:prstGeom prst="rect">
            <a:avLst/>
          </a:prstGeom>
          <a:solidFill>
            <a:srgbClr val="F5F9FB"/>
          </a:solidFill>
          <a:ln w="9525">
            <a:solidFill>
              <a:srgbClr val="E3EBF0"/>
            </a:solidFill>
            <a:prstDash val="solid"/>
          </a:ln>
        </p:spPr>
      </p:sp>
      <p:sp>
        <p:nvSpPr>
          <p:cNvPr id="41" name="Text 39"/>
          <p:cNvSpPr/>
          <p:nvPr/>
        </p:nvSpPr>
        <p:spPr>
          <a:xfrm>
            <a:off x="9802368" y="262432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₹104,800</a:t>
            </a:r>
            <a:endParaRPr lang="en-US" sz="1050" dirty="0"/>
          </a:p>
        </p:txBody>
      </p:sp>
      <p:sp>
        <p:nvSpPr>
          <p:cNvPr id="42" name="Shape 40"/>
          <p:cNvSpPr/>
          <p:nvPr/>
        </p:nvSpPr>
        <p:spPr>
          <a:xfrm>
            <a:off x="640080" y="3127248"/>
            <a:ext cx="1554480" cy="502920"/>
          </a:xfrm>
          <a:prstGeom prst="rect">
            <a:avLst/>
          </a:prstGeom>
          <a:solidFill>
            <a:srgbClr val="FFFFFF"/>
          </a:solidFill>
          <a:ln w="9525">
            <a:solidFill>
              <a:srgbClr val="E3EBF0"/>
            </a:solidFill>
            <a:prstDash val="solid"/>
          </a:ln>
        </p:spPr>
      </p:sp>
      <p:sp>
        <p:nvSpPr>
          <p:cNvPr id="43" name="Text 41"/>
          <p:cNvSpPr/>
          <p:nvPr/>
        </p:nvSpPr>
        <p:spPr>
          <a:xfrm>
            <a:off x="749808" y="3127248"/>
            <a:ext cx="133502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0.25</a:t>
            </a:r>
            <a:endParaRPr lang="en-US" sz="1050" dirty="0"/>
          </a:p>
        </p:txBody>
      </p:sp>
      <p:sp>
        <p:nvSpPr>
          <p:cNvPr id="44" name="Shape 42"/>
          <p:cNvSpPr/>
          <p:nvPr/>
        </p:nvSpPr>
        <p:spPr>
          <a:xfrm>
            <a:off x="2194560" y="3127248"/>
            <a:ext cx="1920240" cy="502920"/>
          </a:xfrm>
          <a:prstGeom prst="rect">
            <a:avLst/>
          </a:prstGeom>
          <a:solidFill>
            <a:srgbClr val="FFFFFF"/>
          </a:solidFill>
          <a:ln w="9525">
            <a:solidFill>
              <a:srgbClr val="E3EBF0"/>
            </a:solidFill>
            <a:prstDash val="solid"/>
          </a:ln>
        </p:spPr>
      </p:sp>
      <p:sp>
        <p:nvSpPr>
          <p:cNvPr id="45" name="Text 43"/>
          <p:cNvSpPr/>
          <p:nvPr/>
        </p:nvSpPr>
        <p:spPr>
          <a:xfrm>
            <a:off x="2304288" y="312724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95</a:t>
            </a:r>
            <a:endParaRPr lang="en-US" sz="1050" dirty="0"/>
          </a:p>
        </p:txBody>
      </p:sp>
      <p:sp>
        <p:nvSpPr>
          <p:cNvPr id="46" name="Shape 44"/>
          <p:cNvSpPr/>
          <p:nvPr/>
        </p:nvSpPr>
        <p:spPr>
          <a:xfrm>
            <a:off x="4114800" y="3127248"/>
            <a:ext cx="1920240" cy="502920"/>
          </a:xfrm>
          <a:prstGeom prst="rect">
            <a:avLst/>
          </a:prstGeom>
          <a:solidFill>
            <a:srgbClr val="FFFFFF"/>
          </a:solidFill>
          <a:ln w="9525">
            <a:solidFill>
              <a:srgbClr val="E3EBF0"/>
            </a:solidFill>
            <a:prstDash val="solid"/>
          </a:ln>
        </p:spPr>
      </p:sp>
      <p:sp>
        <p:nvSpPr>
          <p:cNvPr id="47" name="Text 45"/>
          <p:cNvSpPr/>
          <p:nvPr/>
        </p:nvSpPr>
        <p:spPr>
          <a:xfrm>
            <a:off x="4224528" y="312724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a:t>
            </a:r>
            <a:endParaRPr lang="en-US" sz="1050" dirty="0"/>
          </a:p>
        </p:txBody>
      </p:sp>
      <p:sp>
        <p:nvSpPr>
          <p:cNvPr id="48" name="Shape 46"/>
          <p:cNvSpPr/>
          <p:nvPr/>
        </p:nvSpPr>
        <p:spPr>
          <a:xfrm>
            <a:off x="6035040" y="3127248"/>
            <a:ext cx="1828800" cy="502920"/>
          </a:xfrm>
          <a:prstGeom prst="rect">
            <a:avLst/>
          </a:prstGeom>
          <a:solidFill>
            <a:srgbClr val="FFFFFF"/>
          </a:solidFill>
          <a:ln w="9525">
            <a:solidFill>
              <a:srgbClr val="E3EBF0"/>
            </a:solidFill>
            <a:prstDash val="solid"/>
          </a:ln>
        </p:spPr>
      </p:sp>
      <p:sp>
        <p:nvSpPr>
          <p:cNvPr id="49" name="Text 47"/>
          <p:cNvSpPr/>
          <p:nvPr/>
        </p:nvSpPr>
        <p:spPr>
          <a:xfrm>
            <a:off x="6144768" y="312724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₹38,000</a:t>
            </a:r>
            <a:endParaRPr lang="en-US" sz="1050" dirty="0"/>
          </a:p>
        </p:txBody>
      </p:sp>
      <p:sp>
        <p:nvSpPr>
          <p:cNvPr id="50" name="Shape 48"/>
          <p:cNvSpPr/>
          <p:nvPr/>
        </p:nvSpPr>
        <p:spPr>
          <a:xfrm>
            <a:off x="7863840" y="3127248"/>
            <a:ext cx="1828800" cy="502920"/>
          </a:xfrm>
          <a:prstGeom prst="rect">
            <a:avLst/>
          </a:prstGeom>
          <a:solidFill>
            <a:srgbClr val="FFFFFF"/>
          </a:solidFill>
          <a:ln w="9525">
            <a:solidFill>
              <a:srgbClr val="E3EBF0"/>
            </a:solidFill>
            <a:prstDash val="solid"/>
          </a:ln>
        </p:spPr>
      </p:sp>
      <p:sp>
        <p:nvSpPr>
          <p:cNvPr id="51" name="Text 49"/>
          <p:cNvSpPr/>
          <p:nvPr/>
        </p:nvSpPr>
        <p:spPr>
          <a:xfrm>
            <a:off x="7973568" y="312724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₹40,000</a:t>
            </a:r>
            <a:endParaRPr lang="en-US" sz="1050" dirty="0"/>
          </a:p>
        </p:txBody>
      </p:sp>
      <p:sp>
        <p:nvSpPr>
          <p:cNvPr id="52" name="Shape 50"/>
          <p:cNvSpPr/>
          <p:nvPr/>
        </p:nvSpPr>
        <p:spPr>
          <a:xfrm>
            <a:off x="9692640" y="3127248"/>
            <a:ext cx="1828800" cy="502920"/>
          </a:xfrm>
          <a:prstGeom prst="rect">
            <a:avLst/>
          </a:prstGeom>
          <a:solidFill>
            <a:srgbClr val="FFFFFF"/>
          </a:solidFill>
          <a:ln w="9525">
            <a:solidFill>
              <a:srgbClr val="E3EBF0"/>
            </a:solidFill>
            <a:prstDash val="solid"/>
          </a:ln>
        </p:spPr>
      </p:sp>
      <p:sp>
        <p:nvSpPr>
          <p:cNvPr id="53" name="Text 51"/>
          <p:cNvSpPr/>
          <p:nvPr/>
        </p:nvSpPr>
        <p:spPr>
          <a:xfrm>
            <a:off x="9802368" y="312724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₹78,000</a:t>
            </a:r>
            <a:endParaRPr lang="en-US" sz="1050" dirty="0"/>
          </a:p>
        </p:txBody>
      </p:sp>
      <p:sp>
        <p:nvSpPr>
          <p:cNvPr id="54" name="Shape 52"/>
          <p:cNvSpPr/>
          <p:nvPr/>
        </p:nvSpPr>
        <p:spPr>
          <a:xfrm>
            <a:off x="640080" y="3630168"/>
            <a:ext cx="1554480" cy="502920"/>
          </a:xfrm>
          <a:prstGeom prst="rect">
            <a:avLst/>
          </a:prstGeom>
          <a:solidFill>
            <a:srgbClr val="F5F9FB"/>
          </a:solidFill>
          <a:ln w="9525">
            <a:solidFill>
              <a:srgbClr val="E3EBF0"/>
            </a:solidFill>
            <a:prstDash val="solid"/>
          </a:ln>
        </p:spPr>
      </p:sp>
      <p:sp>
        <p:nvSpPr>
          <p:cNvPr id="55" name="Text 53"/>
          <p:cNvSpPr/>
          <p:nvPr/>
        </p:nvSpPr>
        <p:spPr>
          <a:xfrm>
            <a:off x="749808" y="3630168"/>
            <a:ext cx="133502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0.20</a:t>
            </a:r>
            <a:endParaRPr lang="en-US" sz="1050" dirty="0"/>
          </a:p>
        </p:txBody>
      </p:sp>
      <p:sp>
        <p:nvSpPr>
          <p:cNvPr id="56" name="Shape 54"/>
          <p:cNvSpPr/>
          <p:nvPr/>
        </p:nvSpPr>
        <p:spPr>
          <a:xfrm>
            <a:off x="2194560" y="3630168"/>
            <a:ext cx="1920240" cy="502920"/>
          </a:xfrm>
          <a:prstGeom prst="rect">
            <a:avLst/>
          </a:prstGeom>
          <a:solidFill>
            <a:srgbClr val="F5F9FB"/>
          </a:solidFill>
          <a:ln w="9525">
            <a:solidFill>
              <a:srgbClr val="E3EBF0"/>
            </a:solidFill>
            <a:prstDash val="solid"/>
          </a:ln>
        </p:spPr>
      </p:sp>
      <p:sp>
        <p:nvSpPr>
          <p:cNvPr id="57" name="Text 55"/>
          <p:cNvSpPr/>
          <p:nvPr/>
        </p:nvSpPr>
        <p:spPr>
          <a:xfrm>
            <a:off x="2304288" y="363016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140</a:t>
            </a:r>
            <a:endParaRPr lang="en-US" sz="1050" dirty="0"/>
          </a:p>
        </p:txBody>
      </p:sp>
      <p:sp>
        <p:nvSpPr>
          <p:cNvPr id="58" name="Shape 56"/>
          <p:cNvSpPr/>
          <p:nvPr/>
        </p:nvSpPr>
        <p:spPr>
          <a:xfrm>
            <a:off x="4114800" y="3630168"/>
            <a:ext cx="1920240" cy="502920"/>
          </a:xfrm>
          <a:prstGeom prst="rect">
            <a:avLst/>
          </a:prstGeom>
          <a:solidFill>
            <a:srgbClr val="F5F9FB"/>
          </a:solidFill>
          <a:ln w="9525">
            <a:solidFill>
              <a:srgbClr val="E3EBF0"/>
            </a:solidFill>
            <a:prstDash val="solid"/>
          </a:ln>
        </p:spPr>
      </p:sp>
      <p:sp>
        <p:nvSpPr>
          <p:cNvPr id="59" name="Text 57"/>
          <p:cNvSpPr/>
          <p:nvPr/>
        </p:nvSpPr>
        <p:spPr>
          <a:xfrm>
            <a:off x="4224528" y="363016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a:t>
            </a:r>
            <a:endParaRPr lang="en-US" sz="1050" dirty="0"/>
          </a:p>
        </p:txBody>
      </p:sp>
      <p:sp>
        <p:nvSpPr>
          <p:cNvPr id="60" name="Shape 58"/>
          <p:cNvSpPr/>
          <p:nvPr/>
        </p:nvSpPr>
        <p:spPr>
          <a:xfrm>
            <a:off x="6035040" y="3630168"/>
            <a:ext cx="1828800" cy="502920"/>
          </a:xfrm>
          <a:prstGeom prst="rect">
            <a:avLst/>
          </a:prstGeom>
          <a:solidFill>
            <a:srgbClr val="F5F9FB"/>
          </a:solidFill>
          <a:ln w="9525">
            <a:solidFill>
              <a:srgbClr val="E3EBF0"/>
            </a:solidFill>
            <a:prstDash val="solid"/>
          </a:ln>
        </p:spPr>
      </p:sp>
      <p:sp>
        <p:nvSpPr>
          <p:cNvPr id="61" name="Text 59"/>
          <p:cNvSpPr/>
          <p:nvPr/>
        </p:nvSpPr>
        <p:spPr>
          <a:xfrm>
            <a:off x="6144768" y="363016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₹56,000</a:t>
            </a:r>
            <a:endParaRPr lang="en-US" sz="1050" dirty="0"/>
          </a:p>
        </p:txBody>
      </p:sp>
      <p:sp>
        <p:nvSpPr>
          <p:cNvPr id="62" name="Shape 60"/>
          <p:cNvSpPr/>
          <p:nvPr/>
        </p:nvSpPr>
        <p:spPr>
          <a:xfrm>
            <a:off x="7863840" y="3630168"/>
            <a:ext cx="1828800" cy="502920"/>
          </a:xfrm>
          <a:prstGeom prst="rect">
            <a:avLst/>
          </a:prstGeom>
          <a:solidFill>
            <a:srgbClr val="F5F9FB"/>
          </a:solidFill>
          <a:ln w="9525">
            <a:solidFill>
              <a:srgbClr val="E3EBF0"/>
            </a:solidFill>
            <a:prstDash val="solid"/>
          </a:ln>
        </p:spPr>
      </p:sp>
      <p:sp>
        <p:nvSpPr>
          <p:cNvPr id="63" name="Text 61"/>
          <p:cNvSpPr/>
          <p:nvPr/>
        </p:nvSpPr>
        <p:spPr>
          <a:xfrm>
            <a:off x="7973568" y="363016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₹40,000</a:t>
            </a:r>
            <a:endParaRPr lang="en-US" sz="1050" dirty="0"/>
          </a:p>
        </p:txBody>
      </p:sp>
      <p:sp>
        <p:nvSpPr>
          <p:cNvPr id="64" name="Shape 62"/>
          <p:cNvSpPr/>
          <p:nvPr/>
        </p:nvSpPr>
        <p:spPr>
          <a:xfrm>
            <a:off x="9692640" y="3630168"/>
            <a:ext cx="1828800" cy="502920"/>
          </a:xfrm>
          <a:prstGeom prst="rect">
            <a:avLst/>
          </a:prstGeom>
          <a:solidFill>
            <a:srgbClr val="F5F9FB"/>
          </a:solidFill>
          <a:ln w="9525">
            <a:solidFill>
              <a:srgbClr val="E3EBF0"/>
            </a:solidFill>
            <a:prstDash val="solid"/>
          </a:ln>
        </p:spPr>
      </p:sp>
      <p:sp>
        <p:nvSpPr>
          <p:cNvPr id="65" name="Text 63"/>
          <p:cNvSpPr/>
          <p:nvPr/>
        </p:nvSpPr>
        <p:spPr>
          <a:xfrm>
            <a:off x="9802368" y="363016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₹96,000</a:t>
            </a:r>
            <a:endParaRPr lang="en-US" sz="1050" dirty="0"/>
          </a:p>
        </p:txBody>
      </p:sp>
      <p:sp>
        <p:nvSpPr>
          <p:cNvPr id="66" name="Shape 64"/>
          <p:cNvSpPr/>
          <p:nvPr/>
        </p:nvSpPr>
        <p:spPr>
          <a:xfrm>
            <a:off x="640080" y="4133088"/>
            <a:ext cx="1554480" cy="502920"/>
          </a:xfrm>
          <a:prstGeom prst="rect">
            <a:avLst/>
          </a:prstGeom>
          <a:solidFill>
            <a:srgbClr val="FFFFFF"/>
          </a:solidFill>
          <a:ln w="9525">
            <a:solidFill>
              <a:srgbClr val="E3EBF0"/>
            </a:solidFill>
            <a:prstDash val="solid"/>
          </a:ln>
        </p:spPr>
      </p:sp>
      <p:sp>
        <p:nvSpPr>
          <p:cNvPr id="67" name="Text 65"/>
          <p:cNvSpPr/>
          <p:nvPr/>
        </p:nvSpPr>
        <p:spPr>
          <a:xfrm>
            <a:off x="749808" y="4133088"/>
            <a:ext cx="133502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0.10</a:t>
            </a:r>
            <a:endParaRPr lang="en-US" sz="1050" dirty="0"/>
          </a:p>
        </p:txBody>
      </p:sp>
      <p:sp>
        <p:nvSpPr>
          <p:cNvPr id="68" name="Shape 66"/>
          <p:cNvSpPr/>
          <p:nvPr/>
        </p:nvSpPr>
        <p:spPr>
          <a:xfrm>
            <a:off x="2194560" y="4133088"/>
            <a:ext cx="1920240" cy="502920"/>
          </a:xfrm>
          <a:prstGeom prst="rect">
            <a:avLst/>
          </a:prstGeom>
          <a:solidFill>
            <a:srgbClr val="FFFFFF"/>
          </a:solidFill>
          <a:ln w="9525">
            <a:solidFill>
              <a:srgbClr val="E3EBF0"/>
            </a:solidFill>
            <a:prstDash val="solid"/>
          </a:ln>
        </p:spPr>
      </p:sp>
      <p:sp>
        <p:nvSpPr>
          <p:cNvPr id="69" name="Text 67"/>
          <p:cNvSpPr/>
          <p:nvPr/>
        </p:nvSpPr>
        <p:spPr>
          <a:xfrm>
            <a:off x="2304288" y="413308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310</a:t>
            </a:r>
            <a:endParaRPr lang="en-US" sz="1050" dirty="0"/>
          </a:p>
        </p:txBody>
      </p:sp>
      <p:sp>
        <p:nvSpPr>
          <p:cNvPr id="70" name="Shape 68"/>
          <p:cNvSpPr/>
          <p:nvPr/>
        </p:nvSpPr>
        <p:spPr>
          <a:xfrm>
            <a:off x="4114800" y="4133088"/>
            <a:ext cx="1920240" cy="502920"/>
          </a:xfrm>
          <a:prstGeom prst="rect">
            <a:avLst/>
          </a:prstGeom>
          <a:solidFill>
            <a:srgbClr val="FFFFFF"/>
          </a:solidFill>
          <a:ln w="9525">
            <a:solidFill>
              <a:srgbClr val="E3EBF0"/>
            </a:solidFill>
            <a:prstDash val="solid"/>
          </a:ln>
        </p:spPr>
      </p:sp>
      <p:sp>
        <p:nvSpPr>
          <p:cNvPr id="71" name="Text 69"/>
          <p:cNvSpPr/>
          <p:nvPr/>
        </p:nvSpPr>
        <p:spPr>
          <a:xfrm>
            <a:off x="4224528" y="4133088"/>
            <a:ext cx="1700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a:t>
            </a:r>
            <a:endParaRPr lang="en-US" sz="1050" dirty="0"/>
          </a:p>
        </p:txBody>
      </p:sp>
      <p:sp>
        <p:nvSpPr>
          <p:cNvPr id="72" name="Shape 70"/>
          <p:cNvSpPr/>
          <p:nvPr/>
        </p:nvSpPr>
        <p:spPr>
          <a:xfrm>
            <a:off x="6035040" y="4133088"/>
            <a:ext cx="1828800" cy="502920"/>
          </a:xfrm>
          <a:prstGeom prst="rect">
            <a:avLst/>
          </a:prstGeom>
          <a:solidFill>
            <a:srgbClr val="FFFFFF"/>
          </a:solidFill>
          <a:ln w="9525">
            <a:solidFill>
              <a:srgbClr val="E3EBF0"/>
            </a:solidFill>
            <a:prstDash val="solid"/>
          </a:ln>
        </p:spPr>
      </p:sp>
      <p:sp>
        <p:nvSpPr>
          <p:cNvPr id="73" name="Text 71"/>
          <p:cNvSpPr/>
          <p:nvPr/>
        </p:nvSpPr>
        <p:spPr>
          <a:xfrm>
            <a:off x="6144768" y="413308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₹124,000</a:t>
            </a:r>
            <a:endParaRPr lang="en-US" sz="1050" dirty="0"/>
          </a:p>
        </p:txBody>
      </p:sp>
      <p:sp>
        <p:nvSpPr>
          <p:cNvPr id="74" name="Shape 72"/>
          <p:cNvSpPr/>
          <p:nvPr/>
        </p:nvSpPr>
        <p:spPr>
          <a:xfrm>
            <a:off x="7863840" y="4133088"/>
            <a:ext cx="1828800" cy="502920"/>
          </a:xfrm>
          <a:prstGeom prst="rect">
            <a:avLst/>
          </a:prstGeom>
          <a:solidFill>
            <a:srgbClr val="FFFFFF"/>
          </a:solidFill>
          <a:ln w="9525">
            <a:solidFill>
              <a:srgbClr val="E3EBF0"/>
            </a:solidFill>
            <a:prstDash val="solid"/>
          </a:ln>
        </p:spPr>
      </p:sp>
      <p:sp>
        <p:nvSpPr>
          <p:cNvPr id="75" name="Text 73"/>
          <p:cNvSpPr/>
          <p:nvPr/>
        </p:nvSpPr>
        <p:spPr>
          <a:xfrm>
            <a:off x="7973568" y="413308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₹40,000</a:t>
            </a:r>
            <a:endParaRPr lang="en-US" sz="1050" dirty="0"/>
          </a:p>
        </p:txBody>
      </p:sp>
      <p:sp>
        <p:nvSpPr>
          <p:cNvPr id="76" name="Shape 74"/>
          <p:cNvSpPr/>
          <p:nvPr/>
        </p:nvSpPr>
        <p:spPr>
          <a:xfrm>
            <a:off x="9692640" y="4133088"/>
            <a:ext cx="1828800" cy="502920"/>
          </a:xfrm>
          <a:prstGeom prst="rect">
            <a:avLst/>
          </a:prstGeom>
          <a:solidFill>
            <a:srgbClr val="FFFFFF"/>
          </a:solidFill>
          <a:ln w="9525">
            <a:solidFill>
              <a:srgbClr val="E3EBF0"/>
            </a:solidFill>
            <a:prstDash val="solid"/>
          </a:ln>
        </p:spPr>
      </p:sp>
      <p:sp>
        <p:nvSpPr>
          <p:cNvPr id="77" name="Text 75"/>
          <p:cNvSpPr/>
          <p:nvPr/>
        </p:nvSpPr>
        <p:spPr>
          <a:xfrm>
            <a:off x="9802368" y="4133088"/>
            <a:ext cx="1609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₹164,000</a:t>
            </a:r>
            <a:endParaRPr lang="en-US" sz="1050" dirty="0"/>
          </a:p>
        </p:txBody>
      </p:sp>
      <p:sp>
        <p:nvSpPr>
          <p:cNvPr id="78" name="Shape 76"/>
          <p:cNvSpPr/>
          <p:nvPr/>
        </p:nvSpPr>
        <p:spPr>
          <a:xfrm>
            <a:off x="640080" y="4709160"/>
            <a:ext cx="10881360" cy="1005840"/>
          </a:xfrm>
          <a:prstGeom prst="roundRect">
            <a:avLst>
              <a:gd name="adj" fmla="val 5455"/>
            </a:avLst>
          </a:prstGeom>
          <a:solidFill>
            <a:srgbClr val="EDF5EE"/>
          </a:solidFill>
          <a:ln w="12700">
            <a:solidFill>
              <a:srgbClr val="C2DCC8"/>
            </a:solidFill>
            <a:prstDash val="solid"/>
          </a:ln>
        </p:spPr>
      </p:sp>
      <p:sp>
        <p:nvSpPr>
          <p:cNvPr id="79" name="Text 77"/>
          <p:cNvSpPr/>
          <p:nvPr/>
        </p:nvSpPr>
        <p:spPr>
          <a:xfrm>
            <a:off x="914400" y="4892040"/>
            <a:ext cx="10332720" cy="640080"/>
          </a:xfrm>
          <a:prstGeom prst="rect">
            <a:avLst/>
          </a:prstGeom>
          <a:noFill/>
          <a:ln/>
        </p:spPr>
        <p:txBody>
          <a:bodyPr wrap="square" lIns="0" tIns="0" rIns="0" bIns="0" rtlCol="0" anchor="ctr"/>
          <a:lstStyle/>
          <a:p>
            <a:pPr indent="0" marL="0">
              <a:lnSpc>
                <a:spcPts val="1700"/>
              </a:lnSpc>
              <a:buNone/>
            </a:pPr>
            <a:r>
              <a:rPr lang="en-US" sz="1300" b="1" dirty="0">
                <a:solidFill>
                  <a:srgbClr val="1A2430"/>
                </a:solidFill>
                <a:latin typeface="Calibri" pitchFamily="34" charset="0"/>
                <a:ea typeface="Calibri" pitchFamily="34" charset="-122"/>
                <a:cs typeface="Calibri" pitchFamily="34" charset="-120"/>
              </a:rPr>
              <a:t>Cost falls from ₹172,000 to ₹78,000 per thousand parts — a 55% reduction from changing one number. The model was not touched. The optimum is 0.25, nowhere near the default.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1.10</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Two kinds of uncertainty — and why the distinction matters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640080" y="1371600"/>
            <a:ext cx="5303520" cy="2286000"/>
          </a:xfrm>
          <a:prstGeom prst="roundRect">
            <a:avLst>
              <a:gd name="adj" fmla="val 2400"/>
            </a:avLst>
          </a:prstGeom>
          <a:solidFill>
            <a:srgbClr val="EEF3F7"/>
          </a:solidFill>
          <a:ln w="12700">
            <a:solidFill>
              <a:srgbClr val="D8E4EC"/>
            </a:solidFill>
            <a:prstDash val="solid"/>
          </a:ln>
        </p:spPr>
      </p:sp>
      <p:sp>
        <p:nvSpPr>
          <p:cNvPr id="6" name="Text 4"/>
          <p:cNvSpPr/>
          <p:nvPr/>
        </p:nvSpPr>
        <p:spPr>
          <a:xfrm>
            <a:off x="841248" y="1508760"/>
            <a:ext cx="49011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Aleatoric — irreducible</a:t>
            </a:r>
            <a:endParaRPr lang="en-US" sz="1400" dirty="0"/>
          </a:p>
        </p:txBody>
      </p:sp>
      <p:sp>
        <p:nvSpPr>
          <p:cNvPr id="7" name="Text 5"/>
          <p:cNvSpPr/>
          <p:nvPr/>
        </p:nvSpPr>
        <p:spPr>
          <a:xfrm>
            <a:off x="841248" y="1874520"/>
            <a:ext cx="4901184" cy="16276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Noise inherent in the data. Two genuinely identical inputs produce different outcomes.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Example: a borderline surface mark two inspectors would label differently.</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More data does not reduce it. The response is to accept a ceiling, or change what you measure.</a:t>
            </a:r>
            <a:endParaRPr lang="en-US" sz="1150" dirty="0"/>
          </a:p>
        </p:txBody>
      </p:sp>
      <p:sp>
        <p:nvSpPr>
          <p:cNvPr id="8" name="Shape 6"/>
          <p:cNvSpPr/>
          <p:nvPr/>
        </p:nvSpPr>
        <p:spPr>
          <a:xfrm>
            <a:off x="6263640" y="1371600"/>
            <a:ext cx="5257800" cy="2286000"/>
          </a:xfrm>
          <a:prstGeom prst="roundRect">
            <a:avLst>
              <a:gd name="adj" fmla="val 2400"/>
            </a:avLst>
          </a:prstGeom>
          <a:solidFill>
            <a:srgbClr val="EEF3F7"/>
          </a:solidFill>
          <a:ln w="12700">
            <a:solidFill>
              <a:srgbClr val="D8E4EC"/>
            </a:solidFill>
            <a:prstDash val="solid"/>
          </a:ln>
        </p:spPr>
      </p:sp>
      <p:sp>
        <p:nvSpPr>
          <p:cNvPr id="9" name="Text 7"/>
          <p:cNvSpPr/>
          <p:nvPr/>
        </p:nvSpPr>
        <p:spPr>
          <a:xfrm>
            <a:off x="6464808" y="1508760"/>
            <a:ext cx="485546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Epistemic — reducible</a:t>
            </a:r>
            <a:endParaRPr lang="en-US" sz="1400" dirty="0"/>
          </a:p>
        </p:txBody>
      </p:sp>
      <p:sp>
        <p:nvSpPr>
          <p:cNvPr id="10" name="Text 8"/>
          <p:cNvSpPr/>
          <p:nvPr/>
        </p:nvSpPr>
        <p:spPr>
          <a:xfrm>
            <a:off x="6464808" y="1874520"/>
            <a:ext cx="4855464" cy="16276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model does not know, because it has not seen enough of this kind of case.</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Example: a product variant that appeared twice in training.</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More targeted data does reduce it. This is where active learning pays.</a:t>
            </a:r>
            <a:endParaRPr lang="en-US" sz="1150" dirty="0"/>
          </a:p>
        </p:txBody>
      </p:sp>
      <p:sp>
        <p:nvSpPr>
          <p:cNvPr id="11" name="Shape 9"/>
          <p:cNvSpPr/>
          <p:nvPr/>
        </p:nvSpPr>
        <p:spPr>
          <a:xfrm>
            <a:off x="640080" y="3886200"/>
            <a:ext cx="10881360" cy="1508760"/>
          </a:xfrm>
          <a:prstGeom prst="roundRect">
            <a:avLst>
              <a:gd name="adj" fmla="val 3636"/>
            </a:avLst>
          </a:prstGeom>
          <a:solidFill>
            <a:srgbClr val="FDF1E3"/>
          </a:solidFill>
          <a:ln w="12700">
            <a:solidFill>
              <a:srgbClr val="EBD3BB"/>
            </a:solidFill>
            <a:prstDash val="solid"/>
          </a:ln>
        </p:spPr>
      </p:sp>
      <p:sp>
        <p:nvSpPr>
          <p:cNvPr id="12" name="Text 10"/>
          <p:cNvSpPr/>
          <p:nvPr/>
        </p:nvSpPr>
        <p:spPr>
          <a:xfrm>
            <a:off x="914400" y="4069080"/>
            <a:ext cx="10332720" cy="320040"/>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Why this matters practically</a:t>
            </a:r>
            <a:endParaRPr lang="en-US" sz="1400" dirty="0"/>
          </a:p>
        </p:txBody>
      </p:sp>
      <p:sp>
        <p:nvSpPr>
          <p:cNvPr id="13" name="Text 11"/>
          <p:cNvSpPr/>
          <p:nvPr/>
        </p:nvSpPr>
        <p:spPr>
          <a:xfrm>
            <a:off x="914400" y="4407408"/>
            <a:ext cx="10332720" cy="82296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Teams collect more data to fix uncertainty that is aleatoric, the number does not move, and they conclude the approach is wrong. Separating the two tells you whether collection will help at all, before you fund it. Epistemic uncertainty is also what active learning should target on Day 4.</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Where confidence scores come from — and why they lie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640080" y="1280160"/>
            <a:ext cx="2743200" cy="384048"/>
          </a:xfrm>
          <a:prstGeom prst="rect">
            <a:avLst/>
          </a:prstGeom>
          <a:solidFill>
            <a:srgbClr val="21295C"/>
          </a:solidFill>
          <a:ln/>
        </p:spPr>
      </p:sp>
      <p:sp>
        <p:nvSpPr>
          <p:cNvPr id="6" name="Text 4"/>
          <p:cNvSpPr/>
          <p:nvPr/>
        </p:nvSpPr>
        <p:spPr>
          <a:xfrm>
            <a:off x="749808" y="1280160"/>
            <a:ext cx="25237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 type</a:t>
            </a:r>
            <a:endParaRPr lang="en-US" sz="1100" dirty="0"/>
          </a:p>
        </p:txBody>
      </p:sp>
      <p:sp>
        <p:nvSpPr>
          <p:cNvPr id="7" name="Shape 5"/>
          <p:cNvSpPr/>
          <p:nvPr/>
        </p:nvSpPr>
        <p:spPr>
          <a:xfrm>
            <a:off x="3383280" y="1280160"/>
            <a:ext cx="4206240" cy="384048"/>
          </a:xfrm>
          <a:prstGeom prst="rect">
            <a:avLst/>
          </a:prstGeom>
          <a:solidFill>
            <a:srgbClr val="21295C"/>
          </a:solidFill>
          <a:ln/>
        </p:spPr>
      </p:sp>
      <p:sp>
        <p:nvSpPr>
          <p:cNvPr id="8" name="Text 6"/>
          <p:cNvSpPr/>
          <p:nvPr/>
        </p:nvSpPr>
        <p:spPr>
          <a:xfrm>
            <a:off x="3493008" y="1280160"/>
            <a:ext cx="3986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Confidence source</a:t>
            </a:r>
            <a:endParaRPr lang="en-US" sz="1100" dirty="0"/>
          </a:p>
        </p:txBody>
      </p:sp>
      <p:sp>
        <p:nvSpPr>
          <p:cNvPr id="9" name="Shape 7"/>
          <p:cNvSpPr/>
          <p:nvPr/>
        </p:nvSpPr>
        <p:spPr>
          <a:xfrm>
            <a:off x="7589520" y="1280160"/>
            <a:ext cx="3931920" cy="384048"/>
          </a:xfrm>
          <a:prstGeom prst="rect">
            <a:avLst/>
          </a:prstGeom>
          <a:solidFill>
            <a:srgbClr val="21295C"/>
          </a:solidFill>
          <a:ln/>
        </p:spPr>
      </p:sp>
      <p:sp>
        <p:nvSpPr>
          <p:cNvPr id="10" name="Text 8"/>
          <p:cNvSpPr/>
          <p:nvPr/>
        </p:nvSpPr>
        <p:spPr>
          <a:xfrm>
            <a:off x="7699248" y="1280160"/>
            <a:ext cx="37124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Typical behaviour</a:t>
            </a:r>
            <a:endParaRPr lang="en-US" sz="1100" dirty="0"/>
          </a:p>
        </p:txBody>
      </p:sp>
      <p:sp>
        <p:nvSpPr>
          <p:cNvPr id="11" name="Shape 9"/>
          <p:cNvSpPr/>
          <p:nvPr/>
        </p:nvSpPr>
        <p:spPr>
          <a:xfrm>
            <a:off x="640080" y="1664208"/>
            <a:ext cx="2743200" cy="530352"/>
          </a:xfrm>
          <a:prstGeom prst="rect">
            <a:avLst/>
          </a:prstGeom>
          <a:solidFill>
            <a:srgbClr val="FFFFFF"/>
          </a:solidFill>
          <a:ln w="9525">
            <a:solidFill>
              <a:srgbClr val="E3EBF0"/>
            </a:solidFill>
            <a:prstDash val="solid"/>
          </a:ln>
        </p:spPr>
      </p:sp>
      <p:sp>
        <p:nvSpPr>
          <p:cNvPr id="12" name="Text 10"/>
          <p:cNvSpPr/>
          <p:nvPr/>
        </p:nvSpPr>
        <p:spPr>
          <a:xfrm>
            <a:off x="749808" y="1664208"/>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Logistic regression</a:t>
            </a:r>
            <a:endParaRPr lang="en-US" sz="1050" dirty="0"/>
          </a:p>
        </p:txBody>
      </p:sp>
      <p:sp>
        <p:nvSpPr>
          <p:cNvPr id="13" name="Shape 11"/>
          <p:cNvSpPr/>
          <p:nvPr/>
        </p:nvSpPr>
        <p:spPr>
          <a:xfrm>
            <a:off x="3383280" y="1664208"/>
            <a:ext cx="4206240" cy="530352"/>
          </a:xfrm>
          <a:prstGeom prst="rect">
            <a:avLst/>
          </a:prstGeom>
          <a:solidFill>
            <a:srgbClr val="FFFFFF"/>
          </a:solidFill>
          <a:ln w="9525">
            <a:solidFill>
              <a:srgbClr val="E3EBF0"/>
            </a:solidFill>
            <a:prstDash val="solid"/>
          </a:ln>
        </p:spPr>
      </p:sp>
      <p:sp>
        <p:nvSpPr>
          <p:cNvPr id="14" name="Text 12"/>
          <p:cNvSpPr/>
          <p:nvPr/>
        </p:nvSpPr>
        <p:spPr>
          <a:xfrm>
            <a:off x="3493008" y="1664208"/>
            <a:ext cx="398678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Predicted probability</a:t>
            </a:r>
            <a:endParaRPr lang="en-US" sz="1050" dirty="0"/>
          </a:p>
        </p:txBody>
      </p:sp>
      <p:sp>
        <p:nvSpPr>
          <p:cNvPr id="15" name="Shape 13"/>
          <p:cNvSpPr/>
          <p:nvPr/>
        </p:nvSpPr>
        <p:spPr>
          <a:xfrm>
            <a:off x="7589520" y="1664208"/>
            <a:ext cx="3931920" cy="530352"/>
          </a:xfrm>
          <a:prstGeom prst="rect">
            <a:avLst/>
          </a:prstGeom>
          <a:solidFill>
            <a:srgbClr val="FFFFFF"/>
          </a:solidFill>
          <a:ln w="9525">
            <a:solidFill>
              <a:srgbClr val="E3EBF0"/>
            </a:solidFill>
            <a:prstDash val="solid"/>
          </a:ln>
        </p:spPr>
      </p:sp>
      <p:sp>
        <p:nvSpPr>
          <p:cNvPr id="16" name="Text 14"/>
          <p:cNvSpPr/>
          <p:nvPr/>
        </p:nvSpPr>
        <p:spPr>
          <a:xfrm>
            <a:off x="7699248" y="1664208"/>
            <a:ext cx="371246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Reasonably calibrated by construction</a:t>
            </a:r>
            <a:endParaRPr lang="en-US" sz="1050" dirty="0"/>
          </a:p>
        </p:txBody>
      </p:sp>
      <p:sp>
        <p:nvSpPr>
          <p:cNvPr id="17" name="Shape 15"/>
          <p:cNvSpPr/>
          <p:nvPr/>
        </p:nvSpPr>
        <p:spPr>
          <a:xfrm>
            <a:off x="640080" y="2194560"/>
            <a:ext cx="2743200" cy="530352"/>
          </a:xfrm>
          <a:prstGeom prst="rect">
            <a:avLst/>
          </a:prstGeom>
          <a:solidFill>
            <a:srgbClr val="F5F9FB"/>
          </a:solidFill>
          <a:ln w="9525">
            <a:solidFill>
              <a:srgbClr val="E3EBF0"/>
            </a:solidFill>
            <a:prstDash val="solid"/>
          </a:ln>
        </p:spPr>
      </p:sp>
      <p:sp>
        <p:nvSpPr>
          <p:cNvPr id="18" name="Text 16"/>
          <p:cNvSpPr/>
          <p:nvPr/>
        </p:nvSpPr>
        <p:spPr>
          <a:xfrm>
            <a:off x="749808" y="2194560"/>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Gradient-boosted trees</a:t>
            </a:r>
            <a:endParaRPr lang="en-US" sz="1050" dirty="0"/>
          </a:p>
        </p:txBody>
      </p:sp>
      <p:sp>
        <p:nvSpPr>
          <p:cNvPr id="19" name="Shape 17"/>
          <p:cNvSpPr/>
          <p:nvPr/>
        </p:nvSpPr>
        <p:spPr>
          <a:xfrm>
            <a:off x="3383280" y="2194560"/>
            <a:ext cx="4206240" cy="530352"/>
          </a:xfrm>
          <a:prstGeom prst="rect">
            <a:avLst/>
          </a:prstGeom>
          <a:solidFill>
            <a:srgbClr val="F5F9FB"/>
          </a:solidFill>
          <a:ln w="9525">
            <a:solidFill>
              <a:srgbClr val="E3EBF0"/>
            </a:solidFill>
            <a:prstDash val="solid"/>
          </a:ln>
        </p:spPr>
      </p:sp>
      <p:sp>
        <p:nvSpPr>
          <p:cNvPr id="20" name="Text 18"/>
          <p:cNvSpPr/>
          <p:nvPr/>
        </p:nvSpPr>
        <p:spPr>
          <a:xfrm>
            <a:off x="3493008" y="2194560"/>
            <a:ext cx="398678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Predicted probability / vote share</a:t>
            </a:r>
            <a:endParaRPr lang="en-US" sz="1050" dirty="0"/>
          </a:p>
        </p:txBody>
      </p:sp>
      <p:sp>
        <p:nvSpPr>
          <p:cNvPr id="21" name="Shape 19"/>
          <p:cNvSpPr/>
          <p:nvPr/>
        </p:nvSpPr>
        <p:spPr>
          <a:xfrm>
            <a:off x="7589520" y="2194560"/>
            <a:ext cx="3931920" cy="530352"/>
          </a:xfrm>
          <a:prstGeom prst="rect">
            <a:avLst/>
          </a:prstGeom>
          <a:solidFill>
            <a:srgbClr val="F5F9FB"/>
          </a:solidFill>
          <a:ln w="9525">
            <a:solidFill>
              <a:srgbClr val="E3EBF0"/>
            </a:solidFill>
            <a:prstDash val="solid"/>
          </a:ln>
        </p:spPr>
      </p:sp>
      <p:sp>
        <p:nvSpPr>
          <p:cNvPr id="22" name="Text 20"/>
          <p:cNvSpPr/>
          <p:nvPr/>
        </p:nvSpPr>
        <p:spPr>
          <a:xfrm>
            <a:off x="7699248" y="2194560"/>
            <a:ext cx="371246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Usually over-confident near 0 and 1</a:t>
            </a:r>
            <a:endParaRPr lang="en-US" sz="1050" dirty="0"/>
          </a:p>
        </p:txBody>
      </p:sp>
      <p:sp>
        <p:nvSpPr>
          <p:cNvPr id="23" name="Shape 21"/>
          <p:cNvSpPr/>
          <p:nvPr/>
        </p:nvSpPr>
        <p:spPr>
          <a:xfrm>
            <a:off x="640080" y="2724912"/>
            <a:ext cx="2743200" cy="530352"/>
          </a:xfrm>
          <a:prstGeom prst="rect">
            <a:avLst/>
          </a:prstGeom>
          <a:solidFill>
            <a:srgbClr val="FFFFFF"/>
          </a:solidFill>
          <a:ln w="9525">
            <a:solidFill>
              <a:srgbClr val="E3EBF0"/>
            </a:solidFill>
            <a:prstDash val="solid"/>
          </a:ln>
        </p:spPr>
      </p:sp>
      <p:sp>
        <p:nvSpPr>
          <p:cNvPr id="24" name="Text 22"/>
          <p:cNvSpPr/>
          <p:nvPr/>
        </p:nvSpPr>
        <p:spPr>
          <a:xfrm>
            <a:off x="749808" y="2724912"/>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Deep neural network</a:t>
            </a:r>
            <a:endParaRPr lang="en-US" sz="1050" dirty="0"/>
          </a:p>
        </p:txBody>
      </p:sp>
      <p:sp>
        <p:nvSpPr>
          <p:cNvPr id="25" name="Shape 23"/>
          <p:cNvSpPr/>
          <p:nvPr/>
        </p:nvSpPr>
        <p:spPr>
          <a:xfrm>
            <a:off x="3383280" y="2724912"/>
            <a:ext cx="4206240" cy="530352"/>
          </a:xfrm>
          <a:prstGeom prst="rect">
            <a:avLst/>
          </a:prstGeom>
          <a:solidFill>
            <a:srgbClr val="FFFFFF"/>
          </a:solidFill>
          <a:ln w="9525">
            <a:solidFill>
              <a:srgbClr val="E3EBF0"/>
            </a:solidFill>
            <a:prstDash val="solid"/>
          </a:ln>
        </p:spPr>
      </p:sp>
      <p:sp>
        <p:nvSpPr>
          <p:cNvPr id="26" name="Text 24"/>
          <p:cNvSpPr/>
          <p:nvPr/>
        </p:nvSpPr>
        <p:spPr>
          <a:xfrm>
            <a:off x="3493008" y="2724912"/>
            <a:ext cx="398678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Softmax output</a:t>
            </a:r>
            <a:endParaRPr lang="en-US" sz="1050" dirty="0"/>
          </a:p>
        </p:txBody>
      </p:sp>
      <p:sp>
        <p:nvSpPr>
          <p:cNvPr id="27" name="Shape 25"/>
          <p:cNvSpPr/>
          <p:nvPr/>
        </p:nvSpPr>
        <p:spPr>
          <a:xfrm>
            <a:off x="7589520" y="2724912"/>
            <a:ext cx="3931920" cy="530352"/>
          </a:xfrm>
          <a:prstGeom prst="rect">
            <a:avLst/>
          </a:prstGeom>
          <a:solidFill>
            <a:srgbClr val="FFFFFF"/>
          </a:solidFill>
          <a:ln w="9525">
            <a:solidFill>
              <a:srgbClr val="E3EBF0"/>
            </a:solidFill>
            <a:prstDash val="solid"/>
          </a:ln>
        </p:spPr>
      </p:sp>
      <p:sp>
        <p:nvSpPr>
          <p:cNvPr id="28" name="Text 26"/>
          <p:cNvSpPr/>
          <p:nvPr/>
        </p:nvSpPr>
        <p:spPr>
          <a:xfrm>
            <a:off x="7699248" y="2724912"/>
            <a:ext cx="371246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Systematically and often badly over-confident</a:t>
            </a:r>
            <a:endParaRPr lang="en-US" sz="1050" dirty="0"/>
          </a:p>
        </p:txBody>
      </p:sp>
      <p:sp>
        <p:nvSpPr>
          <p:cNvPr id="29" name="Shape 27"/>
          <p:cNvSpPr/>
          <p:nvPr/>
        </p:nvSpPr>
        <p:spPr>
          <a:xfrm>
            <a:off x="640080" y="3255264"/>
            <a:ext cx="2743200" cy="530352"/>
          </a:xfrm>
          <a:prstGeom prst="rect">
            <a:avLst/>
          </a:prstGeom>
          <a:solidFill>
            <a:srgbClr val="F5F9FB"/>
          </a:solidFill>
          <a:ln w="9525">
            <a:solidFill>
              <a:srgbClr val="E3EBF0"/>
            </a:solidFill>
            <a:prstDash val="solid"/>
          </a:ln>
        </p:spPr>
      </p:sp>
      <p:sp>
        <p:nvSpPr>
          <p:cNvPr id="30" name="Text 28"/>
          <p:cNvSpPr/>
          <p:nvPr/>
        </p:nvSpPr>
        <p:spPr>
          <a:xfrm>
            <a:off x="749808" y="3255264"/>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Object detector</a:t>
            </a:r>
            <a:endParaRPr lang="en-US" sz="1050" dirty="0"/>
          </a:p>
        </p:txBody>
      </p:sp>
      <p:sp>
        <p:nvSpPr>
          <p:cNvPr id="31" name="Shape 29"/>
          <p:cNvSpPr/>
          <p:nvPr/>
        </p:nvSpPr>
        <p:spPr>
          <a:xfrm>
            <a:off x="3383280" y="3255264"/>
            <a:ext cx="4206240" cy="530352"/>
          </a:xfrm>
          <a:prstGeom prst="rect">
            <a:avLst/>
          </a:prstGeom>
          <a:solidFill>
            <a:srgbClr val="F5F9FB"/>
          </a:solidFill>
          <a:ln w="9525">
            <a:solidFill>
              <a:srgbClr val="E3EBF0"/>
            </a:solidFill>
            <a:prstDash val="solid"/>
          </a:ln>
        </p:spPr>
      </p:sp>
      <p:sp>
        <p:nvSpPr>
          <p:cNvPr id="32" name="Text 30"/>
          <p:cNvSpPr/>
          <p:nvPr/>
        </p:nvSpPr>
        <p:spPr>
          <a:xfrm>
            <a:off x="3493008" y="3255264"/>
            <a:ext cx="398678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Objectness × class score</a:t>
            </a:r>
            <a:endParaRPr lang="en-US" sz="1050" dirty="0"/>
          </a:p>
        </p:txBody>
      </p:sp>
      <p:sp>
        <p:nvSpPr>
          <p:cNvPr id="33" name="Shape 31"/>
          <p:cNvSpPr/>
          <p:nvPr/>
        </p:nvSpPr>
        <p:spPr>
          <a:xfrm>
            <a:off x="7589520" y="3255264"/>
            <a:ext cx="3931920" cy="530352"/>
          </a:xfrm>
          <a:prstGeom prst="rect">
            <a:avLst/>
          </a:prstGeom>
          <a:solidFill>
            <a:srgbClr val="F5F9FB"/>
          </a:solidFill>
          <a:ln w="9525">
            <a:solidFill>
              <a:srgbClr val="E3EBF0"/>
            </a:solidFill>
            <a:prstDash val="solid"/>
          </a:ln>
        </p:spPr>
      </p:sp>
      <p:sp>
        <p:nvSpPr>
          <p:cNvPr id="34" name="Text 32"/>
          <p:cNvSpPr/>
          <p:nvPr/>
        </p:nvSpPr>
        <p:spPr>
          <a:xfrm>
            <a:off x="7699248" y="3255264"/>
            <a:ext cx="371246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Poorly calibrated; varies sharply with object size</a:t>
            </a:r>
            <a:endParaRPr lang="en-US" sz="1050" dirty="0"/>
          </a:p>
        </p:txBody>
      </p:sp>
      <p:sp>
        <p:nvSpPr>
          <p:cNvPr id="35" name="Shape 33"/>
          <p:cNvSpPr/>
          <p:nvPr/>
        </p:nvSpPr>
        <p:spPr>
          <a:xfrm>
            <a:off x="640080" y="3785616"/>
            <a:ext cx="2743200" cy="530352"/>
          </a:xfrm>
          <a:prstGeom prst="rect">
            <a:avLst/>
          </a:prstGeom>
          <a:solidFill>
            <a:srgbClr val="FFFFFF"/>
          </a:solidFill>
          <a:ln w="9525">
            <a:solidFill>
              <a:srgbClr val="E3EBF0"/>
            </a:solidFill>
            <a:prstDash val="solid"/>
          </a:ln>
        </p:spPr>
      </p:sp>
      <p:sp>
        <p:nvSpPr>
          <p:cNvPr id="36" name="Text 34"/>
          <p:cNvSpPr/>
          <p:nvPr/>
        </p:nvSpPr>
        <p:spPr>
          <a:xfrm>
            <a:off x="749808" y="3785616"/>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Large language model</a:t>
            </a:r>
            <a:endParaRPr lang="en-US" sz="1050" dirty="0"/>
          </a:p>
        </p:txBody>
      </p:sp>
      <p:sp>
        <p:nvSpPr>
          <p:cNvPr id="37" name="Shape 35"/>
          <p:cNvSpPr/>
          <p:nvPr/>
        </p:nvSpPr>
        <p:spPr>
          <a:xfrm>
            <a:off x="3383280" y="3785616"/>
            <a:ext cx="4206240" cy="530352"/>
          </a:xfrm>
          <a:prstGeom prst="rect">
            <a:avLst/>
          </a:prstGeom>
          <a:solidFill>
            <a:srgbClr val="FFFFFF"/>
          </a:solidFill>
          <a:ln w="9525">
            <a:solidFill>
              <a:srgbClr val="E3EBF0"/>
            </a:solidFill>
            <a:prstDash val="solid"/>
          </a:ln>
        </p:spPr>
      </p:sp>
      <p:sp>
        <p:nvSpPr>
          <p:cNvPr id="38" name="Text 36"/>
          <p:cNvSpPr/>
          <p:nvPr/>
        </p:nvSpPr>
        <p:spPr>
          <a:xfrm>
            <a:off x="3493008" y="3785616"/>
            <a:ext cx="398678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Token log-probabilities, or self-report</a:t>
            </a:r>
            <a:endParaRPr lang="en-US" sz="1050" dirty="0"/>
          </a:p>
        </p:txBody>
      </p:sp>
      <p:sp>
        <p:nvSpPr>
          <p:cNvPr id="39" name="Shape 37"/>
          <p:cNvSpPr/>
          <p:nvPr/>
        </p:nvSpPr>
        <p:spPr>
          <a:xfrm>
            <a:off x="7589520" y="3785616"/>
            <a:ext cx="3931920" cy="530352"/>
          </a:xfrm>
          <a:prstGeom prst="rect">
            <a:avLst/>
          </a:prstGeom>
          <a:solidFill>
            <a:srgbClr val="FFFFFF"/>
          </a:solidFill>
          <a:ln w="9525">
            <a:solidFill>
              <a:srgbClr val="E3EBF0"/>
            </a:solidFill>
            <a:prstDash val="solid"/>
          </a:ln>
        </p:spPr>
      </p:sp>
      <p:sp>
        <p:nvSpPr>
          <p:cNvPr id="40" name="Text 38"/>
          <p:cNvSpPr/>
          <p:nvPr/>
        </p:nvSpPr>
        <p:spPr>
          <a:xfrm>
            <a:off x="7699248" y="3785616"/>
            <a:ext cx="371246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Self-reported confidence is close to meaningless</a:t>
            </a:r>
            <a:endParaRPr lang="en-US" sz="1050" dirty="0"/>
          </a:p>
        </p:txBody>
      </p:sp>
      <p:sp>
        <p:nvSpPr>
          <p:cNvPr id="41" name="Shape 39"/>
          <p:cNvSpPr/>
          <p:nvPr/>
        </p:nvSpPr>
        <p:spPr>
          <a:xfrm>
            <a:off x="640080" y="4315968"/>
            <a:ext cx="2743200" cy="530352"/>
          </a:xfrm>
          <a:prstGeom prst="rect">
            <a:avLst/>
          </a:prstGeom>
          <a:solidFill>
            <a:srgbClr val="F5F9FB"/>
          </a:solidFill>
          <a:ln w="9525">
            <a:solidFill>
              <a:srgbClr val="E3EBF0"/>
            </a:solidFill>
            <a:prstDash val="solid"/>
          </a:ln>
        </p:spPr>
      </p:sp>
      <p:sp>
        <p:nvSpPr>
          <p:cNvPr id="42" name="Text 40"/>
          <p:cNvSpPr/>
          <p:nvPr/>
        </p:nvSpPr>
        <p:spPr>
          <a:xfrm>
            <a:off x="749808" y="4315968"/>
            <a:ext cx="2523744" cy="53035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Ensemble</a:t>
            </a:r>
            <a:endParaRPr lang="en-US" sz="1050" dirty="0"/>
          </a:p>
        </p:txBody>
      </p:sp>
      <p:sp>
        <p:nvSpPr>
          <p:cNvPr id="43" name="Shape 41"/>
          <p:cNvSpPr/>
          <p:nvPr/>
        </p:nvSpPr>
        <p:spPr>
          <a:xfrm>
            <a:off x="3383280" y="4315968"/>
            <a:ext cx="4206240" cy="530352"/>
          </a:xfrm>
          <a:prstGeom prst="rect">
            <a:avLst/>
          </a:prstGeom>
          <a:solidFill>
            <a:srgbClr val="F5F9FB"/>
          </a:solidFill>
          <a:ln w="9525">
            <a:solidFill>
              <a:srgbClr val="E3EBF0"/>
            </a:solidFill>
            <a:prstDash val="solid"/>
          </a:ln>
        </p:spPr>
      </p:sp>
      <p:sp>
        <p:nvSpPr>
          <p:cNvPr id="44" name="Text 42"/>
          <p:cNvSpPr/>
          <p:nvPr/>
        </p:nvSpPr>
        <p:spPr>
          <a:xfrm>
            <a:off x="3493008" y="4315968"/>
            <a:ext cx="398678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Variance across members</a:t>
            </a:r>
            <a:endParaRPr lang="en-US" sz="1050" dirty="0"/>
          </a:p>
        </p:txBody>
      </p:sp>
      <p:sp>
        <p:nvSpPr>
          <p:cNvPr id="45" name="Shape 43"/>
          <p:cNvSpPr/>
          <p:nvPr/>
        </p:nvSpPr>
        <p:spPr>
          <a:xfrm>
            <a:off x="7589520" y="4315968"/>
            <a:ext cx="3931920" cy="530352"/>
          </a:xfrm>
          <a:prstGeom prst="rect">
            <a:avLst/>
          </a:prstGeom>
          <a:solidFill>
            <a:srgbClr val="F5F9FB"/>
          </a:solidFill>
          <a:ln w="9525">
            <a:solidFill>
              <a:srgbClr val="E3EBF0"/>
            </a:solidFill>
            <a:prstDash val="solid"/>
          </a:ln>
        </p:spPr>
      </p:sp>
      <p:sp>
        <p:nvSpPr>
          <p:cNvPr id="46" name="Text 44"/>
          <p:cNvSpPr/>
          <p:nvPr/>
        </p:nvSpPr>
        <p:spPr>
          <a:xfrm>
            <a:off x="7699248" y="4315968"/>
            <a:ext cx="3712464" cy="53035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Better calibrated; captures epistemic uncertainty</a:t>
            </a:r>
            <a:endParaRPr lang="en-US" sz="1050" dirty="0"/>
          </a:p>
        </p:txBody>
      </p:sp>
      <p:sp>
        <p:nvSpPr>
          <p:cNvPr id="47" name="Text 45"/>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C1440E"/>
                </a:solidFill>
                <a:latin typeface="Calibri" pitchFamily="34" charset="0"/>
                <a:ea typeface="Calibri" pitchFamily="34" charset="-122"/>
                <a:cs typeface="Calibri" pitchFamily="34" charset="-120"/>
              </a:rPr>
              <a:t>A softmax output is not a probability. It is a number between 0 and 1 trained to be sharp, not honest.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Calibration — what it means and how to check it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640080" y="1280160"/>
            <a:ext cx="10881360" cy="411480"/>
          </a:xfrm>
          <a:prstGeom prst="rect">
            <a:avLst/>
          </a:prstGeom>
          <a:noFill/>
          <a:ln/>
        </p:spPr>
        <p:txBody>
          <a:bodyPr wrap="square" rtlCol="0" anchor="ctr"/>
          <a:lstStyle/>
          <a:p>
            <a:pPr indent="0" marL="0">
              <a:buNone/>
            </a:pPr>
            <a:r>
              <a:rPr lang="en-US" sz="1500" b="1" i="1" dirty="0">
                <a:solidFill>
                  <a:srgbClr val="1C7293"/>
                </a:solidFill>
                <a:latin typeface="Calibri" pitchFamily="34" charset="0"/>
                <a:ea typeface="Calibri" pitchFamily="34" charset="-122"/>
                <a:cs typeface="Calibri" pitchFamily="34" charset="-120"/>
              </a:rPr>
              <a:t>A model is calibrated if, among all cases where it says 80% confident, it is correct about 80% of the time.</a:t>
            </a:r>
            <a:endParaRPr lang="en-US" sz="1500" dirty="0"/>
          </a:p>
        </p:txBody>
      </p:sp>
      <p:sp>
        <p:nvSpPr>
          <p:cNvPr id="6" name="Text 4"/>
          <p:cNvSpPr/>
          <p:nvPr/>
        </p:nvSpPr>
        <p:spPr>
          <a:xfrm>
            <a:off x="640080" y="1828800"/>
            <a:ext cx="5486400" cy="365760"/>
          </a:xfrm>
          <a:prstGeom prst="rect">
            <a:avLst/>
          </a:prstGeom>
          <a:noFill/>
          <a:ln/>
        </p:spPr>
        <p:txBody>
          <a:bodyPr wrap="square" rtlCol="0" anchor="ctr"/>
          <a:lstStyle/>
          <a:p>
            <a:pPr indent="0" marL="0">
              <a:buNone/>
            </a:pPr>
            <a:r>
              <a:rPr lang="en-US" sz="1600" b="1" dirty="0">
                <a:solidFill>
                  <a:srgbClr val="1A2430"/>
                </a:solidFill>
                <a:latin typeface="Cambria" pitchFamily="34" charset="0"/>
                <a:ea typeface="Cambria" pitchFamily="34" charset="-122"/>
                <a:cs typeface="Cambria" pitchFamily="34" charset="-120"/>
              </a:rPr>
              <a:t>The reliability diagram</a:t>
            </a:r>
            <a:endParaRPr lang="en-US" sz="1600" dirty="0"/>
          </a:p>
        </p:txBody>
      </p:sp>
      <p:sp>
        <p:nvSpPr>
          <p:cNvPr id="7" name="Text 5"/>
          <p:cNvSpPr/>
          <p:nvPr/>
        </p:nvSpPr>
        <p:spPr>
          <a:xfrm>
            <a:off x="640080" y="2240280"/>
            <a:ext cx="5394960" cy="2377440"/>
          </a:xfrm>
          <a:prstGeom prst="rect">
            <a:avLst/>
          </a:prstGeom>
          <a:noFill/>
          <a:ln/>
        </p:spPr>
        <p:txBody>
          <a:bodyPr wrap="square" rtlCol="0" anchor="ctr"/>
          <a:lstStyle/>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Bucket predictions by stated confidence — 0–10%, 10–20%, and so on</a:t>
            </a:r>
            <a:endParaRPr lang="en-US" sz="1250" dirty="0"/>
          </a:p>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For each bucket, compute the proportion actually correct</a:t>
            </a:r>
            <a:endParaRPr lang="en-US" sz="1250" dirty="0"/>
          </a:p>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Plot stated confidence against observed accuracy</a:t>
            </a:r>
            <a:endParaRPr lang="en-US" sz="1250" dirty="0"/>
          </a:p>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Perfect calibration is the diagonal line</a:t>
            </a:r>
            <a:endParaRPr lang="en-US" sz="1250" dirty="0"/>
          </a:p>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Below the line is over-confident; above is under-confident</a:t>
            </a:r>
            <a:endParaRPr lang="en-US" sz="1250" dirty="0"/>
          </a:p>
        </p:txBody>
      </p:sp>
      <p:sp>
        <p:nvSpPr>
          <p:cNvPr id="8" name="Shape 6"/>
          <p:cNvSpPr/>
          <p:nvPr/>
        </p:nvSpPr>
        <p:spPr>
          <a:xfrm>
            <a:off x="6263640" y="1828800"/>
            <a:ext cx="5257800" cy="2834640"/>
          </a:xfrm>
          <a:prstGeom prst="roundRect">
            <a:avLst>
              <a:gd name="adj" fmla="val 1935"/>
            </a:avLst>
          </a:prstGeom>
          <a:solidFill>
            <a:srgbClr val="EEF3F7"/>
          </a:solidFill>
          <a:ln w="12700">
            <a:solidFill>
              <a:srgbClr val="D8E4EC"/>
            </a:solidFill>
            <a:prstDash val="solid"/>
          </a:ln>
        </p:spPr>
      </p:sp>
      <p:sp>
        <p:nvSpPr>
          <p:cNvPr id="9" name="Text 7"/>
          <p:cNvSpPr/>
          <p:nvPr/>
        </p:nvSpPr>
        <p:spPr>
          <a:xfrm>
            <a:off x="6464808" y="1965960"/>
            <a:ext cx="485546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Expected Calibration Error (ECE)</a:t>
            </a:r>
            <a:endParaRPr lang="en-US" sz="1400" dirty="0"/>
          </a:p>
        </p:txBody>
      </p:sp>
      <p:sp>
        <p:nvSpPr>
          <p:cNvPr id="10" name="Text 8"/>
          <p:cNvSpPr/>
          <p:nvPr/>
        </p:nvSpPr>
        <p:spPr>
          <a:xfrm>
            <a:off x="6464808" y="2331720"/>
            <a:ext cx="4855464" cy="21762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A single summary: the average gap between stated confidence and observed accuracy, weighted by how many predictions fall in each bucket.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ECE below about 0.05 is generally usable for threshold design. Above 0.15, confidence-based routing will misbehave badly.</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Report ECE alongside accuracy whenever confidence drives a downstream decision.</a:t>
            </a:r>
            <a:endParaRPr lang="en-US" sz="1150" dirty="0"/>
          </a:p>
        </p:txBody>
      </p:sp>
      <p:sp>
        <p:nvSpPr>
          <p:cNvPr id="11" name="Text 9"/>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Everything in 1.14 and 1.15 depends on calibration. Check it before designing thresholds, not after.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Fixing calibration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640080" y="1280160"/>
            <a:ext cx="2377440" cy="384048"/>
          </a:xfrm>
          <a:prstGeom prst="rect">
            <a:avLst/>
          </a:prstGeom>
          <a:solidFill>
            <a:srgbClr val="21295C"/>
          </a:solidFill>
          <a:ln/>
        </p:spPr>
      </p:sp>
      <p:sp>
        <p:nvSpPr>
          <p:cNvPr id="6" name="Text 4"/>
          <p:cNvSpPr/>
          <p:nvPr/>
        </p:nvSpPr>
        <p:spPr>
          <a:xfrm>
            <a:off x="749808" y="1280160"/>
            <a:ext cx="21579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p>
        </p:txBody>
      </p:sp>
      <p:sp>
        <p:nvSpPr>
          <p:cNvPr id="7" name="Shape 5"/>
          <p:cNvSpPr/>
          <p:nvPr/>
        </p:nvSpPr>
        <p:spPr>
          <a:xfrm>
            <a:off x="3017520" y="1280160"/>
            <a:ext cx="4663440" cy="384048"/>
          </a:xfrm>
          <a:prstGeom prst="rect">
            <a:avLst/>
          </a:prstGeom>
          <a:solidFill>
            <a:srgbClr val="21295C"/>
          </a:solidFill>
          <a:ln/>
        </p:spPr>
      </p:sp>
      <p:sp>
        <p:nvSpPr>
          <p:cNvPr id="8" name="Text 6"/>
          <p:cNvSpPr/>
          <p:nvPr/>
        </p:nvSpPr>
        <p:spPr>
          <a:xfrm>
            <a:off x="3127248" y="1280160"/>
            <a:ext cx="44439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a:t>
            </a:r>
            <a:endParaRPr lang="en-US" sz="1100" dirty="0"/>
          </a:p>
        </p:txBody>
      </p:sp>
      <p:sp>
        <p:nvSpPr>
          <p:cNvPr id="9" name="Shape 7"/>
          <p:cNvSpPr/>
          <p:nvPr/>
        </p:nvSpPr>
        <p:spPr>
          <a:xfrm>
            <a:off x="7680960" y="1280160"/>
            <a:ext cx="3840480" cy="384048"/>
          </a:xfrm>
          <a:prstGeom prst="rect">
            <a:avLst/>
          </a:prstGeom>
          <a:solidFill>
            <a:srgbClr val="21295C"/>
          </a:solidFill>
          <a:ln/>
        </p:spPr>
      </p:sp>
      <p:sp>
        <p:nvSpPr>
          <p:cNvPr id="10" name="Text 8"/>
          <p:cNvSpPr/>
          <p:nvPr/>
        </p:nvSpPr>
        <p:spPr>
          <a:xfrm>
            <a:off x="7790688" y="1280160"/>
            <a:ext cx="36210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When to use it</a:t>
            </a:r>
            <a:endParaRPr lang="en-US" sz="1100" dirty="0"/>
          </a:p>
        </p:txBody>
      </p:sp>
      <p:sp>
        <p:nvSpPr>
          <p:cNvPr id="11" name="Shape 9"/>
          <p:cNvSpPr/>
          <p:nvPr/>
        </p:nvSpPr>
        <p:spPr>
          <a:xfrm>
            <a:off x="640080" y="1664208"/>
            <a:ext cx="2377440" cy="566928"/>
          </a:xfrm>
          <a:prstGeom prst="rect">
            <a:avLst/>
          </a:prstGeom>
          <a:solidFill>
            <a:srgbClr val="FFFFFF"/>
          </a:solidFill>
          <a:ln w="9525">
            <a:solidFill>
              <a:srgbClr val="E3EBF0"/>
            </a:solidFill>
            <a:prstDash val="solid"/>
          </a:ln>
        </p:spPr>
      </p:sp>
      <p:sp>
        <p:nvSpPr>
          <p:cNvPr id="12" name="Text 10"/>
          <p:cNvSpPr/>
          <p:nvPr/>
        </p:nvSpPr>
        <p:spPr>
          <a:xfrm>
            <a:off x="749808" y="1664208"/>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Platt scaling</a:t>
            </a:r>
            <a:endParaRPr lang="en-US" sz="1050" dirty="0"/>
          </a:p>
        </p:txBody>
      </p:sp>
      <p:sp>
        <p:nvSpPr>
          <p:cNvPr id="13" name="Shape 11"/>
          <p:cNvSpPr/>
          <p:nvPr/>
        </p:nvSpPr>
        <p:spPr>
          <a:xfrm>
            <a:off x="3017520" y="1664208"/>
            <a:ext cx="4663440" cy="566928"/>
          </a:xfrm>
          <a:prstGeom prst="rect">
            <a:avLst/>
          </a:prstGeom>
          <a:solidFill>
            <a:srgbClr val="FFFFFF"/>
          </a:solidFill>
          <a:ln w="9525">
            <a:solidFill>
              <a:srgbClr val="E3EBF0"/>
            </a:solidFill>
            <a:prstDash val="solid"/>
          </a:ln>
        </p:spPr>
      </p:sp>
      <p:sp>
        <p:nvSpPr>
          <p:cNvPr id="14" name="Text 12"/>
          <p:cNvSpPr/>
          <p:nvPr/>
        </p:nvSpPr>
        <p:spPr>
          <a:xfrm>
            <a:off x="3127248" y="1664208"/>
            <a:ext cx="44439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Fits a logistic regression on the model's scores using held-out data</a:t>
            </a:r>
            <a:endParaRPr lang="en-US" sz="1050" dirty="0"/>
          </a:p>
        </p:txBody>
      </p:sp>
      <p:sp>
        <p:nvSpPr>
          <p:cNvPr id="15" name="Shape 13"/>
          <p:cNvSpPr/>
          <p:nvPr/>
        </p:nvSpPr>
        <p:spPr>
          <a:xfrm>
            <a:off x="7680960" y="1664208"/>
            <a:ext cx="3840480" cy="566928"/>
          </a:xfrm>
          <a:prstGeom prst="rect">
            <a:avLst/>
          </a:prstGeom>
          <a:solidFill>
            <a:srgbClr val="FFFFFF"/>
          </a:solidFill>
          <a:ln w="9525">
            <a:solidFill>
              <a:srgbClr val="E3EBF0"/>
            </a:solidFill>
            <a:prstDash val="solid"/>
          </a:ln>
        </p:spPr>
      </p:sp>
      <p:sp>
        <p:nvSpPr>
          <p:cNvPr id="16" name="Text 14"/>
          <p:cNvSpPr/>
          <p:nvPr/>
        </p:nvSpPr>
        <p:spPr>
          <a:xfrm>
            <a:off x="7790688" y="1664208"/>
            <a:ext cx="36210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Binary problems, small calibration sets, smooth miscalibration</a:t>
            </a:r>
            <a:endParaRPr lang="en-US" sz="1050" dirty="0"/>
          </a:p>
        </p:txBody>
      </p:sp>
      <p:sp>
        <p:nvSpPr>
          <p:cNvPr id="17" name="Shape 15"/>
          <p:cNvSpPr/>
          <p:nvPr/>
        </p:nvSpPr>
        <p:spPr>
          <a:xfrm>
            <a:off x="640080" y="2231136"/>
            <a:ext cx="2377440" cy="566928"/>
          </a:xfrm>
          <a:prstGeom prst="rect">
            <a:avLst/>
          </a:prstGeom>
          <a:solidFill>
            <a:srgbClr val="F5F9FB"/>
          </a:solidFill>
          <a:ln w="9525">
            <a:solidFill>
              <a:srgbClr val="E3EBF0"/>
            </a:solidFill>
            <a:prstDash val="solid"/>
          </a:ln>
        </p:spPr>
      </p:sp>
      <p:sp>
        <p:nvSpPr>
          <p:cNvPr id="18" name="Text 16"/>
          <p:cNvSpPr/>
          <p:nvPr/>
        </p:nvSpPr>
        <p:spPr>
          <a:xfrm>
            <a:off x="749808" y="2231136"/>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Isotonic regression</a:t>
            </a:r>
            <a:endParaRPr lang="en-US" sz="1050" dirty="0"/>
          </a:p>
        </p:txBody>
      </p:sp>
      <p:sp>
        <p:nvSpPr>
          <p:cNvPr id="19" name="Shape 17"/>
          <p:cNvSpPr/>
          <p:nvPr/>
        </p:nvSpPr>
        <p:spPr>
          <a:xfrm>
            <a:off x="3017520" y="2231136"/>
            <a:ext cx="4663440" cy="566928"/>
          </a:xfrm>
          <a:prstGeom prst="rect">
            <a:avLst/>
          </a:prstGeom>
          <a:solidFill>
            <a:srgbClr val="F5F9FB"/>
          </a:solidFill>
          <a:ln w="9525">
            <a:solidFill>
              <a:srgbClr val="E3EBF0"/>
            </a:solidFill>
            <a:prstDash val="solid"/>
          </a:ln>
        </p:spPr>
      </p:sp>
      <p:sp>
        <p:nvSpPr>
          <p:cNvPr id="20" name="Text 18"/>
          <p:cNvSpPr/>
          <p:nvPr/>
        </p:nvSpPr>
        <p:spPr>
          <a:xfrm>
            <a:off x="3127248" y="2231136"/>
            <a:ext cx="44439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Fits a non-decreasing step function to the scores</a:t>
            </a:r>
            <a:endParaRPr lang="en-US" sz="1050" dirty="0"/>
          </a:p>
        </p:txBody>
      </p:sp>
      <p:sp>
        <p:nvSpPr>
          <p:cNvPr id="21" name="Shape 19"/>
          <p:cNvSpPr/>
          <p:nvPr/>
        </p:nvSpPr>
        <p:spPr>
          <a:xfrm>
            <a:off x="7680960" y="2231136"/>
            <a:ext cx="3840480" cy="566928"/>
          </a:xfrm>
          <a:prstGeom prst="rect">
            <a:avLst/>
          </a:prstGeom>
          <a:solidFill>
            <a:srgbClr val="F5F9FB"/>
          </a:solidFill>
          <a:ln w="9525">
            <a:solidFill>
              <a:srgbClr val="E3EBF0"/>
            </a:solidFill>
            <a:prstDash val="solid"/>
          </a:ln>
        </p:spPr>
      </p:sp>
      <p:sp>
        <p:nvSpPr>
          <p:cNvPr id="22" name="Text 20"/>
          <p:cNvSpPr/>
          <p:nvPr/>
        </p:nvSpPr>
        <p:spPr>
          <a:xfrm>
            <a:off x="7790688" y="2231136"/>
            <a:ext cx="36210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More flexible; needs more data; can overfit small sets</a:t>
            </a:r>
            <a:endParaRPr lang="en-US" sz="1050" dirty="0"/>
          </a:p>
        </p:txBody>
      </p:sp>
      <p:sp>
        <p:nvSpPr>
          <p:cNvPr id="23" name="Shape 21"/>
          <p:cNvSpPr/>
          <p:nvPr/>
        </p:nvSpPr>
        <p:spPr>
          <a:xfrm>
            <a:off x="640080" y="2798064"/>
            <a:ext cx="2377440" cy="566928"/>
          </a:xfrm>
          <a:prstGeom prst="rect">
            <a:avLst/>
          </a:prstGeom>
          <a:solidFill>
            <a:srgbClr val="FFFFFF"/>
          </a:solidFill>
          <a:ln w="9525">
            <a:solidFill>
              <a:srgbClr val="E3EBF0"/>
            </a:solidFill>
            <a:prstDash val="solid"/>
          </a:ln>
        </p:spPr>
      </p:sp>
      <p:sp>
        <p:nvSpPr>
          <p:cNvPr id="24" name="Text 22"/>
          <p:cNvSpPr/>
          <p:nvPr/>
        </p:nvSpPr>
        <p:spPr>
          <a:xfrm>
            <a:off x="749808" y="2798064"/>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Temperature scaling</a:t>
            </a:r>
            <a:endParaRPr lang="en-US" sz="1050" dirty="0"/>
          </a:p>
        </p:txBody>
      </p:sp>
      <p:sp>
        <p:nvSpPr>
          <p:cNvPr id="25" name="Shape 23"/>
          <p:cNvSpPr/>
          <p:nvPr/>
        </p:nvSpPr>
        <p:spPr>
          <a:xfrm>
            <a:off x="3017520" y="2798064"/>
            <a:ext cx="4663440" cy="566928"/>
          </a:xfrm>
          <a:prstGeom prst="rect">
            <a:avLst/>
          </a:prstGeom>
          <a:solidFill>
            <a:srgbClr val="FFFFFF"/>
          </a:solidFill>
          <a:ln w="9525">
            <a:solidFill>
              <a:srgbClr val="E3EBF0"/>
            </a:solidFill>
            <a:prstDash val="solid"/>
          </a:ln>
        </p:spPr>
      </p:sp>
      <p:sp>
        <p:nvSpPr>
          <p:cNvPr id="26" name="Text 24"/>
          <p:cNvSpPr/>
          <p:nvPr/>
        </p:nvSpPr>
        <p:spPr>
          <a:xfrm>
            <a:off x="3127248" y="2798064"/>
            <a:ext cx="44439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Divides logits by a single learned constant</a:t>
            </a:r>
            <a:endParaRPr lang="en-US" sz="1050" dirty="0"/>
          </a:p>
        </p:txBody>
      </p:sp>
      <p:sp>
        <p:nvSpPr>
          <p:cNvPr id="27" name="Shape 25"/>
          <p:cNvSpPr/>
          <p:nvPr/>
        </p:nvSpPr>
        <p:spPr>
          <a:xfrm>
            <a:off x="7680960" y="2798064"/>
            <a:ext cx="3840480" cy="566928"/>
          </a:xfrm>
          <a:prstGeom prst="rect">
            <a:avLst/>
          </a:prstGeom>
          <a:solidFill>
            <a:srgbClr val="FFFFFF"/>
          </a:solidFill>
          <a:ln w="9525">
            <a:solidFill>
              <a:srgbClr val="E3EBF0"/>
            </a:solidFill>
            <a:prstDash val="solid"/>
          </a:ln>
        </p:spPr>
      </p:sp>
      <p:sp>
        <p:nvSpPr>
          <p:cNvPr id="28" name="Text 26"/>
          <p:cNvSpPr/>
          <p:nvPr/>
        </p:nvSpPr>
        <p:spPr>
          <a:xfrm>
            <a:off x="7790688" y="2798064"/>
            <a:ext cx="36210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Neural networks and multi-class. Simple, preserves ranking, very effective</a:t>
            </a:r>
            <a:endParaRPr lang="en-US" sz="1050" dirty="0"/>
          </a:p>
        </p:txBody>
      </p:sp>
      <p:sp>
        <p:nvSpPr>
          <p:cNvPr id="29" name="Shape 27"/>
          <p:cNvSpPr/>
          <p:nvPr/>
        </p:nvSpPr>
        <p:spPr>
          <a:xfrm>
            <a:off x="640080" y="3364992"/>
            <a:ext cx="2377440" cy="566928"/>
          </a:xfrm>
          <a:prstGeom prst="rect">
            <a:avLst/>
          </a:prstGeom>
          <a:solidFill>
            <a:srgbClr val="F5F9FB"/>
          </a:solidFill>
          <a:ln w="9525">
            <a:solidFill>
              <a:srgbClr val="E3EBF0"/>
            </a:solidFill>
            <a:prstDash val="solid"/>
          </a:ln>
        </p:spPr>
      </p:sp>
      <p:sp>
        <p:nvSpPr>
          <p:cNvPr id="30" name="Text 28"/>
          <p:cNvSpPr/>
          <p:nvPr/>
        </p:nvSpPr>
        <p:spPr>
          <a:xfrm>
            <a:off x="749808" y="3364992"/>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Ensembling</a:t>
            </a:r>
            <a:endParaRPr lang="en-US" sz="1050" dirty="0"/>
          </a:p>
        </p:txBody>
      </p:sp>
      <p:sp>
        <p:nvSpPr>
          <p:cNvPr id="31" name="Shape 29"/>
          <p:cNvSpPr/>
          <p:nvPr/>
        </p:nvSpPr>
        <p:spPr>
          <a:xfrm>
            <a:off x="3017520" y="3364992"/>
            <a:ext cx="4663440" cy="566928"/>
          </a:xfrm>
          <a:prstGeom prst="rect">
            <a:avLst/>
          </a:prstGeom>
          <a:solidFill>
            <a:srgbClr val="F5F9FB"/>
          </a:solidFill>
          <a:ln w="9525">
            <a:solidFill>
              <a:srgbClr val="E3EBF0"/>
            </a:solidFill>
            <a:prstDash val="solid"/>
          </a:ln>
        </p:spPr>
      </p:sp>
      <p:sp>
        <p:nvSpPr>
          <p:cNvPr id="32" name="Text 30"/>
          <p:cNvSpPr/>
          <p:nvPr/>
        </p:nvSpPr>
        <p:spPr>
          <a:xfrm>
            <a:off x="3127248" y="3364992"/>
            <a:ext cx="44439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Averages predictions across several models</a:t>
            </a:r>
            <a:endParaRPr lang="en-US" sz="1050" dirty="0"/>
          </a:p>
        </p:txBody>
      </p:sp>
      <p:sp>
        <p:nvSpPr>
          <p:cNvPr id="33" name="Shape 31"/>
          <p:cNvSpPr/>
          <p:nvPr/>
        </p:nvSpPr>
        <p:spPr>
          <a:xfrm>
            <a:off x="7680960" y="3364992"/>
            <a:ext cx="3840480" cy="566928"/>
          </a:xfrm>
          <a:prstGeom prst="rect">
            <a:avLst/>
          </a:prstGeom>
          <a:solidFill>
            <a:srgbClr val="F5F9FB"/>
          </a:solidFill>
          <a:ln w="9525">
            <a:solidFill>
              <a:srgbClr val="E3EBF0"/>
            </a:solidFill>
            <a:prstDash val="solid"/>
          </a:ln>
        </p:spPr>
      </p:sp>
      <p:sp>
        <p:nvSpPr>
          <p:cNvPr id="34" name="Text 32"/>
          <p:cNvSpPr/>
          <p:nvPr/>
        </p:nvSpPr>
        <p:spPr>
          <a:xfrm>
            <a:off x="7790688" y="3364992"/>
            <a:ext cx="36210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Improves calibration and captures epistemic uncertainty; costs compute</a:t>
            </a:r>
            <a:endParaRPr lang="en-US" sz="1050" dirty="0"/>
          </a:p>
        </p:txBody>
      </p:sp>
      <p:sp>
        <p:nvSpPr>
          <p:cNvPr id="35" name="Shape 33"/>
          <p:cNvSpPr/>
          <p:nvPr/>
        </p:nvSpPr>
        <p:spPr>
          <a:xfrm>
            <a:off x="640080" y="3931920"/>
            <a:ext cx="2377440" cy="566928"/>
          </a:xfrm>
          <a:prstGeom prst="rect">
            <a:avLst/>
          </a:prstGeom>
          <a:solidFill>
            <a:srgbClr val="FFFFFF"/>
          </a:solidFill>
          <a:ln w="9525">
            <a:solidFill>
              <a:srgbClr val="E3EBF0"/>
            </a:solidFill>
            <a:prstDash val="solid"/>
          </a:ln>
        </p:spPr>
      </p:sp>
      <p:sp>
        <p:nvSpPr>
          <p:cNvPr id="36" name="Text 34"/>
          <p:cNvSpPr/>
          <p:nvPr/>
        </p:nvSpPr>
        <p:spPr>
          <a:xfrm>
            <a:off x="749808" y="3931920"/>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Conformal prediction</a:t>
            </a:r>
            <a:endParaRPr lang="en-US" sz="1050" dirty="0"/>
          </a:p>
        </p:txBody>
      </p:sp>
      <p:sp>
        <p:nvSpPr>
          <p:cNvPr id="37" name="Shape 35"/>
          <p:cNvSpPr/>
          <p:nvPr/>
        </p:nvSpPr>
        <p:spPr>
          <a:xfrm>
            <a:off x="3017520" y="3931920"/>
            <a:ext cx="4663440" cy="566928"/>
          </a:xfrm>
          <a:prstGeom prst="rect">
            <a:avLst/>
          </a:prstGeom>
          <a:solidFill>
            <a:srgbClr val="FFFFFF"/>
          </a:solidFill>
          <a:ln w="9525">
            <a:solidFill>
              <a:srgbClr val="E3EBF0"/>
            </a:solidFill>
            <a:prstDash val="solid"/>
          </a:ln>
        </p:spPr>
      </p:sp>
      <p:sp>
        <p:nvSpPr>
          <p:cNvPr id="38" name="Text 36"/>
          <p:cNvSpPr/>
          <p:nvPr/>
        </p:nvSpPr>
        <p:spPr>
          <a:xfrm>
            <a:off x="3127248" y="3931920"/>
            <a:ext cx="44439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Produces prediction sets with a guaranteed coverage rate</a:t>
            </a:r>
            <a:endParaRPr lang="en-US" sz="1050" dirty="0"/>
          </a:p>
        </p:txBody>
      </p:sp>
      <p:sp>
        <p:nvSpPr>
          <p:cNvPr id="39" name="Shape 37"/>
          <p:cNvSpPr/>
          <p:nvPr/>
        </p:nvSpPr>
        <p:spPr>
          <a:xfrm>
            <a:off x="7680960" y="3931920"/>
            <a:ext cx="3840480" cy="566928"/>
          </a:xfrm>
          <a:prstGeom prst="rect">
            <a:avLst/>
          </a:prstGeom>
          <a:solidFill>
            <a:srgbClr val="FFFFFF"/>
          </a:solidFill>
          <a:ln w="9525">
            <a:solidFill>
              <a:srgbClr val="E3EBF0"/>
            </a:solidFill>
            <a:prstDash val="solid"/>
          </a:ln>
        </p:spPr>
      </p:sp>
      <p:sp>
        <p:nvSpPr>
          <p:cNvPr id="40" name="Text 38"/>
          <p:cNvSpPr/>
          <p:nvPr/>
        </p:nvSpPr>
        <p:spPr>
          <a:xfrm>
            <a:off x="7790688" y="3931920"/>
            <a:ext cx="36210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When you need a formal guarantee rather than a point estimate</a:t>
            </a:r>
            <a:endParaRPr lang="en-US" sz="1050" dirty="0"/>
          </a:p>
        </p:txBody>
      </p:sp>
      <p:sp>
        <p:nvSpPr>
          <p:cNvPr id="41" name="Shape 39"/>
          <p:cNvSpPr/>
          <p:nvPr/>
        </p:nvSpPr>
        <p:spPr>
          <a:xfrm>
            <a:off x="640080" y="4846320"/>
            <a:ext cx="10881360" cy="868680"/>
          </a:xfrm>
          <a:prstGeom prst="roundRect">
            <a:avLst>
              <a:gd name="adj" fmla="val 6316"/>
            </a:avLst>
          </a:prstGeom>
          <a:solidFill>
            <a:srgbClr val="E4EEF4"/>
          </a:solidFill>
          <a:ln w="12700">
            <a:solidFill>
              <a:srgbClr val="C9DCE7"/>
            </a:solidFill>
            <a:prstDash val="solid"/>
          </a:ln>
        </p:spPr>
      </p:sp>
      <p:sp>
        <p:nvSpPr>
          <p:cNvPr id="42" name="Text 40"/>
          <p:cNvSpPr/>
          <p:nvPr/>
        </p:nvSpPr>
        <p:spPr>
          <a:xfrm>
            <a:off x="914400" y="5010912"/>
            <a:ext cx="10332720" cy="594360"/>
          </a:xfrm>
          <a:prstGeom prst="rect">
            <a:avLst/>
          </a:prstGeom>
          <a:noFill/>
          <a:ln/>
        </p:spPr>
        <p:txBody>
          <a:bodyPr wrap="square" lIns="0" tIns="0" rIns="0" bIns="0" rtlCol="0" anchor="ctr"/>
          <a:lstStyle/>
          <a:p>
            <a:pPr indent="0" marL="0">
              <a:lnSpc>
                <a:spcPts val="1600"/>
              </a:lnSpc>
              <a:buNone/>
            </a:pPr>
            <a:r>
              <a:rPr lang="en-US" sz="1250" dirty="0">
                <a:solidFill>
                  <a:srgbClr val="1A2430"/>
                </a:solidFill>
                <a:latin typeface="Calibri" pitchFamily="34" charset="0"/>
                <a:ea typeface="Calibri" pitchFamily="34" charset="-122"/>
                <a:cs typeface="Calibri" pitchFamily="34" charset="-120"/>
              </a:rPr>
              <a:t>Calibration is fitted on a separate held-out calibration set — never on training data, never on the final test set. Temperature scaling on a validation split is the highest return-per-hour intervention on this slide.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Choosing the operating threshold — four methods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640080" y="1371600"/>
            <a:ext cx="2743200" cy="1005840"/>
          </a:xfrm>
          <a:prstGeom prst="roundRect">
            <a:avLst>
              <a:gd name="adj" fmla="val 4545"/>
            </a:avLst>
          </a:prstGeom>
          <a:solidFill>
            <a:srgbClr val="1E7A3C"/>
          </a:solidFill>
          <a:ln/>
        </p:spPr>
      </p:sp>
      <p:sp>
        <p:nvSpPr>
          <p:cNvPr id="6" name="Text 4"/>
          <p:cNvSpPr/>
          <p:nvPr/>
        </p:nvSpPr>
        <p:spPr>
          <a:xfrm>
            <a:off x="731520" y="1371600"/>
            <a:ext cx="2560320" cy="10058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Cost minimisation</a:t>
            </a:r>
            <a:endParaRPr lang="en-US" sz="1350" dirty="0"/>
          </a:p>
        </p:txBody>
      </p:sp>
      <p:sp>
        <p:nvSpPr>
          <p:cNvPr id="7" name="Text 5"/>
          <p:cNvSpPr/>
          <p:nvPr/>
        </p:nvSpPr>
        <p:spPr>
          <a:xfrm>
            <a:off x="3611880" y="1426464"/>
            <a:ext cx="4114800" cy="91440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Sweep the threshold, compute expected business cost, take the minimum.</a:t>
            </a:r>
            <a:endParaRPr lang="en-US" sz="1200" dirty="0"/>
          </a:p>
        </p:txBody>
      </p:sp>
      <p:sp>
        <p:nvSpPr>
          <p:cNvPr id="8" name="Text 6"/>
          <p:cNvSpPr/>
          <p:nvPr/>
        </p:nvSpPr>
        <p:spPr>
          <a:xfrm>
            <a:off x="7955280" y="1426464"/>
            <a:ext cx="3566160" cy="9144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The default when both error costs are known. Section 1.9.</a:t>
            </a:r>
            <a:endParaRPr lang="en-US" sz="1150" dirty="0"/>
          </a:p>
        </p:txBody>
      </p:sp>
      <p:sp>
        <p:nvSpPr>
          <p:cNvPr id="9" name="Shape 7"/>
          <p:cNvSpPr/>
          <p:nvPr/>
        </p:nvSpPr>
        <p:spPr>
          <a:xfrm>
            <a:off x="640080" y="2542032"/>
            <a:ext cx="2743200" cy="1005840"/>
          </a:xfrm>
          <a:prstGeom prst="roundRect">
            <a:avLst>
              <a:gd name="adj" fmla="val 4545"/>
            </a:avLst>
          </a:prstGeom>
          <a:solidFill>
            <a:srgbClr val="065A82"/>
          </a:solidFill>
          <a:ln/>
        </p:spPr>
      </p:sp>
      <p:sp>
        <p:nvSpPr>
          <p:cNvPr id="10" name="Text 8"/>
          <p:cNvSpPr/>
          <p:nvPr/>
        </p:nvSpPr>
        <p:spPr>
          <a:xfrm>
            <a:off x="731520" y="2542032"/>
            <a:ext cx="2560320" cy="10058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Constraint satisfaction</a:t>
            </a:r>
            <a:endParaRPr lang="en-US" sz="1350" dirty="0"/>
          </a:p>
        </p:txBody>
      </p:sp>
      <p:sp>
        <p:nvSpPr>
          <p:cNvPr id="11" name="Text 9"/>
          <p:cNvSpPr/>
          <p:nvPr/>
        </p:nvSpPr>
        <p:spPr>
          <a:xfrm>
            <a:off x="3611880" y="2596896"/>
            <a:ext cx="4114800" cy="91440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Fix one metric at a required level — recall ≥ 0.95 — and maximise the other.</a:t>
            </a:r>
            <a:endParaRPr lang="en-US" sz="1200" dirty="0"/>
          </a:p>
        </p:txBody>
      </p:sp>
      <p:sp>
        <p:nvSpPr>
          <p:cNvPr id="12" name="Text 10"/>
          <p:cNvSpPr/>
          <p:nvPr/>
        </p:nvSpPr>
        <p:spPr>
          <a:xfrm>
            <a:off x="7955280" y="2596896"/>
            <a:ext cx="3566160" cy="9144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When a regulatory or safety floor exists on one error type.</a:t>
            </a:r>
            <a:endParaRPr lang="en-US" sz="1150" dirty="0"/>
          </a:p>
        </p:txBody>
      </p:sp>
      <p:sp>
        <p:nvSpPr>
          <p:cNvPr id="13" name="Shape 11"/>
          <p:cNvSpPr/>
          <p:nvPr/>
        </p:nvSpPr>
        <p:spPr>
          <a:xfrm>
            <a:off x="640080" y="3712464"/>
            <a:ext cx="2743200" cy="1005840"/>
          </a:xfrm>
          <a:prstGeom prst="roundRect">
            <a:avLst>
              <a:gd name="adj" fmla="val 4545"/>
            </a:avLst>
          </a:prstGeom>
          <a:solidFill>
            <a:srgbClr val="1C7293"/>
          </a:solidFill>
          <a:ln/>
        </p:spPr>
      </p:sp>
      <p:sp>
        <p:nvSpPr>
          <p:cNvPr id="14" name="Text 12"/>
          <p:cNvSpPr/>
          <p:nvPr/>
        </p:nvSpPr>
        <p:spPr>
          <a:xfrm>
            <a:off x="731520" y="3712464"/>
            <a:ext cx="2560320" cy="10058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F-beta optimisation</a:t>
            </a:r>
            <a:endParaRPr lang="en-US" sz="1350" dirty="0"/>
          </a:p>
        </p:txBody>
      </p:sp>
      <p:sp>
        <p:nvSpPr>
          <p:cNvPr id="15" name="Text 13"/>
          <p:cNvSpPr/>
          <p:nvPr/>
        </p:nvSpPr>
        <p:spPr>
          <a:xfrm>
            <a:off x="3611880" y="3767328"/>
            <a:ext cx="4114800" cy="91440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Maximise a weighted harmonic mean; β&gt;1 favours recall, β&lt;1 favours precision.</a:t>
            </a:r>
            <a:endParaRPr lang="en-US" sz="1200" dirty="0"/>
          </a:p>
        </p:txBody>
      </p:sp>
      <p:sp>
        <p:nvSpPr>
          <p:cNvPr id="16" name="Text 14"/>
          <p:cNvSpPr/>
          <p:nvPr/>
        </p:nvSpPr>
        <p:spPr>
          <a:xfrm>
            <a:off x="7955280" y="3767328"/>
            <a:ext cx="3566160" cy="9144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When you want one tunable number rather than explicit costs.</a:t>
            </a:r>
            <a:endParaRPr lang="en-US" sz="1150" dirty="0"/>
          </a:p>
        </p:txBody>
      </p:sp>
      <p:sp>
        <p:nvSpPr>
          <p:cNvPr id="17" name="Shape 15"/>
          <p:cNvSpPr/>
          <p:nvPr/>
        </p:nvSpPr>
        <p:spPr>
          <a:xfrm>
            <a:off x="640080" y="4882896"/>
            <a:ext cx="2743200" cy="1005840"/>
          </a:xfrm>
          <a:prstGeom prst="roundRect">
            <a:avLst>
              <a:gd name="adj" fmla="val 4545"/>
            </a:avLst>
          </a:prstGeom>
          <a:solidFill>
            <a:srgbClr val="6B3A5B"/>
          </a:solidFill>
          <a:ln/>
        </p:spPr>
      </p:sp>
      <p:sp>
        <p:nvSpPr>
          <p:cNvPr id="18" name="Text 16"/>
          <p:cNvSpPr/>
          <p:nvPr/>
        </p:nvSpPr>
        <p:spPr>
          <a:xfrm>
            <a:off x="731520" y="4882896"/>
            <a:ext cx="2560320" cy="10058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Youden's J</a:t>
            </a:r>
            <a:endParaRPr lang="en-US" sz="1350" dirty="0"/>
          </a:p>
        </p:txBody>
      </p:sp>
      <p:sp>
        <p:nvSpPr>
          <p:cNvPr id="19" name="Text 17"/>
          <p:cNvSpPr/>
          <p:nvPr/>
        </p:nvSpPr>
        <p:spPr>
          <a:xfrm>
            <a:off x="3611880" y="4937760"/>
            <a:ext cx="4114800" cy="91440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Maximise (sensitivity + specificity − 1).</a:t>
            </a:r>
            <a:endParaRPr lang="en-US" sz="1200" dirty="0"/>
          </a:p>
        </p:txBody>
      </p:sp>
      <p:sp>
        <p:nvSpPr>
          <p:cNvPr id="20" name="Text 18"/>
          <p:cNvSpPr/>
          <p:nvPr/>
        </p:nvSpPr>
        <p:spPr>
          <a:xfrm>
            <a:off x="7955280" y="4937760"/>
            <a:ext cx="3566160" cy="9144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Balanced problems with no cost information. Weakest of the four.</a:t>
            </a:r>
            <a:endParaRPr lang="en-US" sz="1150" dirty="0"/>
          </a:p>
        </p:txBody>
      </p:sp>
      <p:sp>
        <p:nvSpPr>
          <p:cNvPr id="21" name="Text 19"/>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Whichever you use, set the threshold on a validation split and confirm on the held-out test set — never tune it on test data.</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Three-band design: automate, review, decline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18</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550" b="1" i="1" dirty="0">
                <a:solidFill>
                  <a:srgbClr val="1C7293"/>
                </a:solidFill>
                <a:latin typeface="Calibri" pitchFamily="34" charset="0"/>
                <a:ea typeface="Calibri" pitchFamily="34" charset="-122"/>
                <a:cs typeface="Calibri" pitchFamily="34" charset="-120"/>
              </a:rPr>
              <a:t>A system does not have to be right every time. It has to know when it might be wrong.</a:t>
            </a:r>
            <a:endParaRPr lang="en-US" sz="1550" dirty="0"/>
          </a:p>
        </p:txBody>
      </p:sp>
      <p:sp>
        <p:nvSpPr>
          <p:cNvPr id="6" name="Shape 4"/>
          <p:cNvSpPr/>
          <p:nvPr/>
        </p:nvSpPr>
        <p:spPr>
          <a:xfrm>
            <a:off x="640080" y="1828800"/>
            <a:ext cx="2651760" cy="1005840"/>
          </a:xfrm>
          <a:prstGeom prst="roundRect">
            <a:avLst>
              <a:gd name="adj" fmla="val 4545"/>
            </a:avLst>
          </a:prstGeom>
          <a:solidFill>
            <a:srgbClr val="1E7A3C"/>
          </a:solidFill>
          <a:ln/>
        </p:spPr>
      </p:sp>
      <p:sp>
        <p:nvSpPr>
          <p:cNvPr id="7" name="Text 5"/>
          <p:cNvSpPr/>
          <p:nvPr/>
        </p:nvSpPr>
        <p:spPr>
          <a:xfrm>
            <a:off x="731520" y="1828800"/>
            <a:ext cx="246888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High confidence</a:t>
            </a:r>
            <a:endParaRPr lang="en-US" sz="1400" dirty="0"/>
          </a:p>
        </p:txBody>
      </p:sp>
      <p:sp>
        <p:nvSpPr>
          <p:cNvPr id="8" name="Text 6"/>
          <p:cNvSpPr/>
          <p:nvPr/>
        </p:nvSpPr>
        <p:spPr>
          <a:xfrm>
            <a:off x="3520440" y="1874520"/>
            <a:ext cx="2377440" cy="914400"/>
          </a:xfrm>
          <a:prstGeom prst="rect">
            <a:avLst/>
          </a:prstGeom>
          <a:noFill/>
          <a:ln/>
        </p:spPr>
        <p:txBody>
          <a:bodyPr wrap="square" lIns="0" tIns="0" rIns="0" bIns="0"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Act automatically</a:t>
            </a:r>
            <a:endParaRPr lang="en-US" sz="1400" dirty="0"/>
          </a:p>
        </p:txBody>
      </p:sp>
      <p:sp>
        <p:nvSpPr>
          <p:cNvPr id="9" name="Text 7"/>
          <p:cNvSpPr/>
          <p:nvPr/>
        </p:nvSpPr>
        <p:spPr>
          <a:xfrm>
            <a:off x="6035040" y="1874520"/>
            <a:ext cx="5486400" cy="9144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Above the upper threshold the system proceeds unaided. This band is where the efficiency benefit comes from — measure what proportion of traffic lands here.</a:t>
            </a:r>
            <a:endParaRPr lang="en-US" sz="1150" dirty="0"/>
          </a:p>
        </p:txBody>
      </p:sp>
      <p:sp>
        <p:nvSpPr>
          <p:cNvPr id="10" name="Shape 8"/>
          <p:cNvSpPr/>
          <p:nvPr/>
        </p:nvSpPr>
        <p:spPr>
          <a:xfrm>
            <a:off x="640080" y="3017520"/>
            <a:ext cx="2651760" cy="1005840"/>
          </a:xfrm>
          <a:prstGeom prst="roundRect">
            <a:avLst>
              <a:gd name="adj" fmla="val 4545"/>
            </a:avLst>
          </a:prstGeom>
          <a:solidFill>
            <a:srgbClr val="C1440E"/>
          </a:solidFill>
          <a:ln/>
        </p:spPr>
      </p:sp>
      <p:sp>
        <p:nvSpPr>
          <p:cNvPr id="11" name="Text 9"/>
          <p:cNvSpPr/>
          <p:nvPr/>
        </p:nvSpPr>
        <p:spPr>
          <a:xfrm>
            <a:off x="731520" y="3017520"/>
            <a:ext cx="246888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Uncertain band</a:t>
            </a:r>
            <a:endParaRPr lang="en-US" sz="1400" dirty="0"/>
          </a:p>
        </p:txBody>
      </p:sp>
      <p:sp>
        <p:nvSpPr>
          <p:cNvPr id="12" name="Text 10"/>
          <p:cNvSpPr/>
          <p:nvPr/>
        </p:nvSpPr>
        <p:spPr>
          <a:xfrm>
            <a:off x="3520440" y="3063240"/>
            <a:ext cx="2377440" cy="914400"/>
          </a:xfrm>
          <a:prstGeom prst="rect">
            <a:avLst/>
          </a:prstGeom>
          <a:noFill/>
          <a:ln/>
        </p:spPr>
        <p:txBody>
          <a:bodyPr wrap="square" lIns="0" tIns="0" rIns="0" bIns="0"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Route to human review</a:t>
            </a:r>
            <a:endParaRPr lang="en-US" sz="1400" dirty="0"/>
          </a:p>
        </p:txBody>
      </p:sp>
      <p:sp>
        <p:nvSpPr>
          <p:cNvPr id="13" name="Text 11"/>
          <p:cNvSpPr/>
          <p:nvPr/>
        </p:nvSpPr>
        <p:spPr>
          <a:xfrm>
            <a:off x="6035040" y="3063240"/>
            <a:ext cx="5486400" cy="9144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Between the thresholds, output goes to a queue. Accuracy is bought cheaply here, and reviewed cases become high-value training data.</a:t>
            </a:r>
            <a:endParaRPr lang="en-US" sz="1150" dirty="0"/>
          </a:p>
        </p:txBody>
      </p:sp>
      <p:sp>
        <p:nvSpPr>
          <p:cNvPr id="14" name="Shape 12"/>
          <p:cNvSpPr/>
          <p:nvPr/>
        </p:nvSpPr>
        <p:spPr>
          <a:xfrm>
            <a:off x="640080" y="4206240"/>
            <a:ext cx="2651760" cy="1005840"/>
          </a:xfrm>
          <a:prstGeom prst="roundRect">
            <a:avLst>
              <a:gd name="adj" fmla="val 4545"/>
            </a:avLst>
          </a:prstGeom>
          <a:solidFill>
            <a:srgbClr val="21295C"/>
          </a:solidFill>
          <a:ln/>
        </p:spPr>
      </p:sp>
      <p:sp>
        <p:nvSpPr>
          <p:cNvPr id="15" name="Text 13"/>
          <p:cNvSpPr/>
          <p:nvPr/>
        </p:nvSpPr>
        <p:spPr>
          <a:xfrm>
            <a:off x="731520" y="4206240"/>
            <a:ext cx="246888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Low confidence</a:t>
            </a:r>
            <a:endParaRPr lang="en-US" sz="1400" dirty="0"/>
          </a:p>
        </p:txBody>
      </p:sp>
      <p:sp>
        <p:nvSpPr>
          <p:cNvPr id="16" name="Text 14"/>
          <p:cNvSpPr/>
          <p:nvPr/>
        </p:nvSpPr>
        <p:spPr>
          <a:xfrm>
            <a:off x="3520440" y="4251960"/>
            <a:ext cx="2377440" cy="914400"/>
          </a:xfrm>
          <a:prstGeom prst="rect">
            <a:avLst/>
          </a:prstGeom>
          <a:noFill/>
          <a:ln/>
        </p:spPr>
        <p:txBody>
          <a:bodyPr wrap="square" lIns="0" tIns="0" rIns="0" bIns="0"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Decline or escalate</a:t>
            </a:r>
            <a:endParaRPr lang="en-US" sz="1400" dirty="0"/>
          </a:p>
        </p:txBody>
      </p:sp>
      <p:sp>
        <p:nvSpPr>
          <p:cNvPr id="17" name="Text 15"/>
          <p:cNvSpPr/>
          <p:nvPr/>
        </p:nvSpPr>
        <p:spPr>
          <a:xfrm>
            <a:off x="6035040" y="4251960"/>
            <a:ext cx="5486400" cy="91440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Below the lower threshold the system states it does not know and escalates rather than guessing. This protects trust more than any accuracy gain.</a:t>
            </a:r>
            <a:endParaRPr lang="en-US" sz="1150" dirty="0"/>
          </a:p>
        </p:txBody>
      </p:sp>
      <p:sp>
        <p:nvSpPr>
          <p:cNvPr id="18" name="Text 16"/>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Designing the uncertain band well is often worth more than months of model improvement — it makes a system deployable at today's accuracy.</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Sizing the review queue — the calculation teams skip</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19</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00" dirty="0">
                <a:solidFill>
                  <a:srgbClr val="5A6B7C"/>
                </a:solidFill>
                <a:latin typeface="Calibri" pitchFamily="34" charset="0"/>
                <a:ea typeface="Calibri" pitchFamily="34" charset="-122"/>
                <a:cs typeface="Calibri" pitchFamily="34" charset="-120"/>
              </a:rPr>
              <a:t>The uncertain band must generate a volume of reviews your people can absorb. Work it out before choosing thresholds, not after.</a:t>
            </a:r>
            <a:endParaRPr lang="en-US" sz="1400" dirty="0"/>
          </a:p>
        </p:txBody>
      </p:sp>
      <p:sp>
        <p:nvSpPr>
          <p:cNvPr id="6" name="Shape 4"/>
          <p:cNvSpPr/>
          <p:nvPr/>
        </p:nvSpPr>
        <p:spPr>
          <a:xfrm>
            <a:off x="640080" y="1828800"/>
            <a:ext cx="3108960" cy="384048"/>
          </a:xfrm>
          <a:prstGeom prst="rect">
            <a:avLst/>
          </a:prstGeom>
          <a:solidFill>
            <a:srgbClr val="21295C"/>
          </a:solidFill>
          <a:ln/>
        </p:spPr>
      </p:sp>
      <p:sp>
        <p:nvSpPr>
          <p:cNvPr id="7" name="Text 5"/>
          <p:cNvSpPr/>
          <p:nvPr/>
        </p:nvSpPr>
        <p:spPr>
          <a:xfrm>
            <a:off x="749808" y="1828800"/>
            <a:ext cx="28895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Input</a:t>
            </a:r>
            <a:endParaRPr lang="en-US" sz="1100" dirty="0"/>
          </a:p>
        </p:txBody>
      </p:sp>
      <p:sp>
        <p:nvSpPr>
          <p:cNvPr id="8" name="Shape 6"/>
          <p:cNvSpPr/>
          <p:nvPr/>
        </p:nvSpPr>
        <p:spPr>
          <a:xfrm>
            <a:off x="3749040" y="1828800"/>
            <a:ext cx="3657600" cy="384048"/>
          </a:xfrm>
          <a:prstGeom prst="rect">
            <a:avLst/>
          </a:prstGeom>
          <a:solidFill>
            <a:srgbClr val="21295C"/>
          </a:solidFill>
          <a:ln/>
        </p:spPr>
      </p:sp>
      <p:sp>
        <p:nvSpPr>
          <p:cNvPr id="9" name="Text 7"/>
          <p:cNvSpPr/>
          <p:nvPr/>
        </p:nvSpPr>
        <p:spPr>
          <a:xfrm>
            <a:off x="3858768" y="1828800"/>
            <a:ext cx="34381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10" name="Shape 8"/>
          <p:cNvSpPr/>
          <p:nvPr/>
        </p:nvSpPr>
        <p:spPr>
          <a:xfrm>
            <a:off x="7406640" y="1828800"/>
            <a:ext cx="4114800" cy="384048"/>
          </a:xfrm>
          <a:prstGeom prst="rect">
            <a:avLst/>
          </a:prstGeom>
          <a:solidFill>
            <a:srgbClr val="21295C"/>
          </a:solidFill>
          <a:ln/>
        </p:spPr>
      </p:sp>
      <p:sp>
        <p:nvSpPr>
          <p:cNvPr id="11" name="Text 9"/>
          <p:cNvSpPr/>
          <p:nvPr/>
        </p:nvSpPr>
        <p:spPr>
          <a:xfrm>
            <a:off x="7516368" y="1828800"/>
            <a:ext cx="3895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Note</a:t>
            </a:r>
            <a:endParaRPr lang="en-US" sz="1100" dirty="0"/>
          </a:p>
        </p:txBody>
      </p:sp>
      <p:sp>
        <p:nvSpPr>
          <p:cNvPr id="12" name="Shape 10"/>
          <p:cNvSpPr/>
          <p:nvPr/>
        </p:nvSpPr>
        <p:spPr>
          <a:xfrm>
            <a:off x="640080" y="2212848"/>
            <a:ext cx="3108960" cy="502920"/>
          </a:xfrm>
          <a:prstGeom prst="rect">
            <a:avLst/>
          </a:prstGeom>
          <a:solidFill>
            <a:srgbClr val="FFFFFF"/>
          </a:solidFill>
          <a:ln w="9525">
            <a:solidFill>
              <a:srgbClr val="E3EBF0"/>
            </a:solidFill>
            <a:prstDash val="solid"/>
          </a:ln>
        </p:spPr>
      </p:sp>
      <p:sp>
        <p:nvSpPr>
          <p:cNvPr id="13" name="Text 11"/>
          <p:cNvSpPr/>
          <p:nvPr/>
        </p:nvSpPr>
        <p:spPr>
          <a:xfrm>
            <a:off x="749808" y="2212848"/>
            <a:ext cx="288950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Daily decision volume</a:t>
            </a:r>
            <a:endParaRPr lang="en-US" sz="1050" dirty="0"/>
          </a:p>
        </p:txBody>
      </p:sp>
      <p:sp>
        <p:nvSpPr>
          <p:cNvPr id="14" name="Shape 12"/>
          <p:cNvSpPr/>
          <p:nvPr/>
        </p:nvSpPr>
        <p:spPr>
          <a:xfrm>
            <a:off x="3749040" y="2212848"/>
            <a:ext cx="3657600" cy="502920"/>
          </a:xfrm>
          <a:prstGeom prst="rect">
            <a:avLst/>
          </a:prstGeom>
          <a:solidFill>
            <a:srgbClr val="FFFFFF"/>
          </a:solidFill>
          <a:ln w="9525">
            <a:solidFill>
              <a:srgbClr val="E3EBF0"/>
            </a:solidFill>
            <a:prstDash val="solid"/>
          </a:ln>
        </p:spPr>
      </p:sp>
      <p:sp>
        <p:nvSpPr>
          <p:cNvPr id="15" name="Text 13"/>
          <p:cNvSpPr/>
          <p:nvPr/>
        </p:nvSpPr>
        <p:spPr>
          <a:xfrm>
            <a:off x="3858768" y="2212848"/>
            <a:ext cx="34381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4,000 inspections per day</a:t>
            </a:r>
            <a:endParaRPr lang="en-US" sz="1050" dirty="0"/>
          </a:p>
        </p:txBody>
      </p:sp>
      <p:sp>
        <p:nvSpPr>
          <p:cNvPr id="16" name="Shape 14"/>
          <p:cNvSpPr/>
          <p:nvPr/>
        </p:nvSpPr>
        <p:spPr>
          <a:xfrm>
            <a:off x="7406640" y="2212848"/>
            <a:ext cx="4114800" cy="502920"/>
          </a:xfrm>
          <a:prstGeom prst="rect">
            <a:avLst/>
          </a:prstGeom>
          <a:solidFill>
            <a:srgbClr val="FFFFFF"/>
          </a:solidFill>
          <a:ln w="9525">
            <a:solidFill>
              <a:srgbClr val="E3EBF0"/>
            </a:solidFill>
            <a:prstDash val="solid"/>
          </a:ln>
        </p:spPr>
      </p:sp>
      <p:sp>
        <p:nvSpPr>
          <p:cNvPr id="17" name="Text 15"/>
          <p:cNvSpPr/>
          <p:nvPr/>
        </p:nvSpPr>
        <p:spPr>
          <a:xfrm>
            <a:off x="7516368" y="2212848"/>
            <a:ext cx="3895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From the process, not the model</a:t>
            </a:r>
            <a:endParaRPr lang="en-US" sz="1050" dirty="0"/>
          </a:p>
        </p:txBody>
      </p:sp>
      <p:sp>
        <p:nvSpPr>
          <p:cNvPr id="18" name="Shape 16"/>
          <p:cNvSpPr/>
          <p:nvPr/>
        </p:nvSpPr>
        <p:spPr>
          <a:xfrm>
            <a:off x="640080" y="2715768"/>
            <a:ext cx="3108960" cy="502920"/>
          </a:xfrm>
          <a:prstGeom prst="rect">
            <a:avLst/>
          </a:prstGeom>
          <a:solidFill>
            <a:srgbClr val="F5F9FB"/>
          </a:solidFill>
          <a:ln w="9525">
            <a:solidFill>
              <a:srgbClr val="E3EBF0"/>
            </a:solidFill>
            <a:prstDash val="solid"/>
          </a:ln>
        </p:spPr>
      </p:sp>
      <p:sp>
        <p:nvSpPr>
          <p:cNvPr id="19" name="Text 17"/>
          <p:cNvSpPr/>
          <p:nvPr/>
        </p:nvSpPr>
        <p:spPr>
          <a:xfrm>
            <a:off x="749808" y="2715768"/>
            <a:ext cx="288950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Deferral rate at chosen thresholds</a:t>
            </a:r>
            <a:endParaRPr lang="en-US" sz="1050" dirty="0"/>
          </a:p>
        </p:txBody>
      </p:sp>
      <p:sp>
        <p:nvSpPr>
          <p:cNvPr id="20" name="Shape 18"/>
          <p:cNvSpPr/>
          <p:nvPr/>
        </p:nvSpPr>
        <p:spPr>
          <a:xfrm>
            <a:off x="3749040" y="2715768"/>
            <a:ext cx="3657600" cy="502920"/>
          </a:xfrm>
          <a:prstGeom prst="rect">
            <a:avLst/>
          </a:prstGeom>
          <a:solidFill>
            <a:srgbClr val="F5F9FB"/>
          </a:solidFill>
          <a:ln w="9525">
            <a:solidFill>
              <a:srgbClr val="E3EBF0"/>
            </a:solidFill>
            <a:prstDash val="solid"/>
          </a:ln>
        </p:spPr>
      </p:sp>
      <p:sp>
        <p:nvSpPr>
          <p:cNvPr id="21" name="Text 19"/>
          <p:cNvSpPr/>
          <p:nvPr/>
        </p:nvSpPr>
        <p:spPr>
          <a:xfrm>
            <a:off x="3858768" y="2715768"/>
            <a:ext cx="34381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12% land in the uncertain band</a:t>
            </a:r>
            <a:endParaRPr lang="en-US" sz="1050" dirty="0"/>
          </a:p>
        </p:txBody>
      </p:sp>
      <p:sp>
        <p:nvSpPr>
          <p:cNvPr id="22" name="Shape 20"/>
          <p:cNvSpPr/>
          <p:nvPr/>
        </p:nvSpPr>
        <p:spPr>
          <a:xfrm>
            <a:off x="7406640" y="2715768"/>
            <a:ext cx="4114800" cy="502920"/>
          </a:xfrm>
          <a:prstGeom prst="rect">
            <a:avLst/>
          </a:prstGeom>
          <a:solidFill>
            <a:srgbClr val="F5F9FB"/>
          </a:solidFill>
          <a:ln w="9525">
            <a:solidFill>
              <a:srgbClr val="E3EBF0"/>
            </a:solidFill>
            <a:prstDash val="solid"/>
          </a:ln>
        </p:spPr>
      </p:sp>
      <p:sp>
        <p:nvSpPr>
          <p:cNvPr id="23" name="Text 21"/>
          <p:cNvSpPr/>
          <p:nvPr/>
        </p:nvSpPr>
        <p:spPr>
          <a:xfrm>
            <a:off x="7516368" y="2715768"/>
            <a:ext cx="3895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Read off the confidence distribution</a:t>
            </a:r>
            <a:endParaRPr lang="en-US" sz="1050" dirty="0"/>
          </a:p>
        </p:txBody>
      </p:sp>
      <p:sp>
        <p:nvSpPr>
          <p:cNvPr id="24" name="Shape 22"/>
          <p:cNvSpPr/>
          <p:nvPr/>
        </p:nvSpPr>
        <p:spPr>
          <a:xfrm>
            <a:off x="640080" y="3218688"/>
            <a:ext cx="3108960" cy="502920"/>
          </a:xfrm>
          <a:prstGeom prst="rect">
            <a:avLst/>
          </a:prstGeom>
          <a:solidFill>
            <a:srgbClr val="FFFFFF"/>
          </a:solidFill>
          <a:ln w="9525">
            <a:solidFill>
              <a:srgbClr val="E3EBF0"/>
            </a:solidFill>
            <a:prstDash val="solid"/>
          </a:ln>
        </p:spPr>
      </p:sp>
      <p:sp>
        <p:nvSpPr>
          <p:cNvPr id="25" name="Text 23"/>
          <p:cNvSpPr/>
          <p:nvPr/>
        </p:nvSpPr>
        <p:spPr>
          <a:xfrm>
            <a:off x="749808" y="3218688"/>
            <a:ext cx="288950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Reviews generated per day</a:t>
            </a:r>
            <a:endParaRPr lang="en-US" sz="1050" dirty="0"/>
          </a:p>
        </p:txBody>
      </p:sp>
      <p:sp>
        <p:nvSpPr>
          <p:cNvPr id="26" name="Shape 24"/>
          <p:cNvSpPr/>
          <p:nvPr/>
        </p:nvSpPr>
        <p:spPr>
          <a:xfrm>
            <a:off x="3749040" y="3218688"/>
            <a:ext cx="3657600" cy="502920"/>
          </a:xfrm>
          <a:prstGeom prst="rect">
            <a:avLst/>
          </a:prstGeom>
          <a:solidFill>
            <a:srgbClr val="FFFFFF"/>
          </a:solidFill>
          <a:ln w="9525">
            <a:solidFill>
              <a:srgbClr val="E3EBF0"/>
            </a:solidFill>
            <a:prstDash val="solid"/>
          </a:ln>
        </p:spPr>
      </p:sp>
      <p:sp>
        <p:nvSpPr>
          <p:cNvPr id="27" name="Text 25"/>
          <p:cNvSpPr/>
          <p:nvPr/>
        </p:nvSpPr>
        <p:spPr>
          <a:xfrm>
            <a:off x="3858768" y="3218688"/>
            <a:ext cx="34381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480</a:t>
            </a:r>
            <a:endParaRPr lang="en-US" sz="1050" dirty="0"/>
          </a:p>
        </p:txBody>
      </p:sp>
      <p:sp>
        <p:nvSpPr>
          <p:cNvPr id="28" name="Shape 26"/>
          <p:cNvSpPr/>
          <p:nvPr/>
        </p:nvSpPr>
        <p:spPr>
          <a:xfrm>
            <a:off x="7406640" y="3218688"/>
            <a:ext cx="4114800" cy="502920"/>
          </a:xfrm>
          <a:prstGeom prst="rect">
            <a:avLst/>
          </a:prstGeom>
          <a:solidFill>
            <a:srgbClr val="FFFFFF"/>
          </a:solidFill>
          <a:ln w="9525">
            <a:solidFill>
              <a:srgbClr val="E3EBF0"/>
            </a:solidFill>
            <a:prstDash val="solid"/>
          </a:ln>
        </p:spPr>
      </p:sp>
      <p:sp>
        <p:nvSpPr>
          <p:cNvPr id="29" name="Text 27"/>
          <p:cNvSpPr/>
          <p:nvPr/>
        </p:nvSpPr>
        <p:spPr>
          <a:xfrm>
            <a:off x="7516368" y="3218688"/>
            <a:ext cx="3895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Volume × deferral rate</a:t>
            </a:r>
            <a:endParaRPr lang="en-US" sz="1050" dirty="0"/>
          </a:p>
        </p:txBody>
      </p:sp>
      <p:sp>
        <p:nvSpPr>
          <p:cNvPr id="30" name="Shape 28"/>
          <p:cNvSpPr/>
          <p:nvPr/>
        </p:nvSpPr>
        <p:spPr>
          <a:xfrm>
            <a:off x="640080" y="3721608"/>
            <a:ext cx="3108960" cy="502920"/>
          </a:xfrm>
          <a:prstGeom prst="rect">
            <a:avLst/>
          </a:prstGeom>
          <a:solidFill>
            <a:srgbClr val="F5F9FB"/>
          </a:solidFill>
          <a:ln w="9525">
            <a:solidFill>
              <a:srgbClr val="E3EBF0"/>
            </a:solidFill>
            <a:prstDash val="solid"/>
          </a:ln>
        </p:spPr>
      </p:sp>
      <p:sp>
        <p:nvSpPr>
          <p:cNvPr id="31" name="Text 29"/>
          <p:cNvSpPr/>
          <p:nvPr/>
        </p:nvSpPr>
        <p:spPr>
          <a:xfrm>
            <a:off x="749808" y="3721608"/>
            <a:ext cx="288950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Time per review</a:t>
            </a:r>
            <a:endParaRPr lang="en-US" sz="1050" dirty="0"/>
          </a:p>
        </p:txBody>
      </p:sp>
      <p:sp>
        <p:nvSpPr>
          <p:cNvPr id="32" name="Shape 30"/>
          <p:cNvSpPr/>
          <p:nvPr/>
        </p:nvSpPr>
        <p:spPr>
          <a:xfrm>
            <a:off x="3749040" y="3721608"/>
            <a:ext cx="3657600" cy="502920"/>
          </a:xfrm>
          <a:prstGeom prst="rect">
            <a:avLst/>
          </a:prstGeom>
          <a:solidFill>
            <a:srgbClr val="F5F9FB"/>
          </a:solidFill>
          <a:ln w="9525">
            <a:solidFill>
              <a:srgbClr val="E3EBF0"/>
            </a:solidFill>
            <a:prstDash val="solid"/>
          </a:ln>
        </p:spPr>
      </p:sp>
      <p:sp>
        <p:nvSpPr>
          <p:cNvPr id="33" name="Text 31"/>
          <p:cNvSpPr/>
          <p:nvPr/>
        </p:nvSpPr>
        <p:spPr>
          <a:xfrm>
            <a:off x="3858768" y="3721608"/>
            <a:ext cx="34381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90 seconds</a:t>
            </a:r>
            <a:endParaRPr lang="en-US" sz="1050" dirty="0"/>
          </a:p>
        </p:txBody>
      </p:sp>
      <p:sp>
        <p:nvSpPr>
          <p:cNvPr id="34" name="Shape 32"/>
          <p:cNvSpPr/>
          <p:nvPr/>
        </p:nvSpPr>
        <p:spPr>
          <a:xfrm>
            <a:off x="7406640" y="3721608"/>
            <a:ext cx="4114800" cy="502920"/>
          </a:xfrm>
          <a:prstGeom prst="rect">
            <a:avLst/>
          </a:prstGeom>
          <a:solidFill>
            <a:srgbClr val="F5F9FB"/>
          </a:solidFill>
          <a:ln w="9525">
            <a:solidFill>
              <a:srgbClr val="E3EBF0"/>
            </a:solidFill>
            <a:prstDash val="solid"/>
          </a:ln>
        </p:spPr>
      </p:sp>
      <p:sp>
        <p:nvSpPr>
          <p:cNvPr id="35" name="Text 33"/>
          <p:cNvSpPr/>
          <p:nvPr/>
        </p:nvSpPr>
        <p:spPr>
          <a:xfrm>
            <a:off x="7516368" y="3721608"/>
            <a:ext cx="3895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Measure it; do not estimate</a:t>
            </a:r>
            <a:endParaRPr lang="en-US" sz="1050" dirty="0"/>
          </a:p>
        </p:txBody>
      </p:sp>
      <p:sp>
        <p:nvSpPr>
          <p:cNvPr id="36" name="Shape 34"/>
          <p:cNvSpPr/>
          <p:nvPr/>
        </p:nvSpPr>
        <p:spPr>
          <a:xfrm>
            <a:off x="640080" y="4224528"/>
            <a:ext cx="3108960" cy="502920"/>
          </a:xfrm>
          <a:prstGeom prst="rect">
            <a:avLst/>
          </a:prstGeom>
          <a:solidFill>
            <a:srgbClr val="FFFFFF"/>
          </a:solidFill>
          <a:ln w="9525">
            <a:solidFill>
              <a:srgbClr val="E3EBF0"/>
            </a:solidFill>
            <a:prstDash val="solid"/>
          </a:ln>
        </p:spPr>
      </p:sp>
      <p:sp>
        <p:nvSpPr>
          <p:cNvPr id="37" name="Text 35"/>
          <p:cNvSpPr/>
          <p:nvPr/>
        </p:nvSpPr>
        <p:spPr>
          <a:xfrm>
            <a:off x="749808" y="4224528"/>
            <a:ext cx="288950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Reviewer hours needed per day</a:t>
            </a:r>
            <a:endParaRPr lang="en-US" sz="1050" dirty="0"/>
          </a:p>
        </p:txBody>
      </p:sp>
      <p:sp>
        <p:nvSpPr>
          <p:cNvPr id="38" name="Shape 36"/>
          <p:cNvSpPr/>
          <p:nvPr/>
        </p:nvSpPr>
        <p:spPr>
          <a:xfrm>
            <a:off x="3749040" y="4224528"/>
            <a:ext cx="3657600" cy="502920"/>
          </a:xfrm>
          <a:prstGeom prst="rect">
            <a:avLst/>
          </a:prstGeom>
          <a:solidFill>
            <a:srgbClr val="FFFFFF"/>
          </a:solidFill>
          <a:ln w="9525">
            <a:solidFill>
              <a:srgbClr val="E3EBF0"/>
            </a:solidFill>
            <a:prstDash val="solid"/>
          </a:ln>
        </p:spPr>
      </p:sp>
      <p:sp>
        <p:nvSpPr>
          <p:cNvPr id="39" name="Text 37"/>
          <p:cNvSpPr/>
          <p:nvPr/>
        </p:nvSpPr>
        <p:spPr>
          <a:xfrm>
            <a:off x="3858768" y="4224528"/>
            <a:ext cx="34381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12 hours</a:t>
            </a:r>
            <a:endParaRPr lang="en-US" sz="1050" dirty="0"/>
          </a:p>
        </p:txBody>
      </p:sp>
      <p:sp>
        <p:nvSpPr>
          <p:cNvPr id="40" name="Shape 38"/>
          <p:cNvSpPr/>
          <p:nvPr/>
        </p:nvSpPr>
        <p:spPr>
          <a:xfrm>
            <a:off x="7406640" y="4224528"/>
            <a:ext cx="4114800" cy="502920"/>
          </a:xfrm>
          <a:prstGeom prst="rect">
            <a:avLst/>
          </a:prstGeom>
          <a:solidFill>
            <a:srgbClr val="FFFFFF"/>
          </a:solidFill>
          <a:ln w="9525">
            <a:solidFill>
              <a:srgbClr val="E3EBF0"/>
            </a:solidFill>
            <a:prstDash val="solid"/>
          </a:ln>
        </p:spPr>
      </p:sp>
      <p:sp>
        <p:nvSpPr>
          <p:cNvPr id="41" name="Text 39"/>
          <p:cNvSpPr/>
          <p:nvPr/>
        </p:nvSpPr>
        <p:spPr>
          <a:xfrm>
            <a:off x="7516368" y="4224528"/>
            <a:ext cx="3895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Reviews × time</a:t>
            </a:r>
            <a:endParaRPr lang="en-US" sz="1050" dirty="0"/>
          </a:p>
        </p:txBody>
      </p:sp>
      <p:sp>
        <p:nvSpPr>
          <p:cNvPr id="42" name="Shape 40"/>
          <p:cNvSpPr/>
          <p:nvPr/>
        </p:nvSpPr>
        <p:spPr>
          <a:xfrm>
            <a:off x="640080" y="4727448"/>
            <a:ext cx="3108960" cy="502920"/>
          </a:xfrm>
          <a:prstGeom prst="rect">
            <a:avLst/>
          </a:prstGeom>
          <a:solidFill>
            <a:srgbClr val="F5F9FB"/>
          </a:solidFill>
          <a:ln w="9525">
            <a:solidFill>
              <a:srgbClr val="E3EBF0"/>
            </a:solidFill>
            <a:prstDash val="solid"/>
          </a:ln>
        </p:spPr>
      </p:sp>
      <p:sp>
        <p:nvSpPr>
          <p:cNvPr id="43" name="Text 41"/>
          <p:cNvSpPr/>
          <p:nvPr/>
        </p:nvSpPr>
        <p:spPr>
          <a:xfrm>
            <a:off x="749808" y="4727448"/>
            <a:ext cx="288950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Available reviewer capacity</a:t>
            </a:r>
            <a:endParaRPr lang="en-US" sz="1050" dirty="0"/>
          </a:p>
        </p:txBody>
      </p:sp>
      <p:sp>
        <p:nvSpPr>
          <p:cNvPr id="44" name="Shape 42"/>
          <p:cNvSpPr/>
          <p:nvPr/>
        </p:nvSpPr>
        <p:spPr>
          <a:xfrm>
            <a:off x="3749040" y="4727448"/>
            <a:ext cx="3657600" cy="502920"/>
          </a:xfrm>
          <a:prstGeom prst="rect">
            <a:avLst/>
          </a:prstGeom>
          <a:solidFill>
            <a:srgbClr val="F5F9FB"/>
          </a:solidFill>
          <a:ln w="9525">
            <a:solidFill>
              <a:srgbClr val="E3EBF0"/>
            </a:solidFill>
            <a:prstDash val="solid"/>
          </a:ln>
        </p:spPr>
      </p:sp>
      <p:sp>
        <p:nvSpPr>
          <p:cNvPr id="45" name="Text 43"/>
          <p:cNvSpPr/>
          <p:nvPr/>
        </p:nvSpPr>
        <p:spPr>
          <a:xfrm>
            <a:off x="3858768" y="4727448"/>
            <a:ext cx="34381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8 hours</a:t>
            </a:r>
            <a:endParaRPr lang="en-US" sz="1050" dirty="0"/>
          </a:p>
        </p:txBody>
      </p:sp>
      <p:sp>
        <p:nvSpPr>
          <p:cNvPr id="46" name="Shape 44"/>
          <p:cNvSpPr/>
          <p:nvPr/>
        </p:nvSpPr>
        <p:spPr>
          <a:xfrm>
            <a:off x="7406640" y="4727448"/>
            <a:ext cx="4114800" cy="502920"/>
          </a:xfrm>
          <a:prstGeom prst="rect">
            <a:avLst/>
          </a:prstGeom>
          <a:solidFill>
            <a:srgbClr val="F5F9FB"/>
          </a:solidFill>
          <a:ln w="9525">
            <a:solidFill>
              <a:srgbClr val="E3EBF0"/>
            </a:solidFill>
            <a:prstDash val="solid"/>
          </a:ln>
        </p:spPr>
      </p:sp>
      <p:sp>
        <p:nvSpPr>
          <p:cNvPr id="47" name="Text 45"/>
          <p:cNvSpPr/>
          <p:nvPr/>
        </p:nvSpPr>
        <p:spPr>
          <a:xfrm>
            <a:off x="7516368" y="4727448"/>
            <a:ext cx="389534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binding constraint</a:t>
            </a:r>
            <a:endParaRPr lang="en-US" sz="1050" dirty="0"/>
          </a:p>
        </p:txBody>
      </p:sp>
      <p:sp>
        <p:nvSpPr>
          <p:cNvPr id="48" name="Shape 46"/>
          <p:cNvSpPr/>
          <p:nvPr/>
        </p:nvSpPr>
        <p:spPr>
          <a:xfrm>
            <a:off x="640080" y="5029200"/>
            <a:ext cx="10881360" cy="777240"/>
          </a:xfrm>
          <a:prstGeom prst="roundRect">
            <a:avLst>
              <a:gd name="adj" fmla="val 7059"/>
            </a:avLst>
          </a:prstGeom>
          <a:solidFill>
            <a:srgbClr val="FBEEE8"/>
          </a:solidFill>
          <a:ln w="12700">
            <a:solidFill>
              <a:srgbClr val="EBCFC2"/>
            </a:solidFill>
            <a:prstDash val="solid"/>
          </a:ln>
        </p:spPr>
      </p:sp>
      <p:sp>
        <p:nvSpPr>
          <p:cNvPr id="49" name="Text 47"/>
          <p:cNvSpPr/>
          <p:nvPr/>
        </p:nvSpPr>
        <p:spPr>
          <a:xfrm>
            <a:off x="914400" y="5175504"/>
            <a:ext cx="10332720" cy="548640"/>
          </a:xfrm>
          <a:prstGeom prst="rect">
            <a:avLst/>
          </a:prstGeom>
          <a:noFill/>
          <a:ln/>
        </p:spPr>
        <p:txBody>
          <a:bodyPr wrap="square" lIns="0" tIns="0" rIns="0" bIns="0"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Demand exceeds capacity by 50%. Either narrow the band and accept more automated error, add capacity, or improve the model until the deferral rate fits. That is a real design decision — invisible unless you do this arithmetic.</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1.17</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Escalation logic — what to do with the cases you decline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640080" y="1481328"/>
            <a:ext cx="365760" cy="365760"/>
          </a:xfrm>
          <a:prstGeom prst="ellipse">
            <a:avLst/>
          </a:prstGeom>
          <a:solidFill>
            <a:srgbClr val="065A82"/>
          </a:solidFill>
          <a:ln/>
        </p:spPr>
      </p:sp>
      <p:sp>
        <p:nvSpPr>
          <p:cNvPr id="6" name="Text 4"/>
          <p:cNvSpPr/>
          <p:nvPr/>
        </p:nvSpPr>
        <p:spPr>
          <a:xfrm>
            <a:off x="640080" y="1481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93192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Route by reason, not just score</a:t>
            </a:r>
            <a:endParaRPr lang="en-US" sz="1300" dirty="0"/>
          </a:p>
        </p:txBody>
      </p:sp>
      <p:sp>
        <p:nvSpPr>
          <p:cNvPr id="8" name="Text 6"/>
          <p:cNvSpPr/>
          <p:nvPr/>
        </p:nvSpPr>
        <p:spPr>
          <a:xfrm>
            <a:off x="5303520" y="1371600"/>
            <a:ext cx="62179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 low-confidence output caused by an unfamiliar variant should go somewhere different from one caused by a poor image.</a:t>
            </a:r>
            <a:endParaRPr lang="en-US" sz="1150" dirty="0"/>
          </a:p>
        </p:txBody>
      </p:sp>
      <p:sp>
        <p:nvSpPr>
          <p:cNvPr id="9" name="Shape 7"/>
          <p:cNvSpPr/>
          <p:nvPr/>
        </p:nvSpPr>
        <p:spPr>
          <a:xfrm>
            <a:off x="640080" y="2395728"/>
            <a:ext cx="365760" cy="365760"/>
          </a:xfrm>
          <a:prstGeom prst="ellipse">
            <a:avLst/>
          </a:prstGeom>
          <a:solidFill>
            <a:srgbClr val="065A82"/>
          </a:solidFill>
          <a:ln/>
        </p:spPr>
      </p:sp>
      <p:sp>
        <p:nvSpPr>
          <p:cNvPr id="10" name="Text 8"/>
          <p:cNvSpPr/>
          <p:nvPr/>
        </p:nvSpPr>
        <p:spPr>
          <a:xfrm>
            <a:off x="640080" y="2395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286000"/>
            <a:ext cx="393192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Carry context forward</a:t>
            </a:r>
            <a:endParaRPr lang="en-US" sz="1300" dirty="0"/>
          </a:p>
        </p:txBody>
      </p:sp>
      <p:sp>
        <p:nvSpPr>
          <p:cNvPr id="12" name="Text 10"/>
          <p:cNvSpPr/>
          <p:nvPr/>
        </p:nvSpPr>
        <p:spPr>
          <a:xfrm>
            <a:off x="5303520" y="2286000"/>
            <a:ext cx="62179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The human needs the input, the model's top candidates, its confidence, and what it found ambiguous. A bare 'unknown' wastes their time.</a:t>
            </a:r>
            <a:endParaRPr lang="en-US" sz="1150" dirty="0"/>
          </a:p>
        </p:txBody>
      </p:sp>
      <p:sp>
        <p:nvSpPr>
          <p:cNvPr id="13" name="Shape 11"/>
          <p:cNvSpPr/>
          <p:nvPr/>
        </p:nvSpPr>
        <p:spPr>
          <a:xfrm>
            <a:off x="640080" y="3310128"/>
            <a:ext cx="365760" cy="365760"/>
          </a:xfrm>
          <a:prstGeom prst="ellipse">
            <a:avLst/>
          </a:prstGeom>
          <a:solidFill>
            <a:srgbClr val="065A82"/>
          </a:solidFill>
          <a:ln/>
        </p:spPr>
      </p:sp>
      <p:sp>
        <p:nvSpPr>
          <p:cNvPr id="14" name="Text 12"/>
          <p:cNvSpPr/>
          <p:nvPr/>
        </p:nvSpPr>
        <p:spPr>
          <a:xfrm>
            <a:off x="640080" y="33101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3200400"/>
            <a:ext cx="393192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Set a response expectation</a:t>
            </a:r>
            <a:endParaRPr lang="en-US" sz="1300" dirty="0"/>
          </a:p>
        </p:txBody>
      </p:sp>
      <p:sp>
        <p:nvSpPr>
          <p:cNvPr id="16" name="Text 14"/>
          <p:cNvSpPr/>
          <p:nvPr/>
        </p:nvSpPr>
        <p:spPr>
          <a:xfrm>
            <a:off x="5303520" y="3200400"/>
            <a:ext cx="62179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An escalation with no service commitment becomes a queue nobody works. Define who owns it and by when.</a:t>
            </a:r>
            <a:endParaRPr lang="en-US" sz="1150" dirty="0"/>
          </a:p>
        </p:txBody>
      </p:sp>
      <p:sp>
        <p:nvSpPr>
          <p:cNvPr id="17" name="Shape 15"/>
          <p:cNvSpPr/>
          <p:nvPr/>
        </p:nvSpPr>
        <p:spPr>
          <a:xfrm>
            <a:off x="640080" y="4224528"/>
            <a:ext cx="365760" cy="365760"/>
          </a:xfrm>
          <a:prstGeom prst="ellipse">
            <a:avLst/>
          </a:prstGeom>
          <a:solidFill>
            <a:srgbClr val="065A82"/>
          </a:solidFill>
          <a:ln/>
        </p:spPr>
      </p:sp>
      <p:sp>
        <p:nvSpPr>
          <p:cNvPr id="18" name="Text 16"/>
          <p:cNvSpPr/>
          <p:nvPr/>
        </p:nvSpPr>
        <p:spPr>
          <a:xfrm>
            <a:off x="640080" y="4224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4114800"/>
            <a:ext cx="393192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Close the loop</a:t>
            </a:r>
            <a:endParaRPr lang="en-US" sz="1300" dirty="0"/>
          </a:p>
        </p:txBody>
      </p:sp>
      <p:sp>
        <p:nvSpPr>
          <p:cNvPr id="20" name="Text 18"/>
          <p:cNvSpPr/>
          <p:nvPr/>
        </p:nvSpPr>
        <p:spPr>
          <a:xfrm>
            <a:off x="5303520" y="4114800"/>
            <a:ext cx="62179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Every resolved escalation is a labelled example. If it does not flow back into evaluation or training data, you are discarding your most valuable data.</a:t>
            </a:r>
            <a:endParaRPr lang="en-US" sz="1150" dirty="0"/>
          </a:p>
        </p:txBody>
      </p:sp>
      <p:sp>
        <p:nvSpPr>
          <p:cNvPr id="21" name="Shape 19"/>
          <p:cNvSpPr/>
          <p:nvPr/>
        </p:nvSpPr>
        <p:spPr>
          <a:xfrm>
            <a:off x="640080" y="5138928"/>
            <a:ext cx="365760" cy="365760"/>
          </a:xfrm>
          <a:prstGeom prst="ellipse">
            <a:avLst/>
          </a:prstGeom>
          <a:solidFill>
            <a:srgbClr val="065A82"/>
          </a:solidFill>
          <a:ln/>
        </p:spPr>
      </p:sp>
      <p:sp>
        <p:nvSpPr>
          <p:cNvPr id="22" name="Text 20"/>
          <p:cNvSpPr/>
          <p:nvPr/>
        </p:nvSpPr>
        <p:spPr>
          <a:xfrm>
            <a:off x="640080" y="51389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5029200"/>
            <a:ext cx="393192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Monitor the escalation rate</a:t>
            </a:r>
            <a:endParaRPr lang="en-US" sz="1300" dirty="0"/>
          </a:p>
        </p:txBody>
      </p:sp>
      <p:sp>
        <p:nvSpPr>
          <p:cNvPr id="24" name="Text 22"/>
          <p:cNvSpPr/>
          <p:nvPr/>
        </p:nvSpPr>
        <p:spPr>
          <a:xfrm>
            <a:off x="5303520" y="5029200"/>
            <a:ext cx="62179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 rising rate is an early drift signal — often visible before accuracy metrics move.</a:t>
            </a:r>
            <a:endParaRPr lang="en-US" sz="1150" dirty="0"/>
          </a:p>
        </p:txBody>
      </p:sp>
      <p:sp>
        <p:nvSpPr>
          <p:cNvPr id="25" name="Text 23"/>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Point 5 is the cheapest early-warning system you will build all week.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1.18</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Error budgets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21</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450" dirty="0">
                <a:solidFill>
                  <a:srgbClr val="5A6B7C"/>
                </a:solidFill>
                <a:latin typeface="Calibri" pitchFamily="34" charset="0"/>
                <a:ea typeface="Calibri" pitchFamily="34" charset="-122"/>
                <a:cs typeface="Calibri" pitchFamily="34" charset="-120"/>
              </a:rPr>
              <a:t>Decide in advance how much failure is acceptable, state it as a number, and manage against it.</a:t>
            </a:r>
            <a:endParaRPr lang="en-US" sz="1450" dirty="0"/>
          </a:p>
        </p:txBody>
      </p:sp>
      <p:sp>
        <p:nvSpPr>
          <p:cNvPr id="6" name="Shape 4"/>
          <p:cNvSpPr/>
          <p:nvPr/>
        </p:nvSpPr>
        <p:spPr>
          <a:xfrm>
            <a:off x="640080" y="1783080"/>
            <a:ext cx="3474720" cy="2377440"/>
          </a:xfrm>
          <a:prstGeom prst="roundRect">
            <a:avLst>
              <a:gd name="adj" fmla="val 2308"/>
            </a:avLst>
          </a:prstGeom>
          <a:solidFill>
            <a:srgbClr val="EEF3F7"/>
          </a:solidFill>
          <a:ln w="12700">
            <a:solidFill>
              <a:srgbClr val="D8E4EC"/>
            </a:solidFill>
            <a:prstDash val="solid"/>
          </a:ln>
        </p:spPr>
      </p:sp>
      <p:sp>
        <p:nvSpPr>
          <p:cNvPr id="7" name="Text 5"/>
          <p:cNvSpPr/>
          <p:nvPr/>
        </p:nvSpPr>
        <p:spPr>
          <a:xfrm>
            <a:off x="841248" y="1920240"/>
            <a:ext cx="30723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What it is</a:t>
            </a:r>
            <a:endParaRPr lang="en-US" sz="1400" dirty="0"/>
          </a:p>
        </p:txBody>
      </p:sp>
      <p:sp>
        <p:nvSpPr>
          <p:cNvPr id="8" name="Text 6"/>
          <p:cNvSpPr/>
          <p:nvPr/>
        </p:nvSpPr>
        <p:spPr>
          <a:xfrm>
            <a:off x="841248" y="2286000"/>
            <a:ext cx="3072384" cy="17190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An agreed allowance for how often the system may be wrong, per error type and per period.</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"No more than 2 missed critical defects per 10,000 inspections per month."</a:t>
            </a:r>
            <a:endParaRPr lang="en-US" sz="1150" dirty="0"/>
          </a:p>
        </p:txBody>
      </p:sp>
      <p:sp>
        <p:nvSpPr>
          <p:cNvPr id="9" name="Shape 7"/>
          <p:cNvSpPr/>
          <p:nvPr/>
        </p:nvSpPr>
        <p:spPr>
          <a:xfrm>
            <a:off x="4343400" y="1783080"/>
            <a:ext cx="3474720" cy="2377440"/>
          </a:xfrm>
          <a:prstGeom prst="roundRect">
            <a:avLst>
              <a:gd name="adj" fmla="val 2308"/>
            </a:avLst>
          </a:prstGeom>
          <a:solidFill>
            <a:srgbClr val="EEF3F7"/>
          </a:solidFill>
          <a:ln w="12700">
            <a:solidFill>
              <a:srgbClr val="D8E4EC"/>
            </a:solidFill>
            <a:prstDash val="solid"/>
          </a:ln>
        </p:spPr>
      </p:sp>
      <p:sp>
        <p:nvSpPr>
          <p:cNvPr id="10" name="Text 8"/>
          <p:cNvSpPr/>
          <p:nvPr/>
        </p:nvSpPr>
        <p:spPr>
          <a:xfrm>
            <a:off x="4544568" y="1920240"/>
            <a:ext cx="307238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Why it helps</a:t>
            </a:r>
            <a:endParaRPr lang="en-US" sz="1400" dirty="0"/>
          </a:p>
        </p:txBody>
      </p:sp>
      <p:sp>
        <p:nvSpPr>
          <p:cNvPr id="11" name="Text 9"/>
          <p:cNvSpPr/>
          <p:nvPr/>
        </p:nvSpPr>
        <p:spPr>
          <a:xfrm>
            <a:off x="4544568" y="2286000"/>
            <a:ext cx="3072384" cy="17190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It converts an open argument about quality into a figure both sides signed.</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It tells you when to stop improving — and when to stop shipping features and fix reliability instead.</a:t>
            </a:r>
            <a:endParaRPr lang="en-US" sz="1150" dirty="0"/>
          </a:p>
        </p:txBody>
      </p:sp>
      <p:sp>
        <p:nvSpPr>
          <p:cNvPr id="12" name="Shape 10"/>
          <p:cNvSpPr/>
          <p:nvPr/>
        </p:nvSpPr>
        <p:spPr>
          <a:xfrm>
            <a:off x="8046720" y="1783080"/>
            <a:ext cx="3474720" cy="2377440"/>
          </a:xfrm>
          <a:prstGeom prst="roundRect">
            <a:avLst>
              <a:gd name="adj" fmla="val 2308"/>
            </a:avLst>
          </a:prstGeom>
          <a:solidFill>
            <a:srgbClr val="EEF3F7"/>
          </a:solidFill>
          <a:ln w="12700">
            <a:solidFill>
              <a:srgbClr val="D8E4EC"/>
            </a:solidFill>
            <a:prstDash val="solid"/>
          </a:ln>
        </p:spPr>
      </p:sp>
      <p:sp>
        <p:nvSpPr>
          <p:cNvPr id="13" name="Text 11"/>
          <p:cNvSpPr/>
          <p:nvPr/>
        </p:nvSpPr>
        <p:spPr>
          <a:xfrm>
            <a:off x="8247888" y="1920240"/>
            <a:ext cx="3072384"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How to set one</a:t>
            </a:r>
            <a:endParaRPr lang="en-US" sz="1400" dirty="0"/>
          </a:p>
        </p:txBody>
      </p:sp>
      <p:sp>
        <p:nvSpPr>
          <p:cNvPr id="14" name="Text 12"/>
          <p:cNvSpPr/>
          <p:nvPr/>
        </p:nvSpPr>
        <p:spPr>
          <a:xfrm>
            <a:off x="8247888" y="2286000"/>
            <a:ext cx="3072384" cy="17190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Start from the cost of each error type and the volume of decisions.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Agree it with the business owner, not inside the engineering team. Review quarterly.</a:t>
            </a:r>
            <a:endParaRPr lang="en-US" sz="1150" dirty="0"/>
          </a:p>
        </p:txBody>
      </p:sp>
      <p:sp>
        <p:nvSpPr>
          <p:cNvPr id="15" name="Shape 13"/>
          <p:cNvSpPr/>
          <p:nvPr/>
        </p:nvSpPr>
        <p:spPr>
          <a:xfrm>
            <a:off x="640080" y="4343400"/>
            <a:ext cx="10881360" cy="1371600"/>
          </a:xfrm>
          <a:prstGeom prst="roundRect">
            <a:avLst>
              <a:gd name="adj" fmla="val 4000"/>
            </a:avLst>
          </a:prstGeom>
          <a:solidFill>
            <a:srgbClr val="E4EEF4"/>
          </a:solidFill>
          <a:ln w="12700">
            <a:solidFill>
              <a:srgbClr val="C9DCE7"/>
            </a:solidFill>
            <a:prstDash val="solid"/>
          </a:ln>
        </p:spPr>
      </p:sp>
      <p:sp>
        <p:nvSpPr>
          <p:cNvPr id="16" name="Text 14"/>
          <p:cNvSpPr/>
          <p:nvPr/>
        </p:nvSpPr>
        <p:spPr>
          <a:xfrm>
            <a:off x="914400" y="4507992"/>
            <a:ext cx="10332720" cy="32004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Burn rate — the operational use</a:t>
            </a:r>
            <a:endParaRPr lang="en-US" sz="1350" dirty="0"/>
          </a:p>
        </p:txBody>
      </p:sp>
      <p:sp>
        <p:nvSpPr>
          <p:cNvPr id="17" name="Text 15"/>
          <p:cNvSpPr/>
          <p:nvPr/>
        </p:nvSpPr>
        <p:spPr>
          <a:xfrm>
            <a:off x="914400" y="4846320"/>
            <a:ext cx="10332720" cy="777240"/>
          </a:xfrm>
          <a:prstGeom prst="rect">
            <a:avLst/>
          </a:prstGeom>
          <a:noFill/>
          <a:ln/>
        </p:spPr>
        <p:txBody>
          <a:bodyPr wrap="square" lIns="0" tIns="0" rIns="0" bIns="0" rtlCol="0" anchor="ctr"/>
          <a:lstStyle/>
          <a:p>
            <a:pPr indent="0" marL="0">
              <a:lnSpc>
                <a:spcPts val="1600"/>
              </a:lnSpc>
              <a:buNone/>
            </a:pPr>
            <a:r>
              <a:rPr lang="en-US" sz="1250" dirty="0">
                <a:solidFill>
                  <a:srgbClr val="1A2430"/>
                </a:solidFill>
                <a:latin typeface="Calibri" pitchFamily="34" charset="0"/>
                <a:ea typeface="Calibri" pitchFamily="34" charset="-122"/>
                <a:cs typeface="Calibri" pitchFamily="34" charset="-120"/>
              </a:rPr>
              <a:t>Track how fast the budget is consumed. Burning 50% of a monthly allowance in the first week is an alert in itself, well before exhaustion. A fast burn triggers a change freeze and a diagnostic review — the same discipline software teams apply to availability.</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Lab 1 — Build a failure map</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22</a:t>
            </a:r>
            <a:endParaRPr lang="en-US" sz="1000" dirty="0"/>
          </a:p>
        </p:txBody>
      </p:sp>
      <p:sp>
        <p:nvSpPr>
          <p:cNvPr id="5" name="Text 3"/>
          <p:cNvSpPr/>
          <p:nvPr/>
        </p:nvSpPr>
        <p:spPr>
          <a:xfrm>
            <a:off x="640080" y="1280160"/>
            <a:ext cx="10881360" cy="411480"/>
          </a:xfrm>
          <a:prstGeom prst="rect">
            <a:avLst/>
          </a:prstGeom>
          <a:noFill/>
          <a:ln/>
        </p:spPr>
        <p:txBody>
          <a:bodyPr wrap="square" rtlCol="0" anchor="ctr"/>
          <a:lstStyle/>
          <a:p>
            <a:pPr indent="0" marL="0">
              <a:buNone/>
            </a:pPr>
            <a:r>
              <a:rPr lang="en-US" sz="1500" dirty="0">
                <a:solidFill>
                  <a:srgbClr val="1A2430"/>
                </a:solidFill>
                <a:latin typeface="Calibri" pitchFamily="34" charset="0"/>
                <a:ea typeface="Calibri" pitchFamily="34" charset="-122"/>
                <a:cs typeface="Calibri" pitchFamily="34" charset="-120"/>
              </a:rPr>
              <a:t>Take one real proof of concept. Map every category of thing that can go wrong, with concrete examples and rough frequency.</a:t>
            </a:r>
            <a:endParaRPr lang="en-US" sz="1500" dirty="0"/>
          </a:p>
        </p:txBody>
      </p:sp>
      <p:sp>
        <p:nvSpPr>
          <p:cNvPr id="6" name="Shape 4"/>
          <p:cNvSpPr/>
          <p:nvPr/>
        </p:nvSpPr>
        <p:spPr>
          <a:xfrm>
            <a:off x="640080" y="1828800"/>
            <a:ext cx="3474720" cy="1005840"/>
          </a:xfrm>
          <a:prstGeom prst="roundRect">
            <a:avLst>
              <a:gd name="adj" fmla="val 4545"/>
            </a:avLst>
          </a:prstGeom>
          <a:solidFill>
            <a:srgbClr val="EEF3F7"/>
          </a:solidFill>
          <a:ln w="12700">
            <a:solidFill>
              <a:srgbClr val="D3E1EA"/>
            </a:solidFill>
            <a:prstDash val="solid"/>
          </a:ln>
        </p:spPr>
      </p:sp>
      <p:sp>
        <p:nvSpPr>
          <p:cNvPr id="7" name="Text 5"/>
          <p:cNvSpPr/>
          <p:nvPr/>
        </p:nvSpPr>
        <p:spPr>
          <a:xfrm>
            <a:off x="822960" y="1938528"/>
            <a:ext cx="310896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Data errors</a:t>
            </a:r>
            <a:endParaRPr lang="en-US" sz="1300" dirty="0"/>
          </a:p>
        </p:txBody>
      </p:sp>
      <p:sp>
        <p:nvSpPr>
          <p:cNvPr id="8" name="Text 6"/>
          <p:cNvSpPr/>
          <p:nvPr/>
        </p:nvSpPr>
        <p:spPr>
          <a:xfrm>
            <a:off x="822960" y="224942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5A6B7C"/>
                </a:solidFill>
                <a:latin typeface="Calibri" pitchFamily="34" charset="0"/>
                <a:ea typeface="Calibri" pitchFamily="34" charset="-122"/>
                <a:cs typeface="Calibri" pitchFamily="34" charset="-120"/>
              </a:rPr>
              <a:t>Missing, malformed, stale or out-of-distribution inputs</a:t>
            </a:r>
            <a:endParaRPr lang="en-US" sz="1050" dirty="0"/>
          </a:p>
        </p:txBody>
      </p:sp>
      <p:sp>
        <p:nvSpPr>
          <p:cNvPr id="9" name="Shape 7"/>
          <p:cNvSpPr/>
          <p:nvPr/>
        </p:nvSpPr>
        <p:spPr>
          <a:xfrm>
            <a:off x="4343400" y="1828800"/>
            <a:ext cx="3474720" cy="1005840"/>
          </a:xfrm>
          <a:prstGeom prst="roundRect">
            <a:avLst>
              <a:gd name="adj" fmla="val 4545"/>
            </a:avLst>
          </a:prstGeom>
          <a:solidFill>
            <a:srgbClr val="EEF3F7"/>
          </a:solidFill>
          <a:ln w="12700">
            <a:solidFill>
              <a:srgbClr val="D3E1EA"/>
            </a:solidFill>
            <a:prstDash val="solid"/>
          </a:ln>
        </p:spPr>
      </p:sp>
      <p:sp>
        <p:nvSpPr>
          <p:cNvPr id="10" name="Text 8"/>
          <p:cNvSpPr/>
          <p:nvPr/>
        </p:nvSpPr>
        <p:spPr>
          <a:xfrm>
            <a:off x="4526280" y="1938528"/>
            <a:ext cx="310896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Labelling errors</a:t>
            </a:r>
            <a:endParaRPr lang="en-US" sz="1300" dirty="0"/>
          </a:p>
        </p:txBody>
      </p:sp>
      <p:sp>
        <p:nvSpPr>
          <p:cNvPr id="11" name="Text 9"/>
          <p:cNvSpPr/>
          <p:nvPr/>
        </p:nvSpPr>
        <p:spPr>
          <a:xfrm>
            <a:off x="4526280" y="224942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5A6B7C"/>
                </a:solidFill>
                <a:latin typeface="Calibri" pitchFamily="34" charset="0"/>
                <a:ea typeface="Calibri" pitchFamily="34" charset="-122"/>
                <a:cs typeface="Calibri" pitchFamily="34" charset="-120"/>
              </a:rPr>
              <a:t>Wrong, inconsistent or ambiguous ground truth</a:t>
            </a:r>
            <a:endParaRPr lang="en-US" sz="1050" dirty="0"/>
          </a:p>
        </p:txBody>
      </p:sp>
      <p:sp>
        <p:nvSpPr>
          <p:cNvPr id="12" name="Shape 10"/>
          <p:cNvSpPr/>
          <p:nvPr/>
        </p:nvSpPr>
        <p:spPr>
          <a:xfrm>
            <a:off x="8046720" y="1828800"/>
            <a:ext cx="3474720" cy="1005840"/>
          </a:xfrm>
          <a:prstGeom prst="roundRect">
            <a:avLst>
              <a:gd name="adj" fmla="val 4545"/>
            </a:avLst>
          </a:prstGeom>
          <a:solidFill>
            <a:srgbClr val="EEF3F7"/>
          </a:solidFill>
          <a:ln w="12700">
            <a:solidFill>
              <a:srgbClr val="D3E1EA"/>
            </a:solidFill>
            <a:prstDash val="solid"/>
          </a:ln>
        </p:spPr>
      </p:sp>
      <p:sp>
        <p:nvSpPr>
          <p:cNvPr id="13" name="Text 11"/>
          <p:cNvSpPr/>
          <p:nvPr/>
        </p:nvSpPr>
        <p:spPr>
          <a:xfrm>
            <a:off x="8229600" y="1938528"/>
            <a:ext cx="310896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Retrieval errors</a:t>
            </a:r>
            <a:endParaRPr lang="en-US" sz="1300" dirty="0"/>
          </a:p>
        </p:txBody>
      </p:sp>
      <p:sp>
        <p:nvSpPr>
          <p:cNvPr id="14" name="Text 12"/>
          <p:cNvSpPr/>
          <p:nvPr/>
        </p:nvSpPr>
        <p:spPr>
          <a:xfrm>
            <a:off x="8229600" y="224942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5A6B7C"/>
                </a:solidFill>
                <a:latin typeface="Calibri" pitchFamily="34" charset="0"/>
                <a:ea typeface="Calibri" pitchFamily="34" charset="-122"/>
                <a:cs typeface="Calibri" pitchFamily="34" charset="-120"/>
              </a:rPr>
              <a:t>Right answer exists but was not found, or wrong context returned</a:t>
            </a:r>
            <a:endParaRPr lang="en-US" sz="1050" dirty="0"/>
          </a:p>
        </p:txBody>
      </p:sp>
      <p:sp>
        <p:nvSpPr>
          <p:cNvPr id="15" name="Shape 13"/>
          <p:cNvSpPr/>
          <p:nvPr/>
        </p:nvSpPr>
        <p:spPr>
          <a:xfrm>
            <a:off x="640080" y="2971800"/>
            <a:ext cx="3474720" cy="1005840"/>
          </a:xfrm>
          <a:prstGeom prst="roundRect">
            <a:avLst>
              <a:gd name="adj" fmla="val 4545"/>
            </a:avLst>
          </a:prstGeom>
          <a:solidFill>
            <a:srgbClr val="EEF3F7"/>
          </a:solidFill>
          <a:ln w="12700">
            <a:solidFill>
              <a:srgbClr val="D3E1EA"/>
            </a:solidFill>
            <a:prstDash val="solid"/>
          </a:ln>
        </p:spPr>
      </p:sp>
      <p:sp>
        <p:nvSpPr>
          <p:cNvPr id="16" name="Text 14"/>
          <p:cNvSpPr/>
          <p:nvPr/>
        </p:nvSpPr>
        <p:spPr>
          <a:xfrm>
            <a:off x="822960" y="3081528"/>
            <a:ext cx="310896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Model errors</a:t>
            </a:r>
            <a:endParaRPr lang="en-US" sz="1300" dirty="0"/>
          </a:p>
        </p:txBody>
      </p:sp>
      <p:sp>
        <p:nvSpPr>
          <p:cNvPr id="17" name="Text 15"/>
          <p:cNvSpPr/>
          <p:nvPr/>
        </p:nvSpPr>
        <p:spPr>
          <a:xfrm>
            <a:off x="822960" y="339242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5A6B7C"/>
                </a:solidFill>
                <a:latin typeface="Calibri" pitchFamily="34" charset="0"/>
                <a:ea typeface="Calibri" pitchFamily="34" charset="-122"/>
                <a:cs typeface="Calibri" pitchFamily="34" charset="-120"/>
              </a:rPr>
              <a:t>Correct input and context, wrong output</a:t>
            </a:r>
            <a:endParaRPr lang="en-US" sz="1050" dirty="0"/>
          </a:p>
        </p:txBody>
      </p:sp>
      <p:sp>
        <p:nvSpPr>
          <p:cNvPr id="18" name="Shape 16"/>
          <p:cNvSpPr/>
          <p:nvPr/>
        </p:nvSpPr>
        <p:spPr>
          <a:xfrm>
            <a:off x="4343400" y="2971800"/>
            <a:ext cx="3474720" cy="1005840"/>
          </a:xfrm>
          <a:prstGeom prst="roundRect">
            <a:avLst>
              <a:gd name="adj" fmla="val 4545"/>
            </a:avLst>
          </a:prstGeom>
          <a:solidFill>
            <a:srgbClr val="EEF3F7"/>
          </a:solidFill>
          <a:ln w="12700">
            <a:solidFill>
              <a:srgbClr val="D3E1EA"/>
            </a:solidFill>
            <a:prstDash val="solid"/>
          </a:ln>
        </p:spPr>
      </p:sp>
      <p:sp>
        <p:nvSpPr>
          <p:cNvPr id="19" name="Text 17"/>
          <p:cNvSpPr/>
          <p:nvPr/>
        </p:nvSpPr>
        <p:spPr>
          <a:xfrm>
            <a:off x="4526280" y="3081528"/>
            <a:ext cx="310896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Prompt errors</a:t>
            </a:r>
            <a:endParaRPr lang="en-US" sz="1300" dirty="0"/>
          </a:p>
        </p:txBody>
      </p:sp>
      <p:sp>
        <p:nvSpPr>
          <p:cNvPr id="20" name="Text 18"/>
          <p:cNvSpPr/>
          <p:nvPr/>
        </p:nvSpPr>
        <p:spPr>
          <a:xfrm>
            <a:off x="4526280" y="339242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5A6B7C"/>
                </a:solidFill>
                <a:latin typeface="Calibri" pitchFamily="34" charset="0"/>
                <a:ea typeface="Calibri" pitchFamily="34" charset="-122"/>
                <a:cs typeface="Calibri" pitchFamily="34" charset="-120"/>
              </a:rPr>
              <a:t>Instruction ambiguity, missing constraints, format failures</a:t>
            </a:r>
            <a:endParaRPr lang="en-US" sz="1050" dirty="0"/>
          </a:p>
        </p:txBody>
      </p:sp>
      <p:sp>
        <p:nvSpPr>
          <p:cNvPr id="21" name="Shape 19"/>
          <p:cNvSpPr/>
          <p:nvPr/>
        </p:nvSpPr>
        <p:spPr>
          <a:xfrm>
            <a:off x="8046720" y="2971800"/>
            <a:ext cx="3474720" cy="1005840"/>
          </a:xfrm>
          <a:prstGeom prst="roundRect">
            <a:avLst>
              <a:gd name="adj" fmla="val 4545"/>
            </a:avLst>
          </a:prstGeom>
          <a:solidFill>
            <a:srgbClr val="EEF3F7"/>
          </a:solidFill>
          <a:ln w="12700">
            <a:solidFill>
              <a:srgbClr val="D3E1EA"/>
            </a:solidFill>
            <a:prstDash val="solid"/>
          </a:ln>
        </p:spPr>
      </p:sp>
      <p:sp>
        <p:nvSpPr>
          <p:cNvPr id="22" name="Text 20"/>
          <p:cNvSpPr/>
          <p:nvPr/>
        </p:nvSpPr>
        <p:spPr>
          <a:xfrm>
            <a:off x="8229600" y="3081528"/>
            <a:ext cx="310896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Architecture errors</a:t>
            </a:r>
            <a:endParaRPr lang="en-US" sz="1300" dirty="0"/>
          </a:p>
        </p:txBody>
      </p:sp>
      <p:sp>
        <p:nvSpPr>
          <p:cNvPr id="23" name="Text 21"/>
          <p:cNvSpPr/>
          <p:nvPr/>
        </p:nvSpPr>
        <p:spPr>
          <a:xfrm>
            <a:off x="8229600" y="339242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5A6B7C"/>
                </a:solidFill>
                <a:latin typeface="Calibri" pitchFamily="34" charset="0"/>
                <a:ea typeface="Calibri" pitchFamily="34" charset="-122"/>
                <a:cs typeface="Calibri" pitchFamily="34" charset="-120"/>
              </a:rPr>
              <a:t>Timeouts, missing fallbacks, no retry, single points of failure</a:t>
            </a:r>
            <a:endParaRPr lang="en-US" sz="1050" dirty="0"/>
          </a:p>
        </p:txBody>
      </p:sp>
      <p:sp>
        <p:nvSpPr>
          <p:cNvPr id="24" name="Shape 22"/>
          <p:cNvSpPr/>
          <p:nvPr/>
        </p:nvSpPr>
        <p:spPr>
          <a:xfrm>
            <a:off x="640080" y="4114800"/>
            <a:ext cx="3474720" cy="1005840"/>
          </a:xfrm>
          <a:prstGeom prst="roundRect">
            <a:avLst>
              <a:gd name="adj" fmla="val 4545"/>
            </a:avLst>
          </a:prstGeom>
          <a:solidFill>
            <a:srgbClr val="EEF3F7"/>
          </a:solidFill>
          <a:ln w="12700">
            <a:solidFill>
              <a:srgbClr val="D3E1EA"/>
            </a:solidFill>
            <a:prstDash val="solid"/>
          </a:ln>
        </p:spPr>
      </p:sp>
      <p:sp>
        <p:nvSpPr>
          <p:cNvPr id="25" name="Text 23"/>
          <p:cNvSpPr/>
          <p:nvPr/>
        </p:nvSpPr>
        <p:spPr>
          <a:xfrm>
            <a:off x="822960" y="4224528"/>
            <a:ext cx="310896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Security errors</a:t>
            </a:r>
            <a:endParaRPr lang="en-US" sz="1300" dirty="0"/>
          </a:p>
        </p:txBody>
      </p:sp>
      <p:sp>
        <p:nvSpPr>
          <p:cNvPr id="26" name="Text 24"/>
          <p:cNvSpPr/>
          <p:nvPr/>
        </p:nvSpPr>
        <p:spPr>
          <a:xfrm>
            <a:off x="822960" y="453542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5A6B7C"/>
                </a:solidFill>
                <a:latin typeface="Calibri" pitchFamily="34" charset="0"/>
                <a:ea typeface="Calibri" pitchFamily="34" charset="-122"/>
                <a:cs typeface="Calibri" pitchFamily="34" charset="-120"/>
              </a:rPr>
              <a:t>Wrong user sees wrong data; injection; leakage</a:t>
            </a:r>
            <a:endParaRPr lang="en-US" sz="1050" dirty="0"/>
          </a:p>
        </p:txBody>
      </p:sp>
      <p:sp>
        <p:nvSpPr>
          <p:cNvPr id="27" name="Shape 25"/>
          <p:cNvSpPr/>
          <p:nvPr/>
        </p:nvSpPr>
        <p:spPr>
          <a:xfrm>
            <a:off x="4343400" y="4114800"/>
            <a:ext cx="3474720" cy="1005840"/>
          </a:xfrm>
          <a:prstGeom prst="roundRect">
            <a:avLst>
              <a:gd name="adj" fmla="val 4545"/>
            </a:avLst>
          </a:prstGeom>
          <a:solidFill>
            <a:srgbClr val="EEF3F7"/>
          </a:solidFill>
          <a:ln w="12700">
            <a:solidFill>
              <a:srgbClr val="D3E1EA"/>
            </a:solidFill>
            <a:prstDash val="solid"/>
          </a:ln>
        </p:spPr>
      </p:sp>
      <p:sp>
        <p:nvSpPr>
          <p:cNvPr id="28" name="Text 26"/>
          <p:cNvSpPr/>
          <p:nvPr/>
        </p:nvSpPr>
        <p:spPr>
          <a:xfrm>
            <a:off x="4526280" y="4224528"/>
            <a:ext cx="310896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Workflow errors</a:t>
            </a:r>
            <a:endParaRPr lang="en-US" sz="1300" dirty="0"/>
          </a:p>
        </p:txBody>
      </p:sp>
      <p:sp>
        <p:nvSpPr>
          <p:cNvPr id="29" name="Text 27"/>
          <p:cNvSpPr/>
          <p:nvPr/>
        </p:nvSpPr>
        <p:spPr>
          <a:xfrm>
            <a:off x="4526280" y="453542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5A6B7C"/>
                </a:solidFill>
                <a:latin typeface="Calibri" pitchFamily="34" charset="0"/>
                <a:ea typeface="Calibri" pitchFamily="34" charset="-122"/>
                <a:cs typeface="Calibri" pitchFamily="34" charset="-120"/>
              </a:rPr>
              <a:t>Output arrives too late, in the wrong place, or unusable</a:t>
            </a:r>
            <a:endParaRPr lang="en-US" sz="1050" dirty="0"/>
          </a:p>
        </p:txBody>
      </p:sp>
      <p:sp>
        <p:nvSpPr>
          <p:cNvPr id="30" name="Shape 28"/>
          <p:cNvSpPr/>
          <p:nvPr/>
        </p:nvSpPr>
        <p:spPr>
          <a:xfrm>
            <a:off x="8046720" y="4114800"/>
            <a:ext cx="3474720" cy="1005840"/>
          </a:xfrm>
          <a:prstGeom prst="roundRect">
            <a:avLst>
              <a:gd name="adj" fmla="val 4545"/>
            </a:avLst>
          </a:prstGeom>
          <a:solidFill>
            <a:srgbClr val="EEF3F7"/>
          </a:solidFill>
          <a:ln w="12700">
            <a:solidFill>
              <a:srgbClr val="D3E1EA"/>
            </a:solidFill>
            <a:prstDash val="solid"/>
          </a:ln>
        </p:spPr>
      </p:sp>
      <p:sp>
        <p:nvSpPr>
          <p:cNvPr id="31" name="Text 29"/>
          <p:cNvSpPr/>
          <p:nvPr/>
        </p:nvSpPr>
        <p:spPr>
          <a:xfrm>
            <a:off x="8229600" y="4224528"/>
            <a:ext cx="3108960" cy="292608"/>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Evaluation errors</a:t>
            </a:r>
            <a:endParaRPr lang="en-US" sz="1300" dirty="0"/>
          </a:p>
        </p:txBody>
      </p:sp>
      <p:sp>
        <p:nvSpPr>
          <p:cNvPr id="32" name="Text 30"/>
          <p:cNvSpPr/>
          <p:nvPr/>
        </p:nvSpPr>
        <p:spPr>
          <a:xfrm>
            <a:off x="8229600" y="453542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5A6B7C"/>
                </a:solidFill>
                <a:latin typeface="Calibri" pitchFamily="34" charset="0"/>
                <a:ea typeface="Calibri" pitchFamily="34" charset="-122"/>
                <a:cs typeface="Calibri" pitchFamily="34" charset="-120"/>
              </a:rPr>
              <a:t>The measurement itself is wrong or leaking</a:t>
            </a:r>
            <a:endParaRPr lang="en-US" sz="1050" dirty="0"/>
          </a:p>
        </p:txBody>
      </p:sp>
      <p:sp>
        <p:nvSpPr>
          <p:cNvPr id="33" name="Text 3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Deliverable: one A3 per team. For each category — does it apply, one concrete example you have witnessed, and roughly how often.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indent="0" marL="0">
              <a:buNone/>
            </a:pPr>
            <a:r>
              <a:rPr lang="en-US" sz="1200" b="1" spc="300" kern="0" dirty="0">
                <a:solidFill>
                  <a:srgbClr val="9FD0E3"/>
                </a:solidFill>
                <a:latin typeface="Calibri" pitchFamily="34" charset="0"/>
                <a:ea typeface="Calibri" pitchFamily="34" charset="-122"/>
                <a:cs typeface="Calibri" pitchFamily="34" charset="-120"/>
              </a:rPr>
              <a:t>MODULE 2A</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Evaluation Foundations</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indent="0" marL="0">
              <a:lnSpc>
                <a:spcPts val="2100"/>
              </a:lnSpc>
              <a:buNone/>
            </a:pPr>
            <a:r>
              <a:rPr lang="en-US" sz="1500" dirty="0">
                <a:solidFill>
                  <a:srgbClr val="D5E8F0"/>
                </a:solidFill>
                <a:latin typeface="Calibri" pitchFamily="34" charset="0"/>
                <a:ea typeface="Calibri" pitchFamily="34" charset="-122"/>
                <a:cs typeface="Calibri" pitchFamily="34" charset="-120"/>
              </a:rPr>
              <a:t>Sampling, splitting, gold sets, metric families and confidence intervals — the machinery that makes any later claim of improvement meaningful.</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Start with the evaluation dataset, not the model</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24</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500" b="1" i="1" dirty="0">
                <a:solidFill>
                  <a:srgbClr val="1C7293"/>
                </a:solidFill>
                <a:latin typeface="Calibri" pitchFamily="34" charset="0"/>
                <a:ea typeface="Calibri" pitchFamily="34" charset="-122"/>
                <a:cs typeface="Calibri" pitchFamily="34" charset="-120"/>
              </a:rPr>
              <a:t>If you cannot measure the current system honestly, nothing later in this programme can be demonstrated.</a:t>
            </a:r>
            <a:endParaRPr lang="en-US" sz="1500" dirty="0"/>
          </a:p>
        </p:txBody>
      </p:sp>
      <p:sp>
        <p:nvSpPr>
          <p:cNvPr id="6" name="Shape 4"/>
          <p:cNvSpPr/>
          <p:nvPr/>
        </p:nvSpPr>
        <p:spPr>
          <a:xfrm>
            <a:off x="640080" y="1874520"/>
            <a:ext cx="365760" cy="365760"/>
          </a:xfrm>
          <a:prstGeom prst="ellipse">
            <a:avLst/>
          </a:prstGeom>
          <a:solidFill>
            <a:srgbClr val="065A82"/>
          </a:solidFill>
          <a:ln/>
        </p:spPr>
      </p:sp>
      <p:sp>
        <p:nvSpPr>
          <p:cNvPr id="7" name="Text 5"/>
          <p:cNvSpPr/>
          <p:nvPr/>
        </p:nvSpPr>
        <p:spPr>
          <a:xfrm>
            <a:off x="640080" y="1874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783080"/>
            <a:ext cx="265176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Representative</a:t>
            </a:r>
            <a:endParaRPr lang="en-US" sz="1300" dirty="0"/>
          </a:p>
        </p:txBody>
      </p:sp>
      <p:sp>
        <p:nvSpPr>
          <p:cNvPr id="9" name="Text 7"/>
          <p:cNvSpPr/>
          <p:nvPr/>
        </p:nvSpPr>
        <p:spPr>
          <a:xfrm>
            <a:off x="4023360" y="1783080"/>
            <a:ext cx="749808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It must resemble production traffic, not the examples convenient to collect. Sample from real usage logs where possible.</a:t>
            </a:r>
            <a:endParaRPr lang="en-US" sz="1150" dirty="0"/>
          </a:p>
        </p:txBody>
      </p:sp>
      <p:sp>
        <p:nvSpPr>
          <p:cNvPr id="10" name="Shape 8"/>
          <p:cNvSpPr/>
          <p:nvPr/>
        </p:nvSpPr>
        <p:spPr>
          <a:xfrm>
            <a:off x="640080" y="2587752"/>
            <a:ext cx="365760" cy="365760"/>
          </a:xfrm>
          <a:prstGeom prst="ellipse">
            <a:avLst/>
          </a:prstGeom>
          <a:solidFill>
            <a:srgbClr val="065A82"/>
          </a:solidFill>
          <a:ln/>
        </p:spPr>
      </p:sp>
      <p:sp>
        <p:nvSpPr>
          <p:cNvPr id="11" name="Text 9"/>
          <p:cNvSpPr/>
          <p:nvPr/>
        </p:nvSpPr>
        <p:spPr>
          <a:xfrm>
            <a:off x="640080" y="25877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496312"/>
            <a:ext cx="265176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Stratified</a:t>
            </a:r>
            <a:endParaRPr lang="en-US" sz="1300" dirty="0"/>
          </a:p>
        </p:txBody>
      </p:sp>
      <p:sp>
        <p:nvSpPr>
          <p:cNvPr id="13" name="Text 11"/>
          <p:cNvSpPr/>
          <p:nvPr/>
        </p:nvSpPr>
        <p:spPr>
          <a:xfrm>
            <a:off x="4023360" y="2496312"/>
            <a:ext cx="749808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Every class, product family and operating condition appears in the right proportion across all splits.</a:t>
            </a:r>
            <a:endParaRPr lang="en-US" sz="1150" dirty="0"/>
          </a:p>
        </p:txBody>
      </p:sp>
      <p:sp>
        <p:nvSpPr>
          <p:cNvPr id="14" name="Shape 12"/>
          <p:cNvSpPr/>
          <p:nvPr/>
        </p:nvSpPr>
        <p:spPr>
          <a:xfrm>
            <a:off x="640080" y="3300984"/>
            <a:ext cx="365760" cy="365760"/>
          </a:xfrm>
          <a:prstGeom prst="ellipse">
            <a:avLst/>
          </a:prstGeom>
          <a:solidFill>
            <a:srgbClr val="065A82"/>
          </a:solidFill>
          <a:ln/>
        </p:spPr>
      </p:sp>
      <p:sp>
        <p:nvSpPr>
          <p:cNvPr id="15" name="Text 13"/>
          <p:cNvSpPr/>
          <p:nvPr/>
        </p:nvSpPr>
        <p:spPr>
          <a:xfrm>
            <a:off x="640080" y="3300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209544"/>
            <a:ext cx="265176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Held out and untouched</a:t>
            </a:r>
            <a:endParaRPr lang="en-US" sz="1300" dirty="0"/>
          </a:p>
        </p:txBody>
      </p:sp>
      <p:sp>
        <p:nvSpPr>
          <p:cNvPr id="17" name="Text 15"/>
          <p:cNvSpPr/>
          <p:nvPr/>
        </p:nvSpPr>
        <p:spPr>
          <a:xfrm>
            <a:off x="4023360" y="3209544"/>
            <a:ext cx="749808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The test set measures; it does not tune. Every tuning pass makes it a less honest measurement.</a:t>
            </a:r>
            <a:endParaRPr lang="en-US" sz="1150" dirty="0"/>
          </a:p>
        </p:txBody>
      </p:sp>
      <p:sp>
        <p:nvSpPr>
          <p:cNvPr id="18" name="Shape 16"/>
          <p:cNvSpPr/>
          <p:nvPr/>
        </p:nvSpPr>
        <p:spPr>
          <a:xfrm>
            <a:off x="640080" y="4014216"/>
            <a:ext cx="365760" cy="365760"/>
          </a:xfrm>
          <a:prstGeom prst="ellipse">
            <a:avLst/>
          </a:prstGeom>
          <a:solidFill>
            <a:srgbClr val="065A82"/>
          </a:solidFill>
          <a:ln/>
        </p:spPr>
      </p:sp>
      <p:sp>
        <p:nvSpPr>
          <p:cNvPr id="19" name="Text 17"/>
          <p:cNvSpPr/>
          <p:nvPr/>
        </p:nvSpPr>
        <p:spPr>
          <a:xfrm>
            <a:off x="640080" y="40142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922776"/>
            <a:ext cx="265176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Contains the hard cases</a:t>
            </a:r>
            <a:endParaRPr lang="en-US" sz="1300" dirty="0"/>
          </a:p>
        </p:txBody>
      </p:sp>
      <p:sp>
        <p:nvSpPr>
          <p:cNvPr id="21" name="Text 19"/>
          <p:cNvSpPr/>
          <p:nvPr/>
        </p:nvSpPr>
        <p:spPr>
          <a:xfrm>
            <a:off x="4023360" y="3922776"/>
            <a:ext cx="749808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Deliberately include known failures, edge cases and rare classes. A set of easy examples measures almost nothing.</a:t>
            </a:r>
            <a:endParaRPr lang="en-US" sz="1150" dirty="0"/>
          </a:p>
        </p:txBody>
      </p:sp>
      <p:sp>
        <p:nvSpPr>
          <p:cNvPr id="22" name="Shape 20"/>
          <p:cNvSpPr/>
          <p:nvPr/>
        </p:nvSpPr>
        <p:spPr>
          <a:xfrm>
            <a:off x="640080" y="4727448"/>
            <a:ext cx="365760" cy="365760"/>
          </a:xfrm>
          <a:prstGeom prst="ellipse">
            <a:avLst/>
          </a:prstGeom>
          <a:solidFill>
            <a:srgbClr val="065A82"/>
          </a:solidFill>
          <a:ln/>
        </p:spPr>
      </p:sp>
      <p:sp>
        <p:nvSpPr>
          <p:cNvPr id="23" name="Text 21"/>
          <p:cNvSpPr/>
          <p:nvPr/>
        </p:nvSpPr>
        <p:spPr>
          <a:xfrm>
            <a:off x="640080" y="47274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636008"/>
            <a:ext cx="265176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Versioned</a:t>
            </a:r>
            <a:endParaRPr lang="en-US" sz="1300" dirty="0"/>
          </a:p>
        </p:txBody>
      </p:sp>
      <p:sp>
        <p:nvSpPr>
          <p:cNvPr id="25" name="Text 23"/>
          <p:cNvSpPr/>
          <p:nvPr/>
        </p:nvSpPr>
        <p:spPr>
          <a:xfrm>
            <a:off x="4023360" y="4636008"/>
            <a:ext cx="749808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The set changes over time. Record which version produced which result, or cross-month comparisons become meaningless.</a:t>
            </a:r>
            <a:endParaRPr lang="en-US" sz="1150" dirty="0"/>
          </a:p>
        </p:txBody>
      </p:sp>
      <p:sp>
        <p:nvSpPr>
          <p:cNvPr id="26" name="Shape 24"/>
          <p:cNvSpPr/>
          <p:nvPr/>
        </p:nvSpPr>
        <p:spPr>
          <a:xfrm>
            <a:off x="640080" y="5440680"/>
            <a:ext cx="365760" cy="365760"/>
          </a:xfrm>
          <a:prstGeom prst="ellipse">
            <a:avLst/>
          </a:prstGeom>
          <a:solidFill>
            <a:srgbClr val="065A82"/>
          </a:solidFill>
          <a:ln/>
        </p:spPr>
      </p:sp>
      <p:sp>
        <p:nvSpPr>
          <p:cNvPr id="27" name="Text 25"/>
          <p:cNvSpPr/>
          <p:nvPr/>
        </p:nvSpPr>
        <p:spPr>
          <a:xfrm>
            <a:off x="640080" y="5440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349240"/>
            <a:ext cx="265176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Owned</a:t>
            </a:r>
            <a:endParaRPr lang="en-US" sz="1300" dirty="0"/>
          </a:p>
        </p:txBody>
      </p:sp>
      <p:sp>
        <p:nvSpPr>
          <p:cNvPr id="29" name="Text 27"/>
          <p:cNvSpPr/>
          <p:nvPr/>
        </p:nvSpPr>
        <p:spPr>
          <a:xfrm>
            <a:off x="4023360" y="5349240"/>
            <a:ext cx="749808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Someone is responsible for its quality, and the business owns what 'correct' means.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Sampling strategies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25</a:t>
            </a:r>
            <a:endParaRPr lang="en-US" sz="1000" dirty="0"/>
          </a:p>
        </p:txBody>
      </p:sp>
      <p:sp>
        <p:nvSpPr>
          <p:cNvPr id="5" name="Shape 3"/>
          <p:cNvSpPr/>
          <p:nvPr/>
        </p:nvSpPr>
        <p:spPr>
          <a:xfrm>
            <a:off x="640080" y="1280160"/>
            <a:ext cx="2377440" cy="384048"/>
          </a:xfrm>
          <a:prstGeom prst="rect">
            <a:avLst/>
          </a:prstGeom>
          <a:solidFill>
            <a:srgbClr val="21295C"/>
          </a:solidFill>
          <a:ln/>
        </p:spPr>
      </p:sp>
      <p:sp>
        <p:nvSpPr>
          <p:cNvPr id="6" name="Text 4"/>
          <p:cNvSpPr/>
          <p:nvPr/>
        </p:nvSpPr>
        <p:spPr>
          <a:xfrm>
            <a:off x="749808" y="1280160"/>
            <a:ext cx="21579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p>
        </p:txBody>
      </p:sp>
      <p:sp>
        <p:nvSpPr>
          <p:cNvPr id="7" name="Shape 5"/>
          <p:cNvSpPr/>
          <p:nvPr/>
        </p:nvSpPr>
        <p:spPr>
          <a:xfrm>
            <a:off x="3017520" y="1280160"/>
            <a:ext cx="4389120" cy="384048"/>
          </a:xfrm>
          <a:prstGeom prst="rect">
            <a:avLst/>
          </a:prstGeom>
          <a:solidFill>
            <a:srgbClr val="21295C"/>
          </a:solidFill>
          <a:ln/>
        </p:spPr>
      </p:sp>
      <p:sp>
        <p:nvSpPr>
          <p:cNvPr id="8" name="Text 6"/>
          <p:cNvSpPr/>
          <p:nvPr/>
        </p:nvSpPr>
        <p:spPr>
          <a:xfrm>
            <a:off x="3127248" y="1280160"/>
            <a:ext cx="41696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a:t>
            </a:r>
            <a:endParaRPr lang="en-US" sz="1100" dirty="0"/>
          </a:p>
        </p:txBody>
      </p:sp>
      <p:sp>
        <p:nvSpPr>
          <p:cNvPr id="9" name="Shape 7"/>
          <p:cNvSpPr/>
          <p:nvPr/>
        </p:nvSpPr>
        <p:spPr>
          <a:xfrm>
            <a:off x="7406640" y="1280160"/>
            <a:ext cx="4114800" cy="384048"/>
          </a:xfrm>
          <a:prstGeom prst="rect">
            <a:avLst/>
          </a:prstGeom>
          <a:solidFill>
            <a:srgbClr val="21295C"/>
          </a:solidFill>
          <a:ln/>
        </p:spPr>
      </p:sp>
      <p:sp>
        <p:nvSpPr>
          <p:cNvPr id="10" name="Text 8"/>
          <p:cNvSpPr/>
          <p:nvPr/>
        </p:nvSpPr>
        <p:spPr>
          <a:xfrm>
            <a:off x="7516368" y="1280160"/>
            <a:ext cx="3895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When to use it</a:t>
            </a:r>
            <a:endParaRPr lang="en-US" sz="1100" dirty="0"/>
          </a:p>
        </p:txBody>
      </p:sp>
      <p:sp>
        <p:nvSpPr>
          <p:cNvPr id="11" name="Shape 9"/>
          <p:cNvSpPr/>
          <p:nvPr/>
        </p:nvSpPr>
        <p:spPr>
          <a:xfrm>
            <a:off x="640080" y="1664208"/>
            <a:ext cx="2377440" cy="548640"/>
          </a:xfrm>
          <a:prstGeom prst="rect">
            <a:avLst/>
          </a:prstGeom>
          <a:solidFill>
            <a:srgbClr val="FFFFFF"/>
          </a:solidFill>
          <a:ln w="9525">
            <a:solidFill>
              <a:srgbClr val="E3EBF0"/>
            </a:solidFill>
            <a:prstDash val="solid"/>
          </a:ln>
        </p:spPr>
      </p:sp>
      <p:sp>
        <p:nvSpPr>
          <p:cNvPr id="12" name="Text 10"/>
          <p:cNvSpPr/>
          <p:nvPr/>
        </p:nvSpPr>
        <p:spPr>
          <a:xfrm>
            <a:off x="749808" y="166420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Simple random</a:t>
            </a:r>
            <a:endParaRPr lang="en-US" sz="1050" dirty="0"/>
          </a:p>
        </p:txBody>
      </p:sp>
      <p:sp>
        <p:nvSpPr>
          <p:cNvPr id="13" name="Shape 11"/>
          <p:cNvSpPr/>
          <p:nvPr/>
        </p:nvSpPr>
        <p:spPr>
          <a:xfrm>
            <a:off x="3017520" y="1664208"/>
            <a:ext cx="4389120" cy="548640"/>
          </a:xfrm>
          <a:prstGeom prst="rect">
            <a:avLst/>
          </a:prstGeom>
          <a:solidFill>
            <a:srgbClr val="FFFFFF"/>
          </a:solidFill>
          <a:ln w="9525">
            <a:solidFill>
              <a:srgbClr val="E3EBF0"/>
            </a:solidFill>
            <a:prstDash val="solid"/>
          </a:ln>
        </p:spPr>
      </p:sp>
      <p:sp>
        <p:nvSpPr>
          <p:cNvPr id="14" name="Text 12"/>
          <p:cNvSpPr/>
          <p:nvPr/>
        </p:nvSpPr>
        <p:spPr>
          <a:xfrm>
            <a:off x="3127248" y="1664208"/>
            <a:ext cx="4169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Every item has equal probability of selection</a:t>
            </a:r>
            <a:endParaRPr lang="en-US" sz="1050" dirty="0"/>
          </a:p>
        </p:txBody>
      </p:sp>
      <p:sp>
        <p:nvSpPr>
          <p:cNvPr id="15" name="Shape 13"/>
          <p:cNvSpPr/>
          <p:nvPr/>
        </p:nvSpPr>
        <p:spPr>
          <a:xfrm>
            <a:off x="7406640" y="1664208"/>
            <a:ext cx="4114800" cy="548640"/>
          </a:xfrm>
          <a:prstGeom prst="rect">
            <a:avLst/>
          </a:prstGeom>
          <a:solidFill>
            <a:srgbClr val="FFFFFF"/>
          </a:solidFill>
          <a:ln w="9525">
            <a:solidFill>
              <a:srgbClr val="E3EBF0"/>
            </a:solidFill>
            <a:prstDash val="solid"/>
          </a:ln>
        </p:spPr>
      </p:sp>
      <p:sp>
        <p:nvSpPr>
          <p:cNvPr id="16" name="Text 14"/>
          <p:cNvSpPr/>
          <p:nvPr/>
        </p:nvSpPr>
        <p:spPr>
          <a:xfrm>
            <a:off x="7516368" y="1664208"/>
            <a:ext cx="38953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Baseline. Fine when classes are balanced and volume is high</a:t>
            </a:r>
            <a:endParaRPr lang="en-US" sz="1050" dirty="0"/>
          </a:p>
        </p:txBody>
      </p:sp>
      <p:sp>
        <p:nvSpPr>
          <p:cNvPr id="17" name="Shape 15"/>
          <p:cNvSpPr/>
          <p:nvPr/>
        </p:nvSpPr>
        <p:spPr>
          <a:xfrm>
            <a:off x="640080" y="2212848"/>
            <a:ext cx="2377440" cy="548640"/>
          </a:xfrm>
          <a:prstGeom prst="rect">
            <a:avLst/>
          </a:prstGeom>
          <a:solidFill>
            <a:srgbClr val="F5F9FB"/>
          </a:solidFill>
          <a:ln w="9525">
            <a:solidFill>
              <a:srgbClr val="E3EBF0"/>
            </a:solidFill>
            <a:prstDash val="solid"/>
          </a:ln>
        </p:spPr>
      </p:sp>
      <p:sp>
        <p:nvSpPr>
          <p:cNvPr id="18" name="Text 16"/>
          <p:cNvSpPr/>
          <p:nvPr/>
        </p:nvSpPr>
        <p:spPr>
          <a:xfrm>
            <a:off x="749808" y="221284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Stratified</a:t>
            </a:r>
            <a:endParaRPr lang="en-US" sz="1050" dirty="0"/>
          </a:p>
        </p:txBody>
      </p:sp>
      <p:sp>
        <p:nvSpPr>
          <p:cNvPr id="19" name="Shape 17"/>
          <p:cNvSpPr/>
          <p:nvPr/>
        </p:nvSpPr>
        <p:spPr>
          <a:xfrm>
            <a:off x="3017520" y="2212848"/>
            <a:ext cx="4389120" cy="548640"/>
          </a:xfrm>
          <a:prstGeom prst="rect">
            <a:avLst/>
          </a:prstGeom>
          <a:solidFill>
            <a:srgbClr val="F5F9FB"/>
          </a:solidFill>
          <a:ln w="9525">
            <a:solidFill>
              <a:srgbClr val="E3EBF0"/>
            </a:solidFill>
            <a:prstDash val="solid"/>
          </a:ln>
        </p:spPr>
      </p:sp>
      <p:sp>
        <p:nvSpPr>
          <p:cNvPr id="20" name="Text 18"/>
          <p:cNvSpPr/>
          <p:nvPr/>
        </p:nvSpPr>
        <p:spPr>
          <a:xfrm>
            <a:off x="3127248" y="2212848"/>
            <a:ext cx="4169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Sample within each class or segment to fixed proportions</a:t>
            </a:r>
            <a:endParaRPr lang="en-US" sz="1050" dirty="0"/>
          </a:p>
        </p:txBody>
      </p:sp>
      <p:sp>
        <p:nvSpPr>
          <p:cNvPr id="21" name="Shape 19"/>
          <p:cNvSpPr/>
          <p:nvPr/>
        </p:nvSpPr>
        <p:spPr>
          <a:xfrm>
            <a:off x="7406640" y="2212848"/>
            <a:ext cx="4114800" cy="548640"/>
          </a:xfrm>
          <a:prstGeom prst="rect">
            <a:avLst/>
          </a:prstGeom>
          <a:solidFill>
            <a:srgbClr val="F5F9FB"/>
          </a:solidFill>
          <a:ln w="9525">
            <a:solidFill>
              <a:srgbClr val="E3EBF0"/>
            </a:solidFill>
            <a:prstDash val="solid"/>
          </a:ln>
        </p:spPr>
      </p:sp>
      <p:sp>
        <p:nvSpPr>
          <p:cNvPr id="22" name="Text 20"/>
          <p:cNvSpPr/>
          <p:nvPr/>
        </p:nvSpPr>
        <p:spPr>
          <a:xfrm>
            <a:off x="7516368" y="2212848"/>
            <a:ext cx="38953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Almost always the right default for AI evaluation</a:t>
            </a:r>
            <a:endParaRPr lang="en-US" sz="1050" dirty="0"/>
          </a:p>
        </p:txBody>
      </p:sp>
      <p:sp>
        <p:nvSpPr>
          <p:cNvPr id="23" name="Shape 21"/>
          <p:cNvSpPr/>
          <p:nvPr/>
        </p:nvSpPr>
        <p:spPr>
          <a:xfrm>
            <a:off x="640080" y="2761488"/>
            <a:ext cx="2377440" cy="548640"/>
          </a:xfrm>
          <a:prstGeom prst="rect">
            <a:avLst/>
          </a:prstGeom>
          <a:solidFill>
            <a:srgbClr val="FFFFFF"/>
          </a:solidFill>
          <a:ln w="9525">
            <a:solidFill>
              <a:srgbClr val="E3EBF0"/>
            </a:solidFill>
            <a:prstDash val="solid"/>
          </a:ln>
        </p:spPr>
      </p:sp>
      <p:sp>
        <p:nvSpPr>
          <p:cNvPr id="24" name="Text 22"/>
          <p:cNvSpPr/>
          <p:nvPr/>
        </p:nvSpPr>
        <p:spPr>
          <a:xfrm>
            <a:off x="749808" y="276148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Cluster</a:t>
            </a:r>
            <a:endParaRPr lang="en-US" sz="1050" dirty="0"/>
          </a:p>
        </p:txBody>
      </p:sp>
      <p:sp>
        <p:nvSpPr>
          <p:cNvPr id="25" name="Shape 23"/>
          <p:cNvSpPr/>
          <p:nvPr/>
        </p:nvSpPr>
        <p:spPr>
          <a:xfrm>
            <a:off x="3017520" y="2761488"/>
            <a:ext cx="4389120" cy="548640"/>
          </a:xfrm>
          <a:prstGeom prst="rect">
            <a:avLst/>
          </a:prstGeom>
          <a:solidFill>
            <a:srgbClr val="FFFFFF"/>
          </a:solidFill>
          <a:ln w="9525">
            <a:solidFill>
              <a:srgbClr val="E3EBF0"/>
            </a:solidFill>
            <a:prstDash val="solid"/>
          </a:ln>
        </p:spPr>
      </p:sp>
      <p:sp>
        <p:nvSpPr>
          <p:cNvPr id="26" name="Text 24"/>
          <p:cNvSpPr/>
          <p:nvPr/>
        </p:nvSpPr>
        <p:spPr>
          <a:xfrm>
            <a:off x="3127248" y="2761488"/>
            <a:ext cx="4169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Sample whole groups — a machine, a site, a document</a:t>
            </a:r>
            <a:endParaRPr lang="en-US" sz="1050" dirty="0"/>
          </a:p>
        </p:txBody>
      </p:sp>
      <p:sp>
        <p:nvSpPr>
          <p:cNvPr id="27" name="Shape 25"/>
          <p:cNvSpPr/>
          <p:nvPr/>
        </p:nvSpPr>
        <p:spPr>
          <a:xfrm>
            <a:off x="7406640" y="2761488"/>
            <a:ext cx="4114800" cy="548640"/>
          </a:xfrm>
          <a:prstGeom prst="rect">
            <a:avLst/>
          </a:prstGeom>
          <a:solidFill>
            <a:srgbClr val="FFFFFF"/>
          </a:solidFill>
          <a:ln w="9525">
            <a:solidFill>
              <a:srgbClr val="E3EBF0"/>
            </a:solidFill>
            <a:prstDash val="solid"/>
          </a:ln>
        </p:spPr>
      </p:sp>
      <p:sp>
        <p:nvSpPr>
          <p:cNvPr id="28" name="Text 26"/>
          <p:cNvSpPr/>
          <p:nvPr/>
        </p:nvSpPr>
        <p:spPr>
          <a:xfrm>
            <a:off x="7516368" y="2761488"/>
            <a:ext cx="38953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When items within a group are correlated and must not be split</a:t>
            </a:r>
            <a:endParaRPr lang="en-US" sz="1050" dirty="0"/>
          </a:p>
        </p:txBody>
      </p:sp>
      <p:sp>
        <p:nvSpPr>
          <p:cNvPr id="29" name="Shape 27"/>
          <p:cNvSpPr/>
          <p:nvPr/>
        </p:nvSpPr>
        <p:spPr>
          <a:xfrm>
            <a:off x="640080" y="3310128"/>
            <a:ext cx="2377440" cy="548640"/>
          </a:xfrm>
          <a:prstGeom prst="rect">
            <a:avLst/>
          </a:prstGeom>
          <a:solidFill>
            <a:srgbClr val="F5F9FB"/>
          </a:solidFill>
          <a:ln w="9525">
            <a:solidFill>
              <a:srgbClr val="E3EBF0"/>
            </a:solidFill>
            <a:prstDash val="solid"/>
          </a:ln>
        </p:spPr>
      </p:sp>
      <p:sp>
        <p:nvSpPr>
          <p:cNvPr id="30" name="Text 28"/>
          <p:cNvSpPr/>
          <p:nvPr/>
        </p:nvSpPr>
        <p:spPr>
          <a:xfrm>
            <a:off x="749808" y="331012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Importance / oversampling</a:t>
            </a:r>
            <a:endParaRPr lang="en-US" sz="1050" dirty="0"/>
          </a:p>
        </p:txBody>
      </p:sp>
      <p:sp>
        <p:nvSpPr>
          <p:cNvPr id="31" name="Shape 29"/>
          <p:cNvSpPr/>
          <p:nvPr/>
        </p:nvSpPr>
        <p:spPr>
          <a:xfrm>
            <a:off x="3017520" y="3310128"/>
            <a:ext cx="4389120" cy="548640"/>
          </a:xfrm>
          <a:prstGeom prst="rect">
            <a:avLst/>
          </a:prstGeom>
          <a:solidFill>
            <a:srgbClr val="F5F9FB"/>
          </a:solidFill>
          <a:ln w="9525">
            <a:solidFill>
              <a:srgbClr val="E3EBF0"/>
            </a:solidFill>
            <a:prstDash val="solid"/>
          </a:ln>
        </p:spPr>
      </p:sp>
      <p:sp>
        <p:nvSpPr>
          <p:cNvPr id="32" name="Text 30"/>
          <p:cNvSpPr/>
          <p:nvPr/>
        </p:nvSpPr>
        <p:spPr>
          <a:xfrm>
            <a:off x="3127248" y="3310128"/>
            <a:ext cx="4169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Deliberately over-sample rare but critical cases</a:t>
            </a:r>
            <a:endParaRPr lang="en-US" sz="1050" dirty="0"/>
          </a:p>
        </p:txBody>
      </p:sp>
      <p:sp>
        <p:nvSpPr>
          <p:cNvPr id="33" name="Shape 31"/>
          <p:cNvSpPr/>
          <p:nvPr/>
        </p:nvSpPr>
        <p:spPr>
          <a:xfrm>
            <a:off x="7406640" y="3310128"/>
            <a:ext cx="4114800" cy="548640"/>
          </a:xfrm>
          <a:prstGeom prst="rect">
            <a:avLst/>
          </a:prstGeom>
          <a:solidFill>
            <a:srgbClr val="F5F9FB"/>
          </a:solidFill>
          <a:ln w="9525">
            <a:solidFill>
              <a:srgbClr val="E3EBF0"/>
            </a:solidFill>
            <a:prstDash val="solid"/>
          </a:ln>
        </p:spPr>
      </p:sp>
      <p:sp>
        <p:nvSpPr>
          <p:cNvPr id="34" name="Text 32"/>
          <p:cNvSpPr/>
          <p:nvPr/>
        </p:nvSpPr>
        <p:spPr>
          <a:xfrm>
            <a:off x="7516368" y="3310128"/>
            <a:ext cx="38953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Rare failure modes random sampling would miss entirely</a:t>
            </a:r>
            <a:endParaRPr lang="en-US" sz="1050" dirty="0"/>
          </a:p>
        </p:txBody>
      </p:sp>
      <p:sp>
        <p:nvSpPr>
          <p:cNvPr id="35" name="Shape 33"/>
          <p:cNvSpPr/>
          <p:nvPr/>
        </p:nvSpPr>
        <p:spPr>
          <a:xfrm>
            <a:off x="640080" y="3858768"/>
            <a:ext cx="2377440" cy="548640"/>
          </a:xfrm>
          <a:prstGeom prst="rect">
            <a:avLst/>
          </a:prstGeom>
          <a:solidFill>
            <a:srgbClr val="FFFFFF"/>
          </a:solidFill>
          <a:ln w="9525">
            <a:solidFill>
              <a:srgbClr val="E3EBF0"/>
            </a:solidFill>
            <a:prstDash val="solid"/>
          </a:ln>
        </p:spPr>
      </p:sp>
      <p:sp>
        <p:nvSpPr>
          <p:cNvPr id="36" name="Text 34"/>
          <p:cNvSpPr/>
          <p:nvPr/>
        </p:nvSpPr>
        <p:spPr>
          <a:xfrm>
            <a:off x="749808" y="385876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Time-based</a:t>
            </a:r>
            <a:endParaRPr lang="en-US" sz="1050" dirty="0"/>
          </a:p>
        </p:txBody>
      </p:sp>
      <p:sp>
        <p:nvSpPr>
          <p:cNvPr id="37" name="Shape 35"/>
          <p:cNvSpPr/>
          <p:nvPr/>
        </p:nvSpPr>
        <p:spPr>
          <a:xfrm>
            <a:off x="3017520" y="3858768"/>
            <a:ext cx="4389120" cy="548640"/>
          </a:xfrm>
          <a:prstGeom prst="rect">
            <a:avLst/>
          </a:prstGeom>
          <a:solidFill>
            <a:srgbClr val="FFFFFF"/>
          </a:solidFill>
          <a:ln w="9525">
            <a:solidFill>
              <a:srgbClr val="E3EBF0"/>
            </a:solidFill>
            <a:prstDash val="solid"/>
          </a:ln>
        </p:spPr>
      </p:sp>
      <p:sp>
        <p:nvSpPr>
          <p:cNvPr id="38" name="Text 36"/>
          <p:cNvSpPr/>
          <p:nvPr/>
        </p:nvSpPr>
        <p:spPr>
          <a:xfrm>
            <a:off x="3127248" y="3858768"/>
            <a:ext cx="4169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Sample from a specific and later time window</a:t>
            </a:r>
            <a:endParaRPr lang="en-US" sz="1050" dirty="0"/>
          </a:p>
        </p:txBody>
      </p:sp>
      <p:sp>
        <p:nvSpPr>
          <p:cNvPr id="39" name="Shape 37"/>
          <p:cNvSpPr/>
          <p:nvPr/>
        </p:nvSpPr>
        <p:spPr>
          <a:xfrm>
            <a:off x="7406640" y="3858768"/>
            <a:ext cx="4114800" cy="548640"/>
          </a:xfrm>
          <a:prstGeom prst="rect">
            <a:avLst/>
          </a:prstGeom>
          <a:solidFill>
            <a:srgbClr val="FFFFFF"/>
          </a:solidFill>
          <a:ln w="9525">
            <a:solidFill>
              <a:srgbClr val="E3EBF0"/>
            </a:solidFill>
            <a:prstDash val="solid"/>
          </a:ln>
        </p:spPr>
      </p:sp>
      <p:sp>
        <p:nvSpPr>
          <p:cNvPr id="40" name="Text 38"/>
          <p:cNvSpPr/>
          <p:nvPr/>
        </p:nvSpPr>
        <p:spPr>
          <a:xfrm>
            <a:off x="7516368" y="3858768"/>
            <a:ext cx="38953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Any system where drift is plausible — which is most of them</a:t>
            </a:r>
            <a:endParaRPr lang="en-US" sz="1050" dirty="0"/>
          </a:p>
        </p:txBody>
      </p:sp>
      <p:sp>
        <p:nvSpPr>
          <p:cNvPr id="41" name="Shape 39"/>
          <p:cNvSpPr/>
          <p:nvPr/>
        </p:nvSpPr>
        <p:spPr>
          <a:xfrm>
            <a:off x="640080" y="4407408"/>
            <a:ext cx="2377440" cy="548640"/>
          </a:xfrm>
          <a:prstGeom prst="rect">
            <a:avLst/>
          </a:prstGeom>
          <a:solidFill>
            <a:srgbClr val="F5F9FB"/>
          </a:solidFill>
          <a:ln w="9525">
            <a:solidFill>
              <a:srgbClr val="E3EBF0"/>
            </a:solidFill>
            <a:prstDash val="solid"/>
          </a:ln>
        </p:spPr>
      </p:sp>
      <p:sp>
        <p:nvSpPr>
          <p:cNvPr id="42" name="Text 40"/>
          <p:cNvSpPr/>
          <p:nvPr/>
        </p:nvSpPr>
        <p:spPr>
          <a:xfrm>
            <a:off x="749808" y="440740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Adversarial / targeted</a:t>
            </a:r>
            <a:endParaRPr lang="en-US" sz="1050" dirty="0"/>
          </a:p>
        </p:txBody>
      </p:sp>
      <p:sp>
        <p:nvSpPr>
          <p:cNvPr id="43" name="Shape 41"/>
          <p:cNvSpPr/>
          <p:nvPr/>
        </p:nvSpPr>
        <p:spPr>
          <a:xfrm>
            <a:off x="3017520" y="4407408"/>
            <a:ext cx="4389120" cy="548640"/>
          </a:xfrm>
          <a:prstGeom prst="rect">
            <a:avLst/>
          </a:prstGeom>
          <a:solidFill>
            <a:srgbClr val="F5F9FB"/>
          </a:solidFill>
          <a:ln w="9525">
            <a:solidFill>
              <a:srgbClr val="E3EBF0"/>
            </a:solidFill>
            <a:prstDash val="solid"/>
          </a:ln>
        </p:spPr>
      </p:sp>
      <p:sp>
        <p:nvSpPr>
          <p:cNvPr id="44" name="Text 42"/>
          <p:cNvSpPr/>
          <p:nvPr/>
        </p:nvSpPr>
        <p:spPr>
          <a:xfrm>
            <a:off x="3127248" y="4407408"/>
            <a:ext cx="4169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Deliberately collect known-hard cases</a:t>
            </a:r>
            <a:endParaRPr lang="en-US" sz="1050" dirty="0"/>
          </a:p>
        </p:txBody>
      </p:sp>
      <p:sp>
        <p:nvSpPr>
          <p:cNvPr id="45" name="Shape 43"/>
          <p:cNvSpPr/>
          <p:nvPr/>
        </p:nvSpPr>
        <p:spPr>
          <a:xfrm>
            <a:off x="7406640" y="4407408"/>
            <a:ext cx="4114800" cy="548640"/>
          </a:xfrm>
          <a:prstGeom prst="rect">
            <a:avLst/>
          </a:prstGeom>
          <a:solidFill>
            <a:srgbClr val="F5F9FB"/>
          </a:solidFill>
          <a:ln w="9525">
            <a:solidFill>
              <a:srgbClr val="E3EBF0"/>
            </a:solidFill>
            <a:prstDash val="solid"/>
          </a:ln>
        </p:spPr>
      </p:sp>
      <p:sp>
        <p:nvSpPr>
          <p:cNvPr id="46" name="Text 44"/>
          <p:cNvSpPr/>
          <p:nvPr/>
        </p:nvSpPr>
        <p:spPr>
          <a:xfrm>
            <a:off x="7516368" y="4407408"/>
            <a:ext cx="389534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Building the stress portion of a gold set</a:t>
            </a:r>
            <a:endParaRPr lang="en-US" sz="1050" dirty="0"/>
          </a:p>
        </p:txBody>
      </p:sp>
      <p:sp>
        <p:nvSpPr>
          <p:cNvPr id="47" name="Text 45"/>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Record which strategy you used. A metric without its sampling method is not reproducible.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Splitting strategies — and the one that ruins results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26</a:t>
            </a:r>
            <a:endParaRPr lang="en-US" sz="1000" dirty="0"/>
          </a:p>
        </p:txBody>
      </p:sp>
      <p:sp>
        <p:nvSpPr>
          <p:cNvPr id="5" name="Shape 3"/>
          <p:cNvSpPr/>
          <p:nvPr/>
        </p:nvSpPr>
        <p:spPr>
          <a:xfrm>
            <a:off x="640080" y="1280160"/>
            <a:ext cx="2377440" cy="384048"/>
          </a:xfrm>
          <a:prstGeom prst="rect">
            <a:avLst/>
          </a:prstGeom>
          <a:solidFill>
            <a:srgbClr val="21295C"/>
          </a:solidFill>
          <a:ln/>
        </p:spPr>
      </p:sp>
      <p:sp>
        <p:nvSpPr>
          <p:cNvPr id="6" name="Text 4"/>
          <p:cNvSpPr/>
          <p:nvPr/>
        </p:nvSpPr>
        <p:spPr>
          <a:xfrm>
            <a:off x="749808" y="1280160"/>
            <a:ext cx="21579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Split type</a:t>
            </a:r>
            <a:endParaRPr lang="en-US" sz="1100" dirty="0"/>
          </a:p>
        </p:txBody>
      </p:sp>
      <p:sp>
        <p:nvSpPr>
          <p:cNvPr id="7" name="Shape 5"/>
          <p:cNvSpPr/>
          <p:nvPr/>
        </p:nvSpPr>
        <p:spPr>
          <a:xfrm>
            <a:off x="3017520" y="1280160"/>
            <a:ext cx="4023360" cy="384048"/>
          </a:xfrm>
          <a:prstGeom prst="rect">
            <a:avLst/>
          </a:prstGeom>
          <a:solidFill>
            <a:srgbClr val="21295C"/>
          </a:solidFill>
          <a:ln/>
        </p:spPr>
      </p:sp>
      <p:sp>
        <p:nvSpPr>
          <p:cNvPr id="8" name="Text 6"/>
          <p:cNvSpPr/>
          <p:nvPr/>
        </p:nvSpPr>
        <p:spPr>
          <a:xfrm>
            <a:off x="3127248" y="1280160"/>
            <a:ext cx="38039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p>
        </p:txBody>
      </p:sp>
      <p:sp>
        <p:nvSpPr>
          <p:cNvPr id="9" name="Shape 7"/>
          <p:cNvSpPr/>
          <p:nvPr/>
        </p:nvSpPr>
        <p:spPr>
          <a:xfrm>
            <a:off x="7040880" y="1280160"/>
            <a:ext cx="4480560" cy="384048"/>
          </a:xfrm>
          <a:prstGeom prst="rect">
            <a:avLst/>
          </a:prstGeom>
          <a:solidFill>
            <a:srgbClr val="21295C"/>
          </a:solidFill>
          <a:ln/>
        </p:spPr>
      </p:sp>
      <p:sp>
        <p:nvSpPr>
          <p:cNvPr id="10" name="Text 8"/>
          <p:cNvSpPr/>
          <p:nvPr/>
        </p:nvSpPr>
        <p:spPr>
          <a:xfrm>
            <a:off x="7150608" y="1280160"/>
            <a:ext cx="42611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Risk if used wrongly</a:t>
            </a:r>
            <a:endParaRPr lang="en-US" sz="1100" dirty="0"/>
          </a:p>
        </p:txBody>
      </p:sp>
      <p:sp>
        <p:nvSpPr>
          <p:cNvPr id="11" name="Shape 9"/>
          <p:cNvSpPr/>
          <p:nvPr/>
        </p:nvSpPr>
        <p:spPr>
          <a:xfrm>
            <a:off x="640080" y="1664208"/>
            <a:ext cx="2377440" cy="548640"/>
          </a:xfrm>
          <a:prstGeom prst="rect">
            <a:avLst/>
          </a:prstGeom>
          <a:solidFill>
            <a:srgbClr val="FFFFFF"/>
          </a:solidFill>
          <a:ln w="9525">
            <a:solidFill>
              <a:srgbClr val="E3EBF0"/>
            </a:solidFill>
            <a:prstDash val="solid"/>
          </a:ln>
        </p:spPr>
      </p:sp>
      <p:sp>
        <p:nvSpPr>
          <p:cNvPr id="12" name="Text 10"/>
          <p:cNvSpPr/>
          <p:nvPr/>
        </p:nvSpPr>
        <p:spPr>
          <a:xfrm>
            <a:off x="749808" y="166420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Random row split</a:t>
            </a:r>
            <a:endParaRPr lang="en-US" sz="1050" dirty="0"/>
          </a:p>
        </p:txBody>
      </p:sp>
      <p:sp>
        <p:nvSpPr>
          <p:cNvPr id="13" name="Shape 11"/>
          <p:cNvSpPr/>
          <p:nvPr/>
        </p:nvSpPr>
        <p:spPr>
          <a:xfrm>
            <a:off x="3017520" y="1664208"/>
            <a:ext cx="4023360" cy="548640"/>
          </a:xfrm>
          <a:prstGeom prst="rect">
            <a:avLst/>
          </a:prstGeom>
          <a:solidFill>
            <a:srgbClr val="FFFFFF"/>
          </a:solidFill>
          <a:ln w="9525">
            <a:solidFill>
              <a:srgbClr val="E3EBF0"/>
            </a:solidFill>
            <a:prstDash val="solid"/>
          </a:ln>
        </p:spPr>
      </p:sp>
      <p:sp>
        <p:nvSpPr>
          <p:cNvPr id="14" name="Text 12"/>
          <p:cNvSpPr/>
          <p:nvPr/>
        </p:nvSpPr>
        <p:spPr>
          <a:xfrm>
            <a:off x="3127248" y="166420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Shuffle and divide</a:t>
            </a:r>
            <a:endParaRPr lang="en-US" sz="1050" dirty="0"/>
          </a:p>
        </p:txBody>
      </p:sp>
      <p:sp>
        <p:nvSpPr>
          <p:cNvPr id="15" name="Shape 13"/>
          <p:cNvSpPr/>
          <p:nvPr/>
        </p:nvSpPr>
        <p:spPr>
          <a:xfrm>
            <a:off x="7040880" y="1664208"/>
            <a:ext cx="4480560" cy="548640"/>
          </a:xfrm>
          <a:prstGeom prst="rect">
            <a:avLst/>
          </a:prstGeom>
          <a:solidFill>
            <a:srgbClr val="FFFFFF"/>
          </a:solidFill>
          <a:ln w="9525">
            <a:solidFill>
              <a:srgbClr val="E3EBF0"/>
            </a:solidFill>
            <a:prstDash val="solid"/>
          </a:ln>
        </p:spPr>
      </p:sp>
      <p:sp>
        <p:nvSpPr>
          <p:cNvPr id="16" name="Text 14"/>
          <p:cNvSpPr/>
          <p:nvPr/>
        </p:nvSpPr>
        <p:spPr>
          <a:xfrm>
            <a:off x="7150608" y="166420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Leaks when rows are correlated — the same machine in train and test</a:t>
            </a:r>
            <a:endParaRPr lang="en-US" sz="1050" dirty="0"/>
          </a:p>
        </p:txBody>
      </p:sp>
      <p:sp>
        <p:nvSpPr>
          <p:cNvPr id="17" name="Shape 15"/>
          <p:cNvSpPr/>
          <p:nvPr/>
        </p:nvSpPr>
        <p:spPr>
          <a:xfrm>
            <a:off x="640080" y="2212848"/>
            <a:ext cx="2377440" cy="548640"/>
          </a:xfrm>
          <a:prstGeom prst="rect">
            <a:avLst/>
          </a:prstGeom>
          <a:solidFill>
            <a:srgbClr val="F5F9FB"/>
          </a:solidFill>
          <a:ln w="9525">
            <a:solidFill>
              <a:srgbClr val="E3EBF0"/>
            </a:solidFill>
            <a:prstDash val="solid"/>
          </a:ln>
        </p:spPr>
      </p:sp>
      <p:sp>
        <p:nvSpPr>
          <p:cNvPr id="18" name="Text 16"/>
          <p:cNvSpPr/>
          <p:nvPr/>
        </p:nvSpPr>
        <p:spPr>
          <a:xfrm>
            <a:off x="749808" y="221284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Stratified split</a:t>
            </a:r>
            <a:endParaRPr lang="en-US" sz="1050" dirty="0"/>
          </a:p>
        </p:txBody>
      </p:sp>
      <p:sp>
        <p:nvSpPr>
          <p:cNvPr id="19" name="Shape 17"/>
          <p:cNvSpPr/>
          <p:nvPr/>
        </p:nvSpPr>
        <p:spPr>
          <a:xfrm>
            <a:off x="3017520" y="2212848"/>
            <a:ext cx="4023360" cy="548640"/>
          </a:xfrm>
          <a:prstGeom prst="rect">
            <a:avLst/>
          </a:prstGeom>
          <a:solidFill>
            <a:srgbClr val="F5F9FB"/>
          </a:solidFill>
          <a:ln w="9525">
            <a:solidFill>
              <a:srgbClr val="E3EBF0"/>
            </a:solidFill>
            <a:prstDash val="solid"/>
          </a:ln>
        </p:spPr>
      </p:sp>
      <p:sp>
        <p:nvSpPr>
          <p:cNvPr id="20" name="Text 18"/>
          <p:cNvSpPr/>
          <p:nvPr/>
        </p:nvSpPr>
        <p:spPr>
          <a:xfrm>
            <a:off x="3127248" y="221284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Preserve class balance across splits</a:t>
            </a:r>
            <a:endParaRPr lang="en-US" sz="1050" dirty="0"/>
          </a:p>
        </p:txBody>
      </p:sp>
      <p:sp>
        <p:nvSpPr>
          <p:cNvPr id="21" name="Shape 19"/>
          <p:cNvSpPr/>
          <p:nvPr/>
        </p:nvSpPr>
        <p:spPr>
          <a:xfrm>
            <a:off x="7040880" y="2212848"/>
            <a:ext cx="4480560" cy="548640"/>
          </a:xfrm>
          <a:prstGeom prst="rect">
            <a:avLst/>
          </a:prstGeom>
          <a:solidFill>
            <a:srgbClr val="F5F9FB"/>
          </a:solidFill>
          <a:ln w="9525">
            <a:solidFill>
              <a:srgbClr val="E3EBF0"/>
            </a:solidFill>
            <a:prstDash val="solid"/>
          </a:ln>
        </p:spPr>
      </p:sp>
      <p:sp>
        <p:nvSpPr>
          <p:cNvPr id="22" name="Text 20"/>
          <p:cNvSpPr/>
          <p:nvPr/>
        </p:nvSpPr>
        <p:spPr>
          <a:xfrm>
            <a:off x="7150608" y="221284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Safe default for balanced tabular problems</a:t>
            </a:r>
            <a:endParaRPr lang="en-US" sz="1050" dirty="0"/>
          </a:p>
        </p:txBody>
      </p:sp>
      <p:sp>
        <p:nvSpPr>
          <p:cNvPr id="23" name="Shape 21"/>
          <p:cNvSpPr/>
          <p:nvPr/>
        </p:nvSpPr>
        <p:spPr>
          <a:xfrm>
            <a:off x="640080" y="2761488"/>
            <a:ext cx="2377440" cy="548640"/>
          </a:xfrm>
          <a:prstGeom prst="rect">
            <a:avLst/>
          </a:prstGeom>
          <a:solidFill>
            <a:srgbClr val="FFFFFF"/>
          </a:solidFill>
          <a:ln w="9525">
            <a:solidFill>
              <a:srgbClr val="E3EBF0"/>
            </a:solidFill>
            <a:prstDash val="solid"/>
          </a:ln>
        </p:spPr>
      </p:sp>
      <p:sp>
        <p:nvSpPr>
          <p:cNvPr id="24" name="Text 22"/>
          <p:cNvSpPr/>
          <p:nvPr/>
        </p:nvSpPr>
        <p:spPr>
          <a:xfrm>
            <a:off x="749808" y="276148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Group split</a:t>
            </a:r>
            <a:endParaRPr lang="en-US" sz="1050" dirty="0"/>
          </a:p>
        </p:txBody>
      </p:sp>
      <p:sp>
        <p:nvSpPr>
          <p:cNvPr id="25" name="Shape 23"/>
          <p:cNvSpPr/>
          <p:nvPr/>
        </p:nvSpPr>
        <p:spPr>
          <a:xfrm>
            <a:off x="3017520" y="2761488"/>
            <a:ext cx="4023360" cy="548640"/>
          </a:xfrm>
          <a:prstGeom prst="rect">
            <a:avLst/>
          </a:prstGeom>
          <a:solidFill>
            <a:srgbClr val="FFFFFF"/>
          </a:solidFill>
          <a:ln w="9525">
            <a:solidFill>
              <a:srgbClr val="E3EBF0"/>
            </a:solidFill>
            <a:prstDash val="solid"/>
          </a:ln>
        </p:spPr>
      </p:sp>
      <p:sp>
        <p:nvSpPr>
          <p:cNvPr id="26" name="Text 24"/>
          <p:cNvSpPr/>
          <p:nvPr/>
        </p:nvSpPr>
        <p:spPr>
          <a:xfrm>
            <a:off x="3127248" y="276148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All rows for one entity stay in one split</a:t>
            </a:r>
            <a:endParaRPr lang="en-US" sz="1050" dirty="0"/>
          </a:p>
        </p:txBody>
      </p:sp>
      <p:sp>
        <p:nvSpPr>
          <p:cNvPr id="27" name="Shape 25"/>
          <p:cNvSpPr/>
          <p:nvPr/>
        </p:nvSpPr>
        <p:spPr>
          <a:xfrm>
            <a:off x="7040880" y="2761488"/>
            <a:ext cx="4480560" cy="548640"/>
          </a:xfrm>
          <a:prstGeom prst="rect">
            <a:avLst/>
          </a:prstGeom>
          <a:solidFill>
            <a:srgbClr val="FFFFFF"/>
          </a:solidFill>
          <a:ln w="9525">
            <a:solidFill>
              <a:srgbClr val="E3EBF0"/>
            </a:solidFill>
            <a:prstDash val="solid"/>
          </a:ln>
        </p:spPr>
      </p:sp>
      <p:sp>
        <p:nvSpPr>
          <p:cNvPr id="28" name="Text 26"/>
          <p:cNvSpPr/>
          <p:nvPr/>
        </p:nvSpPr>
        <p:spPr>
          <a:xfrm>
            <a:off x="7150608" y="276148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Essential when rows share a machine, part or document</a:t>
            </a:r>
            <a:endParaRPr lang="en-US" sz="1050" dirty="0"/>
          </a:p>
        </p:txBody>
      </p:sp>
      <p:sp>
        <p:nvSpPr>
          <p:cNvPr id="29" name="Shape 27"/>
          <p:cNvSpPr/>
          <p:nvPr/>
        </p:nvSpPr>
        <p:spPr>
          <a:xfrm>
            <a:off x="640080" y="3310128"/>
            <a:ext cx="2377440" cy="548640"/>
          </a:xfrm>
          <a:prstGeom prst="rect">
            <a:avLst/>
          </a:prstGeom>
          <a:solidFill>
            <a:srgbClr val="F5F9FB"/>
          </a:solidFill>
          <a:ln w="9525">
            <a:solidFill>
              <a:srgbClr val="E3EBF0"/>
            </a:solidFill>
            <a:prstDash val="solid"/>
          </a:ln>
        </p:spPr>
      </p:sp>
      <p:sp>
        <p:nvSpPr>
          <p:cNvPr id="30" name="Text 28"/>
          <p:cNvSpPr/>
          <p:nvPr/>
        </p:nvSpPr>
        <p:spPr>
          <a:xfrm>
            <a:off x="749808" y="331012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Temporal split</a:t>
            </a:r>
            <a:endParaRPr lang="en-US" sz="1050" dirty="0"/>
          </a:p>
        </p:txBody>
      </p:sp>
      <p:sp>
        <p:nvSpPr>
          <p:cNvPr id="31" name="Shape 29"/>
          <p:cNvSpPr/>
          <p:nvPr/>
        </p:nvSpPr>
        <p:spPr>
          <a:xfrm>
            <a:off x="3017520" y="3310128"/>
            <a:ext cx="4023360" cy="548640"/>
          </a:xfrm>
          <a:prstGeom prst="rect">
            <a:avLst/>
          </a:prstGeom>
          <a:solidFill>
            <a:srgbClr val="F5F9FB"/>
          </a:solidFill>
          <a:ln w="9525">
            <a:solidFill>
              <a:srgbClr val="E3EBF0"/>
            </a:solidFill>
            <a:prstDash val="solid"/>
          </a:ln>
        </p:spPr>
      </p:sp>
      <p:sp>
        <p:nvSpPr>
          <p:cNvPr id="32" name="Text 30"/>
          <p:cNvSpPr/>
          <p:nvPr/>
        </p:nvSpPr>
        <p:spPr>
          <a:xfrm>
            <a:off x="3127248" y="331012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Train on the past, test on the future</a:t>
            </a:r>
            <a:endParaRPr lang="en-US" sz="1050" dirty="0"/>
          </a:p>
        </p:txBody>
      </p:sp>
      <p:sp>
        <p:nvSpPr>
          <p:cNvPr id="33" name="Shape 31"/>
          <p:cNvSpPr/>
          <p:nvPr/>
        </p:nvSpPr>
        <p:spPr>
          <a:xfrm>
            <a:off x="7040880" y="3310128"/>
            <a:ext cx="4480560" cy="548640"/>
          </a:xfrm>
          <a:prstGeom prst="rect">
            <a:avLst/>
          </a:prstGeom>
          <a:solidFill>
            <a:srgbClr val="F5F9FB"/>
          </a:solidFill>
          <a:ln w="9525">
            <a:solidFill>
              <a:srgbClr val="E3EBF0"/>
            </a:solidFill>
            <a:prstDash val="solid"/>
          </a:ln>
        </p:spPr>
      </p:sp>
      <p:sp>
        <p:nvSpPr>
          <p:cNvPr id="34" name="Text 32"/>
          <p:cNvSpPr/>
          <p:nvPr/>
        </p:nvSpPr>
        <p:spPr>
          <a:xfrm>
            <a:off x="7150608" y="331012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only honest split for time-dependent problems</a:t>
            </a:r>
            <a:endParaRPr lang="en-US" sz="1050" dirty="0"/>
          </a:p>
        </p:txBody>
      </p:sp>
      <p:sp>
        <p:nvSpPr>
          <p:cNvPr id="35" name="Shape 33"/>
          <p:cNvSpPr/>
          <p:nvPr/>
        </p:nvSpPr>
        <p:spPr>
          <a:xfrm>
            <a:off x="640080" y="3858768"/>
            <a:ext cx="2377440" cy="548640"/>
          </a:xfrm>
          <a:prstGeom prst="rect">
            <a:avLst/>
          </a:prstGeom>
          <a:solidFill>
            <a:srgbClr val="FFFFFF"/>
          </a:solidFill>
          <a:ln w="9525">
            <a:solidFill>
              <a:srgbClr val="E3EBF0"/>
            </a:solidFill>
            <a:prstDash val="solid"/>
          </a:ln>
        </p:spPr>
      </p:sp>
      <p:sp>
        <p:nvSpPr>
          <p:cNvPr id="36" name="Text 34"/>
          <p:cNvSpPr/>
          <p:nvPr/>
        </p:nvSpPr>
        <p:spPr>
          <a:xfrm>
            <a:off x="749808" y="385876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k-fold cross-validation</a:t>
            </a:r>
            <a:endParaRPr lang="en-US" sz="1050" dirty="0"/>
          </a:p>
        </p:txBody>
      </p:sp>
      <p:sp>
        <p:nvSpPr>
          <p:cNvPr id="37" name="Shape 35"/>
          <p:cNvSpPr/>
          <p:nvPr/>
        </p:nvSpPr>
        <p:spPr>
          <a:xfrm>
            <a:off x="3017520" y="3858768"/>
            <a:ext cx="4023360" cy="548640"/>
          </a:xfrm>
          <a:prstGeom prst="rect">
            <a:avLst/>
          </a:prstGeom>
          <a:solidFill>
            <a:srgbClr val="FFFFFF"/>
          </a:solidFill>
          <a:ln w="9525">
            <a:solidFill>
              <a:srgbClr val="E3EBF0"/>
            </a:solidFill>
            <a:prstDash val="solid"/>
          </a:ln>
        </p:spPr>
      </p:sp>
      <p:sp>
        <p:nvSpPr>
          <p:cNvPr id="38" name="Text 36"/>
          <p:cNvSpPr/>
          <p:nvPr/>
        </p:nvSpPr>
        <p:spPr>
          <a:xfrm>
            <a:off x="3127248" y="385876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Rotate the held-out fold k times</a:t>
            </a:r>
            <a:endParaRPr lang="en-US" sz="1050" dirty="0"/>
          </a:p>
        </p:txBody>
      </p:sp>
      <p:sp>
        <p:nvSpPr>
          <p:cNvPr id="39" name="Shape 37"/>
          <p:cNvSpPr/>
          <p:nvPr/>
        </p:nvSpPr>
        <p:spPr>
          <a:xfrm>
            <a:off x="7040880" y="3858768"/>
            <a:ext cx="4480560" cy="548640"/>
          </a:xfrm>
          <a:prstGeom prst="rect">
            <a:avLst/>
          </a:prstGeom>
          <a:solidFill>
            <a:srgbClr val="FFFFFF"/>
          </a:solidFill>
          <a:ln w="9525">
            <a:solidFill>
              <a:srgbClr val="E3EBF0"/>
            </a:solidFill>
            <a:prstDash val="solid"/>
          </a:ln>
        </p:spPr>
      </p:sp>
      <p:sp>
        <p:nvSpPr>
          <p:cNvPr id="40" name="Text 38"/>
          <p:cNvSpPr/>
          <p:nvPr/>
        </p:nvSpPr>
        <p:spPr>
          <a:xfrm>
            <a:off x="7150608" y="385876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Good for small datasets; still needs group or temporal awareness</a:t>
            </a:r>
            <a:endParaRPr lang="en-US" sz="1050" dirty="0"/>
          </a:p>
        </p:txBody>
      </p:sp>
      <p:sp>
        <p:nvSpPr>
          <p:cNvPr id="41" name="Shape 39"/>
          <p:cNvSpPr/>
          <p:nvPr/>
        </p:nvSpPr>
        <p:spPr>
          <a:xfrm>
            <a:off x="640080" y="4407408"/>
            <a:ext cx="2377440" cy="548640"/>
          </a:xfrm>
          <a:prstGeom prst="rect">
            <a:avLst/>
          </a:prstGeom>
          <a:solidFill>
            <a:srgbClr val="F5F9FB"/>
          </a:solidFill>
          <a:ln w="9525">
            <a:solidFill>
              <a:srgbClr val="E3EBF0"/>
            </a:solidFill>
            <a:prstDash val="solid"/>
          </a:ln>
        </p:spPr>
      </p:sp>
      <p:sp>
        <p:nvSpPr>
          <p:cNvPr id="42" name="Text 40"/>
          <p:cNvSpPr/>
          <p:nvPr/>
        </p:nvSpPr>
        <p:spPr>
          <a:xfrm>
            <a:off x="749808" y="440740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Nested CV</a:t>
            </a:r>
            <a:endParaRPr lang="en-US" sz="1050" dirty="0"/>
          </a:p>
        </p:txBody>
      </p:sp>
      <p:sp>
        <p:nvSpPr>
          <p:cNvPr id="43" name="Shape 41"/>
          <p:cNvSpPr/>
          <p:nvPr/>
        </p:nvSpPr>
        <p:spPr>
          <a:xfrm>
            <a:off x="3017520" y="4407408"/>
            <a:ext cx="4023360" cy="548640"/>
          </a:xfrm>
          <a:prstGeom prst="rect">
            <a:avLst/>
          </a:prstGeom>
          <a:solidFill>
            <a:srgbClr val="F5F9FB"/>
          </a:solidFill>
          <a:ln w="9525">
            <a:solidFill>
              <a:srgbClr val="E3EBF0"/>
            </a:solidFill>
            <a:prstDash val="solid"/>
          </a:ln>
        </p:spPr>
      </p:sp>
      <p:sp>
        <p:nvSpPr>
          <p:cNvPr id="44" name="Text 42"/>
          <p:cNvSpPr/>
          <p:nvPr/>
        </p:nvSpPr>
        <p:spPr>
          <a:xfrm>
            <a:off x="3127248" y="4407408"/>
            <a:ext cx="3803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Inner loop tunes, outer loop evaluates</a:t>
            </a:r>
            <a:endParaRPr lang="en-US" sz="1050" dirty="0"/>
          </a:p>
        </p:txBody>
      </p:sp>
      <p:sp>
        <p:nvSpPr>
          <p:cNvPr id="45" name="Shape 43"/>
          <p:cNvSpPr/>
          <p:nvPr/>
        </p:nvSpPr>
        <p:spPr>
          <a:xfrm>
            <a:off x="7040880" y="4407408"/>
            <a:ext cx="4480560" cy="548640"/>
          </a:xfrm>
          <a:prstGeom prst="rect">
            <a:avLst/>
          </a:prstGeom>
          <a:solidFill>
            <a:srgbClr val="F5F9FB"/>
          </a:solidFill>
          <a:ln w="9525">
            <a:solidFill>
              <a:srgbClr val="E3EBF0"/>
            </a:solidFill>
            <a:prstDash val="solid"/>
          </a:ln>
        </p:spPr>
      </p:sp>
      <p:sp>
        <p:nvSpPr>
          <p:cNvPr id="46" name="Text 44"/>
          <p:cNvSpPr/>
          <p:nvPr/>
        </p:nvSpPr>
        <p:spPr>
          <a:xfrm>
            <a:off x="7150608" y="440740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Prevents tuning leakage when selecting hyperparameters</a:t>
            </a:r>
            <a:endParaRPr lang="en-US" sz="1050" dirty="0"/>
          </a:p>
        </p:txBody>
      </p:sp>
      <p:sp>
        <p:nvSpPr>
          <p:cNvPr id="47" name="Text 45"/>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C1440E"/>
                </a:solidFill>
                <a:latin typeface="Calibri" pitchFamily="34" charset="0"/>
                <a:ea typeface="Calibri" pitchFamily="34" charset="-122"/>
                <a:cs typeface="Calibri" pitchFamily="34" charset="-120"/>
              </a:rPr>
              <a:t>For anything with a time dimension, a random split will flatter your model and mislead you completely.</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Building a gold set — a practical process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27</a:t>
            </a:r>
            <a:endParaRPr lang="en-US" sz="1000" dirty="0"/>
          </a:p>
        </p:txBody>
      </p:sp>
      <p:sp>
        <p:nvSpPr>
          <p:cNvPr id="5" name="Shape 3"/>
          <p:cNvSpPr/>
          <p:nvPr/>
        </p:nvSpPr>
        <p:spPr>
          <a:xfrm>
            <a:off x="640080" y="1435608"/>
            <a:ext cx="365760" cy="365760"/>
          </a:xfrm>
          <a:prstGeom prst="ellipse">
            <a:avLst/>
          </a:prstGeom>
          <a:solidFill>
            <a:srgbClr val="1C7293"/>
          </a:solidFill>
          <a:ln/>
        </p:spPr>
      </p:sp>
      <p:sp>
        <p:nvSpPr>
          <p:cNvPr id="6" name="Text 4"/>
          <p:cNvSpPr/>
          <p:nvPr/>
        </p:nvSpPr>
        <p:spPr>
          <a:xfrm>
            <a:off x="640080" y="14356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25880"/>
            <a:ext cx="3291840" cy="64008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Define what correct means</a:t>
            </a:r>
            <a:endParaRPr lang="en-US" sz="1300" dirty="0"/>
          </a:p>
        </p:txBody>
      </p:sp>
      <p:sp>
        <p:nvSpPr>
          <p:cNvPr id="8" name="Text 6"/>
          <p:cNvSpPr/>
          <p:nvPr/>
        </p:nvSpPr>
        <p:spPr>
          <a:xfrm>
            <a:off x="4663440" y="1325880"/>
            <a:ext cx="6858000" cy="6400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Written, with examples of correct, incorrect and borderline. Owned by the business, not engineering.</a:t>
            </a:r>
            <a:endParaRPr lang="en-US" sz="1150" dirty="0"/>
          </a:p>
        </p:txBody>
      </p:sp>
      <p:sp>
        <p:nvSpPr>
          <p:cNvPr id="9" name="Shape 7"/>
          <p:cNvSpPr/>
          <p:nvPr/>
        </p:nvSpPr>
        <p:spPr>
          <a:xfrm>
            <a:off x="640080" y="2221992"/>
            <a:ext cx="365760" cy="365760"/>
          </a:xfrm>
          <a:prstGeom prst="ellipse">
            <a:avLst/>
          </a:prstGeom>
          <a:solidFill>
            <a:srgbClr val="1C7293"/>
          </a:solidFill>
          <a:ln/>
        </p:spPr>
      </p:sp>
      <p:sp>
        <p:nvSpPr>
          <p:cNvPr id="10" name="Text 8"/>
          <p:cNvSpPr/>
          <p:nvPr/>
        </p:nvSpPr>
        <p:spPr>
          <a:xfrm>
            <a:off x="640080" y="22219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112264"/>
            <a:ext cx="3291840" cy="64008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Choose 50–100 seed cases</a:t>
            </a:r>
            <a:endParaRPr lang="en-US" sz="1300" dirty="0"/>
          </a:p>
        </p:txBody>
      </p:sp>
      <p:sp>
        <p:nvSpPr>
          <p:cNvPr id="12" name="Text 10"/>
          <p:cNvSpPr/>
          <p:nvPr/>
        </p:nvSpPr>
        <p:spPr>
          <a:xfrm>
            <a:off x="4663440" y="2112264"/>
            <a:ext cx="6858000" cy="6400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Cover common cases, known failures, edge cases and each rare class. Quality over volume.</a:t>
            </a:r>
            <a:endParaRPr lang="en-US" sz="1150" dirty="0"/>
          </a:p>
        </p:txBody>
      </p:sp>
      <p:sp>
        <p:nvSpPr>
          <p:cNvPr id="13" name="Shape 11"/>
          <p:cNvSpPr/>
          <p:nvPr/>
        </p:nvSpPr>
        <p:spPr>
          <a:xfrm>
            <a:off x="640080" y="3008376"/>
            <a:ext cx="365760" cy="365760"/>
          </a:xfrm>
          <a:prstGeom prst="ellipse">
            <a:avLst/>
          </a:prstGeom>
          <a:solidFill>
            <a:srgbClr val="1C7293"/>
          </a:solidFill>
          <a:ln/>
        </p:spPr>
      </p:sp>
      <p:sp>
        <p:nvSpPr>
          <p:cNvPr id="14" name="Text 12"/>
          <p:cNvSpPr/>
          <p:nvPr/>
        </p:nvSpPr>
        <p:spPr>
          <a:xfrm>
            <a:off x="640080" y="3008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898648"/>
            <a:ext cx="3291840" cy="64008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Have experts answer independently</a:t>
            </a:r>
            <a:endParaRPr lang="en-US" sz="1300" dirty="0"/>
          </a:p>
        </p:txBody>
      </p:sp>
      <p:sp>
        <p:nvSpPr>
          <p:cNvPr id="16" name="Text 14"/>
          <p:cNvSpPr/>
          <p:nvPr/>
        </p:nvSpPr>
        <p:spPr>
          <a:xfrm>
            <a:off x="4663440" y="2898648"/>
            <a:ext cx="6858000" cy="6400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Two experts where feasible. Their disagreement rate is your realistic ceiling.</a:t>
            </a:r>
            <a:endParaRPr lang="en-US" sz="1150" dirty="0"/>
          </a:p>
        </p:txBody>
      </p:sp>
      <p:sp>
        <p:nvSpPr>
          <p:cNvPr id="17" name="Shape 15"/>
          <p:cNvSpPr/>
          <p:nvPr/>
        </p:nvSpPr>
        <p:spPr>
          <a:xfrm>
            <a:off x="640080" y="3794760"/>
            <a:ext cx="365760" cy="365760"/>
          </a:xfrm>
          <a:prstGeom prst="ellipse">
            <a:avLst/>
          </a:prstGeom>
          <a:solidFill>
            <a:srgbClr val="1C7293"/>
          </a:solidFill>
          <a:ln/>
        </p:spPr>
      </p:sp>
      <p:sp>
        <p:nvSpPr>
          <p:cNvPr id="18" name="Text 16"/>
          <p:cNvSpPr/>
          <p:nvPr/>
        </p:nvSpPr>
        <p:spPr>
          <a:xfrm>
            <a:off x="640080" y="3794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685032"/>
            <a:ext cx="3291840" cy="64008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Resolve disagreements explicitly</a:t>
            </a:r>
            <a:endParaRPr lang="en-US" sz="1300" dirty="0"/>
          </a:p>
        </p:txBody>
      </p:sp>
      <p:sp>
        <p:nvSpPr>
          <p:cNvPr id="20" name="Text 18"/>
          <p:cNvSpPr/>
          <p:nvPr/>
        </p:nvSpPr>
        <p:spPr>
          <a:xfrm>
            <a:off x="4663440" y="3685032"/>
            <a:ext cx="6858000" cy="6400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The discussion produces the written rule. Record the rule, not just the answer.</a:t>
            </a:r>
            <a:endParaRPr lang="en-US" sz="1150" dirty="0"/>
          </a:p>
        </p:txBody>
      </p:sp>
      <p:sp>
        <p:nvSpPr>
          <p:cNvPr id="21" name="Shape 19"/>
          <p:cNvSpPr/>
          <p:nvPr/>
        </p:nvSpPr>
        <p:spPr>
          <a:xfrm>
            <a:off x="640080" y="4581144"/>
            <a:ext cx="365760" cy="365760"/>
          </a:xfrm>
          <a:prstGeom prst="ellipse">
            <a:avLst/>
          </a:prstGeom>
          <a:solidFill>
            <a:srgbClr val="1C7293"/>
          </a:solidFill>
          <a:ln/>
        </p:spPr>
      </p:sp>
      <p:sp>
        <p:nvSpPr>
          <p:cNvPr id="22" name="Text 20"/>
          <p:cNvSpPr/>
          <p:nvPr/>
        </p:nvSpPr>
        <p:spPr>
          <a:xfrm>
            <a:off x="640080" y="45811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471416"/>
            <a:ext cx="3291840" cy="64008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Record provenance and version</a:t>
            </a:r>
            <a:endParaRPr lang="en-US" sz="1300" dirty="0"/>
          </a:p>
        </p:txBody>
      </p:sp>
      <p:sp>
        <p:nvSpPr>
          <p:cNvPr id="24" name="Text 22"/>
          <p:cNvSpPr/>
          <p:nvPr/>
        </p:nvSpPr>
        <p:spPr>
          <a:xfrm>
            <a:off x="4663440" y="4471416"/>
            <a:ext cx="6858000" cy="6400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Which expert, which date, which definition version. Enables audit and comparison over time.</a:t>
            </a:r>
            <a:endParaRPr lang="en-US" sz="1150" dirty="0"/>
          </a:p>
        </p:txBody>
      </p:sp>
      <p:sp>
        <p:nvSpPr>
          <p:cNvPr id="25" name="Shape 23"/>
          <p:cNvSpPr/>
          <p:nvPr/>
        </p:nvSpPr>
        <p:spPr>
          <a:xfrm>
            <a:off x="640080" y="5367528"/>
            <a:ext cx="365760" cy="365760"/>
          </a:xfrm>
          <a:prstGeom prst="ellipse">
            <a:avLst/>
          </a:prstGeom>
          <a:solidFill>
            <a:srgbClr val="1C7293"/>
          </a:solidFill>
          <a:ln/>
        </p:spPr>
      </p:sp>
      <p:sp>
        <p:nvSpPr>
          <p:cNvPr id="26" name="Text 24"/>
          <p:cNvSpPr/>
          <p:nvPr/>
        </p:nvSpPr>
        <p:spPr>
          <a:xfrm>
            <a:off x="640080" y="5367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5257800"/>
            <a:ext cx="3291840" cy="64008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Grow it from failures</a:t>
            </a:r>
            <a:endParaRPr lang="en-US" sz="1300" dirty="0"/>
          </a:p>
        </p:txBody>
      </p:sp>
      <p:sp>
        <p:nvSpPr>
          <p:cNvPr id="28" name="Text 26"/>
          <p:cNvSpPr/>
          <p:nvPr/>
        </p:nvSpPr>
        <p:spPr>
          <a:xfrm>
            <a:off x="4663440" y="5257800"/>
            <a:ext cx="6858000" cy="6400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Every production failure that is fixed becomes a permanent case in the set.</a:t>
            </a:r>
            <a:endParaRPr lang="en-US" sz="1150" dirty="0"/>
          </a:p>
        </p:txBody>
      </p:sp>
      <p:sp>
        <p:nvSpPr>
          <p:cNvPr id="29" name="Text 27"/>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Two or three days of expert time buys a measurement instrument you will use for years.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confusion matrix and the metrics derived from it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28</a:t>
            </a:r>
            <a:endParaRPr lang="en-US" sz="1000" dirty="0"/>
          </a:p>
        </p:txBody>
      </p:sp>
      <p:sp>
        <p:nvSpPr>
          <p:cNvPr id="5" name="Text 3"/>
          <p:cNvSpPr/>
          <p:nvPr/>
        </p:nvSpPr>
        <p:spPr>
          <a:xfrm>
            <a:off x="2286000" y="1463040"/>
            <a:ext cx="4572000" cy="274320"/>
          </a:xfrm>
          <a:prstGeom prst="rect">
            <a:avLst/>
          </a:prstGeom>
          <a:noFill/>
          <a:ln/>
        </p:spPr>
        <p:txBody>
          <a:bodyPr wrap="square" rtlCol="0" anchor="ctr"/>
          <a:lstStyle/>
          <a:p>
            <a:pPr algn="ctr" indent="0" marL="0">
              <a:buNone/>
            </a:pPr>
            <a:r>
              <a:rPr lang="en-US" sz="1200" b="1" dirty="0">
                <a:solidFill>
                  <a:srgbClr val="5A6B7C"/>
                </a:solidFill>
                <a:latin typeface="Calibri" pitchFamily="34" charset="0"/>
                <a:ea typeface="Calibri" pitchFamily="34" charset="-122"/>
                <a:cs typeface="Calibri" pitchFamily="34" charset="-120"/>
              </a:rPr>
              <a:t>Predicted</a:t>
            </a:r>
            <a:endParaRPr lang="en-US" sz="1200" dirty="0"/>
          </a:p>
        </p:txBody>
      </p:sp>
      <p:sp>
        <p:nvSpPr>
          <p:cNvPr id="6" name="Text 4"/>
          <p:cNvSpPr/>
          <p:nvPr/>
        </p:nvSpPr>
        <p:spPr>
          <a:xfrm>
            <a:off x="2286000" y="1691640"/>
            <a:ext cx="2286000" cy="228600"/>
          </a:xfrm>
          <a:prstGeom prst="rect">
            <a:avLst/>
          </a:prstGeom>
          <a:noFill/>
          <a:ln/>
        </p:spPr>
        <p:txBody>
          <a:bodyPr wrap="square" rtlCol="0" anchor="ctr"/>
          <a:lstStyle/>
          <a:p>
            <a:pPr algn="ctr" indent="0" marL="0">
              <a:buNone/>
            </a:pPr>
            <a:r>
              <a:rPr lang="en-US" sz="1100" dirty="0">
                <a:solidFill>
                  <a:srgbClr val="5A6B7C"/>
                </a:solidFill>
                <a:latin typeface="Calibri" pitchFamily="34" charset="0"/>
                <a:ea typeface="Calibri" pitchFamily="34" charset="-122"/>
                <a:cs typeface="Calibri" pitchFamily="34" charset="-120"/>
              </a:rPr>
              <a:t>Positive</a:t>
            </a:r>
            <a:endParaRPr lang="en-US" sz="1100" dirty="0"/>
          </a:p>
        </p:txBody>
      </p:sp>
      <p:sp>
        <p:nvSpPr>
          <p:cNvPr id="7" name="Text 5"/>
          <p:cNvSpPr/>
          <p:nvPr/>
        </p:nvSpPr>
        <p:spPr>
          <a:xfrm>
            <a:off x="4572000" y="1691640"/>
            <a:ext cx="2286000" cy="228600"/>
          </a:xfrm>
          <a:prstGeom prst="rect">
            <a:avLst/>
          </a:prstGeom>
          <a:noFill/>
          <a:ln/>
        </p:spPr>
        <p:txBody>
          <a:bodyPr wrap="square" rtlCol="0" anchor="ctr"/>
          <a:lstStyle/>
          <a:p>
            <a:pPr algn="ctr" indent="0" marL="0">
              <a:buNone/>
            </a:pPr>
            <a:r>
              <a:rPr lang="en-US" sz="1100" dirty="0">
                <a:solidFill>
                  <a:srgbClr val="5A6B7C"/>
                </a:solidFill>
                <a:latin typeface="Calibri" pitchFamily="34" charset="0"/>
                <a:ea typeface="Calibri" pitchFamily="34" charset="-122"/>
                <a:cs typeface="Calibri" pitchFamily="34" charset="-120"/>
              </a:rPr>
              <a:t>Negative</a:t>
            </a:r>
            <a:endParaRPr lang="en-US" sz="1100" dirty="0"/>
          </a:p>
        </p:txBody>
      </p:sp>
      <p:sp>
        <p:nvSpPr>
          <p:cNvPr id="8" name="Text 6"/>
          <p:cNvSpPr/>
          <p:nvPr/>
        </p:nvSpPr>
        <p:spPr>
          <a:xfrm>
            <a:off x="685800" y="2398014"/>
            <a:ext cx="1280160" cy="274320"/>
          </a:xfrm>
          <a:prstGeom prst="rect">
            <a:avLst/>
          </a:prstGeom>
          <a:noFill/>
          <a:ln/>
        </p:spPr>
        <p:txBody>
          <a:bodyPr wrap="square" rtlCol="0" anchor="ctr"/>
          <a:lstStyle/>
          <a:p>
            <a:pPr indent="0" marL="0">
              <a:buNone/>
            </a:pPr>
            <a:r>
              <a:rPr lang="en-US" sz="1200" b="1" dirty="0">
                <a:solidFill>
                  <a:srgbClr val="5A6B7C"/>
                </a:solidFill>
                <a:latin typeface="Calibri" pitchFamily="34" charset="0"/>
                <a:ea typeface="Calibri" pitchFamily="34" charset="-122"/>
                <a:cs typeface="Calibri" pitchFamily="34" charset="-120"/>
              </a:rPr>
              <a:t>Actual</a:t>
            </a:r>
            <a:endParaRPr lang="en-US" sz="1200" dirty="0"/>
          </a:p>
        </p:txBody>
      </p:sp>
      <p:sp>
        <p:nvSpPr>
          <p:cNvPr id="9" name="Text 7"/>
          <p:cNvSpPr/>
          <p:nvPr/>
        </p:nvSpPr>
        <p:spPr>
          <a:xfrm>
            <a:off x="685800" y="2176272"/>
            <a:ext cx="1371600" cy="256032"/>
          </a:xfrm>
          <a:prstGeom prst="rect">
            <a:avLst/>
          </a:prstGeom>
          <a:noFill/>
          <a:ln/>
        </p:spPr>
        <p:txBody>
          <a:bodyPr wrap="square"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Positive</a:t>
            </a:r>
            <a:endParaRPr lang="en-US" sz="1100" dirty="0"/>
          </a:p>
        </p:txBody>
      </p:sp>
      <p:sp>
        <p:nvSpPr>
          <p:cNvPr id="10" name="Text 8"/>
          <p:cNvSpPr/>
          <p:nvPr/>
        </p:nvSpPr>
        <p:spPr>
          <a:xfrm>
            <a:off x="685800" y="3044952"/>
            <a:ext cx="1371600" cy="256032"/>
          </a:xfrm>
          <a:prstGeom prst="rect">
            <a:avLst/>
          </a:prstGeom>
          <a:noFill/>
          <a:ln/>
        </p:spPr>
        <p:txBody>
          <a:bodyPr wrap="square"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Negative</a:t>
            </a:r>
            <a:endParaRPr lang="en-US" sz="1100" dirty="0"/>
          </a:p>
        </p:txBody>
      </p:sp>
      <p:sp>
        <p:nvSpPr>
          <p:cNvPr id="11" name="Shape 9"/>
          <p:cNvSpPr/>
          <p:nvPr/>
        </p:nvSpPr>
        <p:spPr>
          <a:xfrm>
            <a:off x="2286000" y="1920240"/>
            <a:ext cx="2286000" cy="868680"/>
          </a:xfrm>
          <a:prstGeom prst="rect">
            <a:avLst/>
          </a:prstGeom>
          <a:solidFill>
            <a:srgbClr val="EDF5EE"/>
          </a:solidFill>
          <a:ln w="12700">
            <a:solidFill>
              <a:srgbClr val="D9E5DC"/>
            </a:solidFill>
            <a:prstDash val="solid"/>
          </a:ln>
        </p:spPr>
      </p:sp>
      <p:sp>
        <p:nvSpPr>
          <p:cNvPr id="12" name="Text 10"/>
          <p:cNvSpPr/>
          <p:nvPr/>
        </p:nvSpPr>
        <p:spPr>
          <a:xfrm>
            <a:off x="2286000" y="1920240"/>
            <a:ext cx="2286000" cy="868680"/>
          </a:xfrm>
          <a:prstGeom prst="rect">
            <a:avLst/>
          </a:prstGeom>
          <a:noFill/>
          <a:ln/>
        </p:spPr>
        <p:txBody>
          <a:bodyPr wrap="square" lIns="0" tIns="0" rIns="0" bIns="0" rtlCol="0" anchor="ctr"/>
          <a:lstStyle/>
          <a:p>
            <a:pPr algn="ctr" indent="0" marL="0">
              <a:buNone/>
            </a:pPr>
            <a:r>
              <a:rPr lang="en-US" sz="1250" b="1" dirty="0">
                <a:solidFill>
                  <a:srgbClr val="1E7A3C"/>
                </a:solidFill>
                <a:latin typeface="Calibri" pitchFamily="34" charset="0"/>
                <a:ea typeface="Calibri" pitchFamily="34" charset="-122"/>
                <a:cs typeface="Calibri" pitchFamily="34" charset="-120"/>
              </a:rPr>
              <a:t>True positive</a:t>
            </a:r>
            <a:endParaRPr lang="en-US" sz="1250" dirty="0"/>
          </a:p>
        </p:txBody>
      </p:sp>
      <p:sp>
        <p:nvSpPr>
          <p:cNvPr id="13" name="Shape 11"/>
          <p:cNvSpPr/>
          <p:nvPr/>
        </p:nvSpPr>
        <p:spPr>
          <a:xfrm>
            <a:off x="4572000" y="1920240"/>
            <a:ext cx="2286000" cy="868680"/>
          </a:xfrm>
          <a:prstGeom prst="rect">
            <a:avLst/>
          </a:prstGeom>
          <a:solidFill>
            <a:srgbClr val="FBEEE8"/>
          </a:solidFill>
          <a:ln w="12700">
            <a:solidFill>
              <a:srgbClr val="D9E5DC"/>
            </a:solidFill>
            <a:prstDash val="solid"/>
          </a:ln>
        </p:spPr>
      </p:sp>
      <p:sp>
        <p:nvSpPr>
          <p:cNvPr id="14" name="Text 12"/>
          <p:cNvSpPr/>
          <p:nvPr/>
        </p:nvSpPr>
        <p:spPr>
          <a:xfrm>
            <a:off x="4572000" y="1920240"/>
            <a:ext cx="2286000" cy="868680"/>
          </a:xfrm>
          <a:prstGeom prst="rect">
            <a:avLst/>
          </a:prstGeom>
          <a:noFill/>
          <a:ln/>
        </p:spPr>
        <p:txBody>
          <a:bodyPr wrap="square" lIns="0" tIns="0" rIns="0" bIns="0" rtlCol="0" anchor="ctr"/>
          <a:lstStyle/>
          <a:p>
            <a:pPr algn="ctr" indent="0" marL="0">
              <a:buNone/>
            </a:pPr>
            <a:r>
              <a:rPr lang="en-US" sz="1250" b="1" dirty="0">
                <a:solidFill>
                  <a:srgbClr val="21295C"/>
                </a:solidFill>
                <a:latin typeface="Calibri" pitchFamily="34" charset="0"/>
                <a:ea typeface="Calibri" pitchFamily="34" charset="-122"/>
                <a:cs typeface="Calibri" pitchFamily="34" charset="-120"/>
              </a:rPr>
              <a:t>False negative</a:t>
            </a:r>
            <a:endParaRPr lang="en-US" sz="1250" dirty="0"/>
          </a:p>
        </p:txBody>
      </p:sp>
      <p:sp>
        <p:nvSpPr>
          <p:cNvPr id="15" name="Shape 13"/>
          <p:cNvSpPr/>
          <p:nvPr/>
        </p:nvSpPr>
        <p:spPr>
          <a:xfrm>
            <a:off x="2286000" y="2788920"/>
            <a:ext cx="2286000" cy="868680"/>
          </a:xfrm>
          <a:prstGeom prst="rect">
            <a:avLst/>
          </a:prstGeom>
          <a:solidFill>
            <a:srgbClr val="FBEEE8"/>
          </a:solidFill>
          <a:ln w="12700">
            <a:solidFill>
              <a:srgbClr val="D9E5DC"/>
            </a:solidFill>
            <a:prstDash val="solid"/>
          </a:ln>
        </p:spPr>
      </p:sp>
      <p:sp>
        <p:nvSpPr>
          <p:cNvPr id="16" name="Text 14"/>
          <p:cNvSpPr/>
          <p:nvPr/>
        </p:nvSpPr>
        <p:spPr>
          <a:xfrm>
            <a:off x="2286000" y="2788920"/>
            <a:ext cx="2286000" cy="868680"/>
          </a:xfrm>
          <a:prstGeom prst="rect">
            <a:avLst/>
          </a:prstGeom>
          <a:noFill/>
          <a:ln/>
        </p:spPr>
        <p:txBody>
          <a:bodyPr wrap="square" lIns="0" tIns="0" rIns="0" bIns="0" rtlCol="0" anchor="ctr"/>
          <a:lstStyle/>
          <a:p>
            <a:pPr algn="ctr" indent="0" marL="0">
              <a:buNone/>
            </a:pPr>
            <a:r>
              <a:rPr lang="en-US" sz="1250" b="1" dirty="0">
                <a:solidFill>
                  <a:srgbClr val="C1440E"/>
                </a:solidFill>
                <a:latin typeface="Calibri" pitchFamily="34" charset="0"/>
                <a:ea typeface="Calibri" pitchFamily="34" charset="-122"/>
                <a:cs typeface="Calibri" pitchFamily="34" charset="-120"/>
              </a:rPr>
              <a:t>False positive</a:t>
            </a:r>
            <a:endParaRPr lang="en-US" sz="1250" dirty="0"/>
          </a:p>
        </p:txBody>
      </p:sp>
      <p:sp>
        <p:nvSpPr>
          <p:cNvPr id="17" name="Shape 15"/>
          <p:cNvSpPr/>
          <p:nvPr/>
        </p:nvSpPr>
        <p:spPr>
          <a:xfrm>
            <a:off x="4572000" y="2788920"/>
            <a:ext cx="2286000" cy="868680"/>
          </a:xfrm>
          <a:prstGeom prst="rect">
            <a:avLst/>
          </a:prstGeom>
          <a:solidFill>
            <a:srgbClr val="EDF5EE"/>
          </a:solidFill>
          <a:ln w="12700">
            <a:solidFill>
              <a:srgbClr val="D9E5DC"/>
            </a:solidFill>
            <a:prstDash val="solid"/>
          </a:ln>
        </p:spPr>
      </p:sp>
      <p:sp>
        <p:nvSpPr>
          <p:cNvPr id="18" name="Text 16"/>
          <p:cNvSpPr/>
          <p:nvPr/>
        </p:nvSpPr>
        <p:spPr>
          <a:xfrm>
            <a:off x="4572000" y="2788920"/>
            <a:ext cx="2286000" cy="868680"/>
          </a:xfrm>
          <a:prstGeom prst="rect">
            <a:avLst/>
          </a:prstGeom>
          <a:noFill/>
          <a:ln/>
        </p:spPr>
        <p:txBody>
          <a:bodyPr wrap="square" lIns="0" tIns="0" rIns="0" bIns="0" rtlCol="0" anchor="ctr"/>
          <a:lstStyle/>
          <a:p>
            <a:pPr algn="ctr" indent="0" marL="0">
              <a:buNone/>
            </a:pPr>
            <a:r>
              <a:rPr lang="en-US" sz="1250" b="1" dirty="0">
                <a:solidFill>
                  <a:srgbClr val="1E7A3C"/>
                </a:solidFill>
                <a:latin typeface="Calibri" pitchFamily="34" charset="0"/>
                <a:ea typeface="Calibri" pitchFamily="34" charset="-122"/>
                <a:cs typeface="Calibri" pitchFamily="34" charset="-120"/>
              </a:rPr>
              <a:t>True negative</a:t>
            </a:r>
            <a:endParaRPr lang="en-US" sz="1250" dirty="0"/>
          </a:p>
        </p:txBody>
      </p:sp>
      <p:sp>
        <p:nvSpPr>
          <p:cNvPr id="19" name="Text 17"/>
          <p:cNvSpPr/>
          <p:nvPr/>
        </p:nvSpPr>
        <p:spPr>
          <a:xfrm>
            <a:off x="7315200" y="1600200"/>
            <a:ext cx="2103120" cy="2743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Precision</a:t>
            </a:r>
            <a:endParaRPr lang="en-US" sz="1250" dirty="0"/>
          </a:p>
        </p:txBody>
      </p:sp>
      <p:sp>
        <p:nvSpPr>
          <p:cNvPr id="20" name="Text 18"/>
          <p:cNvSpPr/>
          <p:nvPr/>
        </p:nvSpPr>
        <p:spPr>
          <a:xfrm>
            <a:off x="9509760" y="1600200"/>
            <a:ext cx="2011680" cy="27432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TP / (TP + FP)</a:t>
            </a:r>
            <a:endParaRPr lang="en-US" sz="1100" dirty="0"/>
          </a:p>
        </p:txBody>
      </p:sp>
      <p:sp>
        <p:nvSpPr>
          <p:cNvPr id="21" name="Text 19"/>
          <p:cNvSpPr/>
          <p:nvPr/>
        </p:nvSpPr>
        <p:spPr>
          <a:xfrm>
            <a:off x="7315200" y="1856232"/>
            <a:ext cx="4206240" cy="274320"/>
          </a:xfrm>
          <a:prstGeom prst="rect">
            <a:avLst/>
          </a:prstGeom>
          <a:noFill/>
          <a:ln/>
        </p:spPr>
        <p:txBody>
          <a:bodyPr wrap="square" lIns="0" tIns="0" rIns="0" bIns="0" rtlCol="0" anchor="ctr"/>
          <a:lstStyle/>
          <a:p>
            <a:pPr indent="0" marL="0">
              <a:buNone/>
            </a:pPr>
            <a:r>
              <a:rPr lang="en-US" sz="1050" dirty="0">
                <a:solidFill>
                  <a:srgbClr val="5A6B7C"/>
                </a:solidFill>
                <a:latin typeface="Calibri" pitchFamily="34" charset="0"/>
                <a:ea typeface="Calibri" pitchFamily="34" charset="-122"/>
                <a:cs typeface="Calibri" pitchFamily="34" charset="-120"/>
              </a:rPr>
              <a:t>Of what was flagged, how much was right</a:t>
            </a:r>
            <a:endParaRPr lang="en-US" sz="1050" dirty="0"/>
          </a:p>
        </p:txBody>
      </p:sp>
      <p:sp>
        <p:nvSpPr>
          <p:cNvPr id="22" name="Text 20"/>
          <p:cNvSpPr/>
          <p:nvPr/>
        </p:nvSpPr>
        <p:spPr>
          <a:xfrm>
            <a:off x="7315200" y="2313432"/>
            <a:ext cx="2103120" cy="2743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Recall / sensitivity</a:t>
            </a:r>
            <a:endParaRPr lang="en-US" sz="1250" dirty="0"/>
          </a:p>
        </p:txBody>
      </p:sp>
      <p:sp>
        <p:nvSpPr>
          <p:cNvPr id="23" name="Text 21"/>
          <p:cNvSpPr/>
          <p:nvPr/>
        </p:nvSpPr>
        <p:spPr>
          <a:xfrm>
            <a:off x="9509760" y="2313432"/>
            <a:ext cx="2011680" cy="27432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TP / (TP + FN)</a:t>
            </a:r>
            <a:endParaRPr lang="en-US" sz="1100" dirty="0"/>
          </a:p>
        </p:txBody>
      </p:sp>
      <p:sp>
        <p:nvSpPr>
          <p:cNvPr id="24" name="Text 22"/>
          <p:cNvSpPr/>
          <p:nvPr/>
        </p:nvSpPr>
        <p:spPr>
          <a:xfrm>
            <a:off x="7315200" y="2569464"/>
            <a:ext cx="4206240" cy="274320"/>
          </a:xfrm>
          <a:prstGeom prst="rect">
            <a:avLst/>
          </a:prstGeom>
          <a:noFill/>
          <a:ln/>
        </p:spPr>
        <p:txBody>
          <a:bodyPr wrap="square" lIns="0" tIns="0" rIns="0" bIns="0" rtlCol="0" anchor="ctr"/>
          <a:lstStyle/>
          <a:p>
            <a:pPr indent="0" marL="0">
              <a:buNone/>
            </a:pPr>
            <a:r>
              <a:rPr lang="en-US" sz="1050" dirty="0">
                <a:solidFill>
                  <a:srgbClr val="5A6B7C"/>
                </a:solidFill>
                <a:latin typeface="Calibri" pitchFamily="34" charset="0"/>
                <a:ea typeface="Calibri" pitchFamily="34" charset="-122"/>
                <a:cs typeface="Calibri" pitchFamily="34" charset="-120"/>
              </a:rPr>
              <a:t>Of what mattered, how much was caught</a:t>
            </a:r>
            <a:endParaRPr lang="en-US" sz="1050" dirty="0"/>
          </a:p>
        </p:txBody>
      </p:sp>
      <p:sp>
        <p:nvSpPr>
          <p:cNvPr id="25" name="Text 23"/>
          <p:cNvSpPr/>
          <p:nvPr/>
        </p:nvSpPr>
        <p:spPr>
          <a:xfrm>
            <a:off x="7315200" y="3026664"/>
            <a:ext cx="2103120" cy="2743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Specificity</a:t>
            </a:r>
            <a:endParaRPr lang="en-US" sz="1250" dirty="0"/>
          </a:p>
        </p:txBody>
      </p:sp>
      <p:sp>
        <p:nvSpPr>
          <p:cNvPr id="26" name="Text 24"/>
          <p:cNvSpPr/>
          <p:nvPr/>
        </p:nvSpPr>
        <p:spPr>
          <a:xfrm>
            <a:off x="9509760" y="3026664"/>
            <a:ext cx="2011680" cy="27432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TN / (TN + FP)</a:t>
            </a:r>
            <a:endParaRPr lang="en-US" sz="1100" dirty="0"/>
          </a:p>
        </p:txBody>
      </p:sp>
      <p:sp>
        <p:nvSpPr>
          <p:cNvPr id="27" name="Text 25"/>
          <p:cNvSpPr/>
          <p:nvPr/>
        </p:nvSpPr>
        <p:spPr>
          <a:xfrm>
            <a:off x="7315200" y="3282696"/>
            <a:ext cx="4206240" cy="274320"/>
          </a:xfrm>
          <a:prstGeom prst="rect">
            <a:avLst/>
          </a:prstGeom>
          <a:noFill/>
          <a:ln/>
        </p:spPr>
        <p:txBody>
          <a:bodyPr wrap="square" lIns="0" tIns="0" rIns="0" bIns="0" rtlCol="0" anchor="ctr"/>
          <a:lstStyle/>
          <a:p>
            <a:pPr indent="0" marL="0">
              <a:buNone/>
            </a:pPr>
            <a:r>
              <a:rPr lang="en-US" sz="1050" dirty="0">
                <a:solidFill>
                  <a:srgbClr val="5A6B7C"/>
                </a:solidFill>
                <a:latin typeface="Calibri" pitchFamily="34" charset="0"/>
                <a:ea typeface="Calibri" pitchFamily="34" charset="-122"/>
                <a:cs typeface="Calibri" pitchFamily="34" charset="-120"/>
              </a:rPr>
              <a:t>Of the negatives, how many were left alone</a:t>
            </a:r>
            <a:endParaRPr lang="en-US" sz="1050" dirty="0"/>
          </a:p>
        </p:txBody>
      </p:sp>
      <p:sp>
        <p:nvSpPr>
          <p:cNvPr id="28" name="Text 26"/>
          <p:cNvSpPr/>
          <p:nvPr/>
        </p:nvSpPr>
        <p:spPr>
          <a:xfrm>
            <a:off x="7315200" y="3739896"/>
            <a:ext cx="2103120" cy="2743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F1</a:t>
            </a:r>
            <a:endParaRPr lang="en-US" sz="1250" dirty="0"/>
          </a:p>
        </p:txBody>
      </p:sp>
      <p:sp>
        <p:nvSpPr>
          <p:cNvPr id="29" name="Text 27"/>
          <p:cNvSpPr/>
          <p:nvPr/>
        </p:nvSpPr>
        <p:spPr>
          <a:xfrm>
            <a:off x="9509760" y="3739896"/>
            <a:ext cx="2011680" cy="27432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2PR / (P + R)</a:t>
            </a:r>
            <a:endParaRPr lang="en-US" sz="1100" dirty="0"/>
          </a:p>
        </p:txBody>
      </p:sp>
      <p:sp>
        <p:nvSpPr>
          <p:cNvPr id="30" name="Text 28"/>
          <p:cNvSpPr/>
          <p:nvPr/>
        </p:nvSpPr>
        <p:spPr>
          <a:xfrm>
            <a:off x="7315200" y="3995928"/>
            <a:ext cx="4206240" cy="274320"/>
          </a:xfrm>
          <a:prstGeom prst="rect">
            <a:avLst/>
          </a:prstGeom>
          <a:noFill/>
          <a:ln/>
        </p:spPr>
        <p:txBody>
          <a:bodyPr wrap="square" lIns="0" tIns="0" rIns="0" bIns="0" rtlCol="0" anchor="ctr"/>
          <a:lstStyle/>
          <a:p>
            <a:pPr indent="0" marL="0">
              <a:buNone/>
            </a:pPr>
            <a:r>
              <a:rPr lang="en-US" sz="1050" dirty="0">
                <a:solidFill>
                  <a:srgbClr val="5A6B7C"/>
                </a:solidFill>
                <a:latin typeface="Calibri" pitchFamily="34" charset="0"/>
                <a:ea typeface="Calibri" pitchFamily="34" charset="-122"/>
                <a:cs typeface="Calibri" pitchFamily="34" charset="-120"/>
              </a:rPr>
              <a:t>Harmonic mean, equal weight</a:t>
            </a:r>
            <a:endParaRPr lang="en-US" sz="1050" dirty="0"/>
          </a:p>
        </p:txBody>
      </p:sp>
      <p:sp>
        <p:nvSpPr>
          <p:cNvPr id="31" name="Text 29"/>
          <p:cNvSpPr/>
          <p:nvPr/>
        </p:nvSpPr>
        <p:spPr>
          <a:xfrm>
            <a:off x="7315200" y="4453128"/>
            <a:ext cx="2103120" cy="2743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F-beta</a:t>
            </a:r>
            <a:endParaRPr lang="en-US" sz="1250" dirty="0"/>
          </a:p>
        </p:txBody>
      </p:sp>
      <p:sp>
        <p:nvSpPr>
          <p:cNvPr id="32" name="Text 30"/>
          <p:cNvSpPr/>
          <p:nvPr/>
        </p:nvSpPr>
        <p:spPr>
          <a:xfrm>
            <a:off x="9509760" y="4453128"/>
            <a:ext cx="2011680" cy="27432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weighted harmonic mean</a:t>
            </a:r>
            <a:endParaRPr lang="en-US" sz="1100" dirty="0"/>
          </a:p>
        </p:txBody>
      </p:sp>
      <p:sp>
        <p:nvSpPr>
          <p:cNvPr id="33" name="Text 31"/>
          <p:cNvSpPr/>
          <p:nvPr/>
        </p:nvSpPr>
        <p:spPr>
          <a:xfrm>
            <a:off x="7315200" y="4709160"/>
            <a:ext cx="4206240" cy="274320"/>
          </a:xfrm>
          <a:prstGeom prst="rect">
            <a:avLst/>
          </a:prstGeom>
          <a:noFill/>
          <a:ln/>
        </p:spPr>
        <p:txBody>
          <a:bodyPr wrap="square" lIns="0" tIns="0" rIns="0" bIns="0" rtlCol="0" anchor="ctr"/>
          <a:lstStyle/>
          <a:p>
            <a:pPr indent="0" marL="0">
              <a:buNone/>
            </a:pPr>
            <a:r>
              <a:rPr lang="en-US" sz="1050" dirty="0">
                <a:solidFill>
                  <a:srgbClr val="5A6B7C"/>
                </a:solidFill>
                <a:latin typeface="Calibri" pitchFamily="34" charset="0"/>
                <a:ea typeface="Calibri" pitchFamily="34" charset="-122"/>
                <a:cs typeface="Calibri" pitchFamily="34" charset="-120"/>
              </a:rPr>
              <a:t>β&gt;1 favours recall, β&lt;1 favours precision</a:t>
            </a:r>
            <a:endParaRPr lang="en-US" sz="1050" dirty="0"/>
          </a:p>
        </p:txBody>
      </p:sp>
      <p:sp>
        <p:nvSpPr>
          <p:cNvPr id="34" name="Text 32"/>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Precision and recall trade against each other. Which you favour is a business decision, not a technical one.</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Beyond precision and recall — metrics worth knowing</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29</a:t>
            </a:r>
            <a:endParaRPr lang="en-US" sz="1000" dirty="0"/>
          </a:p>
        </p:txBody>
      </p:sp>
      <p:sp>
        <p:nvSpPr>
          <p:cNvPr id="5" name="Shape 3"/>
          <p:cNvSpPr/>
          <p:nvPr/>
        </p:nvSpPr>
        <p:spPr>
          <a:xfrm>
            <a:off x="640080" y="1280160"/>
            <a:ext cx="2468880" cy="384048"/>
          </a:xfrm>
          <a:prstGeom prst="rect">
            <a:avLst/>
          </a:prstGeom>
          <a:solidFill>
            <a:srgbClr val="21295C"/>
          </a:solidFill>
          <a:ln/>
        </p:spPr>
      </p:sp>
      <p:sp>
        <p:nvSpPr>
          <p:cNvPr id="6" name="Text 4"/>
          <p:cNvSpPr/>
          <p:nvPr/>
        </p:nvSpPr>
        <p:spPr>
          <a:xfrm>
            <a:off x="749808" y="1280160"/>
            <a:ext cx="22494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p>
        </p:txBody>
      </p:sp>
      <p:sp>
        <p:nvSpPr>
          <p:cNvPr id="7" name="Shape 5"/>
          <p:cNvSpPr/>
          <p:nvPr/>
        </p:nvSpPr>
        <p:spPr>
          <a:xfrm>
            <a:off x="3108960" y="1280160"/>
            <a:ext cx="3931920" cy="384048"/>
          </a:xfrm>
          <a:prstGeom prst="rect">
            <a:avLst/>
          </a:prstGeom>
          <a:solidFill>
            <a:srgbClr val="21295C"/>
          </a:solidFill>
          <a:ln/>
        </p:spPr>
      </p:sp>
      <p:sp>
        <p:nvSpPr>
          <p:cNvPr id="8" name="Text 6"/>
          <p:cNvSpPr/>
          <p:nvPr/>
        </p:nvSpPr>
        <p:spPr>
          <a:xfrm>
            <a:off x="3218688" y="1280160"/>
            <a:ext cx="37124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it adds</a:t>
            </a:r>
            <a:endParaRPr lang="en-US" sz="1100" dirty="0"/>
          </a:p>
        </p:txBody>
      </p:sp>
      <p:sp>
        <p:nvSpPr>
          <p:cNvPr id="9" name="Shape 7"/>
          <p:cNvSpPr/>
          <p:nvPr/>
        </p:nvSpPr>
        <p:spPr>
          <a:xfrm>
            <a:off x="7040880" y="1280160"/>
            <a:ext cx="4480560" cy="384048"/>
          </a:xfrm>
          <a:prstGeom prst="rect">
            <a:avLst/>
          </a:prstGeom>
          <a:solidFill>
            <a:srgbClr val="21295C"/>
          </a:solidFill>
          <a:ln/>
        </p:spPr>
      </p:sp>
      <p:sp>
        <p:nvSpPr>
          <p:cNvPr id="10" name="Text 8"/>
          <p:cNvSpPr/>
          <p:nvPr/>
        </p:nvSpPr>
        <p:spPr>
          <a:xfrm>
            <a:off x="7150608" y="1280160"/>
            <a:ext cx="42611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When to reach for it</a:t>
            </a:r>
            <a:endParaRPr lang="en-US" sz="1100" dirty="0"/>
          </a:p>
        </p:txBody>
      </p:sp>
      <p:sp>
        <p:nvSpPr>
          <p:cNvPr id="11" name="Shape 9"/>
          <p:cNvSpPr/>
          <p:nvPr/>
        </p:nvSpPr>
        <p:spPr>
          <a:xfrm>
            <a:off x="640080" y="1664208"/>
            <a:ext cx="2468880" cy="548640"/>
          </a:xfrm>
          <a:prstGeom prst="rect">
            <a:avLst/>
          </a:prstGeom>
          <a:solidFill>
            <a:srgbClr val="FFFFFF"/>
          </a:solidFill>
          <a:ln w="9525">
            <a:solidFill>
              <a:srgbClr val="E3EBF0"/>
            </a:solidFill>
            <a:prstDash val="solid"/>
          </a:ln>
        </p:spPr>
      </p:sp>
      <p:sp>
        <p:nvSpPr>
          <p:cNvPr id="12" name="Text 10"/>
          <p:cNvSpPr/>
          <p:nvPr/>
        </p:nvSpPr>
        <p:spPr>
          <a:xfrm>
            <a:off x="749808" y="1664208"/>
            <a:ext cx="22494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PR-AUC</a:t>
            </a:r>
            <a:endParaRPr lang="en-US" sz="1050" dirty="0"/>
          </a:p>
        </p:txBody>
      </p:sp>
      <p:sp>
        <p:nvSpPr>
          <p:cNvPr id="13" name="Shape 11"/>
          <p:cNvSpPr/>
          <p:nvPr/>
        </p:nvSpPr>
        <p:spPr>
          <a:xfrm>
            <a:off x="3108960" y="1664208"/>
            <a:ext cx="3931920" cy="548640"/>
          </a:xfrm>
          <a:prstGeom prst="rect">
            <a:avLst/>
          </a:prstGeom>
          <a:solidFill>
            <a:srgbClr val="FFFFFF"/>
          </a:solidFill>
          <a:ln w="9525">
            <a:solidFill>
              <a:srgbClr val="E3EBF0"/>
            </a:solidFill>
            <a:prstDash val="solid"/>
          </a:ln>
        </p:spPr>
      </p:sp>
      <p:sp>
        <p:nvSpPr>
          <p:cNvPr id="14" name="Text 12"/>
          <p:cNvSpPr/>
          <p:nvPr/>
        </p:nvSpPr>
        <p:spPr>
          <a:xfrm>
            <a:off x="3218688" y="1664208"/>
            <a:ext cx="3712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Area under the precision-recall curve</a:t>
            </a:r>
            <a:endParaRPr lang="en-US" sz="1050" dirty="0"/>
          </a:p>
        </p:txBody>
      </p:sp>
      <p:sp>
        <p:nvSpPr>
          <p:cNvPr id="15" name="Shape 13"/>
          <p:cNvSpPr/>
          <p:nvPr/>
        </p:nvSpPr>
        <p:spPr>
          <a:xfrm>
            <a:off x="7040880" y="1664208"/>
            <a:ext cx="4480560" cy="548640"/>
          </a:xfrm>
          <a:prstGeom prst="rect">
            <a:avLst/>
          </a:prstGeom>
          <a:solidFill>
            <a:srgbClr val="FFFFFF"/>
          </a:solidFill>
          <a:ln w="9525">
            <a:solidFill>
              <a:srgbClr val="E3EBF0"/>
            </a:solidFill>
            <a:prstDash val="solid"/>
          </a:ln>
        </p:spPr>
      </p:sp>
      <p:sp>
        <p:nvSpPr>
          <p:cNvPr id="16" name="Text 14"/>
          <p:cNvSpPr/>
          <p:nvPr/>
        </p:nvSpPr>
        <p:spPr>
          <a:xfrm>
            <a:off x="7150608" y="166420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Imbalanced problems — far more informative than ROC-AUC</a:t>
            </a:r>
            <a:endParaRPr lang="en-US" sz="1050" dirty="0"/>
          </a:p>
        </p:txBody>
      </p:sp>
      <p:sp>
        <p:nvSpPr>
          <p:cNvPr id="17" name="Shape 15"/>
          <p:cNvSpPr/>
          <p:nvPr/>
        </p:nvSpPr>
        <p:spPr>
          <a:xfrm>
            <a:off x="640080" y="2212848"/>
            <a:ext cx="2468880" cy="548640"/>
          </a:xfrm>
          <a:prstGeom prst="rect">
            <a:avLst/>
          </a:prstGeom>
          <a:solidFill>
            <a:srgbClr val="F5F9FB"/>
          </a:solidFill>
          <a:ln w="9525">
            <a:solidFill>
              <a:srgbClr val="E3EBF0"/>
            </a:solidFill>
            <a:prstDash val="solid"/>
          </a:ln>
        </p:spPr>
      </p:sp>
      <p:sp>
        <p:nvSpPr>
          <p:cNvPr id="18" name="Text 16"/>
          <p:cNvSpPr/>
          <p:nvPr/>
        </p:nvSpPr>
        <p:spPr>
          <a:xfrm>
            <a:off x="749808" y="2212848"/>
            <a:ext cx="22494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Matthews correlation</a:t>
            </a:r>
            <a:endParaRPr lang="en-US" sz="1050" dirty="0"/>
          </a:p>
        </p:txBody>
      </p:sp>
      <p:sp>
        <p:nvSpPr>
          <p:cNvPr id="19" name="Shape 17"/>
          <p:cNvSpPr/>
          <p:nvPr/>
        </p:nvSpPr>
        <p:spPr>
          <a:xfrm>
            <a:off x="3108960" y="2212848"/>
            <a:ext cx="3931920" cy="548640"/>
          </a:xfrm>
          <a:prstGeom prst="rect">
            <a:avLst/>
          </a:prstGeom>
          <a:solidFill>
            <a:srgbClr val="F5F9FB"/>
          </a:solidFill>
          <a:ln w="9525">
            <a:solidFill>
              <a:srgbClr val="E3EBF0"/>
            </a:solidFill>
            <a:prstDash val="solid"/>
          </a:ln>
        </p:spPr>
      </p:sp>
      <p:sp>
        <p:nvSpPr>
          <p:cNvPr id="20" name="Text 18"/>
          <p:cNvSpPr/>
          <p:nvPr/>
        </p:nvSpPr>
        <p:spPr>
          <a:xfrm>
            <a:off x="3218688" y="2212848"/>
            <a:ext cx="3712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Balanced measure using all four matrix cells</a:t>
            </a:r>
            <a:endParaRPr lang="en-US" sz="1050" dirty="0"/>
          </a:p>
        </p:txBody>
      </p:sp>
      <p:sp>
        <p:nvSpPr>
          <p:cNvPr id="21" name="Shape 19"/>
          <p:cNvSpPr/>
          <p:nvPr/>
        </p:nvSpPr>
        <p:spPr>
          <a:xfrm>
            <a:off x="7040880" y="2212848"/>
            <a:ext cx="4480560" cy="548640"/>
          </a:xfrm>
          <a:prstGeom prst="rect">
            <a:avLst/>
          </a:prstGeom>
          <a:solidFill>
            <a:srgbClr val="F5F9FB"/>
          </a:solidFill>
          <a:ln w="9525">
            <a:solidFill>
              <a:srgbClr val="E3EBF0"/>
            </a:solidFill>
            <a:prstDash val="solid"/>
          </a:ln>
        </p:spPr>
      </p:sp>
      <p:sp>
        <p:nvSpPr>
          <p:cNvPr id="22" name="Text 20"/>
          <p:cNvSpPr/>
          <p:nvPr/>
        </p:nvSpPr>
        <p:spPr>
          <a:xfrm>
            <a:off x="7150608" y="221284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 single robust number under imbalance</a:t>
            </a:r>
            <a:endParaRPr lang="en-US" sz="1050" dirty="0"/>
          </a:p>
        </p:txBody>
      </p:sp>
      <p:sp>
        <p:nvSpPr>
          <p:cNvPr id="23" name="Shape 21"/>
          <p:cNvSpPr/>
          <p:nvPr/>
        </p:nvSpPr>
        <p:spPr>
          <a:xfrm>
            <a:off x="640080" y="2761488"/>
            <a:ext cx="2468880" cy="548640"/>
          </a:xfrm>
          <a:prstGeom prst="rect">
            <a:avLst/>
          </a:prstGeom>
          <a:solidFill>
            <a:srgbClr val="FFFFFF"/>
          </a:solidFill>
          <a:ln w="9525">
            <a:solidFill>
              <a:srgbClr val="E3EBF0"/>
            </a:solidFill>
            <a:prstDash val="solid"/>
          </a:ln>
        </p:spPr>
      </p:sp>
      <p:sp>
        <p:nvSpPr>
          <p:cNvPr id="24" name="Text 22"/>
          <p:cNvSpPr/>
          <p:nvPr/>
        </p:nvSpPr>
        <p:spPr>
          <a:xfrm>
            <a:off x="749808" y="2761488"/>
            <a:ext cx="22494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Balanced accuracy</a:t>
            </a:r>
            <a:endParaRPr lang="en-US" sz="1050" dirty="0"/>
          </a:p>
        </p:txBody>
      </p:sp>
      <p:sp>
        <p:nvSpPr>
          <p:cNvPr id="25" name="Shape 23"/>
          <p:cNvSpPr/>
          <p:nvPr/>
        </p:nvSpPr>
        <p:spPr>
          <a:xfrm>
            <a:off x="3108960" y="2761488"/>
            <a:ext cx="3931920" cy="548640"/>
          </a:xfrm>
          <a:prstGeom prst="rect">
            <a:avLst/>
          </a:prstGeom>
          <a:solidFill>
            <a:srgbClr val="FFFFFF"/>
          </a:solidFill>
          <a:ln w="9525">
            <a:solidFill>
              <a:srgbClr val="E3EBF0"/>
            </a:solidFill>
            <a:prstDash val="solid"/>
          </a:ln>
        </p:spPr>
      </p:sp>
      <p:sp>
        <p:nvSpPr>
          <p:cNvPr id="26" name="Text 24"/>
          <p:cNvSpPr/>
          <p:nvPr/>
        </p:nvSpPr>
        <p:spPr>
          <a:xfrm>
            <a:off x="3218688" y="2761488"/>
            <a:ext cx="3712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Mean of recall across classes</a:t>
            </a:r>
            <a:endParaRPr lang="en-US" sz="1050" dirty="0"/>
          </a:p>
        </p:txBody>
      </p:sp>
      <p:sp>
        <p:nvSpPr>
          <p:cNvPr id="27" name="Shape 25"/>
          <p:cNvSpPr/>
          <p:nvPr/>
        </p:nvSpPr>
        <p:spPr>
          <a:xfrm>
            <a:off x="7040880" y="2761488"/>
            <a:ext cx="4480560" cy="548640"/>
          </a:xfrm>
          <a:prstGeom prst="rect">
            <a:avLst/>
          </a:prstGeom>
          <a:solidFill>
            <a:srgbClr val="FFFFFF"/>
          </a:solidFill>
          <a:ln w="9525">
            <a:solidFill>
              <a:srgbClr val="E3EBF0"/>
            </a:solidFill>
            <a:prstDash val="solid"/>
          </a:ln>
        </p:spPr>
      </p:sp>
      <p:sp>
        <p:nvSpPr>
          <p:cNvPr id="28" name="Text 26"/>
          <p:cNvSpPr/>
          <p:nvPr/>
        </p:nvSpPr>
        <p:spPr>
          <a:xfrm>
            <a:off x="7150608" y="276148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Quick imbalance-aware substitute for accuracy</a:t>
            </a:r>
            <a:endParaRPr lang="en-US" sz="1050" dirty="0"/>
          </a:p>
        </p:txBody>
      </p:sp>
      <p:sp>
        <p:nvSpPr>
          <p:cNvPr id="29" name="Shape 27"/>
          <p:cNvSpPr/>
          <p:nvPr/>
        </p:nvSpPr>
        <p:spPr>
          <a:xfrm>
            <a:off x="640080" y="3310128"/>
            <a:ext cx="2468880" cy="548640"/>
          </a:xfrm>
          <a:prstGeom prst="rect">
            <a:avLst/>
          </a:prstGeom>
          <a:solidFill>
            <a:srgbClr val="F5F9FB"/>
          </a:solidFill>
          <a:ln w="9525">
            <a:solidFill>
              <a:srgbClr val="E3EBF0"/>
            </a:solidFill>
            <a:prstDash val="solid"/>
          </a:ln>
        </p:spPr>
      </p:sp>
      <p:sp>
        <p:nvSpPr>
          <p:cNvPr id="30" name="Text 28"/>
          <p:cNvSpPr/>
          <p:nvPr/>
        </p:nvSpPr>
        <p:spPr>
          <a:xfrm>
            <a:off x="749808" y="3310128"/>
            <a:ext cx="22494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Cohen's kappa</a:t>
            </a:r>
            <a:endParaRPr lang="en-US" sz="1050" dirty="0"/>
          </a:p>
        </p:txBody>
      </p:sp>
      <p:sp>
        <p:nvSpPr>
          <p:cNvPr id="31" name="Shape 29"/>
          <p:cNvSpPr/>
          <p:nvPr/>
        </p:nvSpPr>
        <p:spPr>
          <a:xfrm>
            <a:off x="3108960" y="3310128"/>
            <a:ext cx="3931920" cy="548640"/>
          </a:xfrm>
          <a:prstGeom prst="rect">
            <a:avLst/>
          </a:prstGeom>
          <a:solidFill>
            <a:srgbClr val="F5F9FB"/>
          </a:solidFill>
          <a:ln w="9525">
            <a:solidFill>
              <a:srgbClr val="E3EBF0"/>
            </a:solidFill>
            <a:prstDash val="solid"/>
          </a:ln>
        </p:spPr>
      </p:sp>
      <p:sp>
        <p:nvSpPr>
          <p:cNvPr id="32" name="Text 30"/>
          <p:cNvSpPr/>
          <p:nvPr/>
        </p:nvSpPr>
        <p:spPr>
          <a:xfrm>
            <a:off x="3218688" y="3310128"/>
            <a:ext cx="3712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Agreement corrected for chance</a:t>
            </a:r>
            <a:endParaRPr lang="en-US" sz="1050" dirty="0"/>
          </a:p>
        </p:txBody>
      </p:sp>
      <p:sp>
        <p:nvSpPr>
          <p:cNvPr id="33" name="Shape 31"/>
          <p:cNvSpPr/>
          <p:nvPr/>
        </p:nvSpPr>
        <p:spPr>
          <a:xfrm>
            <a:off x="7040880" y="3310128"/>
            <a:ext cx="4480560" cy="548640"/>
          </a:xfrm>
          <a:prstGeom prst="rect">
            <a:avLst/>
          </a:prstGeom>
          <a:solidFill>
            <a:srgbClr val="F5F9FB"/>
          </a:solidFill>
          <a:ln w="9525">
            <a:solidFill>
              <a:srgbClr val="E3EBF0"/>
            </a:solidFill>
            <a:prstDash val="solid"/>
          </a:ln>
        </p:spPr>
      </p:sp>
      <p:sp>
        <p:nvSpPr>
          <p:cNvPr id="34" name="Text 32"/>
          <p:cNvSpPr/>
          <p:nvPr/>
        </p:nvSpPr>
        <p:spPr>
          <a:xfrm>
            <a:off x="7150608" y="331012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Comparing model to human, or human to human</a:t>
            </a:r>
            <a:endParaRPr lang="en-US" sz="1050" dirty="0"/>
          </a:p>
        </p:txBody>
      </p:sp>
      <p:sp>
        <p:nvSpPr>
          <p:cNvPr id="35" name="Shape 33"/>
          <p:cNvSpPr/>
          <p:nvPr/>
        </p:nvSpPr>
        <p:spPr>
          <a:xfrm>
            <a:off x="640080" y="3858768"/>
            <a:ext cx="2468880" cy="548640"/>
          </a:xfrm>
          <a:prstGeom prst="rect">
            <a:avLst/>
          </a:prstGeom>
          <a:solidFill>
            <a:srgbClr val="FFFFFF"/>
          </a:solidFill>
          <a:ln w="9525">
            <a:solidFill>
              <a:srgbClr val="E3EBF0"/>
            </a:solidFill>
            <a:prstDash val="solid"/>
          </a:ln>
        </p:spPr>
      </p:sp>
      <p:sp>
        <p:nvSpPr>
          <p:cNvPr id="36" name="Text 34"/>
          <p:cNvSpPr/>
          <p:nvPr/>
        </p:nvSpPr>
        <p:spPr>
          <a:xfrm>
            <a:off x="749808" y="3858768"/>
            <a:ext cx="22494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Log loss</a:t>
            </a:r>
            <a:endParaRPr lang="en-US" sz="1050" dirty="0"/>
          </a:p>
        </p:txBody>
      </p:sp>
      <p:sp>
        <p:nvSpPr>
          <p:cNvPr id="37" name="Shape 35"/>
          <p:cNvSpPr/>
          <p:nvPr/>
        </p:nvSpPr>
        <p:spPr>
          <a:xfrm>
            <a:off x="3108960" y="3858768"/>
            <a:ext cx="3931920" cy="548640"/>
          </a:xfrm>
          <a:prstGeom prst="rect">
            <a:avLst/>
          </a:prstGeom>
          <a:solidFill>
            <a:srgbClr val="FFFFFF"/>
          </a:solidFill>
          <a:ln w="9525">
            <a:solidFill>
              <a:srgbClr val="E3EBF0"/>
            </a:solidFill>
            <a:prstDash val="solid"/>
          </a:ln>
        </p:spPr>
      </p:sp>
      <p:sp>
        <p:nvSpPr>
          <p:cNvPr id="38" name="Text 36"/>
          <p:cNvSpPr/>
          <p:nvPr/>
        </p:nvSpPr>
        <p:spPr>
          <a:xfrm>
            <a:off x="3218688" y="3858768"/>
            <a:ext cx="3712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Penalises confident wrong answers</a:t>
            </a:r>
            <a:endParaRPr lang="en-US" sz="1050" dirty="0"/>
          </a:p>
        </p:txBody>
      </p:sp>
      <p:sp>
        <p:nvSpPr>
          <p:cNvPr id="39" name="Shape 37"/>
          <p:cNvSpPr/>
          <p:nvPr/>
        </p:nvSpPr>
        <p:spPr>
          <a:xfrm>
            <a:off x="7040880" y="3858768"/>
            <a:ext cx="4480560" cy="548640"/>
          </a:xfrm>
          <a:prstGeom prst="rect">
            <a:avLst/>
          </a:prstGeom>
          <a:solidFill>
            <a:srgbClr val="FFFFFF"/>
          </a:solidFill>
          <a:ln w="9525">
            <a:solidFill>
              <a:srgbClr val="E3EBF0"/>
            </a:solidFill>
            <a:prstDash val="solid"/>
          </a:ln>
        </p:spPr>
      </p:sp>
      <p:sp>
        <p:nvSpPr>
          <p:cNvPr id="40" name="Text 38"/>
          <p:cNvSpPr/>
          <p:nvPr/>
        </p:nvSpPr>
        <p:spPr>
          <a:xfrm>
            <a:off x="7150608" y="385876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When probability quality matters, not just the decision</a:t>
            </a:r>
            <a:endParaRPr lang="en-US" sz="1050" dirty="0"/>
          </a:p>
        </p:txBody>
      </p:sp>
      <p:sp>
        <p:nvSpPr>
          <p:cNvPr id="41" name="Shape 39"/>
          <p:cNvSpPr/>
          <p:nvPr/>
        </p:nvSpPr>
        <p:spPr>
          <a:xfrm>
            <a:off x="640080" y="4407408"/>
            <a:ext cx="2468880" cy="548640"/>
          </a:xfrm>
          <a:prstGeom prst="rect">
            <a:avLst/>
          </a:prstGeom>
          <a:solidFill>
            <a:srgbClr val="F5F9FB"/>
          </a:solidFill>
          <a:ln w="9525">
            <a:solidFill>
              <a:srgbClr val="E3EBF0"/>
            </a:solidFill>
            <a:prstDash val="solid"/>
          </a:ln>
        </p:spPr>
      </p:sp>
      <p:sp>
        <p:nvSpPr>
          <p:cNvPr id="42" name="Text 40"/>
          <p:cNvSpPr/>
          <p:nvPr/>
        </p:nvSpPr>
        <p:spPr>
          <a:xfrm>
            <a:off x="749808" y="4407408"/>
            <a:ext cx="22494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Brier score</a:t>
            </a:r>
            <a:endParaRPr lang="en-US" sz="1050" dirty="0"/>
          </a:p>
        </p:txBody>
      </p:sp>
      <p:sp>
        <p:nvSpPr>
          <p:cNvPr id="43" name="Shape 41"/>
          <p:cNvSpPr/>
          <p:nvPr/>
        </p:nvSpPr>
        <p:spPr>
          <a:xfrm>
            <a:off x="3108960" y="4407408"/>
            <a:ext cx="3931920" cy="548640"/>
          </a:xfrm>
          <a:prstGeom prst="rect">
            <a:avLst/>
          </a:prstGeom>
          <a:solidFill>
            <a:srgbClr val="F5F9FB"/>
          </a:solidFill>
          <a:ln w="9525">
            <a:solidFill>
              <a:srgbClr val="E3EBF0"/>
            </a:solidFill>
            <a:prstDash val="solid"/>
          </a:ln>
        </p:spPr>
      </p:sp>
      <p:sp>
        <p:nvSpPr>
          <p:cNvPr id="44" name="Text 42"/>
          <p:cNvSpPr/>
          <p:nvPr/>
        </p:nvSpPr>
        <p:spPr>
          <a:xfrm>
            <a:off x="3218688" y="4407408"/>
            <a:ext cx="3712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Mean squared error of predicted probabilities</a:t>
            </a:r>
            <a:endParaRPr lang="en-US" sz="1050" dirty="0"/>
          </a:p>
        </p:txBody>
      </p:sp>
      <p:sp>
        <p:nvSpPr>
          <p:cNvPr id="45" name="Shape 43"/>
          <p:cNvSpPr/>
          <p:nvPr/>
        </p:nvSpPr>
        <p:spPr>
          <a:xfrm>
            <a:off x="7040880" y="4407408"/>
            <a:ext cx="4480560" cy="548640"/>
          </a:xfrm>
          <a:prstGeom prst="rect">
            <a:avLst/>
          </a:prstGeom>
          <a:solidFill>
            <a:srgbClr val="F5F9FB"/>
          </a:solidFill>
          <a:ln w="9525">
            <a:solidFill>
              <a:srgbClr val="E3EBF0"/>
            </a:solidFill>
            <a:prstDash val="solid"/>
          </a:ln>
        </p:spPr>
      </p:sp>
      <p:sp>
        <p:nvSpPr>
          <p:cNvPr id="46" name="Text 44"/>
          <p:cNvSpPr/>
          <p:nvPr/>
        </p:nvSpPr>
        <p:spPr>
          <a:xfrm>
            <a:off x="7150608" y="440740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Calibration-sensitive; pairs with reliability diagrams</a:t>
            </a:r>
            <a:endParaRPr lang="en-US" sz="1050" dirty="0"/>
          </a:p>
        </p:txBody>
      </p:sp>
      <p:sp>
        <p:nvSpPr>
          <p:cNvPr id="47" name="Shape 45"/>
          <p:cNvSpPr/>
          <p:nvPr/>
        </p:nvSpPr>
        <p:spPr>
          <a:xfrm>
            <a:off x="640080" y="4956048"/>
            <a:ext cx="2468880" cy="548640"/>
          </a:xfrm>
          <a:prstGeom prst="rect">
            <a:avLst/>
          </a:prstGeom>
          <a:solidFill>
            <a:srgbClr val="FFFFFF"/>
          </a:solidFill>
          <a:ln w="9525">
            <a:solidFill>
              <a:srgbClr val="E3EBF0"/>
            </a:solidFill>
            <a:prstDash val="solid"/>
          </a:ln>
        </p:spPr>
      </p:sp>
      <p:sp>
        <p:nvSpPr>
          <p:cNvPr id="48" name="Text 46"/>
          <p:cNvSpPr/>
          <p:nvPr/>
        </p:nvSpPr>
        <p:spPr>
          <a:xfrm>
            <a:off x="749808" y="4956048"/>
            <a:ext cx="22494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Per-class recall</a:t>
            </a:r>
            <a:endParaRPr lang="en-US" sz="1050" dirty="0"/>
          </a:p>
        </p:txBody>
      </p:sp>
      <p:sp>
        <p:nvSpPr>
          <p:cNvPr id="49" name="Shape 47"/>
          <p:cNvSpPr/>
          <p:nvPr/>
        </p:nvSpPr>
        <p:spPr>
          <a:xfrm>
            <a:off x="3108960" y="4956048"/>
            <a:ext cx="3931920" cy="548640"/>
          </a:xfrm>
          <a:prstGeom prst="rect">
            <a:avLst/>
          </a:prstGeom>
          <a:solidFill>
            <a:srgbClr val="FFFFFF"/>
          </a:solidFill>
          <a:ln w="9525">
            <a:solidFill>
              <a:srgbClr val="E3EBF0"/>
            </a:solidFill>
            <a:prstDash val="solid"/>
          </a:ln>
        </p:spPr>
      </p:sp>
      <p:sp>
        <p:nvSpPr>
          <p:cNvPr id="50" name="Text 48"/>
          <p:cNvSpPr/>
          <p:nvPr/>
        </p:nvSpPr>
        <p:spPr>
          <a:xfrm>
            <a:off x="3218688" y="4956048"/>
            <a:ext cx="3712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Recall broken out by class</a:t>
            </a:r>
            <a:endParaRPr lang="en-US" sz="1050" dirty="0"/>
          </a:p>
        </p:txBody>
      </p:sp>
      <p:sp>
        <p:nvSpPr>
          <p:cNvPr id="51" name="Shape 49"/>
          <p:cNvSpPr/>
          <p:nvPr/>
        </p:nvSpPr>
        <p:spPr>
          <a:xfrm>
            <a:off x="7040880" y="4956048"/>
            <a:ext cx="4480560" cy="548640"/>
          </a:xfrm>
          <a:prstGeom prst="rect">
            <a:avLst/>
          </a:prstGeom>
          <a:solidFill>
            <a:srgbClr val="FFFFFF"/>
          </a:solidFill>
          <a:ln w="9525">
            <a:solidFill>
              <a:srgbClr val="E3EBF0"/>
            </a:solidFill>
            <a:prstDash val="solid"/>
          </a:ln>
        </p:spPr>
      </p:sp>
      <p:sp>
        <p:nvSpPr>
          <p:cNvPr id="52" name="Text 50"/>
          <p:cNvSpPr/>
          <p:nvPr/>
        </p:nvSpPr>
        <p:spPr>
          <a:xfrm>
            <a:off x="7150608" y="4956048"/>
            <a:ext cx="42611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Always. Aggregates hide the class you care about</a:t>
            </a:r>
            <a:endParaRPr lang="en-US" sz="1050" dirty="0"/>
          </a:p>
        </p:txBody>
      </p:sp>
      <p:sp>
        <p:nvSpPr>
          <p:cNvPr id="53" name="Text 5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Report per-class recall alongside any aggregate. It is the fastest way to find the failure the headline number hides.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2.7</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Why ROC-AUC misleads under class imbalance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30</a:t>
            </a:r>
            <a:endParaRPr lang="en-US" sz="1000" dirty="0"/>
          </a:p>
        </p:txBody>
      </p:sp>
      <p:sp>
        <p:nvSpPr>
          <p:cNvPr id="5" name="Shape 3"/>
          <p:cNvSpPr/>
          <p:nvPr/>
        </p:nvSpPr>
        <p:spPr>
          <a:xfrm>
            <a:off x="640080" y="1371600"/>
            <a:ext cx="5303520" cy="2194560"/>
          </a:xfrm>
          <a:prstGeom prst="roundRect">
            <a:avLst>
              <a:gd name="adj" fmla="val 2500"/>
            </a:avLst>
          </a:prstGeom>
          <a:solidFill>
            <a:srgbClr val="EEF3F7"/>
          </a:solidFill>
          <a:ln w="12700">
            <a:solidFill>
              <a:srgbClr val="D8E4EC"/>
            </a:solidFill>
            <a:prstDash val="solid"/>
          </a:ln>
        </p:spPr>
      </p:sp>
      <p:sp>
        <p:nvSpPr>
          <p:cNvPr id="6" name="Text 4"/>
          <p:cNvSpPr/>
          <p:nvPr/>
        </p:nvSpPr>
        <p:spPr>
          <a:xfrm>
            <a:off x="841248" y="1508760"/>
            <a:ext cx="49011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ROC — recall against false positive rate</a:t>
            </a:r>
            <a:endParaRPr lang="en-US" sz="1400" dirty="0"/>
          </a:p>
        </p:txBody>
      </p:sp>
      <p:sp>
        <p:nvSpPr>
          <p:cNvPr id="7" name="Text 5"/>
          <p:cNvSpPr/>
          <p:nvPr/>
        </p:nvSpPr>
        <p:spPr>
          <a:xfrm>
            <a:off x="841248" y="1874520"/>
            <a:ext cx="4901184" cy="15361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False positive rate uses the total number of negatives as its denominator.</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When negatives vastly outnumber positives, even many false positives produce a tiny false positive rate.</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curve looks excellent while the system flags mostly noise.</a:t>
            </a:r>
            <a:endParaRPr lang="en-US" sz="1150" dirty="0"/>
          </a:p>
        </p:txBody>
      </p:sp>
      <p:sp>
        <p:nvSpPr>
          <p:cNvPr id="8" name="Shape 6"/>
          <p:cNvSpPr/>
          <p:nvPr/>
        </p:nvSpPr>
        <p:spPr>
          <a:xfrm>
            <a:off x="6263640" y="1371600"/>
            <a:ext cx="5257800" cy="2194560"/>
          </a:xfrm>
          <a:prstGeom prst="roundRect">
            <a:avLst>
              <a:gd name="adj" fmla="val 2500"/>
            </a:avLst>
          </a:prstGeom>
          <a:solidFill>
            <a:srgbClr val="EDF5EE"/>
          </a:solidFill>
          <a:ln w="12700">
            <a:solidFill>
              <a:srgbClr val="D8E4EC"/>
            </a:solidFill>
            <a:prstDash val="solid"/>
          </a:ln>
        </p:spPr>
      </p:sp>
      <p:sp>
        <p:nvSpPr>
          <p:cNvPr id="9" name="Text 7"/>
          <p:cNvSpPr/>
          <p:nvPr/>
        </p:nvSpPr>
        <p:spPr>
          <a:xfrm>
            <a:off x="6464808" y="1508760"/>
            <a:ext cx="4855464" cy="347472"/>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PR — precision against recall</a:t>
            </a:r>
            <a:endParaRPr lang="en-US" sz="1400" dirty="0"/>
          </a:p>
        </p:txBody>
      </p:sp>
      <p:sp>
        <p:nvSpPr>
          <p:cNvPr id="10" name="Text 8"/>
          <p:cNvSpPr/>
          <p:nvPr/>
        </p:nvSpPr>
        <p:spPr>
          <a:xfrm>
            <a:off x="6464808" y="1874520"/>
            <a:ext cx="4855464" cy="15361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Precision uses the number of predicted positives as its denominator.</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Every false positive directly damages precision, regardless of how many negatives exist.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curve reflects what a user actually experiences.</a:t>
            </a:r>
            <a:endParaRPr lang="en-US" sz="1150" dirty="0"/>
          </a:p>
        </p:txBody>
      </p:sp>
      <p:sp>
        <p:nvSpPr>
          <p:cNvPr id="11" name="Shape 9"/>
          <p:cNvSpPr/>
          <p:nvPr/>
        </p:nvSpPr>
        <p:spPr>
          <a:xfrm>
            <a:off x="640080" y="3794760"/>
            <a:ext cx="10881360" cy="1554480"/>
          </a:xfrm>
          <a:prstGeom prst="roundRect">
            <a:avLst>
              <a:gd name="adj" fmla="val 3529"/>
            </a:avLst>
          </a:prstGeom>
          <a:solidFill>
            <a:srgbClr val="FBEEE8"/>
          </a:solidFill>
          <a:ln w="12700">
            <a:solidFill>
              <a:srgbClr val="EBCFC2"/>
            </a:solidFill>
            <a:prstDash val="solid"/>
          </a:ln>
        </p:spPr>
      </p:sp>
      <p:sp>
        <p:nvSpPr>
          <p:cNvPr id="12" name="Text 10"/>
          <p:cNvSpPr/>
          <p:nvPr/>
        </p:nvSpPr>
        <p:spPr>
          <a:xfrm>
            <a:off x="914400" y="3959352"/>
            <a:ext cx="10332720" cy="320040"/>
          </a:xfrm>
          <a:prstGeom prst="rect">
            <a:avLst/>
          </a:prstGeom>
          <a:noFill/>
          <a:ln/>
        </p:spPr>
        <p:txBody>
          <a:bodyPr wrap="square" lIns="0" tIns="0" rIns="0" bIns="0" rtlCol="0" anchor="ctr"/>
          <a:lstStyle/>
          <a:p>
            <a:pPr indent="0" marL="0">
              <a:buNone/>
            </a:pPr>
            <a:r>
              <a:rPr lang="en-US" sz="1350" b="1" dirty="0">
                <a:solidFill>
                  <a:srgbClr val="C1440E"/>
                </a:solidFill>
                <a:latin typeface="Calibri" pitchFamily="34" charset="0"/>
                <a:ea typeface="Calibri" pitchFamily="34" charset="-122"/>
                <a:cs typeface="Calibri" pitchFamily="34" charset="-120"/>
              </a:rPr>
              <a:t>Concrete illustration</a:t>
            </a:r>
            <a:endParaRPr lang="en-US" sz="1350" dirty="0"/>
          </a:p>
        </p:txBody>
      </p:sp>
      <p:sp>
        <p:nvSpPr>
          <p:cNvPr id="13" name="Text 11"/>
          <p:cNvSpPr/>
          <p:nvPr/>
        </p:nvSpPr>
        <p:spPr>
          <a:xfrm>
            <a:off x="914400" y="4297680"/>
            <a:ext cx="10332720" cy="91440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100,000 items, 100 defective. A model flags 1,000 and catches 90 defects. False positive rate is 910/99,900 ≈ 0.9% — the ROC curve looks superb. Precision is 90/1,000 = 9% — the inspector opening those thousand cases finds 910 are fine. Both numbers are correct. Only one describes the experience.</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2.8</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Class imbalance — the trap worth dwelling 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31</a:t>
            </a:r>
            <a:endParaRPr lang="en-US" sz="1000" dirty="0"/>
          </a:p>
        </p:txBody>
      </p:sp>
      <p:sp>
        <p:nvSpPr>
          <p:cNvPr id="5" name="Shape 3"/>
          <p:cNvSpPr/>
          <p:nvPr/>
        </p:nvSpPr>
        <p:spPr>
          <a:xfrm>
            <a:off x="640080" y="1325880"/>
            <a:ext cx="5303520" cy="1737360"/>
          </a:xfrm>
          <a:prstGeom prst="roundRect">
            <a:avLst>
              <a:gd name="adj" fmla="val 3158"/>
            </a:avLst>
          </a:prstGeom>
          <a:solidFill>
            <a:srgbClr val="FBEEE8"/>
          </a:solidFill>
          <a:ln w="12700">
            <a:solidFill>
              <a:srgbClr val="EBCFC2"/>
            </a:solidFill>
            <a:prstDash val="solid"/>
          </a:ln>
        </p:spPr>
      </p:sp>
      <p:sp>
        <p:nvSpPr>
          <p:cNvPr id="6" name="Text 4"/>
          <p:cNvSpPr/>
          <p:nvPr/>
        </p:nvSpPr>
        <p:spPr>
          <a:xfrm>
            <a:off x="914400" y="1481328"/>
            <a:ext cx="4754880" cy="320040"/>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The scenario</a:t>
            </a:r>
            <a:endParaRPr lang="en-US" sz="1400" dirty="0"/>
          </a:p>
        </p:txBody>
      </p:sp>
      <p:sp>
        <p:nvSpPr>
          <p:cNvPr id="7" name="Text 5"/>
          <p:cNvSpPr/>
          <p:nvPr/>
        </p:nvSpPr>
        <p:spPr>
          <a:xfrm>
            <a:off x="914400" y="1828800"/>
            <a:ext cx="4754880" cy="109728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A machine fails on one day in a thousand. A model that predicts "no failure" every single time, without looking at anything, is 99.9% accurate — and completely worthless.</a:t>
            </a:r>
            <a:endParaRPr lang="en-US" sz="1250" dirty="0"/>
          </a:p>
        </p:txBody>
      </p:sp>
      <p:sp>
        <p:nvSpPr>
          <p:cNvPr id="8" name="Text 6"/>
          <p:cNvSpPr/>
          <p:nvPr/>
        </p:nvSpPr>
        <p:spPr>
          <a:xfrm>
            <a:off x="6355080" y="1325880"/>
            <a:ext cx="5166360" cy="1005840"/>
          </a:xfrm>
          <a:prstGeom prst="rect">
            <a:avLst/>
          </a:prstGeom>
          <a:noFill/>
          <a:ln/>
        </p:spPr>
        <p:txBody>
          <a:bodyPr wrap="square" rtlCol="0" anchor="ctr"/>
          <a:lstStyle/>
          <a:p>
            <a:pPr algn="ctr" indent="0" marL="0">
              <a:buNone/>
            </a:pPr>
            <a:r>
              <a:rPr lang="en-US" sz="5800" b="1" dirty="0">
                <a:solidFill>
                  <a:srgbClr val="C1440E"/>
                </a:solidFill>
                <a:latin typeface="Cambria" pitchFamily="34" charset="0"/>
                <a:ea typeface="Cambria" pitchFamily="34" charset="-122"/>
                <a:cs typeface="Cambria" pitchFamily="34" charset="-120"/>
              </a:rPr>
              <a:t>99.9%</a:t>
            </a:r>
            <a:endParaRPr lang="en-US" sz="5800" dirty="0"/>
          </a:p>
        </p:txBody>
      </p:sp>
      <p:sp>
        <p:nvSpPr>
          <p:cNvPr id="9" name="Text 7"/>
          <p:cNvSpPr/>
          <p:nvPr/>
        </p:nvSpPr>
        <p:spPr>
          <a:xfrm>
            <a:off x="6355080" y="2377440"/>
            <a:ext cx="5166360" cy="457200"/>
          </a:xfrm>
          <a:prstGeom prst="rect">
            <a:avLst/>
          </a:prstGeom>
          <a:noFill/>
          <a:ln/>
        </p:spPr>
        <p:txBody>
          <a:bodyPr wrap="square" rtlCol="0" anchor="ctr"/>
          <a:lstStyle/>
          <a:p>
            <a:pPr algn="ctr" indent="0" marL="0">
              <a:buNone/>
            </a:pPr>
            <a:r>
              <a:rPr lang="en-US" sz="1300" i="1" dirty="0">
                <a:solidFill>
                  <a:srgbClr val="5A6B7C"/>
                </a:solidFill>
                <a:latin typeface="Calibri" pitchFamily="34" charset="0"/>
                <a:ea typeface="Calibri" pitchFamily="34" charset="-122"/>
                <a:cs typeface="Calibri" pitchFamily="34" charset="-120"/>
              </a:rPr>
              <a:t>accurate — and it has never once predicted a failure</a:t>
            </a:r>
            <a:endParaRPr lang="en-US" sz="1300" dirty="0"/>
          </a:p>
        </p:txBody>
      </p:sp>
      <p:sp>
        <p:nvSpPr>
          <p:cNvPr id="10" name="Text 8"/>
          <p:cNvSpPr/>
          <p:nvPr/>
        </p:nvSpPr>
        <p:spPr>
          <a:xfrm>
            <a:off x="6355080" y="2761488"/>
            <a:ext cx="5166360" cy="320040"/>
          </a:xfrm>
          <a:prstGeom prst="rect">
            <a:avLst/>
          </a:prstGeom>
          <a:noFill/>
          <a:ln/>
        </p:spPr>
        <p:txBody>
          <a:bodyPr wrap="square" rtlCol="0" anchor="ctr"/>
          <a:lstStyle/>
          <a:p>
            <a:pPr algn="ctr" indent="0" marL="0">
              <a:buNone/>
            </a:pPr>
            <a:r>
              <a:rPr lang="en-US" sz="1300" b="1" dirty="0">
                <a:solidFill>
                  <a:srgbClr val="C1440E"/>
                </a:solidFill>
                <a:latin typeface="Calibri" pitchFamily="34" charset="0"/>
                <a:ea typeface="Calibri" pitchFamily="34" charset="-122"/>
                <a:cs typeface="Calibri" pitchFamily="34" charset="-120"/>
              </a:rPr>
              <a:t>It also comfortably beats a 95% target.</a:t>
            </a:r>
            <a:endParaRPr lang="en-US" sz="1300" dirty="0"/>
          </a:p>
        </p:txBody>
      </p:sp>
      <p:sp>
        <p:nvSpPr>
          <p:cNvPr id="11" name="Text 9"/>
          <p:cNvSpPr/>
          <p:nvPr/>
        </p:nvSpPr>
        <p:spPr>
          <a:xfrm>
            <a:off x="640080" y="3291840"/>
            <a:ext cx="10881360" cy="365760"/>
          </a:xfrm>
          <a:prstGeom prst="rect">
            <a:avLst/>
          </a:prstGeom>
          <a:noFill/>
          <a:ln/>
        </p:spPr>
        <p:txBody>
          <a:bodyPr wrap="square" rtlCol="0" anchor="ctr"/>
          <a:lstStyle/>
          <a:p>
            <a:pPr indent="0" marL="0">
              <a:buNone/>
            </a:pPr>
            <a:r>
              <a:rPr lang="en-US" sz="1600" b="1" dirty="0">
                <a:solidFill>
                  <a:srgbClr val="1A2430"/>
                </a:solidFill>
                <a:latin typeface="Cambria" pitchFamily="34" charset="0"/>
                <a:ea typeface="Cambria" pitchFamily="34" charset="-122"/>
                <a:cs typeface="Cambria" pitchFamily="34" charset="-120"/>
              </a:rPr>
              <a:t>What to do instead</a:t>
            </a:r>
            <a:endParaRPr lang="en-US" sz="1600" dirty="0"/>
          </a:p>
        </p:txBody>
      </p:sp>
      <p:sp>
        <p:nvSpPr>
          <p:cNvPr id="12" name="Text 10"/>
          <p:cNvSpPr/>
          <p:nvPr/>
        </p:nvSpPr>
        <p:spPr>
          <a:xfrm>
            <a:off x="640080" y="3703320"/>
            <a:ext cx="10881360" cy="1920240"/>
          </a:xfrm>
          <a:prstGeom prst="rect">
            <a:avLst/>
          </a:prstGeom>
          <a:noFill/>
          <a:ln/>
        </p:spPr>
        <p:txBody>
          <a:bodyPr wrap="square" rtlCol="0" anchor="ctr"/>
          <a:lstStyle/>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Report recall on the rare class, never overall accuracy</a:t>
            </a:r>
            <a:endParaRPr lang="en-US" sz="1300" dirty="0"/>
          </a:p>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Use precision-recall curves rather than ROC — see the previous slide</a:t>
            </a:r>
            <a:endParaRPr lang="en-US" sz="1300" dirty="0"/>
          </a:p>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Set the threshold from cost asymmetry, not from 0.5</a:t>
            </a:r>
            <a:endParaRPr lang="en-US" sz="1300" dirty="0"/>
          </a:p>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Stratify or oversample so rare cases appear in useful numbers in the evaluation set</a:t>
            </a:r>
            <a:endParaRPr lang="en-US" sz="1300" dirty="0"/>
          </a:p>
          <a:p>
            <a:pPr marL="342900" indent="-342900">
              <a:lnSpc>
                <a:spcPts val="1800"/>
              </a:lnSpc>
              <a:spcAft>
                <a:spcPts val="800"/>
              </a:spcAft>
              <a:buSzPct val="100000"/>
              <a:buChar char="•"/>
            </a:pPr>
            <a:r>
              <a:rPr lang="en-US" sz="1300" dirty="0">
                <a:solidFill>
                  <a:srgbClr val="1A2430"/>
                </a:solidFill>
                <a:latin typeface="Calibri" pitchFamily="34" charset="0"/>
                <a:ea typeface="Calibri" pitchFamily="34" charset="-122"/>
                <a:cs typeface="Calibri" pitchFamily="34" charset="-120"/>
              </a:rPr>
              <a:t>Consider class weighting, SMOTE or focal loss — but measure whether each actually helped</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2.9</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Confidence intervals — every metric needs one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32</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00" dirty="0">
                <a:solidFill>
                  <a:srgbClr val="5A6B7C"/>
                </a:solidFill>
                <a:latin typeface="Calibri" pitchFamily="34" charset="0"/>
                <a:ea typeface="Calibri" pitchFamily="34" charset="-122"/>
                <a:cs typeface="Calibri" pitchFamily="34" charset="-120"/>
              </a:rPr>
              <a:t>A single number without an interval invites false conclusions. "Accuracy improved from 0.81 to 0.84" means nothing until you know the uncertainty on both.</a:t>
            </a:r>
            <a:endParaRPr lang="en-US" sz="1400" dirty="0"/>
          </a:p>
        </p:txBody>
      </p:sp>
      <p:sp>
        <p:nvSpPr>
          <p:cNvPr id="6" name="Shape 4"/>
          <p:cNvSpPr/>
          <p:nvPr/>
        </p:nvSpPr>
        <p:spPr>
          <a:xfrm>
            <a:off x="640080" y="1828800"/>
            <a:ext cx="2743200" cy="384048"/>
          </a:xfrm>
          <a:prstGeom prst="rect">
            <a:avLst/>
          </a:prstGeom>
          <a:solidFill>
            <a:srgbClr val="21295C"/>
          </a:solidFill>
          <a:ln/>
        </p:spPr>
      </p:sp>
      <p:sp>
        <p:nvSpPr>
          <p:cNvPr id="7" name="Text 5"/>
          <p:cNvSpPr/>
          <p:nvPr/>
        </p:nvSpPr>
        <p:spPr>
          <a:xfrm>
            <a:off x="749808" y="1828800"/>
            <a:ext cx="25237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p>
        </p:txBody>
      </p:sp>
      <p:sp>
        <p:nvSpPr>
          <p:cNvPr id="8" name="Shape 6"/>
          <p:cNvSpPr/>
          <p:nvPr/>
        </p:nvSpPr>
        <p:spPr>
          <a:xfrm>
            <a:off x="3383280" y="1828800"/>
            <a:ext cx="3840480" cy="384048"/>
          </a:xfrm>
          <a:prstGeom prst="rect">
            <a:avLst/>
          </a:prstGeom>
          <a:solidFill>
            <a:srgbClr val="21295C"/>
          </a:solidFill>
          <a:ln/>
        </p:spPr>
      </p:sp>
      <p:sp>
        <p:nvSpPr>
          <p:cNvPr id="9" name="Text 7"/>
          <p:cNvSpPr/>
          <p:nvPr/>
        </p:nvSpPr>
        <p:spPr>
          <a:xfrm>
            <a:off x="3493008" y="1828800"/>
            <a:ext cx="36210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Use for</a:t>
            </a:r>
            <a:endParaRPr lang="en-US" sz="1100" dirty="0"/>
          </a:p>
        </p:txBody>
      </p:sp>
      <p:sp>
        <p:nvSpPr>
          <p:cNvPr id="10" name="Shape 8"/>
          <p:cNvSpPr/>
          <p:nvPr/>
        </p:nvSpPr>
        <p:spPr>
          <a:xfrm>
            <a:off x="7223760" y="1828800"/>
            <a:ext cx="4297680" cy="384048"/>
          </a:xfrm>
          <a:prstGeom prst="rect">
            <a:avLst/>
          </a:prstGeom>
          <a:solidFill>
            <a:srgbClr val="21295C"/>
          </a:solidFill>
          <a:ln/>
        </p:spPr>
      </p:sp>
      <p:sp>
        <p:nvSpPr>
          <p:cNvPr id="11" name="Text 9"/>
          <p:cNvSpPr/>
          <p:nvPr/>
        </p:nvSpPr>
        <p:spPr>
          <a:xfrm>
            <a:off x="7333488" y="1828800"/>
            <a:ext cx="40782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Note</a:t>
            </a:r>
            <a:endParaRPr lang="en-US" sz="1100" dirty="0"/>
          </a:p>
        </p:txBody>
      </p:sp>
      <p:sp>
        <p:nvSpPr>
          <p:cNvPr id="12" name="Shape 10"/>
          <p:cNvSpPr/>
          <p:nvPr/>
        </p:nvSpPr>
        <p:spPr>
          <a:xfrm>
            <a:off x="640080" y="2212848"/>
            <a:ext cx="2743200" cy="566928"/>
          </a:xfrm>
          <a:prstGeom prst="rect">
            <a:avLst/>
          </a:prstGeom>
          <a:solidFill>
            <a:srgbClr val="FFFFFF"/>
          </a:solidFill>
          <a:ln w="9525">
            <a:solidFill>
              <a:srgbClr val="E3EBF0"/>
            </a:solidFill>
            <a:prstDash val="solid"/>
          </a:ln>
        </p:spPr>
      </p:sp>
      <p:sp>
        <p:nvSpPr>
          <p:cNvPr id="13" name="Text 11"/>
          <p:cNvSpPr/>
          <p:nvPr/>
        </p:nvSpPr>
        <p:spPr>
          <a:xfrm>
            <a:off x="749808" y="2212848"/>
            <a:ext cx="25237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Normal approximation</a:t>
            </a:r>
            <a:endParaRPr lang="en-US" sz="1050" dirty="0"/>
          </a:p>
        </p:txBody>
      </p:sp>
      <p:sp>
        <p:nvSpPr>
          <p:cNvPr id="14" name="Shape 12"/>
          <p:cNvSpPr/>
          <p:nvPr/>
        </p:nvSpPr>
        <p:spPr>
          <a:xfrm>
            <a:off x="3383280" y="2212848"/>
            <a:ext cx="3840480" cy="566928"/>
          </a:xfrm>
          <a:prstGeom prst="rect">
            <a:avLst/>
          </a:prstGeom>
          <a:solidFill>
            <a:srgbClr val="FFFFFF"/>
          </a:solidFill>
          <a:ln w="9525">
            <a:solidFill>
              <a:srgbClr val="E3EBF0"/>
            </a:solidFill>
            <a:prstDash val="solid"/>
          </a:ln>
        </p:spPr>
      </p:sp>
      <p:sp>
        <p:nvSpPr>
          <p:cNvPr id="15" name="Text 13"/>
          <p:cNvSpPr/>
          <p:nvPr/>
        </p:nvSpPr>
        <p:spPr>
          <a:xfrm>
            <a:off x="3493008" y="2212848"/>
            <a:ext cx="36210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Large samples, proportions near 0.5</a:t>
            </a:r>
            <a:endParaRPr lang="en-US" sz="1050" dirty="0"/>
          </a:p>
        </p:txBody>
      </p:sp>
      <p:sp>
        <p:nvSpPr>
          <p:cNvPr id="16" name="Shape 14"/>
          <p:cNvSpPr/>
          <p:nvPr/>
        </p:nvSpPr>
        <p:spPr>
          <a:xfrm>
            <a:off x="7223760" y="2212848"/>
            <a:ext cx="4297680" cy="566928"/>
          </a:xfrm>
          <a:prstGeom prst="rect">
            <a:avLst/>
          </a:prstGeom>
          <a:solidFill>
            <a:srgbClr val="FFFFFF"/>
          </a:solidFill>
          <a:ln w="9525">
            <a:solidFill>
              <a:srgbClr val="E3EBF0"/>
            </a:solidFill>
            <a:prstDash val="solid"/>
          </a:ln>
        </p:spPr>
      </p:sp>
      <p:sp>
        <p:nvSpPr>
          <p:cNvPr id="17" name="Text 15"/>
          <p:cNvSpPr/>
          <p:nvPr/>
        </p:nvSpPr>
        <p:spPr>
          <a:xfrm>
            <a:off x="7333488" y="2212848"/>
            <a:ext cx="40782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Breaks down near 0 or 1 and on small samples</a:t>
            </a:r>
            <a:endParaRPr lang="en-US" sz="1050" dirty="0"/>
          </a:p>
        </p:txBody>
      </p:sp>
      <p:sp>
        <p:nvSpPr>
          <p:cNvPr id="18" name="Shape 16"/>
          <p:cNvSpPr/>
          <p:nvPr/>
        </p:nvSpPr>
        <p:spPr>
          <a:xfrm>
            <a:off x="640080" y="2779776"/>
            <a:ext cx="2743200" cy="566928"/>
          </a:xfrm>
          <a:prstGeom prst="rect">
            <a:avLst/>
          </a:prstGeom>
          <a:solidFill>
            <a:srgbClr val="F5F9FB"/>
          </a:solidFill>
          <a:ln w="9525">
            <a:solidFill>
              <a:srgbClr val="E3EBF0"/>
            </a:solidFill>
            <a:prstDash val="solid"/>
          </a:ln>
        </p:spPr>
      </p:sp>
      <p:sp>
        <p:nvSpPr>
          <p:cNvPr id="19" name="Text 17"/>
          <p:cNvSpPr/>
          <p:nvPr/>
        </p:nvSpPr>
        <p:spPr>
          <a:xfrm>
            <a:off x="749808" y="2779776"/>
            <a:ext cx="25237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Wilson interval</a:t>
            </a:r>
            <a:endParaRPr lang="en-US" sz="1050" dirty="0"/>
          </a:p>
        </p:txBody>
      </p:sp>
      <p:sp>
        <p:nvSpPr>
          <p:cNvPr id="20" name="Shape 18"/>
          <p:cNvSpPr/>
          <p:nvPr/>
        </p:nvSpPr>
        <p:spPr>
          <a:xfrm>
            <a:off x="3383280" y="2779776"/>
            <a:ext cx="3840480" cy="566928"/>
          </a:xfrm>
          <a:prstGeom prst="rect">
            <a:avLst/>
          </a:prstGeom>
          <a:solidFill>
            <a:srgbClr val="F5F9FB"/>
          </a:solidFill>
          <a:ln w="9525">
            <a:solidFill>
              <a:srgbClr val="E3EBF0"/>
            </a:solidFill>
            <a:prstDash val="solid"/>
          </a:ln>
        </p:spPr>
      </p:sp>
      <p:sp>
        <p:nvSpPr>
          <p:cNvPr id="21" name="Text 19"/>
          <p:cNvSpPr/>
          <p:nvPr/>
        </p:nvSpPr>
        <p:spPr>
          <a:xfrm>
            <a:off x="3493008" y="2779776"/>
            <a:ext cx="36210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Proportions, including small samples</a:t>
            </a:r>
            <a:endParaRPr lang="en-US" sz="1050" dirty="0"/>
          </a:p>
        </p:txBody>
      </p:sp>
      <p:sp>
        <p:nvSpPr>
          <p:cNvPr id="22" name="Shape 20"/>
          <p:cNvSpPr/>
          <p:nvPr/>
        </p:nvSpPr>
        <p:spPr>
          <a:xfrm>
            <a:off x="7223760" y="2779776"/>
            <a:ext cx="4297680" cy="566928"/>
          </a:xfrm>
          <a:prstGeom prst="rect">
            <a:avLst/>
          </a:prstGeom>
          <a:solidFill>
            <a:srgbClr val="F5F9FB"/>
          </a:solidFill>
          <a:ln w="9525">
            <a:solidFill>
              <a:srgbClr val="E3EBF0"/>
            </a:solidFill>
            <a:prstDash val="solid"/>
          </a:ln>
        </p:spPr>
      </p:sp>
      <p:sp>
        <p:nvSpPr>
          <p:cNvPr id="23" name="Text 21"/>
          <p:cNvSpPr/>
          <p:nvPr/>
        </p:nvSpPr>
        <p:spPr>
          <a:xfrm>
            <a:off x="7333488" y="2779776"/>
            <a:ext cx="40782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sensible default for accuracy, precision and recall</a:t>
            </a:r>
            <a:endParaRPr lang="en-US" sz="1050" dirty="0"/>
          </a:p>
        </p:txBody>
      </p:sp>
      <p:sp>
        <p:nvSpPr>
          <p:cNvPr id="24" name="Shape 22"/>
          <p:cNvSpPr/>
          <p:nvPr/>
        </p:nvSpPr>
        <p:spPr>
          <a:xfrm>
            <a:off x="640080" y="3346704"/>
            <a:ext cx="2743200" cy="566928"/>
          </a:xfrm>
          <a:prstGeom prst="rect">
            <a:avLst/>
          </a:prstGeom>
          <a:solidFill>
            <a:srgbClr val="FFFFFF"/>
          </a:solidFill>
          <a:ln w="9525">
            <a:solidFill>
              <a:srgbClr val="E3EBF0"/>
            </a:solidFill>
            <a:prstDash val="solid"/>
          </a:ln>
        </p:spPr>
      </p:sp>
      <p:sp>
        <p:nvSpPr>
          <p:cNvPr id="25" name="Text 23"/>
          <p:cNvSpPr/>
          <p:nvPr/>
        </p:nvSpPr>
        <p:spPr>
          <a:xfrm>
            <a:off x="749808" y="3346704"/>
            <a:ext cx="25237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Bootstrap</a:t>
            </a:r>
            <a:endParaRPr lang="en-US" sz="1050" dirty="0"/>
          </a:p>
        </p:txBody>
      </p:sp>
      <p:sp>
        <p:nvSpPr>
          <p:cNvPr id="26" name="Shape 24"/>
          <p:cNvSpPr/>
          <p:nvPr/>
        </p:nvSpPr>
        <p:spPr>
          <a:xfrm>
            <a:off x="3383280" y="3346704"/>
            <a:ext cx="3840480" cy="566928"/>
          </a:xfrm>
          <a:prstGeom prst="rect">
            <a:avLst/>
          </a:prstGeom>
          <a:solidFill>
            <a:srgbClr val="FFFFFF"/>
          </a:solidFill>
          <a:ln w="9525">
            <a:solidFill>
              <a:srgbClr val="E3EBF0"/>
            </a:solidFill>
            <a:prstDash val="solid"/>
          </a:ln>
        </p:spPr>
      </p:sp>
      <p:sp>
        <p:nvSpPr>
          <p:cNvPr id="27" name="Text 25"/>
          <p:cNvSpPr/>
          <p:nvPr/>
        </p:nvSpPr>
        <p:spPr>
          <a:xfrm>
            <a:off x="3493008" y="3346704"/>
            <a:ext cx="36210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Any metric, including mAP, NDCG, F1</a:t>
            </a:r>
            <a:endParaRPr lang="en-US" sz="1050" dirty="0"/>
          </a:p>
        </p:txBody>
      </p:sp>
      <p:sp>
        <p:nvSpPr>
          <p:cNvPr id="28" name="Shape 26"/>
          <p:cNvSpPr/>
          <p:nvPr/>
        </p:nvSpPr>
        <p:spPr>
          <a:xfrm>
            <a:off x="7223760" y="3346704"/>
            <a:ext cx="4297680" cy="566928"/>
          </a:xfrm>
          <a:prstGeom prst="rect">
            <a:avLst/>
          </a:prstGeom>
          <a:solidFill>
            <a:srgbClr val="FFFFFF"/>
          </a:solidFill>
          <a:ln w="9525">
            <a:solidFill>
              <a:srgbClr val="E3EBF0"/>
            </a:solidFill>
            <a:prstDash val="solid"/>
          </a:ln>
        </p:spPr>
      </p:sp>
      <p:sp>
        <p:nvSpPr>
          <p:cNvPr id="29" name="Text 27"/>
          <p:cNvSpPr/>
          <p:nvPr/>
        </p:nvSpPr>
        <p:spPr>
          <a:xfrm>
            <a:off x="7333488" y="3346704"/>
            <a:ext cx="40782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Resample with replacement, recompute, take percentiles</a:t>
            </a:r>
            <a:endParaRPr lang="en-US" sz="1050" dirty="0"/>
          </a:p>
        </p:txBody>
      </p:sp>
      <p:sp>
        <p:nvSpPr>
          <p:cNvPr id="30" name="Shape 28"/>
          <p:cNvSpPr/>
          <p:nvPr/>
        </p:nvSpPr>
        <p:spPr>
          <a:xfrm>
            <a:off x="640080" y="3913632"/>
            <a:ext cx="2743200" cy="566928"/>
          </a:xfrm>
          <a:prstGeom prst="rect">
            <a:avLst/>
          </a:prstGeom>
          <a:solidFill>
            <a:srgbClr val="F5F9FB"/>
          </a:solidFill>
          <a:ln w="9525">
            <a:solidFill>
              <a:srgbClr val="E3EBF0"/>
            </a:solidFill>
            <a:prstDash val="solid"/>
          </a:ln>
        </p:spPr>
      </p:sp>
      <p:sp>
        <p:nvSpPr>
          <p:cNvPr id="31" name="Text 29"/>
          <p:cNvSpPr/>
          <p:nvPr/>
        </p:nvSpPr>
        <p:spPr>
          <a:xfrm>
            <a:off x="749808" y="3913632"/>
            <a:ext cx="25237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Bayesian credible interval</a:t>
            </a:r>
            <a:endParaRPr lang="en-US" sz="1050" dirty="0"/>
          </a:p>
        </p:txBody>
      </p:sp>
      <p:sp>
        <p:nvSpPr>
          <p:cNvPr id="32" name="Shape 30"/>
          <p:cNvSpPr/>
          <p:nvPr/>
        </p:nvSpPr>
        <p:spPr>
          <a:xfrm>
            <a:off x="3383280" y="3913632"/>
            <a:ext cx="3840480" cy="566928"/>
          </a:xfrm>
          <a:prstGeom prst="rect">
            <a:avLst/>
          </a:prstGeom>
          <a:solidFill>
            <a:srgbClr val="F5F9FB"/>
          </a:solidFill>
          <a:ln w="9525">
            <a:solidFill>
              <a:srgbClr val="E3EBF0"/>
            </a:solidFill>
            <a:prstDash val="solid"/>
          </a:ln>
        </p:spPr>
      </p:sp>
      <p:sp>
        <p:nvSpPr>
          <p:cNvPr id="33" name="Text 31"/>
          <p:cNvSpPr/>
          <p:nvPr/>
        </p:nvSpPr>
        <p:spPr>
          <a:xfrm>
            <a:off x="3493008" y="3913632"/>
            <a:ext cx="36210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When you have prior information</a:t>
            </a:r>
            <a:endParaRPr lang="en-US" sz="1050" dirty="0"/>
          </a:p>
        </p:txBody>
      </p:sp>
      <p:sp>
        <p:nvSpPr>
          <p:cNvPr id="34" name="Shape 32"/>
          <p:cNvSpPr/>
          <p:nvPr/>
        </p:nvSpPr>
        <p:spPr>
          <a:xfrm>
            <a:off x="7223760" y="3913632"/>
            <a:ext cx="4297680" cy="566928"/>
          </a:xfrm>
          <a:prstGeom prst="rect">
            <a:avLst/>
          </a:prstGeom>
          <a:solidFill>
            <a:srgbClr val="F5F9FB"/>
          </a:solidFill>
          <a:ln w="9525">
            <a:solidFill>
              <a:srgbClr val="E3EBF0"/>
            </a:solidFill>
            <a:prstDash val="solid"/>
          </a:ln>
        </p:spPr>
      </p:sp>
      <p:sp>
        <p:nvSpPr>
          <p:cNvPr id="35" name="Text 33"/>
          <p:cNvSpPr/>
          <p:nvPr/>
        </p:nvSpPr>
        <p:spPr>
          <a:xfrm>
            <a:off x="7333488" y="3913632"/>
            <a:ext cx="40782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Less common in practice; useful for very small sets</a:t>
            </a:r>
            <a:endParaRPr lang="en-US" sz="1050" dirty="0"/>
          </a:p>
        </p:txBody>
      </p:sp>
      <p:sp>
        <p:nvSpPr>
          <p:cNvPr id="36" name="Shape 34"/>
          <p:cNvSpPr/>
          <p:nvPr/>
        </p:nvSpPr>
        <p:spPr>
          <a:xfrm>
            <a:off x="640080" y="4480560"/>
            <a:ext cx="10881360" cy="1234440"/>
          </a:xfrm>
          <a:prstGeom prst="roundRect">
            <a:avLst>
              <a:gd name="adj" fmla="val 4444"/>
            </a:avLst>
          </a:prstGeom>
          <a:solidFill>
            <a:srgbClr val="E4EEF4"/>
          </a:solidFill>
          <a:ln w="12700">
            <a:solidFill>
              <a:srgbClr val="C9DCE7"/>
            </a:solidFill>
            <a:prstDash val="solid"/>
          </a:ln>
        </p:spPr>
      </p:sp>
      <p:sp>
        <p:nvSpPr>
          <p:cNvPr id="37" name="Text 35"/>
          <p:cNvSpPr/>
          <p:nvPr/>
        </p:nvSpPr>
        <p:spPr>
          <a:xfrm>
            <a:off x="914400" y="4645152"/>
            <a:ext cx="10332720" cy="32004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Worked intuition</a:t>
            </a:r>
            <a:endParaRPr lang="en-US" sz="1350" dirty="0"/>
          </a:p>
        </p:txBody>
      </p:sp>
      <p:sp>
        <p:nvSpPr>
          <p:cNvPr id="38" name="Text 36"/>
          <p:cNvSpPr/>
          <p:nvPr/>
        </p:nvSpPr>
        <p:spPr>
          <a:xfrm>
            <a:off x="914400" y="4974336"/>
            <a:ext cx="10332720" cy="685800"/>
          </a:xfrm>
          <a:prstGeom prst="rect">
            <a:avLst/>
          </a:prstGeom>
          <a:noFill/>
          <a:ln/>
        </p:spPr>
        <p:txBody>
          <a:bodyPr wrap="square" lIns="0" tIns="0" rIns="0" bIns="0" rtlCol="0" anchor="ctr"/>
          <a:lstStyle/>
          <a:p>
            <a:pPr indent="0" marL="0">
              <a:lnSpc>
                <a:spcPts val="1600"/>
              </a:lnSpc>
              <a:buNone/>
            </a:pPr>
            <a:r>
              <a:rPr lang="en-US" sz="1250" dirty="0">
                <a:solidFill>
                  <a:srgbClr val="1A2430"/>
                </a:solidFill>
                <a:latin typeface="Calibri" pitchFamily="34" charset="0"/>
                <a:ea typeface="Calibri" pitchFamily="34" charset="-122"/>
                <a:cs typeface="Calibri" pitchFamily="34" charset="-120"/>
              </a:rPr>
              <a:t>On 100 evaluation examples, an accuracy of 0.84 carries a 95% interval of roughly 0.75 to 0.90. An apparent improvement from 0.81 to 0.84 sits entirely inside that band — indistinguishable from noise. On 1,000 examples the interval narrows to about 0.82 to 0.86, and the comparison becomes meaningful.</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2.10</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bootstrap — one technique that solves most of this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33</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A general-purpose way to get an uncertainty estimate for any metric, without needing its theoretical distribution.</a:t>
            </a:r>
            <a:endParaRPr lang="en-US" sz="1400" dirty="0"/>
          </a:p>
        </p:txBody>
      </p:sp>
      <p:sp>
        <p:nvSpPr>
          <p:cNvPr id="6" name="Shape 4"/>
          <p:cNvSpPr/>
          <p:nvPr/>
        </p:nvSpPr>
        <p:spPr>
          <a:xfrm>
            <a:off x="640080" y="1920240"/>
            <a:ext cx="2057400" cy="2286000"/>
          </a:xfrm>
          <a:prstGeom prst="roundRect">
            <a:avLst>
              <a:gd name="adj" fmla="val 2667"/>
            </a:avLst>
          </a:prstGeom>
          <a:solidFill>
            <a:srgbClr val="E4EEF4"/>
          </a:solidFill>
          <a:ln w="12700">
            <a:solidFill>
              <a:srgbClr val="D3E1EA"/>
            </a:solidFill>
            <a:prstDash val="solid"/>
          </a:ln>
        </p:spPr>
      </p:sp>
      <p:sp>
        <p:nvSpPr>
          <p:cNvPr id="7" name="Shape 5"/>
          <p:cNvSpPr/>
          <p:nvPr/>
        </p:nvSpPr>
        <p:spPr>
          <a:xfrm>
            <a:off x="1481328" y="2148840"/>
            <a:ext cx="365760" cy="365760"/>
          </a:xfrm>
          <a:prstGeom prst="ellipse">
            <a:avLst/>
          </a:prstGeom>
          <a:solidFill>
            <a:srgbClr val="065A82"/>
          </a:solidFill>
          <a:ln/>
        </p:spPr>
      </p:sp>
      <p:sp>
        <p:nvSpPr>
          <p:cNvPr id="8" name="Text 6"/>
          <p:cNvSpPr/>
          <p:nvPr/>
        </p:nvSpPr>
        <p:spPr>
          <a:xfrm>
            <a:off x="1481328"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77240" y="2670048"/>
            <a:ext cx="1783080" cy="320040"/>
          </a:xfrm>
          <a:prstGeom prst="rect">
            <a:avLst/>
          </a:prstGeom>
          <a:noFill/>
          <a:ln/>
        </p:spPr>
        <p:txBody>
          <a:bodyPr wrap="square" lIns="0" tIns="0" rIns="0" bIns="0" rtlCol="0" anchor="ctr"/>
          <a:lstStyle/>
          <a:p>
            <a:pPr algn="ctr" indent="0" marL="0">
              <a:buNone/>
            </a:pPr>
            <a:r>
              <a:rPr lang="en-US" sz="1400" b="1" dirty="0">
                <a:solidFill>
                  <a:srgbClr val="1A2430"/>
                </a:solidFill>
                <a:latin typeface="Cambria" pitchFamily="34" charset="0"/>
                <a:ea typeface="Cambria" pitchFamily="34" charset="-122"/>
                <a:cs typeface="Cambria" pitchFamily="34" charset="-120"/>
              </a:rPr>
              <a:t>Resample</a:t>
            </a:r>
            <a:endParaRPr lang="en-US" sz="1400" dirty="0"/>
          </a:p>
        </p:txBody>
      </p:sp>
      <p:sp>
        <p:nvSpPr>
          <p:cNvPr id="10" name="Text 8"/>
          <p:cNvSpPr/>
          <p:nvPr/>
        </p:nvSpPr>
        <p:spPr>
          <a:xfrm>
            <a:off x="777240" y="3017520"/>
            <a:ext cx="1783080" cy="1097280"/>
          </a:xfrm>
          <a:prstGeom prst="rect">
            <a:avLst/>
          </a:prstGeom>
          <a:noFill/>
          <a:ln/>
        </p:spPr>
        <p:txBody>
          <a:bodyPr wrap="square" lIns="0" tIns="0" rIns="0" bIns="0" rtlCol="0" anchor="ctr"/>
          <a:lstStyle/>
          <a:p>
            <a:pPr algn="ctr" indent="0" marL="0">
              <a:lnSpc>
                <a:spcPts val="1400"/>
              </a:lnSpc>
              <a:buNone/>
            </a:pPr>
            <a:r>
              <a:rPr lang="en-US" sz="1050" dirty="0">
                <a:solidFill>
                  <a:srgbClr val="5A6B7C"/>
                </a:solidFill>
                <a:latin typeface="Calibri" pitchFamily="34" charset="0"/>
                <a:ea typeface="Calibri" pitchFamily="34" charset="-122"/>
                <a:cs typeface="Calibri" pitchFamily="34" charset="-120"/>
              </a:rPr>
              <a:t>Draw N items from your evaluation set of size N, with replacement</a:t>
            </a:r>
            <a:endParaRPr lang="en-US" sz="1050" dirty="0"/>
          </a:p>
        </p:txBody>
      </p:sp>
      <p:sp>
        <p:nvSpPr>
          <p:cNvPr id="11" name="Shape 9"/>
          <p:cNvSpPr/>
          <p:nvPr/>
        </p:nvSpPr>
        <p:spPr>
          <a:xfrm>
            <a:off x="2871216" y="1920240"/>
            <a:ext cx="2057400" cy="2286000"/>
          </a:xfrm>
          <a:prstGeom prst="roundRect">
            <a:avLst>
              <a:gd name="adj" fmla="val 2667"/>
            </a:avLst>
          </a:prstGeom>
          <a:solidFill>
            <a:srgbClr val="EEF3F7"/>
          </a:solidFill>
          <a:ln w="12700">
            <a:solidFill>
              <a:srgbClr val="D3E1EA"/>
            </a:solidFill>
            <a:prstDash val="solid"/>
          </a:ln>
        </p:spPr>
      </p:sp>
      <p:sp>
        <p:nvSpPr>
          <p:cNvPr id="12" name="Shape 10"/>
          <p:cNvSpPr/>
          <p:nvPr/>
        </p:nvSpPr>
        <p:spPr>
          <a:xfrm>
            <a:off x="3712464" y="2148840"/>
            <a:ext cx="365760" cy="365760"/>
          </a:xfrm>
          <a:prstGeom prst="ellipse">
            <a:avLst/>
          </a:prstGeom>
          <a:solidFill>
            <a:srgbClr val="065A82"/>
          </a:solidFill>
          <a:ln/>
        </p:spPr>
      </p:sp>
      <p:sp>
        <p:nvSpPr>
          <p:cNvPr id="13" name="Text 11"/>
          <p:cNvSpPr/>
          <p:nvPr/>
        </p:nvSpPr>
        <p:spPr>
          <a:xfrm>
            <a:off x="3712464"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008376" y="2670048"/>
            <a:ext cx="1783080" cy="320040"/>
          </a:xfrm>
          <a:prstGeom prst="rect">
            <a:avLst/>
          </a:prstGeom>
          <a:noFill/>
          <a:ln/>
        </p:spPr>
        <p:txBody>
          <a:bodyPr wrap="square" lIns="0" tIns="0" rIns="0" bIns="0" rtlCol="0" anchor="ctr"/>
          <a:lstStyle/>
          <a:p>
            <a:pPr algn="ctr" indent="0" marL="0">
              <a:buNone/>
            </a:pPr>
            <a:r>
              <a:rPr lang="en-US" sz="1400" b="1" dirty="0">
                <a:solidFill>
                  <a:srgbClr val="1A2430"/>
                </a:solidFill>
                <a:latin typeface="Cambria" pitchFamily="34" charset="0"/>
                <a:ea typeface="Cambria" pitchFamily="34" charset="-122"/>
                <a:cs typeface="Cambria" pitchFamily="34" charset="-120"/>
              </a:rPr>
              <a:t>Recompute</a:t>
            </a:r>
            <a:endParaRPr lang="en-US" sz="1400" dirty="0"/>
          </a:p>
        </p:txBody>
      </p:sp>
      <p:sp>
        <p:nvSpPr>
          <p:cNvPr id="15" name="Text 13"/>
          <p:cNvSpPr/>
          <p:nvPr/>
        </p:nvSpPr>
        <p:spPr>
          <a:xfrm>
            <a:off x="3008376" y="3017520"/>
            <a:ext cx="1783080" cy="1097280"/>
          </a:xfrm>
          <a:prstGeom prst="rect">
            <a:avLst/>
          </a:prstGeom>
          <a:noFill/>
          <a:ln/>
        </p:spPr>
        <p:txBody>
          <a:bodyPr wrap="square" lIns="0" tIns="0" rIns="0" bIns="0" rtlCol="0" anchor="ctr"/>
          <a:lstStyle/>
          <a:p>
            <a:pPr algn="ctr" indent="0" marL="0">
              <a:lnSpc>
                <a:spcPts val="1400"/>
              </a:lnSpc>
              <a:buNone/>
            </a:pPr>
            <a:r>
              <a:rPr lang="en-US" sz="1050" dirty="0">
                <a:solidFill>
                  <a:srgbClr val="5A6B7C"/>
                </a:solidFill>
                <a:latin typeface="Calibri" pitchFamily="34" charset="0"/>
                <a:ea typeface="Calibri" pitchFamily="34" charset="-122"/>
                <a:cs typeface="Calibri" pitchFamily="34" charset="-120"/>
              </a:rPr>
              <a:t>Calculate the metric on that resample</a:t>
            </a:r>
            <a:endParaRPr lang="en-US" sz="1050" dirty="0"/>
          </a:p>
        </p:txBody>
      </p:sp>
      <p:sp>
        <p:nvSpPr>
          <p:cNvPr id="16" name="Shape 14"/>
          <p:cNvSpPr/>
          <p:nvPr/>
        </p:nvSpPr>
        <p:spPr>
          <a:xfrm>
            <a:off x="5102352" y="1920240"/>
            <a:ext cx="2057400" cy="2286000"/>
          </a:xfrm>
          <a:prstGeom prst="roundRect">
            <a:avLst>
              <a:gd name="adj" fmla="val 2667"/>
            </a:avLst>
          </a:prstGeom>
          <a:solidFill>
            <a:srgbClr val="E4EEF4"/>
          </a:solidFill>
          <a:ln w="12700">
            <a:solidFill>
              <a:srgbClr val="D3E1EA"/>
            </a:solidFill>
            <a:prstDash val="solid"/>
          </a:ln>
        </p:spPr>
      </p:sp>
      <p:sp>
        <p:nvSpPr>
          <p:cNvPr id="17" name="Shape 15"/>
          <p:cNvSpPr/>
          <p:nvPr/>
        </p:nvSpPr>
        <p:spPr>
          <a:xfrm>
            <a:off x="5943600" y="2148840"/>
            <a:ext cx="365760" cy="365760"/>
          </a:xfrm>
          <a:prstGeom prst="ellipse">
            <a:avLst/>
          </a:prstGeom>
          <a:solidFill>
            <a:srgbClr val="065A82"/>
          </a:solidFill>
          <a:ln/>
        </p:spPr>
      </p:sp>
      <p:sp>
        <p:nvSpPr>
          <p:cNvPr id="18" name="Text 16"/>
          <p:cNvSpPr/>
          <p:nvPr/>
        </p:nvSpPr>
        <p:spPr>
          <a:xfrm>
            <a:off x="5943600"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239512" y="2670048"/>
            <a:ext cx="1783080" cy="320040"/>
          </a:xfrm>
          <a:prstGeom prst="rect">
            <a:avLst/>
          </a:prstGeom>
          <a:noFill/>
          <a:ln/>
        </p:spPr>
        <p:txBody>
          <a:bodyPr wrap="square" lIns="0" tIns="0" rIns="0" bIns="0" rtlCol="0" anchor="ctr"/>
          <a:lstStyle/>
          <a:p>
            <a:pPr algn="ctr" indent="0" marL="0">
              <a:buNone/>
            </a:pPr>
            <a:r>
              <a:rPr lang="en-US" sz="1400" b="1" dirty="0">
                <a:solidFill>
                  <a:srgbClr val="1A2430"/>
                </a:solidFill>
                <a:latin typeface="Cambria" pitchFamily="34" charset="0"/>
                <a:ea typeface="Cambria" pitchFamily="34" charset="-122"/>
                <a:cs typeface="Cambria" pitchFamily="34" charset="-120"/>
              </a:rPr>
              <a:t>Repeat</a:t>
            </a:r>
            <a:endParaRPr lang="en-US" sz="1400" dirty="0"/>
          </a:p>
        </p:txBody>
      </p:sp>
      <p:sp>
        <p:nvSpPr>
          <p:cNvPr id="20" name="Text 18"/>
          <p:cNvSpPr/>
          <p:nvPr/>
        </p:nvSpPr>
        <p:spPr>
          <a:xfrm>
            <a:off x="5239512" y="3017520"/>
            <a:ext cx="1783080" cy="1097280"/>
          </a:xfrm>
          <a:prstGeom prst="rect">
            <a:avLst/>
          </a:prstGeom>
          <a:noFill/>
          <a:ln/>
        </p:spPr>
        <p:txBody>
          <a:bodyPr wrap="square" lIns="0" tIns="0" rIns="0" bIns="0" rtlCol="0" anchor="ctr"/>
          <a:lstStyle/>
          <a:p>
            <a:pPr algn="ctr" indent="0" marL="0">
              <a:lnSpc>
                <a:spcPts val="1400"/>
              </a:lnSpc>
              <a:buNone/>
            </a:pPr>
            <a:r>
              <a:rPr lang="en-US" sz="1050" dirty="0">
                <a:solidFill>
                  <a:srgbClr val="5A6B7C"/>
                </a:solidFill>
                <a:latin typeface="Calibri" pitchFamily="34" charset="0"/>
                <a:ea typeface="Calibri" pitchFamily="34" charset="-122"/>
                <a:cs typeface="Calibri" pitchFamily="34" charset="-120"/>
              </a:rPr>
              <a:t>Do this 1,000 to 10,000 times</a:t>
            </a:r>
            <a:endParaRPr lang="en-US" sz="1050" dirty="0"/>
          </a:p>
        </p:txBody>
      </p:sp>
      <p:sp>
        <p:nvSpPr>
          <p:cNvPr id="21" name="Shape 19"/>
          <p:cNvSpPr/>
          <p:nvPr/>
        </p:nvSpPr>
        <p:spPr>
          <a:xfrm>
            <a:off x="7333488" y="1920240"/>
            <a:ext cx="2057400" cy="2286000"/>
          </a:xfrm>
          <a:prstGeom prst="roundRect">
            <a:avLst>
              <a:gd name="adj" fmla="val 2667"/>
            </a:avLst>
          </a:prstGeom>
          <a:solidFill>
            <a:srgbClr val="EEF3F7"/>
          </a:solidFill>
          <a:ln w="12700">
            <a:solidFill>
              <a:srgbClr val="D3E1EA"/>
            </a:solidFill>
            <a:prstDash val="solid"/>
          </a:ln>
        </p:spPr>
      </p:sp>
      <p:sp>
        <p:nvSpPr>
          <p:cNvPr id="22" name="Shape 20"/>
          <p:cNvSpPr/>
          <p:nvPr/>
        </p:nvSpPr>
        <p:spPr>
          <a:xfrm>
            <a:off x="8174736" y="2148840"/>
            <a:ext cx="365760" cy="365760"/>
          </a:xfrm>
          <a:prstGeom prst="ellipse">
            <a:avLst/>
          </a:prstGeom>
          <a:solidFill>
            <a:srgbClr val="065A82"/>
          </a:solidFill>
          <a:ln/>
        </p:spPr>
      </p:sp>
      <p:sp>
        <p:nvSpPr>
          <p:cNvPr id="23" name="Text 21"/>
          <p:cNvSpPr/>
          <p:nvPr/>
        </p:nvSpPr>
        <p:spPr>
          <a:xfrm>
            <a:off x="8174736"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7470648" y="2670048"/>
            <a:ext cx="1783080" cy="320040"/>
          </a:xfrm>
          <a:prstGeom prst="rect">
            <a:avLst/>
          </a:prstGeom>
          <a:noFill/>
          <a:ln/>
        </p:spPr>
        <p:txBody>
          <a:bodyPr wrap="square" lIns="0" tIns="0" rIns="0" bIns="0" rtlCol="0" anchor="ctr"/>
          <a:lstStyle/>
          <a:p>
            <a:pPr algn="ctr" indent="0" marL="0">
              <a:buNone/>
            </a:pPr>
            <a:r>
              <a:rPr lang="en-US" sz="1400" b="1" dirty="0">
                <a:solidFill>
                  <a:srgbClr val="1A2430"/>
                </a:solidFill>
                <a:latin typeface="Cambria" pitchFamily="34" charset="0"/>
                <a:ea typeface="Cambria" pitchFamily="34" charset="-122"/>
                <a:cs typeface="Cambria" pitchFamily="34" charset="-120"/>
              </a:rPr>
              <a:t>Collect</a:t>
            </a:r>
            <a:endParaRPr lang="en-US" sz="1400" dirty="0"/>
          </a:p>
        </p:txBody>
      </p:sp>
      <p:sp>
        <p:nvSpPr>
          <p:cNvPr id="25" name="Text 23"/>
          <p:cNvSpPr/>
          <p:nvPr/>
        </p:nvSpPr>
        <p:spPr>
          <a:xfrm>
            <a:off x="7470648" y="3017520"/>
            <a:ext cx="1783080" cy="1097280"/>
          </a:xfrm>
          <a:prstGeom prst="rect">
            <a:avLst/>
          </a:prstGeom>
          <a:noFill/>
          <a:ln/>
        </p:spPr>
        <p:txBody>
          <a:bodyPr wrap="square" lIns="0" tIns="0" rIns="0" bIns="0" rtlCol="0" anchor="ctr"/>
          <a:lstStyle/>
          <a:p>
            <a:pPr algn="ctr" indent="0" marL="0">
              <a:lnSpc>
                <a:spcPts val="1400"/>
              </a:lnSpc>
              <a:buNone/>
            </a:pPr>
            <a:r>
              <a:rPr lang="en-US" sz="1050" dirty="0">
                <a:solidFill>
                  <a:srgbClr val="5A6B7C"/>
                </a:solidFill>
                <a:latin typeface="Calibri" pitchFamily="34" charset="0"/>
                <a:ea typeface="Calibri" pitchFamily="34" charset="-122"/>
                <a:cs typeface="Calibri" pitchFamily="34" charset="-120"/>
              </a:rPr>
              <a:t>You now have a distribution of the metric</a:t>
            </a:r>
            <a:endParaRPr lang="en-US" sz="1050" dirty="0"/>
          </a:p>
        </p:txBody>
      </p:sp>
      <p:sp>
        <p:nvSpPr>
          <p:cNvPr id="26" name="Shape 24"/>
          <p:cNvSpPr/>
          <p:nvPr/>
        </p:nvSpPr>
        <p:spPr>
          <a:xfrm>
            <a:off x="9564624" y="1920240"/>
            <a:ext cx="2057400" cy="2286000"/>
          </a:xfrm>
          <a:prstGeom prst="roundRect">
            <a:avLst>
              <a:gd name="adj" fmla="val 2667"/>
            </a:avLst>
          </a:prstGeom>
          <a:solidFill>
            <a:srgbClr val="E4EEF4"/>
          </a:solidFill>
          <a:ln w="12700">
            <a:solidFill>
              <a:srgbClr val="D3E1EA"/>
            </a:solidFill>
            <a:prstDash val="solid"/>
          </a:ln>
        </p:spPr>
      </p:sp>
      <p:sp>
        <p:nvSpPr>
          <p:cNvPr id="27" name="Shape 25"/>
          <p:cNvSpPr/>
          <p:nvPr/>
        </p:nvSpPr>
        <p:spPr>
          <a:xfrm>
            <a:off x="10405872" y="2148840"/>
            <a:ext cx="365760" cy="365760"/>
          </a:xfrm>
          <a:prstGeom prst="ellipse">
            <a:avLst/>
          </a:prstGeom>
          <a:solidFill>
            <a:srgbClr val="065A82"/>
          </a:solidFill>
          <a:ln/>
        </p:spPr>
      </p:sp>
      <p:sp>
        <p:nvSpPr>
          <p:cNvPr id="28" name="Text 26"/>
          <p:cNvSpPr/>
          <p:nvPr/>
        </p:nvSpPr>
        <p:spPr>
          <a:xfrm>
            <a:off x="10405872"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9701784" y="2670048"/>
            <a:ext cx="1783080" cy="320040"/>
          </a:xfrm>
          <a:prstGeom prst="rect">
            <a:avLst/>
          </a:prstGeom>
          <a:noFill/>
          <a:ln/>
        </p:spPr>
        <p:txBody>
          <a:bodyPr wrap="square" lIns="0" tIns="0" rIns="0" bIns="0" rtlCol="0" anchor="ctr"/>
          <a:lstStyle/>
          <a:p>
            <a:pPr algn="ctr" indent="0" marL="0">
              <a:buNone/>
            </a:pPr>
            <a:r>
              <a:rPr lang="en-US" sz="1400" b="1" dirty="0">
                <a:solidFill>
                  <a:srgbClr val="1A2430"/>
                </a:solidFill>
                <a:latin typeface="Cambria" pitchFamily="34" charset="0"/>
                <a:ea typeface="Cambria" pitchFamily="34" charset="-122"/>
                <a:cs typeface="Cambria" pitchFamily="34" charset="-120"/>
              </a:rPr>
              <a:t>Read off</a:t>
            </a:r>
            <a:endParaRPr lang="en-US" sz="1400" dirty="0"/>
          </a:p>
        </p:txBody>
      </p:sp>
      <p:sp>
        <p:nvSpPr>
          <p:cNvPr id="30" name="Text 28"/>
          <p:cNvSpPr/>
          <p:nvPr/>
        </p:nvSpPr>
        <p:spPr>
          <a:xfrm>
            <a:off x="9701784" y="3017520"/>
            <a:ext cx="1783080" cy="1097280"/>
          </a:xfrm>
          <a:prstGeom prst="rect">
            <a:avLst/>
          </a:prstGeom>
          <a:noFill/>
          <a:ln/>
        </p:spPr>
        <p:txBody>
          <a:bodyPr wrap="square" lIns="0" tIns="0" rIns="0" bIns="0" rtlCol="0" anchor="ctr"/>
          <a:lstStyle/>
          <a:p>
            <a:pPr algn="ctr" indent="0" marL="0">
              <a:lnSpc>
                <a:spcPts val="1400"/>
              </a:lnSpc>
              <a:buNone/>
            </a:pPr>
            <a:r>
              <a:rPr lang="en-US" sz="1050" dirty="0">
                <a:solidFill>
                  <a:srgbClr val="5A6B7C"/>
                </a:solidFill>
                <a:latin typeface="Calibri" pitchFamily="34" charset="0"/>
                <a:ea typeface="Calibri" pitchFamily="34" charset="-122"/>
                <a:cs typeface="Calibri" pitchFamily="34" charset="-120"/>
              </a:rPr>
              <a:t>The 2.5th and 97.5th percentiles give a 95% interval</a:t>
            </a:r>
            <a:endParaRPr lang="en-US" sz="1050" dirty="0"/>
          </a:p>
        </p:txBody>
      </p:sp>
      <p:sp>
        <p:nvSpPr>
          <p:cNvPr id="31" name="Shape 29"/>
          <p:cNvSpPr/>
          <p:nvPr/>
        </p:nvSpPr>
        <p:spPr>
          <a:xfrm>
            <a:off x="640080" y="4480560"/>
            <a:ext cx="10881360" cy="1188720"/>
          </a:xfrm>
          <a:prstGeom prst="roundRect">
            <a:avLst>
              <a:gd name="adj" fmla="val 4615"/>
            </a:avLst>
          </a:prstGeom>
          <a:solidFill>
            <a:srgbClr val="EDF5EE"/>
          </a:solidFill>
          <a:ln w="12700">
            <a:solidFill>
              <a:srgbClr val="C2DCC8"/>
            </a:solidFill>
            <a:prstDash val="solid"/>
          </a:ln>
        </p:spPr>
      </p:sp>
      <p:sp>
        <p:nvSpPr>
          <p:cNvPr id="32" name="Text 30"/>
          <p:cNvSpPr/>
          <p:nvPr/>
        </p:nvSpPr>
        <p:spPr>
          <a:xfrm>
            <a:off x="914400" y="4663440"/>
            <a:ext cx="10332720" cy="86868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Why it is worth teaching: it works for metrics with no simple formula — mean average precision, NDCG, faithfulness scores, end-to-end task success. For a paired comparison, bootstrap the difference between the two systems on the same resampled items and check whether the interval contains zero.</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indent="0" marL="0">
              <a:buNone/>
            </a:pPr>
            <a:r>
              <a:rPr lang="en-US" sz="1200" b="1" spc="300" kern="0" dirty="0">
                <a:solidFill>
                  <a:srgbClr val="9FD0E3"/>
                </a:solidFill>
                <a:latin typeface="Calibri" pitchFamily="34" charset="0"/>
                <a:ea typeface="Calibri" pitchFamily="34" charset="-122"/>
                <a:cs typeface="Calibri" pitchFamily="34" charset="-120"/>
              </a:rPr>
              <a:t>MODULE 2B</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Hypothesis Formulation and Testing</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indent="0" marL="0">
              <a:lnSpc>
                <a:spcPts val="2100"/>
              </a:lnSpc>
              <a:buNone/>
            </a:pPr>
            <a:r>
              <a:rPr lang="en-US" sz="1500" dirty="0">
                <a:solidFill>
                  <a:srgbClr val="D5E8F0"/>
                </a:solidFill>
                <a:latin typeface="Calibri" pitchFamily="34" charset="0"/>
                <a:ea typeface="Calibri" pitchFamily="34" charset="-122"/>
                <a:cs typeface="Calibri" pitchFamily="34" charset="-120"/>
              </a:rPr>
              <a:t>How to know — rather than believe — that a change made the system better.</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Formulating a hypothesis you can actually test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35</a:t>
            </a:r>
            <a:endParaRPr lang="en-US" sz="1000" dirty="0"/>
          </a:p>
        </p:txBody>
      </p:sp>
      <p:sp>
        <p:nvSpPr>
          <p:cNvPr id="5" name="Text 3"/>
          <p:cNvSpPr/>
          <p:nvPr/>
        </p:nvSpPr>
        <p:spPr>
          <a:xfrm>
            <a:off x="640080" y="1280160"/>
            <a:ext cx="10881360" cy="320040"/>
          </a:xfrm>
          <a:prstGeom prst="rect">
            <a:avLst/>
          </a:prstGeom>
          <a:noFill/>
          <a:ln/>
        </p:spPr>
        <p:txBody>
          <a:bodyPr wrap="square"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Three levels. Most teams state the first and start coding.</a:t>
            </a:r>
            <a:endParaRPr lang="en-US" sz="1400" dirty="0"/>
          </a:p>
        </p:txBody>
      </p:sp>
      <p:sp>
        <p:nvSpPr>
          <p:cNvPr id="6" name="Shape 4"/>
          <p:cNvSpPr/>
          <p:nvPr/>
        </p:nvSpPr>
        <p:spPr>
          <a:xfrm>
            <a:off x="640080" y="1783080"/>
            <a:ext cx="10881360" cy="1051560"/>
          </a:xfrm>
          <a:prstGeom prst="roundRect">
            <a:avLst>
              <a:gd name="adj" fmla="val 5217"/>
            </a:avLst>
          </a:prstGeom>
          <a:solidFill>
            <a:srgbClr val="EEF3F7"/>
          </a:solidFill>
          <a:ln w="12700">
            <a:solidFill>
              <a:srgbClr val="D8E4EC"/>
            </a:solidFill>
            <a:prstDash val="solid"/>
          </a:ln>
        </p:spPr>
      </p:sp>
      <p:sp>
        <p:nvSpPr>
          <p:cNvPr id="7" name="Shape 5"/>
          <p:cNvSpPr/>
          <p:nvPr/>
        </p:nvSpPr>
        <p:spPr>
          <a:xfrm>
            <a:off x="868680" y="2112264"/>
            <a:ext cx="365760" cy="365760"/>
          </a:xfrm>
          <a:prstGeom prst="ellipse">
            <a:avLst/>
          </a:prstGeom>
          <a:solidFill>
            <a:srgbClr val="065A82"/>
          </a:solidFill>
          <a:ln/>
        </p:spPr>
      </p:sp>
      <p:sp>
        <p:nvSpPr>
          <p:cNvPr id="8" name="Text 6"/>
          <p:cNvSpPr/>
          <p:nvPr/>
        </p:nvSpPr>
        <p:spPr>
          <a:xfrm>
            <a:off x="868680" y="21122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417320" y="1911096"/>
            <a:ext cx="2926080" cy="365760"/>
          </a:xfrm>
          <a:prstGeom prst="rect">
            <a:avLst/>
          </a:prstGeom>
          <a:noFill/>
          <a:ln/>
        </p:spPr>
        <p:txBody>
          <a:bodyPr wrap="square" lIns="0" tIns="0" rIns="0" bIns="0" rtlCol="0" anchor="ctr"/>
          <a:lstStyle/>
          <a:p>
            <a:pPr indent="0" marL="0">
              <a:buNone/>
            </a:pPr>
            <a:r>
              <a:rPr lang="en-US" sz="1500" b="1" dirty="0">
                <a:solidFill>
                  <a:srgbClr val="1A2430"/>
                </a:solidFill>
                <a:latin typeface="Cambria" pitchFamily="34" charset="0"/>
                <a:ea typeface="Cambria" pitchFamily="34" charset="-122"/>
                <a:cs typeface="Cambria" pitchFamily="34" charset="-120"/>
              </a:rPr>
              <a:t>Business hypothesis</a:t>
            </a:r>
            <a:endParaRPr lang="en-US" sz="1500" dirty="0"/>
          </a:p>
        </p:txBody>
      </p:sp>
      <p:sp>
        <p:nvSpPr>
          <p:cNvPr id="10" name="Text 8"/>
          <p:cNvSpPr/>
          <p:nvPr/>
        </p:nvSpPr>
        <p:spPr>
          <a:xfrm>
            <a:off x="1417320" y="2295144"/>
            <a:ext cx="3200400" cy="457200"/>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What outcome do we believe will improve?</a:t>
            </a:r>
            <a:endParaRPr lang="en-US" sz="1100" dirty="0"/>
          </a:p>
        </p:txBody>
      </p:sp>
      <p:sp>
        <p:nvSpPr>
          <p:cNvPr id="11" name="Text 9"/>
          <p:cNvSpPr/>
          <p:nvPr/>
        </p:nvSpPr>
        <p:spPr>
          <a:xfrm>
            <a:off x="4937760" y="2057400"/>
            <a:ext cx="6400800" cy="548640"/>
          </a:xfrm>
          <a:prstGeom prst="rect">
            <a:avLst/>
          </a:prstGeom>
          <a:noFill/>
          <a:ln/>
        </p:spPr>
        <p:txBody>
          <a:bodyPr wrap="square" lIns="0" tIns="0" rIns="0" bIns="0" rtlCol="0" anchor="ctr"/>
          <a:lstStyle/>
          <a:p>
            <a:pPr indent="0" marL="0">
              <a:lnSpc>
                <a:spcPts val="1700"/>
              </a:lnSpc>
              <a:buNone/>
            </a:pPr>
            <a:r>
              <a:rPr lang="en-US" sz="1300" i="1" dirty="0">
                <a:solidFill>
                  <a:srgbClr val="065A82"/>
                </a:solidFill>
                <a:latin typeface="Calibri" pitchFamily="34" charset="0"/>
                <a:ea typeface="Calibri" pitchFamily="34" charset="-122"/>
                <a:cs typeface="Calibri" pitchFamily="34" charset="-120"/>
              </a:rPr>
              <a:t>"Service engineers will find the right procedure faster."</a:t>
            </a:r>
            <a:endParaRPr lang="en-US" sz="1300" dirty="0"/>
          </a:p>
        </p:txBody>
      </p:sp>
      <p:sp>
        <p:nvSpPr>
          <p:cNvPr id="12" name="Shape 10"/>
          <p:cNvSpPr/>
          <p:nvPr/>
        </p:nvSpPr>
        <p:spPr>
          <a:xfrm>
            <a:off x="640080" y="3017520"/>
            <a:ext cx="10881360" cy="1051560"/>
          </a:xfrm>
          <a:prstGeom prst="roundRect">
            <a:avLst>
              <a:gd name="adj" fmla="val 5217"/>
            </a:avLst>
          </a:prstGeom>
          <a:solidFill>
            <a:srgbClr val="EEF3F7"/>
          </a:solidFill>
          <a:ln w="12700">
            <a:solidFill>
              <a:srgbClr val="D8E4EC"/>
            </a:solidFill>
            <a:prstDash val="solid"/>
          </a:ln>
        </p:spPr>
      </p:sp>
      <p:sp>
        <p:nvSpPr>
          <p:cNvPr id="13" name="Shape 11"/>
          <p:cNvSpPr/>
          <p:nvPr/>
        </p:nvSpPr>
        <p:spPr>
          <a:xfrm>
            <a:off x="868680" y="3346704"/>
            <a:ext cx="365760" cy="365760"/>
          </a:xfrm>
          <a:prstGeom prst="ellipse">
            <a:avLst/>
          </a:prstGeom>
          <a:solidFill>
            <a:srgbClr val="1C7293"/>
          </a:solidFill>
          <a:ln/>
        </p:spPr>
      </p:sp>
      <p:sp>
        <p:nvSpPr>
          <p:cNvPr id="14" name="Text 12"/>
          <p:cNvSpPr/>
          <p:nvPr/>
        </p:nvSpPr>
        <p:spPr>
          <a:xfrm>
            <a:off x="868680" y="33467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417320" y="3145536"/>
            <a:ext cx="2926080" cy="365760"/>
          </a:xfrm>
          <a:prstGeom prst="rect">
            <a:avLst/>
          </a:prstGeom>
          <a:noFill/>
          <a:ln/>
        </p:spPr>
        <p:txBody>
          <a:bodyPr wrap="square" lIns="0" tIns="0" rIns="0" bIns="0" rtlCol="0" anchor="ctr"/>
          <a:lstStyle/>
          <a:p>
            <a:pPr indent="0" marL="0">
              <a:buNone/>
            </a:pPr>
            <a:r>
              <a:rPr lang="en-US" sz="1500" b="1" dirty="0">
                <a:solidFill>
                  <a:srgbClr val="1A2430"/>
                </a:solidFill>
                <a:latin typeface="Cambria" pitchFamily="34" charset="0"/>
                <a:ea typeface="Cambria" pitchFamily="34" charset="-122"/>
                <a:cs typeface="Cambria" pitchFamily="34" charset="-120"/>
              </a:rPr>
              <a:t>Technical hypothesis</a:t>
            </a:r>
            <a:endParaRPr lang="en-US" sz="1500" dirty="0"/>
          </a:p>
        </p:txBody>
      </p:sp>
      <p:sp>
        <p:nvSpPr>
          <p:cNvPr id="16" name="Text 14"/>
          <p:cNvSpPr/>
          <p:nvPr/>
        </p:nvSpPr>
        <p:spPr>
          <a:xfrm>
            <a:off x="1417320" y="3529584"/>
            <a:ext cx="3200400" cy="457200"/>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What change do we believe causes it?</a:t>
            </a:r>
            <a:endParaRPr lang="en-US" sz="1100" dirty="0"/>
          </a:p>
        </p:txBody>
      </p:sp>
      <p:sp>
        <p:nvSpPr>
          <p:cNvPr id="17" name="Text 15"/>
          <p:cNvSpPr/>
          <p:nvPr/>
        </p:nvSpPr>
        <p:spPr>
          <a:xfrm>
            <a:off x="4937760" y="3291840"/>
            <a:ext cx="6400800" cy="548640"/>
          </a:xfrm>
          <a:prstGeom prst="rect">
            <a:avLst/>
          </a:prstGeom>
          <a:noFill/>
          <a:ln/>
        </p:spPr>
        <p:txBody>
          <a:bodyPr wrap="square" lIns="0" tIns="0" rIns="0" bIns="0" rtlCol="0" anchor="ctr"/>
          <a:lstStyle/>
          <a:p>
            <a:pPr indent="0" marL="0">
              <a:lnSpc>
                <a:spcPts val="1700"/>
              </a:lnSpc>
              <a:buNone/>
            </a:pPr>
            <a:r>
              <a:rPr lang="en-US" sz="1300" i="1" dirty="0">
                <a:solidFill>
                  <a:srgbClr val="1C7293"/>
                </a:solidFill>
                <a:latin typeface="Calibri" pitchFamily="34" charset="0"/>
                <a:ea typeface="Calibri" pitchFamily="34" charset="-122"/>
                <a:cs typeface="Calibri" pitchFamily="34" charset="-120"/>
              </a:rPr>
              <a:t>"Hybrid retrieval with reranking returns more relevant passages."</a:t>
            </a:r>
            <a:endParaRPr lang="en-US" sz="1300" dirty="0"/>
          </a:p>
        </p:txBody>
      </p:sp>
      <p:sp>
        <p:nvSpPr>
          <p:cNvPr id="18" name="Shape 16"/>
          <p:cNvSpPr/>
          <p:nvPr/>
        </p:nvSpPr>
        <p:spPr>
          <a:xfrm>
            <a:off x="640080" y="4251960"/>
            <a:ext cx="10881360" cy="1051560"/>
          </a:xfrm>
          <a:prstGeom prst="roundRect">
            <a:avLst>
              <a:gd name="adj" fmla="val 5217"/>
            </a:avLst>
          </a:prstGeom>
          <a:solidFill>
            <a:srgbClr val="EEF3F7"/>
          </a:solidFill>
          <a:ln w="12700">
            <a:solidFill>
              <a:srgbClr val="D8E4EC"/>
            </a:solidFill>
            <a:prstDash val="solid"/>
          </a:ln>
        </p:spPr>
      </p:sp>
      <p:sp>
        <p:nvSpPr>
          <p:cNvPr id="19" name="Shape 17"/>
          <p:cNvSpPr/>
          <p:nvPr/>
        </p:nvSpPr>
        <p:spPr>
          <a:xfrm>
            <a:off x="868680" y="4581144"/>
            <a:ext cx="365760" cy="365760"/>
          </a:xfrm>
          <a:prstGeom prst="ellipse">
            <a:avLst/>
          </a:prstGeom>
          <a:solidFill>
            <a:srgbClr val="21295C"/>
          </a:solidFill>
          <a:ln/>
        </p:spPr>
      </p:sp>
      <p:sp>
        <p:nvSpPr>
          <p:cNvPr id="20" name="Text 18"/>
          <p:cNvSpPr/>
          <p:nvPr/>
        </p:nvSpPr>
        <p:spPr>
          <a:xfrm>
            <a:off x="868680" y="45811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417320" y="4379976"/>
            <a:ext cx="2926080" cy="365760"/>
          </a:xfrm>
          <a:prstGeom prst="rect">
            <a:avLst/>
          </a:prstGeom>
          <a:noFill/>
          <a:ln/>
        </p:spPr>
        <p:txBody>
          <a:bodyPr wrap="square" lIns="0" tIns="0" rIns="0" bIns="0" rtlCol="0" anchor="ctr"/>
          <a:lstStyle/>
          <a:p>
            <a:pPr indent="0" marL="0">
              <a:buNone/>
            </a:pPr>
            <a:r>
              <a:rPr lang="en-US" sz="1500" b="1" dirty="0">
                <a:solidFill>
                  <a:srgbClr val="1A2430"/>
                </a:solidFill>
                <a:latin typeface="Cambria" pitchFamily="34" charset="0"/>
                <a:ea typeface="Cambria" pitchFamily="34" charset="-122"/>
                <a:cs typeface="Cambria" pitchFamily="34" charset="-120"/>
              </a:rPr>
              <a:t>Measurable hypothesis</a:t>
            </a:r>
            <a:endParaRPr lang="en-US" sz="1500" dirty="0"/>
          </a:p>
        </p:txBody>
      </p:sp>
      <p:sp>
        <p:nvSpPr>
          <p:cNvPr id="22" name="Text 20"/>
          <p:cNvSpPr/>
          <p:nvPr/>
        </p:nvSpPr>
        <p:spPr>
          <a:xfrm>
            <a:off x="1417320" y="4764024"/>
            <a:ext cx="3200400" cy="457200"/>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What number moves, by how much, measured how, on what data?</a:t>
            </a:r>
            <a:endParaRPr lang="en-US" sz="1100" dirty="0"/>
          </a:p>
        </p:txBody>
      </p:sp>
      <p:sp>
        <p:nvSpPr>
          <p:cNvPr id="23" name="Text 21"/>
          <p:cNvSpPr/>
          <p:nvPr/>
        </p:nvSpPr>
        <p:spPr>
          <a:xfrm>
            <a:off x="4937760" y="4526280"/>
            <a:ext cx="6400800" cy="548640"/>
          </a:xfrm>
          <a:prstGeom prst="rect">
            <a:avLst/>
          </a:prstGeom>
          <a:noFill/>
          <a:ln/>
        </p:spPr>
        <p:txBody>
          <a:bodyPr wrap="square" lIns="0" tIns="0" rIns="0" bIns="0" rtlCol="0" anchor="ctr"/>
          <a:lstStyle/>
          <a:p>
            <a:pPr indent="0" marL="0">
              <a:lnSpc>
                <a:spcPts val="1700"/>
              </a:lnSpc>
              <a:buNone/>
            </a:pPr>
            <a:r>
              <a:rPr lang="en-US" sz="1300" i="1" dirty="0">
                <a:solidFill>
                  <a:srgbClr val="21295C"/>
                </a:solidFill>
                <a:latin typeface="Calibri" pitchFamily="34" charset="0"/>
                <a:ea typeface="Calibri" pitchFamily="34" charset="-122"/>
                <a:cs typeface="Calibri" pitchFamily="34" charset="-120"/>
              </a:rPr>
              <a:t>"Context recall on the 80-question gold set v3 rises from 0.61 to at least 0.75."</a:t>
            </a:r>
            <a:endParaRPr lang="en-US" sz="1300" dirty="0"/>
          </a:p>
        </p:txBody>
      </p:sp>
      <p:sp>
        <p:nvSpPr>
          <p:cNvPr id="24" name="Text 22"/>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Only the third can be tested, argued about with evidence, or used to decide whether to keep the change.</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Null and alternative hypotheses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36</a:t>
            </a:r>
            <a:endParaRPr lang="en-US" sz="1000" dirty="0"/>
          </a:p>
        </p:txBody>
      </p:sp>
      <p:sp>
        <p:nvSpPr>
          <p:cNvPr id="5" name="Shape 3"/>
          <p:cNvSpPr/>
          <p:nvPr/>
        </p:nvSpPr>
        <p:spPr>
          <a:xfrm>
            <a:off x="640080" y="1325880"/>
            <a:ext cx="5303520" cy="1828800"/>
          </a:xfrm>
          <a:prstGeom prst="roundRect">
            <a:avLst>
              <a:gd name="adj" fmla="val 3000"/>
            </a:avLst>
          </a:prstGeom>
          <a:solidFill>
            <a:srgbClr val="EEF3F7"/>
          </a:solidFill>
          <a:ln w="12700">
            <a:solidFill>
              <a:srgbClr val="D8E4EC"/>
            </a:solidFill>
            <a:prstDash val="solid"/>
          </a:ln>
        </p:spPr>
      </p:sp>
      <p:sp>
        <p:nvSpPr>
          <p:cNvPr id="6" name="Text 4"/>
          <p:cNvSpPr/>
          <p:nvPr/>
        </p:nvSpPr>
        <p:spPr>
          <a:xfrm>
            <a:off x="841248" y="1463040"/>
            <a:ext cx="49011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Null hypothesis  (H0)</a:t>
            </a:r>
            <a:endParaRPr lang="en-US" sz="1400" dirty="0"/>
          </a:p>
        </p:txBody>
      </p:sp>
      <p:sp>
        <p:nvSpPr>
          <p:cNvPr id="7" name="Text 5"/>
          <p:cNvSpPr/>
          <p:nvPr/>
        </p:nvSpPr>
        <p:spPr>
          <a:xfrm>
            <a:off x="841248" y="1828800"/>
            <a:ext cx="4901184" cy="11704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assumption of no effect. "The new retrieval method performs no better than the current one."</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You assume this is true and look for evidence strong enough to reject it.</a:t>
            </a:r>
            <a:endParaRPr lang="en-US" sz="1150" dirty="0"/>
          </a:p>
        </p:txBody>
      </p:sp>
      <p:sp>
        <p:nvSpPr>
          <p:cNvPr id="8" name="Shape 6"/>
          <p:cNvSpPr/>
          <p:nvPr/>
        </p:nvSpPr>
        <p:spPr>
          <a:xfrm>
            <a:off x="6263640" y="1325880"/>
            <a:ext cx="5257800" cy="1828800"/>
          </a:xfrm>
          <a:prstGeom prst="roundRect">
            <a:avLst>
              <a:gd name="adj" fmla="val 3000"/>
            </a:avLst>
          </a:prstGeom>
          <a:solidFill>
            <a:srgbClr val="EEF3F7"/>
          </a:solidFill>
          <a:ln w="12700">
            <a:solidFill>
              <a:srgbClr val="D8E4EC"/>
            </a:solidFill>
            <a:prstDash val="solid"/>
          </a:ln>
        </p:spPr>
      </p:sp>
      <p:sp>
        <p:nvSpPr>
          <p:cNvPr id="9" name="Text 7"/>
          <p:cNvSpPr/>
          <p:nvPr/>
        </p:nvSpPr>
        <p:spPr>
          <a:xfrm>
            <a:off x="6464808" y="1463040"/>
            <a:ext cx="485546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Alternative hypothesis  (H1)</a:t>
            </a:r>
            <a:endParaRPr lang="en-US" sz="1400" dirty="0"/>
          </a:p>
        </p:txBody>
      </p:sp>
      <p:sp>
        <p:nvSpPr>
          <p:cNvPr id="10" name="Text 8"/>
          <p:cNvSpPr/>
          <p:nvPr/>
        </p:nvSpPr>
        <p:spPr>
          <a:xfrm>
            <a:off x="6464808" y="1828800"/>
            <a:ext cx="4855464" cy="11704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claim you are actually making. "The new method improves context recall."</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You never prove H1 directly. You reject H0, or you fail to reject it.</a:t>
            </a:r>
            <a:endParaRPr lang="en-US" sz="1150" dirty="0"/>
          </a:p>
        </p:txBody>
      </p:sp>
      <p:sp>
        <p:nvSpPr>
          <p:cNvPr id="11" name="Shape 9"/>
          <p:cNvSpPr/>
          <p:nvPr/>
        </p:nvSpPr>
        <p:spPr>
          <a:xfrm>
            <a:off x="640080" y="3383280"/>
            <a:ext cx="10881360" cy="1371600"/>
          </a:xfrm>
          <a:prstGeom prst="roundRect">
            <a:avLst>
              <a:gd name="adj" fmla="val 4000"/>
            </a:avLst>
          </a:prstGeom>
          <a:solidFill>
            <a:srgbClr val="E4EEF4"/>
          </a:solidFill>
          <a:ln w="12700">
            <a:solidFill>
              <a:srgbClr val="C9DCE7"/>
            </a:solidFill>
            <a:prstDash val="solid"/>
          </a:ln>
        </p:spPr>
      </p:sp>
      <p:sp>
        <p:nvSpPr>
          <p:cNvPr id="12" name="Text 10"/>
          <p:cNvSpPr/>
          <p:nvPr/>
        </p:nvSpPr>
        <p:spPr>
          <a:xfrm>
            <a:off x="914400" y="3547872"/>
            <a:ext cx="10332720" cy="32004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Why this framing matters in engineering practice</a:t>
            </a:r>
            <a:endParaRPr lang="en-US" sz="1400" dirty="0"/>
          </a:p>
        </p:txBody>
      </p:sp>
      <p:sp>
        <p:nvSpPr>
          <p:cNvPr id="13" name="Text 11"/>
          <p:cNvSpPr/>
          <p:nvPr/>
        </p:nvSpPr>
        <p:spPr>
          <a:xfrm>
            <a:off x="914400" y="3895344"/>
            <a:ext cx="10332720" cy="77724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It forces you to decide, before running the experiment, what result would make you abandon the change. Teams that skip this run the experiment, see a small improvement, and keep the change regardless — which is how systems accumulate complexity without gaining quality.</a:t>
            </a:r>
            <a:endParaRPr lang="en-US" sz="1250" dirty="0"/>
          </a:p>
        </p:txBody>
      </p:sp>
      <p:sp>
        <p:nvSpPr>
          <p:cNvPr id="14" name="Shape 12"/>
          <p:cNvSpPr/>
          <p:nvPr/>
        </p:nvSpPr>
        <p:spPr>
          <a:xfrm>
            <a:off x="640080" y="4937760"/>
            <a:ext cx="10881360" cy="777240"/>
          </a:xfrm>
          <a:prstGeom prst="roundRect">
            <a:avLst>
              <a:gd name="adj" fmla="val 7059"/>
            </a:avLst>
          </a:prstGeom>
          <a:solidFill>
            <a:srgbClr val="FDF1E3"/>
          </a:solidFill>
          <a:ln w="12700">
            <a:solidFill>
              <a:srgbClr val="EBD3BB"/>
            </a:solidFill>
            <a:prstDash val="solid"/>
          </a:ln>
        </p:spPr>
      </p:sp>
      <p:sp>
        <p:nvSpPr>
          <p:cNvPr id="15" name="Text 13"/>
          <p:cNvSpPr/>
          <p:nvPr/>
        </p:nvSpPr>
        <p:spPr>
          <a:xfrm>
            <a:off x="914400" y="5084064"/>
            <a:ext cx="10332720" cy="548640"/>
          </a:xfrm>
          <a:prstGeom prst="rect">
            <a:avLst/>
          </a:prstGeom>
          <a:noFill/>
          <a:ln/>
        </p:spPr>
        <p:txBody>
          <a:bodyPr wrap="square" lIns="0" tIns="0" rIns="0" bIns="0" rtlCol="0" anchor="ctr"/>
          <a:lstStyle/>
          <a:p>
            <a:pPr indent="0" marL="0">
              <a:lnSpc>
                <a:spcPts val="1500"/>
              </a:lnSpc>
              <a:buNone/>
            </a:pPr>
            <a:r>
              <a:rPr lang="en-US" sz="1200" dirty="0">
                <a:solidFill>
                  <a:srgbClr val="1A2430"/>
                </a:solidFill>
                <a:latin typeface="Calibri" pitchFamily="34" charset="0"/>
                <a:ea typeface="Calibri" pitchFamily="34" charset="-122"/>
                <a:cs typeface="Calibri" pitchFamily="34" charset="-120"/>
              </a:rPr>
              <a:t>One-sided or two-sided? Use two-sided by default. A one-sided test is only defensible if a change in the opposite direction would genuinely not interest you — rarely true, because a change that makes things worse is important information.</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Choosing the right statistical test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37</a:t>
            </a:r>
            <a:endParaRPr lang="en-US" sz="1000" dirty="0"/>
          </a:p>
        </p:txBody>
      </p:sp>
      <p:sp>
        <p:nvSpPr>
          <p:cNvPr id="5" name="Shape 3"/>
          <p:cNvSpPr/>
          <p:nvPr/>
        </p:nvSpPr>
        <p:spPr>
          <a:xfrm>
            <a:off x="640080" y="1234440"/>
            <a:ext cx="2834640" cy="384048"/>
          </a:xfrm>
          <a:prstGeom prst="rect">
            <a:avLst/>
          </a:prstGeom>
          <a:solidFill>
            <a:srgbClr val="21295C"/>
          </a:solidFill>
          <a:ln/>
        </p:spPr>
      </p:sp>
      <p:sp>
        <p:nvSpPr>
          <p:cNvPr id="6" name="Text 4"/>
          <p:cNvSpPr/>
          <p:nvPr/>
        </p:nvSpPr>
        <p:spPr>
          <a:xfrm>
            <a:off x="749808" y="1234440"/>
            <a:ext cx="26151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Situation</a:t>
            </a:r>
            <a:endParaRPr lang="en-US" sz="1100" dirty="0"/>
          </a:p>
        </p:txBody>
      </p:sp>
      <p:sp>
        <p:nvSpPr>
          <p:cNvPr id="7" name="Shape 5"/>
          <p:cNvSpPr/>
          <p:nvPr/>
        </p:nvSpPr>
        <p:spPr>
          <a:xfrm>
            <a:off x="3474720" y="1234440"/>
            <a:ext cx="3840480" cy="384048"/>
          </a:xfrm>
          <a:prstGeom prst="rect">
            <a:avLst/>
          </a:prstGeom>
          <a:solidFill>
            <a:srgbClr val="21295C"/>
          </a:solidFill>
          <a:ln/>
        </p:spPr>
      </p:sp>
      <p:sp>
        <p:nvSpPr>
          <p:cNvPr id="8" name="Text 6"/>
          <p:cNvSpPr/>
          <p:nvPr/>
        </p:nvSpPr>
        <p:spPr>
          <a:xfrm>
            <a:off x="3584448" y="1234440"/>
            <a:ext cx="36210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9" name="Shape 7"/>
          <p:cNvSpPr/>
          <p:nvPr/>
        </p:nvSpPr>
        <p:spPr>
          <a:xfrm>
            <a:off x="7315200" y="1234440"/>
            <a:ext cx="4206240" cy="384048"/>
          </a:xfrm>
          <a:prstGeom prst="rect">
            <a:avLst/>
          </a:prstGeom>
          <a:solidFill>
            <a:srgbClr val="21295C"/>
          </a:solidFill>
          <a:ln/>
        </p:spPr>
      </p:sp>
      <p:sp>
        <p:nvSpPr>
          <p:cNvPr id="10" name="Text 8"/>
          <p:cNvSpPr/>
          <p:nvPr/>
        </p:nvSpPr>
        <p:spPr>
          <a:xfrm>
            <a:off x="7424928" y="1234440"/>
            <a:ext cx="3986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p>
        </p:txBody>
      </p:sp>
      <p:sp>
        <p:nvSpPr>
          <p:cNvPr id="11" name="Shape 9"/>
          <p:cNvSpPr/>
          <p:nvPr/>
        </p:nvSpPr>
        <p:spPr>
          <a:xfrm>
            <a:off x="640080" y="1618488"/>
            <a:ext cx="2834640" cy="502920"/>
          </a:xfrm>
          <a:prstGeom prst="rect">
            <a:avLst/>
          </a:prstGeom>
          <a:solidFill>
            <a:srgbClr val="FFFFFF"/>
          </a:solidFill>
          <a:ln w="9525">
            <a:solidFill>
              <a:srgbClr val="E3EBF0"/>
            </a:solidFill>
            <a:prstDash val="solid"/>
          </a:ln>
        </p:spPr>
      </p:sp>
      <p:sp>
        <p:nvSpPr>
          <p:cNvPr id="12" name="Text 10"/>
          <p:cNvSpPr/>
          <p:nvPr/>
        </p:nvSpPr>
        <p:spPr>
          <a:xfrm>
            <a:off x="749808" y="1618488"/>
            <a:ext cx="261518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Two proportions, independent</a:t>
            </a:r>
            <a:endParaRPr lang="en-US" sz="1050" dirty="0"/>
          </a:p>
        </p:txBody>
      </p:sp>
      <p:sp>
        <p:nvSpPr>
          <p:cNvPr id="13" name="Shape 11"/>
          <p:cNvSpPr/>
          <p:nvPr/>
        </p:nvSpPr>
        <p:spPr>
          <a:xfrm>
            <a:off x="3474720" y="1618488"/>
            <a:ext cx="3840480" cy="502920"/>
          </a:xfrm>
          <a:prstGeom prst="rect">
            <a:avLst/>
          </a:prstGeom>
          <a:solidFill>
            <a:srgbClr val="FFFFFF"/>
          </a:solidFill>
          <a:ln w="9525">
            <a:solidFill>
              <a:srgbClr val="E3EBF0"/>
            </a:solidFill>
            <a:prstDash val="solid"/>
          </a:ln>
        </p:spPr>
      </p:sp>
      <p:sp>
        <p:nvSpPr>
          <p:cNvPr id="14" name="Text 12"/>
          <p:cNvSpPr/>
          <p:nvPr/>
        </p:nvSpPr>
        <p:spPr>
          <a:xfrm>
            <a:off x="3584448" y="1618488"/>
            <a:ext cx="362102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Pass rate of two separately sampled groups</a:t>
            </a:r>
            <a:endParaRPr lang="en-US" sz="1050" dirty="0"/>
          </a:p>
        </p:txBody>
      </p:sp>
      <p:sp>
        <p:nvSpPr>
          <p:cNvPr id="15" name="Shape 13"/>
          <p:cNvSpPr/>
          <p:nvPr/>
        </p:nvSpPr>
        <p:spPr>
          <a:xfrm>
            <a:off x="7315200" y="1618488"/>
            <a:ext cx="4206240" cy="502920"/>
          </a:xfrm>
          <a:prstGeom prst="rect">
            <a:avLst/>
          </a:prstGeom>
          <a:solidFill>
            <a:srgbClr val="FFFFFF"/>
          </a:solidFill>
          <a:ln w="9525">
            <a:solidFill>
              <a:srgbClr val="E3EBF0"/>
            </a:solidFill>
            <a:prstDash val="solid"/>
          </a:ln>
        </p:spPr>
      </p:sp>
      <p:sp>
        <p:nvSpPr>
          <p:cNvPr id="16" name="Text 14"/>
          <p:cNvSpPr/>
          <p:nvPr/>
        </p:nvSpPr>
        <p:spPr>
          <a:xfrm>
            <a:off x="7424928" y="1618488"/>
            <a:ext cx="3986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Two-proportion z-test, or chi-square</a:t>
            </a:r>
            <a:endParaRPr lang="en-US" sz="1050" dirty="0"/>
          </a:p>
        </p:txBody>
      </p:sp>
      <p:sp>
        <p:nvSpPr>
          <p:cNvPr id="17" name="Shape 15"/>
          <p:cNvSpPr/>
          <p:nvPr/>
        </p:nvSpPr>
        <p:spPr>
          <a:xfrm>
            <a:off x="640080" y="2121408"/>
            <a:ext cx="2834640" cy="502920"/>
          </a:xfrm>
          <a:prstGeom prst="rect">
            <a:avLst/>
          </a:prstGeom>
          <a:solidFill>
            <a:srgbClr val="F5F9FB"/>
          </a:solidFill>
          <a:ln w="9525">
            <a:solidFill>
              <a:srgbClr val="E3EBF0"/>
            </a:solidFill>
            <a:prstDash val="solid"/>
          </a:ln>
        </p:spPr>
      </p:sp>
      <p:sp>
        <p:nvSpPr>
          <p:cNvPr id="18" name="Text 16"/>
          <p:cNvSpPr/>
          <p:nvPr/>
        </p:nvSpPr>
        <p:spPr>
          <a:xfrm>
            <a:off x="749808" y="2121408"/>
            <a:ext cx="261518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Two means, independent</a:t>
            </a:r>
            <a:endParaRPr lang="en-US" sz="1050" dirty="0"/>
          </a:p>
        </p:txBody>
      </p:sp>
      <p:sp>
        <p:nvSpPr>
          <p:cNvPr id="19" name="Shape 17"/>
          <p:cNvSpPr/>
          <p:nvPr/>
        </p:nvSpPr>
        <p:spPr>
          <a:xfrm>
            <a:off x="3474720" y="2121408"/>
            <a:ext cx="3840480" cy="502920"/>
          </a:xfrm>
          <a:prstGeom prst="rect">
            <a:avLst/>
          </a:prstGeom>
          <a:solidFill>
            <a:srgbClr val="F5F9FB"/>
          </a:solidFill>
          <a:ln w="9525">
            <a:solidFill>
              <a:srgbClr val="E3EBF0"/>
            </a:solidFill>
            <a:prstDash val="solid"/>
          </a:ln>
        </p:spPr>
      </p:sp>
      <p:sp>
        <p:nvSpPr>
          <p:cNvPr id="20" name="Text 18"/>
          <p:cNvSpPr/>
          <p:nvPr/>
        </p:nvSpPr>
        <p:spPr>
          <a:xfrm>
            <a:off x="3584448" y="2121408"/>
            <a:ext cx="362102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Average latency of two systems</a:t>
            </a:r>
            <a:endParaRPr lang="en-US" sz="1050" dirty="0"/>
          </a:p>
        </p:txBody>
      </p:sp>
      <p:sp>
        <p:nvSpPr>
          <p:cNvPr id="21" name="Shape 19"/>
          <p:cNvSpPr/>
          <p:nvPr/>
        </p:nvSpPr>
        <p:spPr>
          <a:xfrm>
            <a:off x="7315200" y="2121408"/>
            <a:ext cx="4206240" cy="502920"/>
          </a:xfrm>
          <a:prstGeom prst="rect">
            <a:avLst/>
          </a:prstGeom>
          <a:solidFill>
            <a:srgbClr val="F5F9FB"/>
          </a:solidFill>
          <a:ln w="9525">
            <a:solidFill>
              <a:srgbClr val="E3EBF0"/>
            </a:solidFill>
            <a:prstDash val="solid"/>
          </a:ln>
        </p:spPr>
      </p:sp>
      <p:sp>
        <p:nvSpPr>
          <p:cNvPr id="22" name="Text 20"/>
          <p:cNvSpPr/>
          <p:nvPr/>
        </p:nvSpPr>
        <p:spPr>
          <a:xfrm>
            <a:off x="7424928" y="2121408"/>
            <a:ext cx="3986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Two-sample t-test (Welch's by default)</a:t>
            </a:r>
            <a:endParaRPr lang="en-US" sz="1050" dirty="0"/>
          </a:p>
        </p:txBody>
      </p:sp>
      <p:sp>
        <p:nvSpPr>
          <p:cNvPr id="23" name="Shape 21"/>
          <p:cNvSpPr/>
          <p:nvPr/>
        </p:nvSpPr>
        <p:spPr>
          <a:xfrm>
            <a:off x="640080" y="2624328"/>
            <a:ext cx="2834640" cy="502920"/>
          </a:xfrm>
          <a:prstGeom prst="rect">
            <a:avLst/>
          </a:prstGeom>
          <a:solidFill>
            <a:srgbClr val="FFFFFF"/>
          </a:solidFill>
          <a:ln w="9525">
            <a:solidFill>
              <a:srgbClr val="E3EBF0"/>
            </a:solidFill>
            <a:prstDash val="solid"/>
          </a:ln>
        </p:spPr>
      </p:sp>
      <p:sp>
        <p:nvSpPr>
          <p:cNvPr id="24" name="Text 22"/>
          <p:cNvSpPr/>
          <p:nvPr/>
        </p:nvSpPr>
        <p:spPr>
          <a:xfrm>
            <a:off x="749808" y="2624328"/>
            <a:ext cx="261518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Same items, two systems — continuous</a:t>
            </a:r>
            <a:endParaRPr lang="en-US" sz="1050" dirty="0"/>
          </a:p>
        </p:txBody>
      </p:sp>
      <p:sp>
        <p:nvSpPr>
          <p:cNvPr id="25" name="Shape 23"/>
          <p:cNvSpPr/>
          <p:nvPr/>
        </p:nvSpPr>
        <p:spPr>
          <a:xfrm>
            <a:off x="3474720" y="2624328"/>
            <a:ext cx="3840480" cy="502920"/>
          </a:xfrm>
          <a:prstGeom prst="rect">
            <a:avLst/>
          </a:prstGeom>
          <a:solidFill>
            <a:srgbClr val="FFFFFF"/>
          </a:solidFill>
          <a:ln w="9525">
            <a:solidFill>
              <a:srgbClr val="E3EBF0"/>
            </a:solidFill>
            <a:prstDash val="solid"/>
          </a:ln>
        </p:spPr>
      </p:sp>
      <p:sp>
        <p:nvSpPr>
          <p:cNvPr id="26" name="Text 24"/>
          <p:cNvSpPr/>
          <p:nvPr/>
        </p:nvSpPr>
        <p:spPr>
          <a:xfrm>
            <a:off x="3584448" y="2624328"/>
            <a:ext cx="362102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Both models scored on the same gold set</a:t>
            </a:r>
            <a:endParaRPr lang="en-US" sz="1050" dirty="0"/>
          </a:p>
        </p:txBody>
      </p:sp>
      <p:sp>
        <p:nvSpPr>
          <p:cNvPr id="27" name="Shape 25"/>
          <p:cNvSpPr/>
          <p:nvPr/>
        </p:nvSpPr>
        <p:spPr>
          <a:xfrm>
            <a:off x="7315200" y="2624328"/>
            <a:ext cx="4206240" cy="502920"/>
          </a:xfrm>
          <a:prstGeom prst="rect">
            <a:avLst/>
          </a:prstGeom>
          <a:solidFill>
            <a:srgbClr val="FFFFFF"/>
          </a:solidFill>
          <a:ln w="9525">
            <a:solidFill>
              <a:srgbClr val="E3EBF0"/>
            </a:solidFill>
            <a:prstDash val="solid"/>
          </a:ln>
        </p:spPr>
      </p:sp>
      <p:sp>
        <p:nvSpPr>
          <p:cNvPr id="28" name="Text 26"/>
          <p:cNvSpPr/>
          <p:nvPr/>
        </p:nvSpPr>
        <p:spPr>
          <a:xfrm>
            <a:off x="7424928" y="2624328"/>
            <a:ext cx="3986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Paired t-test</a:t>
            </a:r>
            <a:endParaRPr lang="en-US" sz="1050" dirty="0"/>
          </a:p>
        </p:txBody>
      </p:sp>
      <p:sp>
        <p:nvSpPr>
          <p:cNvPr id="29" name="Shape 27"/>
          <p:cNvSpPr/>
          <p:nvPr/>
        </p:nvSpPr>
        <p:spPr>
          <a:xfrm>
            <a:off x="640080" y="3127248"/>
            <a:ext cx="2834640" cy="502920"/>
          </a:xfrm>
          <a:prstGeom prst="rect">
            <a:avLst/>
          </a:prstGeom>
          <a:solidFill>
            <a:srgbClr val="F5F9FB"/>
          </a:solidFill>
          <a:ln w="9525">
            <a:solidFill>
              <a:srgbClr val="E3EBF0"/>
            </a:solidFill>
            <a:prstDash val="solid"/>
          </a:ln>
        </p:spPr>
      </p:sp>
      <p:sp>
        <p:nvSpPr>
          <p:cNvPr id="30" name="Text 28"/>
          <p:cNvSpPr/>
          <p:nvPr/>
        </p:nvSpPr>
        <p:spPr>
          <a:xfrm>
            <a:off x="749808" y="3127248"/>
            <a:ext cx="261518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Same items, two systems — pass/fail</a:t>
            </a:r>
            <a:endParaRPr lang="en-US" sz="1050" dirty="0"/>
          </a:p>
        </p:txBody>
      </p:sp>
      <p:sp>
        <p:nvSpPr>
          <p:cNvPr id="31" name="Shape 29"/>
          <p:cNvSpPr/>
          <p:nvPr/>
        </p:nvSpPr>
        <p:spPr>
          <a:xfrm>
            <a:off x="3474720" y="3127248"/>
            <a:ext cx="3840480" cy="502920"/>
          </a:xfrm>
          <a:prstGeom prst="rect">
            <a:avLst/>
          </a:prstGeom>
          <a:solidFill>
            <a:srgbClr val="F5F9FB"/>
          </a:solidFill>
          <a:ln w="9525">
            <a:solidFill>
              <a:srgbClr val="E3EBF0"/>
            </a:solidFill>
            <a:prstDash val="solid"/>
          </a:ln>
        </p:spPr>
      </p:sp>
      <p:sp>
        <p:nvSpPr>
          <p:cNvPr id="32" name="Text 30"/>
          <p:cNvSpPr/>
          <p:nvPr/>
        </p:nvSpPr>
        <p:spPr>
          <a:xfrm>
            <a:off x="3584448" y="3127248"/>
            <a:ext cx="362102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Both models right or wrong on each item</a:t>
            </a:r>
            <a:endParaRPr lang="en-US" sz="1050" dirty="0"/>
          </a:p>
        </p:txBody>
      </p:sp>
      <p:sp>
        <p:nvSpPr>
          <p:cNvPr id="33" name="Shape 31"/>
          <p:cNvSpPr/>
          <p:nvPr/>
        </p:nvSpPr>
        <p:spPr>
          <a:xfrm>
            <a:off x="7315200" y="3127248"/>
            <a:ext cx="4206240" cy="502920"/>
          </a:xfrm>
          <a:prstGeom prst="rect">
            <a:avLst/>
          </a:prstGeom>
          <a:solidFill>
            <a:srgbClr val="F5F9FB"/>
          </a:solidFill>
          <a:ln w="9525">
            <a:solidFill>
              <a:srgbClr val="E3EBF0"/>
            </a:solidFill>
            <a:prstDash val="solid"/>
          </a:ln>
        </p:spPr>
      </p:sp>
      <p:sp>
        <p:nvSpPr>
          <p:cNvPr id="34" name="Text 32"/>
          <p:cNvSpPr/>
          <p:nvPr/>
        </p:nvSpPr>
        <p:spPr>
          <a:xfrm>
            <a:off x="7424928" y="3127248"/>
            <a:ext cx="3986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McNemar's test</a:t>
            </a:r>
            <a:endParaRPr lang="en-US" sz="1050" dirty="0"/>
          </a:p>
        </p:txBody>
      </p:sp>
      <p:sp>
        <p:nvSpPr>
          <p:cNvPr id="35" name="Shape 33"/>
          <p:cNvSpPr/>
          <p:nvPr/>
        </p:nvSpPr>
        <p:spPr>
          <a:xfrm>
            <a:off x="640080" y="3630168"/>
            <a:ext cx="2834640" cy="502920"/>
          </a:xfrm>
          <a:prstGeom prst="rect">
            <a:avLst/>
          </a:prstGeom>
          <a:solidFill>
            <a:srgbClr val="FFFFFF"/>
          </a:solidFill>
          <a:ln w="9525">
            <a:solidFill>
              <a:srgbClr val="E3EBF0"/>
            </a:solidFill>
            <a:prstDash val="solid"/>
          </a:ln>
        </p:spPr>
      </p:sp>
      <p:sp>
        <p:nvSpPr>
          <p:cNvPr id="36" name="Text 34"/>
          <p:cNvSpPr/>
          <p:nvPr/>
        </p:nvSpPr>
        <p:spPr>
          <a:xfrm>
            <a:off x="749808" y="3630168"/>
            <a:ext cx="261518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Non-normal or small samples</a:t>
            </a:r>
            <a:endParaRPr lang="en-US" sz="1050" dirty="0"/>
          </a:p>
        </p:txBody>
      </p:sp>
      <p:sp>
        <p:nvSpPr>
          <p:cNvPr id="37" name="Shape 35"/>
          <p:cNvSpPr/>
          <p:nvPr/>
        </p:nvSpPr>
        <p:spPr>
          <a:xfrm>
            <a:off x="3474720" y="3630168"/>
            <a:ext cx="3840480" cy="502920"/>
          </a:xfrm>
          <a:prstGeom prst="rect">
            <a:avLst/>
          </a:prstGeom>
          <a:solidFill>
            <a:srgbClr val="FFFFFF"/>
          </a:solidFill>
          <a:ln w="9525">
            <a:solidFill>
              <a:srgbClr val="E3EBF0"/>
            </a:solidFill>
            <a:prstDash val="solid"/>
          </a:ln>
        </p:spPr>
      </p:sp>
      <p:sp>
        <p:nvSpPr>
          <p:cNvPr id="38" name="Text 36"/>
          <p:cNvSpPr/>
          <p:nvPr/>
        </p:nvSpPr>
        <p:spPr>
          <a:xfrm>
            <a:off x="3584448" y="3630168"/>
            <a:ext cx="362102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Skewed scores, n below about 30</a:t>
            </a:r>
            <a:endParaRPr lang="en-US" sz="1050" dirty="0"/>
          </a:p>
        </p:txBody>
      </p:sp>
      <p:sp>
        <p:nvSpPr>
          <p:cNvPr id="39" name="Shape 37"/>
          <p:cNvSpPr/>
          <p:nvPr/>
        </p:nvSpPr>
        <p:spPr>
          <a:xfrm>
            <a:off x="7315200" y="3630168"/>
            <a:ext cx="4206240" cy="502920"/>
          </a:xfrm>
          <a:prstGeom prst="rect">
            <a:avLst/>
          </a:prstGeom>
          <a:solidFill>
            <a:srgbClr val="FFFFFF"/>
          </a:solidFill>
          <a:ln w="9525">
            <a:solidFill>
              <a:srgbClr val="E3EBF0"/>
            </a:solidFill>
            <a:prstDash val="solid"/>
          </a:ln>
        </p:spPr>
      </p:sp>
      <p:sp>
        <p:nvSpPr>
          <p:cNvPr id="40" name="Text 38"/>
          <p:cNvSpPr/>
          <p:nvPr/>
        </p:nvSpPr>
        <p:spPr>
          <a:xfrm>
            <a:off x="7424928" y="3630168"/>
            <a:ext cx="3986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Mann-Whitney U, or Wilcoxon signed-rank</a:t>
            </a:r>
            <a:endParaRPr lang="en-US" sz="1050" dirty="0"/>
          </a:p>
        </p:txBody>
      </p:sp>
      <p:sp>
        <p:nvSpPr>
          <p:cNvPr id="41" name="Shape 39"/>
          <p:cNvSpPr/>
          <p:nvPr/>
        </p:nvSpPr>
        <p:spPr>
          <a:xfrm>
            <a:off x="640080" y="4133088"/>
            <a:ext cx="2834640" cy="502920"/>
          </a:xfrm>
          <a:prstGeom prst="rect">
            <a:avLst/>
          </a:prstGeom>
          <a:solidFill>
            <a:srgbClr val="F5F9FB"/>
          </a:solidFill>
          <a:ln w="9525">
            <a:solidFill>
              <a:srgbClr val="E3EBF0"/>
            </a:solidFill>
            <a:prstDash val="solid"/>
          </a:ln>
        </p:spPr>
      </p:sp>
      <p:sp>
        <p:nvSpPr>
          <p:cNvPr id="42" name="Text 40"/>
          <p:cNvSpPr/>
          <p:nvPr/>
        </p:nvSpPr>
        <p:spPr>
          <a:xfrm>
            <a:off x="749808" y="4133088"/>
            <a:ext cx="261518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Categorical association</a:t>
            </a:r>
            <a:endParaRPr lang="en-US" sz="1050" dirty="0"/>
          </a:p>
        </p:txBody>
      </p:sp>
      <p:sp>
        <p:nvSpPr>
          <p:cNvPr id="43" name="Shape 41"/>
          <p:cNvSpPr/>
          <p:nvPr/>
        </p:nvSpPr>
        <p:spPr>
          <a:xfrm>
            <a:off x="3474720" y="4133088"/>
            <a:ext cx="3840480" cy="502920"/>
          </a:xfrm>
          <a:prstGeom prst="rect">
            <a:avLst/>
          </a:prstGeom>
          <a:solidFill>
            <a:srgbClr val="F5F9FB"/>
          </a:solidFill>
          <a:ln w="9525">
            <a:solidFill>
              <a:srgbClr val="E3EBF0"/>
            </a:solidFill>
            <a:prstDash val="solid"/>
          </a:ln>
        </p:spPr>
      </p:sp>
      <p:sp>
        <p:nvSpPr>
          <p:cNvPr id="44" name="Text 42"/>
          <p:cNvSpPr/>
          <p:nvPr/>
        </p:nvSpPr>
        <p:spPr>
          <a:xfrm>
            <a:off x="3584448" y="4133088"/>
            <a:ext cx="362102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Do failures cluster by product family?</a:t>
            </a:r>
            <a:endParaRPr lang="en-US" sz="1050" dirty="0"/>
          </a:p>
        </p:txBody>
      </p:sp>
      <p:sp>
        <p:nvSpPr>
          <p:cNvPr id="45" name="Shape 43"/>
          <p:cNvSpPr/>
          <p:nvPr/>
        </p:nvSpPr>
        <p:spPr>
          <a:xfrm>
            <a:off x="7315200" y="4133088"/>
            <a:ext cx="4206240" cy="502920"/>
          </a:xfrm>
          <a:prstGeom prst="rect">
            <a:avLst/>
          </a:prstGeom>
          <a:solidFill>
            <a:srgbClr val="F5F9FB"/>
          </a:solidFill>
          <a:ln w="9525">
            <a:solidFill>
              <a:srgbClr val="E3EBF0"/>
            </a:solidFill>
            <a:prstDash val="solid"/>
          </a:ln>
        </p:spPr>
      </p:sp>
      <p:sp>
        <p:nvSpPr>
          <p:cNvPr id="46" name="Text 44"/>
          <p:cNvSpPr/>
          <p:nvPr/>
        </p:nvSpPr>
        <p:spPr>
          <a:xfrm>
            <a:off x="7424928" y="4133088"/>
            <a:ext cx="3986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Chi-square test of independence</a:t>
            </a:r>
            <a:endParaRPr lang="en-US" sz="1050" dirty="0"/>
          </a:p>
        </p:txBody>
      </p:sp>
      <p:sp>
        <p:nvSpPr>
          <p:cNvPr id="47" name="Shape 45"/>
          <p:cNvSpPr/>
          <p:nvPr/>
        </p:nvSpPr>
        <p:spPr>
          <a:xfrm>
            <a:off x="640080" y="4636008"/>
            <a:ext cx="2834640" cy="502920"/>
          </a:xfrm>
          <a:prstGeom prst="rect">
            <a:avLst/>
          </a:prstGeom>
          <a:solidFill>
            <a:srgbClr val="FFFFFF"/>
          </a:solidFill>
          <a:ln w="9525">
            <a:solidFill>
              <a:srgbClr val="E3EBF0"/>
            </a:solidFill>
            <a:prstDash val="solid"/>
          </a:ln>
        </p:spPr>
      </p:sp>
      <p:sp>
        <p:nvSpPr>
          <p:cNvPr id="48" name="Text 46"/>
          <p:cNvSpPr/>
          <p:nvPr/>
        </p:nvSpPr>
        <p:spPr>
          <a:xfrm>
            <a:off x="749808" y="4636008"/>
            <a:ext cx="261518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Three or more variants</a:t>
            </a:r>
            <a:endParaRPr lang="en-US" sz="1050" dirty="0"/>
          </a:p>
        </p:txBody>
      </p:sp>
      <p:sp>
        <p:nvSpPr>
          <p:cNvPr id="49" name="Shape 47"/>
          <p:cNvSpPr/>
          <p:nvPr/>
        </p:nvSpPr>
        <p:spPr>
          <a:xfrm>
            <a:off x="3474720" y="4636008"/>
            <a:ext cx="3840480" cy="502920"/>
          </a:xfrm>
          <a:prstGeom prst="rect">
            <a:avLst/>
          </a:prstGeom>
          <a:solidFill>
            <a:srgbClr val="FFFFFF"/>
          </a:solidFill>
          <a:ln w="9525">
            <a:solidFill>
              <a:srgbClr val="E3EBF0"/>
            </a:solidFill>
            <a:prstDash val="solid"/>
          </a:ln>
        </p:spPr>
      </p:sp>
      <p:sp>
        <p:nvSpPr>
          <p:cNvPr id="50" name="Text 48"/>
          <p:cNvSpPr/>
          <p:nvPr/>
        </p:nvSpPr>
        <p:spPr>
          <a:xfrm>
            <a:off x="3584448" y="4636008"/>
            <a:ext cx="362102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Comparing three retrieval strategies</a:t>
            </a:r>
            <a:endParaRPr lang="en-US" sz="1050" dirty="0"/>
          </a:p>
        </p:txBody>
      </p:sp>
      <p:sp>
        <p:nvSpPr>
          <p:cNvPr id="51" name="Shape 49"/>
          <p:cNvSpPr/>
          <p:nvPr/>
        </p:nvSpPr>
        <p:spPr>
          <a:xfrm>
            <a:off x="7315200" y="4636008"/>
            <a:ext cx="4206240" cy="502920"/>
          </a:xfrm>
          <a:prstGeom prst="rect">
            <a:avLst/>
          </a:prstGeom>
          <a:solidFill>
            <a:srgbClr val="FFFFFF"/>
          </a:solidFill>
          <a:ln w="9525">
            <a:solidFill>
              <a:srgbClr val="E3EBF0"/>
            </a:solidFill>
            <a:prstDash val="solid"/>
          </a:ln>
        </p:spPr>
      </p:sp>
      <p:sp>
        <p:nvSpPr>
          <p:cNvPr id="52" name="Text 50"/>
          <p:cNvSpPr/>
          <p:nvPr/>
        </p:nvSpPr>
        <p:spPr>
          <a:xfrm>
            <a:off x="7424928" y="4636008"/>
            <a:ext cx="3986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ANOVA or Kruskal-Wallis, plus a multiplicity correction</a:t>
            </a:r>
            <a:endParaRPr lang="en-US" sz="1050" dirty="0"/>
          </a:p>
        </p:txBody>
      </p:sp>
      <p:sp>
        <p:nvSpPr>
          <p:cNvPr id="53" name="Shape 51"/>
          <p:cNvSpPr/>
          <p:nvPr/>
        </p:nvSpPr>
        <p:spPr>
          <a:xfrm>
            <a:off x="640080" y="5138928"/>
            <a:ext cx="2834640" cy="502920"/>
          </a:xfrm>
          <a:prstGeom prst="rect">
            <a:avLst/>
          </a:prstGeom>
          <a:solidFill>
            <a:srgbClr val="F5F9FB"/>
          </a:solidFill>
          <a:ln w="9525">
            <a:solidFill>
              <a:srgbClr val="E3EBF0"/>
            </a:solidFill>
            <a:prstDash val="solid"/>
          </a:ln>
        </p:spPr>
      </p:sp>
      <p:sp>
        <p:nvSpPr>
          <p:cNvPr id="54" name="Text 52"/>
          <p:cNvSpPr/>
          <p:nvPr/>
        </p:nvSpPr>
        <p:spPr>
          <a:xfrm>
            <a:off x="749808" y="5138928"/>
            <a:ext cx="261518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No distributional assumption</a:t>
            </a:r>
            <a:endParaRPr lang="en-US" sz="1050" dirty="0"/>
          </a:p>
        </p:txBody>
      </p:sp>
      <p:sp>
        <p:nvSpPr>
          <p:cNvPr id="55" name="Shape 53"/>
          <p:cNvSpPr/>
          <p:nvPr/>
        </p:nvSpPr>
        <p:spPr>
          <a:xfrm>
            <a:off x="3474720" y="5138928"/>
            <a:ext cx="3840480" cy="502920"/>
          </a:xfrm>
          <a:prstGeom prst="rect">
            <a:avLst/>
          </a:prstGeom>
          <a:solidFill>
            <a:srgbClr val="F5F9FB"/>
          </a:solidFill>
          <a:ln w="9525">
            <a:solidFill>
              <a:srgbClr val="E3EBF0"/>
            </a:solidFill>
            <a:prstDash val="solid"/>
          </a:ln>
        </p:spPr>
      </p:sp>
      <p:sp>
        <p:nvSpPr>
          <p:cNvPr id="56" name="Text 54"/>
          <p:cNvSpPr/>
          <p:nvPr/>
        </p:nvSpPr>
        <p:spPr>
          <a:xfrm>
            <a:off x="3584448" y="5138928"/>
            <a:ext cx="362102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Any metric, any shape</a:t>
            </a:r>
            <a:endParaRPr lang="en-US" sz="1050" dirty="0"/>
          </a:p>
        </p:txBody>
      </p:sp>
      <p:sp>
        <p:nvSpPr>
          <p:cNvPr id="57" name="Shape 55"/>
          <p:cNvSpPr/>
          <p:nvPr/>
        </p:nvSpPr>
        <p:spPr>
          <a:xfrm>
            <a:off x="7315200" y="5138928"/>
            <a:ext cx="4206240" cy="502920"/>
          </a:xfrm>
          <a:prstGeom prst="rect">
            <a:avLst/>
          </a:prstGeom>
          <a:solidFill>
            <a:srgbClr val="F5F9FB"/>
          </a:solidFill>
          <a:ln w="9525">
            <a:solidFill>
              <a:srgbClr val="E3EBF0"/>
            </a:solidFill>
            <a:prstDash val="solid"/>
          </a:ln>
        </p:spPr>
      </p:sp>
      <p:sp>
        <p:nvSpPr>
          <p:cNvPr id="58" name="Text 56"/>
          <p:cNvSpPr/>
          <p:nvPr/>
        </p:nvSpPr>
        <p:spPr>
          <a:xfrm>
            <a:off x="7424928" y="5138928"/>
            <a:ext cx="39867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Bootstrap or permutation test</a:t>
            </a:r>
            <a:endParaRPr lang="en-US" sz="1050" dirty="0"/>
          </a:p>
        </p:txBody>
      </p:sp>
      <p:sp>
        <p:nvSpPr>
          <p:cNvPr id="59" name="Text 57"/>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Prefer paired designs. The same items through both systems removes item difficulty as noise, so smaller real effects become detectable.</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What each test assumes — and what breaks it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38</a:t>
            </a:r>
            <a:endParaRPr lang="en-US" sz="1000" dirty="0"/>
          </a:p>
        </p:txBody>
      </p:sp>
      <p:sp>
        <p:nvSpPr>
          <p:cNvPr id="5" name="Shape 3"/>
          <p:cNvSpPr/>
          <p:nvPr/>
        </p:nvSpPr>
        <p:spPr>
          <a:xfrm>
            <a:off x="640080" y="1280160"/>
            <a:ext cx="2194560" cy="384048"/>
          </a:xfrm>
          <a:prstGeom prst="rect">
            <a:avLst/>
          </a:prstGeom>
          <a:solidFill>
            <a:srgbClr val="21295C"/>
          </a:solidFill>
          <a:ln/>
        </p:spPr>
      </p:sp>
      <p:sp>
        <p:nvSpPr>
          <p:cNvPr id="6" name="Text 4"/>
          <p:cNvSpPr/>
          <p:nvPr/>
        </p:nvSpPr>
        <p:spPr>
          <a:xfrm>
            <a:off x="749808" y="1280160"/>
            <a:ext cx="19751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p>
        </p:txBody>
      </p:sp>
      <p:sp>
        <p:nvSpPr>
          <p:cNvPr id="7" name="Shape 5"/>
          <p:cNvSpPr/>
          <p:nvPr/>
        </p:nvSpPr>
        <p:spPr>
          <a:xfrm>
            <a:off x="2834640" y="1280160"/>
            <a:ext cx="4480560" cy="384048"/>
          </a:xfrm>
          <a:prstGeom prst="rect">
            <a:avLst/>
          </a:prstGeom>
          <a:solidFill>
            <a:srgbClr val="21295C"/>
          </a:solidFill>
          <a:ln/>
        </p:spPr>
      </p:sp>
      <p:sp>
        <p:nvSpPr>
          <p:cNvPr id="8" name="Text 6"/>
          <p:cNvSpPr/>
          <p:nvPr/>
        </p:nvSpPr>
        <p:spPr>
          <a:xfrm>
            <a:off x="2944368" y="1280160"/>
            <a:ext cx="42611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assumptions</a:t>
            </a:r>
            <a:endParaRPr lang="en-US" sz="1100" dirty="0"/>
          </a:p>
        </p:txBody>
      </p:sp>
      <p:sp>
        <p:nvSpPr>
          <p:cNvPr id="9" name="Shape 7"/>
          <p:cNvSpPr/>
          <p:nvPr/>
        </p:nvSpPr>
        <p:spPr>
          <a:xfrm>
            <a:off x="7315200" y="1280160"/>
            <a:ext cx="4206240" cy="384048"/>
          </a:xfrm>
          <a:prstGeom prst="rect">
            <a:avLst/>
          </a:prstGeom>
          <a:solidFill>
            <a:srgbClr val="21295C"/>
          </a:solidFill>
          <a:ln/>
        </p:spPr>
      </p:sp>
      <p:sp>
        <p:nvSpPr>
          <p:cNvPr id="10" name="Text 8"/>
          <p:cNvSpPr/>
          <p:nvPr/>
        </p:nvSpPr>
        <p:spPr>
          <a:xfrm>
            <a:off x="7424928" y="1280160"/>
            <a:ext cx="3986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Common violation</a:t>
            </a:r>
            <a:endParaRPr lang="en-US" sz="1100" dirty="0"/>
          </a:p>
        </p:txBody>
      </p:sp>
      <p:sp>
        <p:nvSpPr>
          <p:cNvPr id="11" name="Shape 9"/>
          <p:cNvSpPr/>
          <p:nvPr/>
        </p:nvSpPr>
        <p:spPr>
          <a:xfrm>
            <a:off x="640080" y="1664208"/>
            <a:ext cx="2194560" cy="566928"/>
          </a:xfrm>
          <a:prstGeom prst="rect">
            <a:avLst/>
          </a:prstGeom>
          <a:solidFill>
            <a:srgbClr val="FFFFFF"/>
          </a:solidFill>
          <a:ln w="9525">
            <a:solidFill>
              <a:srgbClr val="E3EBF0"/>
            </a:solidFill>
            <a:prstDash val="solid"/>
          </a:ln>
        </p:spPr>
      </p:sp>
      <p:sp>
        <p:nvSpPr>
          <p:cNvPr id="12" name="Text 10"/>
          <p:cNvSpPr/>
          <p:nvPr/>
        </p:nvSpPr>
        <p:spPr>
          <a:xfrm>
            <a:off x="749808" y="1664208"/>
            <a:ext cx="19751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t-test</a:t>
            </a:r>
            <a:endParaRPr lang="en-US" sz="1050" dirty="0"/>
          </a:p>
        </p:txBody>
      </p:sp>
      <p:sp>
        <p:nvSpPr>
          <p:cNvPr id="13" name="Shape 11"/>
          <p:cNvSpPr/>
          <p:nvPr/>
        </p:nvSpPr>
        <p:spPr>
          <a:xfrm>
            <a:off x="2834640" y="1664208"/>
            <a:ext cx="4480560" cy="566928"/>
          </a:xfrm>
          <a:prstGeom prst="rect">
            <a:avLst/>
          </a:prstGeom>
          <a:solidFill>
            <a:srgbClr val="FFFFFF"/>
          </a:solidFill>
          <a:ln w="9525">
            <a:solidFill>
              <a:srgbClr val="E3EBF0"/>
            </a:solidFill>
            <a:prstDash val="solid"/>
          </a:ln>
        </p:spPr>
      </p:sp>
      <p:sp>
        <p:nvSpPr>
          <p:cNvPr id="14" name="Text 12"/>
          <p:cNvSpPr/>
          <p:nvPr/>
        </p:nvSpPr>
        <p:spPr>
          <a:xfrm>
            <a:off x="2944368" y="1664208"/>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Roughly normal sampling distribution; independent observations</a:t>
            </a:r>
            <a:endParaRPr lang="en-US" sz="1050" dirty="0"/>
          </a:p>
        </p:txBody>
      </p:sp>
      <p:sp>
        <p:nvSpPr>
          <p:cNvPr id="15" name="Shape 13"/>
          <p:cNvSpPr/>
          <p:nvPr/>
        </p:nvSpPr>
        <p:spPr>
          <a:xfrm>
            <a:off x="7315200" y="1664208"/>
            <a:ext cx="4206240" cy="566928"/>
          </a:xfrm>
          <a:prstGeom prst="rect">
            <a:avLst/>
          </a:prstGeom>
          <a:solidFill>
            <a:srgbClr val="FFFFFF"/>
          </a:solidFill>
          <a:ln w="9525">
            <a:solidFill>
              <a:srgbClr val="E3EBF0"/>
            </a:solidFill>
            <a:prstDash val="solid"/>
          </a:ln>
        </p:spPr>
      </p:sp>
      <p:sp>
        <p:nvSpPr>
          <p:cNvPr id="16" name="Text 14"/>
          <p:cNvSpPr/>
          <p:nvPr/>
        </p:nvSpPr>
        <p:spPr>
          <a:xfrm>
            <a:off x="7424928" y="1664208"/>
            <a:ext cx="3986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Heavily skewed metrics; correlated items from the same machine</a:t>
            </a:r>
            <a:endParaRPr lang="en-US" sz="1050" dirty="0"/>
          </a:p>
        </p:txBody>
      </p:sp>
      <p:sp>
        <p:nvSpPr>
          <p:cNvPr id="17" name="Shape 15"/>
          <p:cNvSpPr/>
          <p:nvPr/>
        </p:nvSpPr>
        <p:spPr>
          <a:xfrm>
            <a:off x="640080" y="2231136"/>
            <a:ext cx="2194560" cy="566928"/>
          </a:xfrm>
          <a:prstGeom prst="rect">
            <a:avLst/>
          </a:prstGeom>
          <a:solidFill>
            <a:srgbClr val="F5F9FB"/>
          </a:solidFill>
          <a:ln w="9525">
            <a:solidFill>
              <a:srgbClr val="E3EBF0"/>
            </a:solidFill>
            <a:prstDash val="solid"/>
          </a:ln>
        </p:spPr>
      </p:sp>
      <p:sp>
        <p:nvSpPr>
          <p:cNvPr id="18" name="Text 16"/>
          <p:cNvSpPr/>
          <p:nvPr/>
        </p:nvSpPr>
        <p:spPr>
          <a:xfrm>
            <a:off x="749808" y="2231136"/>
            <a:ext cx="19751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Paired t-test</a:t>
            </a:r>
            <a:endParaRPr lang="en-US" sz="1050" dirty="0"/>
          </a:p>
        </p:txBody>
      </p:sp>
      <p:sp>
        <p:nvSpPr>
          <p:cNvPr id="19" name="Shape 17"/>
          <p:cNvSpPr/>
          <p:nvPr/>
        </p:nvSpPr>
        <p:spPr>
          <a:xfrm>
            <a:off x="2834640" y="2231136"/>
            <a:ext cx="4480560" cy="566928"/>
          </a:xfrm>
          <a:prstGeom prst="rect">
            <a:avLst/>
          </a:prstGeom>
          <a:solidFill>
            <a:srgbClr val="F5F9FB"/>
          </a:solidFill>
          <a:ln w="9525">
            <a:solidFill>
              <a:srgbClr val="E3EBF0"/>
            </a:solidFill>
            <a:prstDash val="solid"/>
          </a:ln>
        </p:spPr>
      </p:sp>
      <p:sp>
        <p:nvSpPr>
          <p:cNvPr id="20" name="Text 18"/>
          <p:cNvSpPr/>
          <p:nvPr/>
        </p:nvSpPr>
        <p:spPr>
          <a:xfrm>
            <a:off x="2944368" y="2231136"/>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Differences roughly normal; pairs genuinely matched</a:t>
            </a:r>
            <a:endParaRPr lang="en-US" sz="1050" dirty="0"/>
          </a:p>
        </p:txBody>
      </p:sp>
      <p:sp>
        <p:nvSpPr>
          <p:cNvPr id="21" name="Shape 19"/>
          <p:cNvSpPr/>
          <p:nvPr/>
        </p:nvSpPr>
        <p:spPr>
          <a:xfrm>
            <a:off x="7315200" y="2231136"/>
            <a:ext cx="4206240" cy="566928"/>
          </a:xfrm>
          <a:prstGeom prst="rect">
            <a:avLst/>
          </a:prstGeom>
          <a:solidFill>
            <a:srgbClr val="F5F9FB"/>
          </a:solidFill>
          <a:ln w="9525">
            <a:solidFill>
              <a:srgbClr val="E3EBF0"/>
            </a:solidFill>
            <a:prstDash val="solid"/>
          </a:ln>
        </p:spPr>
      </p:sp>
      <p:sp>
        <p:nvSpPr>
          <p:cNvPr id="22" name="Text 20"/>
          <p:cNvSpPr/>
          <p:nvPr/>
        </p:nvSpPr>
        <p:spPr>
          <a:xfrm>
            <a:off x="7424928" y="2231136"/>
            <a:ext cx="3986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Pairs not actually the same items</a:t>
            </a:r>
            <a:endParaRPr lang="en-US" sz="1050" dirty="0"/>
          </a:p>
        </p:txBody>
      </p:sp>
      <p:sp>
        <p:nvSpPr>
          <p:cNvPr id="23" name="Shape 21"/>
          <p:cNvSpPr/>
          <p:nvPr/>
        </p:nvSpPr>
        <p:spPr>
          <a:xfrm>
            <a:off x="640080" y="2798064"/>
            <a:ext cx="2194560" cy="566928"/>
          </a:xfrm>
          <a:prstGeom prst="rect">
            <a:avLst/>
          </a:prstGeom>
          <a:solidFill>
            <a:srgbClr val="FFFFFF"/>
          </a:solidFill>
          <a:ln w="9525">
            <a:solidFill>
              <a:srgbClr val="E3EBF0"/>
            </a:solidFill>
            <a:prstDash val="solid"/>
          </a:ln>
        </p:spPr>
      </p:sp>
      <p:sp>
        <p:nvSpPr>
          <p:cNvPr id="24" name="Text 22"/>
          <p:cNvSpPr/>
          <p:nvPr/>
        </p:nvSpPr>
        <p:spPr>
          <a:xfrm>
            <a:off x="749808" y="2798064"/>
            <a:ext cx="19751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Chi-square</a:t>
            </a:r>
            <a:endParaRPr lang="en-US" sz="1050" dirty="0"/>
          </a:p>
        </p:txBody>
      </p:sp>
      <p:sp>
        <p:nvSpPr>
          <p:cNvPr id="25" name="Shape 23"/>
          <p:cNvSpPr/>
          <p:nvPr/>
        </p:nvSpPr>
        <p:spPr>
          <a:xfrm>
            <a:off x="2834640" y="2798064"/>
            <a:ext cx="4480560" cy="566928"/>
          </a:xfrm>
          <a:prstGeom prst="rect">
            <a:avLst/>
          </a:prstGeom>
          <a:solidFill>
            <a:srgbClr val="FFFFFF"/>
          </a:solidFill>
          <a:ln w="9525">
            <a:solidFill>
              <a:srgbClr val="E3EBF0"/>
            </a:solidFill>
            <a:prstDash val="solid"/>
          </a:ln>
        </p:spPr>
      </p:sp>
      <p:sp>
        <p:nvSpPr>
          <p:cNvPr id="26" name="Text 24"/>
          <p:cNvSpPr/>
          <p:nvPr/>
        </p:nvSpPr>
        <p:spPr>
          <a:xfrm>
            <a:off x="2944368" y="2798064"/>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Expected count ≥ 5 per cell; independence</a:t>
            </a:r>
            <a:endParaRPr lang="en-US" sz="1050" dirty="0"/>
          </a:p>
        </p:txBody>
      </p:sp>
      <p:sp>
        <p:nvSpPr>
          <p:cNvPr id="27" name="Shape 25"/>
          <p:cNvSpPr/>
          <p:nvPr/>
        </p:nvSpPr>
        <p:spPr>
          <a:xfrm>
            <a:off x="7315200" y="2798064"/>
            <a:ext cx="4206240" cy="566928"/>
          </a:xfrm>
          <a:prstGeom prst="rect">
            <a:avLst/>
          </a:prstGeom>
          <a:solidFill>
            <a:srgbClr val="FFFFFF"/>
          </a:solidFill>
          <a:ln w="9525">
            <a:solidFill>
              <a:srgbClr val="E3EBF0"/>
            </a:solidFill>
            <a:prstDash val="solid"/>
          </a:ln>
        </p:spPr>
      </p:sp>
      <p:sp>
        <p:nvSpPr>
          <p:cNvPr id="28" name="Text 26"/>
          <p:cNvSpPr/>
          <p:nvPr/>
        </p:nvSpPr>
        <p:spPr>
          <a:xfrm>
            <a:off x="7424928" y="2798064"/>
            <a:ext cx="3986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Sparse cells in rare-class problems — use Fisher's exact instead</a:t>
            </a:r>
            <a:endParaRPr lang="en-US" sz="1050" dirty="0"/>
          </a:p>
        </p:txBody>
      </p:sp>
      <p:sp>
        <p:nvSpPr>
          <p:cNvPr id="29" name="Shape 27"/>
          <p:cNvSpPr/>
          <p:nvPr/>
        </p:nvSpPr>
        <p:spPr>
          <a:xfrm>
            <a:off x="640080" y="3364992"/>
            <a:ext cx="2194560" cy="566928"/>
          </a:xfrm>
          <a:prstGeom prst="rect">
            <a:avLst/>
          </a:prstGeom>
          <a:solidFill>
            <a:srgbClr val="F5F9FB"/>
          </a:solidFill>
          <a:ln w="9525">
            <a:solidFill>
              <a:srgbClr val="E3EBF0"/>
            </a:solidFill>
            <a:prstDash val="solid"/>
          </a:ln>
        </p:spPr>
      </p:sp>
      <p:sp>
        <p:nvSpPr>
          <p:cNvPr id="30" name="Text 28"/>
          <p:cNvSpPr/>
          <p:nvPr/>
        </p:nvSpPr>
        <p:spPr>
          <a:xfrm>
            <a:off x="749808" y="3364992"/>
            <a:ext cx="19751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McNemar</a:t>
            </a:r>
            <a:endParaRPr lang="en-US" sz="1050" dirty="0"/>
          </a:p>
        </p:txBody>
      </p:sp>
      <p:sp>
        <p:nvSpPr>
          <p:cNvPr id="31" name="Shape 29"/>
          <p:cNvSpPr/>
          <p:nvPr/>
        </p:nvSpPr>
        <p:spPr>
          <a:xfrm>
            <a:off x="2834640" y="3364992"/>
            <a:ext cx="4480560" cy="566928"/>
          </a:xfrm>
          <a:prstGeom prst="rect">
            <a:avLst/>
          </a:prstGeom>
          <a:solidFill>
            <a:srgbClr val="F5F9FB"/>
          </a:solidFill>
          <a:ln w="9525">
            <a:solidFill>
              <a:srgbClr val="E3EBF0"/>
            </a:solidFill>
            <a:prstDash val="solid"/>
          </a:ln>
        </p:spPr>
      </p:sp>
      <p:sp>
        <p:nvSpPr>
          <p:cNvPr id="32" name="Text 30"/>
          <p:cNvSpPr/>
          <p:nvPr/>
        </p:nvSpPr>
        <p:spPr>
          <a:xfrm>
            <a:off x="2944368" y="3364992"/>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Paired binary outcomes; adequate discordant pairs</a:t>
            </a:r>
            <a:endParaRPr lang="en-US" sz="1050" dirty="0"/>
          </a:p>
        </p:txBody>
      </p:sp>
      <p:sp>
        <p:nvSpPr>
          <p:cNvPr id="33" name="Shape 31"/>
          <p:cNvSpPr/>
          <p:nvPr/>
        </p:nvSpPr>
        <p:spPr>
          <a:xfrm>
            <a:off x="7315200" y="3364992"/>
            <a:ext cx="4206240" cy="566928"/>
          </a:xfrm>
          <a:prstGeom prst="rect">
            <a:avLst/>
          </a:prstGeom>
          <a:solidFill>
            <a:srgbClr val="F5F9FB"/>
          </a:solidFill>
          <a:ln w="9525">
            <a:solidFill>
              <a:srgbClr val="E3EBF0"/>
            </a:solidFill>
            <a:prstDash val="solid"/>
          </a:ln>
        </p:spPr>
      </p:sp>
      <p:sp>
        <p:nvSpPr>
          <p:cNvPr id="34" name="Text 32"/>
          <p:cNvSpPr/>
          <p:nvPr/>
        </p:nvSpPr>
        <p:spPr>
          <a:xfrm>
            <a:off x="7424928" y="3364992"/>
            <a:ext cx="3986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Too few cases where the two systems disagree</a:t>
            </a:r>
            <a:endParaRPr lang="en-US" sz="1050" dirty="0"/>
          </a:p>
        </p:txBody>
      </p:sp>
      <p:sp>
        <p:nvSpPr>
          <p:cNvPr id="35" name="Shape 33"/>
          <p:cNvSpPr/>
          <p:nvPr/>
        </p:nvSpPr>
        <p:spPr>
          <a:xfrm>
            <a:off x="640080" y="3931920"/>
            <a:ext cx="2194560" cy="566928"/>
          </a:xfrm>
          <a:prstGeom prst="rect">
            <a:avLst/>
          </a:prstGeom>
          <a:solidFill>
            <a:srgbClr val="FFFFFF"/>
          </a:solidFill>
          <a:ln w="9525">
            <a:solidFill>
              <a:srgbClr val="E3EBF0"/>
            </a:solidFill>
            <a:prstDash val="solid"/>
          </a:ln>
        </p:spPr>
      </p:sp>
      <p:sp>
        <p:nvSpPr>
          <p:cNvPr id="36" name="Text 34"/>
          <p:cNvSpPr/>
          <p:nvPr/>
        </p:nvSpPr>
        <p:spPr>
          <a:xfrm>
            <a:off x="749808" y="3931920"/>
            <a:ext cx="19751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Mann-Whitney</a:t>
            </a:r>
            <a:endParaRPr lang="en-US" sz="1050" dirty="0"/>
          </a:p>
        </p:txBody>
      </p:sp>
      <p:sp>
        <p:nvSpPr>
          <p:cNvPr id="37" name="Shape 35"/>
          <p:cNvSpPr/>
          <p:nvPr/>
        </p:nvSpPr>
        <p:spPr>
          <a:xfrm>
            <a:off x="2834640" y="3931920"/>
            <a:ext cx="4480560" cy="566928"/>
          </a:xfrm>
          <a:prstGeom prst="rect">
            <a:avLst/>
          </a:prstGeom>
          <a:solidFill>
            <a:srgbClr val="FFFFFF"/>
          </a:solidFill>
          <a:ln w="9525">
            <a:solidFill>
              <a:srgbClr val="E3EBF0"/>
            </a:solidFill>
            <a:prstDash val="solid"/>
          </a:ln>
        </p:spPr>
      </p:sp>
      <p:sp>
        <p:nvSpPr>
          <p:cNvPr id="38" name="Text 36"/>
          <p:cNvSpPr/>
          <p:nvPr/>
        </p:nvSpPr>
        <p:spPr>
          <a:xfrm>
            <a:off x="2944368" y="3931920"/>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Independent samples; similar distribution shapes</a:t>
            </a:r>
            <a:endParaRPr lang="en-US" sz="1050" dirty="0"/>
          </a:p>
        </p:txBody>
      </p:sp>
      <p:sp>
        <p:nvSpPr>
          <p:cNvPr id="39" name="Shape 37"/>
          <p:cNvSpPr/>
          <p:nvPr/>
        </p:nvSpPr>
        <p:spPr>
          <a:xfrm>
            <a:off x="7315200" y="3931920"/>
            <a:ext cx="4206240" cy="566928"/>
          </a:xfrm>
          <a:prstGeom prst="rect">
            <a:avLst/>
          </a:prstGeom>
          <a:solidFill>
            <a:srgbClr val="FFFFFF"/>
          </a:solidFill>
          <a:ln w="9525">
            <a:solidFill>
              <a:srgbClr val="E3EBF0"/>
            </a:solidFill>
            <a:prstDash val="solid"/>
          </a:ln>
        </p:spPr>
      </p:sp>
      <p:sp>
        <p:nvSpPr>
          <p:cNvPr id="40" name="Text 38"/>
          <p:cNvSpPr/>
          <p:nvPr/>
        </p:nvSpPr>
        <p:spPr>
          <a:xfrm>
            <a:off x="7424928" y="3931920"/>
            <a:ext cx="3986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Comparing distributions with very different shapes</a:t>
            </a:r>
            <a:endParaRPr lang="en-US" sz="1050" dirty="0"/>
          </a:p>
        </p:txBody>
      </p:sp>
      <p:sp>
        <p:nvSpPr>
          <p:cNvPr id="41" name="Shape 39"/>
          <p:cNvSpPr/>
          <p:nvPr/>
        </p:nvSpPr>
        <p:spPr>
          <a:xfrm>
            <a:off x="640080" y="4498848"/>
            <a:ext cx="2194560" cy="566928"/>
          </a:xfrm>
          <a:prstGeom prst="rect">
            <a:avLst/>
          </a:prstGeom>
          <a:solidFill>
            <a:srgbClr val="F5F9FB"/>
          </a:solidFill>
          <a:ln w="9525">
            <a:solidFill>
              <a:srgbClr val="E3EBF0"/>
            </a:solidFill>
            <a:prstDash val="solid"/>
          </a:ln>
        </p:spPr>
      </p:sp>
      <p:sp>
        <p:nvSpPr>
          <p:cNvPr id="42" name="Text 40"/>
          <p:cNvSpPr/>
          <p:nvPr/>
        </p:nvSpPr>
        <p:spPr>
          <a:xfrm>
            <a:off x="749808" y="4498848"/>
            <a:ext cx="19751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ANOVA</a:t>
            </a:r>
            <a:endParaRPr lang="en-US" sz="1050" dirty="0"/>
          </a:p>
        </p:txBody>
      </p:sp>
      <p:sp>
        <p:nvSpPr>
          <p:cNvPr id="43" name="Shape 41"/>
          <p:cNvSpPr/>
          <p:nvPr/>
        </p:nvSpPr>
        <p:spPr>
          <a:xfrm>
            <a:off x="2834640" y="4498848"/>
            <a:ext cx="4480560" cy="566928"/>
          </a:xfrm>
          <a:prstGeom prst="rect">
            <a:avLst/>
          </a:prstGeom>
          <a:solidFill>
            <a:srgbClr val="F5F9FB"/>
          </a:solidFill>
          <a:ln w="9525">
            <a:solidFill>
              <a:srgbClr val="E3EBF0"/>
            </a:solidFill>
            <a:prstDash val="solid"/>
          </a:ln>
        </p:spPr>
      </p:sp>
      <p:sp>
        <p:nvSpPr>
          <p:cNvPr id="44" name="Text 42"/>
          <p:cNvSpPr/>
          <p:nvPr/>
        </p:nvSpPr>
        <p:spPr>
          <a:xfrm>
            <a:off x="2944368" y="4498848"/>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Normality; equal variances across groups</a:t>
            </a:r>
            <a:endParaRPr lang="en-US" sz="1050" dirty="0"/>
          </a:p>
        </p:txBody>
      </p:sp>
      <p:sp>
        <p:nvSpPr>
          <p:cNvPr id="45" name="Shape 43"/>
          <p:cNvSpPr/>
          <p:nvPr/>
        </p:nvSpPr>
        <p:spPr>
          <a:xfrm>
            <a:off x="7315200" y="4498848"/>
            <a:ext cx="4206240" cy="566928"/>
          </a:xfrm>
          <a:prstGeom prst="rect">
            <a:avLst/>
          </a:prstGeom>
          <a:solidFill>
            <a:srgbClr val="F5F9FB"/>
          </a:solidFill>
          <a:ln w="9525">
            <a:solidFill>
              <a:srgbClr val="E3EBF0"/>
            </a:solidFill>
            <a:prstDash val="solid"/>
          </a:ln>
        </p:spPr>
      </p:sp>
      <p:sp>
        <p:nvSpPr>
          <p:cNvPr id="46" name="Text 44"/>
          <p:cNvSpPr/>
          <p:nvPr/>
        </p:nvSpPr>
        <p:spPr>
          <a:xfrm>
            <a:off x="7424928" y="4498848"/>
            <a:ext cx="3986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Unequal variances — use Welch's ANOVA</a:t>
            </a:r>
            <a:endParaRPr lang="en-US" sz="1050" dirty="0"/>
          </a:p>
        </p:txBody>
      </p:sp>
      <p:sp>
        <p:nvSpPr>
          <p:cNvPr id="47" name="Text 45"/>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When assumptions are doubtful, a bootstrap or permutation test avoids the question entirely — and costs only compute.</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McNemar's test — the right tool for model comparison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39</a:t>
            </a:r>
            <a:endParaRPr lang="en-US" sz="1000" dirty="0"/>
          </a:p>
        </p:txBody>
      </p:sp>
      <p:sp>
        <p:nvSpPr>
          <p:cNvPr id="5" name="Text 3"/>
          <p:cNvSpPr/>
          <p:nvPr/>
        </p:nvSpPr>
        <p:spPr>
          <a:xfrm>
            <a:off x="640080" y="1280160"/>
            <a:ext cx="10881360" cy="502920"/>
          </a:xfrm>
          <a:prstGeom prst="rect">
            <a:avLst/>
          </a:prstGeom>
          <a:noFill/>
          <a:ln/>
        </p:spPr>
        <p:txBody>
          <a:bodyPr wrap="square" rtlCol="0" anchor="ctr"/>
          <a:lstStyle/>
          <a:p>
            <a:pPr indent="0" marL="0">
              <a:lnSpc>
                <a:spcPts val="1800"/>
              </a:lnSpc>
              <a:buNone/>
            </a:pPr>
            <a:r>
              <a:rPr lang="en-US" sz="1350" dirty="0">
                <a:solidFill>
                  <a:srgbClr val="5A6B7C"/>
                </a:solidFill>
                <a:latin typeface="Calibri" pitchFamily="34" charset="0"/>
                <a:ea typeface="Calibri" pitchFamily="34" charset="-122"/>
                <a:cs typeface="Calibri" pitchFamily="34" charset="-120"/>
              </a:rPr>
              <a:t>When both systems are evaluated on the same items and each item is simply right or wrong, McNemar is the correct test — and that is the situation almost every time you compare two models.</a:t>
            </a:r>
            <a:endParaRPr lang="en-US" sz="1350" dirty="0"/>
          </a:p>
        </p:txBody>
      </p:sp>
      <p:sp>
        <p:nvSpPr>
          <p:cNvPr id="6" name="Text 4"/>
          <p:cNvSpPr/>
          <p:nvPr/>
        </p:nvSpPr>
        <p:spPr>
          <a:xfrm>
            <a:off x="3017520" y="1874520"/>
            <a:ext cx="5486400" cy="274320"/>
          </a:xfrm>
          <a:prstGeom prst="rect">
            <a:avLst/>
          </a:prstGeom>
          <a:noFill/>
          <a:ln/>
        </p:spPr>
        <p:txBody>
          <a:bodyPr wrap="square" rtlCol="0" anchor="ctr"/>
          <a:lstStyle/>
          <a:p>
            <a:pPr algn="ctr" indent="0" marL="0">
              <a:buNone/>
            </a:pPr>
            <a:r>
              <a:rPr lang="en-US" sz="1200" b="1" dirty="0">
                <a:solidFill>
                  <a:srgbClr val="5A6B7C"/>
                </a:solidFill>
                <a:latin typeface="Calibri" pitchFamily="34" charset="0"/>
                <a:ea typeface="Calibri" pitchFamily="34" charset="-122"/>
                <a:cs typeface="Calibri" pitchFamily="34" charset="-120"/>
              </a:rPr>
              <a:t>System B correct</a:t>
            </a:r>
            <a:endParaRPr lang="en-US" sz="1200" dirty="0"/>
          </a:p>
        </p:txBody>
      </p:sp>
      <p:sp>
        <p:nvSpPr>
          <p:cNvPr id="7" name="Text 5"/>
          <p:cNvSpPr/>
          <p:nvPr/>
        </p:nvSpPr>
        <p:spPr>
          <a:xfrm>
            <a:off x="3017520" y="2084832"/>
            <a:ext cx="2743200" cy="228600"/>
          </a:xfrm>
          <a:prstGeom prst="rect">
            <a:avLst/>
          </a:prstGeom>
          <a:noFill/>
          <a:ln/>
        </p:spPr>
        <p:txBody>
          <a:bodyPr wrap="square" rtlCol="0" anchor="ctr"/>
          <a:lstStyle/>
          <a:p>
            <a:pPr algn="ctr" indent="0" marL="0">
              <a:buNone/>
            </a:pPr>
            <a:r>
              <a:rPr lang="en-US" sz="1100" dirty="0">
                <a:solidFill>
                  <a:srgbClr val="5A6B7C"/>
                </a:solidFill>
                <a:latin typeface="Calibri" pitchFamily="34" charset="0"/>
                <a:ea typeface="Calibri" pitchFamily="34" charset="-122"/>
                <a:cs typeface="Calibri" pitchFamily="34" charset="-120"/>
              </a:rPr>
              <a:t>Yes</a:t>
            </a:r>
            <a:endParaRPr lang="en-US" sz="1100" dirty="0"/>
          </a:p>
        </p:txBody>
      </p:sp>
      <p:sp>
        <p:nvSpPr>
          <p:cNvPr id="8" name="Text 6"/>
          <p:cNvSpPr/>
          <p:nvPr/>
        </p:nvSpPr>
        <p:spPr>
          <a:xfrm>
            <a:off x="5760720" y="2084832"/>
            <a:ext cx="2743200" cy="228600"/>
          </a:xfrm>
          <a:prstGeom prst="rect">
            <a:avLst/>
          </a:prstGeom>
          <a:noFill/>
          <a:ln/>
        </p:spPr>
        <p:txBody>
          <a:bodyPr wrap="square" rtlCol="0" anchor="ctr"/>
          <a:lstStyle/>
          <a:p>
            <a:pPr algn="ctr" indent="0" marL="0">
              <a:buNone/>
            </a:pPr>
            <a:r>
              <a:rPr lang="en-US" sz="1100" dirty="0">
                <a:solidFill>
                  <a:srgbClr val="5A6B7C"/>
                </a:solidFill>
                <a:latin typeface="Calibri" pitchFamily="34" charset="0"/>
                <a:ea typeface="Calibri" pitchFamily="34" charset="-122"/>
                <a:cs typeface="Calibri" pitchFamily="34" charset="-120"/>
              </a:rPr>
              <a:t>No</a:t>
            </a:r>
            <a:endParaRPr lang="en-US" sz="1100" dirty="0"/>
          </a:p>
        </p:txBody>
      </p:sp>
      <p:sp>
        <p:nvSpPr>
          <p:cNvPr id="9" name="Text 7"/>
          <p:cNvSpPr/>
          <p:nvPr/>
        </p:nvSpPr>
        <p:spPr>
          <a:xfrm>
            <a:off x="1234440" y="2834640"/>
            <a:ext cx="1645920" cy="365760"/>
          </a:xfrm>
          <a:prstGeom prst="rect">
            <a:avLst/>
          </a:prstGeom>
          <a:noFill/>
          <a:ln/>
        </p:spPr>
        <p:txBody>
          <a:bodyPr wrap="square" rtlCol="0" anchor="ctr"/>
          <a:lstStyle/>
          <a:p>
            <a:pPr algn="r" indent="0" marL="0">
              <a:buNone/>
            </a:pPr>
            <a:r>
              <a:rPr lang="en-US" sz="1200" b="1" dirty="0">
                <a:solidFill>
                  <a:srgbClr val="5A6B7C"/>
                </a:solidFill>
                <a:latin typeface="Calibri" pitchFamily="34" charset="0"/>
                <a:ea typeface="Calibri" pitchFamily="34" charset="-122"/>
                <a:cs typeface="Calibri" pitchFamily="34" charset="-120"/>
              </a:rPr>
              <a:t>System A correct</a:t>
            </a:r>
            <a:endParaRPr lang="en-US" sz="1200" dirty="0"/>
          </a:p>
        </p:txBody>
      </p:sp>
      <p:sp>
        <p:nvSpPr>
          <p:cNvPr id="10" name="Text 8"/>
          <p:cNvSpPr/>
          <p:nvPr/>
        </p:nvSpPr>
        <p:spPr>
          <a:xfrm>
            <a:off x="1417320" y="2578608"/>
            <a:ext cx="1463040" cy="274320"/>
          </a:xfrm>
          <a:prstGeom prst="rect">
            <a:avLst/>
          </a:prstGeom>
          <a:noFill/>
          <a:ln/>
        </p:spPr>
        <p:txBody>
          <a:bodyPr wrap="square"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Yes</a:t>
            </a:r>
            <a:endParaRPr lang="en-US" sz="1100" dirty="0"/>
          </a:p>
        </p:txBody>
      </p:sp>
      <p:sp>
        <p:nvSpPr>
          <p:cNvPr id="11" name="Text 9"/>
          <p:cNvSpPr/>
          <p:nvPr/>
        </p:nvSpPr>
        <p:spPr>
          <a:xfrm>
            <a:off x="1417320" y="3493008"/>
            <a:ext cx="1463040" cy="274320"/>
          </a:xfrm>
          <a:prstGeom prst="rect">
            <a:avLst/>
          </a:prstGeom>
          <a:noFill/>
          <a:ln/>
        </p:spPr>
        <p:txBody>
          <a:bodyPr wrap="square"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No</a:t>
            </a:r>
            <a:endParaRPr lang="en-US" sz="1100" dirty="0"/>
          </a:p>
        </p:txBody>
      </p:sp>
      <p:sp>
        <p:nvSpPr>
          <p:cNvPr id="12" name="Shape 10"/>
          <p:cNvSpPr/>
          <p:nvPr/>
        </p:nvSpPr>
        <p:spPr>
          <a:xfrm>
            <a:off x="3017520" y="2286000"/>
            <a:ext cx="2743200" cy="914400"/>
          </a:xfrm>
          <a:prstGeom prst="rect">
            <a:avLst/>
          </a:prstGeom>
          <a:solidFill>
            <a:srgbClr val="D8E4EC"/>
          </a:solidFill>
          <a:ln w="12700">
            <a:solidFill>
              <a:srgbClr val="C8D4DE"/>
            </a:solidFill>
            <a:prstDash val="solid"/>
          </a:ln>
        </p:spPr>
      </p:sp>
      <p:sp>
        <p:nvSpPr>
          <p:cNvPr id="13" name="Text 11"/>
          <p:cNvSpPr/>
          <p:nvPr/>
        </p:nvSpPr>
        <p:spPr>
          <a:xfrm>
            <a:off x="3017520" y="2286000"/>
            <a:ext cx="2743200" cy="914400"/>
          </a:xfrm>
          <a:prstGeom prst="rect">
            <a:avLst/>
          </a:prstGeom>
          <a:noFill/>
          <a:ln/>
        </p:spPr>
        <p:txBody>
          <a:bodyPr wrap="square" lIns="0" tIns="0" rIns="0" bIns="0" rtlCol="0" anchor="ctr"/>
          <a:lstStyle/>
          <a:p>
            <a:pPr algn="ctr" indent="0" marL="0">
              <a:buNone/>
            </a:pPr>
            <a:r>
              <a:rPr lang="en-US" sz="1150" b="1" dirty="0">
                <a:solidFill>
                  <a:srgbClr val="5A6B7C"/>
                </a:solidFill>
                <a:latin typeface="Calibri" pitchFamily="34" charset="0"/>
                <a:ea typeface="Calibri" pitchFamily="34" charset="-122"/>
                <a:cs typeface="Calibri" pitchFamily="34" charset="-120"/>
              </a:rPr>
              <a:t>a — both right</a:t>
            </a:r>
            <a:endParaRPr lang="en-US" sz="1150" dirty="0"/>
          </a:p>
        </p:txBody>
      </p:sp>
      <p:sp>
        <p:nvSpPr>
          <p:cNvPr id="14" name="Shape 12"/>
          <p:cNvSpPr/>
          <p:nvPr/>
        </p:nvSpPr>
        <p:spPr>
          <a:xfrm>
            <a:off x="5760720" y="2286000"/>
            <a:ext cx="2743200" cy="914400"/>
          </a:xfrm>
          <a:prstGeom prst="rect">
            <a:avLst/>
          </a:prstGeom>
          <a:solidFill>
            <a:srgbClr val="FBEEE8"/>
          </a:solidFill>
          <a:ln w="12700">
            <a:solidFill>
              <a:srgbClr val="C8D4DE"/>
            </a:solidFill>
            <a:prstDash val="solid"/>
          </a:ln>
        </p:spPr>
      </p:sp>
      <p:sp>
        <p:nvSpPr>
          <p:cNvPr id="15" name="Text 13"/>
          <p:cNvSpPr/>
          <p:nvPr/>
        </p:nvSpPr>
        <p:spPr>
          <a:xfrm>
            <a:off x="5760720" y="2286000"/>
            <a:ext cx="2743200" cy="914400"/>
          </a:xfrm>
          <a:prstGeom prst="rect">
            <a:avLst/>
          </a:prstGeom>
          <a:noFill/>
          <a:ln/>
        </p:spPr>
        <p:txBody>
          <a:bodyPr wrap="square" lIns="0" tIns="0" rIns="0" bIns="0" rtlCol="0" anchor="ctr"/>
          <a:lstStyle/>
          <a:p>
            <a:pPr algn="ctr" indent="0" marL="0">
              <a:buNone/>
            </a:pPr>
            <a:r>
              <a:rPr lang="en-US" sz="1150" b="1" dirty="0">
                <a:solidFill>
                  <a:srgbClr val="C1440E"/>
                </a:solidFill>
                <a:latin typeface="Calibri" pitchFamily="34" charset="0"/>
                <a:ea typeface="Calibri" pitchFamily="34" charset="-122"/>
                <a:cs typeface="Calibri" pitchFamily="34" charset="-120"/>
              </a:rPr>
              <a:t>b — A right, B wrong</a:t>
            </a:r>
            <a:endParaRPr lang="en-US" sz="1150" dirty="0"/>
          </a:p>
        </p:txBody>
      </p:sp>
      <p:sp>
        <p:nvSpPr>
          <p:cNvPr id="16" name="Shape 14"/>
          <p:cNvSpPr/>
          <p:nvPr/>
        </p:nvSpPr>
        <p:spPr>
          <a:xfrm>
            <a:off x="3017520" y="3200400"/>
            <a:ext cx="2743200" cy="914400"/>
          </a:xfrm>
          <a:prstGeom prst="rect">
            <a:avLst/>
          </a:prstGeom>
          <a:solidFill>
            <a:srgbClr val="EDF5EE"/>
          </a:solidFill>
          <a:ln w="12700">
            <a:solidFill>
              <a:srgbClr val="C8D4DE"/>
            </a:solidFill>
            <a:prstDash val="solid"/>
          </a:ln>
        </p:spPr>
      </p:sp>
      <p:sp>
        <p:nvSpPr>
          <p:cNvPr id="17" name="Text 15"/>
          <p:cNvSpPr/>
          <p:nvPr/>
        </p:nvSpPr>
        <p:spPr>
          <a:xfrm>
            <a:off x="3017520" y="3200400"/>
            <a:ext cx="2743200" cy="914400"/>
          </a:xfrm>
          <a:prstGeom prst="rect">
            <a:avLst/>
          </a:prstGeom>
          <a:noFill/>
          <a:ln/>
        </p:spPr>
        <p:txBody>
          <a:bodyPr wrap="square" lIns="0" tIns="0" rIns="0" bIns="0" rtlCol="0" anchor="ctr"/>
          <a:lstStyle/>
          <a:p>
            <a:pPr algn="ctr" indent="0" marL="0">
              <a:buNone/>
            </a:pPr>
            <a:r>
              <a:rPr lang="en-US" sz="1150" b="1" dirty="0">
                <a:solidFill>
                  <a:srgbClr val="1E7A3C"/>
                </a:solidFill>
                <a:latin typeface="Calibri" pitchFamily="34" charset="0"/>
                <a:ea typeface="Calibri" pitchFamily="34" charset="-122"/>
                <a:cs typeface="Calibri" pitchFamily="34" charset="-120"/>
              </a:rPr>
              <a:t>c — A wrong, B right</a:t>
            </a:r>
            <a:endParaRPr lang="en-US" sz="1150" dirty="0"/>
          </a:p>
        </p:txBody>
      </p:sp>
      <p:sp>
        <p:nvSpPr>
          <p:cNvPr id="18" name="Shape 16"/>
          <p:cNvSpPr/>
          <p:nvPr/>
        </p:nvSpPr>
        <p:spPr>
          <a:xfrm>
            <a:off x="5760720" y="3200400"/>
            <a:ext cx="2743200" cy="914400"/>
          </a:xfrm>
          <a:prstGeom prst="rect">
            <a:avLst/>
          </a:prstGeom>
          <a:solidFill>
            <a:srgbClr val="D8E4EC"/>
          </a:solidFill>
          <a:ln w="12700">
            <a:solidFill>
              <a:srgbClr val="C8D4DE"/>
            </a:solidFill>
            <a:prstDash val="solid"/>
          </a:ln>
        </p:spPr>
      </p:sp>
      <p:sp>
        <p:nvSpPr>
          <p:cNvPr id="19" name="Text 17"/>
          <p:cNvSpPr/>
          <p:nvPr/>
        </p:nvSpPr>
        <p:spPr>
          <a:xfrm>
            <a:off x="5760720" y="3200400"/>
            <a:ext cx="2743200" cy="914400"/>
          </a:xfrm>
          <a:prstGeom prst="rect">
            <a:avLst/>
          </a:prstGeom>
          <a:noFill/>
          <a:ln/>
        </p:spPr>
        <p:txBody>
          <a:bodyPr wrap="square" lIns="0" tIns="0" rIns="0" bIns="0" rtlCol="0" anchor="ctr"/>
          <a:lstStyle/>
          <a:p>
            <a:pPr algn="ctr" indent="0" marL="0">
              <a:buNone/>
            </a:pPr>
            <a:r>
              <a:rPr lang="en-US" sz="1150" b="1" dirty="0">
                <a:solidFill>
                  <a:srgbClr val="5A6B7C"/>
                </a:solidFill>
                <a:latin typeface="Calibri" pitchFamily="34" charset="0"/>
                <a:ea typeface="Calibri" pitchFamily="34" charset="-122"/>
                <a:cs typeface="Calibri" pitchFamily="34" charset="-120"/>
              </a:rPr>
              <a:t>d — both wrong</a:t>
            </a:r>
            <a:endParaRPr lang="en-US" sz="1150" dirty="0"/>
          </a:p>
        </p:txBody>
      </p:sp>
      <p:sp>
        <p:nvSpPr>
          <p:cNvPr id="20" name="Shape 18"/>
          <p:cNvSpPr/>
          <p:nvPr/>
        </p:nvSpPr>
        <p:spPr>
          <a:xfrm>
            <a:off x="8869680" y="2286000"/>
            <a:ext cx="2651760" cy="1828800"/>
          </a:xfrm>
          <a:prstGeom prst="roundRect">
            <a:avLst>
              <a:gd name="adj" fmla="val 3000"/>
            </a:avLst>
          </a:prstGeom>
          <a:solidFill>
            <a:srgbClr val="21295C"/>
          </a:solidFill>
          <a:ln/>
        </p:spPr>
      </p:sp>
      <p:sp>
        <p:nvSpPr>
          <p:cNvPr id="21" name="Text 19"/>
          <p:cNvSpPr/>
          <p:nvPr/>
        </p:nvSpPr>
        <p:spPr>
          <a:xfrm>
            <a:off x="9052560" y="2450592"/>
            <a:ext cx="2286000" cy="320040"/>
          </a:xfrm>
          <a:prstGeom prst="rect">
            <a:avLst/>
          </a:prstGeom>
          <a:noFill/>
          <a:ln/>
        </p:spPr>
        <p:txBody>
          <a:bodyPr wrap="square" lIns="0" tIns="0" rIns="0" bIns="0" rtlCol="0" anchor="ctr"/>
          <a:lstStyle/>
          <a:p>
            <a:pPr indent="0" marL="0">
              <a:buNone/>
            </a:pPr>
            <a:r>
              <a:rPr lang="en-US" sz="1300" b="1" dirty="0">
                <a:solidFill>
                  <a:srgbClr val="9FD0E3"/>
                </a:solidFill>
                <a:latin typeface="Calibri" pitchFamily="34" charset="0"/>
                <a:ea typeface="Calibri" pitchFamily="34" charset="-122"/>
                <a:cs typeface="Calibri" pitchFamily="34" charset="-120"/>
              </a:rPr>
              <a:t>The insight</a:t>
            </a:r>
            <a:endParaRPr lang="en-US" sz="1300" dirty="0"/>
          </a:p>
        </p:txBody>
      </p:sp>
      <p:sp>
        <p:nvSpPr>
          <p:cNvPr id="22" name="Text 20"/>
          <p:cNvSpPr/>
          <p:nvPr/>
        </p:nvSpPr>
        <p:spPr>
          <a:xfrm>
            <a:off x="9052560" y="2788920"/>
            <a:ext cx="2286000" cy="1188720"/>
          </a:xfrm>
          <a:prstGeom prst="rect">
            <a:avLst/>
          </a:prstGeom>
          <a:noFill/>
          <a:ln/>
        </p:spPr>
        <p:txBody>
          <a:bodyPr wrap="square" lIns="0" tIns="0" rIns="0" bIns="0" rtlCol="0" anchor="ctr"/>
          <a:lstStyle/>
          <a:p>
            <a:pPr indent="0" marL="0">
              <a:lnSpc>
                <a:spcPts val="1400"/>
              </a:lnSpc>
              <a:buNone/>
            </a:pPr>
            <a:r>
              <a:rPr lang="en-US" sz="1100" dirty="0">
                <a:solidFill>
                  <a:srgbClr val="E2EFF5"/>
                </a:solidFill>
                <a:latin typeface="Calibri" pitchFamily="34" charset="0"/>
                <a:ea typeface="Calibri" pitchFamily="34" charset="-122"/>
                <a:cs typeface="Calibri" pitchFamily="34" charset="-120"/>
              </a:rPr>
              <a:t>Cells a and d carry no information — both systems agreed.</a:t>
            </a:r>
            <a:endParaRPr lang="en-US" sz="1100" dirty="0"/>
          </a:p>
          <a:p>
            <a:pPr indent="0" marL="0">
              <a:lnSpc>
                <a:spcPts val="1400"/>
              </a:lnSpc>
              <a:buNone/>
            </a:pPr>
            <a:endParaRPr lang="en-US" sz="1100" dirty="0"/>
          </a:p>
          <a:p>
            <a:pPr indent="0" marL="0">
              <a:lnSpc>
                <a:spcPts val="1400"/>
              </a:lnSpc>
              <a:buNone/>
            </a:pPr>
            <a:r>
              <a:rPr lang="en-US" sz="1100" dirty="0">
                <a:solidFill>
                  <a:srgbClr val="E2EFF5"/>
                </a:solidFill>
                <a:latin typeface="Calibri" pitchFamily="34" charset="0"/>
                <a:ea typeface="Calibri" pitchFamily="34" charset="-122"/>
                <a:cs typeface="Calibri" pitchFamily="34" charset="-120"/>
              </a:rPr>
              <a:t>Only the discordant cells b and c matter. The test asks whether they differ more than chance allows.</a:t>
            </a:r>
            <a:endParaRPr lang="en-US" sz="1100" dirty="0"/>
          </a:p>
        </p:txBody>
      </p:sp>
      <p:sp>
        <p:nvSpPr>
          <p:cNvPr id="23" name="Text 2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If b + c is small — the systems rarely disagree — no test will detect a difference. That itself is the answer: the change did very little.</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Permutation tests — when you trust no assumption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40</a:t>
            </a:r>
            <a:endParaRPr lang="en-US" sz="1000" dirty="0"/>
          </a:p>
        </p:txBody>
      </p:sp>
      <p:sp>
        <p:nvSpPr>
          <p:cNvPr id="5" name="Shape 3"/>
          <p:cNvSpPr/>
          <p:nvPr/>
        </p:nvSpPr>
        <p:spPr>
          <a:xfrm>
            <a:off x="640080" y="1554480"/>
            <a:ext cx="365760" cy="365760"/>
          </a:xfrm>
          <a:prstGeom prst="ellipse">
            <a:avLst/>
          </a:prstGeom>
          <a:solidFill>
            <a:srgbClr val="1C7293"/>
          </a:solidFill>
          <a:ln/>
        </p:spPr>
      </p:sp>
      <p:sp>
        <p:nvSpPr>
          <p:cNvPr id="6" name="Text 4"/>
          <p:cNvSpPr/>
          <p:nvPr/>
        </p:nvSpPr>
        <p:spPr>
          <a:xfrm>
            <a:off x="640080"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463040"/>
            <a:ext cx="10332720" cy="594360"/>
          </a:xfrm>
          <a:prstGeom prst="rect">
            <a:avLst/>
          </a:prstGeom>
          <a:noFill/>
          <a:ln/>
        </p:spPr>
        <p:txBody>
          <a:bodyPr wrap="square" lIns="0" tIns="0" rIns="0" bIns="0" rtlCol="0" anchor="ctr"/>
          <a:lstStyle/>
          <a:p>
            <a:pPr indent="0" marL="0">
              <a:lnSpc>
                <a:spcPts val="1700"/>
              </a:lnSpc>
              <a:buNone/>
            </a:pPr>
            <a:r>
              <a:rPr lang="en-US" sz="1300" dirty="0">
                <a:solidFill>
                  <a:srgbClr val="1A2430"/>
                </a:solidFill>
                <a:latin typeface="Calibri" pitchFamily="34" charset="0"/>
                <a:ea typeface="Calibri" pitchFamily="34" charset="-122"/>
                <a:cs typeface="Calibri" pitchFamily="34" charset="-120"/>
              </a:rPr>
              <a:t>Compute the observed difference between the two systems on your evaluation set</a:t>
            </a:r>
            <a:endParaRPr lang="en-US" sz="1300" dirty="0"/>
          </a:p>
        </p:txBody>
      </p:sp>
      <p:sp>
        <p:nvSpPr>
          <p:cNvPr id="8" name="Shape 6"/>
          <p:cNvSpPr/>
          <p:nvPr/>
        </p:nvSpPr>
        <p:spPr>
          <a:xfrm>
            <a:off x="640080" y="2340864"/>
            <a:ext cx="365760" cy="365760"/>
          </a:xfrm>
          <a:prstGeom prst="ellipse">
            <a:avLst/>
          </a:prstGeom>
          <a:solidFill>
            <a:srgbClr val="1C7293"/>
          </a:solidFill>
          <a:ln/>
        </p:spPr>
      </p:sp>
      <p:sp>
        <p:nvSpPr>
          <p:cNvPr id="9" name="Text 7"/>
          <p:cNvSpPr/>
          <p:nvPr/>
        </p:nvSpPr>
        <p:spPr>
          <a:xfrm>
            <a:off x="640080" y="23408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88720" y="2249424"/>
            <a:ext cx="10332720" cy="594360"/>
          </a:xfrm>
          <a:prstGeom prst="rect">
            <a:avLst/>
          </a:prstGeom>
          <a:noFill/>
          <a:ln/>
        </p:spPr>
        <p:txBody>
          <a:bodyPr wrap="square" lIns="0" tIns="0" rIns="0" bIns="0" rtlCol="0" anchor="ctr"/>
          <a:lstStyle/>
          <a:p>
            <a:pPr indent="0" marL="0">
              <a:lnSpc>
                <a:spcPts val="1700"/>
              </a:lnSpc>
              <a:buNone/>
            </a:pPr>
            <a:r>
              <a:rPr lang="en-US" sz="1300" dirty="0">
                <a:solidFill>
                  <a:srgbClr val="1A2430"/>
                </a:solidFill>
                <a:latin typeface="Calibri" pitchFamily="34" charset="0"/>
                <a:ea typeface="Calibri" pitchFamily="34" charset="-122"/>
                <a:cs typeface="Calibri" pitchFamily="34" charset="-120"/>
              </a:rPr>
              <a:t>Pool the results and randomly reassign each item's outcome between the two systems</a:t>
            </a:r>
            <a:endParaRPr lang="en-US" sz="1300" dirty="0"/>
          </a:p>
        </p:txBody>
      </p:sp>
      <p:sp>
        <p:nvSpPr>
          <p:cNvPr id="11" name="Shape 9"/>
          <p:cNvSpPr/>
          <p:nvPr/>
        </p:nvSpPr>
        <p:spPr>
          <a:xfrm>
            <a:off x="640080" y="3127248"/>
            <a:ext cx="365760" cy="365760"/>
          </a:xfrm>
          <a:prstGeom prst="ellipse">
            <a:avLst/>
          </a:prstGeom>
          <a:solidFill>
            <a:srgbClr val="1C7293"/>
          </a:solidFill>
          <a:ln/>
        </p:spPr>
      </p:sp>
      <p:sp>
        <p:nvSpPr>
          <p:cNvPr id="12" name="Text 10"/>
          <p:cNvSpPr/>
          <p:nvPr/>
        </p:nvSpPr>
        <p:spPr>
          <a:xfrm>
            <a:off x="640080" y="3127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88720" y="3035808"/>
            <a:ext cx="10332720" cy="594360"/>
          </a:xfrm>
          <a:prstGeom prst="rect">
            <a:avLst/>
          </a:prstGeom>
          <a:noFill/>
          <a:ln/>
        </p:spPr>
        <p:txBody>
          <a:bodyPr wrap="square" lIns="0" tIns="0" rIns="0" bIns="0" rtlCol="0" anchor="ctr"/>
          <a:lstStyle/>
          <a:p>
            <a:pPr indent="0" marL="0">
              <a:lnSpc>
                <a:spcPts val="1700"/>
              </a:lnSpc>
              <a:buNone/>
            </a:pPr>
            <a:r>
              <a:rPr lang="en-US" sz="1300" dirty="0">
                <a:solidFill>
                  <a:srgbClr val="1A2430"/>
                </a:solidFill>
                <a:latin typeface="Calibri" pitchFamily="34" charset="0"/>
                <a:ea typeface="Calibri" pitchFamily="34" charset="-122"/>
                <a:cs typeface="Calibri" pitchFamily="34" charset="-120"/>
              </a:rPr>
              <a:t>Recompute the difference on this shuffled assignment</a:t>
            </a:r>
            <a:endParaRPr lang="en-US" sz="1300" dirty="0"/>
          </a:p>
        </p:txBody>
      </p:sp>
      <p:sp>
        <p:nvSpPr>
          <p:cNvPr id="14" name="Shape 12"/>
          <p:cNvSpPr/>
          <p:nvPr/>
        </p:nvSpPr>
        <p:spPr>
          <a:xfrm>
            <a:off x="640080" y="3913632"/>
            <a:ext cx="365760" cy="365760"/>
          </a:xfrm>
          <a:prstGeom prst="ellipse">
            <a:avLst/>
          </a:prstGeom>
          <a:solidFill>
            <a:srgbClr val="1C7293"/>
          </a:solidFill>
          <a:ln/>
        </p:spPr>
      </p:sp>
      <p:sp>
        <p:nvSpPr>
          <p:cNvPr id="15" name="Text 13"/>
          <p:cNvSpPr/>
          <p:nvPr/>
        </p:nvSpPr>
        <p:spPr>
          <a:xfrm>
            <a:off x="640080" y="3913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188720" y="3822192"/>
            <a:ext cx="10332720" cy="594360"/>
          </a:xfrm>
          <a:prstGeom prst="rect">
            <a:avLst/>
          </a:prstGeom>
          <a:noFill/>
          <a:ln/>
        </p:spPr>
        <p:txBody>
          <a:bodyPr wrap="square" lIns="0" tIns="0" rIns="0" bIns="0" rtlCol="0" anchor="ctr"/>
          <a:lstStyle/>
          <a:p>
            <a:pPr indent="0" marL="0">
              <a:lnSpc>
                <a:spcPts val="1700"/>
              </a:lnSpc>
              <a:buNone/>
            </a:pPr>
            <a:r>
              <a:rPr lang="en-US" sz="1300" dirty="0">
                <a:solidFill>
                  <a:srgbClr val="1A2430"/>
                </a:solidFill>
                <a:latin typeface="Calibri" pitchFamily="34" charset="0"/>
                <a:ea typeface="Calibri" pitchFamily="34" charset="-122"/>
                <a:cs typeface="Calibri" pitchFamily="34" charset="-120"/>
              </a:rPr>
              <a:t>Repeat 10,000 times to build the distribution of differences under the null hypothesis</a:t>
            </a:r>
            <a:endParaRPr lang="en-US" sz="1300" dirty="0"/>
          </a:p>
        </p:txBody>
      </p:sp>
      <p:sp>
        <p:nvSpPr>
          <p:cNvPr id="17" name="Shape 15"/>
          <p:cNvSpPr/>
          <p:nvPr/>
        </p:nvSpPr>
        <p:spPr>
          <a:xfrm>
            <a:off x="640080" y="4700016"/>
            <a:ext cx="365760" cy="365760"/>
          </a:xfrm>
          <a:prstGeom prst="ellipse">
            <a:avLst/>
          </a:prstGeom>
          <a:solidFill>
            <a:srgbClr val="1C7293"/>
          </a:solidFill>
          <a:ln/>
        </p:spPr>
      </p:sp>
      <p:sp>
        <p:nvSpPr>
          <p:cNvPr id="18" name="Text 16"/>
          <p:cNvSpPr/>
          <p:nvPr/>
        </p:nvSpPr>
        <p:spPr>
          <a:xfrm>
            <a:off x="640080" y="47000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1188720" y="4608576"/>
            <a:ext cx="10332720" cy="594360"/>
          </a:xfrm>
          <a:prstGeom prst="rect">
            <a:avLst/>
          </a:prstGeom>
          <a:noFill/>
          <a:ln/>
        </p:spPr>
        <p:txBody>
          <a:bodyPr wrap="square" lIns="0" tIns="0" rIns="0" bIns="0" rtlCol="0" anchor="ctr"/>
          <a:lstStyle/>
          <a:p>
            <a:pPr indent="0" marL="0">
              <a:lnSpc>
                <a:spcPts val="1700"/>
              </a:lnSpc>
              <a:buNone/>
            </a:pPr>
            <a:r>
              <a:rPr lang="en-US" sz="1300" dirty="0">
                <a:solidFill>
                  <a:srgbClr val="1A2430"/>
                </a:solidFill>
                <a:latin typeface="Calibri" pitchFamily="34" charset="0"/>
                <a:ea typeface="Calibri" pitchFamily="34" charset="-122"/>
                <a:cs typeface="Calibri" pitchFamily="34" charset="-120"/>
              </a:rPr>
              <a:t>The p-value is the proportion of shuffled differences at least as extreme as the observed one</a:t>
            </a:r>
            <a:endParaRPr lang="en-US" sz="1300" dirty="0"/>
          </a:p>
        </p:txBody>
      </p:sp>
      <p:sp>
        <p:nvSpPr>
          <p:cNvPr id="20" name="Shape 18"/>
          <p:cNvSpPr/>
          <p:nvPr/>
        </p:nvSpPr>
        <p:spPr>
          <a:xfrm>
            <a:off x="640080" y="4709160"/>
            <a:ext cx="10881360" cy="1005840"/>
          </a:xfrm>
          <a:prstGeom prst="roundRect">
            <a:avLst>
              <a:gd name="adj" fmla="val 5455"/>
            </a:avLst>
          </a:prstGeom>
          <a:solidFill>
            <a:srgbClr val="EDF5EE"/>
          </a:solidFill>
          <a:ln w="12700">
            <a:solidFill>
              <a:srgbClr val="C2DCC8"/>
            </a:solidFill>
            <a:prstDash val="solid"/>
          </a:ln>
        </p:spPr>
      </p:sp>
      <p:sp>
        <p:nvSpPr>
          <p:cNvPr id="21" name="Text 19"/>
          <p:cNvSpPr/>
          <p:nvPr/>
        </p:nvSpPr>
        <p:spPr>
          <a:xfrm>
            <a:off x="914400" y="4864608"/>
            <a:ext cx="10332720" cy="73152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Why it belongs in your toolkit: it assumes nothing about the distribution, works for any metric including complex ones like mAP or task completion rate, and is easy to explain to a sceptical stakeholder — you are simply asking how often chance alone would produce a difference this large.</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2.17</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Type I and Type II errors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41</a:t>
            </a:r>
            <a:endParaRPr lang="en-US" sz="1000" dirty="0"/>
          </a:p>
        </p:txBody>
      </p:sp>
      <p:sp>
        <p:nvSpPr>
          <p:cNvPr id="5" name="Shape 3"/>
          <p:cNvSpPr/>
          <p:nvPr/>
        </p:nvSpPr>
        <p:spPr>
          <a:xfrm>
            <a:off x="640080" y="1325880"/>
            <a:ext cx="5303520" cy="2194560"/>
          </a:xfrm>
          <a:prstGeom prst="roundRect">
            <a:avLst>
              <a:gd name="adj" fmla="val 2500"/>
            </a:avLst>
          </a:prstGeom>
          <a:solidFill>
            <a:srgbClr val="FBEEE8"/>
          </a:solidFill>
          <a:ln w="12700">
            <a:solidFill>
              <a:srgbClr val="D8E4EC"/>
            </a:solidFill>
            <a:prstDash val="solid"/>
          </a:ln>
        </p:spPr>
      </p:sp>
      <p:sp>
        <p:nvSpPr>
          <p:cNvPr id="6" name="Text 4"/>
          <p:cNvSpPr/>
          <p:nvPr/>
        </p:nvSpPr>
        <p:spPr>
          <a:xfrm>
            <a:off x="841248" y="1463040"/>
            <a:ext cx="4901184" cy="347472"/>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Type I  —  false positive</a:t>
            </a:r>
            <a:endParaRPr lang="en-US" sz="1400" dirty="0"/>
          </a:p>
        </p:txBody>
      </p:sp>
      <p:sp>
        <p:nvSpPr>
          <p:cNvPr id="7" name="Text 5"/>
          <p:cNvSpPr/>
          <p:nvPr/>
        </p:nvSpPr>
        <p:spPr>
          <a:xfrm>
            <a:off x="841248" y="1828800"/>
            <a:ext cx="4901184" cy="15361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You conclude the change helped when it did not.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Consequence: you ship complexity that adds cost and maintenance for no benefit, and you now trust a method that does not work.</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Controlled by the significance level, commonly 0.05.</a:t>
            </a:r>
            <a:endParaRPr lang="en-US" sz="1150" dirty="0"/>
          </a:p>
        </p:txBody>
      </p:sp>
      <p:sp>
        <p:nvSpPr>
          <p:cNvPr id="8" name="Shape 6"/>
          <p:cNvSpPr/>
          <p:nvPr/>
        </p:nvSpPr>
        <p:spPr>
          <a:xfrm>
            <a:off x="6263640" y="1325880"/>
            <a:ext cx="5257800" cy="2194560"/>
          </a:xfrm>
          <a:prstGeom prst="roundRect">
            <a:avLst>
              <a:gd name="adj" fmla="val 2500"/>
            </a:avLst>
          </a:prstGeom>
          <a:solidFill>
            <a:srgbClr val="EDF1F7"/>
          </a:solidFill>
          <a:ln w="12700">
            <a:solidFill>
              <a:srgbClr val="D8E4EC"/>
            </a:solidFill>
            <a:prstDash val="solid"/>
          </a:ln>
        </p:spPr>
      </p:sp>
      <p:sp>
        <p:nvSpPr>
          <p:cNvPr id="9" name="Text 7"/>
          <p:cNvSpPr/>
          <p:nvPr/>
        </p:nvSpPr>
        <p:spPr>
          <a:xfrm>
            <a:off x="6464808" y="1463040"/>
            <a:ext cx="4855464"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Type II  —  false negative</a:t>
            </a:r>
            <a:endParaRPr lang="en-US" sz="1400" dirty="0"/>
          </a:p>
        </p:txBody>
      </p:sp>
      <p:sp>
        <p:nvSpPr>
          <p:cNvPr id="10" name="Text 8"/>
          <p:cNvSpPr/>
          <p:nvPr/>
        </p:nvSpPr>
        <p:spPr>
          <a:xfrm>
            <a:off x="6464808" y="1828800"/>
            <a:ext cx="4855464" cy="15361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You conclude the change did not help when it did.</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Consequence: you discard a genuine improvement, usually because the evaluation set was too small to detect it.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Controlled by statistical power, commonly targeted at 0.80.</a:t>
            </a:r>
            <a:endParaRPr lang="en-US" sz="1150" dirty="0"/>
          </a:p>
        </p:txBody>
      </p:sp>
      <p:sp>
        <p:nvSpPr>
          <p:cNvPr id="11" name="Shape 9"/>
          <p:cNvSpPr/>
          <p:nvPr/>
        </p:nvSpPr>
        <p:spPr>
          <a:xfrm>
            <a:off x="640080" y="3703320"/>
            <a:ext cx="10881360" cy="1600200"/>
          </a:xfrm>
          <a:prstGeom prst="roundRect">
            <a:avLst>
              <a:gd name="adj" fmla="val 3429"/>
            </a:avLst>
          </a:prstGeom>
          <a:solidFill>
            <a:srgbClr val="E8F1E9"/>
          </a:solidFill>
          <a:ln w="12700">
            <a:solidFill>
              <a:srgbClr val="C2DCC8"/>
            </a:solidFill>
            <a:prstDash val="solid"/>
          </a:ln>
        </p:spPr>
      </p:sp>
      <p:sp>
        <p:nvSpPr>
          <p:cNvPr id="12" name="Text 10"/>
          <p:cNvSpPr/>
          <p:nvPr/>
        </p:nvSpPr>
        <p:spPr>
          <a:xfrm>
            <a:off x="914400" y="3867912"/>
            <a:ext cx="10332720" cy="320040"/>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The failure mode that dominates AI teams</a:t>
            </a:r>
            <a:endParaRPr lang="en-US" sz="1400" dirty="0"/>
          </a:p>
        </p:txBody>
      </p:sp>
      <p:sp>
        <p:nvSpPr>
          <p:cNvPr id="13" name="Text 11"/>
          <p:cNvSpPr/>
          <p:nvPr/>
        </p:nvSpPr>
        <p:spPr>
          <a:xfrm>
            <a:off x="914400" y="4206240"/>
            <a:ext cx="10332720" cy="91440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Evaluation sets of twenty or thirty examples are far too small to detect the size of improvement most changes produce. Teams run the comparison, see nothing significant, conclude "it made no difference", and move on — a Type II error caused entirely by sample size. Genuinely good ideas get discarded this way every week.</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2.18</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Power analysis — sizing the experiment before running it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42</a:t>
            </a:r>
            <a:endParaRPr lang="en-US" sz="1000" dirty="0"/>
          </a:p>
        </p:txBody>
      </p:sp>
      <p:sp>
        <p:nvSpPr>
          <p:cNvPr id="5" name="Text 3"/>
          <p:cNvSpPr/>
          <p:nvPr/>
        </p:nvSpPr>
        <p:spPr>
          <a:xfrm>
            <a:off x="640080" y="1280160"/>
            <a:ext cx="10881360" cy="320040"/>
          </a:xfrm>
          <a:prstGeom prst="rect">
            <a:avLst/>
          </a:prstGeom>
          <a:noFill/>
          <a:ln/>
        </p:spPr>
        <p:txBody>
          <a:bodyPr wrap="square"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Four quantities are linked. Fix any three and the fourth is determined.</a:t>
            </a:r>
            <a:endParaRPr lang="en-US" sz="1400" dirty="0"/>
          </a:p>
        </p:txBody>
      </p:sp>
      <p:sp>
        <p:nvSpPr>
          <p:cNvPr id="6" name="Shape 4"/>
          <p:cNvSpPr/>
          <p:nvPr/>
        </p:nvSpPr>
        <p:spPr>
          <a:xfrm>
            <a:off x="640080" y="1828800"/>
            <a:ext cx="2560320" cy="2286000"/>
          </a:xfrm>
          <a:prstGeom prst="roundRect">
            <a:avLst>
              <a:gd name="adj" fmla="val 2400"/>
            </a:avLst>
          </a:prstGeom>
          <a:solidFill>
            <a:srgbClr val="EEF3F7"/>
          </a:solidFill>
          <a:ln w="12700">
            <a:solidFill>
              <a:srgbClr val="D8E4EC"/>
            </a:solidFill>
            <a:prstDash val="solid"/>
          </a:ln>
        </p:spPr>
      </p:sp>
      <p:sp>
        <p:nvSpPr>
          <p:cNvPr id="7" name="Text 5"/>
          <p:cNvSpPr/>
          <p:nvPr/>
        </p:nvSpPr>
        <p:spPr>
          <a:xfrm>
            <a:off x="841248" y="2029968"/>
            <a:ext cx="2157984" cy="502920"/>
          </a:xfrm>
          <a:prstGeom prst="rect">
            <a:avLst/>
          </a:prstGeom>
          <a:noFill/>
          <a:ln/>
        </p:spPr>
        <p:txBody>
          <a:bodyPr wrap="square" lIns="0" tIns="0" rIns="0" bIns="0" rtlCol="0" anchor="ctr"/>
          <a:lstStyle/>
          <a:p>
            <a:pPr indent="0" marL="0">
              <a:lnSpc>
                <a:spcPts val="1700"/>
              </a:lnSpc>
              <a:buNone/>
            </a:pPr>
            <a:r>
              <a:rPr lang="en-US" sz="1500" b="1" dirty="0">
                <a:solidFill>
                  <a:srgbClr val="065A82"/>
                </a:solidFill>
                <a:latin typeface="Cambria" pitchFamily="34" charset="0"/>
                <a:ea typeface="Cambria" pitchFamily="34" charset="-122"/>
                <a:cs typeface="Cambria" pitchFamily="34" charset="-120"/>
              </a:rPr>
              <a:t>Significance level</a:t>
            </a:r>
            <a:endParaRPr lang="en-US" sz="1500" dirty="0"/>
          </a:p>
        </p:txBody>
      </p:sp>
      <p:sp>
        <p:nvSpPr>
          <p:cNvPr id="8" name="Text 6"/>
          <p:cNvSpPr/>
          <p:nvPr/>
        </p:nvSpPr>
        <p:spPr>
          <a:xfrm>
            <a:off x="841248" y="2606040"/>
            <a:ext cx="2157984" cy="685800"/>
          </a:xfrm>
          <a:prstGeom prst="rect">
            <a:avLst/>
          </a:prstGeom>
          <a:noFill/>
          <a:ln/>
        </p:spPr>
        <p:txBody>
          <a:bodyPr wrap="square" lIns="0" tIns="0" rIns="0" bIns="0" rtlCol="0" anchor="ctr"/>
          <a:lstStyle/>
          <a:p>
            <a:pPr indent="0" marL="0">
              <a:lnSpc>
                <a:spcPts val="1500"/>
              </a:lnSpc>
              <a:buNone/>
            </a:pPr>
            <a:r>
              <a:rPr lang="en-US" sz="1150" b="1" dirty="0">
                <a:solidFill>
                  <a:srgbClr val="1A2430"/>
                </a:solidFill>
                <a:latin typeface="Calibri" pitchFamily="34" charset="0"/>
                <a:ea typeface="Calibri" pitchFamily="34" charset="-122"/>
                <a:cs typeface="Calibri" pitchFamily="34" charset="-120"/>
              </a:rPr>
              <a:t>Tolerance for a false positive</a:t>
            </a:r>
            <a:endParaRPr lang="en-US" sz="1150" dirty="0"/>
          </a:p>
        </p:txBody>
      </p:sp>
      <p:sp>
        <p:nvSpPr>
          <p:cNvPr id="9" name="Text 7"/>
          <p:cNvSpPr/>
          <p:nvPr/>
        </p:nvSpPr>
        <p:spPr>
          <a:xfrm>
            <a:off x="841248" y="3337560"/>
            <a:ext cx="2157984" cy="640080"/>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Conventionally 0.05</a:t>
            </a:r>
            <a:endParaRPr lang="en-US" sz="1100" dirty="0"/>
          </a:p>
        </p:txBody>
      </p:sp>
      <p:sp>
        <p:nvSpPr>
          <p:cNvPr id="10" name="Shape 8"/>
          <p:cNvSpPr/>
          <p:nvPr/>
        </p:nvSpPr>
        <p:spPr>
          <a:xfrm>
            <a:off x="3429000" y="1828800"/>
            <a:ext cx="2560320" cy="2286000"/>
          </a:xfrm>
          <a:prstGeom prst="roundRect">
            <a:avLst>
              <a:gd name="adj" fmla="val 2400"/>
            </a:avLst>
          </a:prstGeom>
          <a:solidFill>
            <a:srgbClr val="EEF3F7"/>
          </a:solidFill>
          <a:ln w="12700">
            <a:solidFill>
              <a:srgbClr val="D8E4EC"/>
            </a:solidFill>
            <a:prstDash val="solid"/>
          </a:ln>
        </p:spPr>
      </p:sp>
      <p:sp>
        <p:nvSpPr>
          <p:cNvPr id="11" name="Text 9"/>
          <p:cNvSpPr/>
          <p:nvPr/>
        </p:nvSpPr>
        <p:spPr>
          <a:xfrm>
            <a:off x="3630168" y="2029968"/>
            <a:ext cx="2157984" cy="502920"/>
          </a:xfrm>
          <a:prstGeom prst="rect">
            <a:avLst/>
          </a:prstGeom>
          <a:noFill/>
          <a:ln/>
        </p:spPr>
        <p:txBody>
          <a:bodyPr wrap="square" lIns="0" tIns="0" rIns="0" bIns="0" rtlCol="0" anchor="ctr"/>
          <a:lstStyle/>
          <a:p>
            <a:pPr indent="0" marL="0">
              <a:lnSpc>
                <a:spcPts val="1700"/>
              </a:lnSpc>
              <a:buNone/>
            </a:pPr>
            <a:r>
              <a:rPr lang="en-US" sz="1500" b="1" dirty="0">
                <a:solidFill>
                  <a:srgbClr val="1C7293"/>
                </a:solidFill>
                <a:latin typeface="Cambria" pitchFamily="34" charset="0"/>
                <a:ea typeface="Cambria" pitchFamily="34" charset="-122"/>
                <a:cs typeface="Cambria" pitchFamily="34" charset="-120"/>
              </a:rPr>
              <a:t>Power</a:t>
            </a:r>
            <a:endParaRPr lang="en-US" sz="1500" dirty="0"/>
          </a:p>
        </p:txBody>
      </p:sp>
      <p:sp>
        <p:nvSpPr>
          <p:cNvPr id="12" name="Text 10"/>
          <p:cNvSpPr/>
          <p:nvPr/>
        </p:nvSpPr>
        <p:spPr>
          <a:xfrm>
            <a:off x="3630168" y="2606040"/>
            <a:ext cx="2157984" cy="685800"/>
          </a:xfrm>
          <a:prstGeom prst="rect">
            <a:avLst/>
          </a:prstGeom>
          <a:noFill/>
          <a:ln/>
        </p:spPr>
        <p:txBody>
          <a:bodyPr wrap="square" lIns="0" tIns="0" rIns="0" bIns="0" rtlCol="0" anchor="ctr"/>
          <a:lstStyle/>
          <a:p>
            <a:pPr indent="0" marL="0">
              <a:lnSpc>
                <a:spcPts val="1500"/>
              </a:lnSpc>
              <a:buNone/>
            </a:pPr>
            <a:r>
              <a:rPr lang="en-US" sz="1150" b="1" dirty="0">
                <a:solidFill>
                  <a:srgbClr val="1A2430"/>
                </a:solidFill>
                <a:latin typeface="Calibri" pitchFamily="34" charset="0"/>
                <a:ea typeface="Calibri" pitchFamily="34" charset="-122"/>
                <a:cs typeface="Calibri" pitchFamily="34" charset="-120"/>
              </a:rPr>
              <a:t>Probability of detecting a real effect</a:t>
            </a:r>
            <a:endParaRPr lang="en-US" sz="1150" dirty="0"/>
          </a:p>
        </p:txBody>
      </p:sp>
      <p:sp>
        <p:nvSpPr>
          <p:cNvPr id="13" name="Text 11"/>
          <p:cNvSpPr/>
          <p:nvPr/>
        </p:nvSpPr>
        <p:spPr>
          <a:xfrm>
            <a:off x="3630168" y="3337560"/>
            <a:ext cx="2157984" cy="640080"/>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Target 0.80, ideally 0.90</a:t>
            </a:r>
            <a:endParaRPr lang="en-US" sz="1100" dirty="0"/>
          </a:p>
        </p:txBody>
      </p:sp>
      <p:sp>
        <p:nvSpPr>
          <p:cNvPr id="14" name="Shape 12"/>
          <p:cNvSpPr/>
          <p:nvPr/>
        </p:nvSpPr>
        <p:spPr>
          <a:xfrm>
            <a:off x="6217920" y="1828800"/>
            <a:ext cx="2560320" cy="2286000"/>
          </a:xfrm>
          <a:prstGeom prst="roundRect">
            <a:avLst>
              <a:gd name="adj" fmla="val 2400"/>
            </a:avLst>
          </a:prstGeom>
          <a:solidFill>
            <a:srgbClr val="EEF3F7"/>
          </a:solidFill>
          <a:ln w="12700">
            <a:solidFill>
              <a:srgbClr val="D8E4EC"/>
            </a:solidFill>
            <a:prstDash val="solid"/>
          </a:ln>
        </p:spPr>
      </p:sp>
      <p:sp>
        <p:nvSpPr>
          <p:cNvPr id="15" name="Text 13"/>
          <p:cNvSpPr/>
          <p:nvPr/>
        </p:nvSpPr>
        <p:spPr>
          <a:xfrm>
            <a:off x="6419088" y="2029968"/>
            <a:ext cx="2157984" cy="502920"/>
          </a:xfrm>
          <a:prstGeom prst="rect">
            <a:avLst/>
          </a:prstGeom>
          <a:noFill/>
          <a:ln/>
        </p:spPr>
        <p:txBody>
          <a:bodyPr wrap="square" lIns="0" tIns="0" rIns="0" bIns="0" rtlCol="0" anchor="ctr"/>
          <a:lstStyle/>
          <a:p>
            <a:pPr indent="0" marL="0">
              <a:lnSpc>
                <a:spcPts val="1700"/>
              </a:lnSpc>
              <a:buNone/>
            </a:pPr>
            <a:r>
              <a:rPr lang="en-US" sz="1500" b="1" dirty="0">
                <a:solidFill>
                  <a:srgbClr val="21295C"/>
                </a:solidFill>
                <a:latin typeface="Cambria" pitchFamily="34" charset="0"/>
                <a:ea typeface="Cambria" pitchFamily="34" charset="-122"/>
                <a:cs typeface="Cambria" pitchFamily="34" charset="-120"/>
              </a:rPr>
              <a:t>Effect size</a:t>
            </a:r>
            <a:endParaRPr lang="en-US" sz="1500" dirty="0"/>
          </a:p>
        </p:txBody>
      </p:sp>
      <p:sp>
        <p:nvSpPr>
          <p:cNvPr id="16" name="Text 14"/>
          <p:cNvSpPr/>
          <p:nvPr/>
        </p:nvSpPr>
        <p:spPr>
          <a:xfrm>
            <a:off x="6419088" y="2606040"/>
            <a:ext cx="2157984" cy="685800"/>
          </a:xfrm>
          <a:prstGeom prst="rect">
            <a:avLst/>
          </a:prstGeom>
          <a:noFill/>
          <a:ln/>
        </p:spPr>
        <p:txBody>
          <a:bodyPr wrap="square" lIns="0" tIns="0" rIns="0" bIns="0" rtlCol="0" anchor="ctr"/>
          <a:lstStyle/>
          <a:p>
            <a:pPr indent="0" marL="0">
              <a:lnSpc>
                <a:spcPts val="1500"/>
              </a:lnSpc>
              <a:buNone/>
            </a:pPr>
            <a:r>
              <a:rPr lang="en-US" sz="1150" b="1" dirty="0">
                <a:solidFill>
                  <a:srgbClr val="1A2430"/>
                </a:solidFill>
                <a:latin typeface="Calibri" pitchFamily="34" charset="0"/>
                <a:ea typeface="Calibri" pitchFamily="34" charset="-122"/>
                <a:cs typeface="Calibri" pitchFamily="34" charset="-120"/>
              </a:rPr>
              <a:t>The smallest difference worth detecting</a:t>
            </a:r>
            <a:endParaRPr lang="en-US" sz="1150" dirty="0"/>
          </a:p>
        </p:txBody>
      </p:sp>
      <p:sp>
        <p:nvSpPr>
          <p:cNvPr id="17" name="Text 15"/>
          <p:cNvSpPr/>
          <p:nvPr/>
        </p:nvSpPr>
        <p:spPr>
          <a:xfrm>
            <a:off x="6419088" y="3337560"/>
            <a:ext cx="2157984" cy="640080"/>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A business decision, not a statistical one</a:t>
            </a:r>
            <a:endParaRPr lang="en-US" sz="1100" dirty="0"/>
          </a:p>
        </p:txBody>
      </p:sp>
      <p:sp>
        <p:nvSpPr>
          <p:cNvPr id="18" name="Shape 16"/>
          <p:cNvSpPr/>
          <p:nvPr/>
        </p:nvSpPr>
        <p:spPr>
          <a:xfrm>
            <a:off x="9006840" y="1828800"/>
            <a:ext cx="2560320" cy="2286000"/>
          </a:xfrm>
          <a:prstGeom prst="roundRect">
            <a:avLst>
              <a:gd name="adj" fmla="val 2400"/>
            </a:avLst>
          </a:prstGeom>
          <a:solidFill>
            <a:srgbClr val="EEF3F7"/>
          </a:solidFill>
          <a:ln w="12700">
            <a:solidFill>
              <a:srgbClr val="D8E4EC"/>
            </a:solidFill>
            <a:prstDash val="solid"/>
          </a:ln>
        </p:spPr>
      </p:sp>
      <p:sp>
        <p:nvSpPr>
          <p:cNvPr id="19" name="Text 17"/>
          <p:cNvSpPr/>
          <p:nvPr/>
        </p:nvSpPr>
        <p:spPr>
          <a:xfrm>
            <a:off x="9208008" y="2029968"/>
            <a:ext cx="2157984" cy="502920"/>
          </a:xfrm>
          <a:prstGeom prst="rect">
            <a:avLst/>
          </a:prstGeom>
          <a:noFill/>
          <a:ln/>
        </p:spPr>
        <p:txBody>
          <a:bodyPr wrap="square" lIns="0" tIns="0" rIns="0" bIns="0" rtlCol="0" anchor="ctr"/>
          <a:lstStyle/>
          <a:p>
            <a:pPr indent="0" marL="0">
              <a:lnSpc>
                <a:spcPts val="1700"/>
              </a:lnSpc>
              <a:buNone/>
            </a:pPr>
            <a:r>
              <a:rPr lang="en-US" sz="1500" b="1" dirty="0">
                <a:solidFill>
                  <a:srgbClr val="1E7A3C"/>
                </a:solidFill>
                <a:latin typeface="Cambria" pitchFamily="34" charset="0"/>
                <a:ea typeface="Cambria" pitchFamily="34" charset="-122"/>
                <a:cs typeface="Cambria" pitchFamily="34" charset="-120"/>
              </a:rPr>
              <a:t>Sample size</a:t>
            </a:r>
            <a:endParaRPr lang="en-US" sz="1500" dirty="0"/>
          </a:p>
        </p:txBody>
      </p:sp>
      <p:sp>
        <p:nvSpPr>
          <p:cNvPr id="20" name="Text 18"/>
          <p:cNvSpPr/>
          <p:nvPr/>
        </p:nvSpPr>
        <p:spPr>
          <a:xfrm>
            <a:off x="9208008" y="2606040"/>
            <a:ext cx="2157984" cy="685800"/>
          </a:xfrm>
          <a:prstGeom prst="rect">
            <a:avLst/>
          </a:prstGeom>
          <a:noFill/>
          <a:ln/>
        </p:spPr>
        <p:txBody>
          <a:bodyPr wrap="square" lIns="0" tIns="0" rIns="0" bIns="0" rtlCol="0" anchor="ctr"/>
          <a:lstStyle/>
          <a:p>
            <a:pPr indent="0" marL="0">
              <a:lnSpc>
                <a:spcPts val="1500"/>
              </a:lnSpc>
              <a:buNone/>
            </a:pPr>
            <a:r>
              <a:rPr lang="en-US" sz="1150" b="1" dirty="0">
                <a:solidFill>
                  <a:srgbClr val="1A2430"/>
                </a:solidFill>
                <a:latin typeface="Calibri" pitchFamily="34" charset="0"/>
                <a:ea typeface="Calibri" pitchFamily="34" charset="-122"/>
                <a:cs typeface="Calibri" pitchFamily="34" charset="-120"/>
              </a:rPr>
              <a:t>How many evaluation examples you need</a:t>
            </a:r>
            <a:endParaRPr lang="en-US" sz="1150" dirty="0"/>
          </a:p>
        </p:txBody>
      </p:sp>
      <p:sp>
        <p:nvSpPr>
          <p:cNvPr id="21" name="Text 19"/>
          <p:cNvSpPr/>
          <p:nvPr/>
        </p:nvSpPr>
        <p:spPr>
          <a:xfrm>
            <a:off x="9208008" y="3337560"/>
            <a:ext cx="2157984" cy="640080"/>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The output you are usually solving for</a:t>
            </a:r>
            <a:endParaRPr lang="en-US" sz="1100" dirty="0"/>
          </a:p>
        </p:txBody>
      </p:sp>
      <p:sp>
        <p:nvSpPr>
          <p:cNvPr id="22" name="Shape 20"/>
          <p:cNvSpPr/>
          <p:nvPr/>
        </p:nvSpPr>
        <p:spPr>
          <a:xfrm>
            <a:off x="640080" y="4343400"/>
            <a:ext cx="10881360" cy="1371600"/>
          </a:xfrm>
          <a:prstGeom prst="roundRect">
            <a:avLst>
              <a:gd name="adj" fmla="val 4000"/>
            </a:avLst>
          </a:prstGeom>
          <a:solidFill>
            <a:srgbClr val="E4EEF4"/>
          </a:solidFill>
          <a:ln w="12700">
            <a:solidFill>
              <a:srgbClr val="C9DCE7"/>
            </a:solidFill>
            <a:prstDash val="solid"/>
          </a:ln>
        </p:spPr>
      </p:sp>
      <p:sp>
        <p:nvSpPr>
          <p:cNvPr id="23" name="Text 21"/>
          <p:cNvSpPr/>
          <p:nvPr/>
        </p:nvSpPr>
        <p:spPr>
          <a:xfrm>
            <a:off x="914400" y="4507992"/>
            <a:ext cx="1033272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Rough guide for proportions at significance 0.05 and power 0.80</a:t>
            </a:r>
            <a:endParaRPr lang="en-US" sz="1300" dirty="0"/>
          </a:p>
        </p:txBody>
      </p:sp>
      <p:sp>
        <p:nvSpPr>
          <p:cNvPr id="24" name="Text 22"/>
          <p:cNvSpPr/>
          <p:nvPr/>
        </p:nvSpPr>
        <p:spPr>
          <a:xfrm>
            <a:off x="914400" y="4846320"/>
            <a:ext cx="10332720" cy="777240"/>
          </a:xfrm>
          <a:prstGeom prst="rect">
            <a:avLst/>
          </a:prstGeom>
          <a:noFill/>
          <a:ln/>
        </p:spPr>
        <p:txBody>
          <a:bodyPr wrap="square" lIns="0" tIns="0" rIns="0" bIns="0" rtlCol="0" anchor="ctr"/>
          <a:lstStyle/>
          <a:p>
            <a:pPr indent="0" marL="0">
              <a:lnSpc>
                <a:spcPts val="1600"/>
              </a:lnSpc>
              <a:buNone/>
            </a:pPr>
            <a:r>
              <a:rPr lang="en-US" sz="1250" dirty="0">
                <a:solidFill>
                  <a:srgbClr val="1A2430"/>
                </a:solidFill>
                <a:latin typeface="Calibri" pitchFamily="34" charset="0"/>
                <a:ea typeface="Calibri" pitchFamily="34" charset="-122"/>
                <a:cs typeface="Calibri" pitchFamily="34" charset="-120"/>
              </a:rPr>
              <a:t>To detect a 20-point improvement (0.60 → 0.80) you need roughly 90 items per group. For 10 points (0.60 → 0.70), roughly 360. For 5 points (0.60 → 0.65), roughly 1,500. Halving the effect you want to detect roughly quadruples the sample you need — which is why small evaluation sets can only confirm large, obvious wins.</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2.19</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Effect size — the number that decides whether to act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43</a:t>
            </a:r>
            <a:endParaRPr lang="en-US" sz="1000" dirty="0"/>
          </a:p>
        </p:txBody>
      </p:sp>
      <p:sp>
        <p:nvSpPr>
          <p:cNvPr id="5" name="Shape 3"/>
          <p:cNvSpPr/>
          <p:nvPr/>
        </p:nvSpPr>
        <p:spPr>
          <a:xfrm>
            <a:off x="640080" y="1280160"/>
            <a:ext cx="2468880" cy="384048"/>
          </a:xfrm>
          <a:prstGeom prst="rect">
            <a:avLst/>
          </a:prstGeom>
          <a:solidFill>
            <a:srgbClr val="21295C"/>
          </a:solidFill>
          <a:ln/>
        </p:spPr>
      </p:sp>
      <p:sp>
        <p:nvSpPr>
          <p:cNvPr id="6" name="Text 4"/>
          <p:cNvSpPr/>
          <p:nvPr/>
        </p:nvSpPr>
        <p:spPr>
          <a:xfrm>
            <a:off x="749808" y="1280160"/>
            <a:ext cx="22494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p>
        </p:txBody>
      </p:sp>
      <p:sp>
        <p:nvSpPr>
          <p:cNvPr id="7" name="Shape 5"/>
          <p:cNvSpPr/>
          <p:nvPr/>
        </p:nvSpPr>
        <p:spPr>
          <a:xfrm>
            <a:off x="3108960" y="1280160"/>
            <a:ext cx="3931920" cy="384048"/>
          </a:xfrm>
          <a:prstGeom prst="rect">
            <a:avLst/>
          </a:prstGeom>
          <a:solidFill>
            <a:srgbClr val="21295C"/>
          </a:solidFill>
          <a:ln/>
        </p:spPr>
      </p:sp>
      <p:sp>
        <p:nvSpPr>
          <p:cNvPr id="8" name="Text 6"/>
          <p:cNvSpPr/>
          <p:nvPr/>
        </p:nvSpPr>
        <p:spPr>
          <a:xfrm>
            <a:off x="3218688" y="1280160"/>
            <a:ext cx="37124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it expresses</a:t>
            </a:r>
            <a:endParaRPr lang="en-US" sz="1100" dirty="0"/>
          </a:p>
        </p:txBody>
      </p:sp>
      <p:sp>
        <p:nvSpPr>
          <p:cNvPr id="9" name="Shape 7"/>
          <p:cNvSpPr/>
          <p:nvPr/>
        </p:nvSpPr>
        <p:spPr>
          <a:xfrm>
            <a:off x="7040880" y="1280160"/>
            <a:ext cx="4480560" cy="384048"/>
          </a:xfrm>
          <a:prstGeom prst="rect">
            <a:avLst/>
          </a:prstGeom>
          <a:solidFill>
            <a:srgbClr val="21295C"/>
          </a:solidFill>
          <a:ln/>
        </p:spPr>
      </p:sp>
      <p:sp>
        <p:nvSpPr>
          <p:cNvPr id="10" name="Text 8"/>
          <p:cNvSpPr/>
          <p:nvPr/>
        </p:nvSpPr>
        <p:spPr>
          <a:xfrm>
            <a:off x="7150608" y="1280160"/>
            <a:ext cx="42611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Rough interpretation</a:t>
            </a:r>
            <a:endParaRPr lang="en-US" sz="1100" dirty="0"/>
          </a:p>
        </p:txBody>
      </p:sp>
      <p:sp>
        <p:nvSpPr>
          <p:cNvPr id="11" name="Shape 9"/>
          <p:cNvSpPr/>
          <p:nvPr/>
        </p:nvSpPr>
        <p:spPr>
          <a:xfrm>
            <a:off x="640080" y="1664208"/>
            <a:ext cx="2468880" cy="566928"/>
          </a:xfrm>
          <a:prstGeom prst="rect">
            <a:avLst/>
          </a:prstGeom>
          <a:solidFill>
            <a:srgbClr val="FFFFFF"/>
          </a:solidFill>
          <a:ln w="9525">
            <a:solidFill>
              <a:srgbClr val="E3EBF0"/>
            </a:solidFill>
            <a:prstDash val="solid"/>
          </a:ln>
        </p:spPr>
      </p:sp>
      <p:sp>
        <p:nvSpPr>
          <p:cNvPr id="12" name="Text 10"/>
          <p:cNvSpPr/>
          <p:nvPr/>
        </p:nvSpPr>
        <p:spPr>
          <a:xfrm>
            <a:off x="749808" y="1664208"/>
            <a:ext cx="22494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Absolute difference</a:t>
            </a:r>
            <a:endParaRPr lang="en-US" sz="1050" dirty="0"/>
          </a:p>
        </p:txBody>
      </p:sp>
      <p:sp>
        <p:nvSpPr>
          <p:cNvPr id="13" name="Shape 11"/>
          <p:cNvSpPr/>
          <p:nvPr/>
        </p:nvSpPr>
        <p:spPr>
          <a:xfrm>
            <a:off x="3108960" y="1664208"/>
            <a:ext cx="3931920" cy="566928"/>
          </a:xfrm>
          <a:prstGeom prst="rect">
            <a:avLst/>
          </a:prstGeom>
          <a:solidFill>
            <a:srgbClr val="FFFFFF"/>
          </a:solidFill>
          <a:ln w="9525">
            <a:solidFill>
              <a:srgbClr val="E3EBF0"/>
            </a:solidFill>
            <a:prstDash val="solid"/>
          </a:ln>
        </p:spPr>
      </p:sp>
      <p:sp>
        <p:nvSpPr>
          <p:cNvPr id="14" name="Text 12"/>
          <p:cNvSpPr/>
          <p:nvPr/>
        </p:nvSpPr>
        <p:spPr>
          <a:xfrm>
            <a:off x="3218688" y="1664208"/>
            <a:ext cx="371246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Raw change in the metric</a:t>
            </a:r>
            <a:endParaRPr lang="en-US" sz="1050" dirty="0"/>
          </a:p>
        </p:txBody>
      </p:sp>
      <p:sp>
        <p:nvSpPr>
          <p:cNvPr id="15" name="Shape 13"/>
          <p:cNvSpPr/>
          <p:nvPr/>
        </p:nvSpPr>
        <p:spPr>
          <a:xfrm>
            <a:off x="7040880" y="1664208"/>
            <a:ext cx="4480560" cy="566928"/>
          </a:xfrm>
          <a:prstGeom prst="rect">
            <a:avLst/>
          </a:prstGeom>
          <a:solidFill>
            <a:srgbClr val="FFFFFF"/>
          </a:solidFill>
          <a:ln w="9525">
            <a:solidFill>
              <a:srgbClr val="E3EBF0"/>
            </a:solidFill>
            <a:prstDash val="solid"/>
          </a:ln>
        </p:spPr>
      </p:sp>
      <p:sp>
        <p:nvSpPr>
          <p:cNvPr id="16" name="Text 14"/>
          <p:cNvSpPr/>
          <p:nvPr/>
        </p:nvSpPr>
        <p:spPr>
          <a:xfrm>
            <a:off x="7150608" y="1664208"/>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Most honest for business conversation: 0.61 → 0.75 is +14 points</a:t>
            </a:r>
            <a:endParaRPr lang="en-US" sz="1050" dirty="0"/>
          </a:p>
        </p:txBody>
      </p:sp>
      <p:sp>
        <p:nvSpPr>
          <p:cNvPr id="17" name="Shape 15"/>
          <p:cNvSpPr/>
          <p:nvPr/>
        </p:nvSpPr>
        <p:spPr>
          <a:xfrm>
            <a:off x="640080" y="2231136"/>
            <a:ext cx="2468880" cy="566928"/>
          </a:xfrm>
          <a:prstGeom prst="rect">
            <a:avLst/>
          </a:prstGeom>
          <a:solidFill>
            <a:srgbClr val="F5F9FB"/>
          </a:solidFill>
          <a:ln w="9525">
            <a:solidFill>
              <a:srgbClr val="E3EBF0"/>
            </a:solidFill>
            <a:prstDash val="solid"/>
          </a:ln>
        </p:spPr>
      </p:sp>
      <p:sp>
        <p:nvSpPr>
          <p:cNvPr id="18" name="Text 16"/>
          <p:cNvSpPr/>
          <p:nvPr/>
        </p:nvSpPr>
        <p:spPr>
          <a:xfrm>
            <a:off x="749808" y="2231136"/>
            <a:ext cx="22494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Relative difference</a:t>
            </a:r>
            <a:endParaRPr lang="en-US" sz="1050" dirty="0"/>
          </a:p>
        </p:txBody>
      </p:sp>
      <p:sp>
        <p:nvSpPr>
          <p:cNvPr id="19" name="Shape 17"/>
          <p:cNvSpPr/>
          <p:nvPr/>
        </p:nvSpPr>
        <p:spPr>
          <a:xfrm>
            <a:off x="3108960" y="2231136"/>
            <a:ext cx="3931920" cy="566928"/>
          </a:xfrm>
          <a:prstGeom prst="rect">
            <a:avLst/>
          </a:prstGeom>
          <a:solidFill>
            <a:srgbClr val="F5F9FB"/>
          </a:solidFill>
          <a:ln w="9525">
            <a:solidFill>
              <a:srgbClr val="E3EBF0"/>
            </a:solidFill>
            <a:prstDash val="solid"/>
          </a:ln>
        </p:spPr>
      </p:sp>
      <p:sp>
        <p:nvSpPr>
          <p:cNvPr id="20" name="Text 18"/>
          <p:cNvSpPr/>
          <p:nvPr/>
        </p:nvSpPr>
        <p:spPr>
          <a:xfrm>
            <a:off x="3218688" y="2231136"/>
            <a:ext cx="371246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Change as a percentage of the baseline</a:t>
            </a:r>
            <a:endParaRPr lang="en-US" sz="1050" dirty="0"/>
          </a:p>
        </p:txBody>
      </p:sp>
      <p:sp>
        <p:nvSpPr>
          <p:cNvPr id="21" name="Shape 19"/>
          <p:cNvSpPr/>
          <p:nvPr/>
        </p:nvSpPr>
        <p:spPr>
          <a:xfrm>
            <a:off x="7040880" y="2231136"/>
            <a:ext cx="4480560" cy="566928"/>
          </a:xfrm>
          <a:prstGeom prst="rect">
            <a:avLst/>
          </a:prstGeom>
          <a:solidFill>
            <a:srgbClr val="F5F9FB"/>
          </a:solidFill>
          <a:ln w="9525">
            <a:solidFill>
              <a:srgbClr val="E3EBF0"/>
            </a:solidFill>
            <a:prstDash val="solid"/>
          </a:ln>
        </p:spPr>
      </p:sp>
      <p:sp>
        <p:nvSpPr>
          <p:cNvPr id="22" name="Text 20"/>
          <p:cNvSpPr/>
          <p:nvPr/>
        </p:nvSpPr>
        <p:spPr>
          <a:xfrm>
            <a:off x="7150608" y="2231136"/>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+23% — persuasive, but inflates small absolute changes</a:t>
            </a:r>
            <a:endParaRPr lang="en-US" sz="1050" dirty="0"/>
          </a:p>
        </p:txBody>
      </p:sp>
      <p:sp>
        <p:nvSpPr>
          <p:cNvPr id="23" name="Shape 21"/>
          <p:cNvSpPr/>
          <p:nvPr/>
        </p:nvSpPr>
        <p:spPr>
          <a:xfrm>
            <a:off x="640080" y="2798064"/>
            <a:ext cx="2468880" cy="566928"/>
          </a:xfrm>
          <a:prstGeom prst="rect">
            <a:avLst/>
          </a:prstGeom>
          <a:solidFill>
            <a:srgbClr val="FFFFFF"/>
          </a:solidFill>
          <a:ln w="9525">
            <a:solidFill>
              <a:srgbClr val="E3EBF0"/>
            </a:solidFill>
            <a:prstDash val="solid"/>
          </a:ln>
        </p:spPr>
      </p:sp>
      <p:sp>
        <p:nvSpPr>
          <p:cNvPr id="24" name="Text 22"/>
          <p:cNvSpPr/>
          <p:nvPr/>
        </p:nvSpPr>
        <p:spPr>
          <a:xfrm>
            <a:off x="749808" y="2798064"/>
            <a:ext cx="22494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Cohen's d</a:t>
            </a:r>
            <a:endParaRPr lang="en-US" sz="1050" dirty="0"/>
          </a:p>
        </p:txBody>
      </p:sp>
      <p:sp>
        <p:nvSpPr>
          <p:cNvPr id="25" name="Shape 23"/>
          <p:cNvSpPr/>
          <p:nvPr/>
        </p:nvSpPr>
        <p:spPr>
          <a:xfrm>
            <a:off x="3108960" y="2798064"/>
            <a:ext cx="3931920" cy="566928"/>
          </a:xfrm>
          <a:prstGeom prst="rect">
            <a:avLst/>
          </a:prstGeom>
          <a:solidFill>
            <a:srgbClr val="FFFFFF"/>
          </a:solidFill>
          <a:ln w="9525">
            <a:solidFill>
              <a:srgbClr val="E3EBF0"/>
            </a:solidFill>
            <a:prstDash val="solid"/>
          </a:ln>
        </p:spPr>
      </p:sp>
      <p:sp>
        <p:nvSpPr>
          <p:cNvPr id="26" name="Text 24"/>
          <p:cNvSpPr/>
          <p:nvPr/>
        </p:nvSpPr>
        <p:spPr>
          <a:xfrm>
            <a:off x="3218688" y="2798064"/>
            <a:ext cx="371246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Difference in standard deviations</a:t>
            </a:r>
            <a:endParaRPr lang="en-US" sz="1050" dirty="0"/>
          </a:p>
        </p:txBody>
      </p:sp>
      <p:sp>
        <p:nvSpPr>
          <p:cNvPr id="27" name="Shape 25"/>
          <p:cNvSpPr/>
          <p:nvPr/>
        </p:nvSpPr>
        <p:spPr>
          <a:xfrm>
            <a:off x="7040880" y="2798064"/>
            <a:ext cx="4480560" cy="566928"/>
          </a:xfrm>
          <a:prstGeom prst="rect">
            <a:avLst/>
          </a:prstGeom>
          <a:solidFill>
            <a:srgbClr val="FFFFFF"/>
          </a:solidFill>
          <a:ln w="9525">
            <a:solidFill>
              <a:srgbClr val="E3EBF0"/>
            </a:solidFill>
            <a:prstDash val="solid"/>
          </a:ln>
        </p:spPr>
      </p:sp>
      <p:sp>
        <p:nvSpPr>
          <p:cNvPr id="28" name="Text 26"/>
          <p:cNvSpPr/>
          <p:nvPr/>
        </p:nvSpPr>
        <p:spPr>
          <a:xfrm>
            <a:off x="7150608" y="2798064"/>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0.2 small, 0.5 medium, 0.8 large</a:t>
            </a:r>
            <a:endParaRPr lang="en-US" sz="1050" dirty="0"/>
          </a:p>
        </p:txBody>
      </p:sp>
      <p:sp>
        <p:nvSpPr>
          <p:cNvPr id="29" name="Shape 27"/>
          <p:cNvSpPr/>
          <p:nvPr/>
        </p:nvSpPr>
        <p:spPr>
          <a:xfrm>
            <a:off x="640080" y="3364992"/>
            <a:ext cx="2468880" cy="566928"/>
          </a:xfrm>
          <a:prstGeom prst="rect">
            <a:avLst/>
          </a:prstGeom>
          <a:solidFill>
            <a:srgbClr val="F5F9FB"/>
          </a:solidFill>
          <a:ln w="9525">
            <a:solidFill>
              <a:srgbClr val="E3EBF0"/>
            </a:solidFill>
            <a:prstDash val="solid"/>
          </a:ln>
        </p:spPr>
      </p:sp>
      <p:sp>
        <p:nvSpPr>
          <p:cNvPr id="30" name="Text 28"/>
          <p:cNvSpPr/>
          <p:nvPr/>
        </p:nvSpPr>
        <p:spPr>
          <a:xfrm>
            <a:off x="749808" y="3364992"/>
            <a:ext cx="22494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Odds ratio</a:t>
            </a:r>
            <a:endParaRPr lang="en-US" sz="1050" dirty="0"/>
          </a:p>
        </p:txBody>
      </p:sp>
      <p:sp>
        <p:nvSpPr>
          <p:cNvPr id="31" name="Shape 29"/>
          <p:cNvSpPr/>
          <p:nvPr/>
        </p:nvSpPr>
        <p:spPr>
          <a:xfrm>
            <a:off x="3108960" y="3364992"/>
            <a:ext cx="3931920" cy="566928"/>
          </a:xfrm>
          <a:prstGeom prst="rect">
            <a:avLst/>
          </a:prstGeom>
          <a:solidFill>
            <a:srgbClr val="F5F9FB"/>
          </a:solidFill>
          <a:ln w="9525">
            <a:solidFill>
              <a:srgbClr val="E3EBF0"/>
            </a:solidFill>
            <a:prstDash val="solid"/>
          </a:ln>
        </p:spPr>
      </p:sp>
      <p:sp>
        <p:nvSpPr>
          <p:cNvPr id="32" name="Text 30"/>
          <p:cNvSpPr/>
          <p:nvPr/>
        </p:nvSpPr>
        <p:spPr>
          <a:xfrm>
            <a:off x="3218688" y="3364992"/>
            <a:ext cx="371246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Multiplicative change in odds</a:t>
            </a:r>
            <a:endParaRPr lang="en-US" sz="1050" dirty="0"/>
          </a:p>
        </p:txBody>
      </p:sp>
      <p:sp>
        <p:nvSpPr>
          <p:cNvPr id="33" name="Shape 31"/>
          <p:cNvSpPr/>
          <p:nvPr/>
        </p:nvSpPr>
        <p:spPr>
          <a:xfrm>
            <a:off x="7040880" y="3364992"/>
            <a:ext cx="4480560" cy="566928"/>
          </a:xfrm>
          <a:prstGeom prst="rect">
            <a:avLst/>
          </a:prstGeom>
          <a:solidFill>
            <a:srgbClr val="F5F9FB"/>
          </a:solidFill>
          <a:ln w="9525">
            <a:solidFill>
              <a:srgbClr val="E3EBF0"/>
            </a:solidFill>
            <a:prstDash val="solid"/>
          </a:ln>
        </p:spPr>
      </p:sp>
      <p:sp>
        <p:nvSpPr>
          <p:cNvPr id="34" name="Text 32"/>
          <p:cNvSpPr/>
          <p:nvPr/>
        </p:nvSpPr>
        <p:spPr>
          <a:xfrm>
            <a:off x="7150608" y="3364992"/>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Common in classification and risk contexts</a:t>
            </a:r>
            <a:endParaRPr lang="en-US" sz="1050" dirty="0"/>
          </a:p>
        </p:txBody>
      </p:sp>
      <p:sp>
        <p:nvSpPr>
          <p:cNvPr id="35" name="Shape 33"/>
          <p:cNvSpPr/>
          <p:nvPr/>
        </p:nvSpPr>
        <p:spPr>
          <a:xfrm>
            <a:off x="640080" y="3931920"/>
            <a:ext cx="2468880" cy="566928"/>
          </a:xfrm>
          <a:prstGeom prst="rect">
            <a:avLst/>
          </a:prstGeom>
          <a:solidFill>
            <a:srgbClr val="FFFFFF"/>
          </a:solidFill>
          <a:ln w="9525">
            <a:solidFill>
              <a:srgbClr val="E3EBF0"/>
            </a:solidFill>
            <a:prstDash val="solid"/>
          </a:ln>
        </p:spPr>
      </p:sp>
      <p:sp>
        <p:nvSpPr>
          <p:cNvPr id="36" name="Text 34"/>
          <p:cNvSpPr/>
          <p:nvPr/>
        </p:nvSpPr>
        <p:spPr>
          <a:xfrm>
            <a:off x="749808" y="3931920"/>
            <a:ext cx="22494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Number needed</a:t>
            </a:r>
            <a:endParaRPr lang="en-US" sz="1050" dirty="0"/>
          </a:p>
        </p:txBody>
      </p:sp>
      <p:sp>
        <p:nvSpPr>
          <p:cNvPr id="37" name="Shape 35"/>
          <p:cNvSpPr/>
          <p:nvPr/>
        </p:nvSpPr>
        <p:spPr>
          <a:xfrm>
            <a:off x="3108960" y="3931920"/>
            <a:ext cx="3931920" cy="566928"/>
          </a:xfrm>
          <a:prstGeom prst="rect">
            <a:avLst/>
          </a:prstGeom>
          <a:solidFill>
            <a:srgbClr val="FFFFFF"/>
          </a:solidFill>
          <a:ln w="9525">
            <a:solidFill>
              <a:srgbClr val="E3EBF0"/>
            </a:solidFill>
            <a:prstDash val="solid"/>
          </a:ln>
        </p:spPr>
      </p:sp>
      <p:sp>
        <p:nvSpPr>
          <p:cNvPr id="38" name="Text 36"/>
          <p:cNvSpPr/>
          <p:nvPr/>
        </p:nvSpPr>
        <p:spPr>
          <a:xfrm>
            <a:off x="3218688" y="3931920"/>
            <a:ext cx="371246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How many items to gain one extra success</a:t>
            </a:r>
            <a:endParaRPr lang="en-US" sz="1050" dirty="0"/>
          </a:p>
        </p:txBody>
      </p:sp>
      <p:sp>
        <p:nvSpPr>
          <p:cNvPr id="39" name="Shape 37"/>
          <p:cNvSpPr/>
          <p:nvPr/>
        </p:nvSpPr>
        <p:spPr>
          <a:xfrm>
            <a:off x="7040880" y="3931920"/>
            <a:ext cx="4480560" cy="566928"/>
          </a:xfrm>
          <a:prstGeom prst="rect">
            <a:avLst/>
          </a:prstGeom>
          <a:solidFill>
            <a:srgbClr val="FFFFFF"/>
          </a:solidFill>
          <a:ln w="9525">
            <a:solidFill>
              <a:srgbClr val="E3EBF0"/>
            </a:solidFill>
            <a:prstDash val="solid"/>
          </a:ln>
        </p:spPr>
      </p:sp>
      <p:sp>
        <p:nvSpPr>
          <p:cNvPr id="40" name="Text 38"/>
          <p:cNvSpPr/>
          <p:nvPr/>
        </p:nvSpPr>
        <p:spPr>
          <a:xfrm>
            <a:off x="7150608" y="3931920"/>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Very intuitive for operational stakeholders</a:t>
            </a:r>
            <a:endParaRPr lang="en-US" sz="1050" dirty="0"/>
          </a:p>
        </p:txBody>
      </p:sp>
      <p:sp>
        <p:nvSpPr>
          <p:cNvPr id="41" name="Shape 39"/>
          <p:cNvSpPr/>
          <p:nvPr/>
        </p:nvSpPr>
        <p:spPr>
          <a:xfrm>
            <a:off x="640080" y="4572000"/>
            <a:ext cx="10881360" cy="1143000"/>
          </a:xfrm>
          <a:prstGeom prst="roundRect">
            <a:avLst>
              <a:gd name="adj" fmla="val 4800"/>
            </a:avLst>
          </a:prstGeom>
          <a:solidFill>
            <a:srgbClr val="FDF1E3"/>
          </a:solidFill>
          <a:ln w="12700">
            <a:solidFill>
              <a:srgbClr val="EBD3BB"/>
            </a:solidFill>
            <a:prstDash val="solid"/>
          </a:ln>
        </p:spPr>
      </p:sp>
      <p:sp>
        <p:nvSpPr>
          <p:cNvPr id="42" name="Text 40"/>
          <p:cNvSpPr/>
          <p:nvPr/>
        </p:nvSpPr>
        <p:spPr>
          <a:xfrm>
            <a:off x="914400" y="4754880"/>
            <a:ext cx="10332720" cy="777240"/>
          </a:xfrm>
          <a:prstGeom prst="rect">
            <a:avLst/>
          </a:prstGeom>
          <a:noFill/>
          <a:ln/>
        </p:spPr>
        <p:txBody>
          <a:bodyPr wrap="square" lIns="0" tIns="0" rIns="0" bIns="0" rtlCol="0" anchor="ctr"/>
          <a:lstStyle/>
          <a:p>
            <a:pPr indent="0" marL="0">
              <a:lnSpc>
                <a:spcPts val="1700"/>
              </a:lnSpc>
              <a:buNone/>
            </a:pPr>
            <a:r>
              <a:rPr lang="en-US" sz="1300" b="1" dirty="0">
                <a:solidFill>
                  <a:srgbClr val="1A2430"/>
                </a:solidFill>
                <a:latin typeface="Calibri" pitchFamily="34" charset="0"/>
                <a:ea typeface="Calibri" pitchFamily="34" charset="-122"/>
                <a:cs typeface="Calibri" pitchFamily="34" charset="-120"/>
              </a:rPr>
              <a:t>Always report the effect size alongside the p-value. A statistically significant 0.3% improvement that adds a service dependency, latency and maintenance is a bad trade — and the p-value alone will never tell you that.</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2.20</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Multiple comparisons — the mistake that manufactures results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44</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500" b="1" i="1" dirty="0">
                <a:solidFill>
                  <a:srgbClr val="C1440E"/>
                </a:solidFill>
                <a:latin typeface="Calibri" pitchFamily="34" charset="0"/>
                <a:ea typeface="Calibri" pitchFamily="34" charset="-122"/>
                <a:cs typeface="Calibri" pitchFamily="34" charset="-120"/>
              </a:rPr>
              <a:t>Test twenty ideas at a 0.05 threshold and you should expect one false positive even if none of them work.</a:t>
            </a:r>
            <a:endParaRPr lang="en-US" sz="1500" dirty="0"/>
          </a:p>
        </p:txBody>
      </p:sp>
      <p:sp>
        <p:nvSpPr>
          <p:cNvPr id="6" name="Shape 4"/>
          <p:cNvSpPr/>
          <p:nvPr/>
        </p:nvSpPr>
        <p:spPr>
          <a:xfrm>
            <a:off x="640080" y="1783080"/>
            <a:ext cx="2743200" cy="384048"/>
          </a:xfrm>
          <a:prstGeom prst="rect">
            <a:avLst/>
          </a:prstGeom>
          <a:solidFill>
            <a:srgbClr val="21295C"/>
          </a:solidFill>
          <a:ln/>
        </p:spPr>
      </p:sp>
      <p:sp>
        <p:nvSpPr>
          <p:cNvPr id="7" name="Text 5"/>
          <p:cNvSpPr/>
          <p:nvPr/>
        </p:nvSpPr>
        <p:spPr>
          <a:xfrm>
            <a:off x="749808" y="1783080"/>
            <a:ext cx="25237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Correction</a:t>
            </a:r>
            <a:endParaRPr lang="en-US" sz="1100" dirty="0"/>
          </a:p>
        </p:txBody>
      </p:sp>
      <p:sp>
        <p:nvSpPr>
          <p:cNvPr id="8" name="Shape 6"/>
          <p:cNvSpPr/>
          <p:nvPr/>
        </p:nvSpPr>
        <p:spPr>
          <a:xfrm>
            <a:off x="3383280" y="1783080"/>
            <a:ext cx="4114800" cy="384048"/>
          </a:xfrm>
          <a:prstGeom prst="rect">
            <a:avLst/>
          </a:prstGeom>
          <a:solidFill>
            <a:srgbClr val="21295C"/>
          </a:solidFill>
          <a:ln/>
        </p:spPr>
      </p:sp>
      <p:sp>
        <p:nvSpPr>
          <p:cNvPr id="9" name="Text 7"/>
          <p:cNvSpPr/>
          <p:nvPr/>
        </p:nvSpPr>
        <p:spPr>
          <a:xfrm>
            <a:off x="3493008" y="1783080"/>
            <a:ext cx="3895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a:t>
            </a:r>
            <a:endParaRPr lang="en-US" sz="1100" dirty="0"/>
          </a:p>
        </p:txBody>
      </p:sp>
      <p:sp>
        <p:nvSpPr>
          <p:cNvPr id="10" name="Shape 8"/>
          <p:cNvSpPr/>
          <p:nvPr/>
        </p:nvSpPr>
        <p:spPr>
          <a:xfrm>
            <a:off x="7498080" y="1783080"/>
            <a:ext cx="4023360" cy="384048"/>
          </a:xfrm>
          <a:prstGeom prst="rect">
            <a:avLst/>
          </a:prstGeom>
          <a:solidFill>
            <a:srgbClr val="21295C"/>
          </a:solidFill>
          <a:ln/>
        </p:spPr>
      </p:sp>
      <p:sp>
        <p:nvSpPr>
          <p:cNvPr id="11" name="Text 9"/>
          <p:cNvSpPr/>
          <p:nvPr/>
        </p:nvSpPr>
        <p:spPr>
          <a:xfrm>
            <a:off x="7607808" y="1783080"/>
            <a:ext cx="38039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Trade-off</a:t>
            </a:r>
            <a:endParaRPr lang="en-US" sz="1100" dirty="0"/>
          </a:p>
        </p:txBody>
      </p:sp>
      <p:sp>
        <p:nvSpPr>
          <p:cNvPr id="12" name="Shape 10"/>
          <p:cNvSpPr/>
          <p:nvPr/>
        </p:nvSpPr>
        <p:spPr>
          <a:xfrm>
            <a:off x="640080" y="2167128"/>
            <a:ext cx="2743200" cy="566928"/>
          </a:xfrm>
          <a:prstGeom prst="rect">
            <a:avLst/>
          </a:prstGeom>
          <a:solidFill>
            <a:srgbClr val="FFFFFF"/>
          </a:solidFill>
          <a:ln w="9525">
            <a:solidFill>
              <a:srgbClr val="E3EBF0"/>
            </a:solidFill>
            <a:prstDash val="solid"/>
          </a:ln>
        </p:spPr>
      </p:sp>
      <p:sp>
        <p:nvSpPr>
          <p:cNvPr id="13" name="Text 11"/>
          <p:cNvSpPr/>
          <p:nvPr/>
        </p:nvSpPr>
        <p:spPr>
          <a:xfrm>
            <a:off x="749808" y="2167128"/>
            <a:ext cx="25237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Bonferroni</a:t>
            </a:r>
            <a:endParaRPr lang="en-US" sz="1050" dirty="0"/>
          </a:p>
        </p:txBody>
      </p:sp>
      <p:sp>
        <p:nvSpPr>
          <p:cNvPr id="14" name="Shape 12"/>
          <p:cNvSpPr/>
          <p:nvPr/>
        </p:nvSpPr>
        <p:spPr>
          <a:xfrm>
            <a:off x="3383280" y="2167128"/>
            <a:ext cx="4114800" cy="566928"/>
          </a:xfrm>
          <a:prstGeom prst="rect">
            <a:avLst/>
          </a:prstGeom>
          <a:solidFill>
            <a:srgbClr val="FFFFFF"/>
          </a:solidFill>
          <a:ln w="9525">
            <a:solidFill>
              <a:srgbClr val="E3EBF0"/>
            </a:solidFill>
            <a:prstDash val="solid"/>
          </a:ln>
        </p:spPr>
      </p:sp>
      <p:sp>
        <p:nvSpPr>
          <p:cNvPr id="15" name="Text 13"/>
          <p:cNvSpPr/>
          <p:nvPr/>
        </p:nvSpPr>
        <p:spPr>
          <a:xfrm>
            <a:off x="3493008" y="2167128"/>
            <a:ext cx="38953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Divide the threshold by the number of tests</a:t>
            </a:r>
            <a:endParaRPr lang="en-US" sz="1050" dirty="0"/>
          </a:p>
        </p:txBody>
      </p:sp>
      <p:sp>
        <p:nvSpPr>
          <p:cNvPr id="16" name="Shape 14"/>
          <p:cNvSpPr/>
          <p:nvPr/>
        </p:nvSpPr>
        <p:spPr>
          <a:xfrm>
            <a:off x="7498080" y="2167128"/>
            <a:ext cx="4023360" cy="566928"/>
          </a:xfrm>
          <a:prstGeom prst="rect">
            <a:avLst/>
          </a:prstGeom>
          <a:solidFill>
            <a:srgbClr val="FFFFFF"/>
          </a:solidFill>
          <a:ln w="9525">
            <a:solidFill>
              <a:srgbClr val="E3EBF0"/>
            </a:solidFill>
            <a:prstDash val="solid"/>
          </a:ln>
        </p:spPr>
      </p:sp>
      <p:sp>
        <p:nvSpPr>
          <p:cNvPr id="17" name="Text 15"/>
          <p:cNvSpPr/>
          <p:nvPr/>
        </p:nvSpPr>
        <p:spPr>
          <a:xfrm>
            <a:off x="7607808" y="2167128"/>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Very conservative; loses power quickly with many tests</a:t>
            </a:r>
            <a:endParaRPr lang="en-US" sz="1050" dirty="0"/>
          </a:p>
        </p:txBody>
      </p:sp>
      <p:sp>
        <p:nvSpPr>
          <p:cNvPr id="18" name="Shape 16"/>
          <p:cNvSpPr/>
          <p:nvPr/>
        </p:nvSpPr>
        <p:spPr>
          <a:xfrm>
            <a:off x="640080" y="2734056"/>
            <a:ext cx="2743200" cy="566928"/>
          </a:xfrm>
          <a:prstGeom prst="rect">
            <a:avLst/>
          </a:prstGeom>
          <a:solidFill>
            <a:srgbClr val="F5F9FB"/>
          </a:solidFill>
          <a:ln w="9525">
            <a:solidFill>
              <a:srgbClr val="E3EBF0"/>
            </a:solidFill>
            <a:prstDash val="solid"/>
          </a:ln>
        </p:spPr>
      </p:sp>
      <p:sp>
        <p:nvSpPr>
          <p:cNvPr id="19" name="Text 17"/>
          <p:cNvSpPr/>
          <p:nvPr/>
        </p:nvSpPr>
        <p:spPr>
          <a:xfrm>
            <a:off x="749808" y="2734056"/>
            <a:ext cx="25237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Holm-Bonferroni</a:t>
            </a:r>
            <a:endParaRPr lang="en-US" sz="1050" dirty="0"/>
          </a:p>
        </p:txBody>
      </p:sp>
      <p:sp>
        <p:nvSpPr>
          <p:cNvPr id="20" name="Shape 18"/>
          <p:cNvSpPr/>
          <p:nvPr/>
        </p:nvSpPr>
        <p:spPr>
          <a:xfrm>
            <a:off x="3383280" y="2734056"/>
            <a:ext cx="4114800" cy="566928"/>
          </a:xfrm>
          <a:prstGeom prst="rect">
            <a:avLst/>
          </a:prstGeom>
          <a:solidFill>
            <a:srgbClr val="F5F9FB"/>
          </a:solidFill>
          <a:ln w="9525">
            <a:solidFill>
              <a:srgbClr val="E3EBF0"/>
            </a:solidFill>
            <a:prstDash val="solid"/>
          </a:ln>
        </p:spPr>
      </p:sp>
      <p:sp>
        <p:nvSpPr>
          <p:cNvPr id="21" name="Text 19"/>
          <p:cNvSpPr/>
          <p:nvPr/>
        </p:nvSpPr>
        <p:spPr>
          <a:xfrm>
            <a:off x="3493008" y="2734056"/>
            <a:ext cx="38953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Sequentially rejective version of Bonferroni</a:t>
            </a:r>
            <a:endParaRPr lang="en-US" sz="1050" dirty="0"/>
          </a:p>
        </p:txBody>
      </p:sp>
      <p:sp>
        <p:nvSpPr>
          <p:cNvPr id="22" name="Shape 20"/>
          <p:cNvSpPr/>
          <p:nvPr/>
        </p:nvSpPr>
        <p:spPr>
          <a:xfrm>
            <a:off x="7498080" y="2734056"/>
            <a:ext cx="4023360" cy="566928"/>
          </a:xfrm>
          <a:prstGeom prst="rect">
            <a:avLst/>
          </a:prstGeom>
          <a:solidFill>
            <a:srgbClr val="F5F9FB"/>
          </a:solidFill>
          <a:ln w="9525">
            <a:solidFill>
              <a:srgbClr val="E3EBF0"/>
            </a:solidFill>
            <a:prstDash val="solid"/>
          </a:ln>
        </p:spPr>
      </p:sp>
      <p:sp>
        <p:nvSpPr>
          <p:cNvPr id="23" name="Text 21"/>
          <p:cNvSpPr/>
          <p:nvPr/>
        </p:nvSpPr>
        <p:spPr>
          <a:xfrm>
            <a:off x="7607808" y="2734056"/>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Uniformly more powerful; a good default</a:t>
            </a:r>
            <a:endParaRPr lang="en-US" sz="1050" dirty="0"/>
          </a:p>
        </p:txBody>
      </p:sp>
      <p:sp>
        <p:nvSpPr>
          <p:cNvPr id="24" name="Shape 22"/>
          <p:cNvSpPr/>
          <p:nvPr/>
        </p:nvSpPr>
        <p:spPr>
          <a:xfrm>
            <a:off x="640080" y="3300984"/>
            <a:ext cx="2743200" cy="566928"/>
          </a:xfrm>
          <a:prstGeom prst="rect">
            <a:avLst/>
          </a:prstGeom>
          <a:solidFill>
            <a:srgbClr val="FFFFFF"/>
          </a:solidFill>
          <a:ln w="9525">
            <a:solidFill>
              <a:srgbClr val="E3EBF0"/>
            </a:solidFill>
            <a:prstDash val="solid"/>
          </a:ln>
        </p:spPr>
      </p:sp>
      <p:sp>
        <p:nvSpPr>
          <p:cNvPr id="25" name="Text 23"/>
          <p:cNvSpPr/>
          <p:nvPr/>
        </p:nvSpPr>
        <p:spPr>
          <a:xfrm>
            <a:off x="749808" y="3300984"/>
            <a:ext cx="25237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Benjamini-Hochberg</a:t>
            </a:r>
            <a:endParaRPr lang="en-US" sz="1050" dirty="0"/>
          </a:p>
        </p:txBody>
      </p:sp>
      <p:sp>
        <p:nvSpPr>
          <p:cNvPr id="26" name="Shape 24"/>
          <p:cNvSpPr/>
          <p:nvPr/>
        </p:nvSpPr>
        <p:spPr>
          <a:xfrm>
            <a:off x="3383280" y="3300984"/>
            <a:ext cx="4114800" cy="566928"/>
          </a:xfrm>
          <a:prstGeom prst="rect">
            <a:avLst/>
          </a:prstGeom>
          <a:solidFill>
            <a:srgbClr val="FFFFFF"/>
          </a:solidFill>
          <a:ln w="9525">
            <a:solidFill>
              <a:srgbClr val="E3EBF0"/>
            </a:solidFill>
            <a:prstDash val="solid"/>
          </a:ln>
        </p:spPr>
      </p:sp>
      <p:sp>
        <p:nvSpPr>
          <p:cNvPr id="27" name="Text 25"/>
          <p:cNvSpPr/>
          <p:nvPr/>
        </p:nvSpPr>
        <p:spPr>
          <a:xfrm>
            <a:off x="3493008" y="3300984"/>
            <a:ext cx="38953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Controls the expected proportion of false discoveries</a:t>
            </a:r>
            <a:endParaRPr lang="en-US" sz="1050" dirty="0"/>
          </a:p>
        </p:txBody>
      </p:sp>
      <p:sp>
        <p:nvSpPr>
          <p:cNvPr id="28" name="Shape 26"/>
          <p:cNvSpPr/>
          <p:nvPr/>
        </p:nvSpPr>
        <p:spPr>
          <a:xfrm>
            <a:off x="7498080" y="3300984"/>
            <a:ext cx="4023360" cy="566928"/>
          </a:xfrm>
          <a:prstGeom prst="rect">
            <a:avLst/>
          </a:prstGeom>
          <a:solidFill>
            <a:srgbClr val="FFFFFF"/>
          </a:solidFill>
          <a:ln w="9525">
            <a:solidFill>
              <a:srgbClr val="E3EBF0"/>
            </a:solidFill>
            <a:prstDash val="solid"/>
          </a:ln>
        </p:spPr>
      </p:sp>
      <p:sp>
        <p:nvSpPr>
          <p:cNvPr id="29" name="Text 27"/>
          <p:cNvSpPr/>
          <p:nvPr/>
        </p:nvSpPr>
        <p:spPr>
          <a:xfrm>
            <a:off x="7607808" y="3300984"/>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Best choice when screening many candidate changes</a:t>
            </a:r>
            <a:endParaRPr lang="en-US" sz="1050" dirty="0"/>
          </a:p>
        </p:txBody>
      </p:sp>
      <p:sp>
        <p:nvSpPr>
          <p:cNvPr id="30" name="Shape 28"/>
          <p:cNvSpPr/>
          <p:nvPr/>
        </p:nvSpPr>
        <p:spPr>
          <a:xfrm>
            <a:off x="640080" y="3867912"/>
            <a:ext cx="2743200" cy="566928"/>
          </a:xfrm>
          <a:prstGeom prst="rect">
            <a:avLst/>
          </a:prstGeom>
          <a:solidFill>
            <a:srgbClr val="F5F9FB"/>
          </a:solidFill>
          <a:ln w="9525">
            <a:solidFill>
              <a:srgbClr val="E3EBF0"/>
            </a:solidFill>
            <a:prstDash val="solid"/>
          </a:ln>
        </p:spPr>
      </p:sp>
      <p:sp>
        <p:nvSpPr>
          <p:cNvPr id="31" name="Text 29"/>
          <p:cNvSpPr/>
          <p:nvPr/>
        </p:nvSpPr>
        <p:spPr>
          <a:xfrm>
            <a:off x="749808" y="3867912"/>
            <a:ext cx="25237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Pre-registration</a:t>
            </a:r>
            <a:endParaRPr lang="en-US" sz="1050" dirty="0"/>
          </a:p>
        </p:txBody>
      </p:sp>
      <p:sp>
        <p:nvSpPr>
          <p:cNvPr id="32" name="Shape 30"/>
          <p:cNvSpPr/>
          <p:nvPr/>
        </p:nvSpPr>
        <p:spPr>
          <a:xfrm>
            <a:off x="3383280" y="3867912"/>
            <a:ext cx="4114800" cy="566928"/>
          </a:xfrm>
          <a:prstGeom prst="rect">
            <a:avLst/>
          </a:prstGeom>
          <a:solidFill>
            <a:srgbClr val="F5F9FB"/>
          </a:solidFill>
          <a:ln w="9525">
            <a:solidFill>
              <a:srgbClr val="E3EBF0"/>
            </a:solidFill>
            <a:prstDash val="solid"/>
          </a:ln>
        </p:spPr>
      </p:sp>
      <p:sp>
        <p:nvSpPr>
          <p:cNvPr id="33" name="Text 31"/>
          <p:cNvSpPr/>
          <p:nvPr/>
        </p:nvSpPr>
        <p:spPr>
          <a:xfrm>
            <a:off x="3493008" y="3867912"/>
            <a:ext cx="38953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Decide the primary metric and test in advance</a:t>
            </a:r>
            <a:endParaRPr lang="en-US" sz="1050" dirty="0"/>
          </a:p>
        </p:txBody>
      </p:sp>
      <p:sp>
        <p:nvSpPr>
          <p:cNvPr id="34" name="Shape 32"/>
          <p:cNvSpPr/>
          <p:nvPr/>
        </p:nvSpPr>
        <p:spPr>
          <a:xfrm>
            <a:off x="7498080" y="3867912"/>
            <a:ext cx="4023360" cy="566928"/>
          </a:xfrm>
          <a:prstGeom prst="rect">
            <a:avLst/>
          </a:prstGeom>
          <a:solidFill>
            <a:srgbClr val="F5F9FB"/>
          </a:solidFill>
          <a:ln w="9525">
            <a:solidFill>
              <a:srgbClr val="E3EBF0"/>
            </a:solidFill>
            <a:prstDash val="solid"/>
          </a:ln>
        </p:spPr>
      </p:sp>
      <p:sp>
        <p:nvSpPr>
          <p:cNvPr id="35" name="Text 33"/>
          <p:cNvSpPr/>
          <p:nvPr/>
        </p:nvSpPr>
        <p:spPr>
          <a:xfrm>
            <a:off x="7607808" y="3867912"/>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Not a correction — a discipline. The strongest defence available</a:t>
            </a:r>
            <a:endParaRPr lang="en-US" sz="1050" dirty="0"/>
          </a:p>
        </p:txBody>
      </p:sp>
      <p:sp>
        <p:nvSpPr>
          <p:cNvPr id="36" name="Shape 34"/>
          <p:cNvSpPr/>
          <p:nvPr/>
        </p:nvSpPr>
        <p:spPr>
          <a:xfrm>
            <a:off x="640080" y="4480560"/>
            <a:ext cx="10881360" cy="1234440"/>
          </a:xfrm>
          <a:prstGeom prst="roundRect">
            <a:avLst>
              <a:gd name="adj" fmla="val 4444"/>
            </a:avLst>
          </a:prstGeom>
          <a:solidFill>
            <a:srgbClr val="E4EEF4"/>
          </a:solidFill>
          <a:ln w="12700">
            <a:solidFill>
              <a:srgbClr val="C9DCE7"/>
            </a:solidFill>
            <a:prstDash val="solid"/>
          </a:ln>
        </p:spPr>
      </p:sp>
      <p:sp>
        <p:nvSpPr>
          <p:cNvPr id="37" name="Text 35"/>
          <p:cNvSpPr/>
          <p:nvPr/>
        </p:nvSpPr>
        <p:spPr>
          <a:xfrm>
            <a:off x="914400" y="4663440"/>
            <a:ext cx="10332720" cy="86868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How this appears in practice: a team evaluates a change against fifteen metrics, finds two that improved significantly, and reports those two. Nothing dishonest was intended — but the result is close to meaningless. Declare one primary metric before running the experiment; everything else is secondary and exploratory.</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2.21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A/B testing and champion–challenger</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45</a:t>
            </a:r>
            <a:endParaRPr lang="en-US" sz="1000" dirty="0"/>
          </a:p>
        </p:txBody>
      </p:sp>
      <p:sp>
        <p:nvSpPr>
          <p:cNvPr id="5" name="Shape 3"/>
          <p:cNvSpPr/>
          <p:nvPr/>
        </p:nvSpPr>
        <p:spPr>
          <a:xfrm>
            <a:off x="640080" y="1371600"/>
            <a:ext cx="2651760" cy="960120"/>
          </a:xfrm>
          <a:prstGeom prst="roundRect">
            <a:avLst>
              <a:gd name="adj" fmla="val 4762"/>
            </a:avLst>
          </a:prstGeom>
          <a:solidFill>
            <a:srgbClr val="065A82"/>
          </a:solidFill>
          <a:ln/>
        </p:spPr>
      </p:sp>
      <p:sp>
        <p:nvSpPr>
          <p:cNvPr id="6" name="Text 4"/>
          <p:cNvSpPr/>
          <p:nvPr/>
        </p:nvSpPr>
        <p:spPr>
          <a:xfrm>
            <a:off x="731520" y="1371600"/>
            <a:ext cx="2468880" cy="9601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Offline evaluation</a:t>
            </a:r>
            <a:endParaRPr lang="en-US" sz="1350" dirty="0"/>
          </a:p>
        </p:txBody>
      </p:sp>
      <p:sp>
        <p:nvSpPr>
          <p:cNvPr id="7" name="Text 5"/>
          <p:cNvSpPr/>
          <p:nvPr/>
        </p:nvSpPr>
        <p:spPr>
          <a:xfrm>
            <a:off x="3520440" y="1417320"/>
            <a:ext cx="3931920" cy="86868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Both systems scored on the same held-out gold set.</a:t>
            </a:r>
            <a:endParaRPr lang="en-US" sz="1200" dirty="0"/>
          </a:p>
        </p:txBody>
      </p:sp>
      <p:sp>
        <p:nvSpPr>
          <p:cNvPr id="8" name="Text 6"/>
          <p:cNvSpPr/>
          <p:nvPr/>
        </p:nvSpPr>
        <p:spPr>
          <a:xfrm>
            <a:off x="7635240" y="1417320"/>
            <a:ext cx="3886200" cy="8686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Always first. Fast, cheap, no user risk — filters out most bad ideas.</a:t>
            </a:r>
            <a:endParaRPr lang="en-US" sz="1150" dirty="0"/>
          </a:p>
        </p:txBody>
      </p:sp>
      <p:sp>
        <p:nvSpPr>
          <p:cNvPr id="9" name="Shape 7"/>
          <p:cNvSpPr/>
          <p:nvPr/>
        </p:nvSpPr>
        <p:spPr>
          <a:xfrm>
            <a:off x="640080" y="2487168"/>
            <a:ext cx="2651760" cy="960120"/>
          </a:xfrm>
          <a:prstGeom prst="roundRect">
            <a:avLst>
              <a:gd name="adj" fmla="val 4762"/>
            </a:avLst>
          </a:prstGeom>
          <a:solidFill>
            <a:srgbClr val="1C7293"/>
          </a:solidFill>
          <a:ln/>
        </p:spPr>
      </p:sp>
      <p:sp>
        <p:nvSpPr>
          <p:cNvPr id="10" name="Text 8"/>
          <p:cNvSpPr/>
          <p:nvPr/>
        </p:nvSpPr>
        <p:spPr>
          <a:xfrm>
            <a:off x="731520" y="2487168"/>
            <a:ext cx="2468880" cy="9601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Shadow deployment</a:t>
            </a:r>
            <a:endParaRPr lang="en-US" sz="1350" dirty="0"/>
          </a:p>
        </p:txBody>
      </p:sp>
      <p:sp>
        <p:nvSpPr>
          <p:cNvPr id="11" name="Text 9"/>
          <p:cNvSpPr/>
          <p:nvPr/>
        </p:nvSpPr>
        <p:spPr>
          <a:xfrm>
            <a:off x="3520440" y="2532888"/>
            <a:ext cx="3931920" cy="86868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Challenger runs on live traffic; its output is never shown.</a:t>
            </a:r>
            <a:endParaRPr lang="en-US" sz="1200" dirty="0"/>
          </a:p>
        </p:txBody>
      </p:sp>
      <p:sp>
        <p:nvSpPr>
          <p:cNvPr id="12" name="Text 10"/>
          <p:cNvSpPr/>
          <p:nvPr/>
        </p:nvSpPr>
        <p:spPr>
          <a:xfrm>
            <a:off x="7635240" y="2532888"/>
            <a:ext cx="3886200" cy="8686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Reveals real production behaviour, latency and cost with zero exposure.</a:t>
            </a:r>
            <a:endParaRPr lang="en-US" sz="1150" dirty="0"/>
          </a:p>
        </p:txBody>
      </p:sp>
      <p:sp>
        <p:nvSpPr>
          <p:cNvPr id="13" name="Shape 11"/>
          <p:cNvSpPr/>
          <p:nvPr/>
        </p:nvSpPr>
        <p:spPr>
          <a:xfrm>
            <a:off x="640080" y="3602736"/>
            <a:ext cx="2651760" cy="960120"/>
          </a:xfrm>
          <a:prstGeom prst="roundRect">
            <a:avLst>
              <a:gd name="adj" fmla="val 4762"/>
            </a:avLst>
          </a:prstGeom>
          <a:solidFill>
            <a:srgbClr val="21295C"/>
          </a:solidFill>
          <a:ln/>
        </p:spPr>
      </p:sp>
      <p:sp>
        <p:nvSpPr>
          <p:cNvPr id="14" name="Text 12"/>
          <p:cNvSpPr/>
          <p:nvPr/>
        </p:nvSpPr>
        <p:spPr>
          <a:xfrm>
            <a:off x="731520" y="3602736"/>
            <a:ext cx="2468880" cy="9601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A/B test</a:t>
            </a:r>
            <a:endParaRPr lang="en-US" sz="1350" dirty="0"/>
          </a:p>
        </p:txBody>
      </p:sp>
      <p:sp>
        <p:nvSpPr>
          <p:cNvPr id="15" name="Text 13"/>
          <p:cNvSpPr/>
          <p:nvPr/>
        </p:nvSpPr>
        <p:spPr>
          <a:xfrm>
            <a:off x="3520440" y="3648456"/>
            <a:ext cx="3931920" cy="86868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Traffic split between champion and challenger.</a:t>
            </a:r>
            <a:endParaRPr lang="en-US" sz="1200" dirty="0"/>
          </a:p>
        </p:txBody>
      </p:sp>
      <p:sp>
        <p:nvSpPr>
          <p:cNvPr id="16" name="Text 14"/>
          <p:cNvSpPr/>
          <p:nvPr/>
        </p:nvSpPr>
        <p:spPr>
          <a:xfrm>
            <a:off x="7635240" y="3648456"/>
            <a:ext cx="3886200" cy="8686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Strongest evidence. Needs volume and a stopping rule fixed in advance.</a:t>
            </a:r>
            <a:endParaRPr lang="en-US" sz="1150" dirty="0"/>
          </a:p>
        </p:txBody>
      </p:sp>
      <p:sp>
        <p:nvSpPr>
          <p:cNvPr id="17" name="Shape 15"/>
          <p:cNvSpPr/>
          <p:nvPr/>
        </p:nvSpPr>
        <p:spPr>
          <a:xfrm>
            <a:off x="640080" y="4718304"/>
            <a:ext cx="2651760" cy="960120"/>
          </a:xfrm>
          <a:prstGeom prst="roundRect">
            <a:avLst>
              <a:gd name="adj" fmla="val 4762"/>
            </a:avLst>
          </a:prstGeom>
          <a:solidFill>
            <a:srgbClr val="1E7A3C"/>
          </a:solidFill>
          <a:ln/>
        </p:spPr>
      </p:sp>
      <p:sp>
        <p:nvSpPr>
          <p:cNvPr id="18" name="Text 16"/>
          <p:cNvSpPr/>
          <p:nvPr/>
        </p:nvSpPr>
        <p:spPr>
          <a:xfrm>
            <a:off x="731520" y="4718304"/>
            <a:ext cx="2468880" cy="9601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Staged rollout</a:t>
            </a:r>
            <a:endParaRPr lang="en-US" sz="1350" dirty="0"/>
          </a:p>
        </p:txBody>
      </p:sp>
      <p:sp>
        <p:nvSpPr>
          <p:cNvPr id="19" name="Text 17"/>
          <p:cNvSpPr/>
          <p:nvPr/>
        </p:nvSpPr>
        <p:spPr>
          <a:xfrm>
            <a:off x="3520440" y="4764024"/>
            <a:ext cx="3931920" cy="86868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Promoted gradually with monitoring and a rollback path.</a:t>
            </a:r>
            <a:endParaRPr lang="en-US" sz="1200" dirty="0"/>
          </a:p>
        </p:txBody>
      </p:sp>
      <p:sp>
        <p:nvSpPr>
          <p:cNvPr id="20" name="Text 18"/>
          <p:cNvSpPr/>
          <p:nvPr/>
        </p:nvSpPr>
        <p:spPr>
          <a:xfrm>
            <a:off x="7635240" y="4764024"/>
            <a:ext cx="3886200" cy="86868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How the change actually reaches production safely.</a:t>
            </a:r>
            <a:endParaRPr lang="en-US" sz="1150" dirty="0"/>
          </a:p>
        </p:txBody>
      </p:sp>
      <p:sp>
        <p:nvSpPr>
          <p:cNvPr id="21" name="Text 19"/>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Most AI changes should never reach stage three. If offline evaluation cannot show an improvement, live traffic will not rescue it.</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2.22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Peeking and early stopping</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46</a:t>
            </a:r>
            <a:endParaRPr lang="en-US" sz="1000" dirty="0"/>
          </a:p>
        </p:txBody>
      </p:sp>
      <p:sp>
        <p:nvSpPr>
          <p:cNvPr id="5" name="Shape 3"/>
          <p:cNvSpPr/>
          <p:nvPr/>
        </p:nvSpPr>
        <p:spPr>
          <a:xfrm>
            <a:off x="640080" y="1325880"/>
            <a:ext cx="5303520" cy="2011680"/>
          </a:xfrm>
          <a:prstGeom prst="roundRect">
            <a:avLst>
              <a:gd name="adj" fmla="val 2727"/>
            </a:avLst>
          </a:prstGeom>
          <a:solidFill>
            <a:srgbClr val="FBEEE8"/>
          </a:solidFill>
          <a:ln w="12700">
            <a:solidFill>
              <a:srgbClr val="EBCFC2"/>
            </a:solidFill>
            <a:prstDash val="solid"/>
          </a:ln>
        </p:spPr>
      </p:sp>
      <p:sp>
        <p:nvSpPr>
          <p:cNvPr id="6" name="Text 4"/>
          <p:cNvSpPr/>
          <p:nvPr/>
        </p:nvSpPr>
        <p:spPr>
          <a:xfrm>
            <a:off x="914400" y="1490472"/>
            <a:ext cx="4754880" cy="320040"/>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The problem</a:t>
            </a:r>
            <a:endParaRPr lang="en-US" sz="1400" dirty="0"/>
          </a:p>
        </p:txBody>
      </p:sp>
      <p:sp>
        <p:nvSpPr>
          <p:cNvPr id="7" name="Text 5"/>
          <p:cNvSpPr/>
          <p:nvPr/>
        </p:nvSpPr>
        <p:spPr>
          <a:xfrm>
            <a:off x="914400" y="1828800"/>
            <a:ext cx="4754880" cy="1371600"/>
          </a:xfrm>
          <a:prstGeom prst="rect">
            <a:avLst/>
          </a:prstGeom>
          <a:noFill/>
          <a:ln/>
        </p:spPr>
        <p:txBody>
          <a:bodyPr wrap="square" lIns="0" tIns="0" rIns="0" bIns="0" rtlCol="0" anchor="ctr"/>
          <a:lstStyle/>
          <a:p>
            <a:pPr indent="0" marL="0">
              <a:lnSpc>
                <a:spcPts val="1600"/>
              </a:lnSpc>
              <a:buNone/>
            </a:pPr>
            <a:r>
              <a:rPr lang="en-US" sz="1200" dirty="0">
                <a:solidFill>
                  <a:srgbClr val="1A2430"/>
                </a:solidFill>
                <a:latin typeface="Calibri" pitchFamily="34" charset="0"/>
                <a:ea typeface="Calibri" pitchFamily="34" charset="-122"/>
                <a:cs typeface="Calibri" pitchFamily="34" charset="-120"/>
              </a:rPr>
              <a:t>Checking results repeatedly and stopping as soon as they look favourable dramatically inflates the false positive rate.</a:t>
            </a:r>
            <a:endParaRPr lang="en-US" sz="1200" dirty="0"/>
          </a:p>
          <a:p>
            <a:pPr indent="0" marL="0">
              <a:lnSpc>
                <a:spcPts val="1600"/>
              </a:lnSpc>
              <a:buNone/>
            </a:pPr>
            <a:endParaRPr lang="en-US" sz="1200" dirty="0"/>
          </a:p>
          <a:p>
            <a:pPr indent="0" marL="0">
              <a:lnSpc>
                <a:spcPts val="1600"/>
              </a:lnSpc>
              <a:buNone/>
            </a:pPr>
            <a:r>
              <a:rPr lang="en-US" sz="1200" dirty="0">
                <a:solidFill>
                  <a:srgbClr val="1A2430"/>
                </a:solidFill>
                <a:latin typeface="Calibri" pitchFamily="34" charset="0"/>
                <a:ea typeface="Calibri" pitchFamily="34" charset="-122"/>
                <a:cs typeface="Calibri" pitchFamily="34" charset="-120"/>
              </a:rPr>
              <a:t>With frequent enough checking it can rise from 5% to above 30% — almost any comparison eventually crosses the line by chance.</a:t>
            </a:r>
            <a:endParaRPr lang="en-US" sz="1200" dirty="0"/>
          </a:p>
        </p:txBody>
      </p:sp>
      <p:sp>
        <p:nvSpPr>
          <p:cNvPr id="8" name="Shape 6"/>
          <p:cNvSpPr/>
          <p:nvPr/>
        </p:nvSpPr>
        <p:spPr>
          <a:xfrm>
            <a:off x="6263640" y="1325880"/>
            <a:ext cx="5257800" cy="2011680"/>
          </a:xfrm>
          <a:prstGeom prst="roundRect">
            <a:avLst>
              <a:gd name="adj" fmla="val 2727"/>
            </a:avLst>
          </a:prstGeom>
          <a:solidFill>
            <a:srgbClr val="EDF5EE"/>
          </a:solidFill>
          <a:ln w="12700">
            <a:solidFill>
              <a:srgbClr val="C2DCC8"/>
            </a:solidFill>
            <a:prstDash val="solid"/>
          </a:ln>
        </p:spPr>
      </p:sp>
      <p:sp>
        <p:nvSpPr>
          <p:cNvPr id="9" name="Text 7"/>
          <p:cNvSpPr/>
          <p:nvPr/>
        </p:nvSpPr>
        <p:spPr>
          <a:xfrm>
            <a:off x="6537960" y="1490472"/>
            <a:ext cx="4754880" cy="320040"/>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The fixes</a:t>
            </a:r>
            <a:endParaRPr lang="en-US" sz="1400" dirty="0"/>
          </a:p>
        </p:txBody>
      </p:sp>
      <p:sp>
        <p:nvSpPr>
          <p:cNvPr id="10" name="Text 8"/>
          <p:cNvSpPr/>
          <p:nvPr/>
        </p:nvSpPr>
        <p:spPr>
          <a:xfrm>
            <a:off x="6537960" y="1828800"/>
            <a:ext cx="4754880" cy="1371600"/>
          </a:xfrm>
          <a:prstGeom prst="rect">
            <a:avLst/>
          </a:prstGeom>
          <a:noFill/>
          <a:ln/>
        </p:spPr>
        <p:txBody>
          <a:bodyPr wrap="square" lIns="0" tIns="0" rIns="0" bIns="0" rtlCol="0" anchor="ctr"/>
          <a:lstStyle/>
          <a:p>
            <a:pPr indent="0" marL="0">
              <a:lnSpc>
                <a:spcPts val="1600"/>
              </a:lnSpc>
              <a:buNone/>
            </a:pPr>
            <a:r>
              <a:rPr lang="en-US" sz="1200" dirty="0">
                <a:solidFill>
                  <a:srgbClr val="1A2430"/>
                </a:solidFill>
                <a:latin typeface="Calibri" pitchFamily="34" charset="0"/>
                <a:ea typeface="Calibri" pitchFamily="34" charset="-122"/>
                <a:cs typeface="Calibri" pitchFamily="34" charset="-120"/>
              </a:rPr>
              <a:t>Fix the sample size and stopping rule before starting, and do not look until you reach it.</a:t>
            </a:r>
            <a:endParaRPr lang="en-US" sz="1200" dirty="0"/>
          </a:p>
          <a:p>
            <a:pPr indent="0" marL="0">
              <a:lnSpc>
                <a:spcPts val="1600"/>
              </a:lnSpc>
              <a:buNone/>
            </a:pPr>
            <a:endParaRPr lang="en-US" sz="1200" dirty="0"/>
          </a:p>
          <a:p>
            <a:pPr indent="0" marL="0">
              <a:lnSpc>
                <a:spcPts val="1600"/>
              </a:lnSpc>
              <a:buNone/>
            </a:pPr>
            <a:r>
              <a:rPr lang="en-US" sz="1200" dirty="0">
                <a:solidFill>
                  <a:srgbClr val="1A2430"/>
                </a:solidFill>
                <a:latin typeface="Calibri" pitchFamily="34" charset="0"/>
                <a:ea typeface="Calibri" pitchFamily="34" charset="-122"/>
                <a:cs typeface="Calibri" pitchFamily="34" charset="-120"/>
              </a:rPr>
              <a:t>Or use a sequential design — group sequential testing or an alpha-spending function — which accounts for planned interim looks.</a:t>
            </a:r>
            <a:endParaRPr lang="en-US" sz="1200" dirty="0"/>
          </a:p>
        </p:txBody>
      </p:sp>
      <p:sp>
        <p:nvSpPr>
          <p:cNvPr id="11" name="Text 9"/>
          <p:cNvSpPr/>
          <p:nvPr/>
        </p:nvSpPr>
        <p:spPr>
          <a:xfrm>
            <a:off x="640080" y="3611880"/>
            <a:ext cx="10881360" cy="365760"/>
          </a:xfrm>
          <a:prstGeom prst="rect">
            <a:avLst/>
          </a:prstGeom>
          <a:noFill/>
          <a:ln/>
        </p:spPr>
        <p:txBody>
          <a:bodyPr wrap="square" rtlCol="0" anchor="ctr"/>
          <a:lstStyle/>
          <a:p>
            <a:pPr indent="0" marL="0">
              <a:buNone/>
            </a:pPr>
            <a:r>
              <a:rPr lang="en-US" sz="1500" b="1" dirty="0">
                <a:solidFill>
                  <a:srgbClr val="1A2430"/>
                </a:solidFill>
                <a:latin typeface="Cambria" pitchFamily="34" charset="0"/>
                <a:ea typeface="Cambria" pitchFamily="34" charset="-122"/>
                <a:cs typeface="Cambria" pitchFamily="34" charset="-120"/>
              </a:rPr>
              <a:t>The same logic applies to offline evaluation</a:t>
            </a:r>
            <a:endParaRPr lang="en-US" sz="1500" dirty="0"/>
          </a:p>
        </p:txBody>
      </p:sp>
      <p:sp>
        <p:nvSpPr>
          <p:cNvPr id="12" name="Text 10"/>
          <p:cNvSpPr/>
          <p:nvPr/>
        </p:nvSpPr>
        <p:spPr>
          <a:xfrm>
            <a:off x="640080" y="4023360"/>
            <a:ext cx="10881360" cy="822960"/>
          </a:xfrm>
          <a:prstGeom prst="rect">
            <a:avLst/>
          </a:prstGeom>
          <a:noFill/>
          <a:ln/>
        </p:spPr>
        <p:txBody>
          <a:bodyPr wrap="square" rtlCol="0" anchor="ctr"/>
          <a:lstStyle/>
          <a:p>
            <a:pPr indent="0" marL="0">
              <a:lnSpc>
                <a:spcPts val="1800"/>
              </a:lnSpc>
              <a:buNone/>
            </a:pPr>
            <a:r>
              <a:rPr lang="en-US" sz="1300" dirty="0">
                <a:solidFill>
                  <a:srgbClr val="5A6B7C"/>
                </a:solidFill>
                <a:latin typeface="Calibri" pitchFamily="34" charset="0"/>
                <a:ea typeface="Calibri" pitchFamily="34" charset="-122"/>
                <a:cs typeface="Calibri" pitchFamily="34" charset="-120"/>
              </a:rPr>
              <a:t>Running your change against the gold set, adjusting, re-running, adjusting again, and reporting the best result is peeking by another name. Each pass consumes a little of the test set's honesty. Keep a final held-out set used once, at the end, to confirm what the development set suggested.</a:t>
            </a:r>
            <a:endParaRPr lang="en-US" sz="1300" dirty="0"/>
          </a:p>
        </p:txBody>
      </p:sp>
      <p:sp>
        <p:nvSpPr>
          <p:cNvPr id="13" name="Text 1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This is why the test set is held out and the validation set is where you iterate.</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2.23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Label quality and inter-annotator agreement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47</a:t>
            </a:r>
            <a:endParaRPr lang="en-US" sz="1000" dirty="0"/>
          </a:p>
        </p:txBody>
      </p:sp>
      <p:sp>
        <p:nvSpPr>
          <p:cNvPr id="5" name="Text 3"/>
          <p:cNvSpPr/>
          <p:nvPr/>
        </p:nvSpPr>
        <p:spPr>
          <a:xfrm>
            <a:off x="640080" y="1280160"/>
            <a:ext cx="10881360" cy="411480"/>
          </a:xfrm>
          <a:prstGeom prst="rect">
            <a:avLst/>
          </a:prstGeom>
          <a:noFill/>
          <a:ln/>
        </p:spPr>
        <p:txBody>
          <a:bodyPr wrap="square" rtlCol="0" anchor="ctr"/>
          <a:lstStyle/>
          <a:p>
            <a:pPr indent="0" marL="0">
              <a:buNone/>
            </a:pPr>
            <a:r>
              <a:rPr lang="en-US" sz="1500" b="1" i="1" dirty="0">
                <a:solidFill>
                  <a:srgbClr val="1C7293"/>
                </a:solidFill>
                <a:latin typeface="Calibri" pitchFamily="34" charset="0"/>
                <a:ea typeface="Calibri" pitchFamily="34" charset="-122"/>
                <a:cs typeface="Calibri" pitchFamily="34" charset="-120"/>
              </a:rPr>
              <a:t>Where two qualified experts disagree, no model can learn a consistent boundary — because the boundary does not exist in the data.</a:t>
            </a:r>
            <a:endParaRPr lang="en-US" sz="1500" dirty="0"/>
          </a:p>
        </p:txBody>
      </p:sp>
      <p:sp>
        <p:nvSpPr>
          <p:cNvPr id="6" name="Shape 4"/>
          <p:cNvSpPr/>
          <p:nvPr/>
        </p:nvSpPr>
        <p:spPr>
          <a:xfrm>
            <a:off x="640080" y="1783080"/>
            <a:ext cx="3474720" cy="2651760"/>
          </a:xfrm>
          <a:prstGeom prst="roundRect">
            <a:avLst>
              <a:gd name="adj" fmla="val 2069"/>
            </a:avLst>
          </a:prstGeom>
          <a:solidFill>
            <a:srgbClr val="EEF3F7"/>
          </a:solidFill>
          <a:ln w="12700">
            <a:solidFill>
              <a:srgbClr val="D8E4EC"/>
            </a:solidFill>
            <a:prstDash val="solid"/>
          </a:ln>
        </p:spPr>
      </p:sp>
      <p:sp>
        <p:nvSpPr>
          <p:cNvPr id="7" name="Text 5"/>
          <p:cNvSpPr/>
          <p:nvPr/>
        </p:nvSpPr>
        <p:spPr>
          <a:xfrm>
            <a:off x="841248" y="1920240"/>
            <a:ext cx="30723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How to measure it</a:t>
            </a:r>
            <a:endParaRPr lang="en-US" sz="1400" dirty="0"/>
          </a:p>
        </p:txBody>
      </p:sp>
      <p:sp>
        <p:nvSpPr>
          <p:cNvPr id="8" name="Text 6"/>
          <p:cNvSpPr/>
          <p:nvPr/>
        </p:nvSpPr>
        <p:spPr>
          <a:xfrm>
            <a:off x="841248" y="2286000"/>
            <a:ext cx="3072384" cy="19933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Two experienced people independently label the same 50 to 100 examples.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Report raw agreement and a chance-corrected statistic — Cohen's kappa for two annotators, Fleiss' kappa for more.</a:t>
            </a:r>
            <a:endParaRPr lang="en-US" sz="1150" dirty="0"/>
          </a:p>
        </p:txBody>
      </p:sp>
      <p:sp>
        <p:nvSpPr>
          <p:cNvPr id="9" name="Shape 7"/>
          <p:cNvSpPr/>
          <p:nvPr/>
        </p:nvSpPr>
        <p:spPr>
          <a:xfrm>
            <a:off x="4343400" y="1783080"/>
            <a:ext cx="3474720" cy="2651760"/>
          </a:xfrm>
          <a:prstGeom prst="roundRect">
            <a:avLst>
              <a:gd name="adj" fmla="val 2069"/>
            </a:avLst>
          </a:prstGeom>
          <a:solidFill>
            <a:srgbClr val="EEF3F7"/>
          </a:solidFill>
          <a:ln w="12700">
            <a:solidFill>
              <a:srgbClr val="D8E4EC"/>
            </a:solidFill>
            <a:prstDash val="solid"/>
          </a:ln>
        </p:spPr>
      </p:sp>
      <p:sp>
        <p:nvSpPr>
          <p:cNvPr id="10" name="Text 8"/>
          <p:cNvSpPr/>
          <p:nvPr/>
        </p:nvSpPr>
        <p:spPr>
          <a:xfrm>
            <a:off x="4544568" y="1920240"/>
            <a:ext cx="307238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How to read it</a:t>
            </a:r>
            <a:endParaRPr lang="en-US" sz="1400" dirty="0"/>
          </a:p>
        </p:txBody>
      </p:sp>
      <p:sp>
        <p:nvSpPr>
          <p:cNvPr id="11" name="Text 9"/>
          <p:cNvSpPr/>
          <p:nvPr/>
        </p:nvSpPr>
        <p:spPr>
          <a:xfrm>
            <a:off x="4544568" y="2286000"/>
            <a:ext cx="3072384" cy="19933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Your model's realistic ceiling is roughly the level of human agreement.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If two inspectors agree 70% of the time, a 95% model target is not ambitious — it is incoherent.</a:t>
            </a:r>
            <a:endParaRPr lang="en-US" sz="1150" dirty="0"/>
          </a:p>
        </p:txBody>
      </p:sp>
      <p:sp>
        <p:nvSpPr>
          <p:cNvPr id="12" name="Shape 10"/>
          <p:cNvSpPr/>
          <p:nvPr/>
        </p:nvSpPr>
        <p:spPr>
          <a:xfrm>
            <a:off x="8046720" y="1783080"/>
            <a:ext cx="3474720" cy="2651760"/>
          </a:xfrm>
          <a:prstGeom prst="roundRect">
            <a:avLst>
              <a:gd name="adj" fmla="val 2069"/>
            </a:avLst>
          </a:prstGeom>
          <a:solidFill>
            <a:srgbClr val="EEF3F7"/>
          </a:solidFill>
          <a:ln w="12700">
            <a:solidFill>
              <a:srgbClr val="D8E4EC"/>
            </a:solidFill>
            <a:prstDash val="solid"/>
          </a:ln>
        </p:spPr>
      </p:sp>
      <p:sp>
        <p:nvSpPr>
          <p:cNvPr id="13" name="Text 11"/>
          <p:cNvSpPr/>
          <p:nvPr/>
        </p:nvSpPr>
        <p:spPr>
          <a:xfrm>
            <a:off x="8247888" y="1920240"/>
            <a:ext cx="3072384"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How to fix it</a:t>
            </a:r>
            <a:endParaRPr lang="en-US" sz="1400" dirty="0"/>
          </a:p>
        </p:txBody>
      </p:sp>
      <p:sp>
        <p:nvSpPr>
          <p:cNvPr id="14" name="Text 12"/>
          <p:cNvSpPr/>
          <p:nvPr/>
        </p:nvSpPr>
        <p:spPr>
          <a:xfrm>
            <a:off x="8247888" y="2286000"/>
            <a:ext cx="3072384" cy="19933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Write the class definitions down, with visual examples of every borderline case.</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Re-label a subset against the new definition. This often beats model tuning, at a fraction of the cost.</a:t>
            </a:r>
            <a:endParaRPr lang="en-US" sz="1150" dirty="0"/>
          </a:p>
        </p:txBody>
      </p:sp>
      <p:sp>
        <p:nvSpPr>
          <p:cNvPr id="15" name="Shape 13"/>
          <p:cNvSpPr/>
          <p:nvPr/>
        </p:nvSpPr>
        <p:spPr>
          <a:xfrm>
            <a:off x="640080" y="4617720"/>
            <a:ext cx="1463040" cy="384048"/>
          </a:xfrm>
          <a:prstGeom prst="rect">
            <a:avLst/>
          </a:prstGeom>
          <a:solidFill>
            <a:srgbClr val="21295C"/>
          </a:solidFill>
          <a:ln/>
        </p:spPr>
      </p:sp>
      <p:sp>
        <p:nvSpPr>
          <p:cNvPr id="16" name="Text 14"/>
          <p:cNvSpPr/>
          <p:nvPr/>
        </p:nvSpPr>
        <p:spPr>
          <a:xfrm>
            <a:off x="749808" y="4617720"/>
            <a:ext cx="12435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Kappa</a:t>
            </a:r>
            <a:endParaRPr lang="en-US" sz="1100" dirty="0"/>
          </a:p>
        </p:txBody>
      </p:sp>
      <p:sp>
        <p:nvSpPr>
          <p:cNvPr id="17" name="Shape 15"/>
          <p:cNvSpPr/>
          <p:nvPr/>
        </p:nvSpPr>
        <p:spPr>
          <a:xfrm>
            <a:off x="2103120" y="4617720"/>
            <a:ext cx="3931920" cy="384048"/>
          </a:xfrm>
          <a:prstGeom prst="rect">
            <a:avLst/>
          </a:prstGeom>
          <a:solidFill>
            <a:srgbClr val="21295C"/>
          </a:solidFill>
          <a:ln/>
        </p:spPr>
      </p:sp>
      <p:sp>
        <p:nvSpPr>
          <p:cNvPr id="18" name="Text 16"/>
          <p:cNvSpPr/>
          <p:nvPr/>
        </p:nvSpPr>
        <p:spPr>
          <a:xfrm>
            <a:off x="2212848" y="4617720"/>
            <a:ext cx="37124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Interpretation</a:t>
            </a:r>
            <a:endParaRPr lang="en-US" sz="1100" dirty="0"/>
          </a:p>
        </p:txBody>
      </p:sp>
      <p:sp>
        <p:nvSpPr>
          <p:cNvPr id="19" name="Shape 17"/>
          <p:cNvSpPr/>
          <p:nvPr/>
        </p:nvSpPr>
        <p:spPr>
          <a:xfrm>
            <a:off x="6035040" y="4617720"/>
            <a:ext cx="1463040" cy="384048"/>
          </a:xfrm>
          <a:prstGeom prst="rect">
            <a:avLst/>
          </a:prstGeom>
          <a:solidFill>
            <a:srgbClr val="21295C"/>
          </a:solidFill>
          <a:ln/>
        </p:spPr>
      </p:sp>
      <p:sp>
        <p:nvSpPr>
          <p:cNvPr id="20" name="Text 18"/>
          <p:cNvSpPr/>
          <p:nvPr/>
        </p:nvSpPr>
        <p:spPr>
          <a:xfrm>
            <a:off x="6144768" y="4617720"/>
            <a:ext cx="12435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Kappa</a:t>
            </a:r>
            <a:endParaRPr lang="en-US" sz="1100" dirty="0"/>
          </a:p>
        </p:txBody>
      </p:sp>
      <p:sp>
        <p:nvSpPr>
          <p:cNvPr id="21" name="Shape 19"/>
          <p:cNvSpPr/>
          <p:nvPr/>
        </p:nvSpPr>
        <p:spPr>
          <a:xfrm>
            <a:off x="7498080" y="4617720"/>
            <a:ext cx="4023360" cy="384048"/>
          </a:xfrm>
          <a:prstGeom prst="rect">
            <a:avLst/>
          </a:prstGeom>
          <a:solidFill>
            <a:srgbClr val="21295C"/>
          </a:solidFill>
          <a:ln/>
        </p:spPr>
      </p:sp>
      <p:sp>
        <p:nvSpPr>
          <p:cNvPr id="22" name="Text 20"/>
          <p:cNvSpPr/>
          <p:nvPr/>
        </p:nvSpPr>
        <p:spPr>
          <a:xfrm>
            <a:off x="7607808" y="4617720"/>
            <a:ext cx="38039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Interpretation</a:t>
            </a:r>
            <a:endParaRPr lang="en-US" sz="1100" dirty="0"/>
          </a:p>
        </p:txBody>
      </p:sp>
      <p:sp>
        <p:nvSpPr>
          <p:cNvPr id="23" name="Shape 21"/>
          <p:cNvSpPr/>
          <p:nvPr/>
        </p:nvSpPr>
        <p:spPr>
          <a:xfrm>
            <a:off x="640080" y="5001768"/>
            <a:ext cx="1463040" cy="457200"/>
          </a:xfrm>
          <a:prstGeom prst="rect">
            <a:avLst/>
          </a:prstGeom>
          <a:solidFill>
            <a:srgbClr val="FFFFFF"/>
          </a:solidFill>
          <a:ln w="9525">
            <a:solidFill>
              <a:srgbClr val="E3EBF0"/>
            </a:solidFill>
            <a:prstDash val="solid"/>
          </a:ln>
        </p:spPr>
      </p:sp>
      <p:sp>
        <p:nvSpPr>
          <p:cNvPr id="24" name="Text 22"/>
          <p:cNvSpPr/>
          <p:nvPr/>
        </p:nvSpPr>
        <p:spPr>
          <a:xfrm>
            <a:off x="749808" y="5001768"/>
            <a:ext cx="124358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Below 0.20</a:t>
            </a:r>
            <a:endParaRPr lang="en-US" sz="1050" dirty="0"/>
          </a:p>
        </p:txBody>
      </p:sp>
      <p:sp>
        <p:nvSpPr>
          <p:cNvPr id="25" name="Shape 23"/>
          <p:cNvSpPr/>
          <p:nvPr/>
        </p:nvSpPr>
        <p:spPr>
          <a:xfrm>
            <a:off x="2103120" y="5001768"/>
            <a:ext cx="3931920" cy="457200"/>
          </a:xfrm>
          <a:prstGeom prst="rect">
            <a:avLst/>
          </a:prstGeom>
          <a:solidFill>
            <a:srgbClr val="FFFFFF"/>
          </a:solidFill>
          <a:ln w="9525">
            <a:solidFill>
              <a:srgbClr val="E3EBF0"/>
            </a:solidFill>
            <a:prstDash val="solid"/>
          </a:ln>
        </p:spPr>
      </p:sp>
      <p:sp>
        <p:nvSpPr>
          <p:cNvPr id="26" name="Text 24"/>
          <p:cNvSpPr/>
          <p:nvPr/>
        </p:nvSpPr>
        <p:spPr>
          <a:xfrm>
            <a:off x="2212848" y="5001768"/>
            <a:ext cx="371246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Poor — the task definition needs work</a:t>
            </a:r>
            <a:endParaRPr lang="en-US" sz="1050" dirty="0"/>
          </a:p>
        </p:txBody>
      </p:sp>
      <p:sp>
        <p:nvSpPr>
          <p:cNvPr id="27" name="Shape 25"/>
          <p:cNvSpPr/>
          <p:nvPr/>
        </p:nvSpPr>
        <p:spPr>
          <a:xfrm>
            <a:off x="6035040" y="5001768"/>
            <a:ext cx="1463040" cy="457200"/>
          </a:xfrm>
          <a:prstGeom prst="rect">
            <a:avLst/>
          </a:prstGeom>
          <a:solidFill>
            <a:srgbClr val="FFFFFF"/>
          </a:solidFill>
          <a:ln w="9525">
            <a:solidFill>
              <a:srgbClr val="E3EBF0"/>
            </a:solidFill>
            <a:prstDash val="solid"/>
          </a:ln>
        </p:spPr>
      </p:sp>
      <p:sp>
        <p:nvSpPr>
          <p:cNvPr id="28" name="Text 26"/>
          <p:cNvSpPr/>
          <p:nvPr/>
        </p:nvSpPr>
        <p:spPr>
          <a:xfrm>
            <a:off x="6144768" y="5001768"/>
            <a:ext cx="124358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0.61 – 0.80</a:t>
            </a:r>
            <a:endParaRPr lang="en-US" sz="1050" dirty="0"/>
          </a:p>
        </p:txBody>
      </p:sp>
      <p:sp>
        <p:nvSpPr>
          <p:cNvPr id="29" name="Shape 27"/>
          <p:cNvSpPr/>
          <p:nvPr/>
        </p:nvSpPr>
        <p:spPr>
          <a:xfrm>
            <a:off x="7498080" y="5001768"/>
            <a:ext cx="4023360" cy="457200"/>
          </a:xfrm>
          <a:prstGeom prst="rect">
            <a:avLst/>
          </a:prstGeom>
          <a:solidFill>
            <a:srgbClr val="FFFFFF"/>
          </a:solidFill>
          <a:ln w="9525">
            <a:solidFill>
              <a:srgbClr val="E3EBF0"/>
            </a:solidFill>
            <a:prstDash val="solid"/>
          </a:ln>
        </p:spPr>
      </p:sp>
      <p:sp>
        <p:nvSpPr>
          <p:cNvPr id="30" name="Text 28"/>
          <p:cNvSpPr/>
          <p:nvPr/>
        </p:nvSpPr>
        <p:spPr>
          <a:xfrm>
            <a:off x="7607808" y="5001768"/>
            <a:ext cx="380390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Substantial — usable ground truth</a:t>
            </a:r>
            <a:endParaRPr lang="en-US" sz="1050" dirty="0"/>
          </a:p>
        </p:txBody>
      </p:sp>
      <p:sp>
        <p:nvSpPr>
          <p:cNvPr id="31" name="Shape 29"/>
          <p:cNvSpPr/>
          <p:nvPr/>
        </p:nvSpPr>
        <p:spPr>
          <a:xfrm>
            <a:off x="640080" y="5458968"/>
            <a:ext cx="1463040" cy="457200"/>
          </a:xfrm>
          <a:prstGeom prst="rect">
            <a:avLst/>
          </a:prstGeom>
          <a:solidFill>
            <a:srgbClr val="F5F9FB"/>
          </a:solidFill>
          <a:ln w="9525">
            <a:solidFill>
              <a:srgbClr val="E3EBF0"/>
            </a:solidFill>
            <a:prstDash val="solid"/>
          </a:ln>
        </p:spPr>
      </p:sp>
      <p:sp>
        <p:nvSpPr>
          <p:cNvPr id="32" name="Text 30"/>
          <p:cNvSpPr/>
          <p:nvPr/>
        </p:nvSpPr>
        <p:spPr>
          <a:xfrm>
            <a:off x="749808" y="5458968"/>
            <a:ext cx="124358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0.21 – 0.60</a:t>
            </a:r>
            <a:endParaRPr lang="en-US" sz="1050" dirty="0"/>
          </a:p>
        </p:txBody>
      </p:sp>
      <p:sp>
        <p:nvSpPr>
          <p:cNvPr id="33" name="Shape 31"/>
          <p:cNvSpPr/>
          <p:nvPr/>
        </p:nvSpPr>
        <p:spPr>
          <a:xfrm>
            <a:off x="2103120" y="5458968"/>
            <a:ext cx="3931920" cy="457200"/>
          </a:xfrm>
          <a:prstGeom prst="rect">
            <a:avLst/>
          </a:prstGeom>
          <a:solidFill>
            <a:srgbClr val="F5F9FB"/>
          </a:solidFill>
          <a:ln w="9525">
            <a:solidFill>
              <a:srgbClr val="E3EBF0"/>
            </a:solidFill>
            <a:prstDash val="solid"/>
          </a:ln>
        </p:spPr>
      </p:sp>
      <p:sp>
        <p:nvSpPr>
          <p:cNvPr id="34" name="Text 32"/>
          <p:cNvSpPr/>
          <p:nvPr/>
        </p:nvSpPr>
        <p:spPr>
          <a:xfrm>
            <a:off x="2212848" y="5458968"/>
            <a:ext cx="371246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Fair to moderate — expect a low ceiling</a:t>
            </a:r>
            <a:endParaRPr lang="en-US" sz="1050" dirty="0"/>
          </a:p>
        </p:txBody>
      </p:sp>
      <p:sp>
        <p:nvSpPr>
          <p:cNvPr id="35" name="Shape 33"/>
          <p:cNvSpPr/>
          <p:nvPr/>
        </p:nvSpPr>
        <p:spPr>
          <a:xfrm>
            <a:off x="6035040" y="5458968"/>
            <a:ext cx="1463040" cy="457200"/>
          </a:xfrm>
          <a:prstGeom prst="rect">
            <a:avLst/>
          </a:prstGeom>
          <a:solidFill>
            <a:srgbClr val="F5F9FB"/>
          </a:solidFill>
          <a:ln w="9525">
            <a:solidFill>
              <a:srgbClr val="E3EBF0"/>
            </a:solidFill>
            <a:prstDash val="solid"/>
          </a:ln>
        </p:spPr>
      </p:sp>
      <p:sp>
        <p:nvSpPr>
          <p:cNvPr id="36" name="Text 34"/>
          <p:cNvSpPr/>
          <p:nvPr/>
        </p:nvSpPr>
        <p:spPr>
          <a:xfrm>
            <a:off x="6144768" y="5458968"/>
            <a:ext cx="124358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Above 0.80</a:t>
            </a:r>
            <a:endParaRPr lang="en-US" sz="1050" dirty="0"/>
          </a:p>
        </p:txBody>
      </p:sp>
      <p:sp>
        <p:nvSpPr>
          <p:cNvPr id="37" name="Shape 35"/>
          <p:cNvSpPr/>
          <p:nvPr/>
        </p:nvSpPr>
        <p:spPr>
          <a:xfrm>
            <a:off x="7498080" y="5458968"/>
            <a:ext cx="4023360" cy="457200"/>
          </a:xfrm>
          <a:prstGeom prst="rect">
            <a:avLst/>
          </a:prstGeom>
          <a:solidFill>
            <a:srgbClr val="F5F9FB"/>
          </a:solidFill>
          <a:ln w="9525">
            <a:solidFill>
              <a:srgbClr val="E3EBF0"/>
            </a:solidFill>
            <a:prstDash val="solid"/>
          </a:ln>
        </p:spPr>
      </p:sp>
      <p:sp>
        <p:nvSpPr>
          <p:cNvPr id="38" name="Text 36"/>
          <p:cNvSpPr/>
          <p:nvPr/>
        </p:nvSpPr>
        <p:spPr>
          <a:xfrm>
            <a:off x="7607808" y="5458968"/>
            <a:ext cx="380390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Excellent — rare in subjective tasks</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2.24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Bias, variance, drift and calibration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48</a:t>
            </a:r>
            <a:endParaRPr lang="en-US" sz="1000" dirty="0"/>
          </a:p>
        </p:txBody>
      </p:sp>
      <p:sp>
        <p:nvSpPr>
          <p:cNvPr id="5" name="Shape 3"/>
          <p:cNvSpPr/>
          <p:nvPr/>
        </p:nvSpPr>
        <p:spPr>
          <a:xfrm>
            <a:off x="640080" y="1371600"/>
            <a:ext cx="5303520" cy="1874520"/>
          </a:xfrm>
          <a:prstGeom prst="roundRect">
            <a:avLst>
              <a:gd name="adj" fmla="val 2927"/>
            </a:avLst>
          </a:prstGeom>
          <a:solidFill>
            <a:srgbClr val="EEF3F7"/>
          </a:solidFill>
          <a:ln w="12700">
            <a:solidFill>
              <a:srgbClr val="D8E4EC"/>
            </a:solidFill>
            <a:prstDash val="solid"/>
          </a:ln>
        </p:spPr>
      </p:sp>
      <p:sp>
        <p:nvSpPr>
          <p:cNvPr id="6" name="Text 4"/>
          <p:cNvSpPr/>
          <p:nvPr/>
        </p:nvSpPr>
        <p:spPr>
          <a:xfrm>
            <a:off x="841248" y="1508760"/>
            <a:ext cx="49011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Bias</a:t>
            </a:r>
            <a:endParaRPr lang="en-US" sz="1400" dirty="0"/>
          </a:p>
        </p:txBody>
      </p:sp>
      <p:sp>
        <p:nvSpPr>
          <p:cNvPr id="7" name="Text 5"/>
          <p:cNvSpPr/>
          <p:nvPr/>
        </p:nvSpPr>
        <p:spPr>
          <a:xfrm>
            <a:off x="841248" y="1874520"/>
            <a:ext cx="4901184" cy="121615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model is systematically wrong in the same direction. Too simple for the problem, or trained on unrepresentative data. Shows as poor performance on both train and test.</a:t>
            </a:r>
            <a:endParaRPr lang="en-US" sz="1150" dirty="0"/>
          </a:p>
        </p:txBody>
      </p:sp>
      <p:sp>
        <p:nvSpPr>
          <p:cNvPr id="8" name="Shape 6"/>
          <p:cNvSpPr/>
          <p:nvPr/>
        </p:nvSpPr>
        <p:spPr>
          <a:xfrm>
            <a:off x="6263640" y="1371600"/>
            <a:ext cx="5303520" cy="1874520"/>
          </a:xfrm>
          <a:prstGeom prst="roundRect">
            <a:avLst>
              <a:gd name="adj" fmla="val 2927"/>
            </a:avLst>
          </a:prstGeom>
          <a:solidFill>
            <a:srgbClr val="EEF3F7"/>
          </a:solidFill>
          <a:ln w="12700">
            <a:solidFill>
              <a:srgbClr val="D8E4EC"/>
            </a:solidFill>
            <a:prstDash val="solid"/>
          </a:ln>
        </p:spPr>
      </p:sp>
      <p:sp>
        <p:nvSpPr>
          <p:cNvPr id="9" name="Text 7"/>
          <p:cNvSpPr/>
          <p:nvPr/>
        </p:nvSpPr>
        <p:spPr>
          <a:xfrm>
            <a:off x="6464808" y="1508760"/>
            <a:ext cx="490118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Variance</a:t>
            </a:r>
            <a:endParaRPr lang="en-US" sz="1400" dirty="0"/>
          </a:p>
        </p:txBody>
      </p:sp>
      <p:sp>
        <p:nvSpPr>
          <p:cNvPr id="10" name="Text 8"/>
          <p:cNvSpPr/>
          <p:nvPr/>
        </p:nvSpPr>
        <p:spPr>
          <a:xfrm>
            <a:off x="6464808" y="1874520"/>
            <a:ext cx="4901184" cy="121615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model is unstable — small changes in training data cause large changes in behaviour. Shows as excellent train performance and poor test performance.</a:t>
            </a:r>
            <a:endParaRPr lang="en-US" sz="1150" dirty="0"/>
          </a:p>
        </p:txBody>
      </p:sp>
      <p:sp>
        <p:nvSpPr>
          <p:cNvPr id="11" name="Shape 9"/>
          <p:cNvSpPr/>
          <p:nvPr/>
        </p:nvSpPr>
        <p:spPr>
          <a:xfrm>
            <a:off x="640080" y="3520440"/>
            <a:ext cx="5303520" cy="1874520"/>
          </a:xfrm>
          <a:prstGeom prst="roundRect">
            <a:avLst>
              <a:gd name="adj" fmla="val 2927"/>
            </a:avLst>
          </a:prstGeom>
          <a:solidFill>
            <a:srgbClr val="EEF3F7"/>
          </a:solidFill>
          <a:ln w="12700">
            <a:solidFill>
              <a:srgbClr val="D8E4EC"/>
            </a:solidFill>
            <a:prstDash val="solid"/>
          </a:ln>
        </p:spPr>
      </p:sp>
      <p:sp>
        <p:nvSpPr>
          <p:cNvPr id="12" name="Text 10"/>
          <p:cNvSpPr/>
          <p:nvPr/>
        </p:nvSpPr>
        <p:spPr>
          <a:xfrm>
            <a:off x="841248" y="3657600"/>
            <a:ext cx="4901184"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Drift</a:t>
            </a:r>
            <a:endParaRPr lang="en-US" sz="1400" dirty="0"/>
          </a:p>
        </p:txBody>
      </p:sp>
      <p:sp>
        <p:nvSpPr>
          <p:cNvPr id="13" name="Text 11"/>
          <p:cNvSpPr/>
          <p:nvPr/>
        </p:nvSpPr>
        <p:spPr>
          <a:xfrm>
            <a:off x="841248" y="4023360"/>
            <a:ext cx="4901184" cy="121615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world changed after training. New variants, sensors, lighting or vocabulary. Performance decays quietly until someone complains.</a:t>
            </a:r>
            <a:endParaRPr lang="en-US" sz="1150" dirty="0"/>
          </a:p>
        </p:txBody>
      </p:sp>
      <p:sp>
        <p:nvSpPr>
          <p:cNvPr id="14" name="Shape 12"/>
          <p:cNvSpPr/>
          <p:nvPr/>
        </p:nvSpPr>
        <p:spPr>
          <a:xfrm>
            <a:off x="6263640" y="3520440"/>
            <a:ext cx="5303520" cy="1874520"/>
          </a:xfrm>
          <a:prstGeom prst="roundRect">
            <a:avLst>
              <a:gd name="adj" fmla="val 2927"/>
            </a:avLst>
          </a:prstGeom>
          <a:solidFill>
            <a:srgbClr val="EEF3F7"/>
          </a:solidFill>
          <a:ln w="12700">
            <a:solidFill>
              <a:srgbClr val="D8E4EC"/>
            </a:solidFill>
            <a:prstDash val="solid"/>
          </a:ln>
        </p:spPr>
      </p:sp>
      <p:sp>
        <p:nvSpPr>
          <p:cNvPr id="15" name="Text 13"/>
          <p:cNvSpPr/>
          <p:nvPr/>
        </p:nvSpPr>
        <p:spPr>
          <a:xfrm>
            <a:off x="6464808" y="3657600"/>
            <a:ext cx="4901184" cy="347472"/>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Calibration</a:t>
            </a:r>
            <a:endParaRPr lang="en-US" sz="1400" dirty="0"/>
          </a:p>
        </p:txBody>
      </p:sp>
      <p:sp>
        <p:nvSpPr>
          <p:cNvPr id="16" name="Text 14"/>
          <p:cNvSpPr/>
          <p:nvPr/>
        </p:nvSpPr>
        <p:spPr>
          <a:xfrm>
            <a:off x="6464808" y="4023360"/>
            <a:ext cx="4901184" cy="121615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When the model says 80% confident, is it right 80% of the time? Uncalibrated confidence makes every threshold and escalation rule meaningless.</a:t>
            </a:r>
            <a:endParaRPr lang="en-US" sz="1150" dirty="0"/>
          </a:p>
        </p:txBody>
      </p:sp>
      <p:sp>
        <p:nvSpPr>
          <p:cNvPr id="17" name="Text 15"/>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Calibration is the one most often ignored — and everything in Module 1 depends on it.</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2.25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Drift — three distinct kinds, three different responses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49</a:t>
            </a:r>
            <a:endParaRPr lang="en-US" sz="1000" dirty="0"/>
          </a:p>
        </p:txBody>
      </p:sp>
      <p:sp>
        <p:nvSpPr>
          <p:cNvPr id="5" name="Shape 3"/>
          <p:cNvSpPr/>
          <p:nvPr/>
        </p:nvSpPr>
        <p:spPr>
          <a:xfrm>
            <a:off x="640080" y="1280160"/>
            <a:ext cx="2011680" cy="384048"/>
          </a:xfrm>
          <a:prstGeom prst="rect">
            <a:avLst/>
          </a:prstGeom>
          <a:solidFill>
            <a:srgbClr val="21295C"/>
          </a:solidFill>
          <a:ln/>
        </p:spPr>
      </p:sp>
      <p:sp>
        <p:nvSpPr>
          <p:cNvPr id="6" name="Text 4"/>
          <p:cNvSpPr/>
          <p:nvPr/>
        </p:nvSpPr>
        <p:spPr>
          <a:xfrm>
            <a:off x="749808" y="1280160"/>
            <a:ext cx="17922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p>
        </p:txBody>
      </p:sp>
      <p:sp>
        <p:nvSpPr>
          <p:cNvPr id="7" name="Shape 5"/>
          <p:cNvSpPr/>
          <p:nvPr/>
        </p:nvSpPr>
        <p:spPr>
          <a:xfrm>
            <a:off x="2651760" y="1280160"/>
            <a:ext cx="3017520" cy="384048"/>
          </a:xfrm>
          <a:prstGeom prst="rect">
            <a:avLst/>
          </a:prstGeom>
          <a:solidFill>
            <a:srgbClr val="21295C"/>
          </a:solidFill>
          <a:ln/>
        </p:spPr>
      </p:sp>
      <p:sp>
        <p:nvSpPr>
          <p:cNvPr id="8" name="Text 6"/>
          <p:cNvSpPr/>
          <p:nvPr/>
        </p:nvSpPr>
        <p:spPr>
          <a:xfrm>
            <a:off x="2761488" y="1280160"/>
            <a:ext cx="27980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changed</a:t>
            </a:r>
            <a:endParaRPr lang="en-US" sz="1100" dirty="0"/>
          </a:p>
        </p:txBody>
      </p:sp>
      <p:sp>
        <p:nvSpPr>
          <p:cNvPr id="9" name="Shape 7"/>
          <p:cNvSpPr/>
          <p:nvPr/>
        </p:nvSpPr>
        <p:spPr>
          <a:xfrm>
            <a:off x="5669280" y="1280160"/>
            <a:ext cx="3108960" cy="384048"/>
          </a:xfrm>
          <a:prstGeom prst="rect">
            <a:avLst/>
          </a:prstGeom>
          <a:solidFill>
            <a:srgbClr val="21295C"/>
          </a:solidFill>
          <a:ln/>
        </p:spPr>
      </p:sp>
      <p:sp>
        <p:nvSpPr>
          <p:cNvPr id="10" name="Text 8"/>
          <p:cNvSpPr/>
          <p:nvPr/>
        </p:nvSpPr>
        <p:spPr>
          <a:xfrm>
            <a:off x="5779008" y="1280160"/>
            <a:ext cx="28895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Detection</a:t>
            </a:r>
            <a:endParaRPr lang="en-US" sz="1100" dirty="0"/>
          </a:p>
        </p:txBody>
      </p:sp>
      <p:sp>
        <p:nvSpPr>
          <p:cNvPr id="11" name="Shape 9"/>
          <p:cNvSpPr/>
          <p:nvPr/>
        </p:nvSpPr>
        <p:spPr>
          <a:xfrm>
            <a:off x="8778240" y="1280160"/>
            <a:ext cx="2743200" cy="384048"/>
          </a:xfrm>
          <a:prstGeom prst="rect">
            <a:avLst/>
          </a:prstGeom>
          <a:solidFill>
            <a:srgbClr val="21295C"/>
          </a:solidFill>
          <a:ln/>
        </p:spPr>
      </p:sp>
      <p:sp>
        <p:nvSpPr>
          <p:cNvPr id="12" name="Text 10"/>
          <p:cNvSpPr/>
          <p:nvPr/>
        </p:nvSpPr>
        <p:spPr>
          <a:xfrm>
            <a:off x="8887968" y="1280160"/>
            <a:ext cx="25237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Response</a:t>
            </a:r>
            <a:endParaRPr lang="en-US" sz="1100" dirty="0"/>
          </a:p>
        </p:txBody>
      </p:sp>
      <p:sp>
        <p:nvSpPr>
          <p:cNvPr id="13" name="Shape 11"/>
          <p:cNvSpPr/>
          <p:nvPr/>
        </p:nvSpPr>
        <p:spPr>
          <a:xfrm>
            <a:off x="640080" y="1664208"/>
            <a:ext cx="2011680" cy="777240"/>
          </a:xfrm>
          <a:prstGeom prst="rect">
            <a:avLst/>
          </a:prstGeom>
          <a:solidFill>
            <a:srgbClr val="FFFFFF"/>
          </a:solidFill>
          <a:ln w="9525">
            <a:solidFill>
              <a:srgbClr val="E3EBF0"/>
            </a:solidFill>
            <a:prstDash val="solid"/>
          </a:ln>
        </p:spPr>
      </p:sp>
      <p:sp>
        <p:nvSpPr>
          <p:cNvPr id="14" name="Text 12"/>
          <p:cNvSpPr/>
          <p:nvPr/>
        </p:nvSpPr>
        <p:spPr>
          <a:xfrm>
            <a:off x="749808" y="1664208"/>
            <a:ext cx="1792224" cy="7772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Covariate shift</a:t>
            </a:r>
            <a:endParaRPr lang="en-US" sz="1050" dirty="0"/>
          </a:p>
        </p:txBody>
      </p:sp>
      <p:sp>
        <p:nvSpPr>
          <p:cNvPr id="15" name="Shape 13"/>
          <p:cNvSpPr/>
          <p:nvPr/>
        </p:nvSpPr>
        <p:spPr>
          <a:xfrm>
            <a:off x="2651760" y="1664208"/>
            <a:ext cx="3017520" cy="777240"/>
          </a:xfrm>
          <a:prstGeom prst="rect">
            <a:avLst/>
          </a:prstGeom>
          <a:solidFill>
            <a:srgbClr val="FFFFFF"/>
          </a:solidFill>
          <a:ln w="9525">
            <a:solidFill>
              <a:srgbClr val="E3EBF0"/>
            </a:solidFill>
            <a:prstDash val="solid"/>
          </a:ln>
        </p:spPr>
      </p:sp>
      <p:sp>
        <p:nvSpPr>
          <p:cNvPr id="16" name="Text 14"/>
          <p:cNvSpPr/>
          <p:nvPr/>
        </p:nvSpPr>
        <p:spPr>
          <a:xfrm>
            <a:off x="2761488" y="1664208"/>
            <a:ext cx="2798064" cy="7772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input distribution — new variants, new lighting</a:t>
            </a:r>
            <a:endParaRPr lang="en-US" sz="1050" dirty="0"/>
          </a:p>
        </p:txBody>
      </p:sp>
      <p:sp>
        <p:nvSpPr>
          <p:cNvPr id="17" name="Shape 15"/>
          <p:cNvSpPr/>
          <p:nvPr/>
        </p:nvSpPr>
        <p:spPr>
          <a:xfrm>
            <a:off x="5669280" y="1664208"/>
            <a:ext cx="3108960" cy="777240"/>
          </a:xfrm>
          <a:prstGeom prst="rect">
            <a:avLst/>
          </a:prstGeom>
          <a:solidFill>
            <a:srgbClr val="FFFFFF"/>
          </a:solidFill>
          <a:ln w="9525">
            <a:solidFill>
              <a:srgbClr val="E3EBF0"/>
            </a:solidFill>
            <a:prstDash val="solid"/>
          </a:ln>
        </p:spPr>
      </p:sp>
      <p:sp>
        <p:nvSpPr>
          <p:cNvPr id="18" name="Text 16"/>
          <p:cNvSpPr/>
          <p:nvPr/>
        </p:nvSpPr>
        <p:spPr>
          <a:xfrm>
            <a:off x="5779008" y="1664208"/>
            <a:ext cx="2889504" cy="7772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Compare input feature distributions over time</a:t>
            </a:r>
            <a:endParaRPr lang="en-US" sz="1050" dirty="0"/>
          </a:p>
        </p:txBody>
      </p:sp>
      <p:sp>
        <p:nvSpPr>
          <p:cNvPr id="19" name="Shape 17"/>
          <p:cNvSpPr/>
          <p:nvPr/>
        </p:nvSpPr>
        <p:spPr>
          <a:xfrm>
            <a:off x="8778240" y="1664208"/>
            <a:ext cx="2743200" cy="777240"/>
          </a:xfrm>
          <a:prstGeom prst="rect">
            <a:avLst/>
          </a:prstGeom>
          <a:solidFill>
            <a:srgbClr val="FFFFFF"/>
          </a:solidFill>
          <a:ln w="9525">
            <a:solidFill>
              <a:srgbClr val="E3EBF0"/>
            </a:solidFill>
            <a:prstDash val="solid"/>
          </a:ln>
        </p:spPr>
      </p:sp>
      <p:sp>
        <p:nvSpPr>
          <p:cNvPr id="20" name="Text 18"/>
          <p:cNvSpPr/>
          <p:nvPr/>
        </p:nvSpPr>
        <p:spPr>
          <a:xfrm>
            <a:off x="8887968" y="1664208"/>
            <a:ext cx="2523744" cy="7772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Retraining on recent data is often enough</a:t>
            </a:r>
            <a:endParaRPr lang="en-US" sz="1050" dirty="0"/>
          </a:p>
        </p:txBody>
      </p:sp>
      <p:sp>
        <p:nvSpPr>
          <p:cNvPr id="21" name="Shape 19"/>
          <p:cNvSpPr/>
          <p:nvPr/>
        </p:nvSpPr>
        <p:spPr>
          <a:xfrm>
            <a:off x="640080" y="2441448"/>
            <a:ext cx="2011680" cy="777240"/>
          </a:xfrm>
          <a:prstGeom prst="rect">
            <a:avLst/>
          </a:prstGeom>
          <a:solidFill>
            <a:srgbClr val="F5F9FB"/>
          </a:solidFill>
          <a:ln w="9525">
            <a:solidFill>
              <a:srgbClr val="E3EBF0"/>
            </a:solidFill>
            <a:prstDash val="solid"/>
          </a:ln>
        </p:spPr>
      </p:sp>
      <p:sp>
        <p:nvSpPr>
          <p:cNvPr id="22" name="Text 20"/>
          <p:cNvSpPr/>
          <p:nvPr/>
        </p:nvSpPr>
        <p:spPr>
          <a:xfrm>
            <a:off x="749808" y="2441448"/>
            <a:ext cx="1792224" cy="7772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Label shift</a:t>
            </a:r>
            <a:endParaRPr lang="en-US" sz="1050" dirty="0"/>
          </a:p>
        </p:txBody>
      </p:sp>
      <p:sp>
        <p:nvSpPr>
          <p:cNvPr id="23" name="Shape 21"/>
          <p:cNvSpPr/>
          <p:nvPr/>
        </p:nvSpPr>
        <p:spPr>
          <a:xfrm>
            <a:off x="2651760" y="2441448"/>
            <a:ext cx="3017520" cy="777240"/>
          </a:xfrm>
          <a:prstGeom prst="rect">
            <a:avLst/>
          </a:prstGeom>
          <a:solidFill>
            <a:srgbClr val="F5F9FB"/>
          </a:solidFill>
          <a:ln w="9525">
            <a:solidFill>
              <a:srgbClr val="E3EBF0"/>
            </a:solidFill>
            <a:prstDash val="solid"/>
          </a:ln>
        </p:spPr>
      </p:sp>
      <p:sp>
        <p:nvSpPr>
          <p:cNvPr id="24" name="Text 22"/>
          <p:cNvSpPr/>
          <p:nvPr/>
        </p:nvSpPr>
        <p:spPr>
          <a:xfrm>
            <a:off x="2761488" y="2441448"/>
            <a:ext cx="2798064" cy="7772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class balance — the defect rate rose</a:t>
            </a:r>
            <a:endParaRPr lang="en-US" sz="1050" dirty="0"/>
          </a:p>
        </p:txBody>
      </p:sp>
      <p:sp>
        <p:nvSpPr>
          <p:cNvPr id="25" name="Shape 23"/>
          <p:cNvSpPr/>
          <p:nvPr/>
        </p:nvSpPr>
        <p:spPr>
          <a:xfrm>
            <a:off x="5669280" y="2441448"/>
            <a:ext cx="3108960" cy="777240"/>
          </a:xfrm>
          <a:prstGeom prst="rect">
            <a:avLst/>
          </a:prstGeom>
          <a:solidFill>
            <a:srgbClr val="F5F9FB"/>
          </a:solidFill>
          <a:ln w="9525">
            <a:solidFill>
              <a:srgbClr val="E3EBF0"/>
            </a:solidFill>
            <a:prstDash val="solid"/>
          </a:ln>
        </p:spPr>
      </p:sp>
      <p:sp>
        <p:nvSpPr>
          <p:cNvPr id="26" name="Text 24"/>
          <p:cNvSpPr/>
          <p:nvPr/>
        </p:nvSpPr>
        <p:spPr>
          <a:xfrm>
            <a:off x="5779008" y="2441448"/>
            <a:ext cx="2889504" cy="7772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Monitor predicted class proportions</a:t>
            </a:r>
            <a:endParaRPr lang="en-US" sz="1050" dirty="0"/>
          </a:p>
        </p:txBody>
      </p:sp>
      <p:sp>
        <p:nvSpPr>
          <p:cNvPr id="27" name="Shape 25"/>
          <p:cNvSpPr/>
          <p:nvPr/>
        </p:nvSpPr>
        <p:spPr>
          <a:xfrm>
            <a:off x="8778240" y="2441448"/>
            <a:ext cx="2743200" cy="777240"/>
          </a:xfrm>
          <a:prstGeom prst="rect">
            <a:avLst/>
          </a:prstGeom>
          <a:solidFill>
            <a:srgbClr val="F5F9FB"/>
          </a:solidFill>
          <a:ln w="9525">
            <a:solidFill>
              <a:srgbClr val="E3EBF0"/>
            </a:solidFill>
            <a:prstDash val="solid"/>
          </a:ln>
        </p:spPr>
      </p:sp>
      <p:sp>
        <p:nvSpPr>
          <p:cNvPr id="28" name="Text 26"/>
          <p:cNvSpPr/>
          <p:nvPr/>
        </p:nvSpPr>
        <p:spPr>
          <a:xfrm>
            <a:off x="8887968" y="2441448"/>
            <a:ext cx="2523744" cy="7772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Recalibrate thresholds; check the process, not just the model</a:t>
            </a:r>
            <a:endParaRPr lang="en-US" sz="1050" dirty="0"/>
          </a:p>
        </p:txBody>
      </p:sp>
      <p:sp>
        <p:nvSpPr>
          <p:cNvPr id="29" name="Shape 27"/>
          <p:cNvSpPr/>
          <p:nvPr/>
        </p:nvSpPr>
        <p:spPr>
          <a:xfrm>
            <a:off x="640080" y="3218688"/>
            <a:ext cx="2011680" cy="777240"/>
          </a:xfrm>
          <a:prstGeom prst="rect">
            <a:avLst/>
          </a:prstGeom>
          <a:solidFill>
            <a:srgbClr val="FFFFFF"/>
          </a:solidFill>
          <a:ln w="9525">
            <a:solidFill>
              <a:srgbClr val="E3EBF0"/>
            </a:solidFill>
            <a:prstDash val="solid"/>
          </a:ln>
        </p:spPr>
      </p:sp>
      <p:sp>
        <p:nvSpPr>
          <p:cNvPr id="30" name="Text 28"/>
          <p:cNvSpPr/>
          <p:nvPr/>
        </p:nvSpPr>
        <p:spPr>
          <a:xfrm>
            <a:off x="749808" y="3218688"/>
            <a:ext cx="1792224" cy="7772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Concept drift</a:t>
            </a:r>
            <a:endParaRPr lang="en-US" sz="1050" dirty="0"/>
          </a:p>
        </p:txBody>
      </p:sp>
      <p:sp>
        <p:nvSpPr>
          <p:cNvPr id="31" name="Shape 29"/>
          <p:cNvSpPr/>
          <p:nvPr/>
        </p:nvSpPr>
        <p:spPr>
          <a:xfrm>
            <a:off x="2651760" y="3218688"/>
            <a:ext cx="3017520" cy="777240"/>
          </a:xfrm>
          <a:prstGeom prst="rect">
            <a:avLst/>
          </a:prstGeom>
          <a:solidFill>
            <a:srgbClr val="FFFFFF"/>
          </a:solidFill>
          <a:ln w="9525">
            <a:solidFill>
              <a:srgbClr val="E3EBF0"/>
            </a:solidFill>
            <a:prstDash val="solid"/>
          </a:ln>
        </p:spPr>
      </p:sp>
      <p:sp>
        <p:nvSpPr>
          <p:cNvPr id="32" name="Text 30"/>
          <p:cNvSpPr/>
          <p:nvPr/>
        </p:nvSpPr>
        <p:spPr>
          <a:xfrm>
            <a:off x="2761488" y="3218688"/>
            <a:ext cx="2798064" cy="7772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input-to-outcome relationship changed</a:t>
            </a:r>
            <a:endParaRPr lang="en-US" sz="1050" dirty="0"/>
          </a:p>
        </p:txBody>
      </p:sp>
      <p:sp>
        <p:nvSpPr>
          <p:cNvPr id="33" name="Shape 31"/>
          <p:cNvSpPr/>
          <p:nvPr/>
        </p:nvSpPr>
        <p:spPr>
          <a:xfrm>
            <a:off x="5669280" y="3218688"/>
            <a:ext cx="3108960" cy="777240"/>
          </a:xfrm>
          <a:prstGeom prst="rect">
            <a:avLst/>
          </a:prstGeom>
          <a:solidFill>
            <a:srgbClr val="FFFFFF"/>
          </a:solidFill>
          <a:ln w="9525">
            <a:solidFill>
              <a:srgbClr val="E3EBF0"/>
            </a:solidFill>
            <a:prstDash val="solid"/>
          </a:ln>
        </p:spPr>
      </p:sp>
      <p:sp>
        <p:nvSpPr>
          <p:cNvPr id="34" name="Text 32"/>
          <p:cNvSpPr/>
          <p:nvPr/>
        </p:nvSpPr>
        <p:spPr>
          <a:xfrm>
            <a:off x="5779008" y="3218688"/>
            <a:ext cx="2889504" cy="7772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Performance degrades while inputs look unchanged</a:t>
            </a:r>
            <a:endParaRPr lang="en-US" sz="1050" dirty="0"/>
          </a:p>
        </p:txBody>
      </p:sp>
      <p:sp>
        <p:nvSpPr>
          <p:cNvPr id="35" name="Shape 33"/>
          <p:cNvSpPr/>
          <p:nvPr/>
        </p:nvSpPr>
        <p:spPr>
          <a:xfrm>
            <a:off x="8778240" y="3218688"/>
            <a:ext cx="2743200" cy="777240"/>
          </a:xfrm>
          <a:prstGeom prst="rect">
            <a:avLst/>
          </a:prstGeom>
          <a:solidFill>
            <a:srgbClr val="FFFFFF"/>
          </a:solidFill>
          <a:ln w="9525">
            <a:solidFill>
              <a:srgbClr val="E3EBF0"/>
            </a:solidFill>
            <a:prstDash val="solid"/>
          </a:ln>
        </p:spPr>
      </p:sp>
      <p:sp>
        <p:nvSpPr>
          <p:cNvPr id="36" name="Text 34"/>
          <p:cNvSpPr/>
          <p:nvPr/>
        </p:nvSpPr>
        <p:spPr>
          <a:xfrm>
            <a:off x="8887968" y="3218688"/>
            <a:ext cx="2523744" cy="7772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Retraining required; old labels may no longer apply</a:t>
            </a:r>
            <a:endParaRPr lang="en-US" sz="1050" dirty="0"/>
          </a:p>
        </p:txBody>
      </p:sp>
      <p:sp>
        <p:nvSpPr>
          <p:cNvPr id="37" name="Shape 35"/>
          <p:cNvSpPr/>
          <p:nvPr/>
        </p:nvSpPr>
        <p:spPr>
          <a:xfrm>
            <a:off x="640080" y="4114800"/>
            <a:ext cx="10881360" cy="1234440"/>
          </a:xfrm>
          <a:prstGeom prst="roundRect">
            <a:avLst>
              <a:gd name="adj" fmla="val 4444"/>
            </a:avLst>
          </a:prstGeom>
          <a:solidFill>
            <a:srgbClr val="E4EEF4"/>
          </a:solidFill>
          <a:ln w="12700">
            <a:solidFill>
              <a:srgbClr val="C9DCE7"/>
            </a:solidFill>
            <a:prstDash val="solid"/>
          </a:ln>
        </p:spPr>
      </p:sp>
      <p:sp>
        <p:nvSpPr>
          <p:cNvPr id="38" name="Text 36"/>
          <p:cNvSpPr/>
          <p:nvPr/>
        </p:nvSpPr>
        <p:spPr>
          <a:xfrm>
            <a:off x="914400" y="4279392"/>
            <a:ext cx="10332720" cy="32004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Practical detection methods</a:t>
            </a:r>
            <a:endParaRPr lang="en-US" sz="1350" dirty="0"/>
          </a:p>
        </p:txBody>
      </p:sp>
      <p:sp>
        <p:nvSpPr>
          <p:cNvPr id="39" name="Text 37"/>
          <p:cNvSpPr/>
          <p:nvPr/>
        </p:nvSpPr>
        <p:spPr>
          <a:xfrm>
            <a:off x="914400" y="4617720"/>
            <a:ext cx="10332720" cy="68580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Population Stability Index on key features, Kolmogorov-Smirnov tests between reference and current windows, monitoring the confidence distribution, tracking the escalation rate, and — most reliably — a small continuously refreshed labelled sample scored on a schedule.</a:t>
            </a:r>
            <a:endParaRPr lang="en-US" sz="1250" dirty="0"/>
          </a:p>
        </p:txBody>
      </p:sp>
      <p:sp>
        <p:nvSpPr>
          <p:cNvPr id="40" name="Text 38"/>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The escalation rate is often the earliest and cheapest drift signal you have.</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HANDS-ON · 60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Lab 2 — Formulate testable hypotheses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50</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500" dirty="0">
                <a:solidFill>
                  <a:srgbClr val="1A2430"/>
                </a:solidFill>
                <a:latin typeface="Calibri" pitchFamily="34" charset="0"/>
                <a:ea typeface="Calibri" pitchFamily="34" charset="-122"/>
                <a:cs typeface="Calibri" pitchFamily="34" charset="-120"/>
              </a:rPr>
              <a:t>For your low-performing PoC, write three improvement hypotheses and design the experiment for each.</a:t>
            </a:r>
            <a:endParaRPr lang="en-US" sz="1500" dirty="0"/>
          </a:p>
        </p:txBody>
      </p:sp>
      <p:sp>
        <p:nvSpPr>
          <p:cNvPr id="6" name="Text 4"/>
          <p:cNvSpPr/>
          <p:nvPr/>
        </p:nvSpPr>
        <p:spPr>
          <a:xfrm>
            <a:off x="640080" y="1783080"/>
            <a:ext cx="5486400" cy="365760"/>
          </a:xfrm>
          <a:prstGeom prst="rect">
            <a:avLst/>
          </a:prstGeom>
          <a:noFill/>
          <a:ln/>
        </p:spPr>
        <p:txBody>
          <a:bodyPr wrap="square"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Worked examples</a:t>
            </a:r>
            <a:endParaRPr lang="en-US" sz="1500" dirty="0"/>
          </a:p>
        </p:txBody>
      </p:sp>
      <p:sp>
        <p:nvSpPr>
          <p:cNvPr id="7" name="Text 5"/>
          <p:cNvSpPr/>
          <p:nvPr/>
        </p:nvSpPr>
        <p:spPr>
          <a:xfrm>
            <a:off x="640080" y="2194560"/>
            <a:ext cx="5394960" cy="2286000"/>
          </a:xfrm>
          <a:prstGeom prst="rect">
            <a:avLst/>
          </a:prstGeom>
          <a:noFill/>
          <a:ln/>
        </p:spPr>
        <p:txBody>
          <a:bodyPr wrap="square" rtlCol="0" anchor="ctr"/>
          <a:lstStyle/>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Hybrid retrieval improves context recall by 15 points</a:t>
            </a:r>
            <a:endParaRPr lang="en-US" sz="1250" dirty="0"/>
          </a:p>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Layout-aware chunking reduces hallucination rate by a third</a:t>
            </a:r>
            <a:endParaRPr lang="en-US" sz="1250" dirty="0"/>
          </a:p>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Augmentation improves CV recall on low-light images</a:t>
            </a:r>
            <a:endParaRPr lang="en-US" sz="1250" dirty="0"/>
          </a:p>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Active learning reduces false negatives on rare defect classes</a:t>
            </a:r>
            <a:endParaRPr lang="en-US" sz="1250" dirty="0"/>
          </a:p>
          <a:p>
            <a:pPr marL="342900" indent="-342900">
              <a:lnSpc>
                <a:spcPts val="1800"/>
              </a:lnSpc>
              <a:spcAft>
                <a:spcPts val="800"/>
              </a:spcAft>
              <a:buSzPct val="100000"/>
              <a:buChar char="•"/>
            </a:pPr>
            <a:r>
              <a:rPr lang="en-US" sz="1250" dirty="0">
                <a:solidFill>
                  <a:srgbClr val="1A2430"/>
                </a:solidFill>
                <a:latin typeface="Calibri" pitchFamily="34" charset="0"/>
                <a:ea typeface="Calibri" pitchFamily="34" charset="-122"/>
                <a:cs typeface="Calibri" pitchFamily="34" charset="-120"/>
              </a:rPr>
              <a:t>Threshold retuning reduces total error cost by 40%</a:t>
            </a:r>
            <a:endParaRPr lang="en-US" sz="1250" dirty="0"/>
          </a:p>
        </p:txBody>
      </p:sp>
      <p:sp>
        <p:nvSpPr>
          <p:cNvPr id="8" name="Shape 6"/>
          <p:cNvSpPr/>
          <p:nvPr/>
        </p:nvSpPr>
        <p:spPr>
          <a:xfrm>
            <a:off x="6263640" y="1783080"/>
            <a:ext cx="5257800" cy="3657600"/>
          </a:xfrm>
          <a:prstGeom prst="roundRect">
            <a:avLst>
              <a:gd name="adj" fmla="val 1500"/>
            </a:avLst>
          </a:prstGeom>
          <a:solidFill>
            <a:srgbClr val="EEF3F7"/>
          </a:solidFill>
          <a:ln w="12700">
            <a:solidFill>
              <a:srgbClr val="D8E4EC"/>
            </a:solidFill>
            <a:prstDash val="solid"/>
          </a:ln>
        </p:spPr>
      </p:sp>
      <p:sp>
        <p:nvSpPr>
          <p:cNvPr id="9" name="Text 7"/>
          <p:cNvSpPr/>
          <p:nvPr/>
        </p:nvSpPr>
        <p:spPr>
          <a:xfrm>
            <a:off x="6537960" y="1947672"/>
            <a:ext cx="475488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For each hypothesis, define</a:t>
            </a:r>
            <a:endParaRPr lang="en-US" sz="1400" dirty="0"/>
          </a:p>
        </p:txBody>
      </p:sp>
      <p:sp>
        <p:nvSpPr>
          <p:cNvPr id="10" name="Text 8"/>
          <p:cNvSpPr/>
          <p:nvPr/>
        </p:nvSpPr>
        <p:spPr>
          <a:xfrm>
            <a:off x="6537960" y="2331720"/>
            <a:ext cx="4754880" cy="301752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1A2430"/>
                </a:solidFill>
                <a:latin typeface="Calibri" pitchFamily="34" charset="0"/>
                <a:ea typeface="Calibri" pitchFamily="34" charset="-122"/>
                <a:cs typeface="Calibri" pitchFamily="34" charset="-120"/>
              </a:rPr>
              <a:t>The measurable claim, with a number</a:t>
            </a:r>
            <a:endParaRPr lang="en-US" sz="1200" dirty="0"/>
          </a:p>
          <a:p>
            <a:pPr marL="342900" indent="-342900">
              <a:lnSpc>
                <a:spcPts val="1600"/>
              </a:lnSpc>
              <a:spcAft>
                <a:spcPts val="700"/>
              </a:spcAft>
              <a:buSzPct val="100000"/>
              <a:buChar char="•"/>
            </a:pPr>
            <a:r>
              <a:rPr lang="en-US" sz="1200" dirty="0">
                <a:solidFill>
                  <a:srgbClr val="1A2430"/>
                </a:solidFill>
                <a:latin typeface="Calibri" pitchFamily="34" charset="0"/>
                <a:ea typeface="Calibri" pitchFamily="34" charset="-122"/>
                <a:cs typeface="Calibri" pitchFamily="34" charset="-120"/>
              </a:rPr>
              <a:t>The null hypothesis</a:t>
            </a:r>
            <a:endParaRPr lang="en-US" sz="1200" dirty="0"/>
          </a:p>
          <a:p>
            <a:pPr marL="342900" indent="-342900">
              <a:lnSpc>
                <a:spcPts val="1600"/>
              </a:lnSpc>
              <a:spcAft>
                <a:spcPts val="700"/>
              </a:spcAft>
              <a:buSzPct val="100000"/>
              <a:buChar char="•"/>
            </a:pPr>
            <a:r>
              <a:rPr lang="en-US" sz="1200" dirty="0">
                <a:solidFill>
                  <a:srgbClr val="1A2430"/>
                </a:solidFill>
                <a:latin typeface="Calibri" pitchFamily="34" charset="0"/>
                <a:ea typeface="Calibri" pitchFamily="34" charset="-122"/>
                <a:cs typeface="Calibri" pitchFamily="34" charset="-120"/>
              </a:rPr>
              <a:t>The statistical test, and why that one</a:t>
            </a:r>
            <a:endParaRPr lang="en-US" sz="1200" dirty="0"/>
          </a:p>
          <a:p>
            <a:pPr marL="342900" indent="-342900">
              <a:lnSpc>
                <a:spcPts val="1600"/>
              </a:lnSpc>
              <a:spcAft>
                <a:spcPts val="700"/>
              </a:spcAft>
              <a:buSzPct val="100000"/>
              <a:buChar char="•"/>
            </a:pPr>
            <a:r>
              <a:rPr lang="en-US" sz="1200" dirty="0">
                <a:solidFill>
                  <a:srgbClr val="1A2430"/>
                </a:solidFill>
                <a:latin typeface="Calibri" pitchFamily="34" charset="0"/>
                <a:ea typeface="Calibri" pitchFamily="34" charset="-122"/>
                <a:cs typeface="Calibri" pitchFamily="34" charset="-120"/>
              </a:rPr>
              <a:t>Assumptions it makes, and whether they hold</a:t>
            </a:r>
            <a:endParaRPr lang="en-US" sz="1200" dirty="0"/>
          </a:p>
          <a:p>
            <a:pPr marL="342900" indent="-342900">
              <a:lnSpc>
                <a:spcPts val="1600"/>
              </a:lnSpc>
              <a:spcAft>
                <a:spcPts val="700"/>
              </a:spcAft>
              <a:buSzPct val="100000"/>
              <a:buChar char="•"/>
            </a:pPr>
            <a:r>
              <a:rPr lang="en-US" sz="1200" dirty="0">
                <a:solidFill>
                  <a:srgbClr val="1A2430"/>
                </a:solidFill>
                <a:latin typeface="Calibri" pitchFamily="34" charset="0"/>
                <a:ea typeface="Calibri" pitchFamily="34" charset="-122"/>
                <a:cs typeface="Calibri" pitchFamily="34" charset="-120"/>
              </a:rPr>
              <a:t>The pass / fail criterion, set in advance</a:t>
            </a:r>
            <a:endParaRPr lang="en-US" sz="1200" dirty="0"/>
          </a:p>
          <a:p>
            <a:pPr marL="342900" indent="-342900">
              <a:lnSpc>
                <a:spcPts val="1600"/>
              </a:lnSpc>
              <a:spcAft>
                <a:spcPts val="700"/>
              </a:spcAft>
              <a:buSzPct val="100000"/>
              <a:buChar char="•"/>
            </a:pPr>
            <a:r>
              <a:rPr lang="en-US" sz="1200" dirty="0">
                <a:solidFill>
                  <a:srgbClr val="1A2430"/>
                </a:solidFill>
                <a:latin typeface="Calibri" pitchFamily="34" charset="0"/>
                <a:ea typeface="Calibri" pitchFamily="34" charset="-122"/>
                <a:cs typeface="Calibri" pitchFamily="34" charset="-120"/>
              </a:rPr>
              <a:t>The evaluation dataset and its size</a:t>
            </a:r>
            <a:endParaRPr lang="en-US" sz="1200" dirty="0"/>
          </a:p>
          <a:p>
            <a:pPr marL="342900" indent="-342900">
              <a:lnSpc>
                <a:spcPts val="1600"/>
              </a:lnSpc>
              <a:spcAft>
                <a:spcPts val="700"/>
              </a:spcAft>
              <a:buSzPct val="100000"/>
              <a:buChar char="•"/>
            </a:pPr>
            <a:r>
              <a:rPr lang="en-US" sz="1200" dirty="0">
                <a:solidFill>
                  <a:srgbClr val="1A2430"/>
                </a:solidFill>
                <a:latin typeface="Calibri" pitchFamily="34" charset="0"/>
                <a:ea typeface="Calibri" pitchFamily="34" charset="-122"/>
                <a:cs typeface="Calibri" pitchFamily="34" charset="-120"/>
              </a:rPr>
              <a:t>A power calculation for that sample size</a:t>
            </a:r>
            <a:endParaRPr lang="en-US" sz="1200" dirty="0"/>
          </a:p>
          <a:p>
            <a:pPr marL="342900" indent="-342900">
              <a:lnSpc>
                <a:spcPts val="1600"/>
              </a:lnSpc>
              <a:spcAft>
                <a:spcPts val="700"/>
              </a:spcAft>
              <a:buSzPct val="100000"/>
              <a:buChar char="•"/>
            </a:pPr>
            <a:r>
              <a:rPr lang="en-US" sz="1200" dirty="0">
                <a:solidFill>
                  <a:srgbClr val="1A2430"/>
                </a:solidFill>
                <a:latin typeface="Calibri" pitchFamily="34" charset="0"/>
                <a:ea typeface="Calibri" pitchFamily="34" charset="-122"/>
                <a:cs typeface="Calibri" pitchFamily="34" charset="-120"/>
              </a:rPr>
              <a:t>What you will do if it fails</a:t>
            </a:r>
            <a:endParaRPr lang="en-US" sz="1200" dirty="0"/>
          </a:p>
        </p:txBody>
      </p:sp>
      <p:sp>
        <p:nvSpPr>
          <p:cNvPr id="11" name="Text 9"/>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Push hardest on the pass/fail criterion. If a team cannot say what result would make them abandon the change, it is not a hypothesis.</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indent="0" marL="0">
              <a:buNone/>
            </a:pPr>
            <a:r>
              <a:rPr lang="en-US" sz="1200" b="1" spc="300" kern="0" dirty="0">
                <a:solidFill>
                  <a:srgbClr val="9FD0E3"/>
                </a:solidFill>
                <a:latin typeface="Calibri" pitchFamily="34" charset="0"/>
                <a:ea typeface="Calibri" pitchFamily="34" charset="-122"/>
                <a:cs typeface="Calibri" pitchFamily="34" charset="-120"/>
              </a:rPr>
              <a:t>MODULE 3</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Error Taxonomy and Root-Cause Analysis</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indent="0" marL="0">
              <a:lnSpc>
                <a:spcPts val="2100"/>
              </a:lnSpc>
              <a:buNone/>
            </a:pPr>
            <a:r>
              <a:rPr lang="en-US" sz="1500" dirty="0">
                <a:solidFill>
                  <a:srgbClr val="D5E8F0"/>
                </a:solidFill>
                <a:latin typeface="Calibri" pitchFamily="34" charset="0"/>
                <a:ea typeface="Calibri" pitchFamily="34" charset="-122"/>
                <a:cs typeface="Calibri" pitchFamily="34" charset="-120"/>
              </a:rPr>
              <a:t>Find out what is actually broken before improving anything — and resist the instinct to reach for more data.</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Why more data is usually not the answer</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52</a:t>
            </a:r>
            <a:endParaRPr lang="en-US" sz="1000" dirty="0"/>
          </a:p>
        </p:txBody>
      </p:sp>
      <p:sp>
        <p:nvSpPr>
          <p:cNvPr id="5" name="Text 3"/>
          <p:cNvSpPr/>
          <p:nvPr/>
        </p:nvSpPr>
        <p:spPr>
          <a:xfrm>
            <a:off x="640080" y="1280160"/>
            <a:ext cx="10881360" cy="320040"/>
          </a:xfrm>
          <a:prstGeom prst="rect">
            <a:avLst/>
          </a:prstGeom>
          <a:noFill/>
          <a:ln/>
        </p:spPr>
        <p:txBody>
          <a:bodyPr wrap="square" rtlCol="0" anchor="ctr"/>
          <a:lstStyle/>
          <a:p>
            <a:pPr indent="0" marL="0">
              <a:buNone/>
            </a:pPr>
            <a:r>
              <a:rPr lang="en-US" sz="1500" b="1" i="1" dirty="0">
                <a:solidFill>
                  <a:srgbClr val="1C7293"/>
                </a:solidFill>
                <a:latin typeface="Calibri" pitchFamily="34" charset="0"/>
                <a:ea typeface="Calibri" pitchFamily="34" charset="-122"/>
                <a:cs typeface="Calibri" pitchFamily="34" charset="-120"/>
              </a:rPr>
              <a:t>"Get more data" is the reflex. It is expensive, slow, and frequently solves nothing.</a:t>
            </a:r>
            <a:endParaRPr lang="en-US" sz="1500" dirty="0"/>
          </a:p>
        </p:txBody>
      </p:sp>
      <p:sp>
        <p:nvSpPr>
          <p:cNvPr id="6" name="Shape 4"/>
          <p:cNvSpPr/>
          <p:nvPr/>
        </p:nvSpPr>
        <p:spPr>
          <a:xfrm>
            <a:off x="640080" y="1737360"/>
            <a:ext cx="3474720" cy="384048"/>
          </a:xfrm>
          <a:prstGeom prst="rect">
            <a:avLst/>
          </a:prstGeom>
          <a:solidFill>
            <a:srgbClr val="21295C"/>
          </a:solidFill>
          <a:ln/>
        </p:spPr>
      </p:sp>
      <p:sp>
        <p:nvSpPr>
          <p:cNvPr id="7" name="Text 5"/>
          <p:cNvSpPr/>
          <p:nvPr/>
        </p:nvSpPr>
        <p:spPr>
          <a:xfrm>
            <a:off x="749808" y="1737360"/>
            <a:ext cx="32552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If the real problem is…</a:t>
            </a:r>
            <a:endParaRPr lang="en-US" sz="1100" dirty="0"/>
          </a:p>
        </p:txBody>
      </p:sp>
      <p:sp>
        <p:nvSpPr>
          <p:cNvPr id="8" name="Shape 6"/>
          <p:cNvSpPr/>
          <p:nvPr/>
        </p:nvSpPr>
        <p:spPr>
          <a:xfrm>
            <a:off x="4114800" y="1737360"/>
            <a:ext cx="7406640" cy="384048"/>
          </a:xfrm>
          <a:prstGeom prst="rect">
            <a:avLst/>
          </a:prstGeom>
          <a:solidFill>
            <a:srgbClr val="21295C"/>
          </a:solidFill>
          <a:ln/>
        </p:spPr>
      </p:sp>
      <p:sp>
        <p:nvSpPr>
          <p:cNvPr id="9" name="Text 7"/>
          <p:cNvSpPr/>
          <p:nvPr/>
        </p:nvSpPr>
        <p:spPr>
          <a:xfrm>
            <a:off x="4224528" y="1737360"/>
            <a:ext cx="71871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Then more data…</a:t>
            </a:r>
            <a:endParaRPr lang="en-US" sz="1100" dirty="0"/>
          </a:p>
        </p:txBody>
      </p:sp>
      <p:sp>
        <p:nvSpPr>
          <p:cNvPr id="10" name="Shape 8"/>
          <p:cNvSpPr/>
          <p:nvPr/>
        </p:nvSpPr>
        <p:spPr>
          <a:xfrm>
            <a:off x="640080" y="2121408"/>
            <a:ext cx="3474720" cy="603504"/>
          </a:xfrm>
          <a:prstGeom prst="rect">
            <a:avLst/>
          </a:prstGeom>
          <a:solidFill>
            <a:srgbClr val="FFFFFF"/>
          </a:solidFill>
          <a:ln w="9525">
            <a:solidFill>
              <a:srgbClr val="E3EBF0"/>
            </a:solidFill>
            <a:prstDash val="solid"/>
          </a:ln>
        </p:spPr>
      </p:sp>
      <p:sp>
        <p:nvSpPr>
          <p:cNvPr id="11" name="Text 9"/>
          <p:cNvSpPr/>
          <p:nvPr/>
        </p:nvSpPr>
        <p:spPr>
          <a:xfrm>
            <a:off x="749808" y="2121408"/>
            <a:ext cx="32552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Ambiguous labels</a:t>
            </a:r>
            <a:endParaRPr lang="en-US" sz="1050" dirty="0"/>
          </a:p>
        </p:txBody>
      </p:sp>
      <p:sp>
        <p:nvSpPr>
          <p:cNvPr id="12" name="Shape 10"/>
          <p:cNvSpPr/>
          <p:nvPr/>
        </p:nvSpPr>
        <p:spPr>
          <a:xfrm>
            <a:off x="4114800" y="2121408"/>
            <a:ext cx="7406640" cy="603504"/>
          </a:xfrm>
          <a:prstGeom prst="rect">
            <a:avLst/>
          </a:prstGeom>
          <a:solidFill>
            <a:srgbClr val="FFFFFF"/>
          </a:solidFill>
          <a:ln w="9525">
            <a:solidFill>
              <a:srgbClr val="E3EBF0"/>
            </a:solidFill>
            <a:prstDash val="solid"/>
          </a:ln>
        </p:spPr>
      </p:sp>
      <p:sp>
        <p:nvSpPr>
          <p:cNvPr id="13" name="Text 11"/>
          <p:cNvSpPr/>
          <p:nvPr/>
        </p:nvSpPr>
        <p:spPr>
          <a:xfrm>
            <a:off x="4224528" y="2121408"/>
            <a:ext cx="71871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adds more ambiguity. The boundary the model is trying to learn does not exist yet.</a:t>
            </a:r>
            <a:endParaRPr lang="en-US" sz="1050" dirty="0"/>
          </a:p>
        </p:txBody>
      </p:sp>
      <p:sp>
        <p:nvSpPr>
          <p:cNvPr id="14" name="Shape 12"/>
          <p:cNvSpPr/>
          <p:nvPr/>
        </p:nvSpPr>
        <p:spPr>
          <a:xfrm>
            <a:off x="640080" y="2724912"/>
            <a:ext cx="3474720" cy="603504"/>
          </a:xfrm>
          <a:prstGeom prst="rect">
            <a:avLst/>
          </a:prstGeom>
          <a:solidFill>
            <a:srgbClr val="F5F9FB"/>
          </a:solidFill>
          <a:ln w="9525">
            <a:solidFill>
              <a:srgbClr val="E3EBF0"/>
            </a:solidFill>
            <a:prstDash val="solid"/>
          </a:ln>
        </p:spPr>
      </p:sp>
      <p:sp>
        <p:nvSpPr>
          <p:cNvPr id="15" name="Text 13"/>
          <p:cNvSpPr/>
          <p:nvPr/>
        </p:nvSpPr>
        <p:spPr>
          <a:xfrm>
            <a:off x="749808" y="2724912"/>
            <a:ext cx="32552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Domain shift</a:t>
            </a:r>
            <a:endParaRPr lang="en-US" sz="1050" dirty="0"/>
          </a:p>
        </p:txBody>
      </p:sp>
      <p:sp>
        <p:nvSpPr>
          <p:cNvPr id="16" name="Shape 14"/>
          <p:cNvSpPr/>
          <p:nvPr/>
        </p:nvSpPr>
        <p:spPr>
          <a:xfrm>
            <a:off x="4114800" y="2724912"/>
            <a:ext cx="7406640" cy="603504"/>
          </a:xfrm>
          <a:prstGeom prst="rect">
            <a:avLst/>
          </a:prstGeom>
          <a:solidFill>
            <a:srgbClr val="F5F9FB"/>
          </a:solidFill>
          <a:ln w="9525">
            <a:solidFill>
              <a:srgbClr val="E3EBF0"/>
            </a:solidFill>
            <a:prstDash val="solid"/>
          </a:ln>
        </p:spPr>
      </p:sp>
      <p:sp>
        <p:nvSpPr>
          <p:cNvPr id="17" name="Text 15"/>
          <p:cNvSpPr/>
          <p:nvPr/>
        </p:nvSpPr>
        <p:spPr>
          <a:xfrm>
            <a:off x="4224528" y="2724912"/>
            <a:ext cx="71871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from the old distribution does not help with the new one. You need the right data, not more.</a:t>
            </a:r>
            <a:endParaRPr lang="en-US" sz="1050" dirty="0"/>
          </a:p>
        </p:txBody>
      </p:sp>
      <p:sp>
        <p:nvSpPr>
          <p:cNvPr id="18" name="Shape 16"/>
          <p:cNvSpPr/>
          <p:nvPr/>
        </p:nvSpPr>
        <p:spPr>
          <a:xfrm>
            <a:off x="640080" y="3328416"/>
            <a:ext cx="3474720" cy="603504"/>
          </a:xfrm>
          <a:prstGeom prst="rect">
            <a:avLst/>
          </a:prstGeom>
          <a:solidFill>
            <a:srgbClr val="FFFFFF"/>
          </a:solidFill>
          <a:ln w="9525">
            <a:solidFill>
              <a:srgbClr val="E3EBF0"/>
            </a:solidFill>
            <a:prstDash val="solid"/>
          </a:ln>
        </p:spPr>
      </p:sp>
      <p:sp>
        <p:nvSpPr>
          <p:cNvPr id="19" name="Text 17"/>
          <p:cNvSpPr/>
          <p:nvPr/>
        </p:nvSpPr>
        <p:spPr>
          <a:xfrm>
            <a:off x="749808" y="3328416"/>
            <a:ext cx="32552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Poor feature representation</a:t>
            </a:r>
            <a:endParaRPr lang="en-US" sz="1050" dirty="0"/>
          </a:p>
        </p:txBody>
      </p:sp>
      <p:sp>
        <p:nvSpPr>
          <p:cNvPr id="20" name="Shape 18"/>
          <p:cNvSpPr/>
          <p:nvPr/>
        </p:nvSpPr>
        <p:spPr>
          <a:xfrm>
            <a:off x="4114800" y="3328416"/>
            <a:ext cx="7406640" cy="603504"/>
          </a:xfrm>
          <a:prstGeom prst="rect">
            <a:avLst/>
          </a:prstGeom>
          <a:solidFill>
            <a:srgbClr val="FFFFFF"/>
          </a:solidFill>
          <a:ln w="9525">
            <a:solidFill>
              <a:srgbClr val="E3EBF0"/>
            </a:solidFill>
            <a:prstDash val="solid"/>
          </a:ln>
        </p:spPr>
      </p:sp>
      <p:sp>
        <p:nvSpPr>
          <p:cNvPr id="21" name="Text 19"/>
          <p:cNvSpPr/>
          <p:nvPr/>
        </p:nvSpPr>
        <p:spPr>
          <a:xfrm>
            <a:off x="4224528" y="3328416"/>
            <a:ext cx="71871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cannot compensate. No volume of examples adds a signal the inputs do not contain.</a:t>
            </a:r>
            <a:endParaRPr lang="en-US" sz="1050" dirty="0"/>
          </a:p>
        </p:txBody>
      </p:sp>
      <p:sp>
        <p:nvSpPr>
          <p:cNvPr id="22" name="Shape 20"/>
          <p:cNvSpPr/>
          <p:nvPr/>
        </p:nvSpPr>
        <p:spPr>
          <a:xfrm>
            <a:off x="640080" y="3931920"/>
            <a:ext cx="3474720" cy="603504"/>
          </a:xfrm>
          <a:prstGeom prst="rect">
            <a:avLst/>
          </a:prstGeom>
          <a:solidFill>
            <a:srgbClr val="F5F9FB"/>
          </a:solidFill>
          <a:ln w="9525">
            <a:solidFill>
              <a:srgbClr val="E3EBF0"/>
            </a:solidFill>
            <a:prstDash val="solid"/>
          </a:ln>
        </p:spPr>
      </p:sp>
      <p:sp>
        <p:nvSpPr>
          <p:cNvPr id="23" name="Text 21"/>
          <p:cNvSpPr/>
          <p:nvPr/>
        </p:nvSpPr>
        <p:spPr>
          <a:xfrm>
            <a:off x="749808" y="3931920"/>
            <a:ext cx="32552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Evaluation leakage</a:t>
            </a:r>
            <a:endParaRPr lang="en-US" sz="1050" dirty="0"/>
          </a:p>
        </p:txBody>
      </p:sp>
      <p:sp>
        <p:nvSpPr>
          <p:cNvPr id="24" name="Shape 22"/>
          <p:cNvSpPr/>
          <p:nvPr/>
        </p:nvSpPr>
        <p:spPr>
          <a:xfrm>
            <a:off x="4114800" y="3931920"/>
            <a:ext cx="7406640" cy="603504"/>
          </a:xfrm>
          <a:prstGeom prst="rect">
            <a:avLst/>
          </a:prstGeom>
          <a:solidFill>
            <a:srgbClr val="F5F9FB"/>
          </a:solidFill>
          <a:ln w="9525">
            <a:solidFill>
              <a:srgbClr val="E3EBF0"/>
            </a:solidFill>
            <a:prstDash val="solid"/>
          </a:ln>
        </p:spPr>
      </p:sp>
      <p:sp>
        <p:nvSpPr>
          <p:cNvPr id="25" name="Text 23"/>
          <p:cNvSpPr/>
          <p:nvPr/>
        </p:nvSpPr>
        <p:spPr>
          <a:xfrm>
            <a:off x="4224528" y="3931920"/>
            <a:ext cx="71871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tells you nothing, because the measurement is already dishonest.</a:t>
            </a:r>
            <a:endParaRPr lang="en-US" sz="1050" dirty="0"/>
          </a:p>
        </p:txBody>
      </p:sp>
      <p:sp>
        <p:nvSpPr>
          <p:cNvPr id="26" name="Shape 24"/>
          <p:cNvSpPr/>
          <p:nvPr/>
        </p:nvSpPr>
        <p:spPr>
          <a:xfrm>
            <a:off x="640080" y="4535424"/>
            <a:ext cx="3474720" cy="603504"/>
          </a:xfrm>
          <a:prstGeom prst="rect">
            <a:avLst/>
          </a:prstGeom>
          <a:solidFill>
            <a:srgbClr val="FFFFFF"/>
          </a:solidFill>
          <a:ln w="9525">
            <a:solidFill>
              <a:srgbClr val="E3EBF0"/>
            </a:solidFill>
            <a:prstDash val="solid"/>
          </a:ln>
        </p:spPr>
      </p:sp>
      <p:sp>
        <p:nvSpPr>
          <p:cNvPr id="27" name="Text 25"/>
          <p:cNvSpPr/>
          <p:nvPr/>
        </p:nvSpPr>
        <p:spPr>
          <a:xfrm>
            <a:off x="749808" y="4535424"/>
            <a:ext cx="32552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Aleatoric uncertainty</a:t>
            </a:r>
            <a:endParaRPr lang="en-US" sz="1050" dirty="0"/>
          </a:p>
        </p:txBody>
      </p:sp>
      <p:sp>
        <p:nvSpPr>
          <p:cNvPr id="28" name="Shape 26"/>
          <p:cNvSpPr/>
          <p:nvPr/>
        </p:nvSpPr>
        <p:spPr>
          <a:xfrm>
            <a:off x="4114800" y="4535424"/>
            <a:ext cx="7406640" cy="603504"/>
          </a:xfrm>
          <a:prstGeom prst="rect">
            <a:avLst/>
          </a:prstGeom>
          <a:solidFill>
            <a:srgbClr val="FFFFFF"/>
          </a:solidFill>
          <a:ln w="9525">
            <a:solidFill>
              <a:srgbClr val="E3EBF0"/>
            </a:solidFill>
            <a:prstDash val="solid"/>
          </a:ln>
        </p:spPr>
      </p:sp>
      <p:sp>
        <p:nvSpPr>
          <p:cNvPr id="29" name="Text 27"/>
          <p:cNvSpPr/>
          <p:nvPr/>
        </p:nvSpPr>
        <p:spPr>
          <a:xfrm>
            <a:off x="4224528" y="4535424"/>
            <a:ext cx="71871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cannot reduce it by definition. You are at the ceiling of the task as defined.</a:t>
            </a:r>
            <a:endParaRPr lang="en-US" sz="1050" dirty="0"/>
          </a:p>
        </p:txBody>
      </p:sp>
      <p:sp>
        <p:nvSpPr>
          <p:cNvPr id="30" name="Shape 28"/>
          <p:cNvSpPr/>
          <p:nvPr/>
        </p:nvSpPr>
        <p:spPr>
          <a:xfrm>
            <a:off x="640080" y="5138928"/>
            <a:ext cx="3474720" cy="603504"/>
          </a:xfrm>
          <a:prstGeom prst="rect">
            <a:avLst/>
          </a:prstGeom>
          <a:solidFill>
            <a:srgbClr val="F5F9FB"/>
          </a:solidFill>
          <a:ln w="9525">
            <a:solidFill>
              <a:srgbClr val="E3EBF0"/>
            </a:solidFill>
            <a:prstDash val="solid"/>
          </a:ln>
        </p:spPr>
      </p:sp>
      <p:sp>
        <p:nvSpPr>
          <p:cNvPr id="31" name="Text 29"/>
          <p:cNvSpPr/>
          <p:nvPr/>
        </p:nvSpPr>
        <p:spPr>
          <a:xfrm>
            <a:off x="749808" y="5138928"/>
            <a:ext cx="32552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Genuinely under-represented cases</a:t>
            </a:r>
            <a:endParaRPr lang="en-US" sz="1050" dirty="0"/>
          </a:p>
        </p:txBody>
      </p:sp>
      <p:sp>
        <p:nvSpPr>
          <p:cNvPr id="32" name="Shape 30"/>
          <p:cNvSpPr/>
          <p:nvPr/>
        </p:nvSpPr>
        <p:spPr>
          <a:xfrm>
            <a:off x="4114800" y="5138928"/>
            <a:ext cx="7406640" cy="603504"/>
          </a:xfrm>
          <a:prstGeom prst="rect">
            <a:avLst/>
          </a:prstGeom>
          <a:solidFill>
            <a:srgbClr val="F5F9FB"/>
          </a:solidFill>
          <a:ln w="9525">
            <a:solidFill>
              <a:srgbClr val="E3EBF0"/>
            </a:solidFill>
            <a:prstDash val="solid"/>
          </a:ln>
        </p:spPr>
      </p:sp>
      <p:sp>
        <p:nvSpPr>
          <p:cNvPr id="33" name="Text 31"/>
          <p:cNvSpPr/>
          <p:nvPr/>
        </p:nvSpPr>
        <p:spPr>
          <a:xfrm>
            <a:off x="4224528" y="5138928"/>
            <a:ext cx="71871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does help — but targeted collection of specific conditions, not bulk collection.</a:t>
            </a:r>
            <a:endParaRPr lang="en-US" sz="1050" dirty="0"/>
          </a:p>
        </p:txBody>
      </p:sp>
      <p:sp>
        <p:nvSpPr>
          <p:cNvPr id="34" name="Text 32"/>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Spend two days classifying your existing failures before spending two months collecting more of them.</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Data-centric versus model-centric improvement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53</a:t>
            </a:r>
            <a:endParaRPr lang="en-US" sz="1000" dirty="0"/>
          </a:p>
        </p:txBody>
      </p:sp>
      <p:sp>
        <p:nvSpPr>
          <p:cNvPr id="5" name="Shape 3"/>
          <p:cNvSpPr/>
          <p:nvPr/>
        </p:nvSpPr>
        <p:spPr>
          <a:xfrm>
            <a:off x="640080" y="1371600"/>
            <a:ext cx="5303520" cy="2743200"/>
          </a:xfrm>
          <a:prstGeom prst="roundRect">
            <a:avLst>
              <a:gd name="adj" fmla="val 2000"/>
            </a:avLst>
          </a:prstGeom>
          <a:solidFill>
            <a:srgbClr val="EEF3F7"/>
          </a:solidFill>
          <a:ln w="12700">
            <a:solidFill>
              <a:srgbClr val="D8E4EC"/>
            </a:solidFill>
            <a:prstDash val="solid"/>
          </a:ln>
        </p:spPr>
      </p:sp>
      <p:sp>
        <p:nvSpPr>
          <p:cNvPr id="6" name="Text 4"/>
          <p:cNvSpPr/>
          <p:nvPr/>
        </p:nvSpPr>
        <p:spPr>
          <a:xfrm>
            <a:off x="841248" y="1508760"/>
            <a:ext cx="49011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Model-centric</a:t>
            </a:r>
            <a:endParaRPr lang="en-US" sz="1400" dirty="0"/>
          </a:p>
        </p:txBody>
      </p:sp>
      <p:sp>
        <p:nvSpPr>
          <p:cNvPr id="7" name="Text 5"/>
          <p:cNvSpPr/>
          <p:nvPr/>
        </p:nvSpPr>
        <p:spPr>
          <a:xfrm>
            <a:off x="841248" y="1874520"/>
            <a:ext cx="4901184" cy="20848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Hold the data fixed, iterate on the model — architecture, hyperparameters, loss function, ensembling.</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Where the research literature focuses, and where engineers instinctively start.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On a stalled industrial PoC, returns here are usually small, because the constraint is rarely the model.</a:t>
            </a:r>
            <a:endParaRPr lang="en-US" sz="1150" dirty="0"/>
          </a:p>
        </p:txBody>
      </p:sp>
      <p:sp>
        <p:nvSpPr>
          <p:cNvPr id="8" name="Shape 6"/>
          <p:cNvSpPr/>
          <p:nvPr/>
        </p:nvSpPr>
        <p:spPr>
          <a:xfrm>
            <a:off x="6263640" y="1371600"/>
            <a:ext cx="5257800" cy="2743200"/>
          </a:xfrm>
          <a:prstGeom prst="roundRect">
            <a:avLst>
              <a:gd name="adj" fmla="val 2000"/>
            </a:avLst>
          </a:prstGeom>
          <a:solidFill>
            <a:srgbClr val="EDF5EE"/>
          </a:solidFill>
          <a:ln w="12700">
            <a:solidFill>
              <a:srgbClr val="D8E4EC"/>
            </a:solidFill>
            <a:prstDash val="solid"/>
          </a:ln>
        </p:spPr>
      </p:sp>
      <p:sp>
        <p:nvSpPr>
          <p:cNvPr id="9" name="Text 7"/>
          <p:cNvSpPr/>
          <p:nvPr/>
        </p:nvSpPr>
        <p:spPr>
          <a:xfrm>
            <a:off x="6464808" y="1508760"/>
            <a:ext cx="4855464" cy="347472"/>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Data-centric</a:t>
            </a:r>
            <a:endParaRPr lang="en-US" sz="1400" dirty="0"/>
          </a:p>
        </p:txBody>
      </p:sp>
      <p:sp>
        <p:nvSpPr>
          <p:cNvPr id="10" name="Text 8"/>
          <p:cNvSpPr/>
          <p:nvPr/>
        </p:nvSpPr>
        <p:spPr>
          <a:xfrm>
            <a:off x="6464808" y="1874520"/>
            <a:ext cx="4855464" cy="20848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Hold the model fixed, iterate on the data — label consistency, taxonomy definition, coverage of edge cases, targeted collection.</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Less glamorous, harder to publish, and usually where the large gains are on real industrial problems.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Most of Day 4 is an application of this idea.</a:t>
            </a:r>
            <a:endParaRPr lang="en-US" sz="1150" dirty="0"/>
          </a:p>
        </p:txBody>
      </p:sp>
      <p:sp>
        <p:nvSpPr>
          <p:cNvPr id="11" name="Shape 9"/>
          <p:cNvSpPr/>
          <p:nvPr/>
        </p:nvSpPr>
        <p:spPr>
          <a:xfrm>
            <a:off x="640080" y="4343400"/>
            <a:ext cx="10881360" cy="1325880"/>
          </a:xfrm>
          <a:prstGeom prst="roundRect">
            <a:avLst>
              <a:gd name="adj" fmla="val 4138"/>
            </a:avLst>
          </a:prstGeom>
          <a:solidFill>
            <a:srgbClr val="E4EEF4"/>
          </a:solidFill>
          <a:ln w="12700">
            <a:solidFill>
              <a:srgbClr val="C9DCE7"/>
            </a:solidFill>
            <a:prstDash val="solid"/>
          </a:ln>
        </p:spPr>
      </p:sp>
      <p:sp>
        <p:nvSpPr>
          <p:cNvPr id="12" name="Text 10"/>
          <p:cNvSpPr/>
          <p:nvPr/>
        </p:nvSpPr>
        <p:spPr>
          <a:xfrm>
            <a:off x="914400" y="4553712"/>
            <a:ext cx="10332720" cy="822960"/>
          </a:xfrm>
          <a:prstGeom prst="rect">
            <a:avLst/>
          </a:prstGeom>
          <a:noFill/>
          <a:ln/>
        </p:spPr>
        <p:txBody>
          <a:bodyPr wrap="square" lIns="0" tIns="0" rIns="0" bIns="0" rtlCol="0" anchor="ctr"/>
          <a:lstStyle/>
          <a:p>
            <a:pPr indent="0" marL="0">
              <a:lnSpc>
                <a:spcPts val="1700"/>
              </a:lnSpc>
              <a:buNone/>
            </a:pPr>
            <a:r>
              <a:rPr lang="en-US" sz="1300" b="1" dirty="0">
                <a:solidFill>
                  <a:srgbClr val="1A2430"/>
                </a:solidFill>
                <a:latin typeface="Calibri" pitchFamily="34" charset="0"/>
                <a:ea typeface="Calibri" pitchFamily="34" charset="-122"/>
                <a:cs typeface="Calibri" pitchFamily="34" charset="-120"/>
              </a:rPr>
              <a:t>A useful diagnostic: freeze the model entirely, fix only the labelling of your worst-performing class, and re-measure. If performance moves substantially, your constraint is data, not modelling — and you now know where to spend the next quarter.</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usual root causes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54</a:t>
            </a:r>
            <a:endParaRPr lang="en-US" sz="1000" dirty="0"/>
          </a:p>
        </p:txBody>
      </p:sp>
      <p:sp>
        <p:nvSpPr>
          <p:cNvPr id="5" name="Shape 3"/>
          <p:cNvSpPr/>
          <p:nvPr/>
        </p:nvSpPr>
        <p:spPr>
          <a:xfrm>
            <a:off x="640080" y="1371600"/>
            <a:ext cx="3474720" cy="1828800"/>
          </a:xfrm>
          <a:prstGeom prst="roundRect">
            <a:avLst>
              <a:gd name="adj" fmla="val 3000"/>
            </a:avLst>
          </a:prstGeom>
          <a:solidFill>
            <a:srgbClr val="EEF3F7"/>
          </a:solidFill>
          <a:ln w="12700">
            <a:solidFill>
              <a:srgbClr val="D8E4EC"/>
            </a:solidFill>
            <a:prstDash val="solid"/>
          </a:ln>
        </p:spPr>
      </p:sp>
      <p:sp>
        <p:nvSpPr>
          <p:cNvPr id="6" name="Text 4"/>
          <p:cNvSpPr/>
          <p:nvPr/>
        </p:nvSpPr>
        <p:spPr>
          <a:xfrm>
            <a:off x="841248" y="1508760"/>
            <a:ext cx="30723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Ambiguous labels</a:t>
            </a:r>
            <a:endParaRPr lang="en-US" sz="1400" dirty="0"/>
          </a:p>
        </p:txBody>
      </p:sp>
      <p:sp>
        <p:nvSpPr>
          <p:cNvPr id="7" name="Text 5"/>
          <p:cNvSpPr/>
          <p:nvPr/>
        </p:nvSpPr>
        <p:spPr>
          <a:xfrm>
            <a:off x="841248" y="1874520"/>
            <a:ext cx="3072384" cy="11704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Two experts would disagree. The ground truth itself is unstable.</a:t>
            </a:r>
            <a:endParaRPr lang="en-US" sz="1150" dirty="0"/>
          </a:p>
        </p:txBody>
      </p:sp>
      <p:sp>
        <p:nvSpPr>
          <p:cNvPr id="8" name="Shape 6"/>
          <p:cNvSpPr/>
          <p:nvPr/>
        </p:nvSpPr>
        <p:spPr>
          <a:xfrm>
            <a:off x="4343400" y="1371600"/>
            <a:ext cx="3474720" cy="1828800"/>
          </a:xfrm>
          <a:prstGeom prst="roundRect">
            <a:avLst>
              <a:gd name="adj" fmla="val 3000"/>
            </a:avLst>
          </a:prstGeom>
          <a:solidFill>
            <a:srgbClr val="EEF3F7"/>
          </a:solidFill>
          <a:ln w="12700">
            <a:solidFill>
              <a:srgbClr val="D8E4EC"/>
            </a:solidFill>
            <a:prstDash val="solid"/>
          </a:ln>
        </p:spPr>
      </p:sp>
      <p:sp>
        <p:nvSpPr>
          <p:cNvPr id="9" name="Text 7"/>
          <p:cNvSpPr/>
          <p:nvPr/>
        </p:nvSpPr>
        <p:spPr>
          <a:xfrm>
            <a:off x="4544568" y="1508760"/>
            <a:ext cx="307238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Weak ground truth</a:t>
            </a:r>
            <a:endParaRPr lang="en-US" sz="1400" dirty="0"/>
          </a:p>
        </p:txBody>
      </p:sp>
      <p:sp>
        <p:nvSpPr>
          <p:cNvPr id="10" name="Text 8"/>
          <p:cNvSpPr/>
          <p:nvPr/>
        </p:nvSpPr>
        <p:spPr>
          <a:xfrm>
            <a:off x="4544568" y="1874520"/>
            <a:ext cx="3072384" cy="11704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Maintenance logs record when a repair was booked, not when degradation began.</a:t>
            </a:r>
            <a:endParaRPr lang="en-US" sz="1150" dirty="0"/>
          </a:p>
        </p:txBody>
      </p:sp>
      <p:sp>
        <p:nvSpPr>
          <p:cNvPr id="11" name="Shape 9"/>
          <p:cNvSpPr/>
          <p:nvPr/>
        </p:nvSpPr>
        <p:spPr>
          <a:xfrm>
            <a:off x="8046720" y="1371600"/>
            <a:ext cx="3474720" cy="1828800"/>
          </a:xfrm>
          <a:prstGeom prst="roundRect">
            <a:avLst>
              <a:gd name="adj" fmla="val 3000"/>
            </a:avLst>
          </a:prstGeom>
          <a:solidFill>
            <a:srgbClr val="EEF3F7"/>
          </a:solidFill>
          <a:ln w="12700">
            <a:solidFill>
              <a:srgbClr val="D8E4EC"/>
            </a:solidFill>
            <a:prstDash val="solid"/>
          </a:ln>
        </p:spPr>
      </p:sp>
      <p:sp>
        <p:nvSpPr>
          <p:cNvPr id="12" name="Text 10"/>
          <p:cNvSpPr/>
          <p:nvPr/>
        </p:nvSpPr>
        <p:spPr>
          <a:xfrm>
            <a:off x="8247888" y="1508760"/>
            <a:ext cx="3072384"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Poor feature representation</a:t>
            </a:r>
            <a:endParaRPr lang="en-US" sz="1400" dirty="0"/>
          </a:p>
        </p:txBody>
      </p:sp>
      <p:sp>
        <p:nvSpPr>
          <p:cNvPr id="13" name="Text 11"/>
          <p:cNvSpPr/>
          <p:nvPr/>
        </p:nvSpPr>
        <p:spPr>
          <a:xfrm>
            <a:off x="8247888" y="1874520"/>
            <a:ext cx="3072384" cy="11704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signal the model needs is not in the inputs, or is sampled too coarsely to appear.</a:t>
            </a:r>
            <a:endParaRPr lang="en-US" sz="1150" dirty="0"/>
          </a:p>
        </p:txBody>
      </p:sp>
      <p:sp>
        <p:nvSpPr>
          <p:cNvPr id="14" name="Shape 12"/>
          <p:cNvSpPr/>
          <p:nvPr/>
        </p:nvSpPr>
        <p:spPr>
          <a:xfrm>
            <a:off x="640080" y="3474720"/>
            <a:ext cx="3474720" cy="1828800"/>
          </a:xfrm>
          <a:prstGeom prst="roundRect">
            <a:avLst>
              <a:gd name="adj" fmla="val 3000"/>
            </a:avLst>
          </a:prstGeom>
          <a:solidFill>
            <a:srgbClr val="EEF3F7"/>
          </a:solidFill>
          <a:ln w="12700">
            <a:solidFill>
              <a:srgbClr val="D8E4EC"/>
            </a:solidFill>
            <a:prstDash val="solid"/>
          </a:ln>
        </p:spPr>
      </p:sp>
      <p:sp>
        <p:nvSpPr>
          <p:cNvPr id="15" name="Text 13"/>
          <p:cNvSpPr/>
          <p:nvPr/>
        </p:nvSpPr>
        <p:spPr>
          <a:xfrm>
            <a:off x="841248" y="3611880"/>
            <a:ext cx="3072384" cy="347472"/>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Domain shift</a:t>
            </a:r>
            <a:endParaRPr lang="en-US" sz="1400" dirty="0"/>
          </a:p>
        </p:txBody>
      </p:sp>
      <p:sp>
        <p:nvSpPr>
          <p:cNvPr id="16" name="Text 14"/>
          <p:cNvSpPr/>
          <p:nvPr/>
        </p:nvSpPr>
        <p:spPr>
          <a:xfrm>
            <a:off x="841248" y="3977640"/>
            <a:ext cx="3072384" cy="11704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Training conditions differ systematically from production conditions.</a:t>
            </a:r>
            <a:endParaRPr lang="en-US" sz="1150" dirty="0"/>
          </a:p>
        </p:txBody>
      </p:sp>
      <p:sp>
        <p:nvSpPr>
          <p:cNvPr id="17" name="Shape 15"/>
          <p:cNvSpPr/>
          <p:nvPr/>
        </p:nvSpPr>
        <p:spPr>
          <a:xfrm>
            <a:off x="4343400" y="3474720"/>
            <a:ext cx="3474720" cy="1828800"/>
          </a:xfrm>
          <a:prstGeom prst="roundRect">
            <a:avLst>
              <a:gd name="adj" fmla="val 3000"/>
            </a:avLst>
          </a:prstGeom>
          <a:solidFill>
            <a:srgbClr val="EEF3F7"/>
          </a:solidFill>
          <a:ln w="12700">
            <a:solidFill>
              <a:srgbClr val="D8E4EC"/>
            </a:solidFill>
            <a:prstDash val="solid"/>
          </a:ln>
        </p:spPr>
      </p:sp>
      <p:sp>
        <p:nvSpPr>
          <p:cNvPr id="18" name="Text 16"/>
          <p:cNvSpPr/>
          <p:nvPr/>
        </p:nvSpPr>
        <p:spPr>
          <a:xfrm>
            <a:off x="4544568" y="3611880"/>
            <a:ext cx="3072384" cy="347472"/>
          </a:xfrm>
          <a:prstGeom prst="rect">
            <a:avLst/>
          </a:prstGeom>
          <a:noFill/>
          <a:ln/>
        </p:spPr>
        <p:txBody>
          <a:bodyPr wrap="square" lIns="0" tIns="0" rIns="0" bIns="0" rtlCol="0" anchor="ctr"/>
          <a:lstStyle/>
          <a:p>
            <a:pPr indent="0" marL="0">
              <a:buNone/>
            </a:pPr>
            <a:r>
              <a:rPr lang="en-US" sz="1400" b="1" dirty="0">
                <a:solidFill>
                  <a:srgbClr val="6B3A5B"/>
                </a:solidFill>
                <a:latin typeface="Calibri" pitchFamily="34" charset="0"/>
                <a:ea typeface="Calibri" pitchFamily="34" charset="-122"/>
                <a:cs typeface="Calibri" pitchFamily="34" charset="-120"/>
              </a:rPr>
              <a:t>Edge cases and long tail</a:t>
            </a:r>
            <a:endParaRPr lang="en-US" sz="1400" dirty="0"/>
          </a:p>
        </p:txBody>
      </p:sp>
      <p:sp>
        <p:nvSpPr>
          <p:cNvPr id="19" name="Text 17"/>
          <p:cNvSpPr/>
          <p:nvPr/>
        </p:nvSpPr>
        <p:spPr>
          <a:xfrm>
            <a:off x="4544568" y="3977640"/>
            <a:ext cx="3072384" cy="11704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Rare situations that each look negligible and together dominate failures.</a:t>
            </a:r>
            <a:endParaRPr lang="en-US" sz="1150" dirty="0"/>
          </a:p>
        </p:txBody>
      </p:sp>
      <p:sp>
        <p:nvSpPr>
          <p:cNvPr id="20" name="Shape 18"/>
          <p:cNvSpPr/>
          <p:nvPr/>
        </p:nvSpPr>
        <p:spPr>
          <a:xfrm>
            <a:off x="8046720" y="3474720"/>
            <a:ext cx="3474720" cy="1828800"/>
          </a:xfrm>
          <a:prstGeom prst="roundRect">
            <a:avLst>
              <a:gd name="adj" fmla="val 3000"/>
            </a:avLst>
          </a:prstGeom>
          <a:solidFill>
            <a:srgbClr val="EEF3F7"/>
          </a:solidFill>
          <a:ln w="12700">
            <a:solidFill>
              <a:srgbClr val="D8E4EC"/>
            </a:solidFill>
            <a:prstDash val="solid"/>
          </a:ln>
        </p:spPr>
      </p:sp>
      <p:sp>
        <p:nvSpPr>
          <p:cNvPr id="21" name="Text 19"/>
          <p:cNvSpPr/>
          <p:nvPr/>
        </p:nvSpPr>
        <p:spPr>
          <a:xfrm>
            <a:off x="8247888" y="3611880"/>
            <a:ext cx="3072384" cy="347472"/>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Measurement leakage</a:t>
            </a:r>
            <a:endParaRPr lang="en-US" sz="1400" dirty="0"/>
          </a:p>
        </p:txBody>
      </p:sp>
      <p:sp>
        <p:nvSpPr>
          <p:cNvPr id="22" name="Text 20"/>
          <p:cNvSpPr/>
          <p:nvPr/>
        </p:nvSpPr>
        <p:spPr>
          <a:xfrm>
            <a:off x="8247888" y="3977640"/>
            <a:ext cx="3072384" cy="11704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Information from the future, or from the test set, has crept into training.</a:t>
            </a:r>
            <a:endParaRPr lang="en-US" sz="1150" dirty="0"/>
          </a:p>
        </p:txBody>
      </p:sp>
      <p:sp>
        <p:nvSpPr>
          <p:cNvPr id="23" name="Text 2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In a typical stalled PoC, two or three of these account for most failures. The taxonomy exercise finds which.</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A workflow for error analysis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55</a:t>
            </a:r>
            <a:endParaRPr lang="en-US" sz="1000" dirty="0"/>
          </a:p>
        </p:txBody>
      </p:sp>
      <p:sp>
        <p:nvSpPr>
          <p:cNvPr id="5" name="Shape 3"/>
          <p:cNvSpPr/>
          <p:nvPr/>
        </p:nvSpPr>
        <p:spPr>
          <a:xfrm>
            <a:off x="640080" y="1399032"/>
            <a:ext cx="365760" cy="365760"/>
          </a:xfrm>
          <a:prstGeom prst="ellipse">
            <a:avLst/>
          </a:prstGeom>
          <a:solidFill>
            <a:srgbClr val="065A82"/>
          </a:solidFill>
          <a:ln/>
        </p:spPr>
      </p:sp>
      <p:sp>
        <p:nvSpPr>
          <p:cNvPr id="6" name="Text 4"/>
          <p:cNvSpPr/>
          <p:nvPr/>
        </p:nvSpPr>
        <p:spPr>
          <a:xfrm>
            <a:off x="640080" y="13990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25880"/>
            <a:ext cx="292608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Sample failures</a:t>
            </a:r>
            <a:endParaRPr lang="en-US" sz="1300" dirty="0"/>
          </a:p>
        </p:txBody>
      </p:sp>
      <p:sp>
        <p:nvSpPr>
          <p:cNvPr id="8" name="Text 6"/>
          <p:cNvSpPr/>
          <p:nvPr/>
        </p:nvSpPr>
        <p:spPr>
          <a:xfrm>
            <a:off x="4297680" y="1325880"/>
            <a:ext cx="72237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Take 100 to 200 actual failures. Random, not cherry-picked.</a:t>
            </a:r>
            <a:endParaRPr lang="en-US" sz="1150" dirty="0"/>
          </a:p>
        </p:txBody>
      </p:sp>
      <p:sp>
        <p:nvSpPr>
          <p:cNvPr id="9" name="Shape 7"/>
          <p:cNvSpPr/>
          <p:nvPr/>
        </p:nvSpPr>
        <p:spPr>
          <a:xfrm>
            <a:off x="640080" y="2075688"/>
            <a:ext cx="365760" cy="365760"/>
          </a:xfrm>
          <a:prstGeom prst="ellipse">
            <a:avLst/>
          </a:prstGeom>
          <a:solidFill>
            <a:srgbClr val="065A82"/>
          </a:solidFill>
          <a:ln/>
        </p:spPr>
      </p:sp>
      <p:sp>
        <p:nvSpPr>
          <p:cNvPr id="10" name="Text 8"/>
          <p:cNvSpPr/>
          <p:nvPr/>
        </p:nvSpPr>
        <p:spPr>
          <a:xfrm>
            <a:off x="640080" y="20756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002536"/>
            <a:ext cx="292608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Look at them</a:t>
            </a:r>
            <a:endParaRPr lang="en-US" sz="1300" dirty="0"/>
          </a:p>
        </p:txBody>
      </p:sp>
      <p:sp>
        <p:nvSpPr>
          <p:cNvPr id="12" name="Text 10"/>
          <p:cNvSpPr/>
          <p:nvPr/>
        </p:nvSpPr>
        <p:spPr>
          <a:xfrm>
            <a:off x="4297680" y="2002536"/>
            <a:ext cx="72237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Individually. This step cannot be automated and is where the insight comes from.</a:t>
            </a:r>
            <a:endParaRPr lang="en-US" sz="1150" dirty="0"/>
          </a:p>
        </p:txBody>
      </p:sp>
      <p:sp>
        <p:nvSpPr>
          <p:cNvPr id="13" name="Shape 11"/>
          <p:cNvSpPr/>
          <p:nvPr/>
        </p:nvSpPr>
        <p:spPr>
          <a:xfrm>
            <a:off x="640080" y="2752344"/>
            <a:ext cx="365760" cy="365760"/>
          </a:xfrm>
          <a:prstGeom prst="ellipse">
            <a:avLst/>
          </a:prstGeom>
          <a:solidFill>
            <a:srgbClr val="065A82"/>
          </a:solidFill>
          <a:ln/>
        </p:spPr>
      </p:sp>
      <p:sp>
        <p:nvSpPr>
          <p:cNvPr id="14" name="Text 12"/>
          <p:cNvSpPr/>
          <p:nvPr/>
        </p:nvSpPr>
        <p:spPr>
          <a:xfrm>
            <a:off x="640080" y="27523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679192"/>
            <a:ext cx="292608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Propose categories</a:t>
            </a:r>
            <a:endParaRPr lang="en-US" sz="1300" dirty="0"/>
          </a:p>
        </p:txBody>
      </p:sp>
      <p:sp>
        <p:nvSpPr>
          <p:cNvPr id="16" name="Text 14"/>
          <p:cNvSpPr/>
          <p:nvPr/>
        </p:nvSpPr>
        <p:spPr>
          <a:xfrm>
            <a:off x="4297680" y="2679192"/>
            <a:ext cx="72237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Let categories emerge from the data rather than imposing a taxonomy first.</a:t>
            </a:r>
            <a:endParaRPr lang="en-US" sz="1150" dirty="0"/>
          </a:p>
        </p:txBody>
      </p:sp>
      <p:sp>
        <p:nvSpPr>
          <p:cNvPr id="17" name="Shape 15"/>
          <p:cNvSpPr/>
          <p:nvPr/>
        </p:nvSpPr>
        <p:spPr>
          <a:xfrm>
            <a:off x="640080" y="3429000"/>
            <a:ext cx="365760" cy="365760"/>
          </a:xfrm>
          <a:prstGeom prst="ellipse">
            <a:avLst/>
          </a:prstGeom>
          <a:solidFill>
            <a:srgbClr val="065A82"/>
          </a:solidFill>
          <a:ln/>
        </p:spPr>
      </p:sp>
      <p:sp>
        <p:nvSpPr>
          <p:cNvPr id="18" name="Text 16"/>
          <p:cNvSpPr/>
          <p:nvPr/>
        </p:nvSpPr>
        <p:spPr>
          <a:xfrm>
            <a:off x="640080" y="3429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355848"/>
            <a:ext cx="292608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Classify and count</a:t>
            </a:r>
            <a:endParaRPr lang="en-US" sz="1300" dirty="0"/>
          </a:p>
        </p:txBody>
      </p:sp>
      <p:sp>
        <p:nvSpPr>
          <p:cNvPr id="20" name="Text 18"/>
          <p:cNvSpPr/>
          <p:nvPr/>
        </p:nvSpPr>
        <p:spPr>
          <a:xfrm>
            <a:off x="4297680" y="3355848"/>
            <a:ext cx="72237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Assign each failure. Counting turns impressions into priorities.</a:t>
            </a:r>
            <a:endParaRPr lang="en-US" sz="1150" dirty="0"/>
          </a:p>
        </p:txBody>
      </p:sp>
      <p:sp>
        <p:nvSpPr>
          <p:cNvPr id="21" name="Shape 19"/>
          <p:cNvSpPr/>
          <p:nvPr/>
        </p:nvSpPr>
        <p:spPr>
          <a:xfrm>
            <a:off x="640080" y="4105656"/>
            <a:ext cx="365760" cy="365760"/>
          </a:xfrm>
          <a:prstGeom prst="ellipse">
            <a:avLst/>
          </a:prstGeom>
          <a:solidFill>
            <a:srgbClr val="065A82"/>
          </a:solidFill>
          <a:ln/>
        </p:spPr>
      </p:sp>
      <p:sp>
        <p:nvSpPr>
          <p:cNvPr id="22" name="Text 20"/>
          <p:cNvSpPr/>
          <p:nvPr/>
        </p:nvSpPr>
        <p:spPr>
          <a:xfrm>
            <a:off x="640080" y="41056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032504"/>
            <a:ext cx="292608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Weight by cost</a:t>
            </a:r>
            <a:endParaRPr lang="en-US" sz="1300" dirty="0"/>
          </a:p>
        </p:txBody>
      </p:sp>
      <p:sp>
        <p:nvSpPr>
          <p:cNvPr id="24" name="Text 22"/>
          <p:cNvSpPr/>
          <p:nvPr/>
        </p:nvSpPr>
        <p:spPr>
          <a:xfrm>
            <a:off x="4297680" y="4032504"/>
            <a:ext cx="72237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Frequency alone misleads. Multiply by business impact per occurrence.</a:t>
            </a:r>
            <a:endParaRPr lang="en-US" sz="1150" dirty="0"/>
          </a:p>
        </p:txBody>
      </p:sp>
      <p:sp>
        <p:nvSpPr>
          <p:cNvPr id="25" name="Shape 23"/>
          <p:cNvSpPr/>
          <p:nvPr/>
        </p:nvSpPr>
        <p:spPr>
          <a:xfrm>
            <a:off x="640080" y="4782312"/>
            <a:ext cx="365760" cy="365760"/>
          </a:xfrm>
          <a:prstGeom prst="ellipse">
            <a:avLst/>
          </a:prstGeom>
          <a:solidFill>
            <a:srgbClr val="065A82"/>
          </a:solidFill>
          <a:ln/>
        </p:spPr>
      </p:sp>
      <p:sp>
        <p:nvSpPr>
          <p:cNvPr id="26" name="Text 24"/>
          <p:cNvSpPr/>
          <p:nvPr/>
        </p:nvSpPr>
        <p:spPr>
          <a:xfrm>
            <a:off x="640080" y="4782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709160"/>
            <a:ext cx="292608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Estimate headroom</a:t>
            </a:r>
            <a:endParaRPr lang="en-US" sz="1300" dirty="0"/>
          </a:p>
        </p:txBody>
      </p:sp>
      <p:sp>
        <p:nvSpPr>
          <p:cNvPr id="28" name="Text 26"/>
          <p:cNvSpPr/>
          <p:nvPr/>
        </p:nvSpPr>
        <p:spPr>
          <a:xfrm>
            <a:off x="4297680" y="4709160"/>
            <a:ext cx="72237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For each category, how much would fixing it entirely gain? This ranks the work.</a:t>
            </a:r>
            <a:endParaRPr lang="en-US" sz="1150" dirty="0"/>
          </a:p>
        </p:txBody>
      </p:sp>
      <p:sp>
        <p:nvSpPr>
          <p:cNvPr id="29" name="Shape 27"/>
          <p:cNvSpPr/>
          <p:nvPr/>
        </p:nvSpPr>
        <p:spPr>
          <a:xfrm>
            <a:off x="640080" y="5458968"/>
            <a:ext cx="365760" cy="365760"/>
          </a:xfrm>
          <a:prstGeom prst="ellipse">
            <a:avLst/>
          </a:prstGeom>
          <a:solidFill>
            <a:srgbClr val="065A82"/>
          </a:solidFill>
          <a:ln/>
        </p:spPr>
      </p:sp>
      <p:sp>
        <p:nvSpPr>
          <p:cNvPr id="30" name="Text 28"/>
          <p:cNvSpPr/>
          <p:nvPr/>
        </p:nvSpPr>
        <p:spPr>
          <a:xfrm>
            <a:off x="640080" y="5458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1188720" y="5385816"/>
            <a:ext cx="2926080" cy="54864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Act on the top two</a:t>
            </a:r>
            <a:endParaRPr lang="en-US" sz="1300" dirty="0"/>
          </a:p>
        </p:txBody>
      </p:sp>
      <p:sp>
        <p:nvSpPr>
          <p:cNvPr id="32" name="Text 30"/>
          <p:cNvSpPr/>
          <p:nvPr/>
        </p:nvSpPr>
        <p:spPr>
          <a:xfrm>
            <a:off x="4297680" y="5385816"/>
            <a:ext cx="72237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Not the top ten. Depth beats breadth in error analysis.</a:t>
            </a:r>
            <a:endParaRPr lang="en-US" sz="1150" dirty="0"/>
          </a:p>
        </p:txBody>
      </p:sp>
      <p:sp>
        <p:nvSpPr>
          <p:cNvPr id="33" name="Text 3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Step 6 separates useful error analysis from a list of complaints — it converts categories into expected gain.</a:t>
            </a:r>
            <a:endParaRPr lang="en-US" sz="12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Slice-based analysis — where aggregate metrics hide the truth</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56</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450" i="1" dirty="0">
                <a:solidFill>
                  <a:srgbClr val="5A6B7C"/>
                </a:solidFill>
                <a:latin typeface="Calibri" pitchFamily="34" charset="0"/>
                <a:ea typeface="Calibri" pitchFamily="34" charset="-122"/>
                <a:cs typeface="Calibri" pitchFamily="34" charset="-120"/>
              </a:rPr>
              <a:t>A single overall number averages away exactly the information you need. Always break performance down.</a:t>
            </a:r>
            <a:endParaRPr lang="en-US" sz="1450" dirty="0"/>
          </a:p>
        </p:txBody>
      </p:sp>
      <p:sp>
        <p:nvSpPr>
          <p:cNvPr id="6" name="Shape 4"/>
          <p:cNvSpPr/>
          <p:nvPr/>
        </p:nvSpPr>
        <p:spPr>
          <a:xfrm>
            <a:off x="640080" y="1737360"/>
            <a:ext cx="2377440" cy="384048"/>
          </a:xfrm>
          <a:prstGeom prst="rect">
            <a:avLst/>
          </a:prstGeom>
          <a:solidFill>
            <a:srgbClr val="21295C"/>
          </a:solidFill>
          <a:ln/>
        </p:spPr>
      </p:sp>
      <p:sp>
        <p:nvSpPr>
          <p:cNvPr id="7" name="Text 5"/>
          <p:cNvSpPr/>
          <p:nvPr/>
        </p:nvSpPr>
        <p:spPr>
          <a:xfrm>
            <a:off x="749808" y="1737360"/>
            <a:ext cx="21579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Slice by</a:t>
            </a:r>
            <a:endParaRPr lang="en-US" sz="1100" dirty="0"/>
          </a:p>
        </p:txBody>
      </p:sp>
      <p:sp>
        <p:nvSpPr>
          <p:cNvPr id="8" name="Shape 6"/>
          <p:cNvSpPr/>
          <p:nvPr/>
        </p:nvSpPr>
        <p:spPr>
          <a:xfrm>
            <a:off x="3017520" y="1737360"/>
            <a:ext cx="4206240" cy="384048"/>
          </a:xfrm>
          <a:prstGeom prst="rect">
            <a:avLst/>
          </a:prstGeom>
          <a:solidFill>
            <a:srgbClr val="21295C"/>
          </a:solidFill>
          <a:ln/>
        </p:spPr>
      </p:sp>
      <p:sp>
        <p:nvSpPr>
          <p:cNvPr id="9" name="Text 7"/>
          <p:cNvSpPr/>
          <p:nvPr/>
        </p:nvSpPr>
        <p:spPr>
          <a:xfrm>
            <a:off x="3127248" y="1737360"/>
            <a:ext cx="3986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reveals problems</a:t>
            </a:r>
            <a:endParaRPr lang="en-US" sz="1100" dirty="0"/>
          </a:p>
        </p:txBody>
      </p:sp>
      <p:sp>
        <p:nvSpPr>
          <p:cNvPr id="10" name="Shape 8"/>
          <p:cNvSpPr/>
          <p:nvPr/>
        </p:nvSpPr>
        <p:spPr>
          <a:xfrm>
            <a:off x="7223760" y="1737360"/>
            <a:ext cx="4297680" cy="384048"/>
          </a:xfrm>
          <a:prstGeom prst="rect">
            <a:avLst/>
          </a:prstGeom>
          <a:solidFill>
            <a:srgbClr val="21295C"/>
          </a:solidFill>
          <a:ln/>
        </p:spPr>
      </p:sp>
      <p:sp>
        <p:nvSpPr>
          <p:cNvPr id="11" name="Text 9"/>
          <p:cNvSpPr/>
          <p:nvPr/>
        </p:nvSpPr>
        <p:spPr>
          <a:xfrm>
            <a:off x="7333488" y="1737360"/>
            <a:ext cx="40782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Typical finding</a:t>
            </a:r>
            <a:endParaRPr lang="en-US" sz="1100" dirty="0"/>
          </a:p>
        </p:txBody>
      </p:sp>
      <p:sp>
        <p:nvSpPr>
          <p:cNvPr id="12" name="Shape 10"/>
          <p:cNvSpPr/>
          <p:nvPr/>
        </p:nvSpPr>
        <p:spPr>
          <a:xfrm>
            <a:off x="640080" y="2121408"/>
            <a:ext cx="2377440" cy="548640"/>
          </a:xfrm>
          <a:prstGeom prst="rect">
            <a:avLst/>
          </a:prstGeom>
          <a:solidFill>
            <a:srgbClr val="FFFFFF"/>
          </a:solidFill>
          <a:ln w="9525">
            <a:solidFill>
              <a:srgbClr val="E3EBF0"/>
            </a:solidFill>
            <a:prstDash val="solid"/>
          </a:ln>
        </p:spPr>
      </p:sp>
      <p:sp>
        <p:nvSpPr>
          <p:cNvPr id="13" name="Text 11"/>
          <p:cNvSpPr/>
          <p:nvPr/>
        </p:nvSpPr>
        <p:spPr>
          <a:xfrm>
            <a:off x="749808" y="212140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Class or defect type</a:t>
            </a:r>
            <a:endParaRPr lang="en-US" sz="1050" dirty="0"/>
          </a:p>
        </p:txBody>
      </p:sp>
      <p:sp>
        <p:nvSpPr>
          <p:cNvPr id="14" name="Shape 12"/>
          <p:cNvSpPr/>
          <p:nvPr/>
        </p:nvSpPr>
        <p:spPr>
          <a:xfrm>
            <a:off x="3017520" y="2121408"/>
            <a:ext cx="4206240" cy="548640"/>
          </a:xfrm>
          <a:prstGeom prst="rect">
            <a:avLst/>
          </a:prstGeom>
          <a:solidFill>
            <a:srgbClr val="FFFFFF"/>
          </a:solidFill>
          <a:ln w="9525">
            <a:solidFill>
              <a:srgbClr val="E3EBF0"/>
            </a:solidFill>
            <a:prstDash val="solid"/>
          </a:ln>
        </p:spPr>
      </p:sp>
      <p:sp>
        <p:nvSpPr>
          <p:cNvPr id="15" name="Text 13"/>
          <p:cNvSpPr/>
          <p:nvPr/>
        </p:nvSpPr>
        <p:spPr>
          <a:xfrm>
            <a:off x="3127248" y="212140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Rare classes are invisible in the aggregate</a:t>
            </a:r>
            <a:endParaRPr lang="en-US" sz="1050" dirty="0"/>
          </a:p>
        </p:txBody>
      </p:sp>
      <p:sp>
        <p:nvSpPr>
          <p:cNvPr id="16" name="Shape 14"/>
          <p:cNvSpPr/>
          <p:nvPr/>
        </p:nvSpPr>
        <p:spPr>
          <a:xfrm>
            <a:off x="7223760" y="2121408"/>
            <a:ext cx="4297680" cy="548640"/>
          </a:xfrm>
          <a:prstGeom prst="rect">
            <a:avLst/>
          </a:prstGeom>
          <a:solidFill>
            <a:srgbClr val="FFFFFF"/>
          </a:solidFill>
          <a:ln w="9525">
            <a:solidFill>
              <a:srgbClr val="E3EBF0"/>
            </a:solidFill>
            <a:prstDash val="solid"/>
          </a:ln>
        </p:spPr>
      </p:sp>
      <p:sp>
        <p:nvSpPr>
          <p:cNvPr id="17" name="Text 15"/>
          <p:cNvSpPr/>
          <p:nvPr/>
        </p:nvSpPr>
        <p:spPr>
          <a:xfrm>
            <a:off x="7333488" y="2121408"/>
            <a:ext cx="4078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Two classes carry 80% of the errors</a:t>
            </a:r>
            <a:endParaRPr lang="en-US" sz="1050" dirty="0"/>
          </a:p>
        </p:txBody>
      </p:sp>
      <p:sp>
        <p:nvSpPr>
          <p:cNvPr id="18" name="Shape 16"/>
          <p:cNvSpPr/>
          <p:nvPr/>
        </p:nvSpPr>
        <p:spPr>
          <a:xfrm>
            <a:off x="640080" y="2670048"/>
            <a:ext cx="2377440" cy="548640"/>
          </a:xfrm>
          <a:prstGeom prst="rect">
            <a:avLst/>
          </a:prstGeom>
          <a:solidFill>
            <a:srgbClr val="F5F9FB"/>
          </a:solidFill>
          <a:ln w="9525">
            <a:solidFill>
              <a:srgbClr val="E3EBF0"/>
            </a:solidFill>
            <a:prstDash val="solid"/>
          </a:ln>
        </p:spPr>
      </p:sp>
      <p:sp>
        <p:nvSpPr>
          <p:cNvPr id="19" name="Text 17"/>
          <p:cNvSpPr/>
          <p:nvPr/>
        </p:nvSpPr>
        <p:spPr>
          <a:xfrm>
            <a:off x="749808" y="267004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Product family or variant</a:t>
            </a:r>
            <a:endParaRPr lang="en-US" sz="1050" dirty="0"/>
          </a:p>
        </p:txBody>
      </p:sp>
      <p:sp>
        <p:nvSpPr>
          <p:cNvPr id="20" name="Shape 18"/>
          <p:cNvSpPr/>
          <p:nvPr/>
        </p:nvSpPr>
        <p:spPr>
          <a:xfrm>
            <a:off x="3017520" y="2670048"/>
            <a:ext cx="4206240" cy="548640"/>
          </a:xfrm>
          <a:prstGeom prst="rect">
            <a:avLst/>
          </a:prstGeom>
          <a:solidFill>
            <a:srgbClr val="F5F9FB"/>
          </a:solidFill>
          <a:ln w="9525">
            <a:solidFill>
              <a:srgbClr val="E3EBF0"/>
            </a:solidFill>
            <a:prstDash val="solid"/>
          </a:ln>
        </p:spPr>
      </p:sp>
      <p:sp>
        <p:nvSpPr>
          <p:cNvPr id="21" name="Text 19"/>
          <p:cNvSpPr/>
          <p:nvPr/>
        </p:nvSpPr>
        <p:spPr>
          <a:xfrm>
            <a:off x="3127248" y="267004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Models often learn the majority variant only</a:t>
            </a:r>
            <a:endParaRPr lang="en-US" sz="1050" dirty="0"/>
          </a:p>
        </p:txBody>
      </p:sp>
      <p:sp>
        <p:nvSpPr>
          <p:cNvPr id="22" name="Shape 20"/>
          <p:cNvSpPr/>
          <p:nvPr/>
        </p:nvSpPr>
        <p:spPr>
          <a:xfrm>
            <a:off x="7223760" y="2670048"/>
            <a:ext cx="4297680" cy="548640"/>
          </a:xfrm>
          <a:prstGeom prst="rect">
            <a:avLst/>
          </a:prstGeom>
          <a:solidFill>
            <a:srgbClr val="F5F9FB"/>
          </a:solidFill>
          <a:ln w="9525">
            <a:solidFill>
              <a:srgbClr val="E3EBF0"/>
            </a:solidFill>
            <a:prstDash val="solid"/>
          </a:ln>
        </p:spPr>
      </p:sp>
      <p:sp>
        <p:nvSpPr>
          <p:cNvPr id="23" name="Text 21"/>
          <p:cNvSpPr/>
          <p:nvPr/>
        </p:nvSpPr>
        <p:spPr>
          <a:xfrm>
            <a:off x="7333488" y="2670048"/>
            <a:ext cx="4078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One variant performs far below the mean</a:t>
            </a:r>
            <a:endParaRPr lang="en-US" sz="1050" dirty="0"/>
          </a:p>
        </p:txBody>
      </p:sp>
      <p:sp>
        <p:nvSpPr>
          <p:cNvPr id="24" name="Shape 22"/>
          <p:cNvSpPr/>
          <p:nvPr/>
        </p:nvSpPr>
        <p:spPr>
          <a:xfrm>
            <a:off x="640080" y="3218688"/>
            <a:ext cx="2377440" cy="548640"/>
          </a:xfrm>
          <a:prstGeom prst="rect">
            <a:avLst/>
          </a:prstGeom>
          <a:solidFill>
            <a:srgbClr val="FFFFFF"/>
          </a:solidFill>
          <a:ln w="9525">
            <a:solidFill>
              <a:srgbClr val="E3EBF0"/>
            </a:solidFill>
            <a:prstDash val="solid"/>
          </a:ln>
        </p:spPr>
      </p:sp>
      <p:sp>
        <p:nvSpPr>
          <p:cNvPr id="25" name="Text 23"/>
          <p:cNvSpPr/>
          <p:nvPr/>
        </p:nvSpPr>
        <p:spPr>
          <a:xfrm>
            <a:off x="749808" y="321868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Time period</a:t>
            </a:r>
            <a:endParaRPr lang="en-US" sz="1050" dirty="0"/>
          </a:p>
        </p:txBody>
      </p:sp>
      <p:sp>
        <p:nvSpPr>
          <p:cNvPr id="26" name="Shape 24"/>
          <p:cNvSpPr/>
          <p:nvPr/>
        </p:nvSpPr>
        <p:spPr>
          <a:xfrm>
            <a:off x="3017520" y="3218688"/>
            <a:ext cx="4206240" cy="548640"/>
          </a:xfrm>
          <a:prstGeom prst="rect">
            <a:avLst/>
          </a:prstGeom>
          <a:solidFill>
            <a:srgbClr val="FFFFFF"/>
          </a:solidFill>
          <a:ln w="9525">
            <a:solidFill>
              <a:srgbClr val="E3EBF0"/>
            </a:solidFill>
            <a:prstDash val="solid"/>
          </a:ln>
        </p:spPr>
      </p:sp>
      <p:sp>
        <p:nvSpPr>
          <p:cNvPr id="27" name="Text 25"/>
          <p:cNvSpPr/>
          <p:nvPr/>
        </p:nvSpPr>
        <p:spPr>
          <a:xfrm>
            <a:off x="3127248" y="321868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Drift and seasonality hide in the average</a:t>
            </a:r>
            <a:endParaRPr lang="en-US" sz="1050" dirty="0"/>
          </a:p>
        </p:txBody>
      </p:sp>
      <p:sp>
        <p:nvSpPr>
          <p:cNvPr id="28" name="Shape 26"/>
          <p:cNvSpPr/>
          <p:nvPr/>
        </p:nvSpPr>
        <p:spPr>
          <a:xfrm>
            <a:off x="7223760" y="3218688"/>
            <a:ext cx="4297680" cy="548640"/>
          </a:xfrm>
          <a:prstGeom prst="rect">
            <a:avLst/>
          </a:prstGeom>
          <a:solidFill>
            <a:srgbClr val="FFFFFF"/>
          </a:solidFill>
          <a:ln w="9525">
            <a:solidFill>
              <a:srgbClr val="E3EBF0"/>
            </a:solidFill>
            <a:prstDash val="solid"/>
          </a:ln>
        </p:spPr>
      </p:sp>
      <p:sp>
        <p:nvSpPr>
          <p:cNvPr id="29" name="Text 27"/>
          <p:cNvSpPr/>
          <p:nvPr/>
        </p:nvSpPr>
        <p:spPr>
          <a:xfrm>
            <a:off x="7333488" y="3218688"/>
            <a:ext cx="4078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Performance declined after a process change</a:t>
            </a:r>
            <a:endParaRPr lang="en-US" sz="1050" dirty="0"/>
          </a:p>
        </p:txBody>
      </p:sp>
      <p:sp>
        <p:nvSpPr>
          <p:cNvPr id="30" name="Shape 28"/>
          <p:cNvSpPr/>
          <p:nvPr/>
        </p:nvSpPr>
        <p:spPr>
          <a:xfrm>
            <a:off x="640080" y="3767328"/>
            <a:ext cx="2377440" cy="548640"/>
          </a:xfrm>
          <a:prstGeom prst="rect">
            <a:avLst/>
          </a:prstGeom>
          <a:solidFill>
            <a:srgbClr val="F5F9FB"/>
          </a:solidFill>
          <a:ln w="9525">
            <a:solidFill>
              <a:srgbClr val="E3EBF0"/>
            </a:solidFill>
            <a:prstDash val="solid"/>
          </a:ln>
        </p:spPr>
      </p:sp>
      <p:sp>
        <p:nvSpPr>
          <p:cNvPr id="31" name="Text 29"/>
          <p:cNvSpPr/>
          <p:nvPr/>
        </p:nvSpPr>
        <p:spPr>
          <a:xfrm>
            <a:off x="749808" y="376732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Data source or site</a:t>
            </a:r>
            <a:endParaRPr lang="en-US" sz="1050" dirty="0"/>
          </a:p>
        </p:txBody>
      </p:sp>
      <p:sp>
        <p:nvSpPr>
          <p:cNvPr id="32" name="Shape 30"/>
          <p:cNvSpPr/>
          <p:nvPr/>
        </p:nvSpPr>
        <p:spPr>
          <a:xfrm>
            <a:off x="3017520" y="3767328"/>
            <a:ext cx="4206240" cy="548640"/>
          </a:xfrm>
          <a:prstGeom prst="rect">
            <a:avLst/>
          </a:prstGeom>
          <a:solidFill>
            <a:srgbClr val="F5F9FB"/>
          </a:solidFill>
          <a:ln w="9525">
            <a:solidFill>
              <a:srgbClr val="E3EBF0"/>
            </a:solidFill>
            <a:prstDash val="solid"/>
          </a:ln>
        </p:spPr>
      </p:sp>
      <p:sp>
        <p:nvSpPr>
          <p:cNvPr id="33" name="Text 31"/>
          <p:cNvSpPr/>
          <p:nvPr/>
        </p:nvSpPr>
        <p:spPr>
          <a:xfrm>
            <a:off x="3127248" y="376732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Sensors, cameras and operators differ</a:t>
            </a:r>
            <a:endParaRPr lang="en-US" sz="1050" dirty="0"/>
          </a:p>
        </p:txBody>
      </p:sp>
      <p:sp>
        <p:nvSpPr>
          <p:cNvPr id="34" name="Shape 32"/>
          <p:cNvSpPr/>
          <p:nvPr/>
        </p:nvSpPr>
        <p:spPr>
          <a:xfrm>
            <a:off x="7223760" y="3767328"/>
            <a:ext cx="4297680" cy="548640"/>
          </a:xfrm>
          <a:prstGeom prst="rect">
            <a:avLst/>
          </a:prstGeom>
          <a:solidFill>
            <a:srgbClr val="F5F9FB"/>
          </a:solidFill>
          <a:ln w="9525">
            <a:solidFill>
              <a:srgbClr val="E3EBF0"/>
            </a:solidFill>
            <a:prstDash val="solid"/>
          </a:ln>
        </p:spPr>
      </p:sp>
      <p:sp>
        <p:nvSpPr>
          <p:cNvPr id="35" name="Text 33"/>
          <p:cNvSpPr/>
          <p:nvPr/>
        </p:nvSpPr>
        <p:spPr>
          <a:xfrm>
            <a:off x="7333488" y="3767328"/>
            <a:ext cx="4078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One plant's images behave differently from the rest</a:t>
            </a:r>
            <a:endParaRPr lang="en-US" sz="1050" dirty="0"/>
          </a:p>
        </p:txBody>
      </p:sp>
      <p:sp>
        <p:nvSpPr>
          <p:cNvPr id="36" name="Shape 34"/>
          <p:cNvSpPr/>
          <p:nvPr/>
        </p:nvSpPr>
        <p:spPr>
          <a:xfrm>
            <a:off x="640080" y="4315968"/>
            <a:ext cx="2377440" cy="548640"/>
          </a:xfrm>
          <a:prstGeom prst="rect">
            <a:avLst/>
          </a:prstGeom>
          <a:solidFill>
            <a:srgbClr val="FFFFFF"/>
          </a:solidFill>
          <a:ln w="9525">
            <a:solidFill>
              <a:srgbClr val="E3EBF0"/>
            </a:solidFill>
            <a:prstDash val="solid"/>
          </a:ln>
        </p:spPr>
      </p:sp>
      <p:sp>
        <p:nvSpPr>
          <p:cNvPr id="37" name="Text 35"/>
          <p:cNvSpPr/>
          <p:nvPr/>
        </p:nvSpPr>
        <p:spPr>
          <a:xfrm>
            <a:off x="749808" y="431596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Input difficulty</a:t>
            </a:r>
            <a:endParaRPr lang="en-US" sz="1050" dirty="0"/>
          </a:p>
        </p:txBody>
      </p:sp>
      <p:sp>
        <p:nvSpPr>
          <p:cNvPr id="38" name="Shape 36"/>
          <p:cNvSpPr/>
          <p:nvPr/>
        </p:nvSpPr>
        <p:spPr>
          <a:xfrm>
            <a:off x="3017520" y="4315968"/>
            <a:ext cx="4206240" cy="548640"/>
          </a:xfrm>
          <a:prstGeom prst="rect">
            <a:avLst/>
          </a:prstGeom>
          <a:solidFill>
            <a:srgbClr val="FFFFFF"/>
          </a:solidFill>
          <a:ln w="9525">
            <a:solidFill>
              <a:srgbClr val="E3EBF0"/>
            </a:solidFill>
            <a:prstDash val="solid"/>
          </a:ln>
        </p:spPr>
      </p:sp>
      <p:sp>
        <p:nvSpPr>
          <p:cNvPr id="39" name="Text 37"/>
          <p:cNvSpPr/>
          <p:nvPr/>
        </p:nvSpPr>
        <p:spPr>
          <a:xfrm>
            <a:off x="3127248" y="431596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Small objects, low contrast, long documents</a:t>
            </a:r>
            <a:endParaRPr lang="en-US" sz="1050" dirty="0"/>
          </a:p>
        </p:txBody>
      </p:sp>
      <p:sp>
        <p:nvSpPr>
          <p:cNvPr id="40" name="Shape 38"/>
          <p:cNvSpPr/>
          <p:nvPr/>
        </p:nvSpPr>
        <p:spPr>
          <a:xfrm>
            <a:off x="7223760" y="4315968"/>
            <a:ext cx="4297680" cy="548640"/>
          </a:xfrm>
          <a:prstGeom prst="rect">
            <a:avLst/>
          </a:prstGeom>
          <a:solidFill>
            <a:srgbClr val="FFFFFF"/>
          </a:solidFill>
          <a:ln w="9525">
            <a:solidFill>
              <a:srgbClr val="E3EBF0"/>
            </a:solidFill>
            <a:prstDash val="solid"/>
          </a:ln>
        </p:spPr>
      </p:sp>
      <p:sp>
        <p:nvSpPr>
          <p:cNvPr id="41" name="Text 39"/>
          <p:cNvSpPr/>
          <p:nvPr/>
        </p:nvSpPr>
        <p:spPr>
          <a:xfrm>
            <a:off x="7333488" y="4315968"/>
            <a:ext cx="4078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Small-object recall is half the headline figure</a:t>
            </a:r>
            <a:endParaRPr lang="en-US" sz="1050" dirty="0"/>
          </a:p>
        </p:txBody>
      </p:sp>
      <p:sp>
        <p:nvSpPr>
          <p:cNvPr id="42" name="Shape 40"/>
          <p:cNvSpPr/>
          <p:nvPr/>
        </p:nvSpPr>
        <p:spPr>
          <a:xfrm>
            <a:off x="640080" y="4864608"/>
            <a:ext cx="2377440" cy="548640"/>
          </a:xfrm>
          <a:prstGeom prst="rect">
            <a:avLst/>
          </a:prstGeom>
          <a:solidFill>
            <a:srgbClr val="F5F9FB"/>
          </a:solidFill>
          <a:ln w="9525">
            <a:solidFill>
              <a:srgbClr val="E3EBF0"/>
            </a:solidFill>
            <a:prstDash val="solid"/>
          </a:ln>
        </p:spPr>
      </p:sp>
      <p:sp>
        <p:nvSpPr>
          <p:cNvPr id="43" name="Text 41"/>
          <p:cNvSpPr/>
          <p:nvPr/>
        </p:nvSpPr>
        <p:spPr>
          <a:xfrm>
            <a:off x="749808" y="4864608"/>
            <a:ext cx="21579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Confidence band</a:t>
            </a:r>
            <a:endParaRPr lang="en-US" sz="1050" dirty="0"/>
          </a:p>
        </p:txBody>
      </p:sp>
      <p:sp>
        <p:nvSpPr>
          <p:cNvPr id="44" name="Shape 42"/>
          <p:cNvSpPr/>
          <p:nvPr/>
        </p:nvSpPr>
        <p:spPr>
          <a:xfrm>
            <a:off x="3017520" y="4864608"/>
            <a:ext cx="4206240" cy="548640"/>
          </a:xfrm>
          <a:prstGeom prst="rect">
            <a:avLst/>
          </a:prstGeom>
          <a:solidFill>
            <a:srgbClr val="F5F9FB"/>
          </a:solidFill>
          <a:ln w="9525">
            <a:solidFill>
              <a:srgbClr val="E3EBF0"/>
            </a:solidFill>
            <a:prstDash val="solid"/>
          </a:ln>
        </p:spPr>
      </p:sp>
      <p:sp>
        <p:nvSpPr>
          <p:cNvPr id="45" name="Text 43"/>
          <p:cNvSpPr/>
          <p:nvPr/>
        </p:nvSpPr>
        <p:spPr>
          <a:xfrm>
            <a:off x="3127248" y="486460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Performance should decline smoothly with confidence</a:t>
            </a:r>
            <a:endParaRPr lang="en-US" sz="1050" dirty="0"/>
          </a:p>
        </p:txBody>
      </p:sp>
      <p:sp>
        <p:nvSpPr>
          <p:cNvPr id="46" name="Shape 44"/>
          <p:cNvSpPr/>
          <p:nvPr/>
        </p:nvSpPr>
        <p:spPr>
          <a:xfrm>
            <a:off x="7223760" y="4864608"/>
            <a:ext cx="4297680" cy="548640"/>
          </a:xfrm>
          <a:prstGeom prst="rect">
            <a:avLst/>
          </a:prstGeom>
          <a:solidFill>
            <a:srgbClr val="F5F9FB"/>
          </a:solidFill>
          <a:ln w="9525">
            <a:solidFill>
              <a:srgbClr val="E3EBF0"/>
            </a:solidFill>
            <a:prstDash val="solid"/>
          </a:ln>
        </p:spPr>
      </p:sp>
      <p:sp>
        <p:nvSpPr>
          <p:cNvPr id="47" name="Text 45"/>
          <p:cNvSpPr/>
          <p:nvPr/>
        </p:nvSpPr>
        <p:spPr>
          <a:xfrm>
            <a:off x="7333488" y="4864608"/>
            <a:ext cx="4078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 band that misbehaves reveals miscalibration</a:t>
            </a:r>
            <a:endParaRPr lang="en-US" sz="1050" dirty="0"/>
          </a:p>
        </p:txBody>
      </p:sp>
      <p:sp>
        <p:nvSpPr>
          <p:cNvPr id="48" name="Text 46"/>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Build slice reporting into your evaluation harness once, and every future experiment gets it for free.</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Root-cause techniques worth borrowing</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57</a:t>
            </a:r>
            <a:endParaRPr lang="en-US" sz="1000" dirty="0"/>
          </a:p>
        </p:txBody>
      </p:sp>
      <p:sp>
        <p:nvSpPr>
          <p:cNvPr id="5" name="Shape 3"/>
          <p:cNvSpPr/>
          <p:nvPr/>
        </p:nvSpPr>
        <p:spPr>
          <a:xfrm>
            <a:off x="640080" y="1371600"/>
            <a:ext cx="3474720" cy="3017520"/>
          </a:xfrm>
          <a:prstGeom prst="roundRect">
            <a:avLst>
              <a:gd name="adj" fmla="val 1818"/>
            </a:avLst>
          </a:prstGeom>
          <a:solidFill>
            <a:srgbClr val="EEF3F7"/>
          </a:solidFill>
          <a:ln w="12700">
            <a:solidFill>
              <a:srgbClr val="D8E4EC"/>
            </a:solidFill>
            <a:prstDash val="solid"/>
          </a:ln>
        </p:spPr>
      </p:sp>
      <p:sp>
        <p:nvSpPr>
          <p:cNvPr id="6" name="Text 4"/>
          <p:cNvSpPr/>
          <p:nvPr/>
        </p:nvSpPr>
        <p:spPr>
          <a:xfrm>
            <a:off x="841248" y="1508760"/>
            <a:ext cx="30723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Five whys</a:t>
            </a:r>
            <a:endParaRPr lang="en-US" sz="1400" dirty="0"/>
          </a:p>
        </p:txBody>
      </p:sp>
      <p:sp>
        <p:nvSpPr>
          <p:cNvPr id="7" name="Text 5"/>
          <p:cNvSpPr/>
          <p:nvPr/>
        </p:nvSpPr>
        <p:spPr>
          <a:xfrm>
            <a:off x="841248" y="1874520"/>
            <a:ext cx="3072384" cy="235915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Ask why repeatedly until you reach a cause you can act on.</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model missed the defect → the image was too dark → the lighting rig was moved → nobody owns lighting configuration.</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fourth answer is the actionable one.</a:t>
            </a:r>
            <a:endParaRPr lang="en-US" sz="1150" dirty="0"/>
          </a:p>
        </p:txBody>
      </p:sp>
      <p:sp>
        <p:nvSpPr>
          <p:cNvPr id="8" name="Shape 6"/>
          <p:cNvSpPr/>
          <p:nvPr/>
        </p:nvSpPr>
        <p:spPr>
          <a:xfrm>
            <a:off x="4343400" y="1371600"/>
            <a:ext cx="3474720" cy="3017520"/>
          </a:xfrm>
          <a:prstGeom prst="roundRect">
            <a:avLst>
              <a:gd name="adj" fmla="val 1818"/>
            </a:avLst>
          </a:prstGeom>
          <a:solidFill>
            <a:srgbClr val="EEF3F7"/>
          </a:solidFill>
          <a:ln w="12700">
            <a:solidFill>
              <a:srgbClr val="D8E4EC"/>
            </a:solidFill>
            <a:prstDash val="solid"/>
          </a:ln>
        </p:spPr>
      </p:sp>
      <p:sp>
        <p:nvSpPr>
          <p:cNvPr id="9" name="Text 7"/>
          <p:cNvSpPr/>
          <p:nvPr/>
        </p:nvSpPr>
        <p:spPr>
          <a:xfrm>
            <a:off x="4544568" y="1508760"/>
            <a:ext cx="307238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Fishbone (Ishikawa)</a:t>
            </a:r>
            <a:endParaRPr lang="en-US" sz="1400" dirty="0"/>
          </a:p>
        </p:txBody>
      </p:sp>
      <p:sp>
        <p:nvSpPr>
          <p:cNvPr id="10" name="Text 8"/>
          <p:cNvSpPr/>
          <p:nvPr/>
        </p:nvSpPr>
        <p:spPr>
          <a:xfrm>
            <a:off x="4544568" y="1874520"/>
            <a:ext cx="3072384" cy="235915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Group causes by category — data, labels, model, process, environment, measurement.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Useful in a workshop because it stops the group converging on the first plausible explanation.</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Works well on a whiteboard with the whole team.</a:t>
            </a:r>
            <a:endParaRPr lang="en-US" sz="1150" dirty="0"/>
          </a:p>
        </p:txBody>
      </p:sp>
      <p:sp>
        <p:nvSpPr>
          <p:cNvPr id="11" name="Shape 9"/>
          <p:cNvSpPr/>
          <p:nvPr/>
        </p:nvSpPr>
        <p:spPr>
          <a:xfrm>
            <a:off x="8046720" y="1371600"/>
            <a:ext cx="3474720" cy="3017520"/>
          </a:xfrm>
          <a:prstGeom prst="roundRect">
            <a:avLst>
              <a:gd name="adj" fmla="val 1818"/>
            </a:avLst>
          </a:prstGeom>
          <a:solidFill>
            <a:srgbClr val="EEF3F7"/>
          </a:solidFill>
          <a:ln w="12700">
            <a:solidFill>
              <a:srgbClr val="D8E4EC"/>
            </a:solidFill>
            <a:prstDash val="solid"/>
          </a:ln>
        </p:spPr>
      </p:sp>
      <p:sp>
        <p:nvSpPr>
          <p:cNvPr id="12" name="Text 10"/>
          <p:cNvSpPr/>
          <p:nvPr/>
        </p:nvSpPr>
        <p:spPr>
          <a:xfrm>
            <a:off x="8247888" y="1508760"/>
            <a:ext cx="3072384"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Pareto analysis</a:t>
            </a:r>
            <a:endParaRPr lang="en-US" sz="1400" dirty="0"/>
          </a:p>
        </p:txBody>
      </p:sp>
      <p:sp>
        <p:nvSpPr>
          <p:cNvPr id="13" name="Text 11"/>
          <p:cNvSpPr/>
          <p:nvPr/>
        </p:nvSpPr>
        <p:spPr>
          <a:xfrm>
            <a:off x="8247888" y="1874520"/>
            <a:ext cx="3072384" cy="235915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Rank causes by contribution and plot the cumulative total.</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Usually two or three categories account for the large majority of failures.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This is what turns a taxonomy into a work plan.</a:t>
            </a:r>
            <a:endParaRPr lang="en-US" sz="1150" dirty="0"/>
          </a:p>
        </p:txBody>
      </p:sp>
      <p:sp>
        <p:nvSpPr>
          <p:cNvPr id="14" name="Text 12"/>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Standard quality-engineering tools. An industrial audience knows them already — the point is that they apply to AI systems too.</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3.7</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Measurement and evaluation leakage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58</a:t>
            </a:r>
            <a:endParaRPr lang="en-US" sz="1000" dirty="0"/>
          </a:p>
        </p:txBody>
      </p:sp>
      <p:sp>
        <p:nvSpPr>
          <p:cNvPr id="5" name="Text 3"/>
          <p:cNvSpPr/>
          <p:nvPr/>
        </p:nvSpPr>
        <p:spPr>
          <a:xfrm>
            <a:off x="640080" y="1280160"/>
            <a:ext cx="10881360" cy="411480"/>
          </a:xfrm>
          <a:prstGeom prst="rect">
            <a:avLst/>
          </a:prstGeom>
          <a:noFill/>
          <a:ln/>
        </p:spPr>
        <p:txBody>
          <a:bodyPr wrap="square" rtlCol="0" anchor="ctr"/>
          <a:lstStyle/>
          <a:p>
            <a:pPr indent="0" marL="0">
              <a:lnSpc>
                <a:spcPts val="1800"/>
              </a:lnSpc>
              <a:buNone/>
            </a:pPr>
            <a:r>
              <a:rPr lang="en-US" sz="1400" dirty="0">
                <a:solidFill>
                  <a:srgbClr val="5A6B7C"/>
                </a:solidFill>
                <a:latin typeface="Calibri" pitchFamily="34" charset="0"/>
                <a:ea typeface="Calibri" pitchFamily="34" charset="-122"/>
                <a:cs typeface="Calibri" pitchFamily="34" charset="-120"/>
              </a:rPr>
              <a:t>Leakage produces excellent offline results that collapse in production. It is the most common reason a PoC appeared ready and was not.</a:t>
            </a:r>
            <a:endParaRPr lang="en-US" sz="1400" dirty="0"/>
          </a:p>
        </p:txBody>
      </p:sp>
      <p:sp>
        <p:nvSpPr>
          <p:cNvPr id="6" name="Shape 4"/>
          <p:cNvSpPr/>
          <p:nvPr/>
        </p:nvSpPr>
        <p:spPr>
          <a:xfrm>
            <a:off x="640080" y="1783080"/>
            <a:ext cx="1828800" cy="384048"/>
          </a:xfrm>
          <a:prstGeom prst="rect">
            <a:avLst/>
          </a:prstGeom>
          <a:solidFill>
            <a:srgbClr val="21295C"/>
          </a:solidFill>
          <a:ln/>
        </p:spPr>
      </p:sp>
      <p:sp>
        <p:nvSpPr>
          <p:cNvPr id="7" name="Text 5"/>
          <p:cNvSpPr/>
          <p:nvPr/>
        </p:nvSpPr>
        <p:spPr>
          <a:xfrm>
            <a:off x="749808" y="1783080"/>
            <a:ext cx="1609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p>
        </p:txBody>
      </p:sp>
      <p:sp>
        <p:nvSpPr>
          <p:cNvPr id="8" name="Shape 6"/>
          <p:cNvSpPr/>
          <p:nvPr/>
        </p:nvSpPr>
        <p:spPr>
          <a:xfrm>
            <a:off x="2468880" y="1783080"/>
            <a:ext cx="4480560" cy="384048"/>
          </a:xfrm>
          <a:prstGeom prst="rect">
            <a:avLst/>
          </a:prstGeom>
          <a:solidFill>
            <a:srgbClr val="21295C"/>
          </a:solidFill>
          <a:ln/>
        </p:spPr>
      </p:sp>
      <p:sp>
        <p:nvSpPr>
          <p:cNvPr id="9" name="Text 7"/>
          <p:cNvSpPr/>
          <p:nvPr/>
        </p:nvSpPr>
        <p:spPr>
          <a:xfrm>
            <a:off x="2578608" y="1783080"/>
            <a:ext cx="42611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p>
        </p:txBody>
      </p:sp>
      <p:sp>
        <p:nvSpPr>
          <p:cNvPr id="10" name="Shape 8"/>
          <p:cNvSpPr/>
          <p:nvPr/>
        </p:nvSpPr>
        <p:spPr>
          <a:xfrm>
            <a:off x="6949440" y="1783080"/>
            <a:ext cx="4572000" cy="384048"/>
          </a:xfrm>
          <a:prstGeom prst="rect">
            <a:avLst/>
          </a:prstGeom>
          <a:solidFill>
            <a:srgbClr val="21295C"/>
          </a:solidFill>
          <a:ln/>
        </p:spPr>
      </p:sp>
      <p:sp>
        <p:nvSpPr>
          <p:cNvPr id="11" name="Text 9"/>
          <p:cNvSpPr/>
          <p:nvPr/>
        </p:nvSpPr>
        <p:spPr>
          <a:xfrm>
            <a:off x="7059168" y="1783080"/>
            <a:ext cx="43525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to prevent it</a:t>
            </a:r>
            <a:endParaRPr lang="en-US" sz="1100" dirty="0"/>
          </a:p>
        </p:txBody>
      </p:sp>
      <p:sp>
        <p:nvSpPr>
          <p:cNvPr id="12" name="Shape 10"/>
          <p:cNvSpPr/>
          <p:nvPr/>
        </p:nvSpPr>
        <p:spPr>
          <a:xfrm>
            <a:off x="640080" y="2167128"/>
            <a:ext cx="1828800" cy="566928"/>
          </a:xfrm>
          <a:prstGeom prst="rect">
            <a:avLst/>
          </a:prstGeom>
          <a:solidFill>
            <a:srgbClr val="FFFFFF"/>
          </a:solidFill>
          <a:ln w="9525">
            <a:solidFill>
              <a:srgbClr val="E3EBF0"/>
            </a:solidFill>
            <a:prstDash val="solid"/>
          </a:ln>
        </p:spPr>
      </p:sp>
      <p:sp>
        <p:nvSpPr>
          <p:cNvPr id="13" name="Text 11"/>
          <p:cNvSpPr/>
          <p:nvPr/>
        </p:nvSpPr>
        <p:spPr>
          <a:xfrm>
            <a:off x="749808" y="2167128"/>
            <a:ext cx="16093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Temporal</a:t>
            </a:r>
            <a:endParaRPr lang="en-US" sz="1050" dirty="0"/>
          </a:p>
        </p:txBody>
      </p:sp>
      <p:sp>
        <p:nvSpPr>
          <p:cNvPr id="14" name="Shape 12"/>
          <p:cNvSpPr/>
          <p:nvPr/>
        </p:nvSpPr>
        <p:spPr>
          <a:xfrm>
            <a:off x="2468880" y="2167128"/>
            <a:ext cx="4480560" cy="566928"/>
          </a:xfrm>
          <a:prstGeom prst="rect">
            <a:avLst/>
          </a:prstGeom>
          <a:solidFill>
            <a:srgbClr val="FFFFFF"/>
          </a:solidFill>
          <a:ln w="9525">
            <a:solidFill>
              <a:srgbClr val="E3EBF0"/>
            </a:solidFill>
            <a:prstDash val="solid"/>
          </a:ln>
        </p:spPr>
      </p:sp>
      <p:sp>
        <p:nvSpPr>
          <p:cNvPr id="15" name="Text 13"/>
          <p:cNvSpPr/>
          <p:nvPr/>
        </p:nvSpPr>
        <p:spPr>
          <a:xfrm>
            <a:off x="2578608" y="2167128"/>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Features computed across the whole series, including after the prediction point</a:t>
            </a:r>
            <a:endParaRPr lang="en-US" sz="1050" dirty="0"/>
          </a:p>
        </p:txBody>
      </p:sp>
      <p:sp>
        <p:nvSpPr>
          <p:cNvPr id="16" name="Shape 14"/>
          <p:cNvSpPr/>
          <p:nvPr/>
        </p:nvSpPr>
        <p:spPr>
          <a:xfrm>
            <a:off x="6949440" y="2167128"/>
            <a:ext cx="4572000" cy="566928"/>
          </a:xfrm>
          <a:prstGeom prst="rect">
            <a:avLst/>
          </a:prstGeom>
          <a:solidFill>
            <a:srgbClr val="FFFFFF"/>
          </a:solidFill>
          <a:ln w="9525">
            <a:solidFill>
              <a:srgbClr val="E3EBF0"/>
            </a:solidFill>
            <a:prstDash val="solid"/>
          </a:ln>
        </p:spPr>
      </p:sp>
      <p:sp>
        <p:nvSpPr>
          <p:cNvPr id="17" name="Text 15"/>
          <p:cNvSpPr/>
          <p:nvPr/>
        </p:nvSpPr>
        <p:spPr>
          <a:xfrm>
            <a:off x="7059168" y="2167128"/>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Compute features causally — only from data available at prediction time</a:t>
            </a:r>
            <a:endParaRPr lang="en-US" sz="1050" dirty="0"/>
          </a:p>
        </p:txBody>
      </p:sp>
      <p:sp>
        <p:nvSpPr>
          <p:cNvPr id="18" name="Shape 16"/>
          <p:cNvSpPr/>
          <p:nvPr/>
        </p:nvSpPr>
        <p:spPr>
          <a:xfrm>
            <a:off x="640080" y="2734056"/>
            <a:ext cx="1828800" cy="566928"/>
          </a:xfrm>
          <a:prstGeom prst="rect">
            <a:avLst/>
          </a:prstGeom>
          <a:solidFill>
            <a:srgbClr val="F5F9FB"/>
          </a:solidFill>
          <a:ln w="9525">
            <a:solidFill>
              <a:srgbClr val="E3EBF0"/>
            </a:solidFill>
            <a:prstDash val="solid"/>
          </a:ln>
        </p:spPr>
      </p:sp>
      <p:sp>
        <p:nvSpPr>
          <p:cNvPr id="19" name="Text 17"/>
          <p:cNvSpPr/>
          <p:nvPr/>
        </p:nvSpPr>
        <p:spPr>
          <a:xfrm>
            <a:off x="749808" y="2734056"/>
            <a:ext cx="16093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Target</a:t>
            </a:r>
            <a:endParaRPr lang="en-US" sz="1050" dirty="0"/>
          </a:p>
        </p:txBody>
      </p:sp>
      <p:sp>
        <p:nvSpPr>
          <p:cNvPr id="20" name="Shape 18"/>
          <p:cNvSpPr/>
          <p:nvPr/>
        </p:nvSpPr>
        <p:spPr>
          <a:xfrm>
            <a:off x="2468880" y="2734056"/>
            <a:ext cx="4480560" cy="566928"/>
          </a:xfrm>
          <a:prstGeom prst="rect">
            <a:avLst/>
          </a:prstGeom>
          <a:solidFill>
            <a:srgbClr val="F5F9FB"/>
          </a:solidFill>
          <a:ln w="9525">
            <a:solidFill>
              <a:srgbClr val="E3EBF0"/>
            </a:solidFill>
            <a:prstDash val="solid"/>
          </a:ln>
        </p:spPr>
      </p:sp>
      <p:sp>
        <p:nvSpPr>
          <p:cNvPr id="21" name="Text 19"/>
          <p:cNvSpPr/>
          <p:nvPr/>
        </p:nvSpPr>
        <p:spPr>
          <a:xfrm>
            <a:off x="2578608" y="2734056"/>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An input that is a consequence of the outcome, not a predictor</a:t>
            </a:r>
            <a:endParaRPr lang="en-US" sz="1050" dirty="0"/>
          </a:p>
        </p:txBody>
      </p:sp>
      <p:sp>
        <p:nvSpPr>
          <p:cNvPr id="22" name="Shape 20"/>
          <p:cNvSpPr/>
          <p:nvPr/>
        </p:nvSpPr>
        <p:spPr>
          <a:xfrm>
            <a:off x="6949440" y="2734056"/>
            <a:ext cx="4572000" cy="566928"/>
          </a:xfrm>
          <a:prstGeom prst="rect">
            <a:avLst/>
          </a:prstGeom>
          <a:solidFill>
            <a:srgbClr val="F5F9FB"/>
          </a:solidFill>
          <a:ln w="9525">
            <a:solidFill>
              <a:srgbClr val="E3EBF0"/>
            </a:solidFill>
            <a:prstDash val="solid"/>
          </a:ln>
        </p:spPr>
      </p:sp>
      <p:sp>
        <p:nvSpPr>
          <p:cNvPr id="23" name="Text 21"/>
          <p:cNvSpPr/>
          <p:nvPr/>
        </p:nvSpPr>
        <p:spPr>
          <a:xfrm>
            <a:off x="7059168" y="2734056"/>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Trace every feature to when it becomes known in the real process</a:t>
            </a:r>
            <a:endParaRPr lang="en-US" sz="1050" dirty="0"/>
          </a:p>
        </p:txBody>
      </p:sp>
      <p:sp>
        <p:nvSpPr>
          <p:cNvPr id="24" name="Shape 22"/>
          <p:cNvSpPr/>
          <p:nvPr/>
        </p:nvSpPr>
        <p:spPr>
          <a:xfrm>
            <a:off x="640080" y="3300984"/>
            <a:ext cx="1828800" cy="566928"/>
          </a:xfrm>
          <a:prstGeom prst="rect">
            <a:avLst/>
          </a:prstGeom>
          <a:solidFill>
            <a:srgbClr val="FFFFFF"/>
          </a:solidFill>
          <a:ln w="9525">
            <a:solidFill>
              <a:srgbClr val="E3EBF0"/>
            </a:solidFill>
            <a:prstDash val="solid"/>
          </a:ln>
        </p:spPr>
      </p:sp>
      <p:sp>
        <p:nvSpPr>
          <p:cNvPr id="25" name="Text 23"/>
          <p:cNvSpPr/>
          <p:nvPr/>
        </p:nvSpPr>
        <p:spPr>
          <a:xfrm>
            <a:off x="749808" y="3300984"/>
            <a:ext cx="16093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Group</a:t>
            </a:r>
            <a:endParaRPr lang="en-US" sz="1050" dirty="0"/>
          </a:p>
        </p:txBody>
      </p:sp>
      <p:sp>
        <p:nvSpPr>
          <p:cNvPr id="26" name="Shape 24"/>
          <p:cNvSpPr/>
          <p:nvPr/>
        </p:nvSpPr>
        <p:spPr>
          <a:xfrm>
            <a:off x="2468880" y="3300984"/>
            <a:ext cx="4480560" cy="566928"/>
          </a:xfrm>
          <a:prstGeom prst="rect">
            <a:avLst/>
          </a:prstGeom>
          <a:solidFill>
            <a:srgbClr val="FFFFFF"/>
          </a:solidFill>
          <a:ln w="9525">
            <a:solidFill>
              <a:srgbClr val="E3EBF0"/>
            </a:solidFill>
            <a:prstDash val="solid"/>
          </a:ln>
        </p:spPr>
      </p:sp>
      <p:sp>
        <p:nvSpPr>
          <p:cNvPr id="27" name="Text 25"/>
          <p:cNvSpPr/>
          <p:nvPr/>
        </p:nvSpPr>
        <p:spPr>
          <a:xfrm>
            <a:off x="2578608" y="3300984"/>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same machine, part or document appears in train and test</a:t>
            </a:r>
            <a:endParaRPr lang="en-US" sz="1050" dirty="0"/>
          </a:p>
        </p:txBody>
      </p:sp>
      <p:sp>
        <p:nvSpPr>
          <p:cNvPr id="28" name="Shape 26"/>
          <p:cNvSpPr/>
          <p:nvPr/>
        </p:nvSpPr>
        <p:spPr>
          <a:xfrm>
            <a:off x="6949440" y="3300984"/>
            <a:ext cx="4572000" cy="566928"/>
          </a:xfrm>
          <a:prstGeom prst="rect">
            <a:avLst/>
          </a:prstGeom>
          <a:solidFill>
            <a:srgbClr val="FFFFFF"/>
          </a:solidFill>
          <a:ln w="9525">
            <a:solidFill>
              <a:srgbClr val="E3EBF0"/>
            </a:solidFill>
            <a:prstDash val="solid"/>
          </a:ln>
        </p:spPr>
      </p:sp>
      <p:sp>
        <p:nvSpPr>
          <p:cNvPr id="29" name="Text 27"/>
          <p:cNvSpPr/>
          <p:nvPr/>
        </p:nvSpPr>
        <p:spPr>
          <a:xfrm>
            <a:off x="7059168" y="3300984"/>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Split by group, not by row</a:t>
            </a:r>
            <a:endParaRPr lang="en-US" sz="1050" dirty="0"/>
          </a:p>
        </p:txBody>
      </p:sp>
      <p:sp>
        <p:nvSpPr>
          <p:cNvPr id="30" name="Shape 28"/>
          <p:cNvSpPr/>
          <p:nvPr/>
        </p:nvSpPr>
        <p:spPr>
          <a:xfrm>
            <a:off x="640080" y="3867912"/>
            <a:ext cx="1828800" cy="566928"/>
          </a:xfrm>
          <a:prstGeom prst="rect">
            <a:avLst/>
          </a:prstGeom>
          <a:solidFill>
            <a:srgbClr val="F5F9FB"/>
          </a:solidFill>
          <a:ln w="9525">
            <a:solidFill>
              <a:srgbClr val="E3EBF0"/>
            </a:solidFill>
            <a:prstDash val="solid"/>
          </a:ln>
        </p:spPr>
      </p:sp>
      <p:sp>
        <p:nvSpPr>
          <p:cNvPr id="31" name="Text 29"/>
          <p:cNvSpPr/>
          <p:nvPr/>
        </p:nvSpPr>
        <p:spPr>
          <a:xfrm>
            <a:off x="749808" y="3867912"/>
            <a:ext cx="16093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Tuning</a:t>
            </a:r>
            <a:endParaRPr lang="en-US" sz="1050" dirty="0"/>
          </a:p>
        </p:txBody>
      </p:sp>
      <p:sp>
        <p:nvSpPr>
          <p:cNvPr id="32" name="Shape 30"/>
          <p:cNvSpPr/>
          <p:nvPr/>
        </p:nvSpPr>
        <p:spPr>
          <a:xfrm>
            <a:off x="2468880" y="3867912"/>
            <a:ext cx="4480560" cy="566928"/>
          </a:xfrm>
          <a:prstGeom prst="rect">
            <a:avLst/>
          </a:prstGeom>
          <a:solidFill>
            <a:srgbClr val="F5F9FB"/>
          </a:solidFill>
          <a:ln w="9525">
            <a:solidFill>
              <a:srgbClr val="E3EBF0"/>
            </a:solidFill>
            <a:prstDash val="solid"/>
          </a:ln>
        </p:spPr>
      </p:sp>
      <p:sp>
        <p:nvSpPr>
          <p:cNvPr id="33" name="Text 31"/>
          <p:cNvSpPr/>
          <p:nvPr/>
        </p:nvSpPr>
        <p:spPr>
          <a:xfrm>
            <a:off x="2578608" y="3867912"/>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test set was used repeatedly to select settings</a:t>
            </a:r>
            <a:endParaRPr lang="en-US" sz="1050" dirty="0"/>
          </a:p>
        </p:txBody>
      </p:sp>
      <p:sp>
        <p:nvSpPr>
          <p:cNvPr id="34" name="Shape 32"/>
          <p:cNvSpPr/>
          <p:nvPr/>
        </p:nvSpPr>
        <p:spPr>
          <a:xfrm>
            <a:off x="6949440" y="3867912"/>
            <a:ext cx="4572000" cy="566928"/>
          </a:xfrm>
          <a:prstGeom prst="rect">
            <a:avLst/>
          </a:prstGeom>
          <a:solidFill>
            <a:srgbClr val="F5F9FB"/>
          </a:solidFill>
          <a:ln w="9525">
            <a:solidFill>
              <a:srgbClr val="E3EBF0"/>
            </a:solidFill>
            <a:prstDash val="solid"/>
          </a:ln>
        </p:spPr>
      </p:sp>
      <p:sp>
        <p:nvSpPr>
          <p:cNvPr id="35" name="Text 33"/>
          <p:cNvSpPr/>
          <p:nvPr/>
        </p:nvSpPr>
        <p:spPr>
          <a:xfrm>
            <a:off x="7059168" y="3867912"/>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Keep a final held-out set used once</a:t>
            </a:r>
            <a:endParaRPr lang="en-US" sz="1050" dirty="0"/>
          </a:p>
        </p:txBody>
      </p:sp>
      <p:sp>
        <p:nvSpPr>
          <p:cNvPr id="36" name="Shape 34"/>
          <p:cNvSpPr/>
          <p:nvPr/>
        </p:nvSpPr>
        <p:spPr>
          <a:xfrm>
            <a:off x="640080" y="4434840"/>
            <a:ext cx="1828800" cy="566928"/>
          </a:xfrm>
          <a:prstGeom prst="rect">
            <a:avLst/>
          </a:prstGeom>
          <a:solidFill>
            <a:srgbClr val="FFFFFF"/>
          </a:solidFill>
          <a:ln w="9525">
            <a:solidFill>
              <a:srgbClr val="E3EBF0"/>
            </a:solidFill>
            <a:prstDash val="solid"/>
          </a:ln>
        </p:spPr>
      </p:sp>
      <p:sp>
        <p:nvSpPr>
          <p:cNvPr id="37" name="Text 35"/>
          <p:cNvSpPr/>
          <p:nvPr/>
        </p:nvSpPr>
        <p:spPr>
          <a:xfrm>
            <a:off x="749808" y="4434840"/>
            <a:ext cx="16093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Preprocessing</a:t>
            </a:r>
            <a:endParaRPr lang="en-US" sz="1050" dirty="0"/>
          </a:p>
        </p:txBody>
      </p:sp>
      <p:sp>
        <p:nvSpPr>
          <p:cNvPr id="38" name="Shape 36"/>
          <p:cNvSpPr/>
          <p:nvPr/>
        </p:nvSpPr>
        <p:spPr>
          <a:xfrm>
            <a:off x="2468880" y="4434840"/>
            <a:ext cx="4480560" cy="566928"/>
          </a:xfrm>
          <a:prstGeom prst="rect">
            <a:avLst/>
          </a:prstGeom>
          <a:solidFill>
            <a:srgbClr val="FFFFFF"/>
          </a:solidFill>
          <a:ln w="9525">
            <a:solidFill>
              <a:srgbClr val="E3EBF0"/>
            </a:solidFill>
            <a:prstDash val="solid"/>
          </a:ln>
        </p:spPr>
      </p:sp>
      <p:sp>
        <p:nvSpPr>
          <p:cNvPr id="39" name="Text 37"/>
          <p:cNvSpPr/>
          <p:nvPr/>
        </p:nvSpPr>
        <p:spPr>
          <a:xfrm>
            <a:off x="2578608" y="4434840"/>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Scaling or imputation fitted on the full dataset before splitting</a:t>
            </a:r>
            <a:endParaRPr lang="en-US" sz="1050" dirty="0"/>
          </a:p>
        </p:txBody>
      </p:sp>
      <p:sp>
        <p:nvSpPr>
          <p:cNvPr id="40" name="Shape 38"/>
          <p:cNvSpPr/>
          <p:nvPr/>
        </p:nvSpPr>
        <p:spPr>
          <a:xfrm>
            <a:off x="6949440" y="4434840"/>
            <a:ext cx="4572000" cy="566928"/>
          </a:xfrm>
          <a:prstGeom prst="rect">
            <a:avLst/>
          </a:prstGeom>
          <a:solidFill>
            <a:srgbClr val="FFFFFF"/>
          </a:solidFill>
          <a:ln w="9525">
            <a:solidFill>
              <a:srgbClr val="E3EBF0"/>
            </a:solidFill>
            <a:prstDash val="solid"/>
          </a:ln>
        </p:spPr>
      </p:sp>
      <p:sp>
        <p:nvSpPr>
          <p:cNvPr id="41" name="Text 39"/>
          <p:cNvSpPr/>
          <p:nvPr/>
        </p:nvSpPr>
        <p:spPr>
          <a:xfrm>
            <a:off x="7059168" y="4434840"/>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Fit all transformations inside the training fold only</a:t>
            </a:r>
            <a:endParaRPr lang="en-US" sz="1050" dirty="0"/>
          </a:p>
        </p:txBody>
      </p:sp>
      <p:sp>
        <p:nvSpPr>
          <p:cNvPr id="42" name="Shape 40"/>
          <p:cNvSpPr/>
          <p:nvPr/>
        </p:nvSpPr>
        <p:spPr>
          <a:xfrm>
            <a:off x="640080" y="5001768"/>
            <a:ext cx="1828800" cy="566928"/>
          </a:xfrm>
          <a:prstGeom prst="rect">
            <a:avLst/>
          </a:prstGeom>
          <a:solidFill>
            <a:srgbClr val="F5F9FB"/>
          </a:solidFill>
          <a:ln w="9525">
            <a:solidFill>
              <a:srgbClr val="E3EBF0"/>
            </a:solidFill>
            <a:prstDash val="solid"/>
          </a:ln>
        </p:spPr>
      </p:sp>
      <p:sp>
        <p:nvSpPr>
          <p:cNvPr id="43" name="Text 41"/>
          <p:cNvSpPr/>
          <p:nvPr/>
        </p:nvSpPr>
        <p:spPr>
          <a:xfrm>
            <a:off x="749808" y="5001768"/>
            <a:ext cx="16093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Duplicate</a:t>
            </a:r>
            <a:endParaRPr lang="en-US" sz="1050" dirty="0"/>
          </a:p>
        </p:txBody>
      </p:sp>
      <p:sp>
        <p:nvSpPr>
          <p:cNvPr id="44" name="Shape 42"/>
          <p:cNvSpPr/>
          <p:nvPr/>
        </p:nvSpPr>
        <p:spPr>
          <a:xfrm>
            <a:off x="2468880" y="5001768"/>
            <a:ext cx="4480560" cy="566928"/>
          </a:xfrm>
          <a:prstGeom prst="rect">
            <a:avLst/>
          </a:prstGeom>
          <a:solidFill>
            <a:srgbClr val="F5F9FB"/>
          </a:solidFill>
          <a:ln w="9525">
            <a:solidFill>
              <a:srgbClr val="E3EBF0"/>
            </a:solidFill>
            <a:prstDash val="solid"/>
          </a:ln>
        </p:spPr>
      </p:sp>
      <p:sp>
        <p:nvSpPr>
          <p:cNvPr id="45" name="Text 43"/>
          <p:cNvSpPr/>
          <p:nvPr/>
        </p:nvSpPr>
        <p:spPr>
          <a:xfrm>
            <a:off x="2578608" y="5001768"/>
            <a:ext cx="42611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Near-identical records appear in both splits</a:t>
            </a:r>
            <a:endParaRPr lang="en-US" sz="1050" dirty="0"/>
          </a:p>
        </p:txBody>
      </p:sp>
      <p:sp>
        <p:nvSpPr>
          <p:cNvPr id="46" name="Shape 44"/>
          <p:cNvSpPr/>
          <p:nvPr/>
        </p:nvSpPr>
        <p:spPr>
          <a:xfrm>
            <a:off x="6949440" y="5001768"/>
            <a:ext cx="4572000" cy="566928"/>
          </a:xfrm>
          <a:prstGeom prst="rect">
            <a:avLst/>
          </a:prstGeom>
          <a:solidFill>
            <a:srgbClr val="F5F9FB"/>
          </a:solidFill>
          <a:ln w="9525">
            <a:solidFill>
              <a:srgbClr val="E3EBF0"/>
            </a:solidFill>
            <a:prstDash val="solid"/>
          </a:ln>
        </p:spPr>
      </p:sp>
      <p:sp>
        <p:nvSpPr>
          <p:cNvPr id="47" name="Text 45"/>
          <p:cNvSpPr/>
          <p:nvPr/>
        </p:nvSpPr>
        <p:spPr>
          <a:xfrm>
            <a:off x="7059168" y="5001768"/>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De-duplicate before splitting, including near-duplicates</a:t>
            </a:r>
            <a:endParaRPr lang="en-US" sz="1050" dirty="0"/>
          </a:p>
        </p:txBody>
      </p:sp>
      <p:sp>
        <p:nvSpPr>
          <p:cNvPr id="48" name="Text 46"/>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C1440E"/>
                </a:solidFill>
                <a:latin typeface="Calibri" pitchFamily="34" charset="0"/>
                <a:ea typeface="Calibri" pitchFamily="34" charset="-122"/>
                <a:cs typeface="Calibri" pitchFamily="34" charset="-120"/>
              </a:rPr>
              <a:t>If offline results look surprisingly good, assume leakage until you have ruled it out. Being pleasantly surprised by a model is a warning.</a:t>
            </a:r>
            <a:endParaRPr lang="en-US" sz="12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3.8</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A leakage detection checklist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59</a:t>
            </a:r>
            <a:endParaRPr lang="en-US" sz="1000" dirty="0"/>
          </a:p>
        </p:txBody>
      </p:sp>
      <p:sp>
        <p:nvSpPr>
          <p:cNvPr id="5" name="Shape 3"/>
          <p:cNvSpPr/>
          <p:nvPr/>
        </p:nvSpPr>
        <p:spPr>
          <a:xfrm>
            <a:off x="640080" y="1444752"/>
            <a:ext cx="365760" cy="365760"/>
          </a:xfrm>
          <a:prstGeom prst="ellipse">
            <a:avLst/>
          </a:prstGeom>
          <a:solidFill>
            <a:srgbClr val="C1440E"/>
          </a:solidFill>
          <a:ln/>
        </p:spPr>
      </p:sp>
      <p:sp>
        <p:nvSpPr>
          <p:cNvPr id="6" name="Text 4"/>
          <p:cNvSpPr/>
          <p:nvPr/>
        </p:nvSpPr>
        <p:spPr>
          <a:xfrm>
            <a:off x="640080" y="14447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4297680" cy="548640"/>
          </a:xfrm>
          <a:prstGeom prst="rect">
            <a:avLst/>
          </a:prstGeom>
          <a:noFill/>
          <a:ln/>
        </p:spPr>
        <p:txBody>
          <a:bodyPr wrap="square" lIns="0" tIns="0" rIns="0" bIns="0" rtlCol="0" anchor="ctr"/>
          <a:lstStyle/>
          <a:p>
            <a:pPr indent="0" marL="0">
              <a:lnSpc>
                <a:spcPts val="1500"/>
              </a:lnSpc>
              <a:buNone/>
            </a:pPr>
            <a:r>
              <a:rPr lang="en-US" sz="1250" b="1" dirty="0">
                <a:solidFill>
                  <a:srgbClr val="1A2430"/>
                </a:solidFill>
                <a:latin typeface="Calibri" pitchFamily="34" charset="0"/>
                <a:ea typeface="Calibri" pitchFamily="34" charset="-122"/>
                <a:cs typeface="Calibri" pitchFamily="34" charset="-120"/>
              </a:rPr>
              <a:t>Does any feature encode the outcome?</a:t>
            </a:r>
            <a:endParaRPr lang="en-US" sz="1250" dirty="0"/>
          </a:p>
        </p:txBody>
      </p:sp>
      <p:sp>
        <p:nvSpPr>
          <p:cNvPr id="8" name="Text 6"/>
          <p:cNvSpPr/>
          <p:nvPr/>
        </p:nvSpPr>
        <p:spPr>
          <a:xfrm>
            <a:off x="5669280" y="1371600"/>
            <a:ext cx="58521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Trace each feature to the moment it becomes known in the real process.</a:t>
            </a:r>
            <a:endParaRPr lang="en-US" sz="1150" dirty="0"/>
          </a:p>
        </p:txBody>
      </p:sp>
      <p:sp>
        <p:nvSpPr>
          <p:cNvPr id="9" name="Shape 7"/>
          <p:cNvSpPr/>
          <p:nvPr/>
        </p:nvSpPr>
        <p:spPr>
          <a:xfrm>
            <a:off x="640080" y="2121408"/>
            <a:ext cx="365760" cy="365760"/>
          </a:xfrm>
          <a:prstGeom prst="ellipse">
            <a:avLst/>
          </a:prstGeom>
          <a:solidFill>
            <a:srgbClr val="C1440E"/>
          </a:solidFill>
          <a:ln/>
        </p:spPr>
      </p:sp>
      <p:sp>
        <p:nvSpPr>
          <p:cNvPr id="10" name="Text 8"/>
          <p:cNvSpPr/>
          <p:nvPr/>
        </p:nvSpPr>
        <p:spPr>
          <a:xfrm>
            <a:off x="640080" y="21214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048256"/>
            <a:ext cx="4297680" cy="548640"/>
          </a:xfrm>
          <a:prstGeom prst="rect">
            <a:avLst/>
          </a:prstGeom>
          <a:noFill/>
          <a:ln/>
        </p:spPr>
        <p:txBody>
          <a:bodyPr wrap="square" lIns="0" tIns="0" rIns="0" bIns="0" rtlCol="0" anchor="ctr"/>
          <a:lstStyle/>
          <a:p>
            <a:pPr indent="0" marL="0">
              <a:lnSpc>
                <a:spcPts val="1500"/>
              </a:lnSpc>
              <a:buNone/>
            </a:pPr>
            <a:r>
              <a:rPr lang="en-US" sz="1250" b="1" dirty="0">
                <a:solidFill>
                  <a:srgbClr val="1A2430"/>
                </a:solidFill>
                <a:latin typeface="Calibri" pitchFamily="34" charset="0"/>
                <a:ea typeface="Calibri" pitchFamily="34" charset="-122"/>
                <a:cs typeface="Calibri" pitchFamily="34" charset="-120"/>
              </a:rPr>
              <a:t>Was the split random on time-dependent data?</a:t>
            </a:r>
            <a:endParaRPr lang="en-US" sz="1250" dirty="0"/>
          </a:p>
        </p:txBody>
      </p:sp>
      <p:sp>
        <p:nvSpPr>
          <p:cNvPr id="12" name="Text 10"/>
          <p:cNvSpPr/>
          <p:nvPr/>
        </p:nvSpPr>
        <p:spPr>
          <a:xfrm>
            <a:off x="5669280" y="2048256"/>
            <a:ext cx="58521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Re-split temporally and compare. A sharp drop confirms leakage.</a:t>
            </a:r>
            <a:endParaRPr lang="en-US" sz="1150" dirty="0"/>
          </a:p>
        </p:txBody>
      </p:sp>
      <p:sp>
        <p:nvSpPr>
          <p:cNvPr id="13" name="Shape 11"/>
          <p:cNvSpPr/>
          <p:nvPr/>
        </p:nvSpPr>
        <p:spPr>
          <a:xfrm>
            <a:off x="640080" y="2798064"/>
            <a:ext cx="365760" cy="365760"/>
          </a:xfrm>
          <a:prstGeom prst="ellipse">
            <a:avLst/>
          </a:prstGeom>
          <a:solidFill>
            <a:srgbClr val="C1440E"/>
          </a:solidFill>
          <a:ln/>
        </p:spPr>
      </p:sp>
      <p:sp>
        <p:nvSpPr>
          <p:cNvPr id="14" name="Text 12"/>
          <p:cNvSpPr/>
          <p:nvPr/>
        </p:nvSpPr>
        <p:spPr>
          <a:xfrm>
            <a:off x="640080" y="27980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724912"/>
            <a:ext cx="4297680" cy="548640"/>
          </a:xfrm>
          <a:prstGeom prst="rect">
            <a:avLst/>
          </a:prstGeom>
          <a:noFill/>
          <a:ln/>
        </p:spPr>
        <p:txBody>
          <a:bodyPr wrap="square" lIns="0" tIns="0" rIns="0" bIns="0" rtlCol="0" anchor="ctr"/>
          <a:lstStyle/>
          <a:p>
            <a:pPr indent="0" marL="0">
              <a:lnSpc>
                <a:spcPts val="1500"/>
              </a:lnSpc>
              <a:buNone/>
            </a:pPr>
            <a:r>
              <a:rPr lang="en-US" sz="1250" b="1" dirty="0">
                <a:solidFill>
                  <a:srgbClr val="1A2430"/>
                </a:solidFill>
                <a:latin typeface="Calibri" pitchFamily="34" charset="0"/>
                <a:ea typeface="Calibri" pitchFamily="34" charset="-122"/>
                <a:cs typeface="Calibri" pitchFamily="34" charset="-120"/>
              </a:rPr>
              <a:t>Do groups span the split?</a:t>
            </a:r>
            <a:endParaRPr lang="en-US" sz="1250" dirty="0"/>
          </a:p>
        </p:txBody>
      </p:sp>
      <p:sp>
        <p:nvSpPr>
          <p:cNvPr id="16" name="Text 14"/>
          <p:cNvSpPr/>
          <p:nvPr/>
        </p:nvSpPr>
        <p:spPr>
          <a:xfrm>
            <a:off x="5669280" y="2724912"/>
            <a:ext cx="58521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Check whether any machine, part or document ID appears in both sets.</a:t>
            </a:r>
            <a:endParaRPr lang="en-US" sz="1150" dirty="0"/>
          </a:p>
        </p:txBody>
      </p:sp>
      <p:sp>
        <p:nvSpPr>
          <p:cNvPr id="17" name="Shape 15"/>
          <p:cNvSpPr/>
          <p:nvPr/>
        </p:nvSpPr>
        <p:spPr>
          <a:xfrm>
            <a:off x="640080" y="3474720"/>
            <a:ext cx="365760" cy="365760"/>
          </a:xfrm>
          <a:prstGeom prst="ellipse">
            <a:avLst/>
          </a:prstGeom>
          <a:solidFill>
            <a:srgbClr val="C1440E"/>
          </a:solidFill>
          <a:ln/>
        </p:spPr>
      </p:sp>
      <p:sp>
        <p:nvSpPr>
          <p:cNvPr id="18" name="Text 16"/>
          <p:cNvSpPr/>
          <p:nvPr/>
        </p:nvSpPr>
        <p:spPr>
          <a:xfrm>
            <a:off x="640080" y="34747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401568"/>
            <a:ext cx="4297680" cy="548640"/>
          </a:xfrm>
          <a:prstGeom prst="rect">
            <a:avLst/>
          </a:prstGeom>
          <a:noFill/>
          <a:ln/>
        </p:spPr>
        <p:txBody>
          <a:bodyPr wrap="square" lIns="0" tIns="0" rIns="0" bIns="0" rtlCol="0" anchor="ctr"/>
          <a:lstStyle/>
          <a:p>
            <a:pPr indent="0" marL="0">
              <a:lnSpc>
                <a:spcPts val="1500"/>
              </a:lnSpc>
              <a:buNone/>
            </a:pPr>
            <a:r>
              <a:rPr lang="en-US" sz="1250" b="1" dirty="0">
                <a:solidFill>
                  <a:srgbClr val="1A2430"/>
                </a:solidFill>
                <a:latin typeface="Calibri" pitchFamily="34" charset="0"/>
                <a:ea typeface="Calibri" pitchFamily="34" charset="-122"/>
                <a:cs typeface="Calibri" pitchFamily="34" charset="-120"/>
              </a:rPr>
              <a:t>Was preprocessing fitted before splitting?</a:t>
            </a:r>
            <a:endParaRPr lang="en-US" sz="1250" dirty="0"/>
          </a:p>
        </p:txBody>
      </p:sp>
      <p:sp>
        <p:nvSpPr>
          <p:cNvPr id="20" name="Text 18"/>
          <p:cNvSpPr/>
          <p:nvPr/>
        </p:nvSpPr>
        <p:spPr>
          <a:xfrm>
            <a:off x="5669280" y="3401568"/>
            <a:ext cx="58521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Scalers, encoders and imputers must be fitted inside the training fold.</a:t>
            </a:r>
            <a:endParaRPr lang="en-US" sz="1150" dirty="0"/>
          </a:p>
        </p:txBody>
      </p:sp>
      <p:sp>
        <p:nvSpPr>
          <p:cNvPr id="21" name="Shape 19"/>
          <p:cNvSpPr/>
          <p:nvPr/>
        </p:nvSpPr>
        <p:spPr>
          <a:xfrm>
            <a:off x="640080" y="4151376"/>
            <a:ext cx="365760" cy="365760"/>
          </a:xfrm>
          <a:prstGeom prst="ellipse">
            <a:avLst/>
          </a:prstGeom>
          <a:solidFill>
            <a:srgbClr val="C1440E"/>
          </a:solidFill>
          <a:ln/>
        </p:spPr>
      </p:sp>
      <p:sp>
        <p:nvSpPr>
          <p:cNvPr id="22" name="Text 20"/>
          <p:cNvSpPr/>
          <p:nvPr/>
        </p:nvSpPr>
        <p:spPr>
          <a:xfrm>
            <a:off x="640080" y="4151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078224"/>
            <a:ext cx="4297680" cy="548640"/>
          </a:xfrm>
          <a:prstGeom prst="rect">
            <a:avLst/>
          </a:prstGeom>
          <a:noFill/>
          <a:ln/>
        </p:spPr>
        <p:txBody>
          <a:bodyPr wrap="square" lIns="0" tIns="0" rIns="0" bIns="0" rtlCol="0" anchor="ctr"/>
          <a:lstStyle/>
          <a:p>
            <a:pPr indent="0" marL="0">
              <a:lnSpc>
                <a:spcPts val="1500"/>
              </a:lnSpc>
              <a:buNone/>
            </a:pPr>
            <a:r>
              <a:rPr lang="en-US" sz="1250" b="1" dirty="0">
                <a:solidFill>
                  <a:srgbClr val="1A2430"/>
                </a:solidFill>
                <a:latin typeface="Calibri" pitchFamily="34" charset="0"/>
                <a:ea typeface="Calibri" pitchFamily="34" charset="-122"/>
                <a:cs typeface="Calibri" pitchFamily="34" charset="-120"/>
              </a:rPr>
              <a:t>Are there near-duplicates?</a:t>
            </a:r>
            <a:endParaRPr lang="en-US" sz="1250" dirty="0"/>
          </a:p>
        </p:txBody>
      </p:sp>
      <p:sp>
        <p:nvSpPr>
          <p:cNvPr id="24" name="Text 22"/>
          <p:cNvSpPr/>
          <p:nvPr/>
        </p:nvSpPr>
        <p:spPr>
          <a:xfrm>
            <a:off x="5669280" y="4078224"/>
            <a:ext cx="58521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Check for near-identical records across splits, not just exact matches.</a:t>
            </a:r>
            <a:endParaRPr lang="en-US" sz="1150" dirty="0"/>
          </a:p>
        </p:txBody>
      </p:sp>
      <p:sp>
        <p:nvSpPr>
          <p:cNvPr id="25" name="Shape 23"/>
          <p:cNvSpPr/>
          <p:nvPr/>
        </p:nvSpPr>
        <p:spPr>
          <a:xfrm>
            <a:off x="640080" y="4828032"/>
            <a:ext cx="365760" cy="365760"/>
          </a:xfrm>
          <a:prstGeom prst="ellipse">
            <a:avLst/>
          </a:prstGeom>
          <a:solidFill>
            <a:srgbClr val="C1440E"/>
          </a:solidFill>
          <a:ln/>
        </p:spPr>
      </p:sp>
      <p:sp>
        <p:nvSpPr>
          <p:cNvPr id="26" name="Text 24"/>
          <p:cNvSpPr/>
          <p:nvPr/>
        </p:nvSpPr>
        <p:spPr>
          <a:xfrm>
            <a:off x="640080" y="48280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754880"/>
            <a:ext cx="4297680" cy="548640"/>
          </a:xfrm>
          <a:prstGeom prst="rect">
            <a:avLst/>
          </a:prstGeom>
          <a:noFill/>
          <a:ln/>
        </p:spPr>
        <p:txBody>
          <a:bodyPr wrap="square" lIns="0" tIns="0" rIns="0" bIns="0" rtlCol="0" anchor="ctr"/>
          <a:lstStyle/>
          <a:p>
            <a:pPr indent="0" marL="0">
              <a:lnSpc>
                <a:spcPts val="1500"/>
              </a:lnSpc>
              <a:buNone/>
            </a:pPr>
            <a:r>
              <a:rPr lang="en-US" sz="1250" b="1" dirty="0">
                <a:solidFill>
                  <a:srgbClr val="1A2430"/>
                </a:solidFill>
                <a:latin typeface="Calibri" pitchFamily="34" charset="0"/>
                <a:ea typeface="Calibri" pitchFamily="34" charset="-122"/>
                <a:cs typeface="Calibri" pitchFamily="34" charset="-120"/>
              </a:rPr>
              <a:t>How many times has the test set been used?</a:t>
            </a:r>
            <a:endParaRPr lang="en-US" sz="1250" dirty="0"/>
          </a:p>
        </p:txBody>
      </p:sp>
      <p:sp>
        <p:nvSpPr>
          <p:cNvPr id="28" name="Text 26"/>
          <p:cNvSpPr/>
          <p:nvPr/>
        </p:nvSpPr>
        <p:spPr>
          <a:xfrm>
            <a:off x="5669280" y="4754880"/>
            <a:ext cx="58521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If more than a handful, it has become a validation set. Build a fresh one.</a:t>
            </a:r>
            <a:endParaRPr lang="en-US" sz="1150" dirty="0"/>
          </a:p>
        </p:txBody>
      </p:sp>
      <p:sp>
        <p:nvSpPr>
          <p:cNvPr id="29" name="Shape 27"/>
          <p:cNvSpPr/>
          <p:nvPr/>
        </p:nvSpPr>
        <p:spPr>
          <a:xfrm>
            <a:off x="640080" y="5504688"/>
            <a:ext cx="365760" cy="365760"/>
          </a:xfrm>
          <a:prstGeom prst="ellipse">
            <a:avLst/>
          </a:prstGeom>
          <a:solidFill>
            <a:srgbClr val="C1440E"/>
          </a:solidFill>
          <a:ln/>
        </p:spPr>
      </p:sp>
      <p:sp>
        <p:nvSpPr>
          <p:cNvPr id="30" name="Text 28"/>
          <p:cNvSpPr/>
          <p:nvPr/>
        </p:nvSpPr>
        <p:spPr>
          <a:xfrm>
            <a:off x="640080" y="55046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1188720" y="5431536"/>
            <a:ext cx="4297680" cy="548640"/>
          </a:xfrm>
          <a:prstGeom prst="rect">
            <a:avLst/>
          </a:prstGeom>
          <a:noFill/>
          <a:ln/>
        </p:spPr>
        <p:txBody>
          <a:bodyPr wrap="square" lIns="0" tIns="0" rIns="0" bIns="0" rtlCol="0" anchor="ctr"/>
          <a:lstStyle/>
          <a:p>
            <a:pPr indent="0" marL="0">
              <a:lnSpc>
                <a:spcPts val="1500"/>
              </a:lnSpc>
              <a:buNone/>
            </a:pPr>
            <a:r>
              <a:rPr lang="en-US" sz="1250" b="1" dirty="0">
                <a:solidFill>
                  <a:srgbClr val="1A2430"/>
                </a:solidFill>
                <a:latin typeface="Calibri" pitchFamily="34" charset="0"/>
                <a:ea typeface="Calibri" pitchFamily="34" charset="-122"/>
                <a:cs typeface="Calibri" pitchFamily="34" charset="-120"/>
              </a:rPr>
              <a:t>Does performance hold on a later time window?</a:t>
            </a:r>
            <a:endParaRPr lang="en-US" sz="1250" dirty="0"/>
          </a:p>
        </p:txBody>
      </p:sp>
      <p:sp>
        <p:nvSpPr>
          <p:cNvPr id="32" name="Text 30"/>
          <p:cNvSpPr/>
          <p:nvPr/>
        </p:nvSpPr>
        <p:spPr>
          <a:xfrm>
            <a:off x="5669280" y="5431536"/>
            <a:ext cx="5852160" cy="5486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The single most effective end-to-end check available.</a:t>
            </a:r>
            <a:endParaRPr lang="en-US" sz="1150" dirty="0"/>
          </a:p>
        </p:txBody>
      </p:sp>
      <p:sp>
        <p:nvSpPr>
          <p:cNvPr id="33" name="Text 3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Run this list against every model before anyone claims a result. It takes an hour and saves quarters.</a:t>
            </a:r>
            <a:endParaRPr lang="en-US" sz="12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3.9</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Turning failures into permanent tests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60</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50" b="1" dirty="0">
                <a:solidFill>
                  <a:srgbClr val="1C7293"/>
                </a:solidFill>
                <a:latin typeface="Calibri" pitchFamily="34" charset="0"/>
                <a:ea typeface="Calibri" pitchFamily="34" charset="-122"/>
                <a:cs typeface="Calibri" pitchFamily="34" charset="-120"/>
              </a:rPr>
              <a:t>In software engineering, a fixed bug leaves behind a test so it cannot silently return. AI systems need the same discipline and almost never have it.</a:t>
            </a:r>
            <a:endParaRPr lang="en-US" sz="1450" dirty="0"/>
          </a:p>
        </p:txBody>
      </p:sp>
      <p:sp>
        <p:nvSpPr>
          <p:cNvPr id="6" name="Shape 4"/>
          <p:cNvSpPr/>
          <p:nvPr/>
        </p:nvSpPr>
        <p:spPr>
          <a:xfrm>
            <a:off x="640080" y="1828800"/>
            <a:ext cx="2468880" cy="658368"/>
          </a:xfrm>
          <a:prstGeom prst="roundRect">
            <a:avLst>
              <a:gd name="adj" fmla="val 6944"/>
            </a:avLst>
          </a:prstGeom>
          <a:solidFill>
            <a:srgbClr val="065A82"/>
          </a:solidFill>
          <a:ln/>
        </p:spPr>
      </p:sp>
      <p:sp>
        <p:nvSpPr>
          <p:cNvPr id="7" name="Text 5"/>
          <p:cNvSpPr/>
          <p:nvPr/>
        </p:nvSpPr>
        <p:spPr>
          <a:xfrm>
            <a:off x="731520" y="1828800"/>
            <a:ext cx="2286000"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Regression cases</a:t>
            </a:r>
            <a:endParaRPr lang="en-US" sz="1250" dirty="0"/>
          </a:p>
        </p:txBody>
      </p:sp>
      <p:sp>
        <p:nvSpPr>
          <p:cNvPr id="8" name="Text 6"/>
          <p:cNvSpPr/>
          <p:nvPr/>
        </p:nvSpPr>
        <p:spPr>
          <a:xfrm>
            <a:off x="3291840" y="1828800"/>
            <a:ext cx="4846320" cy="658368"/>
          </a:xfrm>
          <a:prstGeom prst="rect">
            <a:avLst/>
          </a:prstGeom>
          <a:noFill/>
          <a:ln/>
        </p:spPr>
        <p:txBody>
          <a:bodyPr wrap="square" lIns="0" tIns="0" rIns="0" bIns="0" rtlCol="0" anchor="ctr"/>
          <a:lstStyle/>
          <a:p>
            <a:pPr indent="0" marL="0">
              <a:lnSpc>
                <a:spcPts val="1500"/>
              </a:lnSpc>
              <a:buNone/>
            </a:pPr>
            <a:r>
              <a:rPr lang="en-US" sz="1200" dirty="0">
                <a:solidFill>
                  <a:srgbClr val="1A2430"/>
                </a:solidFill>
                <a:latin typeface="Calibri" pitchFamily="34" charset="0"/>
                <a:ea typeface="Calibri" pitchFamily="34" charset="-122"/>
                <a:cs typeface="Calibri" pitchFamily="34" charset="-120"/>
              </a:rPr>
              <a:t>Every fixed failure becomes a permanent item in the evaluation set</a:t>
            </a:r>
            <a:endParaRPr lang="en-US" sz="1200" dirty="0"/>
          </a:p>
        </p:txBody>
      </p:sp>
      <p:sp>
        <p:nvSpPr>
          <p:cNvPr id="9" name="Text 7"/>
          <p:cNvSpPr/>
          <p:nvPr/>
        </p:nvSpPr>
        <p:spPr>
          <a:xfrm>
            <a:off x="8321040" y="1828800"/>
            <a:ext cx="3200400" cy="65836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Prevents silent reintroduction</a:t>
            </a:r>
            <a:endParaRPr lang="en-US" sz="1100" dirty="0"/>
          </a:p>
        </p:txBody>
      </p:sp>
      <p:sp>
        <p:nvSpPr>
          <p:cNvPr id="10" name="Shape 8"/>
          <p:cNvSpPr/>
          <p:nvPr/>
        </p:nvSpPr>
        <p:spPr>
          <a:xfrm>
            <a:off x="640080" y="2606040"/>
            <a:ext cx="2468880" cy="658368"/>
          </a:xfrm>
          <a:prstGeom prst="roundRect">
            <a:avLst>
              <a:gd name="adj" fmla="val 6944"/>
            </a:avLst>
          </a:prstGeom>
          <a:solidFill>
            <a:srgbClr val="1C7293"/>
          </a:solidFill>
          <a:ln/>
        </p:spPr>
      </p:sp>
      <p:sp>
        <p:nvSpPr>
          <p:cNvPr id="11" name="Text 9"/>
          <p:cNvSpPr/>
          <p:nvPr/>
        </p:nvSpPr>
        <p:spPr>
          <a:xfrm>
            <a:off x="731520" y="2606040"/>
            <a:ext cx="2286000"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Capability cases</a:t>
            </a:r>
            <a:endParaRPr lang="en-US" sz="1250" dirty="0"/>
          </a:p>
        </p:txBody>
      </p:sp>
      <p:sp>
        <p:nvSpPr>
          <p:cNvPr id="12" name="Text 10"/>
          <p:cNvSpPr/>
          <p:nvPr/>
        </p:nvSpPr>
        <p:spPr>
          <a:xfrm>
            <a:off x="3291840" y="2606040"/>
            <a:ext cx="4846320" cy="658368"/>
          </a:xfrm>
          <a:prstGeom prst="rect">
            <a:avLst/>
          </a:prstGeom>
          <a:noFill/>
          <a:ln/>
        </p:spPr>
        <p:txBody>
          <a:bodyPr wrap="square" lIns="0" tIns="0" rIns="0" bIns="0" rtlCol="0" anchor="ctr"/>
          <a:lstStyle/>
          <a:p>
            <a:pPr indent="0" marL="0">
              <a:lnSpc>
                <a:spcPts val="1500"/>
              </a:lnSpc>
              <a:buNone/>
            </a:pPr>
            <a:r>
              <a:rPr lang="en-US" sz="1200" dirty="0">
                <a:solidFill>
                  <a:srgbClr val="1A2430"/>
                </a:solidFill>
                <a:latin typeface="Calibri" pitchFamily="34" charset="0"/>
                <a:ea typeface="Calibri" pitchFamily="34" charset="-122"/>
                <a:cs typeface="Calibri" pitchFamily="34" charset="-120"/>
              </a:rPr>
              <a:t>Examples of things the system must always get right</a:t>
            </a:r>
            <a:endParaRPr lang="en-US" sz="1200" dirty="0"/>
          </a:p>
        </p:txBody>
      </p:sp>
      <p:sp>
        <p:nvSpPr>
          <p:cNvPr id="13" name="Text 11"/>
          <p:cNvSpPr/>
          <p:nvPr/>
        </p:nvSpPr>
        <p:spPr>
          <a:xfrm>
            <a:off x="8321040" y="2606040"/>
            <a:ext cx="3200400" cy="65836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Defines the floor below which you cannot ship</a:t>
            </a:r>
            <a:endParaRPr lang="en-US" sz="1100" dirty="0"/>
          </a:p>
        </p:txBody>
      </p:sp>
      <p:sp>
        <p:nvSpPr>
          <p:cNvPr id="14" name="Shape 12"/>
          <p:cNvSpPr/>
          <p:nvPr/>
        </p:nvSpPr>
        <p:spPr>
          <a:xfrm>
            <a:off x="640080" y="3383280"/>
            <a:ext cx="2468880" cy="658368"/>
          </a:xfrm>
          <a:prstGeom prst="roundRect">
            <a:avLst>
              <a:gd name="adj" fmla="val 6944"/>
            </a:avLst>
          </a:prstGeom>
          <a:solidFill>
            <a:srgbClr val="21295C"/>
          </a:solidFill>
          <a:ln/>
        </p:spPr>
      </p:sp>
      <p:sp>
        <p:nvSpPr>
          <p:cNvPr id="15" name="Text 13"/>
          <p:cNvSpPr/>
          <p:nvPr/>
        </p:nvSpPr>
        <p:spPr>
          <a:xfrm>
            <a:off x="731520" y="3383280"/>
            <a:ext cx="2286000"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Stress cases</a:t>
            </a:r>
            <a:endParaRPr lang="en-US" sz="1250" dirty="0"/>
          </a:p>
        </p:txBody>
      </p:sp>
      <p:sp>
        <p:nvSpPr>
          <p:cNvPr id="16" name="Text 14"/>
          <p:cNvSpPr/>
          <p:nvPr/>
        </p:nvSpPr>
        <p:spPr>
          <a:xfrm>
            <a:off x="3291840" y="3383280"/>
            <a:ext cx="4846320" cy="658368"/>
          </a:xfrm>
          <a:prstGeom prst="rect">
            <a:avLst/>
          </a:prstGeom>
          <a:noFill/>
          <a:ln/>
        </p:spPr>
        <p:txBody>
          <a:bodyPr wrap="square" lIns="0" tIns="0" rIns="0" bIns="0" rtlCol="0" anchor="ctr"/>
          <a:lstStyle/>
          <a:p>
            <a:pPr indent="0" marL="0">
              <a:lnSpc>
                <a:spcPts val="1500"/>
              </a:lnSpc>
              <a:buNone/>
            </a:pPr>
            <a:r>
              <a:rPr lang="en-US" sz="1200" dirty="0">
                <a:solidFill>
                  <a:srgbClr val="1A2430"/>
                </a:solidFill>
                <a:latin typeface="Calibri" pitchFamily="34" charset="0"/>
                <a:ea typeface="Calibri" pitchFamily="34" charset="-122"/>
                <a:cs typeface="Calibri" pitchFamily="34" charset="-120"/>
              </a:rPr>
              <a:t>Deliberately hard inputs — ambiguous, adversarial, malformed</a:t>
            </a:r>
            <a:endParaRPr lang="en-US" sz="1200" dirty="0"/>
          </a:p>
        </p:txBody>
      </p:sp>
      <p:sp>
        <p:nvSpPr>
          <p:cNvPr id="17" name="Text 15"/>
          <p:cNvSpPr/>
          <p:nvPr/>
        </p:nvSpPr>
        <p:spPr>
          <a:xfrm>
            <a:off x="8321040" y="3383280"/>
            <a:ext cx="3200400" cy="65836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Reveals the boundary of competence</a:t>
            </a:r>
            <a:endParaRPr lang="en-US" sz="1100" dirty="0"/>
          </a:p>
        </p:txBody>
      </p:sp>
      <p:sp>
        <p:nvSpPr>
          <p:cNvPr id="18" name="Shape 16"/>
          <p:cNvSpPr/>
          <p:nvPr/>
        </p:nvSpPr>
        <p:spPr>
          <a:xfrm>
            <a:off x="640080" y="4160520"/>
            <a:ext cx="2468880" cy="658368"/>
          </a:xfrm>
          <a:prstGeom prst="roundRect">
            <a:avLst>
              <a:gd name="adj" fmla="val 6944"/>
            </a:avLst>
          </a:prstGeom>
          <a:solidFill>
            <a:srgbClr val="C1440E"/>
          </a:solidFill>
          <a:ln/>
        </p:spPr>
      </p:sp>
      <p:sp>
        <p:nvSpPr>
          <p:cNvPr id="19" name="Text 17"/>
          <p:cNvSpPr/>
          <p:nvPr/>
        </p:nvSpPr>
        <p:spPr>
          <a:xfrm>
            <a:off x="731520" y="4160520"/>
            <a:ext cx="2286000"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Safety cases</a:t>
            </a:r>
            <a:endParaRPr lang="en-US" sz="1250" dirty="0"/>
          </a:p>
        </p:txBody>
      </p:sp>
      <p:sp>
        <p:nvSpPr>
          <p:cNvPr id="20" name="Text 18"/>
          <p:cNvSpPr/>
          <p:nvPr/>
        </p:nvSpPr>
        <p:spPr>
          <a:xfrm>
            <a:off x="3291840" y="4160520"/>
            <a:ext cx="4846320" cy="658368"/>
          </a:xfrm>
          <a:prstGeom prst="rect">
            <a:avLst/>
          </a:prstGeom>
          <a:noFill/>
          <a:ln/>
        </p:spPr>
        <p:txBody>
          <a:bodyPr wrap="square" lIns="0" tIns="0" rIns="0" bIns="0" rtlCol="0" anchor="ctr"/>
          <a:lstStyle/>
          <a:p>
            <a:pPr indent="0" marL="0">
              <a:lnSpc>
                <a:spcPts val="1500"/>
              </a:lnSpc>
              <a:buNone/>
            </a:pPr>
            <a:r>
              <a:rPr lang="en-US" sz="1200" dirty="0">
                <a:solidFill>
                  <a:srgbClr val="1A2430"/>
                </a:solidFill>
                <a:latin typeface="Calibri" pitchFamily="34" charset="0"/>
                <a:ea typeface="Calibri" pitchFamily="34" charset="-122"/>
                <a:cs typeface="Calibri" pitchFamily="34" charset="-120"/>
              </a:rPr>
              <a:t>Inputs that must never produce a particular class of output</a:t>
            </a:r>
            <a:endParaRPr lang="en-US" sz="1200" dirty="0"/>
          </a:p>
        </p:txBody>
      </p:sp>
      <p:sp>
        <p:nvSpPr>
          <p:cNvPr id="21" name="Text 19"/>
          <p:cNvSpPr/>
          <p:nvPr/>
        </p:nvSpPr>
        <p:spPr>
          <a:xfrm>
            <a:off x="8321040" y="4160520"/>
            <a:ext cx="3200400" cy="65836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Non-negotiable; a failure here blocks release</a:t>
            </a:r>
            <a:endParaRPr lang="en-US" sz="1100" dirty="0"/>
          </a:p>
        </p:txBody>
      </p:sp>
      <p:sp>
        <p:nvSpPr>
          <p:cNvPr id="22" name="Shape 20"/>
          <p:cNvSpPr/>
          <p:nvPr/>
        </p:nvSpPr>
        <p:spPr>
          <a:xfrm>
            <a:off x="640080" y="4937760"/>
            <a:ext cx="2468880" cy="658368"/>
          </a:xfrm>
          <a:prstGeom prst="roundRect">
            <a:avLst>
              <a:gd name="adj" fmla="val 6944"/>
            </a:avLst>
          </a:prstGeom>
          <a:solidFill>
            <a:srgbClr val="1E7A3C"/>
          </a:solidFill>
          <a:ln/>
        </p:spPr>
      </p:sp>
      <p:sp>
        <p:nvSpPr>
          <p:cNvPr id="23" name="Text 21"/>
          <p:cNvSpPr/>
          <p:nvPr/>
        </p:nvSpPr>
        <p:spPr>
          <a:xfrm>
            <a:off x="731520" y="4937760"/>
            <a:ext cx="2286000"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Slice suites</a:t>
            </a:r>
            <a:endParaRPr lang="en-US" sz="1250" dirty="0"/>
          </a:p>
        </p:txBody>
      </p:sp>
      <p:sp>
        <p:nvSpPr>
          <p:cNvPr id="24" name="Text 22"/>
          <p:cNvSpPr/>
          <p:nvPr/>
        </p:nvSpPr>
        <p:spPr>
          <a:xfrm>
            <a:off x="3291840" y="4937760"/>
            <a:ext cx="4846320" cy="658368"/>
          </a:xfrm>
          <a:prstGeom prst="rect">
            <a:avLst/>
          </a:prstGeom>
          <a:noFill/>
          <a:ln/>
        </p:spPr>
        <p:txBody>
          <a:bodyPr wrap="square" lIns="0" tIns="0" rIns="0" bIns="0" rtlCol="0" anchor="ctr"/>
          <a:lstStyle/>
          <a:p>
            <a:pPr indent="0" marL="0">
              <a:lnSpc>
                <a:spcPts val="1500"/>
              </a:lnSpc>
              <a:buNone/>
            </a:pPr>
            <a:r>
              <a:rPr lang="en-US" sz="1200" dirty="0">
                <a:solidFill>
                  <a:srgbClr val="1A2430"/>
                </a:solidFill>
                <a:latin typeface="Calibri" pitchFamily="34" charset="0"/>
                <a:ea typeface="Calibri" pitchFamily="34" charset="-122"/>
                <a:cs typeface="Calibri" pitchFamily="34" charset="-120"/>
              </a:rPr>
              <a:t>Grouped cases per class, variant, site or condition</a:t>
            </a:r>
            <a:endParaRPr lang="en-US" sz="1200" dirty="0"/>
          </a:p>
        </p:txBody>
      </p:sp>
      <p:sp>
        <p:nvSpPr>
          <p:cNvPr id="25" name="Text 23"/>
          <p:cNvSpPr/>
          <p:nvPr/>
        </p:nvSpPr>
        <p:spPr>
          <a:xfrm>
            <a:off x="8321040" y="4937760"/>
            <a:ext cx="3200400" cy="65836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Enables slice reporting on every future run</a:t>
            </a:r>
            <a:endParaRPr lang="en-US" sz="1100" dirty="0"/>
          </a:p>
        </p:txBody>
      </p:sp>
      <p:sp>
        <p:nvSpPr>
          <p:cNvPr id="26" name="Text 24"/>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This suite is the asset that compounds. In two years it will be more valuable than any individual model you build.</a:t>
            </a:r>
            <a:endParaRPr lang="en-US" sz="12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3.10</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Ablation studies — proving which part actually helped</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61</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00" dirty="0">
                <a:solidFill>
                  <a:srgbClr val="5A6B7C"/>
                </a:solidFill>
                <a:latin typeface="Calibri" pitchFamily="34" charset="0"/>
                <a:ea typeface="Calibri" pitchFamily="34" charset="-122"/>
                <a:cs typeface="Calibri" pitchFamily="34" charset="-120"/>
              </a:rPr>
              <a:t>When you change four things and performance improves, you have learned almost nothing. An ablation isolates the contribution of each component.</a:t>
            </a:r>
            <a:endParaRPr lang="en-US" sz="1400" dirty="0"/>
          </a:p>
        </p:txBody>
      </p:sp>
      <p:sp>
        <p:nvSpPr>
          <p:cNvPr id="6" name="Shape 4"/>
          <p:cNvSpPr/>
          <p:nvPr/>
        </p:nvSpPr>
        <p:spPr>
          <a:xfrm>
            <a:off x="640080" y="1828800"/>
            <a:ext cx="3291840" cy="384048"/>
          </a:xfrm>
          <a:prstGeom prst="rect">
            <a:avLst/>
          </a:prstGeom>
          <a:solidFill>
            <a:srgbClr val="21295C"/>
          </a:solidFill>
          <a:ln/>
        </p:spPr>
      </p:sp>
      <p:sp>
        <p:nvSpPr>
          <p:cNvPr id="7" name="Text 5"/>
          <p:cNvSpPr/>
          <p:nvPr/>
        </p:nvSpPr>
        <p:spPr>
          <a:xfrm>
            <a:off x="749808" y="1828800"/>
            <a:ext cx="30723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Configuration</a:t>
            </a:r>
            <a:endParaRPr lang="en-US" sz="1100" dirty="0"/>
          </a:p>
        </p:txBody>
      </p:sp>
      <p:sp>
        <p:nvSpPr>
          <p:cNvPr id="8" name="Shape 6"/>
          <p:cNvSpPr/>
          <p:nvPr/>
        </p:nvSpPr>
        <p:spPr>
          <a:xfrm>
            <a:off x="3931920" y="1828800"/>
            <a:ext cx="2103120" cy="384048"/>
          </a:xfrm>
          <a:prstGeom prst="rect">
            <a:avLst/>
          </a:prstGeom>
          <a:solidFill>
            <a:srgbClr val="21295C"/>
          </a:solidFill>
          <a:ln/>
        </p:spPr>
      </p:sp>
      <p:sp>
        <p:nvSpPr>
          <p:cNvPr id="9" name="Text 7"/>
          <p:cNvSpPr/>
          <p:nvPr/>
        </p:nvSpPr>
        <p:spPr>
          <a:xfrm>
            <a:off x="4041648" y="1828800"/>
            <a:ext cx="18836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Context recall</a:t>
            </a:r>
            <a:endParaRPr lang="en-US" sz="1100" dirty="0"/>
          </a:p>
        </p:txBody>
      </p:sp>
      <p:sp>
        <p:nvSpPr>
          <p:cNvPr id="10" name="Shape 8"/>
          <p:cNvSpPr/>
          <p:nvPr/>
        </p:nvSpPr>
        <p:spPr>
          <a:xfrm>
            <a:off x="6035040" y="1828800"/>
            <a:ext cx="1737360" cy="384048"/>
          </a:xfrm>
          <a:prstGeom prst="rect">
            <a:avLst/>
          </a:prstGeom>
          <a:solidFill>
            <a:srgbClr val="21295C"/>
          </a:solidFill>
          <a:ln/>
        </p:spPr>
      </p:sp>
      <p:sp>
        <p:nvSpPr>
          <p:cNvPr id="11" name="Text 9"/>
          <p:cNvSpPr/>
          <p:nvPr/>
        </p:nvSpPr>
        <p:spPr>
          <a:xfrm>
            <a:off x="6144768" y="1828800"/>
            <a:ext cx="15179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Delta</a:t>
            </a:r>
            <a:endParaRPr lang="en-US" sz="1100" dirty="0"/>
          </a:p>
        </p:txBody>
      </p:sp>
      <p:sp>
        <p:nvSpPr>
          <p:cNvPr id="12" name="Shape 10"/>
          <p:cNvSpPr/>
          <p:nvPr/>
        </p:nvSpPr>
        <p:spPr>
          <a:xfrm>
            <a:off x="7772400" y="1828800"/>
            <a:ext cx="3749040" cy="384048"/>
          </a:xfrm>
          <a:prstGeom prst="rect">
            <a:avLst/>
          </a:prstGeom>
          <a:solidFill>
            <a:srgbClr val="21295C"/>
          </a:solidFill>
          <a:ln/>
        </p:spPr>
      </p:sp>
      <p:sp>
        <p:nvSpPr>
          <p:cNvPr id="13" name="Text 11"/>
          <p:cNvSpPr/>
          <p:nvPr/>
        </p:nvSpPr>
        <p:spPr>
          <a:xfrm>
            <a:off x="7882128" y="1828800"/>
            <a:ext cx="35295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p>
        </p:txBody>
      </p:sp>
      <p:sp>
        <p:nvSpPr>
          <p:cNvPr id="14" name="Shape 12"/>
          <p:cNvSpPr/>
          <p:nvPr/>
        </p:nvSpPr>
        <p:spPr>
          <a:xfrm>
            <a:off x="640080" y="2212848"/>
            <a:ext cx="3291840" cy="548640"/>
          </a:xfrm>
          <a:prstGeom prst="rect">
            <a:avLst/>
          </a:prstGeom>
          <a:solidFill>
            <a:srgbClr val="FFFFFF"/>
          </a:solidFill>
          <a:ln w="9525">
            <a:solidFill>
              <a:srgbClr val="E3EBF0"/>
            </a:solidFill>
            <a:prstDash val="solid"/>
          </a:ln>
        </p:spPr>
      </p:sp>
      <p:sp>
        <p:nvSpPr>
          <p:cNvPr id="15" name="Text 13"/>
          <p:cNvSpPr/>
          <p:nvPr/>
        </p:nvSpPr>
        <p:spPr>
          <a:xfrm>
            <a:off x="749808" y="2212848"/>
            <a:ext cx="30723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Full pipeline</a:t>
            </a:r>
            <a:endParaRPr lang="en-US" sz="1050" dirty="0"/>
          </a:p>
        </p:txBody>
      </p:sp>
      <p:sp>
        <p:nvSpPr>
          <p:cNvPr id="16" name="Shape 14"/>
          <p:cNvSpPr/>
          <p:nvPr/>
        </p:nvSpPr>
        <p:spPr>
          <a:xfrm>
            <a:off x="3931920" y="2212848"/>
            <a:ext cx="2103120" cy="548640"/>
          </a:xfrm>
          <a:prstGeom prst="rect">
            <a:avLst/>
          </a:prstGeom>
          <a:solidFill>
            <a:srgbClr val="FFFFFF"/>
          </a:solidFill>
          <a:ln w="9525">
            <a:solidFill>
              <a:srgbClr val="E3EBF0"/>
            </a:solidFill>
            <a:prstDash val="solid"/>
          </a:ln>
        </p:spPr>
      </p:sp>
      <p:sp>
        <p:nvSpPr>
          <p:cNvPr id="17" name="Text 15"/>
          <p:cNvSpPr/>
          <p:nvPr/>
        </p:nvSpPr>
        <p:spPr>
          <a:xfrm>
            <a:off x="4041648" y="2212848"/>
            <a:ext cx="1883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0.78</a:t>
            </a:r>
            <a:endParaRPr lang="en-US" sz="1050" dirty="0"/>
          </a:p>
        </p:txBody>
      </p:sp>
      <p:sp>
        <p:nvSpPr>
          <p:cNvPr id="18" name="Shape 16"/>
          <p:cNvSpPr/>
          <p:nvPr/>
        </p:nvSpPr>
        <p:spPr>
          <a:xfrm>
            <a:off x="6035040" y="2212848"/>
            <a:ext cx="1737360" cy="548640"/>
          </a:xfrm>
          <a:prstGeom prst="rect">
            <a:avLst/>
          </a:prstGeom>
          <a:solidFill>
            <a:srgbClr val="FFFFFF"/>
          </a:solidFill>
          <a:ln w="9525">
            <a:solidFill>
              <a:srgbClr val="E3EBF0"/>
            </a:solidFill>
            <a:prstDash val="solid"/>
          </a:ln>
        </p:spPr>
      </p:sp>
      <p:sp>
        <p:nvSpPr>
          <p:cNvPr id="19" name="Text 17"/>
          <p:cNvSpPr/>
          <p:nvPr/>
        </p:nvSpPr>
        <p:spPr>
          <a:xfrm>
            <a:off x="6144768" y="2212848"/>
            <a:ext cx="1517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t>
            </a:r>
            <a:endParaRPr lang="en-US" sz="1050" dirty="0"/>
          </a:p>
        </p:txBody>
      </p:sp>
      <p:sp>
        <p:nvSpPr>
          <p:cNvPr id="20" name="Shape 18"/>
          <p:cNvSpPr/>
          <p:nvPr/>
        </p:nvSpPr>
        <p:spPr>
          <a:xfrm>
            <a:off x="7772400" y="2212848"/>
            <a:ext cx="3749040" cy="548640"/>
          </a:xfrm>
          <a:prstGeom prst="rect">
            <a:avLst/>
          </a:prstGeom>
          <a:solidFill>
            <a:srgbClr val="FFFFFF"/>
          </a:solidFill>
          <a:ln w="9525">
            <a:solidFill>
              <a:srgbClr val="E3EBF0"/>
            </a:solidFill>
            <a:prstDash val="solid"/>
          </a:ln>
        </p:spPr>
      </p:sp>
      <p:sp>
        <p:nvSpPr>
          <p:cNvPr id="21" name="Text 19"/>
          <p:cNvSpPr/>
          <p:nvPr/>
        </p:nvSpPr>
        <p:spPr>
          <a:xfrm>
            <a:off x="7882128" y="221284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Baseline for comparison</a:t>
            </a:r>
            <a:endParaRPr lang="en-US" sz="1050" dirty="0"/>
          </a:p>
        </p:txBody>
      </p:sp>
      <p:sp>
        <p:nvSpPr>
          <p:cNvPr id="22" name="Shape 20"/>
          <p:cNvSpPr/>
          <p:nvPr/>
        </p:nvSpPr>
        <p:spPr>
          <a:xfrm>
            <a:off x="640080" y="2761488"/>
            <a:ext cx="3291840" cy="548640"/>
          </a:xfrm>
          <a:prstGeom prst="rect">
            <a:avLst/>
          </a:prstGeom>
          <a:solidFill>
            <a:srgbClr val="F5F9FB"/>
          </a:solidFill>
          <a:ln w="9525">
            <a:solidFill>
              <a:srgbClr val="E3EBF0"/>
            </a:solidFill>
            <a:prstDash val="solid"/>
          </a:ln>
        </p:spPr>
      </p:sp>
      <p:sp>
        <p:nvSpPr>
          <p:cNvPr id="23" name="Text 21"/>
          <p:cNvSpPr/>
          <p:nvPr/>
        </p:nvSpPr>
        <p:spPr>
          <a:xfrm>
            <a:off x="749808" y="2761488"/>
            <a:ext cx="30723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Remove reranking</a:t>
            </a:r>
            <a:endParaRPr lang="en-US" sz="1050" dirty="0"/>
          </a:p>
        </p:txBody>
      </p:sp>
      <p:sp>
        <p:nvSpPr>
          <p:cNvPr id="24" name="Shape 22"/>
          <p:cNvSpPr/>
          <p:nvPr/>
        </p:nvSpPr>
        <p:spPr>
          <a:xfrm>
            <a:off x="3931920" y="2761488"/>
            <a:ext cx="2103120" cy="548640"/>
          </a:xfrm>
          <a:prstGeom prst="rect">
            <a:avLst/>
          </a:prstGeom>
          <a:solidFill>
            <a:srgbClr val="F5F9FB"/>
          </a:solidFill>
          <a:ln w="9525">
            <a:solidFill>
              <a:srgbClr val="E3EBF0"/>
            </a:solidFill>
            <a:prstDash val="solid"/>
          </a:ln>
        </p:spPr>
      </p:sp>
      <p:sp>
        <p:nvSpPr>
          <p:cNvPr id="25" name="Text 23"/>
          <p:cNvSpPr/>
          <p:nvPr/>
        </p:nvSpPr>
        <p:spPr>
          <a:xfrm>
            <a:off x="4041648" y="2761488"/>
            <a:ext cx="1883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0.71</a:t>
            </a:r>
            <a:endParaRPr lang="en-US" sz="1050" dirty="0"/>
          </a:p>
        </p:txBody>
      </p:sp>
      <p:sp>
        <p:nvSpPr>
          <p:cNvPr id="26" name="Shape 24"/>
          <p:cNvSpPr/>
          <p:nvPr/>
        </p:nvSpPr>
        <p:spPr>
          <a:xfrm>
            <a:off x="6035040" y="2761488"/>
            <a:ext cx="1737360" cy="548640"/>
          </a:xfrm>
          <a:prstGeom prst="rect">
            <a:avLst/>
          </a:prstGeom>
          <a:solidFill>
            <a:srgbClr val="F5F9FB"/>
          </a:solidFill>
          <a:ln w="9525">
            <a:solidFill>
              <a:srgbClr val="E3EBF0"/>
            </a:solidFill>
            <a:prstDash val="solid"/>
          </a:ln>
        </p:spPr>
      </p:sp>
      <p:sp>
        <p:nvSpPr>
          <p:cNvPr id="27" name="Text 25"/>
          <p:cNvSpPr/>
          <p:nvPr/>
        </p:nvSpPr>
        <p:spPr>
          <a:xfrm>
            <a:off x="6144768" y="2761488"/>
            <a:ext cx="1517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−0.07</a:t>
            </a:r>
            <a:endParaRPr lang="en-US" sz="1050" dirty="0"/>
          </a:p>
        </p:txBody>
      </p:sp>
      <p:sp>
        <p:nvSpPr>
          <p:cNvPr id="28" name="Shape 26"/>
          <p:cNvSpPr/>
          <p:nvPr/>
        </p:nvSpPr>
        <p:spPr>
          <a:xfrm>
            <a:off x="7772400" y="2761488"/>
            <a:ext cx="3749040" cy="548640"/>
          </a:xfrm>
          <a:prstGeom prst="rect">
            <a:avLst/>
          </a:prstGeom>
          <a:solidFill>
            <a:srgbClr val="F5F9FB"/>
          </a:solidFill>
          <a:ln w="9525">
            <a:solidFill>
              <a:srgbClr val="E3EBF0"/>
            </a:solidFill>
            <a:prstDash val="solid"/>
          </a:ln>
        </p:spPr>
      </p:sp>
      <p:sp>
        <p:nvSpPr>
          <p:cNvPr id="29" name="Text 27"/>
          <p:cNvSpPr/>
          <p:nvPr/>
        </p:nvSpPr>
        <p:spPr>
          <a:xfrm>
            <a:off x="7882128" y="276148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Substantial contribution — keep</a:t>
            </a:r>
            <a:endParaRPr lang="en-US" sz="1050" dirty="0"/>
          </a:p>
        </p:txBody>
      </p:sp>
      <p:sp>
        <p:nvSpPr>
          <p:cNvPr id="30" name="Shape 28"/>
          <p:cNvSpPr/>
          <p:nvPr/>
        </p:nvSpPr>
        <p:spPr>
          <a:xfrm>
            <a:off x="640080" y="3310128"/>
            <a:ext cx="3291840" cy="548640"/>
          </a:xfrm>
          <a:prstGeom prst="rect">
            <a:avLst/>
          </a:prstGeom>
          <a:solidFill>
            <a:srgbClr val="FFFFFF"/>
          </a:solidFill>
          <a:ln w="9525">
            <a:solidFill>
              <a:srgbClr val="E3EBF0"/>
            </a:solidFill>
            <a:prstDash val="solid"/>
          </a:ln>
        </p:spPr>
      </p:sp>
      <p:sp>
        <p:nvSpPr>
          <p:cNvPr id="31" name="Text 29"/>
          <p:cNvSpPr/>
          <p:nvPr/>
        </p:nvSpPr>
        <p:spPr>
          <a:xfrm>
            <a:off x="749808" y="3310128"/>
            <a:ext cx="30723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Remove hybrid search</a:t>
            </a:r>
            <a:endParaRPr lang="en-US" sz="1050" dirty="0"/>
          </a:p>
        </p:txBody>
      </p:sp>
      <p:sp>
        <p:nvSpPr>
          <p:cNvPr id="32" name="Shape 30"/>
          <p:cNvSpPr/>
          <p:nvPr/>
        </p:nvSpPr>
        <p:spPr>
          <a:xfrm>
            <a:off x="3931920" y="3310128"/>
            <a:ext cx="2103120" cy="548640"/>
          </a:xfrm>
          <a:prstGeom prst="rect">
            <a:avLst/>
          </a:prstGeom>
          <a:solidFill>
            <a:srgbClr val="FFFFFF"/>
          </a:solidFill>
          <a:ln w="9525">
            <a:solidFill>
              <a:srgbClr val="E3EBF0"/>
            </a:solidFill>
            <a:prstDash val="solid"/>
          </a:ln>
        </p:spPr>
      </p:sp>
      <p:sp>
        <p:nvSpPr>
          <p:cNvPr id="33" name="Text 31"/>
          <p:cNvSpPr/>
          <p:nvPr/>
        </p:nvSpPr>
        <p:spPr>
          <a:xfrm>
            <a:off x="4041648" y="3310128"/>
            <a:ext cx="1883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0.74</a:t>
            </a:r>
            <a:endParaRPr lang="en-US" sz="1050" dirty="0"/>
          </a:p>
        </p:txBody>
      </p:sp>
      <p:sp>
        <p:nvSpPr>
          <p:cNvPr id="34" name="Shape 32"/>
          <p:cNvSpPr/>
          <p:nvPr/>
        </p:nvSpPr>
        <p:spPr>
          <a:xfrm>
            <a:off x="6035040" y="3310128"/>
            <a:ext cx="1737360" cy="548640"/>
          </a:xfrm>
          <a:prstGeom prst="rect">
            <a:avLst/>
          </a:prstGeom>
          <a:solidFill>
            <a:srgbClr val="FFFFFF"/>
          </a:solidFill>
          <a:ln w="9525">
            <a:solidFill>
              <a:srgbClr val="E3EBF0"/>
            </a:solidFill>
            <a:prstDash val="solid"/>
          </a:ln>
        </p:spPr>
      </p:sp>
      <p:sp>
        <p:nvSpPr>
          <p:cNvPr id="35" name="Text 33"/>
          <p:cNvSpPr/>
          <p:nvPr/>
        </p:nvSpPr>
        <p:spPr>
          <a:xfrm>
            <a:off x="6144768" y="3310128"/>
            <a:ext cx="1517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−0.04</a:t>
            </a:r>
            <a:endParaRPr lang="en-US" sz="1050" dirty="0"/>
          </a:p>
        </p:txBody>
      </p:sp>
      <p:sp>
        <p:nvSpPr>
          <p:cNvPr id="36" name="Shape 34"/>
          <p:cNvSpPr/>
          <p:nvPr/>
        </p:nvSpPr>
        <p:spPr>
          <a:xfrm>
            <a:off x="7772400" y="3310128"/>
            <a:ext cx="3749040" cy="548640"/>
          </a:xfrm>
          <a:prstGeom prst="rect">
            <a:avLst/>
          </a:prstGeom>
          <a:solidFill>
            <a:srgbClr val="FFFFFF"/>
          </a:solidFill>
          <a:ln w="9525">
            <a:solidFill>
              <a:srgbClr val="E3EBF0"/>
            </a:solidFill>
            <a:prstDash val="solid"/>
          </a:ln>
        </p:spPr>
      </p:sp>
      <p:sp>
        <p:nvSpPr>
          <p:cNvPr id="37" name="Text 35"/>
          <p:cNvSpPr/>
          <p:nvPr/>
        </p:nvSpPr>
        <p:spPr>
          <a:xfrm>
            <a:off x="7882128" y="331012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Moderate contribution — keep</a:t>
            </a:r>
            <a:endParaRPr lang="en-US" sz="1050" dirty="0"/>
          </a:p>
        </p:txBody>
      </p:sp>
      <p:sp>
        <p:nvSpPr>
          <p:cNvPr id="38" name="Shape 36"/>
          <p:cNvSpPr/>
          <p:nvPr/>
        </p:nvSpPr>
        <p:spPr>
          <a:xfrm>
            <a:off x="640080" y="3858768"/>
            <a:ext cx="3291840" cy="548640"/>
          </a:xfrm>
          <a:prstGeom prst="rect">
            <a:avLst/>
          </a:prstGeom>
          <a:solidFill>
            <a:srgbClr val="F5F9FB"/>
          </a:solidFill>
          <a:ln w="9525">
            <a:solidFill>
              <a:srgbClr val="E3EBF0"/>
            </a:solidFill>
            <a:prstDash val="solid"/>
          </a:ln>
        </p:spPr>
      </p:sp>
      <p:sp>
        <p:nvSpPr>
          <p:cNvPr id="39" name="Text 37"/>
          <p:cNvSpPr/>
          <p:nvPr/>
        </p:nvSpPr>
        <p:spPr>
          <a:xfrm>
            <a:off x="749808" y="3858768"/>
            <a:ext cx="30723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Remove query rewriting</a:t>
            </a:r>
            <a:endParaRPr lang="en-US" sz="1050" dirty="0"/>
          </a:p>
        </p:txBody>
      </p:sp>
      <p:sp>
        <p:nvSpPr>
          <p:cNvPr id="40" name="Shape 38"/>
          <p:cNvSpPr/>
          <p:nvPr/>
        </p:nvSpPr>
        <p:spPr>
          <a:xfrm>
            <a:off x="3931920" y="3858768"/>
            <a:ext cx="2103120" cy="548640"/>
          </a:xfrm>
          <a:prstGeom prst="rect">
            <a:avLst/>
          </a:prstGeom>
          <a:solidFill>
            <a:srgbClr val="F5F9FB"/>
          </a:solidFill>
          <a:ln w="9525">
            <a:solidFill>
              <a:srgbClr val="E3EBF0"/>
            </a:solidFill>
            <a:prstDash val="solid"/>
          </a:ln>
        </p:spPr>
      </p:sp>
      <p:sp>
        <p:nvSpPr>
          <p:cNvPr id="41" name="Text 39"/>
          <p:cNvSpPr/>
          <p:nvPr/>
        </p:nvSpPr>
        <p:spPr>
          <a:xfrm>
            <a:off x="4041648" y="3858768"/>
            <a:ext cx="1883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0.775</a:t>
            </a:r>
            <a:endParaRPr lang="en-US" sz="1050" dirty="0"/>
          </a:p>
        </p:txBody>
      </p:sp>
      <p:sp>
        <p:nvSpPr>
          <p:cNvPr id="42" name="Shape 40"/>
          <p:cNvSpPr/>
          <p:nvPr/>
        </p:nvSpPr>
        <p:spPr>
          <a:xfrm>
            <a:off x="6035040" y="3858768"/>
            <a:ext cx="1737360" cy="548640"/>
          </a:xfrm>
          <a:prstGeom prst="rect">
            <a:avLst/>
          </a:prstGeom>
          <a:solidFill>
            <a:srgbClr val="F5F9FB"/>
          </a:solidFill>
          <a:ln w="9525">
            <a:solidFill>
              <a:srgbClr val="E3EBF0"/>
            </a:solidFill>
            <a:prstDash val="solid"/>
          </a:ln>
        </p:spPr>
      </p:sp>
      <p:sp>
        <p:nvSpPr>
          <p:cNvPr id="43" name="Text 41"/>
          <p:cNvSpPr/>
          <p:nvPr/>
        </p:nvSpPr>
        <p:spPr>
          <a:xfrm>
            <a:off x="6144768" y="3858768"/>
            <a:ext cx="1517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−0.005</a:t>
            </a:r>
            <a:endParaRPr lang="en-US" sz="1050" dirty="0"/>
          </a:p>
        </p:txBody>
      </p:sp>
      <p:sp>
        <p:nvSpPr>
          <p:cNvPr id="44" name="Shape 42"/>
          <p:cNvSpPr/>
          <p:nvPr/>
        </p:nvSpPr>
        <p:spPr>
          <a:xfrm>
            <a:off x="7772400" y="3858768"/>
            <a:ext cx="3749040" cy="548640"/>
          </a:xfrm>
          <a:prstGeom prst="rect">
            <a:avLst/>
          </a:prstGeom>
          <a:solidFill>
            <a:srgbClr val="F5F9FB"/>
          </a:solidFill>
          <a:ln w="9525">
            <a:solidFill>
              <a:srgbClr val="E3EBF0"/>
            </a:solidFill>
            <a:prstDash val="solid"/>
          </a:ln>
        </p:spPr>
      </p:sp>
      <p:sp>
        <p:nvSpPr>
          <p:cNvPr id="45" name="Text 43"/>
          <p:cNvSpPr/>
          <p:nvPr/>
        </p:nvSpPr>
        <p:spPr>
          <a:xfrm>
            <a:off x="7882128" y="385876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Within noise — remove and simplify</a:t>
            </a:r>
            <a:endParaRPr lang="en-US" sz="1050" dirty="0"/>
          </a:p>
        </p:txBody>
      </p:sp>
      <p:sp>
        <p:nvSpPr>
          <p:cNvPr id="46" name="Shape 44"/>
          <p:cNvSpPr/>
          <p:nvPr/>
        </p:nvSpPr>
        <p:spPr>
          <a:xfrm>
            <a:off x="640080" y="4407408"/>
            <a:ext cx="3291840" cy="548640"/>
          </a:xfrm>
          <a:prstGeom prst="rect">
            <a:avLst/>
          </a:prstGeom>
          <a:solidFill>
            <a:srgbClr val="FFFFFF"/>
          </a:solidFill>
          <a:ln w="9525">
            <a:solidFill>
              <a:srgbClr val="E3EBF0"/>
            </a:solidFill>
            <a:prstDash val="solid"/>
          </a:ln>
        </p:spPr>
      </p:sp>
      <p:sp>
        <p:nvSpPr>
          <p:cNvPr id="47" name="Text 45"/>
          <p:cNvSpPr/>
          <p:nvPr/>
        </p:nvSpPr>
        <p:spPr>
          <a:xfrm>
            <a:off x="749808" y="4407408"/>
            <a:ext cx="307238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Remove metadata filter</a:t>
            </a:r>
            <a:endParaRPr lang="en-US" sz="1050" dirty="0"/>
          </a:p>
        </p:txBody>
      </p:sp>
      <p:sp>
        <p:nvSpPr>
          <p:cNvPr id="48" name="Shape 46"/>
          <p:cNvSpPr/>
          <p:nvPr/>
        </p:nvSpPr>
        <p:spPr>
          <a:xfrm>
            <a:off x="3931920" y="4407408"/>
            <a:ext cx="2103120" cy="548640"/>
          </a:xfrm>
          <a:prstGeom prst="rect">
            <a:avLst/>
          </a:prstGeom>
          <a:solidFill>
            <a:srgbClr val="FFFFFF"/>
          </a:solidFill>
          <a:ln w="9525">
            <a:solidFill>
              <a:srgbClr val="E3EBF0"/>
            </a:solidFill>
            <a:prstDash val="solid"/>
          </a:ln>
        </p:spPr>
      </p:sp>
      <p:sp>
        <p:nvSpPr>
          <p:cNvPr id="49" name="Text 47"/>
          <p:cNvSpPr/>
          <p:nvPr/>
        </p:nvSpPr>
        <p:spPr>
          <a:xfrm>
            <a:off x="4041648" y="4407408"/>
            <a:ext cx="18836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0.62</a:t>
            </a:r>
            <a:endParaRPr lang="en-US" sz="1050" dirty="0"/>
          </a:p>
        </p:txBody>
      </p:sp>
      <p:sp>
        <p:nvSpPr>
          <p:cNvPr id="50" name="Shape 48"/>
          <p:cNvSpPr/>
          <p:nvPr/>
        </p:nvSpPr>
        <p:spPr>
          <a:xfrm>
            <a:off x="6035040" y="4407408"/>
            <a:ext cx="1737360" cy="548640"/>
          </a:xfrm>
          <a:prstGeom prst="rect">
            <a:avLst/>
          </a:prstGeom>
          <a:solidFill>
            <a:srgbClr val="FFFFFF"/>
          </a:solidFill>
          <a:ln w="9525">
            <a:solidFill>
              <a:srgbClr val="E3EBF0"/>
            </a:solidFill>
            <a:prstDash val="solid"/>
          </a:ln>
        </p:spPr>
      </p:sp>
      <p:sp>
        <p:nvSpPr>
          <p:cNvPr id="51" name="Text 49"/>
          <p:cNvSpPr/>
          <p:nvPr/>
        </p:nvSpPr>
        <p:spPr>
          <a:xfrm>
            <a:off x="6144768" y="4407408"/>
            <a:ext cx="151790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−0.16</a:t>
            </a:r>
            <a:endParaRPr lang="en-US" sz="1050" dirty="0"/>
          </a:p>
        </p:txBody>
      </p:sp>
      <p:sp>
        <p:nvSpPr>
          <p:cNvPr id="52" name="Shape 50"/>
          <p:cNvSpPr/>
          <p:nvPr/>
        </p:nvSpPr>
        <p:spPr>
          <a:xfrm>
            <a:off x="7772400" y="4407408"/>
            <a:ext cx="3749040" cy="548640"/>
          </a:xfrm>
          <a:prstGeom prst="rect">
            <a:avLst/>
          </a:prstGeom>
          <a:solidFill>
            <a:srgbClr val="FFFFFF"/>
          </a:solidFill>
          <a:ln w="9525">
            <a:solidFill>
              <a:srgbClr val="E3EBF0"/>
            </a:solidFill>
            <a:prstDash val="solid"/>
          </a:ln>
        </p:spPr>
      </p:sp>
      <p:sp>
        <p:nvSpPr>
          <p:cNvPr id="53" name="Text 51"/>
          <p:cNvSpPr/>
          <p:nvPr/>
        </p:nvSpPr>
        <p:spPr>
          <a:xfrm>
            <a:off x="7882128" y="440740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largest single contributor</a:t>
            </a:r>
            <a:endParaRPr lang="en-US" sz="1050" dirty="0"/>
          </a:p>
        </p:txBody>
      </p:sp>
      <p:sp>
        <p:nvSpPr>
          <p:cNvPr id="54" name="Shape 52"/>
          <p:cNvSpPr/>
          <p:nvPr/>
        </p:nvSpPr>
        <p:spPr>
          <a:xfrm>
            <a:off x="640080" y="4892040"/>
            <a:ext cx="10881360" cy="868680"/>
          </a:xfrm>
          <a:prstGeom prst="roundRect">
            <a:avLst>
              <a:gd name="adj" fmla="val 6316"/>
            </a:avLst>
          </a:prstGeom>
          <a:solidFill>
            <a:srgbClr val="EDF5EE"/>
          </a:solidFill>
          <a:ln w="12700">
            <a:solidFill>
              <a:srgbClr val="C2DCC8"/>
            </a:solidFill>
            <a:prstDash val="solid"/>
          </a:ln>
        </p:spPr>
      </p:sp>
      <p:sp>
        <p:nvSpPr>
          <p:cNvPr id="55" name="Text 53"/>
          <p:cNvSpPr/>
          <p:nvPr/>
        </p:nvSpPr>
        <p:spPr>
          <a:xfrm>
            <a:off x="914400" y="5047488"/>
            <a:ext cx="10332720" cy="640080"/>
          </a:xfrm>
          <a:prstGeom prst="rect">
            <a:avLst/>
          </a:prstGeom>
          <a:noFill/>
          <a:ln/>
        </p:spPr>
        <p:txBody>
          <a:bodyPr wrap="square" lIns="0" tIns="0" rIns="0" bIns="0" rtlCol="0" anchor="ctr"/>
          <a:lstStyle/>
          <a:p>
            <a:pPr indent="0" marL="0">
              <a:lnSpc>
                <a:spcPts val="1600"/>
              </a:lnSpc>
              <a:buNone/>
            </a:pPr>
            <a:r>
              <a:rPr lang="en-US" sz="1250" dirty="0">
                <a:solidFill>
                  <a:srgbClr val="1A2430"/>
                </a:solidFill>
                <a:latin typeface="Calibri" pitchFamily="34" charset="0"/>
                <a:ea typeface="Calibri" pitchFamily="34" charset="-122"/>
                <a:cs typeface="Calibri" pitchFamily="34" charset="-120"/>
              </a:rPr>
              <a:t>Two outcomes, both valuable: you learn where to invest further effort, and you find components that add complexity without value. Removing query rewriting here makes the system simpler, cheaper and faster at no measurable cost.</a:t>
            </a:r>
            <a:endParaRPr lang="en-US" sz="12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3.11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Building and ranking the hypothesis backlog</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62</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450" b="1" i="1" dirty="0">
                <a:solidFill>
                  <a:srgbClr val="1C7293"/>
                </a:solidFill>
                <a:latin typeface="Calibri" pitchFamily="34" charset="0"/>
                <a:ea typeface="Calibri" pitchFamily="34" charset="-122"/>
                <a:cs typeface="Calibri" pitchFamily="34" charset="-120"/>
              </a:rPr>
              <a:t>The output of error analysis is not a report. It is a ranked, visible list of experiments to run.</a:t>
            </a:r>
            <a:endParaRPr lang="en-US" sz="1450" dirty="0"/>
          </a:p>
        </p:txBody>
      </p:sp>
      <p:sp>
        <p:nvSpPr>
          <p:cNvPr id="6" name="Shape 4"/>
          <p:cNvSpPr/>
          <p:nvPr/>
        </p:nvSpPr>
        <p:spPr>
          <a:xfrm>
            <a:off x="640080" y="1783080"/>
            <a:ext cx="4114800" cy="384048"/>
          </a:xfrm>
          <a:prstGeom prst="rect">
            <a:avLst/>
          </a:prstGeom>
          <a:solidFill>
            <a:srgbClr val="21295C"/>
          </a:solidFill>
          <a:ln/>
        </p:spPr>
      </p:sp>
      <p:sp>
        <p:nvSpPr>
          <p:cNvPr id="7" name="Text 5"/>
          <p:cNvSpPr/>
          <p:nvPr/>
        </p:nvSpPr>
        <p:spPr>
          <a:xfrm>
            <a:off x="749808" y="1783080"/>
            <a:ext cx="3895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Hypothesis</a:t>
            </a:r>
            <a:endParaRPr lang="en-US" sz="1100" dirty="0"/>
          </a:p>
        </p:txBody>
      </p:sp>
      <p:sp>
        <p:nvSpPr>
          <p:cNvPr id="8" name="Shape 6"/>
          <p:cNvSpPr/>
          <p:nvPr/>
        </p:nvSpPr>
        <p:spPr>
          <a:xfrm>
            <a:off x="4754880" y="1783080"/>
            <a:ext cx="2011680" cy="384048"/>
          </a:xfrm>
          <a:prstGeom prst="rect">
            <a:avLst/>
          </a:prstGeom>
          <a:solidFill>
            <a:srgbClr val="21295C"/>
          </a:solidFill>
          <a:ln/>
        </p:spPr>
      </p:sp>
      <p:sp>
        <p:nvSpPr>
          <p:cNvPr id="9" name="Text 7"/>
          <p:cNvSpPr/>
          <p:nvPr/>
        </p:nvSpPr>
        <p:spPr>
          <a:xfrm>
            <a:off x="4864608" y="1783080"/>
            <a:ext cx="17922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Expected gain</a:t>
            </a:r>
            <a:endParaRPr lang="en-US" sz="1100" dirty="0"/>
          </a:p>
        </p:txBody>
      </p:sp>
      <p:sp>
        <p:nvSpPr>
          <p:cNvPr id="10" name="Shape 8"/>
          <p:cNvSpPr/>
          <p:nvPr/>
        </p:nvSpPr>
        <p:spPr>
          <a:xfrm>
            <a:off x="6766560" y="1783080"/>
            <a:ext cx="1645920" cy="384048"/>
          </a:xfrm>
          <a:prstGeom prst="rect">
            <a:avLst/>
          </a:prstGeom>
          <a:solidFill>
            <a:srgbClr val="21295C"/>
          </a:solidFill>
          <a:ln/>
        </p:spPr>
      </p:sp>
      <p:sp>
        <p:nvSpPr>
          <p:cNvPr id="11" name="Text 9"/>
          <p:cNvSpPr/>
          <p:nvPr/>
        </p:nvSpPr>
        <p:spPr>
          <a:xfrm>
            <a:off x="6876288" y="1783080"/>
            <a:ext cx="14264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Confidence</a:t>
            </a:r>
            <a:endParaRPr lang="en-US" sz="1100" dirty="0"/>
          </a:p>
        </p:txBody>
      </p:sp>
      <p:sp>
        <p:nvSpPr>
          <p:cNvPr id="12" name="Shape 10"/>
          <p:cNvSpPr/>
          <p:nvPr/>
        </p:nvSpPr>
        <p:spPr>
          <a:xfrm>
            <a:off x="8412480" y="1783080"/>
            <a:ext cx="1554480" cy="384048"/>
          </a:xfrm>
          <a:prstGeom prst="rect">
            <a:avLst/>
          </a:prstGeom>
          <a:solidFill>
            <a:srgbClr val="21295C"/>
          </a:solidFill>
          <a:ln/>
        </p:spPr>
      </p:sp>
      <p:sp>
        <p:nvSpPr>
          <p:cNvPr id="13" name="Text 11"/>
          <p:cNvSpPr/>
          <p:nvPr/>
        </p:nvSpPr>
        <p:spPr>
          <a:xfrm>
            <a:off x="8522208" y="1783080"/>
            <a:ext cx="13350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Effort</a:t>
            </a:r>
            <a:endParaRPr lang="en-US" sz="1100" dirty="0"/>
          </a:p>
        </p:txBody>
      </p:sp>
      <p:sp>
        <p:nvSpPr>
          <p:cNvPr id="14" name="Shape 12"/>
          <p:cNvSpPr/>
          <p:nvPr/>
        </p:nvSpPr>
        <p:spPr>
          <a:xfrm>
            <a:off x="9966960" y="1783080"/>
            <a:ext cx="1554480" cy="384048"/>
          </a:xfrm>
          <a:prstGeom prst="rect">
            <a:avLst/>
          </a:prstGeom>
          <a:solidFill>
            <a:srgbClr val="21295C"/>
          </a:solidFill>
          <a:ln/>
        </p:spPr>
      </p:sp>
      <p:sp>
        <p:nvSpPr>
          <p:cNvPr id="15" name="Text 13"/>
          <p:cNvSpPr/>
          <p:nvPr/>
        </p:nvSpPr>
        <p:spPr>
          <a:xfrm>
            <a:off x="10076688" y="1783080"/>
            <a:ext cx="13350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Priority</a:t>
            </a:r>
            <a:endParaRPr lang="en-US" sz="1100" dirty="0"/>
          </a:p>
        </p:txBody>
      </p:sp>
      <p:sp>
        <p:nvSpPr>
          <p:cNvPr id="16" name="Shape 14"/>
          <p:cNvSpPr/>
          <p:nvPr/>
        </p:nvSpPr>
        <p:spPr>
          <a:xfrm>
            <a:off x="640080" y="2167128"/>
            <a:ext cx="4114800" cy="548640"/>
          </a:xfrm>
          <a:prstGeom prst="rect">
            <a:avLst/>
          </a:prstGeom>
          <a:solidFill>
            <a:srgbClr val="FFFFFF"/>
          </a:solidFill>
          <a:ln w="9525">
            <a:solidFill>
              <a:srgbClr val="E3EBF0"/>
            </a:solidFill>
            <a:prstDash val="solid"/>
          </a:ln>
        </p:spPr>
      </p:sp>
      <p:sp>
        <p:nvSpPr>
          <p:cNvPr id="17" name="Text 15"/>
          <p:cNvSpPr/>
          <p:nvPr/>
        </p:nvSpPr>
        <p:spPr>
          <a:xfrm>
            <a:off x="749808" y="2167128"/>
            <a:ext cx="3895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Fix labelling of classes C and D</a:t>
            </a:r>
            <a:endParaRPr lang="en-US" sz="1050" dirty="0"/>
          </a:p>
        </p:txBody>
      </p:sp>
      <p:sp>
        <p:nvSpPr>
          <p:cNvPr id="18" name="Shape 16"/>
          <p:cNvSpPr/>
          <p:nvPr/>
        </p:nvSpPr>
        <p:spPr>
          <a:xfrm>
            <a:off x="4754880" y="2167128"/>
            <a:ext cx="2011680" cy="548640"/>
          </a:xfrm>
          <a:prstGeom prst="rect">
            <a:avLst/>
          </a:prstGeom>
          <a:solidFill>
            <a:srgbClr val="FFFFFF"/>
          </a:solidFill>
          <a:ln w="9525">
            <a:solidFill>
              <a:srgbClr val="E3EBF0"/>
            </a:solidFill>
            <a:prstDash val="solid"/>
          </a:ln>
        </p:spPr>
      </p:sp>
      <p:sp>
        <p:nvSpPr>
          <p:cNvPr id="19" name="Text 17"/>
          <p:cNvSpPr/>
          <p:nvPr/>
        </p:nvSpPr>
        <p:spPr>
          <a:xfrm>
            <a:off x="4864608" y="2167128"/>
            <a:ext cx="1792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+0.08 recall</a:t>
            </a:r>
            <a:endParaRPr lang="en-US" sz="1050" dirty="0"/>
          </a:p>
        </p:txBody>
      </p:sp>
      <p:sp>
        <p:nvSpPr>
          <p:cNvPr id="20" name="Shape 18"/>
          <p:cNvSpPr/>
          <p:nvPr/>
        </p:nvSpPr>
        <p:spPr>
          <a:xfrm>
            <a:off x="6766560" y="2167128"/>
            <a:ext cx="1645920" cy="548640"/>
          </a:xfrm>
          <a:prstGeom prst="rect">
            <a:avLst/>
          </a:prstGeom>
          <a:solidFill>
            <a:srgbClr val="FFFFFF"/>
          </a:solidFill>
          <a:ln w="9525">
            <a:solidFill>
              <a:srgbClr val="E3EBF0"/>
            </a:solidFill>
            <a:prstDash val="solid"/>
          </a:ln>
        </p:spPr>
      </p:sp>
      <p:sp>
        <p:nvSpPr>
          <p:cNvPr id="21" name="Text 19"/>
          <p:cNvSpPr/>
          <p:nvPr/>
        </p:nvSpPr>
        <p:spPr>
          <a:xfrm>
            <a:off x="6876288" y="2167128"/>
            <a:ext cx="1426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High</a:t>
            </a:r>
            <a:endParaRPr lang="en-US" sz="1050" dirty="0"/>
          </a:p>
        </p:txBody>
      </p:sp>
      <p:sp>
        <p:nvSpPr>
          <p:cNvPr id="22" name="Shape 20"/>
          <p:cNvSpPr/>
          <p:nvPr/>
        </p:nvSpPr>
        <p:spPr>
          <a:xfrm>
            <a:off x="8412480" y="2167128"/>
            <a:ext cx="1554480" cy="548640"/>
          </a:xfrm>
          <a:prstGeom prst="rect">
            <a:avLst/>
          </a:prstGeom>
          <a:solidFill>
            <a:srgbClr val="FFFFFF"/>
          </a:solidFill>
          <a:ln w="9525">
            <a:solidFill>
              <a:srgbClr val="E3EBF0"/>
            </a:solidFill>
            <a:prstDash val="solid"/>
          </a:ln>
        </p:spPr>
      </p:sp>
      <p:sp>
        <p:nvSpPr>
          <p:cNvPr id="23" name="Text 21"/>
          <p:cNvSpPr/>
          <p:nvPr/>
        </p:nvSpPr>
        <p:spPr>
          <a:xfrm>
            <a:off x="8522208" y="2167128"/>
            <a:ext cx="13350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2 weeks</a:t>
            </a:r>
            <a:endParaRPr lang="en-US" sz="1050" dirty="0"/>
          </a:p>
        </p:txBody>
      </p:sp>
      <p:sp>
        <p:nvSpPr>
          <p:cNvPr id="24" name="Shape 22"/>
          <p:cNvSpPr/>
          <p:nvPr/>
        </p:nvSpPr>
        <p:spPr>
          <a:xfrm>
            <a:off x="9966960" y="2167128"/>
            <a:ext cx="1554480" cy="548640"/>
          </a:xfrm>
          <a:prstGeom prst="rect">
            <a:avLst/>
          </a:prstGeom>
          <a:solidFill>
            <a:srgbClr val="FFFFFF"/>
          </a:solidFill>
          <a:ln w="9525">
            <a:solidFill>
              <a:srgbClr val="E3EBF0"/>
            </a:solidFill>
            <a:prstDash val="solid"/>
          </a:ln>
        </p:spPr>
      </p:sp>
      <p:sp>
        <p:nvSpPr>
          <p:cNvPr id="25" name="Text 23"/>
          <p:cNvSpPr/>
          <p:nvPr/>
        </p:nvSpPr>
        <p:spPr>
          <a:xfrm>
            <a:off x="10076688" y="2167128"/>
            <a:ext cx="13350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High</a:t>
            </a:r>
            <a:endParaRPr lang="en-US" sz="1050" dirty="0"/>
          </a:p>
        </p:txBody>
      </p:sp>
      <p:sp>
        <p:nvSpPr>
          <p:cNvPr id="26" name="Shape 24"/>
          <p:cNvSpPr/>
          <p:nvPr/>
        </p:nvSpPr>
        <p:spPr>
          <a:xfrm>
            <a:off x="640080" y="2715768"/>
            <a:ext cx="4114800" cy="548640"/>
          </a:xfrm>
          <a:prstGeom prst="rect">
            <a:avLst/>
          </a:prstGeom>
          <a:solidFill>
            <a:srgbClr val="F5F9FB"/>
          </a:solidFill>
          <a:ln w="9525">
            <a:solidFill>
              <a:srgbClr val="E3EBF0"/>
            </a:solidFill>
            <a:prstDash val="solid"/>
          </a:ln>
        </p:spPr>
      </p:sp>
      <p:sp>
        <p:nvSpPr>
          <p:cNvPr id="27" name="Text 25"/>
          <p:cNvSpPr/>
          <p:nvPr/>
        </p:nvSpPr>
        <p:spPr>
          <a:xfrm>
            <a:off x="749808" y="2715768"/>
            <a:ext cx="3895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Add metadata filtering to retrieval</a:t>
            </a:r>
            <a:endParaRPr lang="en-US" sz="1050" dirty="0"/>
          </a:p>
        </p:txBody>
      </p:sp>
      <p:sp>
        <p:nvSpPr>
          <p:cNvPr id="28" name="Shape 26"/>
          <p:cNvSpPr/>
          <p:nvPr/>
        </p:nvSpPr>
        <p:spPr>
          <a:xfrm>
            <a:off x="4754880" y="2715768"/>
            <a:ext cx="2011680" cy="548640"/>
          </a:xfrm>
          <a:prstGeom prst="rect">
            <a:avLst/>
          </a:prstGeom>
          <a:solidFill>
            <a:srgbClr val="F5F9FB"/>
          </a:solidFill>
          <a:ln w="9525">
            <a:solidFill>
              <a:srgbClr val="E3EBF0"/>
            </a:solidFill>
            <a:prstDash val="solid"/>
          </a:ln>
        </p:spPr>
      </p:sp>
      <p:sp>
        <p:nvSpPr>
          <p:cNvPr id="29" name="Text 27"/>
          <p:cNvSpPr/>
          <p:nvPr/>
        </p:nvSpPr>
        <p:spPr>
          <a:xfrm>
            <a:off x="4864608" y="2715768"/>
            <a:ext cx="1792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+0.06 recall</a:t>
            </a:r>
            <a:endParaRPr lang="en-US" sz="1050" dirty="0"/>
          </a:p>
        </p:txBody>
      </p:sp>
      <p:sp>
        <p:nvSpPr>
          <p:cNvPr id="30" name="Shape 28"/>
          <p:cNvSpPr/>
          <p:nvPr/>
        </p:nvSpPr>
        <p:spPr>
          <a:xfrm>
            <a:off x="6766560" y="2715768"/>
            <a:ext cx="1645920" cy="548640"/>
          </a:xfrm>
          <a:prstGeom prst="rect">
            <a:avLst/>
          </a:prstGeom>
          <a:solidFill>
            <a:srgbClr val="F5F9FB"/>
          </a:solidFill>
          <a:ln w="9525">
            <a:solidFill>
              <a:srgbClr val="E3EBF0"/>
            </a:solidFill>
            <a:prstDash val="solid"/>
          </a:ln>
        </p:spPr>
      </p:sp>
      <p:sp>
        <p:nvSpPr>
          <p:cNvPr id="31" name="Text 29"/>
          <p:cNvSpPr/>
          <p:nvPr/>
        </p:nvSpPr>
        <p:spPr>
          <a:xfrm>
            <a:off x="6876288" y="2715768"/>
            <a:ext cx="1426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High</a:t>
            </a:r>
            <a:endParaRPr lang="en-US" sz="1050" dirty="0"/>
          </a:p>
        </p:txBody>
      </p:sp>
      <p:sp>
        <p:nvSpPr>
          <p:cNvPr id="32" name="Shape 30"/>
          <p:cNvSpPr/>
          <p:nvPr/>
        </p:nvSpPr>
        <p:spPr>
          <a:xfrm>
            <a:off x="8412480" y="2715768"/>
            <a:ext cx="1554480" cy="548640"/>
          </a:xfrm>
          <a:prstGeom prst="rect">
            <a:avLst/>
          </a:prstGeom>
          <a:solidFill>
            <a:srgbClr val="F5F9FB"/>
          </a:solidFill>
          <a:ln w="9525">
            <a:solidFill>
              <a:srgbClr val="E3EBF0"/>
            </a:solidFill>
            <a:prstDash val="solid"/>
          </a:ln>
        </p:spPr>
      </p:sp>
      <p:sp>
        <p:nvSpPr>
          <p:cNvPr id="33" name="Text 31"/>
          <p:cNvSpPr/>
          <p:nvPr/>
        </p:nvSpPr>
        <p:spPr>
          <a:xfrm>
            <a:off x="8522208" y="2715768"/>
            <a:ext cx="13350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3 days</a:t>
            </a:r>
            <a:endParaRPr lang="en-US" sz="1050" dirty="0"/>
          </a:p>
        </p:txBody>
      </p:sp>
      <p:sp>
        <p:nvSpPr>
          <p:cNvPr id="34" name="Shape 32"/>
          <p:cNvSpPr/>
          <p:nvPr/>
        </p:nvSpPr>
        <p:spPr>
          <a:xfrm>
            <a:off x="9966960" y="2715768"/>
            <a:ext cx="1554480" cy="548640"/>
          </a:xfrm>
          <a:prstGeom prst="rect">
            <a:avLst/>
          </a:prstGeom>
          <a:solidFill>
            <a:srgbClr val="F5F9FB"/>
          </a:solidFill>
          <a:ln w="9525">
            <a:solidFill>
              <a:srgbClr val="E3EBF0"/>
            </a:solidFill>
            <a:prstDash val="solid"/>
          </a:ln>
        </p:spPr>
      </p:sp>
      <p:sp>
        <p:nvSpPr>
          <p:cNvPr id="35" name="Text 33"/>
          <p:cNvSpPr/>
          <p:nvPr/>
        </p:nvSpPr>
        <p:spPr>
          <a:xfrm>
            <a:off x="10076688" y="2715768"/>
            <a:ext cx="13350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Highest</a:t>
            </a:r>
            <a:endParaRPr lang="en-US" sz="1050" dirty="0"/>
          </a:p>
        </p:txBody>
      </p:sp>
      <p:sp>
        <p:nvSpPr>
          <p:cNvPr id="36" name="Shape 34"/>
          <p:cNvSpPr/>
          <p:nvPr/>
        </p:nvSpPr>
        <p:spPr>
          <a:xfrm>
            <a:off x="640080" y="3264408"/>
            <a:ext cx="4114800" cy="548640"/>
          </a:xfrm>
          <a:prstGeom prst="rect">
            <a:avLst/>
          </a:prstGeom>
          <a:solidFill>
            <a:srgbClr val="FFFFFF"/>
          </a:solidFill>
          <a:ln w="9525">
            <a:solidFill>
              <a:srgbClr val="E3EBF0"/>
            </a:solidFill>
            <a:prstDash val="solid"/>
          </a:ln>
        </p:spPr>
      </p:sp>
      <p:sp>
        <p:nvSpPr>
          <p:cNvPr id="37" name="Text 35"/>
          <p:cNvSpPr/>
          <p:nvPr/>
        </p:nvSpPr>
        <p:spPr>
          <a:xfrm>
            <a:off x="749808" y="3264408"/>
            <a:ext cx="3895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Augment low-light training images</a:t>
            </a:r>
            <a:endParaRPr lang="en-US" sz="1050" dirty="0"/>
          </a:p>
        </p:txBody>
      </p:sp>
      <p:sp>
        <p:nvSpPr>
          <p:cNvPr id="38" name="Shape 36"/>
          <p:cNvSpPr/>
          <p:nvPr/>
        </p:nvSpPr>
        <p:spPr>
          <a:xfrm>
            <a:off x="4754880" y="3264408"/>
            <a:ext cx="2011680" cy="548640"/>
          </a:xfrm>
          <a:prstGeom prst="rect">
            <a:avLst/>
          </a:prstGeom>
          <a:solidFill>
            <a:srgbClr val="FFFFFF"/>
          </a:solidFill>
          <a:ln w="9525">
            <a:solidFill>
              <a:srgbClr val="E3EBF0"/>
            </a:solidFill>
            <a:prstDash val="solid"/>
          </a:ln>
        </p:spPr>
      </p:sp>
      <p:sp>
        <p:nvSpPr>
          <p:cNvPr id="39" name="Text 37"/>
          <p:cNvSpPr/>
          <p:nvPr/>
        </p:nvSpPr>
        <p:spPr>
          <a:xfrm>
            <a:off x="4864608" y="3264408"/>
            <a:ext cx="1792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+0.04 recall</a:t>
            </a:r>
            <a:endParaRPr lang="en-US" sz="1050" dirty="0"/>
          </a:p>
        </p:txBody>
      </p:sp>
      <p:sp>
        <p:nvSpPr>
          <p:cNvPr id="40" name="Shape 38"/>
          <p:cNvSpPr/>
          <p:nvPr/>
        </p:nvSpPr>
        <p:spPr>
          <a:xfrm>
            <a:off x="6766560" y="3264408"/>
            <a:ext cx="1645920" cy="548640"/>
          </a:xfrm>
          <a:prstGeom prst="rect">
            <a:avLst/>
          </a:prstGeom>
          <a:solidFill>
            <a:srgbClr val="FFFFFF"/>
          </a:solidFill>
          <a:ln w="9525">
            <a:solidFill>
              <a:srgbClr val="E3EBF0"/>
            </a:solidFill>
            <a:prstDash val="solid"/>
          </a:ln>
        </p:spPr>
      </p:sp>
      <p:sp>
        <p:nvSpPr>
          <p:cNvPr id="41" name="Text 39"/>
          <p:cNvSpPr/>
          <p:nvPr/>
        </p:nvSpPr>
        <p:spPr>
          <a:xfrm>
            <a:off x="6876288" y="3264408"/>
            <a:ext cx="1426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Medium</a:t>
            </a:r>
            <a:endParaRPr lang="en-US" sz="1050" dirty="0"/>
          </a:p>
        </p:txBody>
      </p:sp>
      <p:sp>
        <p:nvSpPr>
          <p:cNvPr id="42" name="Shape 40"/>
          <p:cNvSpPr/>
          <p:nvPr/>
        </p:nvSpPr>
        <p:spPr>
          <a:xfrm>
            <a:off x="8412480" y="3264408"/>
            <a:ext cx="1554480" cy="548640"/>
          </a:xfrm>
          <a:prstGeom prst="rect">
            <a:avLst/>
          </a:prstGeom>
          <a:solidFill>
            <a:srgbClr val="FFFFFF"/>
          </a:solidFill>
          <a:ln w="9525">
            <a:solidFill>
              <a:srgbClr val="E3EBF0"/>
            </a:solidFill>
            <a:prstDash val="solid"/>
          </a:ln>
        </p:spPr>
      </p:sp>
      <p:sp>
        <p:nvSpPr>
          <p:cNvPr id="43" name="Text 41"/>
          <p:cNvSpPr/>
          <p:nvPr/>
        </p:nvSpPr>
        <p:spPr>
          <a:xfrm>
            <a:off x="8522208" y="3264408"/>
            <a:ext cx="13350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1 week</a:t>
            </a:r>
            <a:endParaRPr lang="en-US" sz="1050" dirty="0"/>
          </a:p>
        </p:txBody>
      </p:sp>
      <p:sp>
        <p:nvSpPr>
          <p:cNvPr id="44" name="Shape 42"/>
          <p:cNvSpPr/>
          <p:nvPr/>
        </p:nvSpPr>
        <p:spPr>
          <a:xfrm>
            <a:off x="9966960" y="3264408"/>
            <a:ext cx="1554480" cy="548640"/>
          </a:xfrm>
          <a:prstGeom prst="rect">
            <a:avLst/>
          </a:prstGeom>
          <a:solidFill>
            <a:srgbClr val="FFFFFF"/>
          </a:solidFill>
          <a:ln w="9525">
            <a:solidFill>
              <a:srgbClr val="E3EBF0"/>
            </a:solidFill>
            <a:prstDash val="solid"/>
          </a:ln>
        </p:spPr>
      </p:sp>
      <p:sp>
        <p:nvSpPr>
          <p:cNvPr id="45" name="Text 43"/>
          <p:cNvSpPr/>
          <p:nvPr/>
        </p:nvSpPr>
        <p:spPr>
          <a:xfrm>
            <a:off x="10076688" y="3264408"/>
            <a:ext cx="13350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Medium</a:t>
            </a:r>
            <a:endParaRPr lang="en-US" sz="1050" dirty="0"/>
          </a:p>
        </p:txBody>
      </p:sp>
      <p:sp>
        <p:nvSpPr>
          <p:cNvPr id="46" name="Shape 44"/>
          <p:cNvSpPr/>
          <p:nvPr/>
        </p:nvSpPr>
        <p:spPr>
          <a:xfrm>
            <a:off x="640080" y="3813048"/>
            <a:ext cx="4114800" cy="548640"/>
          </a:xfrm>
          <a:prstGeom prst="rect">
            <a:avLst/>
          </a:prstGeom>
          <a:solidFill>
            <a:srgbClr val="F5F9FB"/>
          </a:solidFill>
          <a:ln w="9525">
            <a:solidFill>
              <a:srgbClr val="E3EBF0"/>
            </a:solidFill>
            <a:prstDash val="solid"/>
          </a:ln>
        </p:spPr>
      </p:sp>
      <p:sp>
        <p:nvSpPr>
          <p:cNvPr id="47" name="Text 45"/>
          <p:cNvSpPr/>
          <p:nvPr/>
        </p:nvSpPr>
        <p:spPr>
          <a:xfrm>
            <a:off x="749808" y="3813048"/>
            <a:ext cx="389534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Try a larger backbone model</a:t>
            </a:r>
            <a:endParaRPr lang="en-US" sz="1050" dirty="0"/>
          </a:p>
        </p:txBody>
      </p:sp>
      <p:sp>
        <p:nvSpPr>
          <p:cNvPr id="48" name="Shape 46"/>
          <p:cNvSpPr/>
          <p:nvPr/>
        </p:nvSpPr>
        <p:spPr>
          <a:xfrm>
            <a:off x="4754880" y="3813048"/>
            <a:ext cx="2011680" cy="548640"/>
          </a:xfrm>
          <a:prstGeom prst="rect">
            <a:avLst/>
          </a:prstGeom>
          <a:solidFill>
            <a:srgbClr val="F5F9FB"/>
          </a:solidFill>
          <a:ln w="9525">
            <a:solidFill>
              <a:srgbClr val="E3EBF0"/>
            </a:solidFill>
            <a:prstDash val="solid"/>
          </a:ln>
        </p:spPr>
      </p:sp>
      <p:sp>
        <p:nvSpPr>
          <p:cNvPr id="49" name="Text 47"/>
          <p:cNvSpPr/>
          <p:nvPr/>
        </p:nvSpPr>
        <p:spPr>
          <a:xfrm>
            <a:off x="4864608" y="3813048"/>
            <a:ext cx="17922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+0.02 recall</a:t>
            </a:r>
            <a:endParaRPr lang="en-US" sz="1050" dirty="0"/>
          </a:p>
        </p:txBody>
      </p:sp>
      <p:sp>
        <p:nvSpPr>
          <p:cNvPr id="50" name="Shape 48"/>
          <p:cNvSpPr/>
          <p:nvPr/>
        </p:nvSpPr>
        <p:spPr>
          <a:xfrm>
            <a:off x="6766560" y="3813048"/>
            <a:ext cx="1645920" cy="548640"/>
          </a:xfrm>
          <a:prstGeom prst="rect">
            <a:avLst/>
          </a:prstGeom>
          <a:solidFill>
            <a:srgbClr val="F5F9FB"/>
          </a:solidFill>
          <a:ln w="9525">
            <a:solidFill>
              <a:srgbClr val="E3EBF0"/>
            </a:solidFill>
            <a:prstDash val="solid"/>
          </a:ln>
        </p:spPr>
      </p:sp>
      <p:sp>
        <p:nvSpPr>
          <p:cNvPr id="51" name="Text 49"/>
          <p:cNvSpPr/>
          <p:nvPr/>
        </p:nvSpPr>
        <p:spPr>
          <a:xfrm>
            <a:off x="6876288" y="3813048"/>
            <a:ext cx="142646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Low</a:t>
            </a:r>
            <a:endParaRPr lang="en-US" sz="1050" dirty="0"/>
          </a:p>
        </p:txBody>
      </p:sp>
      <p:sp>
        <p:nvSpPr>
          <p:cNvPr id="52" name="Shape 50"/>
          <p:cNvSpPr/>
          <p:nvPr/>
        </p:nvSpPr>
        <p:spPr>
          <a:xfrm>
            <a:off x="8412480" y="3813048"/>
            <a:ext cx="1554480" cy="548640"/>
          </a:xfrm>
          <a:prstGeom prst="rect">
            <a:avLst/>
          </a:prstGeom>
          <a:solidFill>
            <a:srgbClr val="F5F9FB"/>
          </a:solidFill>
          <a:ln w="9525">
            <a:solidFill>
              <a:srgbClr val="E3EBF0"/>
            </a:solidFill>
            <a:prstDash val="solid"/>
          </a:ln>
        </p:spPr>
      </p:sp>
      <p:sp>
        <p:nvSpPr>
          <p:cNvPr id="53" name="Text 51"/>
          <p:cNvSpPr/>
          <p:nvPr/>
        </p:nvSpPr>
        <p:spPr>
          <a:xfrm>
            <a:off x="8522208" y="3813048"/>
            <a:ext cx="13350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2 weeks</a:t>
            </a:r>
            <a:endParaRPr lang="en-US" sz="1050" dirty="0"/>
          </a:p>
        </p:txBody>
      </p:sp>
      <p:sp>
        <p:nvSpPr>
          <p:cNvPr id="54" name="Shape 52"/>
          <p:cNvSpPr/>
          <p:nvPr/>
        </p:nvSpPr>
        <p:spPr>
          <a:xfrm>
            <a:off x="9966960" y="3813048"/>
            <a:ext cx="1554480" cy="548640"/>
          </a:xfrm>
          <a:prstGeom prst="rect">
            <a:avLst/>
          </a:prstGeom>
          <a:solidFill>
            <a:srgbClr val="F5F9FB"/>
          </a:solidFill>
          <a:ln w="9525">
            <a:solidFill>
              <a:srgbClr val="E3EBF0"/>
            </a:solidFill>
            <a:prstDash val="solid"/>
          </a:ln>
        </p:spPr>
      </p:sp>
      <p:sp>
        <p:nvSpPr>
          <p:cNvPr id="55" name="Text 53"/>
          <p:cNvSpPr/>
          <p:nvPr/>
        </p:nvSpPr>
        <p:spPr>
          <a:xfrm>
            <a:off x="10076688" y="3813048"/>
            <a:ext cx="133502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Lowest</a:t>
            </a:r>
            <a:endParaRPr lang="en-US" sz="1050" dirty="0"/>
          </a:p>
        </p:txBody>
      </p:sp>
      <p:sp>
        <p:nvSpPr>
          <p:cNvPr id="56" name="Shape 54"/>
          <p:cNvSpPr/>
          <p:nvPr/>
        </p:nvSpPr>
        <p:spPr>
          <a:xfrm>
            <a:off x="640080" y="4434840"/>
            <a:ext cx="10881360" cy="1280160"/>
          </a:xfrm>
          <a:prstGeom prst="roundRect">
            <a:avLst>
              <a:gd name="adj" fmla="val 4286"/>
            </a:avLst>
          </a:prstGeom>
          <a:solidFill>
            <a:srgbClr val="E4EEF4"/>
          </a:solidFill>
          <a:ln w="12700">
            <a:solidFill>
              <a:srgbClr val="C9DCE7"/>
            </a:solidFill>
            <a:prstDash val="solid"/>
          </a:ln>
        </p:spPr>
      </p:sp>
      <p:sp>
        <p:nvSpPr>
          <p:cNvPr id="57" name="Text 55"/>
          <p:cNvSpPr/>
          <p:nvPr/>
        </p:nvSpPr>
        <p:spPr>
          <a:xfrm>
            <a:off x="914400" y="4617720"/>
            <a:ext cx="10332720" cy="91440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Scoring: expected gain × confidence ÷ effort. It does not need to be precise — it needs to be explicit, so the ranking is a shared decision rather than whoever argues hardest. Note the largest model change ranks last: high effort, low confidence, small expected gain. That is the typical pattern on a stalled industrial PoC.</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3.12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improvement loop</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63</a:t>
            </a:r>
            <a:endParaRPr lang="en-US" sz="1000" dirty="0"/>
          </a:p>
        </p:txBody>
      </p:sp>
      <p:sp>
        <p:nvSpPr>
          <p:cNvPr id="5" name="Shape 3"/>
          <p:cNvSpPr/>
          <p:nvPr/>
        </p:nvSpPr>
        <p:spPr>
          <a:xfrm>
            <a:off x="640080" y="1828800"/>
            <a:ext cx="1444752" cy="2468880"/>
          </a:xfrm>
          <a:prstGeom prst="roundRect">
            <a:avLst>
              <a:gd name="adj" fmla="val 3797"/>
            </a:avLst>
          </a:prstGeom>
          <a:solidFill>
            <a:srgbClr val="E4EEF4"/>
          </a:solidFill>
          <a:ln w="12700">
            <a:solidFill>
              <a:srgbClr val="D3E1EA"/>
            </a:solidFill>
            <a:prstDash val="solid"/>
          </a:ln>
        </p:spPr>
      </p:sp>
      <p:sp>
        <p:nvSpPr>
          <p:cNvPr id="6" name="Shape 4"/>
          <p:cNvSpPr/>
          <p:nvPr/>
        </p:nvSpPr>
        <p:spPr>
          <a:xfrm>
            <a:off x="1179576" y="2029968"/>
            <a:ext cx="365760" cy="365760"/>
          </a:xfrm>
          <a:prstGeom prst="ellipse">
            <a:avLst/>
          </a:prstGeom>
          <a:solidFill>
            <a:srgbClr val="065A82"/>
          </a:solidFill>
          <a:ln/>
        </p:spPr>
      </p:sp>
      <p:sp>
        <p:nvSpPr>
          <p:cNvPr id="7" name="Text 5"/>
          <p:cNvSpPr/>
          <p:nvPr/>
        </p:nvSpPr>
        <p:spPr>
          <a:xfrm>
            <a:off x="1179576"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31520" y="2542032"/>
            <a:ext cx="1261872"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mbria" pitchFamily="34" charset="0"/>
                <a:ea typeface="Cambria" pitchFamily="34" charset="-122"/>
                <a:cs typeface="Cambria" pitchFamily="34" charset="-120"/>
              </a:rPr>
              <a:t>Collect</a:t>
            </a:r>
            <a:endParaRPr lang="en-US" sz="1250" dirty="0"/>
          </a:p>
        </p:txBody>
      </p:sp>
      <p:sp>
        <p:nvSpPr>
          <p:cNvPr id="9" name="Text 7"/>
          <p:cNvSpPr/>
          <p:nvPr/>
        </p:nvSpPr>
        <p:spPr>
          <a:xfrm>
            <a:off x="731520" y="2889504"/>
            <a:ext cx="1261872" cy="1280160"/>
          </a:xfrm>
          <a:prstGeom prst="rect">
            <a:avLst/>
          </a:prstGeom>
          <a:noFill/>
          <a:ln/>
        </p:spPr>
        <p:txBody>
          <a:bodyPr wrap="square" lIns="0" tIns="0" rIns="0" bIns="0" rtlCol="0" anchor="ctr"/>
          <a:lstStyle/>
          <a:p>
            <a:pPr algn="ctr" indent="0" marL="0">
              <a:lnSpc>
                <a:spcPts val="1200"/>
              </a:lnSpc>
              <a:buNone/>
            </a:pPr>
            <a:r>
              <a:rPr lang="en-US" sz="950" dirty="0">
                <a:solidFill>
                  <a:srgbClr val="5A6B7C"/>
                </a:solidFill>
                <a:latin typeface="Calibri" pitchFamily="34" charset="0"/>
                <a:ea typeface="Calibri" pitchFamily="34" charset="-122"/>
                <a:cs typeface="Calibri" pitchFamily="34" charset="-120"/>
              </a:rPr>
              <a:t>Real failures from production and users — not synthetic examples</a:t>
            </a:r>
            <a:endParaRPr lang="en-US" sz="950" dirty="0"/>
          </a:p>
        </p:txBody>
      </p:sp>
      <p:sp>
        <p:nvSpPr>
          <p:cNvPr id="10" name="Shape 8"/>
          <p:cNvSpPr/>
          <p:nvPr/>
        </p:nvSpPr>
        <p:spPr>
          <a:xfrm>
            <a:off x="2231136" y="1828800"/>
            <a:ext cx="1444752" cy="2468880"/>
          </a:xfrm>
          <a:prstGeom prst="roundRect">
            <a:avLst>
              <a:gd name="adj" fmla="val 3797"/>
            </a:avLst>
          </a:prstGeom>
          <a:solidFill>
            <a:srgbClr val="EEF3F7"/>
          </a:solidFill>
          <a:ln w="12700">
            <a:solidFill>
              <a:srgbClr val="D3E1EA"/>
            </a:solidFill>
            <a:prstDash val="solid"/>
          </a:ln>
        </p:spPr>
      </p:sp>
      <p:sp>
        <p:nvSpPr>
          <p:cNvPr id="11" name="Shape 9"/>
          <p:cNvSpPr/>
          <p:nvPr/>
        </p:nvSpPr>
        <p:spPr>
          <a:xfrm>
            <a:off x="2770632" y="2029968"/>
            <a:ext cx="365760" cy="365760"/>
          </a:xfrm>
          <a:prstGeom prst="ellipse">
            <a:avLst/>
          </a:prstGeom>
          <a:solidFill>
            <a:srgbClr val="065A82"/>
          </a:solidFill>
          <a:ln/>
        </p:spPr>
      </p:sp>
      <p:sp>
        <p:nvSpPr>
          <p:cNvPr id="12" name="Text 10"/>
          <p:cNvSpPr/>
          <p:nvPr/>
        </p:nvSpPr>
        <p:spPr>
          <a:xfrm>
            <a:off x="2770632"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2322576" y="2542032"/>
            <a:ext cx="1261872"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mbria" pitchFamily="34" charset="0"/>
                <a:ea typeface="Cambria" pitchFamily="34" charset="-122"/>
                <a:cs typeface="Cambria" pitchFamily="34" charset="-120"/>
              </a:rPr>
              <a:t>Classify</a:t>
            </a:r>
            <a:endParaRPr lang="en-US" sz="1250" dirty="0"/>
          </a:p>
        </p:txBody>
      </p:sp>
      <p:sp>
        <p:nvSpPr>
          <p:cNvPr id="14" name="Text 12"/>
          <p:cNvSpPr/>
          <p:nvPr/>
        </p:nvSpPr>
        <p:spPr>
          <a:xfrm>
            <a:off x="2322576" y="2889504"/>
            <a:ext cx="1261872" cy="1280160"/>
          </a:xfrm>
          <a:prstGeom prst="rect">
            <a:avLst/>
          </a:prstGeom>
          <a:noFill/>
          <a:ln/>
        </p:spPr>
        <p:txBody>
          <a:bodyPr wrap="square" lIns="0" tIns="0" rIns="0" bIns="0" rtlCol="0" anchor="ctr"/>
          <a:lstStyle/>
          <a:p>
            <a:pPr algn="ctr" indent="0" marL="0">
              <a:lnSpc>
                <a:spcPts val="1200"/>
              </a:lnSpc>
              <a:buNone/>
            </a:pPr>
            <a:r>
              <a:rPr lang="en-US" sz="950" dirty="0">
                <a:solidFill>
                  <a:srgbClr val="5A6B7C"/>
                </a:solidFill>
                <a:latin typeface="Calibri" pitchFamily="34" charset="0"/>
                <a:ea typeface="Calibri" pitchFamily="34" charset="-122"/>
                <a:cs typeface="Calibri" pitchFamily="34" charset="-120"/>
              </a:rPr>
              <a:t>Assign to taxonomy categories and count them</a:t>
            </a:r>
            <a:endParaRPr lang="en-US" sz="950" dirty="0"/>
          </a:p>
        </p:txBody>
      </p:sp>
      <p:sp>
        <p:nvSpPr>
          <p:cNvPr id="15" name="Shape 13"/>
          <p:cNvSpPr/>
          <p:nvPr/>
        </p:nvSpPr>
        <p:spPr>
          <a:xfrm>
            <a:off x="3822192" y="1828800"/>
            <a:ext cx="1444752" cy="2468880"/>
          </a:xfrm>
          <a:prstGeom prst="roundRect">
            <a:avLst>
              <a:gd name="adj" fmla="val 3797"/>
            </a:avLst>
          </a:prstGeom>
          <a:solidFill>
            <a:srgbClr val="E4EEF4"/>
          </a:solidFill>
          <a:ln w="12700">
            <a:solidFill>
              <a:srgbClr val="D3E1EA"/>
            </a:solidFill>
            <a:prstDash val="solid"/>
          </a:ln>
        </p:spPr>
      </p:sp>
      <p:sp>
        <p:nvSpPr>
          <p:cNvPr id="16" name="Shape 14"/>
          <p:cNvSpPr/>
          <p:nvPr/>
        </p:nvSpPr>
        <p:spPr>
          <a:xfrm>
            <a:off x="4361688" y="2029968"/>
            <a:ext cx="365760" cy="365760"/>
          </a:xfrm>
          <a:prstGeom prst="ellipse">
            <a:avLst/>
          </a:prstGeom>
          <a:solidFill>
            <a:srgbClr val="065A82"/>
          </a:solidFill>
          <a:ln/>
        </p:spPr>
      </p:sp>
      <p:sp>
        <p:nvSpPr>
          <p:cNvPr id="17" name="Text 15"/>
          <p:cNvSpPr/>
          <p:nvPr/>
        </p:nvSpPr>
        <p:spPr>
          <a:xfrm>
            <a:off x="4361688"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3913632" y="2542032"/>
            <a:ext cx="1261872"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mbria" pitchFamily="34" charset="0"/>
                <a:ea typeface="Cambria" pitchFamily="34" charset="-122"/>
                <a:cs typeface="Cambria" pitchFamily="34" charset="-120"/>
              </a:rPr>
              <a:t>Prioritise</a:t>
            </a:r>
            <a:endParaRPr lang="en-US" sz="1250" dirty="0"/>
          </a:p>
        </p:txBody>
      </p:sp>
      <p:sp>
        <p:nvSpPr>
          <p:cNvPr id="19" name="Text 17"/>
          <p:cNvSpPr/>
          <p:nvPr/>
        </p:nvSpPr>
        <p:spPr>
          <a:xfrm>
            <a:off x="3913632" y="2889504"/>
            <a:ext cx="1261872" cy="1280160"/>
          </a:xfrm>
          <a:prstGeom prst="rect">
            <a:avLst/>
          </a:prstGeom>
          <a:noFill/>
          <a:ln/>
        </p:spPr>
        <p:txBody>
          <a:bodyPr wrap="square" lIns="0" tIns="0" rIns="0" bIns="0" rtlCol="0" anchor="ctr"/>
          <a:lstStyle/>
          <a:p>
            <a:pPr algn="ctr" indent="0" marL="0">
              <a:lnSpc>
                <a:spcPts val="1200"/>
              </a:lnSpc>
              <a:buNone/>
            </a:pPr>
            <a:r>
              <a:rPr lang="en-US" sz="950" dirty="0">
                <a:solidFill>
                  <a:srgbClr val="5A6B7C"/>
                </a:solidFill>
                <a:latin typeface="Calibri" pitchFamily="34" charset="0"/>
                <a:ea typeface="Calibri" pitchFamily="34" charset="-122"/>
                <a:cs typeface="Calibri" pitchFamily="34" charset="-120"/>
              </a:rPr>
              <a:t>Rank by frequency × business cost × headroom</a:t>
            </a:r>
            <a:endParaRPr lang="en-US" sz="950" dirty="0"/>
          </a:p>
        </p:txBody>
      </p:sp>
      <p:sp>
        <p:nvSpPr>
          <p:cNvPr id="20" name="Shape 18"/>
          <p:cNvSpPr/>
          <p:nvPr/>
        </p:nvSpPr>
        <p:spPr>
          <a:xfrm>
            <a:off x="5413248" y="1828800"/>
            <a:ext cx="1444752" cy="2468880"/>
          </a:xfrm>
          <a:prstGeom prst="roundRect">
            <a:avLst>
              <a:gd name="adj" fmla="val 3797"/>
            </a:avLst>
          </a:prstGeom>
          <a:solidFill>
            <a:srgbClr val="EEF3F7"/>
          </a:solidFill>
          <a:ln w="12700">
            <a:solidFill>
              <a:srgbClr val="D3E1EA"/>
            </a:solidFill>
            <a:prstDash val="solid"/>
          </a:ln>
        </p:spPr>
      </p:sp>
      <p:sp>
        <p:nvSpPr>
          <p:cNvPr id="21" name="Shape 19"/>
          <p:cNvSpPr/>
          <p:nvPr/>
        </p:nvSpPr>
        <p:spPr>
          <a:xfrm>
            <a:off x="5952744" y="2029968"/>
            <a:ext cx="365760" cy="365760"/>
          </a:xfrm>
          <a:prstGeom prst="ellipse">
            <a:avLst/>
          </a:prstGeom>
          <a:solidFill>
            <a:srgbClr val="065A82"/>
          </a:solidFill>
          <a:ln/>
        </p:spPr>
      </p:sp>
      <p:sp>
        <p:nvSpPr>
          <p:cNvPr id="22" name="Text 20"/>
          <p:cNvSpPr/>
          <p:nvPr/>
        </p:nvSpPr>
        <p:spPr>
          <a:xfrm>
            <a:off x="5952744"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5504688" y="2542032"/>
            <a:ext cx="1261872"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mbria" pitchFamily="34" charset="0"/>
                <a:ea typeface="Cambria" pitchFamily="34" charset="-122"/>
                <a:cs typeface="Cambria" pitchFamily="34" charset="-120"/>
              </a:rPr>
              <a:t>Write a test</a:t>
            </a:r>
            <a:endParaRPr lang="en-US" sz="1250" dirty="0"/>
          </a:p>
        </p:txBody>
      </p:sp>
      <p:sp>
        <p:nvSpPr>
          <p:cNvPr id="24" name="Text 22"/>
          <p:cNvSpPr/>
          <p:nvPr/>
        </p:nvSpPr>
        <p:spPr>
          <a:xfrm>
            <a:off x="5504688" y="2889504"/>
            <a:ext cx="1261872" cy="1280160"/>
          </a:xfrm>
          <a:prstGeom prst="rect">
            <a:avLst/>
          </a:prstGeom>
          <a:noFill/>
          <a:ln/>
        </p:spPr>
        <p:txBody>
          <a:bodyPr wrap="square" lIns="0" tIns="0" rIns="0" bIns="0" rtlCol="0" anchor="ctr"/>
          <a:lstStyle/>
          <a:p>
            <a:pPr algn="ctr" indent="0" marL="0">
              <a:lnSpc>
                <a:spcPts val="1200"/>
              </a:lnSpc>
              <a:buNone/>
            </a:pPr>
            <a:r>
              <a:rPr lang="en-US" sz="950" dirty="0">
                <a:solidFill>
                  <a:srgbClr val="5A6B7C"/>
                </a:solidFill>
                <a:latin typeface="Calibri" pitchFamily="34" charset="0"/>
                <a:ea typeface="Calibri" pitchFamily="34" charset="-122"/>
                <a:cs typeface="Calibri" pitchFamily="34" charset="-120"/>
              </a:rPr>
              <a:t>Every recurring failure becomes a permanent regression case</a:t>
            </a:r>
            <a:endParaRPr lang="en-US" sz="950" dirty="0"/>
          </a:p>
        </p:txBody>
      </p:sp>
      <p:sp>
        <p:nvSpPr>
          <p:cNvPr id="25" name="Shape 23"/>
          <p:cNvSpPr/>
          <p:nvPr/>
        </p:nvSpPr>
        <p:spPr>
          <a:xfrm>
            <a:off x="7004304" y="1828800"/>
            <a:ext cx="1444752" cy="2468880"/>
          </a:xfrm>
          <a:prstGeom prst="roundRect">
            <a:avLst>
              <a:gd name="adj" fmla="val 3797"/>
            </a:avLst>
          </a:prstGeom>
          <a:solidFill>
            <a:srgbClr val="E4EEF4"/>
          </a:solidFill>
          <a:ln w="12700">
            <a:solidFill>
              <a:srgbClr val="D3E1EA"/>
            </a:solidFill>
            <a:prstDash val="solid"/>
          </a:ln>
        </p:spPr>
      </p:sp>
      <p:sp>
        <p:nvSpPr>
          <p:cNvPr id="26" name="Shape 24"/>
          <p:cNvSpPr/>
          <p:nvPr/>
        </p:nvSpPr>
        <p:spPr>
          <a:xfrm>
            <a:off x="7543800" y="2029968"/>
            <a:ext cx="365760" cy="365760"/>
          </a:xfrm>
          <a:prstGeom prst="ellipse">
            <a:avLst/>
          </a:prstGeom>
          <a:solidFill>
            <a:srgbClr val="065A82"/>
          </a:solidFill>
          <a:ln/>
        </p:spPr>
      </p:sp>
      <p:sp>
        <p:nvSpPr>
          <p:cNvPr id="27" name="Text 25"/>
          <p:cNvSpPr/>
          <p:nvPr/>
        </p:nvSpPr>
        <p:spPr>
          <a:xfrm>
            <a:off x="7543800"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7095744" y="2542032"/>
            <a:ext cx="1261872"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mbria" pitchFamily="34" charset="0"/>
                <a:ea typeface="Cambria" pitchFamily="34" charset="-122"/>
                <a:cs typeface="Cambria" pitchFamily="34" charset="-120"/>
              </a:rPr>
              <a:t>Hypothesise</a:t>
            </a:r>
            <a:endParaRPr lang="en-US" sz="1250" dirty="0"/>
          </a:p>
        </p:txBody>
      </p:sp>
      <p:sp>
        <p:nvSpPr>
          <p:cNvPr id="29" name="Text 27"/>
          <p:cNvSpPr/>
          <p:nvPr/>
        </p:nvSpPr>
        <p:spPr>
          <a:xfrm>
            <a:off x="7095744" y="2889504"/>
            <a:ext cx="1261872" cy="1280160"/>
          </a:xfrm>
          <a:prstGeom prst="rect">
            <a:avLst/>
          </a:prstGeom>
          <a:noFill/>
          <a:ln/>
        </p:spPr>
        <p:txBody>
          <a:bodyPr wrap="square" lIns="0" tIns="0" rIns="0" bIns="0" rtlCol="0" anchor="ctr"/>
          <a:lstStyle/>
          <a:p>
            <a:pPr algn="ctr" indent="0" marL="0">
              <a:lnSpc>
                <a:spcPts val="1200"/>
              </a:lnSpc>
              <a:buNone/>
            </a:pPr>
            <a:r>
              <a:rPr lang="en-US" sz="950" dirty="0">
                <a:solidFill>
                  <a:srgbClr val="5A6B7C"/>
                </a:solidFill>
                <a:latin typeface="Calibri" pitchFamily="34" charset="0"/>
                <a:ea typeface="Calibri" pitchFamily="34" charset="-122"/>
                <a:cs typeface="Calibri" pitchFamily="34" charset="-120"/>
              </a:rPr>
              <a:t>Write a measurable hypothesis for the top categories</a:t>
            </a:r>
            <a:endParaRPr lang="en-US" sz="950" dirty="0"/>
          </a:p>
        </p:txBody>
      </p:sp>
      <p:sp>
        <p:nvSpPr>
          <p:cNvPr id="30" name="Shape 28"/>
          <p:cNvSpPr/>
          <p:nvPr/>
        </p:nvSpPr>
        <p:spPr>
          <a:xfrm>
            <a:off x="8595360" y="1828800"/>
            <a:ext cx="1444752" cy="2468880"/>
          </a:xfrm>
          <a:prstGeom prst="roundRect">
            <a:avLst>
              <a:gd name="adj" fmla="val 3797"/>
            </a:avLst>
          </a:prstGeom>
          <a:solidFill>
            <a:srgbClr val="EEF3F7"/>
          </a:solidFill>
          <a:ln w="12700">
            <a:solidFill>
              <a:srgbClr val="D3E1EA"/>
            </a:solidFill>
            <a:prstDash val="solid"/>
          </a:ln>
        </p:spPr>
      </p:sp>
      <p:sp>
        <p:nvSpPr>
          <p:cNvPr id="31" name="Shape 29"/>
          <p:cNvSpPr/>
          <p:nvPr/>
        </p:nvSpPr>
        <p:spPr>
          <a:xfrm>
            <a:off x="9134856" y="2029968"/>
            <a:ext cx="365760" cy="365760"/>
          </a:xfrm>
          <a:prstGeom prst="ellipse">
            <a:avLst/>
          </a:prstGeom>
          <a:solidFill>
            <a:srgbClr val="065A82"/>
          </a:solidFill>
          <a:ln/>
        </p:spPr>
      </p:sp>
      <p:sp>
        <p:nvSpPr>
          <p:cNvPr id="32" name="Text 30"/>
          <p:cNvSpPr/>
          <p:nvPr/>
        </p:nvSpPr>
        <p:spPr>
          <a:xfrm>
            <a:off x="9134856"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8686800" y="2542032"/>
            <a:ext cx="1261872"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mbria" pitchFamily="34" charset="0"/>
                <a:ea typeface="Cambria" pitchFamily="34" charset="-122"/>
                <a:cs typeface="Cambria" pitchFamily="34" charset="-120"/>
              </a:rPr>
              <a:t>Experiment</a:t>
            </a:r>
            <a:endParaRPr lang="en-US" sz="1250" dirty="0"/>
          </a:p>
        </p:txBody>
      </p:sp>
      <p:sp>
        <p:nvSpPr>
          <p:cNvPr id="34" name="Text 32"/>
          <p:cNvSpPr/>
          <p:nvPr/>
        </p:nvSpPr>
        <p:spPr>
          <a:xfrm>
            <a:off x="8686800" y="2889504"/>
            <a:ext cx="1261872" cy="1280160"/>
          </a:xfrm>
          <a:prstGeom prst="rect">
            <a:avLst/>
          </a:prstGeom>
          <a:noFill/>
          <a:ln/>
        </p:spPr>
        <p:txBody>
          <a:bodyPr wrap="square" lIns="0" tIns="0" rIns="0" bIns="0" rtlCol="0" anchor="ctr"/>
          <a:lstStyle/>
          <a:p>
            <a:pPr algn="ctr" indent="0" marL="0">
              <a:lnSpc>
                <a:spcPts val="1200"/>
              </a:lnSpc>
              <a:buNone/>
            </a:pPr>
            <a:r>
              <a:rPr lang="en-US" sz="950" dirty="0">
                <a:solidFill>
                  <a:srgbClr val="5A6B7C"/>
                </a:solidFill>
                <a:latin typeface="Calibri" pitchFamily="34" charset="0"/>
                <a:ea typeface="Calibri" pitchFamily="34" charset="-122"/>
                <a:cs typeface="Calibri" pitchFamily="34" charset="-120"/>
              </a:rPr>
              <a:t>Run it properly — right test, adequate power, pre-set criterion</a:t>
            </a:r>
            <a:endParaRPr lang="en-US" sz="950" dirty="0"/>
          </a:p>
        </p:txBody>
      </p:sp>
      <p:sp>
        <p:nvSpPr>
          <p:cNvPr id="35" name="Shape 33"/>
          <p:cNvSpPr/>
          <p:nvPr/>
        </p:nvSpPr>
        <p:spPr>
          <a:xfrm>
            <a:off x="10186416" y="1828800"/>
            <a:ext cx="1444752" cy="2468880"/>
          </a:xfrm>
          <a:prstGeom prst="roundRect">
            <a:avLst>
              <a:gd name="adj" fmla="val 3797"/>
            </a:avLst>
          </a:prstGeom>
          <a:solidFill>
            <a:srgbClr val="E4EEF4"/>
          </a:solidFill>
          <a:ln w="12700">
            <a:solidFill>
              <a:srgbClr val="D3E1EA"/>
            </a:solidFill>
            <a:prstDash val="solid"/>
          </a:ln>
        </p:spPr>
      </p:sp>
      <p:sp>
        <p:nvSpPr>
          <p:cNvPr id="36" name="Shape 34"/>
          <p:cNvSpPr/>
          <p:nvPr/>
        </p:nvSpPr>
        <p:spPr>
          <a:xfrm>
            <a:off x="10725912" y="2029968"/>
            <a:ext cx="365760" cy="365760"/>
          </a:xfrm>
          <a:prstGeom prst="ellipse">
            <a:avLst/>
          </a:prstGeom>
          <a:solidFill>
            <a:srgbClr val="065A82"/>
          </a:solidFill>
          <a:ln/>
        </p:spPr>
      </p:sp>
      <p:sp>
        <p:nvSpPr>
          <p:cNvPr id="37" name="Text 35"/>
          <p:cNvSpPr/>
          <p:nvPr/>
        </p:nvSpPr>
        <p:spPr>
          <a:xfrm>
            <a:off x="10725912"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6"/>
          <p:cNvSpPr/>
          <p:nvPr/>
        </p:nvSpPr>
        <p:spPr>
          <a:xfrm>
            <a:off x="10277856" y="2542032"/>
            <a:ext cx="1261872"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mbria" pitchFamily="34" charset="0"/>
                <a:ea typeface="Cambria" pitchFamily="34" charset="-122"/>
                <a:cs typeface="Cambria" pitchFamily="34" charset="-120"/>
              </a:rPr>
              <a:t>Decide</a:t>
            </a:r>
            <a:endParaRPr lang="en-US" sz="1250" dirty="0"/>
          </a:p>
        </p:txBody>
      </p:sp>
      <p:sp>
        <p:nvSpPr>
          <p:cNvPr id="39" name="Text 37"/>
          <p:cNvSpPr/>
          <p:nvPr/>
        </p:nvSpPr>
        <p:spPr>
          <a:xfrm>
            <a:off x="10277856" y="2889504"/>
            <a:ext cx="1261872" cy="1280160"/>
          </a:xfrm>
          <a:prstGeom prst="rect">
            <a:avLst/>
          </a:prstGeom>
          <a:noFill/>
          <a:ln/>
        </p:spPr>
        <p:txBody>
          <a:bodyPr wrap="square" lIns="0" tIns="0" rIns="0" bIns="0" rtlCol="0" anchor="ctr"/>
          <a:lstStyle/>
          <a:p>
            <a:pPr algn="ctr" indent="0" marL="0">
              <a:lnSpc>
                <a:spcPts val="1200"/>
              </a:lnSpc>
              <a:buNone/>
            </a:pPr>
            <a:r>
              <a:rPr lang="en-US" sz="950" dirty="0">
                <a:solidFill>
                  <a:srgbClr val="5A6B7C"/>
                </a:solidFill>
                <a:latin typeface="Calibri" pitchFamily="34" charset="0"/>
                <a:ea typeface="Calibri" pitchFamily="34" charset="-122"/>
                <a:cs typeface="Calibri" pitchFamily="34" charset="-120"/>
              </a:rPr>
              <a:t>Keep, discard, or investigate. Record the decision and why</a:t>
            </a:r>
            <a:endParaRPr lang="en-US" sz="950" dirty="0"/>
          </a:p>
        </p:txBody>
      </p:sp>
      <p:sp>
        <p:nvSpPr>
          <p:cNvPr id="40" name="Text 38"/>
          <p:cNvSpPr/>
          <p:nvPr/>
        </p:nvSpPr>
        <p:spPr>
          <a:xfrm>
            <a:off x="640080" y="4663440"/>
            <a:ext cx="10881360" cy="457200"/>
          </a:xfrm>
          <a:prstGeom prst="rect">
            <a:avLst/>
          </a:prstGeom>
          <a:noFill/>
          <a:ln/>
        </p:spPr>
        <p:txBody>
          <a:bodyPr wrap="square" rtlCol="0" anchor="ctr"/>
          <a:lstStyle/>
          <a:p>
            <a:pPr indent="0" marL="0">
              <a:buNone/>
            </a:pPr>
            <a:r>
              <a:rPr lang="en-US" sz="1500" b="1" i="1" dirty="0">
                <a:solidFill>
                  <a:srgbClr val="1C7293"/>
                </a:solidFill>
                <a:latin typeface="Calibri" pitchFamily="34" charset="0"/>
                <a:ea typeface="Calibri" pitchFamily="34" charset="-122"/>
                <a:cs typeface="Calibri" pitchFamily="34" charset="-120"/>
              </a:rPr>
              <a:t>This loop — not a single heroic model change — is what moves a system from 60% toward production quality.</a:t>
            </a:r>
            <a:endParaRPr lang="en-US" sz="1500" dirty="0"/>
          </a:p>
        </p:txBody>
      </p:sp>
      <p:sp>
        <p:nvSpPr>
          <p:cNvPr id="41" name="Text 39"/>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Step 7 is the one that compounds. A decision log means next year's team does not repeat this year's experiments.</a:t>
            </a:r>
            <a:endParaRPr lang="en-US" sz="12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HANDS-ON · 60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Lab 3 — Classify 100 real failures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64</a:t>
            </a:r>
            <a:endParaRPr lang="en-US" sz="1000" dirty="0"/>
          </a:p>
        </p:txBody>
      </p:sp>
      <p:sp>
        <p:nvSpPr>
          <p:cNvPr id="5" name="Text 3"/>
          <p:cNvSpPr/>
          <p:nvPr/>
        </p:nvSpPr>
        <p:spPr>
          <a:xfrm>
            <a:off x="640080" y="1280160"/>
            <a:ext cx="10881360" cy="365760"/>
          </a:xfrm>
          <a:prstGeom prst="rect">
            <a:avLst/>
          </a:prstGeom>
          <a:noFill/>
          <a:ln/>
        </p:spPr>
        <p:txBody>
          <a:bodyPr wrap="square" rtlCol="0" anchor="ctr"/>
          <a:lstStyle/>
          <a:p>
            <a:pPr indent="0" marL="0">
              <a:buNone/>
            </a:pPr>
            <a:r>
              <a:rPr lang="en-US" sz="1500" dirty="0">
                <a:solidFill>
                  <a:srgbClr val="1A2430"/>
                </a:solidFill>
                <a:latin typeface="Calibri" pitchFamily="34" charset="0"/>
                <a:ea typeface="Calibri" pitchFamily="34" charset="-122"/>
                <a:cs typeface="Calibri" pitchFamily="34" charset="-120"/>
              </a:rPr>
              <a:t>Take 100 documented failure cases from your PoC. Classify every one. Then count, weight and rank.</a:t>
            </a:r>
            <a:endParaRPr lang="en-US" sz="1500" dirty="0"/>
          </a:p>
        </p:txBody>
      </p:sp>
      <p:sp>
        <p:nvSpPr>
          <p:cNvPr id="6" name="Shape 4"/>
          <p:cNvSpPr/>
          <p:nvPr/>
        </p:nvSpPr>
        <p:spPr>
          <a:xfrm>
            <a:off x="640080" y="1828800"/>
            <a:ext cx="1280160" cy="548640"/>
          </a:xfrm>
          <a:prstGeom prst="roundRect">
            <a:avLst>
              <a:gd name="adj" fmla="val 8333"/>
            </a:avLst>
          </a:prstGeom>
          <a:solidFill>
            <a:srgbClr val="1C7293"/>
          </a:solidFill>
          <a:ln/>
        </p:spPr>
      </p:sp>
      <p:sp>
        <p:nvSpPr>
          <p:cNvPr id="7" name="Text 5"/>
          <p:cNvSpPr/>
          <p:nvPr/>
        </p:nvSpPr>
        <p:spPr>
          <a:xfrm>
            <a:off x="640080" y="1828800"/>
            <a:ext cx="12801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Step 1</a:t>
            </a:r>
            <a:endParaRPr lang="en-US" sz="1200" dirty="0"/>
          </a:p>
        </p:txBody>
      </p:sp>
      <p:sp>
        <p:nvSpPr>
          <p:cNvPr id="8" name="Text 6"/>
          <p:cNvSpPr/>
          <p:nvPr/>
        </p:nvSpPr>
        <p:spPr>
          <a:xfrm>
            <a:off x="2103120" y="1828800"/>
            <a:ext cx="9418320" cy="548640"/>
          </a:xfrm>
          <a:prstGeom prst="rect">
            <a:avLst/>
          </a:prstGeom>
          <a:noFill/>
          <a:ln/>
        </p:spPr>
        <p:txBody>
          <a:bodyPr wrap="square" lIns="0" tIns="0" rIns="0" bIns="0" rtlCol="0" anchor="ctr"/>
          <a:lstStyle/>
          <a:p>
            <a:pPr indent="0" marL="0">
              <a:lnSpc>
                <a:spcPts val="1600"/>
              </a:lnSpc>
              <a:buNone/>
            </a:pPr>
            <a:r>
              <a:rPr lang="en-US" sz="1300" dirty="0">
                <a:solidFill>
                  <a:srgbClr val="1A2430"/>
                </a:solidFill>
                <a:latin typeface="Calibri" pitchFamily="34" charset="0"/>
                <a:ea typeface="Calibri" pitchFamily="34" charset="-122"/>
                <a:cs typeface="Calibri" pitchFamily="34" charset="-120"/>
              </a:rPr>
              <a:t>Agree taxonomy categories as a team before classifying anything</a:t>
            </a:r>
            <a:endParaRPr lang="en-US" sz="1300" dirty="0"/>
          </a:p>
        </p:txBody>
      </p:sp>
      <p:sp>
        <p:nvSpPr>
          <p:cNvPr id="9" name="Shape 7"/>
          <p:cNvSpPr/>
          <p:nvPr/>
        </p:nvSpPr>
        <p:spPr>
          <a:xfrm>
            <a:off x="640080" y="2487168"/>
            <a:ext cx="1280160" cy="548640"/>
          </a:xfrm>
          <a:prstGeom prst="roundRect">
            <a:avLst>
              <a:gd name="adj" fmla="val 8333"/>
            </a:avLst>
          </a:prstGeom>
          <a:solidFill>
            <a:srgbClr val="1C7293"/>
          </a:solidFill>
          <a:ln/>
        </p:spPr>
      </p:sp>
      <p:sp>
        <p:nvSpPr>
          <p:cNvPr id="10" name="Text 8"/>
          <p:cNvSpPr/>
          <p:nvPr/>
        </p:nvSpPr>
        <p:spPr>
          <a:xfrm>
            <a:off x="640080" y="2487168"/>
            <a:ext cx="12801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Step 2</a:t>
            </a:r>
            <a:endParaRPr lang="en-US" sz="1200" dirty="0"/>
          </a:p>
        </p:txBody>
      </p:sp>
      <p:sp>
        <p:nvSpPr>
          <p:cNvPr id="11" name="Text 9"/>
          <p:cNvSpPr/>
          <p:nvPr/>
        </p:nvSpPr>
        <p:spPr>
          <a:xfrm>
            <a:off x="2103120" y="2487168"/>
            <a:ext cx="9418320" cy="548640"/>
          </a:xfrm>
          <a:prstGeom prst="rect">
            <a:avLst/>
          </a:prstGeom>
          <a:noFill/>
          <a:ln/>
        </p:spPr>
        <p:txBody>
          <a:bodyPr wrap="square" lIns="0" tIns="0" rIns="0" bIns="0" rtlCol="0" anchor="ctr"/>
          <a:lstStyle/>
          <a:p>
            <a:pPr indent="0" marL="0">
              <a:lnSpc>
                <a:spcPts val="1600"/>
              </a:lnSpc>
              <a:buNone/>
            </a:pPr>
            <a:r>
              <a:rPr lang="en-US" sz="1300" dirty="0">
                <a:solidFill>
                  <a:srgbClr val="1A2430"/>
                </a:solidFill>
                <a:latin typeface="Calibri" pitchFamily="34" charset="0"/>
                <a:ea typeface="Calibri" pitchFamily="34" charset="-122"/>
                <a:cs typeface="Calibri" pitchFamily="34" charset="-120"/>
              </a:rPr>
              <a:t>Classify all 100 independently, then compare — disagreement is itself a finding</a:t>
            </a:r>
            <a:endParaRPr lang="en-US" sz="1300" dirty="0"/>
          </a:p>
        </p:txBody>
      </p:sp>
      <p:sp>
        <p:nvSpPr>
          <p:cNvPr id="12" name="Shape 10"/>
          <p:cNvSpPr/>
          <p:nvPr/>
        </p:nvSpPr>
        <p:spPr>
          <a:xfrm>
            <a:off x="640080" y="3145536"/>
            <a:ext cx="1280160" cy="548640"/>
          </a:xfrm>
          <a:prstGeom prst="roundRect">
            <a:avLst>
              <a:gd name="adj" fmla="val 8333"/>
            </a:avLst>
          </a:prstGeom>
          <a:solidFill>
            <a:srgbClr val="1C7293"/>
          </a:solidFill>
          <a:ln/>
        </p:spPr>
      </p:sp>
      <p:sp>
        <p:nvSpPr>
          <p:cNvPr id="13" name="Text 11"/>
          <p:cNvSpPr/>
          <p:nvPr/>
        </p:nvSpPr>
        <p:spPr>
          <a:xfrm>
            <a:off x="640080" y="3145536"/>
            <a:ext cx="12801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Step 3</a:t>
            </a:r>
            <a:endParaRPr lang="en-US" sz="1200" dirty="0"/>
          </a:p>
        </p:txBody>
      </p:sp>
      <p:sp>
        <p:nvSpPr>
          <p:cNvPr id="14" name="Text 12"/>
          <p:cNvSpPr/>
          <p:nvPr/>
        </p:nvSpPr>
        <p:spPr>
          <a:xfrm>
            <a:off x="2103120" y="3145536"/>
            <a:ext cx="9418320" cy="548640"/>
          </a:xfrm>
          <a:prstGeom prst="rect">
            <a:avLst/>
          </a:prstGeom>
          <a:noFill/>
          <a:ln/>
        </p:spPr>
        <p:txBody>
          <a:bodyPr wrap="square" lIns="0" tIns="0" rIns="0" bIns="0" rtlCol="0" anchor="ctr"/>
          <a:lstStyle/>
          <a:p>
            <a:pPr indent="0" marL="0">
              <a:lnSpc>
                <a:spcPts val="1600"/>
              </a:lnSpc>
              <a:buNone/>
            </a:pPr>
            <a:r>
              <a:rPr lang="en-US" sz="1300" dirty="0">
                <a:solidFill>
                  <a:srgbClr val="1A2430"/>
                </a:solidFill>
                <a:latin typeface="Calibri" pitchFamily="34" charset="0"/>
                <a:ea typeface="Calibri" pitchFamily="34" charset="-122"/>
                <a:cs typeface="Calibri" pitchFamily="34" charset="-120"/>
              </a:rPr>
              <a:t>Count failures per category and rank by frequency</a:t>
            </a:r>
            <a:endParaRPr lang="en-US" sz="1300" dirty="0"/>
          </a:p>
        </p:txBody>
      </p:sp>
      <p:sp>
        <p:nvSpPr>
          <p:cNvPr id="15" name="Shape 13"/>
          <p:cNvSpPr/>
          <p:nvPr/>
        </p:nvSpPr>
        <p:spPr>
          <a:xfrm>
            <a:off x="640080" y="3803904"/>
            <a:ext cx="1280160" cy="548640"/>
          </a:xfrm>
          <a:prstGeom prst="roundRect">
            <a:avLst>
              <a:gd name="adj" fmla="val 8333"/>
            </a:avLst>
          </a:prstGeom>
          <a:solidFill>
            <a:srgbClr val="1C7293"/>
          </a:solidFill>
          <a:ln/>
        </p:spPr>
      </p:sp>
      <p:sp>
        <p:nvSpPr>
          <p:cNvPr id="16" name="Text 14"/>
          <p:cNvSpPr/>
          <p:nvPr/>
        </p:nvSpPr>
        <p:spPr>
          <a:xfrm>
            <a:off x="640080" y="3803904"/>
            <a:ext cx="12801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Step 4</a:t>
            </a:r>
            <a:endParaRPr lang="en-US" sz="1200" dirty="0"/>
          </a:p>
        </p:txBody>
      </p:sp>
      <p:sp>
        <p:nvSpPr>
          <p:cNvPr id="17" name="Text 15"/>
          <p:cNvSpPr/>
          <p:nvPr/>
        </p:nvSpPr>
        <p:spPr>
          <a:xfrm>
            <a:off x="2103120" y="3803904"/>
            <a:ext cx="9418320" cy="548640"/>
          </a:xfrm>
          <a:prstGeom prst="rect">
            <a:avLst/>
          </a:prstGeom>
          <a:noFill/>
          <a:ln/>
        </p:spPr>
        <p:txBody>
          <a:bodyPr wrap="square" lIns="0" tIns="0" rIns="0" bIns="0" rtlCol="0" anchor="ctr"/>
          <a:lstStyle/>
          <a:p>
            <a:pPr indent="0" marL="0">
              <a:lnSpc>
                <a:spcPts val="1600"/>
              </a:lnSpc>
              <a:buNone/>
            </a:pPr>
            <a:r>
              <a:rPr lang="en-US" sz="1300" dirty="0">
                <a:solidFill>
                  <a:srgbClr val="1A2430"/>
                </a:solidFill>
                <a:latin typeface="Calibri" pitchFamily="34" charset="0"/>
                <a:ea typeface="Calibri" pitchFamily="34" charset="-122"/>
                <a:cs typeface="Calibri" pitchFamily="34" charset="-120"/>
              </a:rPr>
              <a:t>Multiply frequency by business cost to get the true priority order</a:t>
            </a:r>
            <a:endParaRPr lang="en-US" sz="1300" dirty="0"/>
          </a:p>
        </p:txBody>
      </p:sp>
      <p:sp>
        <p:nvSpPr>
          <p:cNvPr id="18" name="Shape 16"/>
          <p:cNvSpPr/>
          <p:nvPr/>
        </p:nvSpPr>
        <p:spPr>
          <a:xfrm>
            <a:off x="640080" y="4462272"/>
            <a:ext cx="1280160" cy="548640"/>
          </a:xfrm>
          <a:prstGeom prst="roundRect">
            <a:avLst>
              <a:gd name="adj" fmla="val 8333"/>
            </a:avLst>
          </a:prstGeom>
          <a:solidFill>
            <a:srgbClr val="1C7293"/>
          </a:solidFill>
          <a:ln/>
        </p:spPr>
      </p:sp>
      <p:sp>
        <p:nvSpPr>
          <p:cNvPr id="19" name="Text 17"/>
          <p:cNvSpPr/>
          <p:nvPr/>
        </p:nvSpPr>
        <p:spPr>
          <a:xfrm>
            <a:off x="640080" y="4462272"/>
            <a:ext cx="12801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Step 5</a:t>
            </a:r>
            <a:endParaRPr lang="en-US" sz="1200" dirty="0"/>
          </a:p>
        </p:txBody>
      </p:sp>
      <p:sp>
        <p:nvSpPr>
          <p:cNvPr id="20" name="Text 18"/>
          <p:cNvSpPr/>
          <p:nvPr/>
        </p:nvSpPr>
        <p:spPr>
          <a:xfrm>
            <a:off x="2103120" y="4462272"/>
            <a:ext cx="9418320" cy="548640"/>
          </a:xfrm>
          <a:prstGeom prst="rect">
            <a:avLst/>
          </a:prstGeom>
          <a:noFill/>
          <a:ln/>
        </p:spPr>
        <p:txBody>
          <a:bodyPr wrap="square" lIns="0" tIns="0" rIns="0" bIns="0" rtlCol="0" anchor="ctr"/>
          <a:lstStyle/>
          <a:p>
            <a:pPr indent="0" marL="0">
              <a:lnSpc>
                <a:spcPts val="1600"/>
              </a:lnSpc>
              <a:buNone/>
            </a:pPr>
            <a:r>
              <a:rPr lang="en-US" sz="1300" dirty="0">
                <a:solidFill>
                  <a:srgbClr val="1A2430"/>
                </a:solidFill>
                <a:latin typeface="Calibri" pitchFamily="34" charset="0"/>
                <a:ea typeface="Calibri" pitchFamily="34" charset="-122"/>
                <a:cs typeface="Calibri" pitchFamily="34" charset="-120"/>
              </a:rPr>
              <a:t>Estimate headroom — what would fixing each category entirely gain?</a:t>
            </a:r>
            <a:endParaRPr lang="en-US" sz="1300" dirty="0"/>
          </a:p>
        </p:txBody>
      </p:sp>
      <p:sp>
        <p:nvSpPr>
          <p:cNvPr id="21" name="Shape 19"/>
          <p:cNvSpPr/>
          <p:nvPr/>
        </p:nvSpPr>
        <p:spPr>
          <a:xfrm>
            <a:off x="640080" y="5120640"/>
            <a:ext cx="1280160" cy="548640"/>
          </a:xfrm>
          <a:prstGeom prst="roundRect">
            <a:avLst>
              <a:gd name="adj" fmla="val 8333"/>
            </a:avLst>
          </a:prstGeom>
          <a:solidFill>
            <a:srgbClr val="1C7293"/>
          </a:solidFill>
          <a:ln/>
        </p:spPr>
      </p:sp>
      <p:sp>
        <p:nvSpPr>
          <p:cNvPr id="22" name="Text 20"/>
          <p:cNvSpPr/>
          <p:nvPr/>
        </p:nvSpPr>
        <p:spPr>
          <a:xfrm>
            <a:off x="640080" y="5120640"/>
            <a:ext cx="12801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Step 6</a:t>
            </a:r>
            <a:endParaRPr lang="en-US" sz="1200" dirty="0"/>
          </a:p>
        </p:txBody>
      </p:sp>
      <p:sp>
        <p:nvSpPr>
          <p:cNvPr id="23" name="Text 21"/>
          <p:cNvSpPr/>
          <p:nvPr/>
        </p:nvSpPr>
        <p:spPr>
          <a:xfrm>
            <a:off x="2103120" y="5120640"/>
            <a:ext cx="9418320" cy="548640"/>
          </a:xfrm>
          <a:prstGeom prst="rect">
            <a:avLst/>
          </a:prstGeom>
          <a:noFill/>
          <a:ln/>
        </p:spPr>
        <p:txBody>
          <a:bodyPr wrap="square" lIns="0" tIns="0" rIns="0" bIns="0" rtlCol="0" anchor="ctr"/>
          <a:lstStyle/>
          <a:p>
            <a:pPr indent="0" marL="0">
              <a:lnSpc>
                <a:spcPts val="1600"/>
              </a:lnSpc>
              <a:buNone/>
            </a:pPr>
            <a:r>
              <a:rPr lang="en-US" sz="1300" dirty="0">
                <a:solidFill>
                  <a:srgbClr val="1A2430"/>
                </a:solidFill>
                <a:latin typeface="Calibri" pitchFamily="34" charset="0"/>
                <a:ea typeface="Calibri" pitchFamily="34" charset="-122"/>
                <a:cs typeface="Calibri" pitchFamily="34" charset="-120"/>
              </a:rPr>
              <a:t>Identify the top three levers and write one measurable hypothesis for each</a:t>
            </a:r>
            <a:endParaRPr lang="en-US" sz="1300" dirty="0"/>
          </a:p>
        </p:txBody>
      </p:sp>
      <p:sp>
        <p:nvSpPr>
          <p:cNvPr id="24" name="Text 22"/>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Deliverable: a ranked failure taxonomy with counts and costs, plus the top three improvement levers with hypotheses.</a:t>
            </a:r>
            <a:endParaRPr lang="en-US" sz="12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SCORED · SUBMIT BY TOMORROW MORNING</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Day 1 assignment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65</a:t>
            </a:r>
            <a:endParaRPr lang="en-US" sz="1000" dirty="0"/>
          </a:p>
        </p:txBody>
      </p:sp>
      <p:sp>
        <p:nvSpPr>
          <p:cNvPr id="5" name="Shape 3"/>
          <p:cNvSpPr/>
          <p:nvPr/>
        </p:nvSpPr>
        <p:spPr>
          <a:xfrm>
            <a:off x="640080" y="1463040"/>
            <a:ext cx="365760" cy="365760"/>
          </a:xfrm>
          <a:prstGeom prst="ellipse">
            <a:avLst/>
          </a:prstGeom>
          <a:solidFill>
            <a:srgbClr val="065A82"/>
          </a:solidFill>
          <a:ln/>
        </p:spPr>
      </p:sp>
      <p:sp>
        <p:nvSpPr>
          <p:cNvPr id="6" name="Text 4"/>
          <p:cNvSpPr/>
          <p:nvPr/>
        </p:nvSpPr>
        <p:spPr>
          <a:xfrm>
            <a:off x="640080" y="1463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840480" cy="566928"/>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Baseline score and metric set</a:t>
            </a:r>
            <a:endParaRPr lang="en-US" sz="1300" dirty="0"/>
          </a:p>
        </p:txBody>
      </p:sp>
      <p:sp>
        <p:nvSpPr>
          <p:cNvPr id="8" name="Text 6"/>
          <p:cNvSpPr/>
          <p:nvPr/>
        </p:nvSpPr>
        <p:spPr>
          <a:xfrm>
            <a:off x="5212080" y="1371600"/>
            <a:ext cx="6309360" cy="56692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Measured starting point, three to five metrics with targets, evaluation set described and versioned</a:t>
            </a:r>
            <a:endParaRPr lang="en-US" sz="1100" dirty="0"/>
          </a:p>
        </p:txBody>
      </p:sp>
      <p:sp>
        <p:nvSpPr>
          <p:cNvPr id="9" name="Shape 7"/>
          <p:cNvSpPr/>
          <p:nvPr/>
        </p:nvSpPr>
        <p:spPr>
          <a:xfrm>
            <a:off x="640080" y="2148840"/>
            <a:ext cx="365760" cy="365760"/>
          </a:xfrm>
          <a:prstGeom prst="ellipse">
            <a:avLst/>
          </a:prstGeom>
          <a:solidFill>
            <a:srgbClr val="065A82"/>
          </a:solidFill>
          <a:ln/>
        </p:spPr>
      </p:sp>
      <p:sp>
        <p:nvSpPr>
          <p:cNvPr id="10" name="Text 8"/>
          <p:cNvSpPr/>
          <p:nvPr/>
        </p:nvSpPr>
        <p:spPr>
          <a:xfrm>
            <a:off x="640080"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057400"/>
            <a:ext cx="3840480" cy="566928"/>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Failure taxonomy</a:t>
            </a:r>
            <a:endParaRPr lang="en-US" sz="1300" dirty="0"/>
          </a:p>
        </p:txBody>
      </p:sp>
      <p:sp>
        <p:nvSpPr>
          <p:cNvPr id="12" name="Text 10"/>
          <p:cNvSpPr/>
          <p:nvPr/>
        </p:nvSpPr>
        <p:spPr>
          <a:xfrm>
            <a:off x="5212080" y="2057400"/>
            <a:ext cx="6309360" cy="56692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Categories with counts and cost weighting from the 100 classified failures</a:t>
            </a:r>
            <a:endParaRPr lang="en-US" sz="1100" dirty="0"/>
          </a:p>
        </p:txBody>
      </p:sp>
      <p:sp>
        <p:nvSpPr>
          <p:cNvPr id="13" name="Shape 11"/>
          <p:cNvSpPr/>
          <p:nvPr/>
        </p:nvSpPr>
        <p:spPr>
          <a:xfrm>
            <a:off x="640080" y="2834640"/>
            <a:ext cx="365760" cy="365760"/>
          </a:xfrm>
          <a:prstGeom prst="ellipse">
            <a:avLst/>
          </a:prstGeom>
          <a:solidFill>
            <a:srgbClr val="065A82"/>
          </a:solidFill>
          <a:ln/>
        </p:spPr>
      </p:sp>
      <p:sp>
        <p:nvSpPr>
          <p:cNvPr id="14" name="Text 12"/>
          <p:cNvSpPr/>
          <p:nvPr/>
        </p:nvSpPr>
        <p:spPr>
          <a:xfrm>
            <a:off x="640080" y="2834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743200"/>
            <a:ext cx="3840480" cy="566928"/>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Root-cause analysis</a:t>
            </a:r>
            <a:endParaRPr lang="en-US" sz="1300" dirty="0"/>
          </a:p>
        </p:txBody>
      </p:sp>
      <p:sp>
        <p:nvSpPr>
          <p:cNvPr id="16" name="Text 14"/>
          <p:cNvSpPr/>
          <p:nvPr/>
        </p:nvSpPr>
        <p:spPr>
          <a:xfrm>
            <a:off x="5212080" y="2743200"/>
            <a:ext cx="6309360" cy="56692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For the top three categories — what is actually causing them, with evidence</a:t>
            </a:r>
            <a:endParaRPr lang="en-US" sz="1100" dirty="0"/>
          </a:p>
        </p:txBody>
      </p:sp>
      <p:sp>
        <p:nvSpPr>
          <p:cNvPr id="17" name="Shape 15"/>
          <p:cNvSpPr/>
          <p:nvPr/>
        </p:nvSpPr>
        <p:spPr>
          <a:xfrm>
            <a:off x="640080" y="3520440"/>
            <a:ext cx="365760" cy="365760"/>
          </a:xfrm>
          <a:prstGeom prst="ellipse">
            <a:avLst/>
          </a:prstGeom>
          <a:solidFill>
            <a:srgbClr val="065A82"/>
          </a:solidFill>
          <a:ln/>
        </p:spPr>
      </p:sp>
      <p:sp>
        <p:nvSpPr>
          <p:cNvPr id="18" name="Text 16"/>
          <p:cNvSpPr/>
          <p:nvPr/>
        </p:nvSpPr>
        <p:spPr>
          <a:xfrm>
            <a:off x="640080" y="35204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429000"/>
            <a:ext cx="3840480" cy="566928"/>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Threshold and cost analysis</a:t>
            </a:r>
            <a:endParaRPr lang="en-US" sz="1300" dirty="0"/>
          </a:p>
        </p:txBody>
      </p:sp>
      <p:sp>
        <p:nvSpPr>
          <p:cNvPr id="20" name="Text 18"/>
          <p:cNvSpPr/>
          <p:nvPr/>
        </p:nvSpPr>
        <p:spPr>
          <a:xfrm>
            <a:off x="5212080" y="3429000"/>
            <a:ext cx="6309360" cy="56692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Cost of each error type, and the cost-optimal operating point for your system</a:t>
            </a:r>
            <a:endParaRPr lang="en-US" sz="1100" dirty="0"/>
          </a:p>
        </p:txBody>
      </p:sp>
      <p:sp>
        <p:nvSpPr>
          <p:cNvPr id="21" name="Shape 19"/>
          <p:cNvSpPr/>
          <p:nvPr/>
        </p:nvSpPr>
        <p:spPr>
          <a:xfrm>
            <a:off x="640080" y="4206240"/>
            <a:ext cx="365760" cy="365760"/>
          </a:xfrm>
          <a:prstGeom prst="ellipse">
            <a:avLst/>
          </a:prstGeom>
          <a:solidFill>
            <a:srgbClr val="065A82"/>
          </a:solidFill>
          <a:ln/>
        </p:spPr>
      </p:sp>
      <p:sp>
        <p:nvSpPr>
          <p:cNvPr id="22" name="Text 20"/>
          <p:cNvSpPr/>
          <p:nvPr/>
        </p:nvSpPr>
        <p:spPr>
          <a:xfrm>
            <a:off x="640080" y="4206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114800"/>
            <a:ext cx="3840480" cy="566928"/>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Three improvement hypotheses</a:t>
            </a:r>
            <a:endParaRPr lang="en-US" sz="1300" dirty="0"/>
          </a:p>
        </p:txBody>
      </p:sp>
      <p:sp>
        <p:nvSpPr>
          <p:cNvPr id="24" name="Text 22"/>
          <p:cNvSpPr/>
          <p:nvPr/>
        </p:nvSpPr>
        <p:spPr>
          <a:xfrm>
            <a:off x="5212080" y="4114800"/>
            <a:ext cx="6309360" cy="56692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Measurable, with expected effect size and headroom estimate</a:t>
            </a:r>
            <a:endParaRPr lang="en-US" sz="1100" dirty="0"/>
          </a:p>
        </p:txBody>
      </p:sp>
      <p:sp>
        <p:nvSpPr>
          <p:cNvPr id="25" name="Shape 23"/>
          <p:cNvSpPr/>
          <p:nvPr/>
        </p:nvSpPr>
        <p:spPr>
          <a:xfrm>
            <a:off x="640080" y="4892040"/>
            <a:ext cx="365760" cy="365760"/>
          </a:xfrm>
          <a:prstGeom prst="ellipse">
            <a:avLst/>
          </a:prstGeom>
          <a:solidFill>
            <a:srgbClr val="065A82"/>
          </a:solidFill>
          <a:ln/>
        </p:spPr>
      </p:sp>
      <p:sp>
        <p:nvSpPr>
          <p:cNvPr id="26" name="Text 24"/>
          <p:cNvSpPr/>
          <p:nvPr/>
        </p:nvSpPr>
        <p:spPr>
          <a:xfrm>
            <a:off x="640080" y="4892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800600"/>
            <a:ext cx="3840480" cy="566928"/>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Experiment design per hypothesis</a:t>
            </a:r>
            <a:endParaRPr lang="en-US" sz="1300" dirty="0"/>
          </a:p>
        </p:txBody>
      </p:sp>
      <p:sp>
        <p:nvSpPr>
          <p:cNvPr id="28" name="Text 26"/>
          <p:cNvSpPr/>
          <p:nvPr/>
        </p:nvSpPr>
        <p:spPr>
          <a:xfrm>
            <a:off x="5212080" y="4800600"/>
            <a:ext cx="6309360" cy="56692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Test chosen and justified, power calculation, sample size, pass/fail criterion set in advance</a:t>
            </a:r>
            <a:endParaRPr lang="en-US" sz="1100" dirty="0"/>
          </a:p>
        </p:txBody>
      </p:sp>
      <p:sp>
        <p:nvSpPr>
          <p:cNvPr id="29" name="Shape 27"/>
          <p:cNvSpPr/>
          <p:nvPr/>
        </p:nvSpPr>
        <p:spPr>
          <a:xfrm>
            <a:off x="640080" y="5577840"/>
            <a:ext cx="365760" cy="365760"/>
          </a:xfrm>
          <a:prstGeom prst="ellipse">
            <a:avLst/>
          </a:prstGeom>
          <a:solidFill>
            <a:srgbClr val="065A82"/>
          </a:solidFill>
          <a:ln/>
        </p:spPr>
      </p:sp>
      <p:sp>
        <p:nvSpPr>
          <p:cNvPr id="30" name="Text 28"/>
          <p:cNvSpPr/>
          <p:nvPr/>
        </p:nvSpPr>
        <p:spPr>
          <a:xfrm>
            <a:off x="640080" y="5577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1188720" y="5486400"/>
            <a:ext cx="3840480" cy="566928"/>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Leakage checklist</a:t>
            </a:r>
            <a:endParaRPr lang="en-US" sz="1300" dirty="0"/>
          </a:p>
        </p:txBody>
      </p:sp>
      <p:sp>
        <p:nvSpPr>
          <p:cNvPr id="32" name="Text 30"/>
          <p:cNvSpPr/>
          <p:nvPr/>
        </p:nvSpPr>
        <p:spPr>
          <a:xfrm>
            <a:off x="5212080" y="5486400"/>
            <a:ext cx="6309360" cy="566928"/>
          </a:xfrm>
          <a:prstGeom prst="rect">
            <a:avLst/>
          </a:prstGeom>
          <a:noFill/>
          <a:ln/>
        </p:spPr>
        <p:txBody>
          <a:bodyPr wrap="square" lIns="0" tIns="0" rIns="0" bIns="0" rtlCol="0" anchor="ctr"/>
          <a:lstStyle/>
          <a:p>
            <a:pPr indent="0" marL="0">
              <a:lnSpc>
                <a:spcPts val="1400"/>
              </a:lnSpc>
              <a:buNone/>
            </a:pPr>
            <a:r>
              <a:rPr lang="en-US" sz="1100" dirty="0">
                <a:solidFill>
                  <a:srgbClr val="5A6B7C"/>
                </a:solidFill>
                <a:latin typeface="Calibri" pitchFamily="34" charset="0"/>
                <a:ea typeface="Calibri" pitchFamily="34" charset="-122"/>
                <a:cs typeface="Calibri" pitchFamily="34" charset="-120"/>
              </a:rPr>
              <a:t>The seven-point check completed against your current pipeline</a:t>
            </a:r>
            <a:endParaRPr lang="en-US" sz="1100" dirty="0"/>
          </a:p>
        </p:txBody>
      </p:sp>
      <p:sp>
        <p:nvSpPr>
          <p:cNvPr id="33" name="Text 3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Scored on: problem clarity, metric definition, hypothesis quality and validation design.</a:t>
            </a:r>
            <a:endParaRPr lang="en-US" sz="12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914400"/>
            <a:ext cx="105156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to take from today</a:t>
            </a:r>
            <a:endParaRPr lang="en-US" sz="3200" dirty="0"/>
          </a:p>
        </p:txBody>
      </p:sp>
      <p:sp>
        <p:nvSpPr>
          <p:cNvPr id="3" name="Shape 1"/>
          <p:cNvSpPr/>
          <p:nvPr/>
        </p:nvSpPr>
        <p:spPr>
          <a:xfrm>
            <a:off x="822960" y="1911096"/>
            <a:ext cx="365760" cy="365760"/>
          </a:xfrm>
          <a:prstGeom prst="ellipse">
            <a:avLst/>
          </a:prstGeom>
          <a:solidFill>
            <a:srgbClr val="4E9DBE"/>
          </a:solidFill>
          <a:ln/>
        </p:spPr>
      </p:sp>
      <p:sp>
        <p:nvSpPr>
          <p:cNvPr id="4" name="Text 2"/>
          <p:cNvSpPr/>
          <p:nvPr/>
        </p:nvSpPr>
        <p:spPr>
          <a:xfrm>
            <a:off x="822960"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371600" y="187452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 single accuracy number is not a specification.</a:t>
            </a:r>
            <a:endParaRPr lang="en-US" sz="1450" dirty="0"/>
          </a:p>
        </p:txBody>
      </p:sp>
      <p:sp>
        <p:nvSpPr>
          <p:cNvPr id="6" name="Text 4"/>
          <p:cNvSpPr/>
          <p:nvPr/>
        </p:nvSpPr>
        <p:spPr>
          <a:xfrm>
            <a:off x="1371600" y="222199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Every system type needs its own metric set with targets, defined before improvement work begins.</a:t>
            </a:r>
            <a:endParaRPr lang="en-US" sz="1200" dirty="0"/>
          </a:p>
        </p:txBody>
      </p:sp>
      <p:sp>
        <p:nvSpPr>
          <p:cNvPr id="7" name="Shape 5"/>
          <p:cNvSpPr/>
          <p:nvPr/>
        </p:nvSpPr>
        <p:spPr>
          <a:xfrm>
            <a:off x="822960" y="2779776"/>
            <a:ext cx="365760" cy="365760"/>
          </a:xfrm>
          <a:prstGeom prst="ellipse">
            <a:avLst/>
          </a:prstGeom>
          <a:solidFill>
            <a:srgbClr val="4E9DBE"/>
          </a:solidFill>
          <a:ln/>
        </p:spPr>
      </p:sp>
      <p:sp>
        <p:nvSpPr>
          <p:cNvPr id="8" name="Text 6"/>
          <p:cNvSpPr/>
          <p:nvPr/>
        </p:nvSpPr>
        <p:spPr>
          <a:xfrm>
            <a:off x="822960" y="2779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371600" y="274320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You cannot improve what you cannot measure honestly.</a:t>
            </a:r>
            <a:endParaRPr lang="en-US" sz="1450" dirty="0"/>
          </a:p>
        </p:txBody>
      </p:sp>
      <p:sp>
        <p:nvSpPr>
          <p:cNvPr id="10" name="Text 8"/>
          <p:cNvSpPr/>
          <p:nvPr/>
        </p:nvSpPr>
        <p:spPr>
          <a:xfrm>
            <a:off x="1371600" y="309067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The evaluation dataset and its confidence intervals come first. Everything else depends on them.</a:t>
            </a:r>
            <a:endParaRPr lang="en-US" sz="1200" dirty="0"/>
          </a:p>
        </p:txBody>
      </p:sp>
      <p:sp>
        <p:nvSpPr>
          <p:cNvPr id="11" name="Shape 9"/>
          <p:cNvSpPr/>
          <p:nvPr/>
        </p:nvSpPr>
        <p:spPr>
          <a:xfrm>
            <a:off x="822960" y="3648456"/>
            <a:ext cx="365760" cy="365760"/>
          </a:xfrm>
          <a:prstGeom prst="ellipse">
            <a:avLst/>
          </a:prstGeom>
          <a:solidFill>
            <a:srgbClr val="4E9DBE"/>
          </a:solidFill>
          <a:ln/>
        </p:spPr>
      </p:sp>
      <p:sp>
        <p:nvSpPr>
          <p:cNvPr id="12" name="Text 10"/>
          <p:cNvSpPr/>
          <p:nvPr/>
        </p:nvSpPr>
        <p:spPr>
          <a:xfrm>
            <a:off x="822960" y="36484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371600" y="361188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State the hypothesis and the pass criterion before the experiment.</a:t>
            </a:r>
            <a:endParaRPr lang="en-US" sz="1450" dirty="0"/>
          </a:p>
        </p:txBody>
      </p:sp>
      <p:sp>
        <p:nvSpPr>
          <p:cNvPr id="14" name="Text 12"/>
          <p:cNvSpPr/>
          <p:nvPr/>
        </p:nvSpPr>
        <p:spPr>
          <a:xfrm>
            <a:off x="1371600" y="395935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And calculate whether your sample size can detect the effect you hope for.</a:t>
            </a:r>
            <a:endParaRPr lang="en-US" sz="1200" dirty="0"/>
          </a:p>
        </p:txBody>
      </p:sp>
      <p:sp>
        <p:nvSpPr>
          <p:cNvPr id="15" name="Shape 13"/>
          <p:cNvSpPr/>
          <p:nvPr/>
        </p:nvSpPr>
        <p:spPr>
          <a:xfrm>
            <a:off x="822960" y="4517136"/>
            <a:ext cx="365760" cy="365760"/>
          </a:xfrm>
          <a:prstGeom prst="ellipse">
            <a:avLst/>
          </a:prstGeom>
          <a:solidFill>
            <a:srgbClr val="4E9DBE"/>
          </a:solidFill>
          <a:ln/>
        </p:spPr>
      </p:sp>
      <p:sp>
        <p:nvSpPr>
          <p:cNvPr id="16" name="Text 14"/>
          <p:cNvSpPr/>
          <p:nvPr/>
        </p:nvSpPr>
        <p:spPr>
          <a:xfrm>
            <a:off x="822960" y="45171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371600" y="448056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Find the failure pattern before reaching for more data.</a:t>
            </a:r>
            <a:endParaRPr lang="en-US" sz="1450" dirty="0"/>
          </a:p>
        </p:txBody>
      </p:sp>
      <p:sp>
        <p:nvSpPr>
          <p:cNvPr id="18" name="Text 16"/>
          <p:cNvSpPr/>
          <p:nvPr/>
        </p:nvSpPr>
        <p:spPr>
          <a:xfrm>
            <a:off x="1371600" y="482803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Two or three root causes usually account for most of what is going wrong.</a:t>
            </a:r>
            <a:endParaRPr lang="en-US" sz="1200" dirty="0"/>
          </a:p>
        </p:txBody>
      </p:sp>
      <p:sp>
        <p:nvSpPr>
          <p:cNvPr id="19" name="Shape 17"/>
          <p:cNvSpPr/>
          <p:nvPr/>
        </p:nvSpPr>
        <p:spPr>
          <a:xfrm>
            <a:off x="822960" y="5385816"/>
            <a:ext cx="365760" cy="365760"/>
          </a:xfrm>
          <a:prstGeom prst="ellipse">
            <a:avLst/>
          </a:prstGeom>
          <a:solidFill>
            <a:srgbClr val="4E9DBE"/>
          </a:solidFill>
          <a:ln/>
        </p:spPr>
      </p:sp>
      <p:sp>
        <p:nvSpPr>
          <p:cNvPr id="20" name="Text 18"/>
          <p:cNvSpPr/>
          <p:nvPr/>
        </p:nvSpPr>
        <p:spPr>
          <a:xfrm>
            <a:off x="822960" y="5385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1371600" y="534924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Threshold and calibration work is nearly free.</a:t>
            </a:r>
            <a:endParaRPr lang="en-US" sz="1450" dirty="0"/>
          </a:p>
        </p:txBody>
      </p:sp>
      <p:sp>
        <p:nvSpPr>
          <p:cNvPr id="22" name="Text 20"/>
          <p:cNvSpPr/>
          <p:nvPr/>
        </p:nvSpPr>
        <p:spPr>
          <a:xfrm>
            <a:off x="1371600" y="569671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Often the largest single improvement available, and no retraining is involved.</a:t>
            </a:r>
            <a:endParaRPr lang="en-US" sz="1200" dirty="0"/>
          </a:p>
        </p:txBody>
      </p:sp>
      <p:sp>
        <p:nvSpPr>
          <p:cNvPr id="23" name="Text 21"/>
          <p:cNvSpPr/>
          <p:nvPr/>
        </p:nvSpPr>
        <p:spPr>
          <a:xfrm>
            <a:off x="822960" y="6172200"/>
            <a:ext cx="10515600" cy="365760"/>
          </a:xfrm>
          <a:prstGeom prst="rect">
            <a:avLst/>
          </a:prstGeom>
          <a:noFill/>
          <a:ln/>
        </p:spPr>
        <p:txBody>
          <a:bodyPr wrap="square" rtlCol="0" anchor="ctr"/>
          <a:lstStyle/>
          <a:p>
            <a:pPr indent="0" marL="0">
              <a:buNone/>
            </a:pPr>
            <a:r>
              <a:rPr lang="en-US" sz="1250" b="1" dirty="0">
                <a:solidFill>
                  <a:srgbClr val="9FD0E3"/>
                </a:solidFill>
                <a:latin typeface="Calibri" pitchFamily="34" charset="0"/>
                <a:ea typeface="Calibri" pitchFamily="34" charset="-122"/>
                <a:cs typeface="Calibri" pitchFamily="34" charset="-120"/>
              </a:rPr>
              <a:t>Tomorrow — Day 2:  AI architecture patterns, the selection framework, enterprise reference architecture, data engineering and security.</a:t>
            </a:r>
            <a:endParaRPr lang="en-US" sz="1250" dirty="0"/>
          </a:p>
        </p:txBody>
      </p:sp>
      <p:sp>
        <p:nvSpPr>
          <p:cNvPr id="24" name="Text 2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66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2026-08-15T05:33:04Z</dcterms:created>
  <dcterms:modified xsi:type="dcterms:W3CDTF">2026-08-15T05:33:04Z</dcterms:modified>
</cp:coreProperties>
</file>