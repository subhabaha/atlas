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is where Day 1's data-centric argument becomes concrete. The central claim: on industrial vision problems, label quality and data coverage beat model changes almost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Day 4 as the application of Day 1's error analysis to vision, plus the operational machinery to sustain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and Lab 2 are the highest-value hours. Protect them if anything runs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argument as Day 2's predictive maintenance case: when positives are rare, reformulate rather than fight the imbalance.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Parallax is a good example of an error that is systematic, invisible to the model, and fixed with a bracket rather than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Raise licensing without naming a specific product as a problem. The point is to establish it as a required check, and it earns credibility with their legal and procurement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practical answer to 'we need more images'. Walk through which row each team is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explicitly to Day 1 section 2.23. This is where that lesson becomes an actionable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'augmentation is a claim about your process' framing is the useful one and stops the copy-the-tutorial-defaults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physical-change-log point is a concrete, cheap recommendation teams can act on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the one that changes minds. When 20% of 'model failures' turn out to be labelling errors, the data-centric argument makes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last line. The two cheapest fixes are the two teams check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pixels-on-target question is the right first question and is frequently never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 an inspector see it' test is the single most useful diagnostic in industrial vision and costs an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Merging classes is an underused move. If a distinction cannot be made reliably by humans, carrying it forward guarantees a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threshold work is nearly free. Teams consistently reach for retraining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Per-class thresholds are a cheap, concrete idea most teams have not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line-rate arithmetic makes the constraint concrete. It is far tighter for inspection than for document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teams to lead the report with the label audit finding if it is significant. It reframes the whole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MLOps as five questions rather than a toolchain keeps teams from buying a platform to solve a discipline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'rollback without feature rollback' failure is subtle and real. Teams discover it during an incident, which is the worst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Day 1's hypothesis discipline. Experiment tracking is where that discipline is operationalised.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enforces Day 1's pass-criterion-in-advance principle at the organisational level. Make that link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quarterly rebuild test is a concrete practice that exposes hidden manual steps before they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Shadow is under-used in industrial settings and is exactly the right first step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'available without labels' column is the practically important one — labels arrive late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rollback-time question is a good, concrete test that exposes whether the design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link back to epistemic uncertainty makes active learning principled rather than a heuristic.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calibration dependency is easily missed and undermines the whole loop when it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directly: does your review decision get stored somewhere it can reach training? Usually the answer is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visible-feedback point is genuinely important and almost always omitted. Reviewers stop correcting when it feels pointless.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train/eval contamination point is Day 1's leakage lesson reappearing in an operational form. Make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the arithmetic. A loop that generates more reviews than capacity is a design that fails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7 feeds directly into the capstone tomorrow. Flag that when issuing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team what their label agreement rate is. Most will not know, and that is the honest finding to carry into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1554480"/>
            <a:ext cx="10515600" cy="365760"/>
          </a:xfrm>
          <a:prstGeom prst="rect">
            <a:avLst/>
          </a:prstGeom>
          <a:noFill/>
          <a:ln/>
        </p:spPr>
        <p:txBody>
          <a:bodyPr wrap="square" rtlCol="0" anchor="ctr"/>
          <a:lstStyle/>
          <a:p>
            <a:pPr indent="0" marL="0">
              <a:buNone/>
            </a:pPr>
            <a:r>
              <a:rPr lang="en-US" sz="1300" b="1" spc="300" kern="0" dirty="0">
                <a:solidFill>
                  <a:srgbClr val="8FB8CC"/>
                </a:solidFill>
                <a:latin typeface="Calibri" pitchFamily="34" charset="0"/>
                <a:ea typeface="Calibri" pitchFamily="34" charset="-122"/>
                <a:cs typeface="Calibri" pitchFamily="34" charset="-120"/>
              </a:rPr>
              <a:t>DAY 4 OF 5</a:t>
            </a:r>
            <a:endParaRPr lang="en-US" sz="1300" dirty="0"/>
          </a:p>
        </p:txBody>
      </p:sp>
      <p:sp>
        <p:nvSpPr>
          <p:cNvPr id="3" name="Text 1"/>
          <p:cNvSpPr/>
          <p:nvPr/>
        </p:nvSpPr>
        <p:spPr>
          <a:xfrm>
            <a:off x="822960" y="1965960"/>
            <a:ext cx="10515600" cy="1737360"/>
          </a:xfrm>
          <a:prstGeom prst="rect">
            <a:avLst/>
          </a:prstGeom>
          <a:noFill/>
          <a:ln/>
        </p:spPr>
        <p:txBody>
          <a:bodyPr wrap="square"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Computer Vision, MLOps,</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Active Learning and Feedback Loops</a:t>
            </a:r>
            <a:endParaRPr lang="en-US" sz="3800" dirty="0"/>
          </a:p>
        </p:txBody>
      </p:sp>
      <p:sp>
        <p:nvSpPr>
          <p:cNvPr id="4" name="Text 2"/>
          <p:cNvSpPr/>
          <p:nvPr/>
        </p:nvSpPr>
        <p:spPr>
          <a:xfrm>
            <a:off x="822960" y="3840480"/>
            <a:ext cx="10058400" cy="54864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Improving industrial vision and ML systems through data quality, experimentation, monitoring and continuous learning</a:t>
            </a:r>
            <a:endParaRPr lang="en-US" sz="1600" dirty="0"/>
          </a:p>
        </p:txBody>
      </p:sp>
      <p:sp>
        <p:nvSpPr>
          <p:cNvPr id="5" name="Shape 3"/>
          <p:cNvSpPr/>
          <p:nvPr/>
        </p:nvSpPr>
        <p:spPr>
          <a:xfrm>
            <a:off x="822960" y="4663440"/>
            <a:ext cx="1463040" cy="32004"/>
          </a:xfrm>
          <a:prstGeom prst="rect">
            <a:avLst/>
          </a:prstGeom>
          <a:solidFill>
            <a:srgbClr val="4E9DBE"/>
          </a:solidFill>
          <a:ln/>
        </p:spPr>
      </p:sp>
      <p:sp>
        <p:nvSpPr>
          <p:cNvPr id="6" name="Text 4"/>
          <p:cNvSpPr/>
          <p:nvPr/>
        </p:nvSpPr>
        <p:spPr>
          <a:xfrm>
            <a:off x="822960" y="4937760"/>
            <a:ext cx="9144000" cy="365760"/>
          </a:xfrm>
          <a:prstGeom prst="rect">
            <a:avLst/>
          </a:prstGeom>
          <a:noFill/>
          <a:ln/>
        </p:spPr>
        <p:txBody>
          <a:bodyPr wrap="square" rtlCol="0" anchor="ctr"/>
          <a:lstStyle/>
          <a:p>
            <a:pPr indent="0" marL="0">
              <a:buNone/>
            </a:pPr>
            <a:r>
              <a:rPr lang="en-US" sz="1250" dirty="0">
                <a:solidFill>
                  <a:srgbClr val="9FB4C7"/>
                </a:solidFill>
                <a:latin typeface="Calibri" pitchFamily="34" charset="0"/>
                <a:ea typeface="Calibri" pitchFamily="34" charset="-122"/>
                <a:cs typeface="Calibri" pitchFamily="34" charset="-120"/>
              </a:rPr>
              <a:t>Enterprise AI Engineering Bootcamp  ·  Four modules, four hands-on labs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claim this day is built 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640080" y="1371600"/>
            <a:ext cx="10881360" cy="457200"/>
          </a:xfrm>
          <a:prstGeom prst="rect">
            <a:avLst/>
          </a:prstGeom>
          <a:noFill/>
          <a:ln/>
        </p:spPr>
        <p:txBody>
          <a:bodyPr wrap="square" rtlCol="0" anchor="ctr"/>
          <a:lstStyle/>
          <a:p>
            <a:pPr indent="0" marL="0">
              <a:lnSpc>
                <a:spcPts val="1900"/>
              </a:lnSpc>
              <a:buNone/>
            </a:pPr>
            <a:r>
              <a:rPr lang="en-US" sz="1500" dirty="0">
                <a:solidFill>
                  <a:srgbClr val="1A2430"/>
                </a:solidFill>
                <a:latin typeface="Calibri" pitchFamily="34" charset="0"/>
                <a:ea typeface="Calibri" pitchFamily="34" charset="-122"/>
                <a:cs typeface="Calibri" pitchFamily="34" charset="-120"/>
              </a:rPr>
              <a:t>On industrial vision and ML problems, the largest available gains are almost never in the model. They are in the labels, the capture conditions, and the loop that feeds production experience back into training.</a:t>
            </a:r>
            <a:endParaRPr lang="en-US" sz="1500" dirty="0"/>
          </a:p>
        </p:txBody>
      </p:sp>
      <p:sp>
        <p:nvSpPr>
          <p:cNvPr id="6" name="Shape 4"/>
          <p:cNvSpPr/>
          <p:nvPr/>
        </p:nvSpPr>
        <p:spPr>
          <a:xfrm>
            <a:off x="640080" y="2377440"/>
            <a:ext cx="2610612" cy="2194560"/>
          </a:xfrm>
          <a:prstGeom prst="roundRect">
            <a:avLst>
              <a:gd name="adj" fmla="val 2500"/>
            </a:avLst>
          </a:prstGeom>
          <a:solidFill>
            <a:srgbClr val="E4EEF4"/>
          </a:solidFill>
          <a:ln w="12700">
            <a:solidFill>
              <a:srgbClr val="D3E1EA"/>
            </a:solidFill>
            <a:prstDash val="solid"/>
          </a:ln>
        </p:spPr>
      </p:sp>
      <p:sp>
        <p:nvSpPr>
          <p:cNvPr id="7" name="Shape 5"/>
          <p:cNvSpPr/>
          <p:nvPr/>
        </p:nvSpPr>
        <p:spPr>
          <a:xfrm>
            <a:off x="1762506" y="2578608"/>
            <a:ext cx="365760" cy="365760"/>
          </a:xfrm>
          <a:prstGeom prst="ellipse">
            <a:avLst/>
          </a:prstGeom>
          <a:solidFill>
            <a:srgbClr val="065A82"/>
          </a:solidFill>
          <a:ln/>
        </p:spPr>
      </p:sp>
      <p:sp>
        <p:nvSpPr>
          <p:cNvPr id="8" name="Text 6"/>
          <p:cNvSpPr/>
          <p:nvPr/>
        </p:nvSpPr>
        <p:spPr>
          <a:xfrm>
            <a:off x="1762506" y="25786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3090672"/>
            <a:ext cx="2427732" cy="320040"/>
          </a:xfrm>
          <a:prstGeom prst="rect">
            <a:avLst/>
          </a:prstGeom>
          <a:noFill/>
          <a:ln/>
        </p:spPr>
        <p:txBody>
          <a:bodyPr wrap="square" lIns="0" tIns="0" rIns="0" bIns="0" rtlCol="0" anchor="ctr"/>
          <a:lstStyle/>
          <a:p>
            <a:pPr algn="ctr" indent="0" marL="0">
              <a:buNone/>
            </a:pPr>
            <a:r>
              <a:rPr lang="en-US" sz="1300" b="1" dirty="0">
                <a:solidFill>
                  <a:srgbClr val="1A2430"/>
                </a:solidFill>
                <a:latin typeface="Cambria" pitchFamily="34" charset="0"/>
                <a:ea typeface="Cambria" pitchFamily="34" charset="-122"/>
                <a:cs typeface="Cambria" pitchFamily="34" charset="-120"/>
              </a:rPr>
              <a:t>Module 1</a:t>
            </a:r>
            <a:endParaRPr lang="en-US" sz="1300" dirty="0"/>
          </a:p>
        </p:txBody>
      </p:sp>
      <p:sp>
        <p:nvSpPr>
          <p:cNvPr id="10" name="Text 8"/>
          <p:cNvSpPr/>
          <p:nvPr/>
        </p:nvSpPr>
        <p:spPr>
          <a:xfrm>
            <a:off x="731520" y="3438144"/>
            <a:ext cx="2427732" cy="1005840"/>
          </a:xfrm>
          <a:prstGeom prst="rect">
            <a:avLst/>
          </a:prstGeom>
          <a:noFill/>
          <a:ln/>
        </p:spPr>
        <p:txBody>
          <a:bodyPr wrap="square" lIns="0" tIns="0" rIns="0" bIns="0" rtlCol="0" anchor="ctr"/>
          <a:lstStyle/>
          <a:p>
            <a:pPr algn="ctr" indent="0" marL="0">
              <a:lnSpc>
                <a:spcPts val="1300"/>
              </a:lnSpc>
              <a:buNone/>
            </a:pPr>
            <a:r>
              <a:rPr lang="en-US" sz="1050" dirty="0">
                <a:solidFill>
                  <a:srgbClr val="5A6B7C"/>
                </a:solidFill>
                <a:latin typeface="Calibri" pitchFamily="34" charset="0"/>
                <a:ea typeface="Calibri" pitchFamily="34" charset="-122"/>
                <a:cs typeface="Calibri" pitchFamily="34" charset="-120"/>
              </a:rPr>
              <a:t>Vision tasks, model selection, and why capture conditions matter more than architecture</a:t>
            </a:r>
            <a:endParaRPr lang="en-US" sz="1050" dirty="0"/>
          </a:p>
        </p:txBody>
      </p:sp>
      <p:sp>
        <p:nvSpPr>
          <p:cNvPr id="11" name="Shape 9"/>
          <p:cNvSpPr/>
          <p:nvPr/>
        </p:nvSpPr>
        <p:spPr>
          <a:xfrm>
            <a:off x="3396996" y="2377440"/>
            <a:ext cx="2610612" cy="2194560"/>
          </a:xfrm>
          <a:prstGeom prst="roundRect">
            <a:avLst>
              <a:gd name="adj" fmla="val 2500"/>
            </a:avLst>
          </a:prstGeom>
          <a:solidFill>
            <a:srgbClr val="EEF3F7"/>
          </a:solidFill>
          <a:ln w="12700">
            <a:solidFill>
              <a:srgbClr val="D3E1EA"/>
            </a:solidFill>
            <a:prstDash val="solid"/>
          </a:ln>
        </p:spPr>
      </p:sp>
      <p:sp>
        <p:nvSpPr>
          <p:cNvPr id="12" name="Shape 10"/>
          <p:cNvSpPr/>
          <p:nvPr/>
        </p:nvSpPr>
        <p:spPr>
          <a:xfrm>
            <a:off x="4519422" y="2578608"/>
            <a:ext cx="365760" cy="365760"/>
          </a:xfrm>
          <a:prstGeom prst="ellipse">
            <a:avLst/>
          </a:prstGeom>
          <a:solidFill>
            <a:srgbClr val="065A82"/>
          </a:solidFill>
          <a:ln/>
        </p:spPr>
      </p:sp>
      <p:sp>
        <p:nvSpPr>
          <p:cNvPr id="13" name="Text 11"/>
          <p:cNvSpPr/>
          <p:nvPr/>
        </p:nvSpPr>
        <p:spPr>
          <a:xfrm>
            <a:off x="4519422" y="25786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488436" y="3090672"/>
            <a:ext cx="2427732" cy="320040"/>
          </a:xfrm>
          <a:prstGeom prst="rect">
            <a:avLst/>
          </a:prstGeom>
          <a:noFill/>
          <a:ln/>
        </p:spPr>
        <p:txBody>
          <a:bodyPr wrap="square" lIns="0" tIns="0" rIns="0" bIns="0" rtlCol="0" anchor="ctr"/>
          <a:lstStyle/>
          <a:p>
            <a:pPr algn="ctr" indent="0" marL="0">
              <a:buNone/>
            </a:pPr>
            <a:r>
              <a:rPr lang="en-US" sz="1300" b="1" dirty="0">
                <a:solidFill>
                  <a:srgbClr val="1A2430"/>
                </a:solidFill>
                <a:latin typeface="Cambria" pitchFamily="34" charset="0"/>
                <a:ea typeface="Cambria" pitchFamily="34" charset="-122"/>
                <a:cs typeface="Cambria" pitchFamily="34" charset="-120"/>
              </a:rPr>
              <a:t>Module 2</a:t>
            </a:r>
            <a:endParaRPr lang="en-US" sz="1300" dirty="0"/>
          </a:p>
        </p:txBody>
      </p:sp>
      <p:sp>
        <p:nvSpPr>
          <p:cNvPr id="15" name="Text 13"/>
          <p:cNvSpPr/>
          <p:nvPr/>
        </p:nvSpPr>
        <p:spPr>
          <a:xfrm>
            <a:off x="3488436" y="3438144"/>
            <a:ext cx="2427732" cy="1005840"/>
          </a:xfrm>
          <a:prstGeom prst="rect">
            <a:avLst/>
          </a:prstGeom>
          <a:noFill/>
          <a:ln/>
        </p:spPr>
        <p:txBody>
          <a:bodyPr wrap="square" lIns="0" tIns="0" rIns="0" bIns="0" rtlCol="0" anchor="ctr"/>
          <a:lstStyle/>
          <a:p>
            <a:pPr algn="ctr" indent="0" marL="0">
              <a:lnSpc>
                <a:spcPts val="1300"/>
              </a:lnSpc>
              <a:buNone/>
            </a:pPr>
            <a:r>
              <a:rPr lang="en-US" sz="1050" dirty="0">
                <a:solidFill>
                  <a:srgbClr val="5A6B7C"/>
                </a:solidFill>
                <a:latin typeface="Calibri" pitchFamily="34" charset="0"/>
                <a:ea typeface="Calibri" pitchFamily="34" charset="-122"/>
                <a:cs typeface="Calibri" pitchFamily="34" charset="-120"/>
              </a:rPr>
              <a:t>Error analysis for vision — the failure categories and the hypotheses that follow</a:t>
            </a:r>
            <a:endParaRPr lang="en-US" sz="1050" dirty="0"/>
          </a:p>
        </p:txBody>
      </p:sp>
      <p:sp>
        <p:nvSpPr>
          <p:cNvPr id="16" name="Shape 14"/>
          <p:cNvSpPr/>
          <p:nvPr/>
        </p:nvSpPr>
        <p:spPr>
          <a:xfrm>
            <a:off x="6153912" y="2377440"/>
            <a:ext cx="2610612" cy="2194560"/>
          </a:xfrm>
          <a:prstGeom prst="roundRect">
            <a:avLst>
              <a:gd name="adj" fmla="val 2500"/>
            </a:avLst>
          </a:prstGeom>
          <a:solidFill>
            <a:srgbClr val="E4EEF4"/>
          </a:solidFill>
          <a:ln w="12700">
            <a:solidFill>
              <a:srgbClr val="D3E1EA"/>
            </a:solidFill>
            <a:prstDash val="solid"/>
          </a:ln>
        </p:spPr>
      </p:sp>
      <p:sp>
        <p:nvSpPr>
          <p:cNvPr id="17" name="Shape 15"/>
          <p:cNvSpPr/>
          <p:nvPr/>
        </p:nvSpPr>
        <p:spPr>
          <a:xfrm>
            <a:off x="7276338" y="2578608"/>
            <a:ext cx="365760" cy="365760"/>
          </a:xfrm>
          <a:prstGeom prst="ellipse">
            <a:avLst/>
          </a:prstGeom>
          <a:solidFill>
            <a:srgbClr val="065A82"/>
          </a:solidFill>
          <a:ln/>
        </p:spPr>
      </p:sp>
      <p:sp>
        <p:nvSpPr>
          <p:cNvPr id="18" name="Text 16"/>
          <p:cNvSpPr/>
          <p:nvPr/>
        </p:nvSpPr>
        <p:spPr>
          <a:xfrm>
            <a:off x="7276338" y="25786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245352" y="3090672"/>
            <a:ext cx="2427732" cy="320040"/>
          </a:xfrm>
          <a:prstGeom prst="rect">
            <a:avLst/>
          </a:prstGeom>
          <a:noFill/>
          <a:ln/>
        </p:spPr>
        <p:txBody>
          <a:bodyPr wrap="square" lIns="0" tIns="0" rIns="0" bIns="0" rtlCol="0" anchor="ctr"/>
          <a:lstStyle/>
          <a:p>
            <a:pPr algn="ctr" indent="0" marL="0">
              <a:buNone/>
            </a:pPr>
            <a:r>
              <a:rPr lang="en-US" sz="1300" b="1" dirty="0">
                <a:solidFill>
                  <a:srgbClr val="1A2430"/>
                </a:solidFill>
                <a:latin typeface="Cambria" pitchFamily="34" charset="0"/>
                <a:ea typeface="Cambria" pitchFamily="34" charset="-122"/>
                <a:cs typeface="Cambria" pitchFamily="34" charset="-120"/>
              </a:rPr>
              <a:t>Module 3</a:t>
            </a:r>
            <a:endParaRPr lang="en-US" sz="1300" dirty="0"/>
          </a:p>
        </p:txBody>
      </p:sp>
      <p:sp>
        <p:nvSpPr>
          <p:cNvPr id="20" name="Text 18"/>
          <p:cNvSpPr/>
          <p:nvPr/>
        </p:nvSpPr>
        <p:spPr>
          <a:xfrm>
            <a:off x="6245352" y="3438144"/>
            <a:ext cx="2427732" cy="1005840"/>
          </a:xfrm>
          <a:prstGeom prst="rect">
            <a:avLst/>
          </a:prstGeom>
          <a:noFill/>
          <a:ln/>
        </p:spPr>
        <p:txBody>
          <a:bodyPr wrap="square" lIns="0" tIns="0" rIns="0" bIns="0" rtlCol="0" anchor="ctr"/>
          <a:lstStyle/>
          <a:p>
            <a:pPr algn="ctr" indent="0" marL="0">
              <a:lnSpc>
                <a:spcPts val="1300"/>
              </a:lnSpc>
              <a:buNone/>
            </a:pPr>
            <a:r>
              <a:rPr lang="en-US" sz="1050" dirty="0">
                <a:solidFill>
                  <a:srgbClr val="5A6B7C"/>
                </a:solidFill>
                <a:latin typeface="Calibri" pitchFamily="34" charset="0"/>
                <a:ea typeface="Calibri" pitchFamily="34" charset="-122"/>
                <a:cs typeface="Calibri" pitchFamily="34" charset="-120"/>
              </a:rPr>
              <a:t>MLOps — versioning, CI/CD, deployment, monitoring, retraining triggers</a:t>
            </a:r>
            <a:endParaRPr lang="en-US" sz="1050" dirty="0"/>
          </a:p>
        </p:txBody>
      </p:sp>
      <p:sp>
        <p:nvSpPr>
          <p:cNvPr id="21" name="Shape 19"/>
          <p:cNvSpPr/>
          <p:nvPr/>
        </p:nvSpPr>
        <p:spPr>
          <a:xfrm>
            <a:off x="8910828" y="2377440"/>
            <a:ext cx="2610612" cy="2194560"/>
          </a:xfrm>
          <a:prstGeom prst="roundRect">
            <a:avLst>
              <a:gd name="adj" fmla="val 2500"/>
            </a:avLst>
          </a:prstGeom>
          <a:solidFill>
            <a:srgbClr val="EEF3F7"/>
          </a:solidFill>
          <a:ln w="12700">
            <a:solidFill>
              <a:srgbClr val="D3E1EA"/>
            </a:solidFill>
            <a:prstDash val="solid"/>
          </a:ln>
        </p:spPr>
      </p:sp>
      <p:sp>
        <p:nvSpPr>
          <p:cNvPr id="22" name="Shape 20"/>
          <p:cNvSpPr/>
          <p:nvPr/>
        </p:nvSpPr>
        <p:spPr>
          <a:xfrm>
            <a:off x="10033254" y="2578608"/>
            <a:ext cx="365760" cy="365760"/>
          </a:xfrm>
          <a:prstGeom prst="ellipse">
            <a:avLst/>
          </a:prstGeom>
          <a:solidFill>
            <a:srgbClr val="065A82"/>
          </a:solidFill>
          <a:ln/>
        </p:spPr>
      </p:sp>
      <p:sp>
        <p:nvSpPr>
          <p:cNvPr id="23" name="Text 21"/>
          <p:cNvSpPr/>
          <p:nvPr/>
        </p:nvSpPr>
        <p:spPr>
          <a:xfrm>
            <a:off x="10033254" y="25786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002268" y="3090672"/>
            <a:ext cx="2427732" cy="320040"/>
          </a:xfrm>
          <a:prstGeom prst="rect">
            <a:avLst/>
          </a:prstGeom>
          <a:noFill/>
          <a:ln/>
        </p:spPr>
        <p:txBody>
          <a:bodyPr wrap="square" lIns="0" tIns="0" rIns="0" bIns="0" rtlCol="0" anchor="ctr"/>
          <a:lstStyle/>
          <a:p>
            <a:pPr algn="ctr" indent="0" marL="0">
              <a:buNone/>
            </a:pPr>
            <a:r>
              <a:rPr lang="en-US" sz="1300" b="1" dirty="0">
                <a:solidFill>
                  <a:srgbClr val="1A2430"/>
                </a:solidFill>
                <a:latin typeface="Cambria" pitchFamily="34" charset="0"/>
                <a:ea typeface="Cambria" pitchFamily="34" charset="-122"/>
                <a:cs typeface="Cambria" pitchFamily="34" charset="-120"/>
              </a:rPr>
              <a:t>Module 4</a:t>
            </a:r>
            <a:endParaRPr lang="en-US" sz="1300" dirty="0"/>
          </a:p>
        </p:txBody>
      </p:sp>
      <p:sp>
        <p:nvSpPr>
          <p:cNvPr id="25" name="Text 23"/>
          <p:cNvSpPr/>
          <p:nvPr/>
        </p:nvSpPr>
        <p:spPr>
          <a:xfrm>
            <a:off x="9002268" y="3438144"/>
            <a:ext cx="2427732" cy="1005840"/>
          </a:xfrm>
          <a:prstGeom prst="rect">
            <a:avLst/>
          </a:prstGeom>
          <a:noFill/>
          <a:ln/>
        </p:spPr>
        <p:txBody>
          <a:bodyPr wrap="square" lIns="0" tIns="0" rIns="0" bIns="0" rtlCol="0" anchor="ctr"/>
          <a:lstStyle/>
          <a:p>
            <a:pPr algn="ctr" indent="0" marL="0">
              <a:lnSpc>
                <a:spcPts val="1300"/>
              </a:lnSpc>
              <a:buNone/>
            </a:pPr>
            <a:r>
              <a:rPr lang="en-US" sz="1050" dirty="0">
                <a:solidFill>
                  <a:srgbClr val="5A6B7C"/>
                </a:solidFill>
                <a:latin typeface="Calibri" pitchFamily="34" charset="0"/>
                <a:ea typeface="Calibri" pitchFamily="34" charset="-122"/>
                <a:cs typeface="Calibri" pitchFamily="34" charset="-120"/>
              </a:rPr>
              <a:t>Active learning — turning production uncertainty into the next training set</a:t>
            </a:r>
            <a:endParaRPr lang="en-US" sz="1050" dirty="0"/>
          </a:p>
        </p:txBody>
      </p:sp>
      <p:sp>
        <p:nvSpPr>
          <p:cNvPr id="26" name="Text 24"/>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Day 1 gave you the diagnostic method. Today applies it to the two hardest industrial problem types, and builds the machinery that keeps improvement running.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STRUCTURE · 8 HOURS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Day 4 schedule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640080" y="1371600"/>
            <a:ext cx="1188720" cy="384048"/>
          </a:xfrm>
          <a:prstGeom prst="rect">
            <a:avLst/>
          </a:prstGeom>
          <a:solidFill>
            <a:srgbClr val="21295C"/>
          </a:solidFill>
          <a:ln/>
        </p:spPr>
      </p:sp>
      <p:sp>
        <p:nvSpPr>
          <p:cNvPr id="6" name="Text 4"/>
          <p:cNvSpPr/>
          <p:nvPr/>
        </p:nvSpPr>
        <p:spPr>
          <a:xfrm>
            <a:off x="749808" y="1371600"/>
            <a:ext cx="9692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7" name="Shape 5"/>
          <p:cNvSpPr/>
          <p:nvPr/>
        </p:nvSpPr>
        <p:spPr>
          <a:xfrm>
            <a:off x="1828800" y="1371600"/>
            <a:ext cx="4572000" cy="384048"/>
          </a:xfrm>
          <a:prstGeom prst="rect">
            <a:avLst/>
          </a:prstGeom>
          <a:solidFill>
            <a:srgbClr val="21295C"/>
          </a:solidFill>
          <a:ln/>
        </p:spPr>
      </p:sp>
      <p:sp>
        <p:nvSpPr>
          <p:cNvPr id="8" name="Text 6"/>
          <p:cNvSpPr/>
          <p:nvPr/>
        </p:nvSpPr>
        <p:spPr>
          <a:xfrm>
            <a:off x="1938528" y="1371600"/>
            <a:ext cx="43525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Session</a:t>
            </a:r>
            <a:endParaRPr lang="en-US" sz="1100" dirty="0"/>
          </a:p>
        </p:txBody>
      </p:sp>
      <p:sp>
        <p:nvSpPr>
          <p:cNvPr id="9" name="Shape 7"/>
          <p:cNvSpPr/>
          <p:nvPr/>
        </p:nvSpPr>
        <p:spPr>
          <a:xfrm>
            <a:off x="6400800" y="1371600"/>
            <a:ext cx="5120640" cy="384048"/>
          </a:xfrm>
          <a:prstGeom prst="rect">
            <a:avLst/>
          </a:prstGeom>
          <a:solidFill>
            <a:srgbClr val="21295C"/>
          </a:solidFill>
          <a:ln/>
        </p:spPr>
      </p:sp>
      <p:sp>
        <p:nvSpPr>
          <p:cNvPr id="10" name="Text 8"/>
          <p:cNvSpPr/>
          <p:nvPr/>
        </p:nvSpPr>
        <p:spPr>
          <a:xfrm>
            <a:off x="6510528" y="1371600"/>
            <a:ext cx="49011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p>
        </p:txBody>
      </p:sp>
      <p:sp>
        <p:nvSpPr>
          <p:cNvPr id="11" name="Shape 9"/>
          <p:cNvSpPr/>
          <p:nvPr/>
        </p:nvSpPr>
        <p:spPr>
          <a:xfrm>
            <a:off x="640080" y="1755648"/>
            <a:ext cx="1188720" cy="457200"/>
          </a:xfrm>
          <a:prstGeom prst="rect">
            <a:avLst/>
          </a:prstGeom>
          <a:solidFill>
            <a:srgbClr val="FFFFFF"/>
          </a:solidFill>
          <a:ln w="9525">
            <a:solidFill>
              <a:srgbClr val="E3EBF0"/>
            </a:solidFill>
            <a:prstDash val="solid"/>
          </a:ln>
        </p:spPr>
      </p:sp>
      <p:sp>
        <p:nvSpPr>
          <p:cNvPr id="12" name="Text 10"/>
          <p:cNvSpPr/>
          <p:nvPr/>
        </p:nvSpPr>
        <p:spPr>
          <a:xfrm>
            <a:off x="749808" y="17556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09:00</a:t>
            </a:r>
            <a:endParaRPr lang="en-US" sz="1050" dirty="0"/>
          </a:p>
        </p:txBody>
      </p:sp>
      <p:sp>
        <p:nvSpPr>
          <p:cNvPr id="13" name="Shape 11"/>
          <p:cNvSpPr/>
          <p:nvPr/>
        </p:nvSpPr>
        <p:spPr>
          <a:xfrm>
            <a:off x="1828800" y="1755648"/>
            <a:ext cx="4572000" cy="457200"/>
          </a:xfrm>
          <a:prstGeom prst="rect">
            <a:avLst/>
          </a:prstGeom>
          <a:solidFill>
            <a:srgbClr val="FFFFFF"/>
          </a:solidFill>
          <a:ln w="9525">
            <a:solidFill>
              <a:srgbClr val="E3EBF0"/>
            </a:solidFill>
            <a:prstDash val="solid"/>
          </a:ln>
        </p:spPr>
      </p:sp>
      <p:sp>
        <p:nvSpPr>
          <p:cNvPr id="14" name="Text 12"/>
          <p:cNvSpPr/>
          <p:nvPr/>
        </p:nvSpPr>
        <p:spPr>
          <a:xfrm>
            <a:off x="1938528" y="17556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Module 1 — Computer vision for industrial use cases</a:t>
            </a:r>
            <a:endParaRPr lang="en-US" sz="1050" dirty="0"/>
          </a:p>
        </p:txBody>
      </p:sp>
      <p:sp>
        <p:nvSpPr>
          <p:cNvPr id="15" name="Shape 13"/>
          <p:cNvSpPr/>
          <p:nvPr/>
        </p:nvSpPr>
        <p:spPr>
          <a:xfrm>
            <a:off x="6400800" y="1755648"/>
            <a:ext cx="5120640" cy="457200"/>
          </a:xfrm>
          <a:prstGeom prst="rect">
            <a:avLst/>
          </a:prstGeom>
          <a:solidFill>
            <a:srgbClr val="FFFFFF"/>
          </a:solidFill>
          <a:ln w="9525">
            <a:solidFill>
              <a:srgbClr val="E3EBF0"/>
            </a:solidFill>
            <a:prstDash val="solid"/>
          </a:ln>
        </p:spPr>
      </p:sp>
      <p:sp>
        <p:nvSpPr>
          <p:cNvPr id="16" name="Text 14"/>
          <p:cNvSpPr/>
          <p:nvPr/>
        </p:nvSpPr>
        <p:spPr>
          <a:xfrm>
            <a:off x="6510528" y="1755648"/>
            <a:ext cx="490118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Task types, model selection, dataset quality, labelling guidelines, augmentation, variation</a:t>
            </a:r>
            <a:endParaRPr lang="en-US" sz="1050" dirty="0"/>
          </a:p>
        </p:txBody>
      </p:sp>
      <p:sp>
        <p:nvSpPr>
          <p:cNvPr id="17" name="Shape 15"/>
          <p:cNvSpPr/>
          <p:nvPr/>
        </p:nvSpPr>
        <p:spPr>
          <a:xfrm>
            <a:off x="640080" y="2212848"/>
            <a:ext cx="1188720" cy="457200"/>
          </a:xfrm>
          <a:prstGeom prst="rect">
            <a:avLst/>
          </a:prstGeom>
          <a:solidFill>
            <a:srgbClr val="F5F9FB"/>
          </a:solidFill>
          <a:ln w="9525">
            <a:solidFill>
              <a:srgbClr val="E3EBF0"/>
            </a:solidFill>
            <a:prstDash val="solid"/>
          </a:ln>
        </p:spPr>
      </p:sp>
      <p:sp>
        <p:nvSpPr>
          <p:cNvPr id="18" name="Text 16"/>
          <p:cNvSpPr/>
          <p:nvPr/>
        </p:nvSpPr>
        <p:spPr>
          <a:xfrm>
            <a:off x="749808" y="22128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10:45</a:t>
            </a:r>
            <a:endParaRPr lang="en-US" sz="1050" dirty="0"/>
          </a:p>
        </p:txBody>
      </p:sp>
      <p:sp>
        <p:nvSpPr>
          <p:cNvPr id="19" name="Shape 17"/>
          <p:cNvSpPr/>
          <p:nvPr/>
        </p:nvSpPr>
        <p:spPr>
          <a:xfrm>
            <a:off x="1828800" y="2212848"/>
            <a:ext cx="4572000" cy="457200"/>
          </a:xfrm>
          <a:prstGeom prst="rect">
            <a:avLst/>
          </a:prstGeom>
          <a:solidFill>
            <a:srgbClr val="F5F9FB"/>
          </a:solidFill>
          <a:ln w="9525">
            <a:solidFill>
              <a:srgbClr val="E3EBF0"/>
            </a:solidFill>
            <a:prstDash val="solid"/>
          </a:ln>
        </p:spPr>
      </p:sp>
      <p:sp>
        <p:nvSpPr>
          <p:cNvPr id="20" name="Text 18"/>
          <p:cNvSpPr/>
          <p:nvPr/>
        </p:nvSpPr>
        <p:spPr>
          <a:xfrm>
            <a:off x="1938528" y="22128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Lab 1 — Why does the model fail?</a:t>
            </a:r>
            <a:endParaRPr lang="en-US" sz="1050" dirty="0"/>
          </a:p>
        </p:txBody>
      </p:sp>
      <p:sp>
        <p:nvSpPr>
          <p:cNvPr id="21" name="Shape 19"/>
          <p:cNvSpPr/>
          <p:nvPr/>
        </p:nvSpPr>
        <p:spPr>
          <a:xfrm>
            <a:off x="6400800" y="2212848"/>
            <a:ext cx="5120640" cy="457200"/>
          </a:xfrm>
          <a:prstGeom prst="rect">
            <a:avLst/>
          </a:prstGeom>
          <a:solidFill>
            <a:srgbClr val="F5F9FB"/>
          </a:solidFill>
          <a:ln w="9525">
            <a:solidFill>
              <a:srgbClr val="E3EBF0"/>
            </a:solidFill>
            <a:prstDash val="solid"/>
          </a:ln>
        </p:spPr>
      </p:sp>
      <p:sp>
        <p:nvSpPr>
          <p:cNvPr id="22" name="Text 20"/>
          <p:cNvSpPr/>
          <p:nvPr/>
        </p:nvSpPr>
        <p:spPr>
          <a:xfrm>
            <a:off x="6510528" y="2212848"/>
            <a:ext cx="490118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An industrial defect dataset, diagnosed</a:t>
            </a:r>
            <a:endParaRPr lang="en-US" sz="1050" dirty="0"/>
          </a:p>
        </p:txBody>
      </p:sp>
      <p:sp>
        <p:nvSpPr>
          <p:cNvPr id="23" name="Shape 21"/>
          <p:cNvSpPr/>
          <p:nvPr/>
        </p:nvSpPr>
        <p:spPr>
          <a:xfrm>
            <a:off x="640080" y="2670048"/>
            <a:ext cx="1188720" cy="457200"/>
          </a:xfrm>
          <a:prstGeom prst="rect">
            <a:avLst/>
          </a:prstGeom>
          <a:solidFill>
            <a:srgbClr val="FFFFFF"/>
          </a:solidFill>
          <a:ln w="9525">
            <a:solidFill>
              <a:srgbClr val="E3EBF0"/>
            </a:solidFill>
            <a:prstDash val="solid"/>
          </a:ln>
        </p:spPr>
      </p:sp>
      <p:sp>
        <p:nvSpPr>
          <p:cNvPr id="24" name="Text 22"/>
          <p:cNvSpPr/>
          <p:nvPr/>
        </p:nvSpPr>
        <p:spPr>
          <a:xfrm>
            <a:off x="749808" y="26700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11:30</a:t>
            </a:r>
            <a:endParaRPr lang="en-US" sz="1050" dirty="0"/>
          </a:p>
        </p:txBody>
      </p:sp>
      <p:sp>
        <p:nvSpPr>
          <p:cNvPr id="25" name="Shape 23"/>
          <p:cNvSpPr/>
          <p:nvPr/>
        </p:nvSpPr>
        <p:spPr>
          <a:xfrm>
            <a:off x="1828800" y="2670048"/>
            <a:ext cx="4572000" cy="457200"/>
          </a:xfrm>
          <a:prstGeom prst="rect">
            <a:avLst/>
          </a:prstGeom>
          <a:solidFill>
            <a:srgbClr val="FFFFFF"/>
          </a:solidFill>
          <a:ln w="9525">
            <a:solidFill>
              <a:srgbClr val="E3EBF0"/>
            </a:solidFill>
            <a:prstDash val="solid"/>
          </a:ln>
        </p:spPr>
      </p:sp>
      <p:sp>
        <p:nvSpPr>
          <p:cNvPr id="26" name="Text 24"/>
          <p:cNvSpPr/>
          <p:nvPr/>
        </p:nvSpPr>
        <p:spPr>
          <a:xfrm>
            <a:off x="1938528" y="26700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Module 2 — CV error analysis and hypothesis-driven improvement</a:t>
            </a:r>
            <a:endParaRPr lang="en-US" sz="1050" dirty="0"/>
          </a:p>
        </p:txBody>
      </p:sp>
      <p:sp>
        <p:nvSpPr>
          <p:cNvPr id="27" name="Shape 25"/>
          <p:cNvSpPr/>
          <p:nvPr/>
        </p:nvSpPr>
        <p:spPr>
          <a:xfrm>
            <a:off x="6400800" y="2670048"/>
            <a:ext cx="5120640" cy="457200"/>
          </a:xfrm>
          <a:prstGeom prst="rect">
            <a:avLst/>
          </a:prstGeom>
          <a:solidFill>
            <a:srgbClr val="FFFFFF"/>
          </a:solidFill>
          <a:ln w="9525">
            <a:solidFill>
              <a:srgbClr val="E3EBF0"/>
            </a:solidFill>
            <a:prstDash val="solid"/>
          </a:ln>
        </p:spPr>
      </p:sp>
      <p:sp>
        <p:nvSpPr>
          <p:cNvPr id="28" name="Text 26"/>
          <p:cNvSpPr/>
          <p:nvPr/>
        </p:nvSpPr>
        <p:spPr>
          <a:xfrm>
            <a:off x="6510528" y="2670048"/>
            <a:ext cx="490118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Failure categories, small objects, occlusion, contrast, imbalance, drift, thresholds</a:t>
            </a:r>
            <a:endParaRPr lang="en-US" sz="1050" dirty="0"/>
          </a:p>
        </p:txBody>
      </p:sp>
      <p:sp>
        <p:nvSpPr>
          <p:cNvPr id="29" name="Shape 27"/>
          <p:cNvSpPr/>
          <p:nvPr/>
        </p:nvSpPr>
        <p:spPr>
          <a:xfrm>
            <a:off x="640080" y="3127248"/>
            <a:ext cx="1188720" cy="457200"/>
          </a:xfrm>
          <a:prstGeom prst="rect">
            <a:avLst/>
          </a:prstGeom>
          <a:solidFill>
            <a:srgbClr val="F5F9FB"/>
          </a:solidFill>
          <a:ln w="9525">
            <a:solidFill>
              <a:srgbClr val="E3EBF0"/>
            </a:solidFill>
            <a:prstDash val="solid"/>
          </a:ln>
        </p:spPr>
      </p:sp>
      <p:sp>
        <p:nvSpPr>
          <p:cNvPr id="30" name="Text 28"/>
          <p:cNvSpPr/>
          <p:nvPr/>
        </p:nvSpPr>
        <p:spPr>
          <a:xfrm>
            <a:off x="749808" y="31272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13:00</a:t>
            </a:r>
            <a:endParaRPr lang="en-US" sz="1050" dirty="0"/>
          </a:p>
        </p:txBody>
      </p:sp>
      <p:sp>
        <p:nvSpPr>
          <p:cNvPr id="31" name="Shape 29"/>
          <p:cNvSpPr/>
          <p:nvPr/>
        </p:nvSpPr>
        <p:spPr>
          <a:xfrm>
            <a:off x="1828800" y="3127248"/>
            <a:ext cx="4572000" cy="457200"/>
          </a:xfrm>
          <a:prstGeom prst="rect">
            <a:avLst/>
          </a:prstGeom>
          <a:solidFill>
            <a:srgbClr val="F5F9FB"/>
          </a:solidFill>
          <a:ln w="9525">
            <a:solidFill>
              <a:srgbClr val="E3EBF0"/>
            </a:solidFill>
            <a:prstDash val="solid"/>
          </a:ln>
        </p:spPr>
      </p:sp>
      <p:sp>
        <p:nvSpPr>
          <p:cNvPr id="32" name="Text 30"/>
          <p:cNvSpPr/>
          <p:nvPr/>
        </p:nvSpPr>
        <p:spPr>
          <a:xfrm>
            <a:off x="1938528" y="31272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Lunch</a:t>
            </a:r>
            <a:endParaRPr lang="en-US" sz="1050" dirty="0"/>
          </a:p>
        </p:txBody>
      </p:sp>
      <p:sp>
        <p:nvSpPr>
          <p:cNvPr id="33" name="Shape 31"/>
          <p:cNvSpPr/>
          <p:nvPr/>
        </p:nvSpPr>
        <p:spPr>
          <a:xfrm>
            <a:off x="6400800" y="3127248"/>
            <a:ext cx="5120640" cy="457200"/>
          </a:xfrm>
          <a:prstGeom prst="rect">
            <a:avLst/>
          </a:prstGeom>
          <a:solidFill>
            <a:srgbClr val="F5F9FB"/>
          </a:solidFill>
          <a:ln w="9525">
            <a:solidFill>
              <a:srgbClr val="E3EBF0"/>
            </a:solidFill>
            <a:prstDash val="solid"/>
          </a:ln>
        </p:spPr>
      </p:sp>
      <p:sp>
        <p:nvSpPr>
          <p:cNvPr id="34" name="Text 32"/>
          <p:cNvSpPr/>
          <p:nvPr/>
        </p:nvSpPr>
        <p:spPr>
          <a:xfrm>
            <a:off x="6510528" y="3127248"/>
            <a:ext cx="4901184" cy="457200"/>
          </a:xfrm>
          <a:prstGeom prst="rect">
            <a:avLst/>
          </a:prstGeom>
          <a:noFill/>
          <a:ln/>
        </p:spPr>
        <p:txBody>
          <a:bodyPr wrap="square" lIns="0" tIns="0" rIns="0" bIns="0" rtlCol="0" anchor="ctr"/>
          <a:lstStyle/>
          <a:p>
            <a:pPr indent="0" marL="0">
              <a:lnSpc>
                <a:spcPts val="1300"/>
              </a:lnSpc>
              <a:buNone/>
            </a:pPr>
            <a:endParaRPr lang="en-US" sz="1050" dirty="0"/>
          </a:p>
        </p:txBody>
      </p:sp>
      <p:sp>
        <p:nvSpPr>
          <p:cNvPr id="35" name="Shape 33"/>
          <p:cNvSpPr/>
          <p:nvPr/>
        </p:nvSpPr>
        <p:spPr>
          <a:xfrm>
            <a:off x="640080" y="3584448"/>
            <a:ext cx="1188720" cy="457200"/>
          </a:xfrm>
          <a:prstGeom prst="rect">
            <a:avLst/>
          </a:prstGeom>
          <a:solidFill>
            <a:srgbClr val="FFFFFF"/>
          </a:solidFill>
          <a:ln w="9525">
            <a:solidFill>
              <a:srgbClr val="E3EBF0"/>
            </a:solidFill>
            <a:prstDash val="solid"/>
          </a:ln>
        </p:spPr>
      </p:sp>
      <p:sp>
        <p:nvSpPr>
          <p:cNvPr id="36" name="Text 34"/>
          <p:cNvSpPr/>
          <p:nvPr/>
        </p:nvSpPr>
        <p:spPr>
          <a:xfrm>
            <a:off x="749808" y="35844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13:45</a:t>
            </a:r>
            <a:endParaRPr lang="en-US" sz="1050" dirty="0"/>
          </a:p>
        </p:txBody>
      </p:sp>
      <p:sp>
        <p:nvSpPr>
          <p:cNvPr id="37" name="Shape 35"/>
          <p:cNvSpPr/>
          <p:nvPr/>
        </p:nvSpPr>
        <p:spPr>
          <a:xfrm>
            <a:off x="1828800" y="3584448"/>
            <a:ext cx="4572000" cy="457200"/>
          </a:xfrm>
          <a:prstGeom prst="rect">
            <a:avLst/>
          </a:prstGeom>
          <a:solidFill>
            <a:srgbClr val="FFFFFF"/>
          </a:solidFill>
          <a:ln w="9525">
            <a:solidFill>
              <a:srgbClr val="E3EBF0"/>
            </a:solidFill>
            <a:prstDash val="solid"/>
          </a:ln>
        </p:spPr>
      </p:sp>
      <p:sp>
        <p:nvSpPr>
          <p:cNvPr id="38" name="Text 36"/>
          <p:cNvSpPr/>
          <p:nvPr/>
        </p:nvSpPr>
        <p:spPr>
          <a:xfrm>
            <a:off x="1938528" y="35844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Lab 2 — Error analysis report and improvement hypotheses</a:t>
            </a:r>
            <a:endParaRPr lang="en-US" sz="1050" dirty="0"/>
          </a:p>
        </p:txBody>
      </p:sp>
      <p:sp>
        <p:nvSpPr>
          <p:cNvPr id="39" name="Shape 37"/>
          <p:cNvSpPr/>
          <p:nvPr/>
        </p:nvSpPr>
        <p:spPr>
          <a:xfrm>
            <a:off x="6400800" y="3584448"/>
            <a:ext cx="5120640" cy="457200"/>
          </a:xfrm>
          <a:prstGeom prst="rect">
            <a:avLst/>
          </a:prstGeom>
          <a:solidFill>
            <a:srgbClr val="FFFFFF"/>
          </a:solidFill>
          <a:ln w="9525">
            <a:solidFill>
              <a:srgbClr val="E3EBF0"/>
            </a:solidFill>
            <a:prstDash val="solid"/>
          </a:ln>
        </p:spPr>
      </p:sp>
      <p:sp>
        <p:nvSpPr>
          <p:cNvPr id="40" name="Text 38"/>
          <p:cNvSpPr/>
          <p:nvPr/>
        </p:nvSpPr>
        <p:spPr>
          <a:xfrm>
            <a:off x="6510528" y="3584448"/>
            <a:ext cx="4901184" cy="457200"/>
          </a:xfrm>
          <a:prstGeom prst="rect">
            <a:avLst/>
          </a:prstGeom>
          <a:noFill/>
          <a:ln/>
        </p:spPr>
        <p:txBody>
          <a:bodyPr wrap="square" lIns="0" tIns="0" rIns="0" bIns="0" rtlCol="0" anchor="ctr"/>
          <a:lstStyle/>
          <a:p>
            <a:pPr indent="0" marL="0">
              <a:lnSpc>
                <a:spcPts val="1300"/>
              </a:lnSpc>
              <a:buNone/>
            </a:pPr>
            <a:endParaRPr lang="en-US" sz="1050" dirty="0"/>
          </a:p>
        </p:txBody>
      </p:sp>
      <p:sp>
        <p:nvSpPr>
          <p:cNvPr id="41" name="Shape 39"/>
          <p:cNvSpPr/>
          <p:nvPr/>
        </p:nvSpPr>
        <p:spPr>
          <a:xfrm>
            <a:off x="640080" y="4041648"/>
            <a:ext cx="1188720" cy="457200"/>
          </a:xfrm>
          <a:prstGeom prst="rect">
            <a:avLst/>
          </a:prstGeom>
          <a:solidFill>
            <a:srgbClr val="F5F9FB"/>
          </a:solidFill>
          <a:ln w="9525">
            <a:solidFill>
              <a:srgbClr val="E3EBF0"/>
            </a:solidFill>
            <a:prstDash val="solid"/>
          </a:ln>
        </p:spPr>
      </p:sp>
      <p:sp>
        <p:nvSpPr>
          <p:cNvPr id="42" name="Text 40"/>
          <p:cNvSpPr/>
          <p:nvPr/>
        </p:nvSpPr>
        <p:spPr>
          <a:xfrm>
            <a:off x="749808" y="40416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14:45</a:t>
            </a:r>
            <a:endParaRPr lang="en-US" sz="1050" dirty="0"/>
          </a:p>
        </p:txBody>
      </p:sp>
      <p:sp>
        <p:nvSpPr>
          <p:cNvPr id="43" name="Shape 41"/>
          <p:cNvSpPr/>
          <p:nvPr/>
        </p:nvSpPr>
        <p:spPr>
          <a:xfrm>
            <a:off x="1828800" y="4041648"/>
            <a:ext cx="4572000" cy="457200"/>
          </a:xfrm>
          <a:prstGeom prst="rect">
            <a:avLst/>
          </a:prstGeom>
          <a:solidFill>
            <a:srgbClr val="F5F9FB"/>
          </a:solidFill>
          <a:ln w="9525">
            <a:solidFill>
              <a:srgbClr val="E3EBF0"/>
            </a:solidFill>
            <a:prstDash val="solid"/>
          </a:ln>
        </p:spPr>
      </p:sp>
      <p:sp>
        <p:nvSpPr>
          <p:cNvPr id="44" name="Text 42"/>
          <p:cNvSpPr/>
          <p:nvPr/>
        </p:nvSpPr>
        <p:spPr>
          <a:xfrm>
            <a:off x="1938528" y="40416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Module 3 — MLOps for production AI systems</a:t>
            </a:r>
            <a:endParaRPr lang="en-US" sz="1050" dirty="0"/>
          </a:p>
        </p:txBody>
      </p:sp>
      <p:sp>
        <p:nvSpPr>
          <p:cNvPr id="45" name="Shape 43"/>
          <p:cNvSpPr/>
          <p:nvPr/>
        </p:nvSpPr>
        <p:spPr>
          <a:xfrm>
            <a:off x="6400800" y="4041648"/>
            <a:ext cx="5120640" cy="457200"/>
          </a:xfrm>
          <a:prstGeom prst="rect">
            <a:avLst/>
          </a:prstGeom>
          <a:solidFill>
            <a:srgbClr val="F5F9FB"/>
          </a:solidFill>
          <a:ln w="9525">
            <a:solidFill>
              <a:srgbClr val="E3EBF0"/>
            </a:solidFill>
            <a:prstDash val="solid"/>
          </a:ln>
        </p:spPr>
      </p:sp>
      <p:sp>
        <p:nvSpPr>
          <p:cNvPr id="46" name="Text 44"/>
          <p:cNvSpPr/>
          <p:nvPr/>
        </p:nvSpPr>
        <p:spPr>
          <a:xfrm>
            <a:off x="6510528" y="4041648"/>
            <a:ext cx="490118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Experiment tracking, versioning, CI/CD, registry, serving, rollout, monitoring, retraining</a:t>
            </a:r>
            <a:endParaRPr lang="en-US" sz="1050" dirty="0"/>
          </a:p>
        </p:txBody>
      </p:sp>
      <p:sp>
        <p:nvSpPr>
          <p:cNvPr id="47" name="Shape 45"/>
          <p:cNvSpPr/>
          <p:nvPr/>
        </p:nvSpPr>
        <p:spPr>
          <a:xfrm>
            <a:off x="640080" y="4498848"/>
            <a:ext cx="1188720" cy="457200"/>
          </a:xfrm>
          <a:prstGeom prst="rect">
            <a:avLst/>
          </a:prstGeom>
          <a:solidFill>
            <a:srgbClr val="FFFFFF"/>
          </a:solidFill>
          <a:ln w="9525">
            <a:solidFill>
              <a:srgbClr val="E3EBF0"/>
            </a:solidFill>
            <a:prstDash val="solid"/>
          </a:ln>
        </p:spPr>
      </p:sp>
      <p:sp>
        <p:nvSpPr>
          <p:cNvPr id="48" name="Text 46"/>
          <p:cNvSpPr/>
          <p:nvPr/>
        </p:nvSpPr>
        <p:spPr>
          <a:xfrm>
            <a:off x="749808" y="44988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16:15</a:t>
            </a:r>
            <a:endParaRPr lang="en-US" sz="1050" dirty="0"/>
          </a:p>
        </p:txBody>
      </p:sp>
      <p:sp>
        <p:nvSpPr>
          <p:cNvPr id="49" name="Shape 47"/>
          <p:cNvSpPr/>
          <p:nvPr/>
        </p:nvSpPr>
        <p:spPr>
          <a:xfrm>
            <a:off x="1828800" y="4498848"/>
            <a:ext cx="4572000" cy="457200"/>
          </a:xfrm>
          <a:prstGeom prst="rect">
            <a:avLst/>
          </a:prstGeom>
          <a:solidFill>
            <a:srgbClr val="FFFFFF"/>
          </a:solidFill>
          <a:ln w="9525">
            <a:solidFill>
              <a:srgbClr val="E3EBF0"/>
            </a:solidFill>
            <a:prstDash val="solid"/>
          </a:ln>
        </p:spPr>
      </p:sp>
      <p:sp>
        <p:nvSpPr>
          <p:cNvPr id="50" name="Text 48"/>
          <p:cNvSpPr/>
          <p:nvPr/>
        </p:nvSpPr>
        <p:spPr>
          <a:xfrm>
            <a:off x="1938528" y="44988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Lab 3 — MLOps pipeline design</a:t>
            </a:r>
            <a:endParaRPr lang="en-US" sz="1050" dirty="0"/>
          </a:p>
        </p:txBody>
      </p:sp>
      <p:sp>
        <p:nvSpPr>
          <p:cNvPr id="51" name="Shape 49"/>
          <p:cNvSpPr/>
          <p:nvPr/>
        </p:nvSpPr>
        <p:spPr>
          <a:xfrm>
            <a:off x="6400800" y="4498848"/>
            <a:ext cx="5120640" cy="457200"/>
          </a:xfrm>
          <a:prstGeom prst="rect">
            <a:avLst/>
          </a:prstGeom>
          <a:solidFill>
            <a:srgbClr val="FFFFFF"/>
          </a:solidFill>
          <a:ln w="9525">
            <a:solidFill>
              <a:srgbClr val="E3EBF0"/>
            </a:solidFill>
            <a:prstDash val="solid"/>
          </a:ln>
        </p:spPr>
      </p:sp>
      <p:sp>
        <p:nvSpPr>
          <p:cNvPr id="52" name="Text 50"/>
          <p:cNvSpPr/>
          <p:nvPr/>
        </p:nvSpPr>
        <p:spPr>
          <a:xfrm>
            <a:off x="6510528" y="4498848"/>
            <a:ext cx="4901184" cy="457200"/>
          </a:xfrm>
          <a:prstGeom prst="rect">
            <a:avLst/>
          </a:prstGeom>
          <a:noFill/>
          <a:ln/>
        </p:spPr>
        <p:txBody>
          <a:bodyPr wrap="square" lIns="0" tIns="0" rIns="0" bIns="0" rtlCol="0" anchor="ctr"/>
          <a:lstStyle/>
          <a:p>
            <a:pPr indent="0" marL="0">
              <a:lnSpc>
                <a:spcPts val="1300"/>
              </a:lnSpc>
              <a:buNone/>
            </a:pPr>
            <a:endParaRPr lang="en-US" sz="1050" dirty="0"/>
          </a:p>
        </p:txBody>
      </p:sp>
      <p:sp>
        <p:nvSpPr>
          <p:cNvPr id="53" name="Shape 51"/>
          <p:cNvSpPr/>
          <p:nvPr/>
        </p:nvSpPr>
        <p:spPr>
          <a:xfrm>
            <a:off x="640080" y="4956048"/>
            <a:ext cx="1188720" cy="457200"/>
          </a:xfrm>
          <a:prstGeom prst="rect">
            <a:avLst/>
          </a:prstGeom>
          <a:solidFill>
            <a:srgbClr val="F5F9FB"/>
          </a:solidFill>
          <a:ln w="9525">
            <a:solidFill>
              <a:srgbClr val="E3EBF0"/>
            </a:solidFill>
            <a:prstDash val="solid"/>
          </a:ln>
        </p:spPr>
      </p:sp>
      <p:sp>
        <p:nvSpPr>
          <p:cNvPr id="54" name="Text 52"/>
          <p:cNvSpPr/>
          <p:nvPr/>
        </p:nvSpPr>
        <p:spPr>
          <a:xfrm>
            <a:off x="749808" y="49560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17:00</a:t>
            </a:r>
            <a:endParaRPr lang="en-US" sz="1050" dirty="0"/>
          </a:p>
        </p:txBody>
      </p:sp>
      <p:sp>
        <p:nvSpPr>
          <p:cNvPr id="55" name="Shape 53"/>
          <p:cNvSpPr/>
          <p:nvPr/>
        </p:nvSpPr>
        <p:spPr>
          <a:xfrm>
            <a:off x="1828800" y="4956048"/>
            <a:ext cx="4572000" cy="457200"/>
          </a:xfrm>
          <a:prstGeom prst="rect">
            <a:avLst/>
          </a:prstGeom>
          <a:solidFill>
            <a:srgbClr val="F5F9FB"/>
          </a:solidFill>
          <a:ln w="9525">
            <a:solidFill>
              <a:srgbClr val="E3EBF0"/>
            </a:solidFill>
            <a:prstDash val="solid"/>
          </a:ln>
        </p:spPr>
      </p:sp>
      <p:sp>
        <p:nvSpPr>
          <p:cNvPr id="56" name="Text 54"/>
          <p:cNvSpPr/>
          <p:nvPr/>
        </p:nvSpPr>
        <p:spPr>
          <a:xfrm>
            <a:off x="1938528" y="49560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Module 4 — Active learning and feedback loops</a:t>
            </a:r>
            <a:endParaRPr lang="en-US" sz="1050" dirty="0"/>
          </a:p>
        </p:txBody>
      </p:sp>
      <p:sp>
        <p:nvSpPr>
          <p:cNvPr id="57" name="Shape 55"/>
          <p:cNvSpPr/>
          <p:nvPr/>
        </p:nvSpPr>
        <p:spPr>
          <a:xfrm>
            <a:off x="6400800" y="4956048"/>
            <a:ext cx="5120640" cy="457200"/>
          </a:xfrm>
          <a:prstGeom prst="rect">
            <a:avLst/>
          </a:prstGeom>
          <a:solidFill>
            <a:srgbClr val="F5F9FB"/>
          </a:solidFill>
          <a:ln w="9525">
            <a:solidFill>
              <a:srgbClr val="E3EBF0"/>
            </a:solidFill>
            <a:prstDash val="solid"/>
          </a:ln>
        </p:spPr>
      </p:sp>
      <p:sp>
        <p:nvSpPr>
          <p:cNvPr id="58" name="Text 56"/>
          <p:cNvSpPr/>
          <p:nvPr/>
        </p:nvSpPr>
        <p:spPr>
          <a:xfrm>
            <a:off x="6510528" y="4956048"/>
            <a:ext cx="490118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Uncertainty and error sampling, edge-case mining, label correction, the production learning loop</a:t>
            </a:r>
            <a:endParaRPr lang="en-US" sz="1050" dirty="0"/>
          </a:p>
        </p:txBody>
      </p:sp>
      <p:sp>
        <p:nvSpPr>
          <p:cNvPr id="59" name="Shape 57"/>
          <p:cNvSpPr/>
          <p:nvPr/>
        </p:nvSpPr>
        <p:spPr>
          <a:xfrm>
            <a:off x="640080" y="5413248"/>
            <a:ext cx="1188720" cy="457200"/>
          </a:xfrm>
          <a:prstGeom prst="rect">
            <a:avLst/>
          </a:prstGeom>
          <a:solidFill>
            <a:srgbClr val="FFFFFF"/>
          </a:solidFill>
          <a:ln w="9525">
            <a:solidFill>
              <a:srgbClr val="E3EBF0"/>
            </a:solidFill>
            <a:prstDash val="solid"/>
          </a:ln>
        </p:spPr>
      </p:sp>
      <p:sp>
        <p:nvSpPr>
          <p:cNvPr id="60" name="Text 58"/>
          <p:cNvSpPr/>
          <p:nvPr/>
        </p:nvSpPr>
        <p:spPr>
          <a:xfrm>
            <a:off x="749808" y="5413248"/>
            <a:ext cx="969264" cy="4572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17:45</a:t>
            </a:r>
            <a:endParaRPr lang="en-US" sz="1050" dirty="0"/>
          </a:p>
        </p:txBody>
      </p:sp>
      <p:sp>
        <p:nvSpPr>
          <p:cNvPr id="61" name="Shape 59"/>
          <p:cNvSpPr/>
          <p:nvPr/>
        </p:nvSpPr>
        <p:spPr>
          <a:xfrm>
            <a:off x="1828800" y="5413248"/>
            <a:ext cx="4572000" cy="457200"/>
          </a:xfrm>
          <a:prstGeom prst="rect">
            <a:avLst/>
          </a:prstGeom>
          <a:solidFill>
            <a:srgbClr val="FFFFFF"/>
          </a:solidFill>
          <a:ln w="9525">
            <a:solidFill>
              <a:srgbClr val="E3EBF0"/>
            </a:solidFill>
            <a:prstDash val="solid"/>
          </a:ln>
        </p:spPr>
      </p:sp>
      <p:sp>
        <p:nvSpPr>
          <p:cNvPr id="62" name="Text 60"/>
          <p:cNvSpPr/>
          <p:nvPr/>
        </p:nvSpPr>
        <p:spPr>
          <a:xfrm>
            <a:off x="1938528" y="5413248"/>
            <a:ext cx="4352544" cy="4572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Lab 4 — Feedback loop design</a:t>
            </a:r>
            <a:endParaRPr lang="en-US" sz="1050" dirty="0"/>
          </a:p>
        </p:txBody>
      </p:sp>
      <p:sp>
        <p:nvSpPr>
          <p:cNvPr id="63" name="Shape 61"/>
          <p:cNvSpPr/>
          <p:nvPr/>
        </p:nvSpPr>
        <p:spPr>
          <a:xfrm>
            <a:off x="6400800" y="5413248"/>
            <a:ext cx="5120640" cy="457200"/>
          </a:xfrm>
          <a:prstGeom prst="rect">
            <a:avLst/>
          </a:prstGeom>
          <a:solidFill>
            <a:srgbClr val="FFFFFF"/>
          </a:solidFill>
          <a:ln w="9525">
            <a:solidFill>
              <a:srgbClr val="E3EBF0"/>
            </a:solidFill>
            <a:prstDash val="solid"/>
          </a:ln>
        </p:spPr>
      </p:sp>
      <p:sp>
        <p:nvSpPr>
          <p:cNvPr id="64" name="Text 62"/>
          <p:cNvSpPr/>
          <p:nvPr/>
        </p:nvSpPr>
        <p:spPr>
          <a:xfrm>
            <a:off x="6510528" y="5413248"/>
            <a:ext cx="4901184" cy="457200"/>
          </a:xfrm>
          <a:prstGeom prst="rect">
            <a:avLst/>
          </a:prstGeom>
          <a:noFill/>
          <a:ln/>
        </p:spPr>
        <p:txBody>
          <a:bodyPr wrap="square" lIns="0" tIns="0" rIns="0" bIns="0" rtlCol="0" anchor="ctr"/>
          <a:lstStyle/>
          <a:p>
            <a:pPr indent="0" marL="0">
              <a:lnSpc>
                <a:spcPts val="1300"/>
              </a:lnSpc>
              <a:buNone/>
            </a:pP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indent="0" marL="0">
              <a:buNone/>
            </a:pPr>
            <a:r>
              <a:rPr lang="en-US" sz="1200" b="1" spc="300" kern="0" dirty="0">
                <a:solidFill>
                  <a:srgbClr val="9FD0E3"/>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Computer Vision for Industrial Use Cases</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indent="0" marL="0">
              <a:lnSpc>
                <a:spcPts val="2100"/>
              </a:lnSpc>
              <a:buNone/>
            </a:pPr>
            <a:r>
              <a:rPr lang="en-US" sz="1500" dirty="0">
                <a:solidFill>
                  <a:srgbClr val="D5E8F0"/>
                </a:solidFill>
                <a:latin typeface="Calibri" pitchFamily="34" charset="0"/>
                <a:ea typeface="Calibri" pitchFamily="34" charset="-122"/>
                <a:cs typeface="Calibri" pitchFamily="34" charset="-120"/>
              </a:rPr>
              <a:t>Choosing the right task formulation, and understanding why capture conditions determine more than model architecture.</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task types — and choosing between them</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640080" y="1234440"/>
            <a:ext cx="2286000" cy="384048"/>
          </a:xfrm>
          <a:prstGeom prst="rect">
            <a:avLst/>
          </a:prstGeom>
          <a:solidFill>
            <a:srgbClr val="21295C"/>
          </a:solidFill>
          <a:ln/>
        </p:spPr>
      </p:sp>
      <p:sp>
        <p:nvSpPr>
          <p:cNvPr id="6" name="Text 4"/>
          <p:cNvSpPr/>
          <p:nvPr/>
        </p:nvSpPr>
        <p:spPr>
          <a:xfrm>
            <a:off x="749808" y="1234440"/>
            <a:ext cx="20665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Task</a:t>
            </a:r>
            <a:endParaRPr lang="en-US" sz="1100" dirty="0"/>
          </a:p>
        </p:txBody>
      </p:sp>
      <p:sp>
        <p:nvSpPr>
          <p:cNvPr id="7" name="Shape 5"/>
          <p:cNvSpPr/>
          <p:nvPr/>
        </p:nvSpPr>
        <p:spPr>
          <a:xfrm>
            <a:off x="2926080" y="1234440"/>
            <a:ext cx="2651760" cy="384048"/>
          </a:xfrm>
          <a:prstGeom prst="rect">
            <a:avLst/>
          </a:prstGeom>
          <a:solidFill>
            <a:srgbClr val="21295C"/>
          </a:solidFill>
          <a:ln/>
        </p:spPr>
      </p:sp>
      <p:sp>
        <p:nvSpPr>
          <p:cNvPr id="8" name="Text 6"/>
          <p:cNvSpPr/>
          <p:nvPr/>
        </p:nvSpPr>
        <p:spPr>
          <a:xfrm>
            <a:off x="3035808" y="1234440"/>
            <a:ext cx="24323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9" name="Shape 7"/>
          <p:cNvSpPr/>
          <p:nvPr/>
        </p:nvSpPr>
        <p:spPr>
          <a:xfrm>
            <a:off x="5577840" y="1234440"/>
            <a:ext cx="4023360" cy="384048"/>
          </a:xfrm>
          <a:prstGeom prst="rect">
            <a:avLst/>
          </a:prstGeom>
          <a:solidFill>
            <a:srgbClr val="21295C"/>
          </a:solidFill>
          <a:ln/>
        </p:spPr>
      </p:sp>
      <p:sp>
        <p:nvSpPr>
          <p:cNvPr id="10" name="Text 8"/>
          <p:cNvSpPr/>
          <p:nvPr/>
        </p:nvSpPr>
        <p:spPr>
          <a:xfrm>
            <a:off x="5687568" y="1234440"/>
            <a:ext cx="38039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Use when</a:t>
            </a:r>
            <a:endParaRPr lang="en-US" sz="1100" dirty="0"/>
          </a:p>
        </p:txBody>
      </p:sp>
      <p:sp>
        <p:nvSpPr>
          <p:cNvPr id="11" name="Shape 9"/>
          <p:cNvSpPr/>
          <p:nvPr/>
        </p:nvSpPr>
        <p:spPr>
          <a:xfrm>
            <a:off x="9601200" y="1234440"/>
            <a:ext cx="1920240" cy="384048"/>
          </a:xfrm>
          <a:prstGeom prst="rect">
            <a:avLst/>
          </a:prstGeom>
          <a:solidFill>
            <a:srgbClr val="21295C"/>
          </a:solidFill>
          <a:ln/>
        </p:spPr>
      </p:sp>
      <p:sp>
        <p:nvSpPr>
          <p:cNvPr id="12" name="Text 10"/>
          <p:cNvSpPr/>
          <p:nvPr/>
        </p:nvSpPr>
        <p:spPr>
          <a:xfrm>
            <a:off x="9710928" y="1234440"/>
            <a:ext cx="1700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Labelling cost</a:t>
            </a:r>
            <a:endParaRPr lang="en-US" sz="1100" dirty="0"/>
          </a:p>
        </p:txBody>
      </p:sp>
      <p:sp>
        <p:nvSpPr>
          <p:cNvPr id="13" name="Shape 11"/>
          <p:cNvSpPr/>
          <p:nvPr/>
        </p:nvSpPr>
        <p:spPr>
          <a:xfrm>
            <a:off x="640080" y="1618488"/>
            <a:ext cx="2286000" cy="566928"/>
          </a:xfrm>
          <a:prstGeom prst="rect">
            <a:avLst/>
          </a:prstGeom>
          <a:solidFill>
            <a:srgbClr val="FFFFFF"/>
          </a:solidFill>
          <a:ln w="9525">
            <a:solidFill>
              <a:srgbClr val="E3EBF0"/>
            </a:solidFill>
            <a:prstDash val="solid"/>
          </a:ln>
        </p:spPr>
      </p:sp>
      <p:sp>
        <p:nvSpPr>
          <p:cNvPr id="14" name="Text 12"/>
          <p:cNvSpPr/>
          <p:nvPr/>
        </p:nvSpPr>
        <p:spPr>
          <a:xfrm>
            <a:off x="749808" y="1618488"/>
            <a:ext cx="20665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Image classification</a:t>
            </a:r>
            <a:endParaRPr lang="en-US" sz="1050" dirty="0"/>
          </a:p>
        </p:txBody>
      </p:sp>
      <p:sp>
        <p:nvSpPr>
          <p:cNvPr id="15" name="Shape 13"/>
          <p:cNvSpPr/>
          <p:nvPr/>
        </p:nvSpPr>
        <p:spPr>
          <a:xfrm>
            <a:off x="2926080" y="1618488"/>
            <a:ext cx="2651760" cy="566928"/>
          </a:xfrm>
          <a:prstGeom prst="rect">
            <a:avLst/>
          </a:prstGeom>
          <a:solidFill>
            <a:srgbClr val="FFFFFF"/>
          </a:solidFill>
          <a:ln w="9525">
            <a:solidFill>
              <a:srgbClr val="E3EBF0"/>
            </a:solidFill>
            <a:prstDash val="solid"/>
          </a:ln>
        </p:spPr>
      </p:sp>
      <p:sp>
        <p:nvSpPr>
          <p:cNvPr id="16" name="Text 14"/>
          <p:cNvSpPr/>
          <p:nvPr/>
        </p:nvSpPr>
        <p:spPr>
          <a:xfrm>
            <a:off x="3035808" y="1618488"/>
            <a:ext cx="24323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One label per image</a:t>
            </a:r>
            <a:endParaRPr lang="en-US" sz="1050" dirty="0"/>
          </a:p>
        </p:txBody>
      </p:sp>
      <p:sp>
        <p:nvSpPr>
          <p:cNvPr id="17" name="Shape 15"/>
          <p:cNvSpPr/>
          <p:nvPr/>
        </p:nvSpPr>
        <p:spPr>
          <a:xfrm>
            <a:off x="5577840" y="1618488"/>
            <a:ext cx="4023360" cy="566928"/>
          </a:xfrm>
          <a:prstGeom prst="rect">
            <a:avLst/>
          </a:prstGeom>
          <a:solidFill>
            <a:srgbClr val="FFFFFF"/>
          </a:solidFill>
          <a:ln w="9525">
            <a:solidFill>
              <a:srgbClr val="E3EBF0"/>
            </a:solidFill>
            <a:prstDash val="solid"/>
          </a:ln>
        </p:spPr>
      </p:sp>
      <p:sp>
        <p:nvSpPr>
          <p:cNvPr id="18" name="Text 16"/>
          <p:cNvSpPr/>
          <p:nvPr/>
        </p:nvSpPr>
        <p:spPr>
          <a:xfrm>
            <a:off x="5687568" y="1618488"/>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whole image is pass or fail</a:t>
            </a:r>
            <a:endParaRPr lang="en-US" sz="1050" dirty="0"/>
          </a:p>
        </p:txBody>
      </p:sp>
      <p:sp>
        <p:nvSpPr>
          <p:cNvPr id="19" name="Shape 17"/>
          <p:cNvSpPr/>
          <p:nvPr/>
        </p:nvSpPr>
        <p:spPr>
          <a:xfrm>
            <a:off x="9601200" y="1618488"/>
            <a:ext cx="1920240" cy="566928"/>
          </a:xfrm>
          <a:prstGeom prst="rect">
            <a:avLst/>
          </a:prstGeom>
          <a:solidFill>
            <a:srgbClr val="FFFFFF"/>
          </a:solidFill>
          <a:ln w="9525">
            <a:solidFill>
              <a:srgbClr val="E3EBF0"/>
            </a:solidFill>
            <a:prstDash val="solid"/>
          </a:ln>
        </p:spPr>
      </p:sp>
      <p:sp>
        <p:nvSpPr>
          <p:cNvPr id="20" name="Text 18"/>
          <p:cNvSpPr/>
          <p:nvPr/>
        </p:nvSpPr>
        <p:spPr>
          <a:xfrm>
            <a:off x="9710928" y="1618488"/>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Lowest</a:t>
            </a:r>
            <a:endParaRPr lang="en-US" sz="1050" dirty="0"/>
          </a:p>
        </p:txBody>
      </p:sp>
      <p:sp>
        <p:nvSpPr>
          <p:cNvPr id="21" name="Shape 19"/>
          <p:cNvSpPr/>
          <p:nvPr/>
        </p:nvSpPr>
        <p:spPr>
          <a:xfrm>
            <a:off x="640080" y="2185416"/>
            <a:ext cx="2286000" cy="566928"/>
          </a:xfrm>
          <a:prstGeom prst="rect">
            <a:avLst/>
          </a:prstGeom>
          <a:solidFill>
            <a:srgbClr val="F5F9FB"/>
          </a:solidFill>
          <a:ln w="9525">
            <a:solidFill>
              <a:srgbClr val="E3EBF0"/>
            </a:solidFill>
            <a:prstDash val="solid"/>
          </a:ln>
        </p:spPr>
      </p:sp>
      <p:sp>
        <p:nvSpPr>
          <p:cNvPr id="22" name="Text 20"/>
          <p:cNvSpPr/>
          <p:nvPr/>
        </p:nvSpPr>
        <p:spPr>
          <a:xfrm>
            <a:off x="749808" y="2185416"/>
            <a:ext cx="20665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Object detection</a:t>
            </a:r>
            <a:endParaRPr lang="en-US" sz="1050" dirty="0"/>
          </a:p>
        </p:txBody>
      </p:sp>
      <p:sp>
        <p:nvSpPr>
          <p:cNvPr id="23" name="Shape 21"/>
          <p:cNvSpPr/>
          <p:nvPr/>
        </p:nvSpPr>
        <p:spPr>
          <a:xfrm>
            <a:off x="2926080" y="2185416"/>
            <a:ext cx="2651760" cy="566928"/>
          </a:xfrm>
          <a:prstGeom prst="rect">
            <a:avLst/>
          </a:prstGeom>
          <a:solidFill>
            <a:srgbClr val="F5F9FB"/>
          </a:solidFill>
          <a:ln w="9525">
            <a:solidFill>
              <a:srgbClr val="E3EBF0"/>
            </a:solidFill>
            <a:prstDash val="solid"/>
          </a:ln>
        </p:spPr>
      </p:sp>
      <p:sp>
        <p:nvSpPr>
          <p:cNvPr id="24" name="Text 22"/>
          <p:cNvSpPr/>
          <p:nvPr/>
        </p:nvSpPr>
        <p:spPr>
          <a:xfrm>
            <a:off x="3035808" y="2185416"/>
            <a:ext cx="24323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Boxes with class and confidence</a:t>
            </a:r>
            <a:endParaRPr lang="en-US" sz="1050" dirty="0"/>
          </a:p>
        </p:txBody>
      </p:sp>
      <p:sp>
        <p:nvSpPr>
          <p:cNvPr id="25" name="Shape 23"/>
          <p:cNvSpPr/>
          <p:nvPr/>
        </p:nvSpPr>
        <p:spPr>
          <a:xfrm>
            <a:off x="5577840" y="2185416"/>
            <a:ext cx="4023360" cy="566928"/>
          </a:xfrm>
          <a:prstGeom prst="rect">
            <a:avLst/>
          </a:prstGeom>
          <a:solidFill>
            <a:srgbClr val="F5F9FB"/>
          </a:solidFill>
          <a:ln w="9525">
            <a:solidFill>
              <a:srgbClr val="E3EBF0"/>
            </a:solidFill>
            <a:prstDash val="solid"/>
          </a:ln>
        </p:spPr>
      </p:sp>
      <p:sp>
        <p:nvSpPr>
          <p:cNvPr id="26" name="Text 24"/>
          <p:cNvSpPr/>
          <p:nvPr/>
        </p:nvSpPr>
        <p:spPr>
          <a:xfrm>
            <a:off x="5687568" y="2185416"/>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You need to know what and where</a:t>
            </a:r>
            <a:endParaRPr lang="en-US" sz="1050" dirty="0"/>
          </a:p>
        </p:txBody>
      </p:sp>
      <p:sp>
        <p:nvSpPr>
          <p:cNvPr id="27" name="Shape 25"/>
          <p:cNvSpPr/>
          <p:nvPr/>
        </p:nvSpPr>
        <p:spPr>
          <a:xfrm>
            <a:off x="9601200" y="2185416"/>
            <a:ext cx="1920240" cy="566928"/>
          </a:xfrm>
          <a:prstGeom prst="rect">
            <a:avLst/>
          </a:prstGeom>
          <a:solidFill>
            <a:srgbClr val="F5F9FB"/>
          </a:solidFill>
          <a:ln w="9525">
            <a:solidFill>
              <a:srgbClr val="E3EBF0"/>
            </a:solidFill>
            <a:prstDash val="solid"/>
          </a:ln>
        </p:spPr>
      </p:sp>
      <p:sp>
        <p:nvSpPr>
          <p:cNvPr id="28" name="Text 26"/>
          <p:cNvSpPr/>
          <p:nvPr/>
        </p:nvSpPr>
        <p:spPr>
          <a:xfrm>
            <a:off x="9710928" y="2185416"/>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Moderate</a:t>
            </a:r>
            <a:endParaRPr lang="en-US" sz="1050" dirty="0"/>
          </a:p>
        </p:txBody>
      </p:sp>
      <p:sp>
        <p:nvSpPr>
          <p:cNvPr id="29" name="Shape 27"/>
          <p:cNvSpPr/>
          <p:nvPr/>
        </p:nvSpPr>
        <p:spPr>
          <a:xfrm>
            <a:off x="640080" y="2752344"/>
            <a:ext cx="2286000" cy="566928"/>
          </a:xfrm>
          <a:prstGeom prst="rect">
            <a:avLst/>
          </a:prstGeom>
          <a:solidFill>
            <a:srgbClr val="FFFFFF"/>
          </a:solidFill>
          <a:ln w="9525">
            <a:solidFill>
              <a:srgbClr val="E3EBF0"/>
            </a:solidFill>
            <a:prstDash val="solid"/>
          </a:ln>
        </p:spPr>
      </p:sp>
      <p:sp>
        <p:nvSpPr>
          <p:cNvPr id="30" name="Text 28"/>
          <p:cNvSpPr/>
          <p:nvPr/>
        </p:nvSpPr>
        <p:spPr>
          <a:xfrm>
            <a:off x="749808" y="2752344"/>
            <a:ext cx="20665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Segmentation</a:t>
            </a:r>
            <a:endParaRPr lang="en-US" sz="1050" dirty="0"/>
          </a:p>
        </p:txBody>
      </p:sp>
      <p:sp>
        <p:nvSpPr>
          <p:cNvPr id="31" name="Shape 29"/>
          <p:cNvSpPr/>
          <p:nvPr/>
        </p:nvSpPr>
        <p:spPr>
          <a:xfrm>
            <a:off x="2926080" y="2752344"/>
            <a:ext cx="2651760" cy="566928"/>
          </a:xfrm>
          <a:prstGeom prst="rect">
            <a:avLst/>
          </a:prstGeom>
          <a:solidFill>
            <a:srgbClr val="FFFFFF"/>
          </a:solidFill>
          <a:ln w="9525">
            <a:solidFill>
              <a:srgbClr val="E3EBF0"/>
            </a:solidFill>
            <a:prstDash val="solid"/>
          </a:ln>
        </p:spPr>
      </p:sp>
      <p:sp>
        <p:nvSpPr>
          <p:cNvPr id="32" name="Text 30"/>
          <p:cNvSpPr/>
          <p:nvPr/>
        </p:nvSpPr>
        <p:spPr>
          <a:xfrm>
            <a:off x="3035808" y="2752344"/>
            <a:ext cx="24323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Per-pixel class</a:t>
            </a:r>
            <a:endParaRPr lang="en-US" sz="1050" dirty="0"/>
          </a:p>
        </p:txBody>
      </p:sp>
      <p:sp>
        <p:nvSpPr>
          <p:cNvPr id="33" name="Shape 31"/>
          <p:cNvSpPr/>
          <p:nvPr/>
        </p:nvSpPr>
        <p:spPr>
          <a:xfrm>
            <a:off x="5577840" y="2752344"/>
            <a:ext cx="4023360" cy="566928"/>
          </a:xfrm>
          <a:prstGeom prst="rect">
            <a:avLst/>
          </a:prstGeom>
          <a:solidFill>
            <a:srgbClr val="FFFFFF"/>
          </a:solidFill>
          <a:ln w="9525">
            <a:solidFill>
              <a:srgbClr val="E3EBF0"/>
            </a:solidFill>
            <a:prstDash val="solid"/>
          </a:ln>
        </p:spPr>
      </p:sp>
      <p:sp>
        <p:nvSpPr>
          <p:cNvPr id="34" name="Text 32"/>
          <p:cNvSpPr/>
          <p:nvPr/>
        </p:nvSpPr>
        <p:spPr>
          <a:xfrm>
            <a:off x="5687568" y="2752344"/>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Extent or area matters — corrosion coverage, weld length</a:t>
            </a:r>
            <a:endParaRPr lang="en-US" sz="1050" dirty="0"/>
          </a:p>
        </p:txBody>
      </p:sp>
      <p:sp>
        <p:nvSpPr>
          <p:cNvPr id="35" name="Shape 33"/>
          <p:cNvSpPr/>
          <p:nvPr/>
        </p:nvSpPr>
        <p:spPr>
          <a:xfrm>
            <a:off x="9601200" y="2752344"/>
            <a:ext cx="1920240" cy="566928"/>
          </a:xfrm>
          <a:prstGeom prst="rect">
            <a:avLst/>
          </a:prstGeom>
          <a:solidFill>
            <a:srgbClr val="FFFFFF"/>
          </a:solidFill>
          <a:ln w="9525">
            <a:solidFill>
              <a:srgbClr val="E3EBF0"/>
            </a:solidFill>
            <a:prstDash val="solid"/>
          </a:ln>
        </p:spPr>
      </p:sp>
      <p:sp>
        <p:nvSpPr>
          <p:cNvPr id="36" name="Text 34"/>
          <p:cNvSpPr/>
          <p:nvPr/>
        </p:nvSpPr>
        <p:spPr>
          <a:xfrm>
            <a:off x="9710928" y="2752344"/>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Highest</a:t>
            </a:r>
            <a:endParaRPr lang="en-US" sz="1050" dirty="0"/>
          </a:p>
        </p:txBody>
      </p:sp>
      <p:sp>
        <p:nvSpPr>
          <p:cNvPr id="37" name="Shape 35"/>
          <p:cNvSpPr/>
          <p:nvPr/>
        </p:nvSpPr>
        <p:spPr>
          <a:xfrm>
            <a:off x="640080" y="3319272"/>
            <a:ext cx="2286000" cy="566928"/>
          </a:xfrm>
          <a:prstGeom prst="rect">
            <a:avLst/>
          </a:prstGeom>
          <a:solidFill>
            <a:srgbClr val="F5F9FB"/>
          </a:solidFill>
          <a:ln w="9525">
            <a:solidFill>
              <a:srgbClr val="E3EBF0"/>
            </a:solidFill>
            <a:prstDash val="solid"/>
          </a:ln>
        </p:spPr>
      </p:sp>
      <p:sp>
        <p:nvSpPr>
          <p:cNvPr id="38" name="Text 36"/>
          <p:cNvSpPr/>
          <p:nvPr/>
        </p:nvSpPr>
        <p:spPr>
          <a:xfrm>
            <a:off x="749808" y="3319272"/>
            <a:ext cx="20665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OCR / text extraction</a:t>
            </a:r>
            <a:endParaRPr lang="en-US" sz="1050" dirty="0"/>
          </a:p>
        </p:txBody>
      </p:sp>
      <p:sp>
        <p:nvSpPr>
          <p:cNvPr id="39" name="Shape 37"/>
          <p:cNvSpPr/>
          <p:nvPr/>
        </p:nvSpPr>
        <p:spPr>
          <a:xfrm>
            <a:off x="2926080" y="3319272"/>
            <a:ext cx="2651760" cy="566928"/>
          </a:xfrm>
          <a:prstGeom prst="rect">
            <a:avLst/>
          </a:prstGeom>
          <a:solidFill>
            <a:srgbClr val="F5F9FB"/>
          </a:solidFill>
          <a:ln w="9525">
            <a:solidFill>
              <a:srgbClr val="E3EBF0"/>
            </a:solidFill>
            <a:prstDash val="solid"/>
          </a:ln>
        </p:spPr>
      </p:sp>
      <p:sp>
        <p:nvSpPr>
          <p:cNvPr id="40" name="Text 38"/>
          <p:cNvSpPr/>
          <p:nvPr/>
        </p:nvSpPr>
        <p:spPr>
          <a:xfrm>
            <a:off x="3035808" y="3319272"/>
            <a:ext cx="24323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Text from an image</a:t>
            </a:r>
            <a:endParaRPr lang="en-US" sz="1050" dirty="0"/>
          </a:p>
        </p:txBody>
      </p:sp>
      <p:sp>
        <p:nvSpPr>
          <p:cNvPr id="41" name="Shape 39"/>
          <p:cNvSpPr/>
          <p:nvPr/>
        </p:nvSpPr>
        <p:spPr>
          <a:xfrm>
            <a:off x="5577840" y="3319272"/>
            <a:ext cx="4023360" cy="566928"/>
          </a:xfrm>
          <a:prstGeom prst="rect">
            <a:avLst/>
          </a:prstGeom>
          <a:solidFill>
            <a:srgbClr val="F5F9FB"/>
          </a:solidFill>
          <a:ln w="9525">
            <a:solidFill>
              <a:srgbClr val="E3EBF0"/>
            </a:solidFill>
            <a:prstDash val="solid"/>
          </a:ln>
        </p:spPr>
      </p:sp>
      <p:sp>
        <p:nvSpPr>
          <p:cNvPr id="42" name="Text 40"/>
          <p:cNvSpPr/>
          <p:nvPr/>
        </p:nvSpPr>
        <p:spPr>
          <a:xfrm>
            <a:off x="5687568" y="3319272"/>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Serial numbers, labels, nameplates, displays</a:t>
            </a:r>
            <a:endParaRPr lang="en-US" sz="1050" dirty="0"/>
          </a:p>
        </p:txBody>
      </p:sp>
      <p:sp>
        <p:nvSpPr>
          <p:cNvPr id="43" name="Shape 41"/>
          <p:cNvSpPr/>
          <p:nvPr/>
        </p:nvSpPr>
        <p:spPr>
          <a:xfrm>
            <a:off x="9601200" y="3319272"/>
            <a:ext cx="1920240" cy="566928"/>
          </a:xfrm>
          <a:prstGeom prst="rect">
            <a:avLst/>
          </a:prstGeom>
          <a:solidFill>
            <a:srgbClr val="F5F9FB"/>
          </a:solidFill>
          <a:ln w="9525">
            <a:solidFill>
              <a:srgbClr val="E3EBF0"/>
            </a:solidFill>
            <a:prstDash val="solid"/>
          </a:ln>
        </p:spPr>
      </p:sp>
      <p:sp>
        <p:nvSpPr>
          <p:cNvPr id="44" name="Text 42"/>
          <p:cNvSpPr/>
          <p:nvPr/>
        </p:nvSpPr>
        <p:spPr>
          <a:xfrm>
            <a:off x="9710928" y="3319272"/>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Low if templates are stable</a:t>
            </a:r>
            <a:endParaRPr lang="en-US" sz="1050" dirty="0"/>
          </a:p>
        </p:txBody>
      </p:sp>
      <p:sp>
        <p:nvSpPr>
          <p:cNvPr id="45" name="Shape 43"/>
          <p:cNvSpPr/>
          <p:nvPr/>
        </p:nvSpPr>
        <p:spPr>
          <a:xfrm>
            <a:off x="640080" y="3886200"/>
            <a:ext cx="2286000" cy="566928"/>
          </a:xfrm>
          <a:prstGeom prst="rect">
            <a:avLst/>
          </a:prstGeom>
          <a:solidFill>
            <a:srgbClr val="FFFFFF"/>
          </a:solidFill>
          <a:ln w="9525">
            <a:solidFill>
              <a:srgbClr val="E3EBF0"/>
            </a:solidFill>
            <a:prstDash val="solid"/>
          </a:ln>
        </p:spPr>
      </p:sp>
      <p:sp>
        <p:nvSpPr>
          <p:cNvPr id="46" name="Text 44"/>
          <p:cNvSpPr/>
          <p:nvPr/>
        </p:nvSpPr>
        <p:spPr>
          <a:xfrm>
            <a:off x="749808" y="3886200"/>
            <a:ext cx="20665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Gauge reading</a:t>
            </a:r>
            <a:endParaRPr lang="en-US" sz="1050" dirty="0"/>
          </a:p>
        </p:txBody>
      </p:sp>
      <p:sp>
        <p:nvSpPr>
          <p:cNvPr id="47" name="Shape 45"/>
          <p:cNvSpPr/>
          <p:nvPr/>
        </p:nvSpPr>
        <p:spPr>
          <a:xfrm>
            <a:off x="2926080" y="3886200"/>
            <a:ext cx="2651760" cy="566928"/>
          </a:xfrm>
          <a:prstGeom prst="rect">
            <a:avLst/>
          </a:prstGeom>
          <a:solidFill>
            <a:srgbClr val="FFFFFF"/>
          </a:solidFill>
          <a:ln w="9525">
            <a:solidFill>
              <a:srgbClr val="E3EBF0"/>
            </a:solidFill>
            <a:prstDash val="solid"/>
          </a:ln>
        </p:spPr>
      </p:sp>
      <p:sp>
        <p:nvSpPr>
          <p:cNvPr id="48" name="Text 46"/>
          <p:cNvSpPr/>
          <p:nvPr/>
        </p:nvSpPr>
        <p:spPr>
          <a:xfrm>
            <a:off x="3035808" y="3886200"/>
            <a:ext cx="24323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 numeric value</a:t>
            </a:r>
            <a:endParaRPr lang="en-US" sz="1050" dirty="0"/>
          </a:p>
        </p:txBody>
      </p:sp>
      <p:sp>
        <p:nvSpPr>
          <p:cNvPr id="49" name="Shape 47"/>
          <p:cNvSpPr/>
          <p:nvPr/>
        </p:nvSpPr>
        <p:spPr>
          <a:xfrm>
            <a:off x="5577840" y="3886200"/>
            <a:ext cx="4023360" cy="566928"/>
          </a:xfrm>
          <a:prstGeom prst="rect">
            <a:avLst/>
          </a:prstGeom>
          <a:solidFill>
            <a:srgbClr val="FFFFFF"/>
          </a:solidFill>
          <a:ln w="9525">
            <a:solidFill>
              <a:srgbClr val="E3EBF0"/>
            </a:solidFill>
            <a:prstDash val="solid"/>
          </a:ln>
        </p:spPr>
      </p:sp>
      <p:sp>
        <p:nvSpPr>
          <p:cNvPr id="50" name="Text 48"/>
          <p:cNvSpPr/>
          <p:nvPr/>
        </p:nvSpPr>
        <p:spPr>
          <a:xfrm>
            <a:off x="5687568" y="3886200"/>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Analogue instruments without digital output</a:t>
            </a:r>
            <a:endParaRPr lang="en-US" sz="1050" dirty="0"/>
          </a:p>
        </p:txBody>
      </p:sp>
      <p:sp>
        <p:nvSpPr>
          <p:cNvPr id="51" name="Shape 49"/>
          <p:cNvSpPr/>
          <p:nvPr/>
        </p:nvSpPr>
        <p:spPr>
          <a:xfrm>
            <a:off x="9601200" y="3886200"/>
            <a:ext cx="1920240" cy="566928"/>
          </a:xfrm>
          <a:prstGeom prst="rect">
            <a:avLst/>
          </a:prstGeom>
          <a:solidFill>
            <a:srgbClr val="FFFFFF"/>
          </a:solidFill>
          <a:ln w="9525">
            <a:solidFill>
              <a:srgbClr val="E3EBF0"/>
            </a:solidFill>
            <a:prstDash val="solid"/>
          </a:ln>
        </p:spPr>
      </p:sp>
      <p:sp>
        <p:nvSpPr>
          <p:cNvPr id="52" name="Text 50"/>
          <p:cNvSpPr/>
          <p:nvPr/>
        </p:nvSpPr>
        <p:spPr>
          <a:xfrm>
            <a:off x="9710928" y="3886200"/>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Moderate</a:t>
            </a:r>
            <a:endParaRPr lang="en-US" sz="1050" dirty="0"/>
          </a:p>
        </p:txBody>
      </p:sp>
      <p:sp>
        <p:nvSpPr>
          <p:cNvPr id="53" name="Shape 51"/>
          <p:cNvSpPr/>
          <p:nvPr/>
        </p:nvSpPr>
        <p:spPr>
          <a:xfrm>
            <a:off x="640080" y="4453128"/>
            <a:ext cx="2286000" cy="566928"/>
          </a:xfrm>
          <a:prstGeom prst="rect">
            <a:avLst/>
          </a:prstGeom>
          <a:solidFill>
            <a:srgbClr val="F5F9FB"/>
          </a:solidFill>
          <a:ln w="9525">
            <a:solidFill>
              <a:srgbClr val="E3EBF0"/>
            </a:solidFill>
            <a:prstDash val="solid"/>
          </a:ln>
        </p:spPr>
      </p:sp>
      <p:sp>
        <p:nvSpPr>
          <p:cNvPr id="54" name="Text 52"/>
          <p:cNvSpPr/>
          <p:nvPr/>
        </p:nvSpPr>
        <p:spPr>
          <a:xfrm>
            <a:off x="749808" y="4453128"/>
            <a:ext cx="206654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Anomaly detection</a:t>
            </a:r>
            <a:endParaRPr lang="en-US" sz="1050" dirty="0"/>
          </a:p>
        </p:txBody>
      </p:sp>
      <p:sp>
        <p:nvSpPr>
          <p:cNvPr id="55" name="Shape 53"/>
          <p:cNvSpPr/>
          <p:nvPr/>
        </p:nvSpPr>
        <p:spPr>
          <a:xfrm>
            <a:off x="2926080" y="4453128"/>
            <a:ext cx="2651760" cy="566928"/>
          </a:xfrm>
          <a:prstGeom prst="rect">
            <a:avLst/>
          </a:prstGeom>
          <a:solidFill>
            <a:srgbClr val="F5F9FB"/>
          </a:solidFill>
          <a:ln w="9525">
            <a:solidFill>
              <a:srgbClr val="E3EBF0"/>
            </a:solidFill>
            <a:prstDash val="solid"/>
          </a:ln>
        </p:spPr>
      </p:sp>
      <p:sp>
        <p:nvSpPr>
          <p:cNvPr id="56" name="Text 54"/>
          <p:cNvSpPr/>
          <p:nvPr/>
        </p:nvSpPr>
        <p:spPr>
          <a:xfrm>
            <a:off x="3035808" y="4453128"/>
            <a:ext cx="24323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Normal or anomalous, with a score</a:t>
            </a:r>
            <a:endParaRPr lang="en-US" sz="1050" dirty="0"/>
          </a:p>
        </p:txBody>
      </p:sp>
      <p:sp>
        <p:nvSpPr>
          <p:cNvPr id="57" name="Shape 55"/>
          <p:cNvSpPr/>
          <p:nvPr/>
        </p:nvSpPr>
        <p:spPr>
          <a:xfrm>
            <a:off x="5577840" y="4453128"/>
            <a:ext cx="4023360" cy="566928"/>
          </a:xfrm>
          <a:prstGeom prst="rect">
            <a:avLst/>
          </a:prstGeom>
          <a:solidFill>
            <a:srgbClr val="F5F9FB"/>
          </a:solidFill>
          <a:ln w="9525">
            <a:solidFill>
              <a:srgbClr val="E3EBF0"/>
            </a:solidFill>
            <a:prstDash val="solid"/>
          </a:ln>
        </p:spPr>
      </p:sp>
      <p:sp>
        <p:nvSpPr>
          <p:cNvPr id="58" name="Text 56"/>
          <p:cNvSpPr/>
          <p:nvPr/>
        </p:nvSpPr>
        <p:spPr>
          <a:xfrm>
            <a:off x="5687568" y="4453128"/>
            <a:ext cx="38039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Defects are rare, varied, and cannot be enumerated</a:t>
            </a:r>
            <a:endParaRPr lang="en-US" sz="1050" dirty="0"/>
          </a:p>
        </p:txBody>
      </p:sp>
      <p:sp>
        <p:nvSpPr>
          <p:cNvPr id="59" name="Shape 57"/>
          <p:cNvSpPr/>
          <p:nvPr/>
        </p:nvSpPr>
        <p:spPr>
          <a:xfrm>
            <a:off x="9601200" y="4453128"/>
            <a:ext cx="1920240" cy="566928"/>
          </a:xfrm>
          <a:prstGeom prst="rect">
            <a:avLst/>
          </a:prstGeom>
          <a:solidFill>
            <a:srgbClr val="F5F9FB"/>
          </a:solidFill>
          <a:ln w="9525">
            <a:solidFill>
              <a:srgbClr val="E3EBF0"/>
            </a:solidFill>
            <a:prstDash val="solid"/>
          </a:ln>
        </p:spPr>
      </p:sp>
      <p:sp>
        <p:nvSpPr>
          <p:cNvPr id="60" name="Text 58"/>
          <p:cNvSpPr/>
          <p:nvPr/>
        </p:nvSpPr>
        <p:spPr>
          <a:xfrm>
            <a:off x="9710928" y="4453128"/>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Lowest — normal images only</a:t>
            </a:r>
            <a:endParaRPr lang="en-US" sz="1050" dirty="0"/>
          </a:p>
        </p:txBody>
      </p:sp>
      <p:sp>
        <p:nvSpPr>
          <p:cNvPr id="61" name="Shape 59"/>
          <p:cNvSpPr/>
          <p:nvPr/>
        </p:nvSpPr>
        <p:spPr>
          <a:xfrm>
            <a:off x="640080" y="5074920"/>
            <a:ext cx="10881360" cy="960120"/>
          </a:xfrm>
          <a:prstGeom prst="roundRect">
            <a:avLst>
              <a:gd name="adj" fmla="val 5714"/>
            </a:avLst>
          </a:prstGeom>
          <a:solidFill>
            <a:srgbClr val="EDF5EE"/>
          </a:solidFill>
          <a:ln w="12700">
            <a:solidFill>
              <a:srgbClr val="C2DCC8"/>
            </a:solidFill>
            <a:prstDash val="solid"/>
          </a:ln>
        </p:spPr>
      </p:sp>
      <p:sp>
        <p:nvSpPr>
          <p:cNvPr id="62" name="Text 60"/>
          <p:cNvSpPr/>
          <p:nvPr/>
        </p:nvSpPr>
        <p:spPr>
          <a:xfrm>
            <a:off x="914400" y="5239512"/>
            <a:ext cx="10332720" cy="320040"/>
          </a:xfrm>
          <a:prstGeom prst="rect">
            <a:avLst/>
          </a:prstGeom>
          <a:noFill/>
          <a:ln/>
        </p:spPr>
        <p:txBody>
          <a:bodyPr wrap="square" lIns="0" tIns="0" rIns="0" bIns="0" rtlCol="0" anchor="ctr"/>
          <a:lstStyle/>
          <a:p>
            <a:pPr indent="0" marL="0">
              <a:buNone/>
            </a:pPr>
            <a:r>
              <a:rPr lang="en-US" sz="1350" b="1" dirty="0">
                <a:solidFill>
                  <a:srgbClr val="1E7A3C"/>
                </a:solidFill>
                <a:latin typeface="Calibri" pitchFamily="34" charset="0"/>
                <a:ea typeface="Calibri" pitchFamily="34" charset="-122"/>
                <a:cs typeface="Calibri" pitchFamily="34" charset="-120"/>
              </a:rPr>
              <a:t>The choice that saves the most effort</a:t>
            </a:r>
            <a:endParaRPr lang="en-US" sz="1350" dirty="0"/>
          </a:p>
        </p:txBody>
      </p:sp>
      <p:sp>
        <p:nvSpPr>
          <p:cNvPr id="63" name="Text 61"/>
          <p:cNvSpPr/>
          <p:nvPr/>
        </p:nvSpPr>
        <p:spPr>
          <a:xfrm>
            <a:off x="914400" y="5577840"/>
            <a:ext cx="10332720" cy="32004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If your defects are rare and varied, anomaly detection needs only images of good parts. That is a fundamentally easier data problem than collecting and labelling enough examples of every defect type — and for many inspection tasks it is both the honest and the better answer.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1.1b</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OCR, gauge reading and the tasks that look easy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50" dirty="0">
                <a:solidFill>
                  <a:srgbClr val="5A6B7C"/>
                </a:solidFill>
                <a:latin typeface="Calibri" pitchFamily="34" charset="0"/>
                <a:ea typeface="Calibri" pitchFamily="34" charset="-122"/>
                <a:cs typeface="Calibri" pitchFamily="34" charset="-120"/>
              </a:rPr>
              <a:t>Two tasks industrial teams consistently underestimate, because they look solved and are not — on your images.</a:t>
            </a:r>
            <a:endParaRPr lang="en-US" sz="1450" dirty="0"/>
          </a:p>
        </p:txBody>
      </p:sp>
      <p:sp>
        <p:nvSpPr>
          <p:cNvPr id="6" name="Shape 4"/>
          <p:cNvSpPr/>
          <p:nvPr/>
        </p:nvSpPr>
        <p:spPr>
          <a:xfrm>
            <a:off x="640080" y="1783080"/>
            <a:ext cx="5303520" cy="2651760"/>
          </a:xfrm>
          <a:prstGeom prst="roundRect">
            <a:avLst>
              <a:gd name="adj" fmla="val 2069"/>
            </a:avLst>
          </a:prstGeom>
          <a:solidFill>
            <a:srgbClr val="EEF3F7"/>
          </a:solidFill>
          <a:ln w="12700">
            <a:solidFill>
              <a:srgbClr val="D8E4EC"/>
            </a:solidFill>
            <a:prstDash val="solid"/>
          </a:ln>
        </p:spPr>
      </p:sp>
      <p:sp>
        <p:nvSpPr>
          <p:cNvPr id="7" name="Text 5"/>
          <p:cNvSpPr/>
          <p:nvPr/>
        </p:nvSpPr>
        <p:spPr>
          <a:xfrm>
            <a:off x="841248" y="1920240"/>
            <a:ext cx="49011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OCR on industrial surfaces</a:t>
            </a:r>
            <a:endParaRPr lang="en-US" sz="1400" dirty="0"/>
          </a:p>
        </p:txBody>
      </p:sp>
      <p:sp>
        <p:nvSpPr>
          <p:cNvPr id="8" name="Text 6"/>
          <p:cNvSpPr/>
          <p:nvPr/>
        </p:nvSpPr>
        <p:spPr>
          <a:xfrm>
            <a:off x="841248" y="2286000"/>
            <a:ext cx="4901184" cy="19933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General OCR is trained on documents. Your text is stamped, etched, embossed or laser-marked on metal, at an angle, under directional lighting, sometimes worn.</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What helps: control the lighting angle, restrict the character set, validate against a known format such as a serial pattern, and reject rather than guess when confidence is low.</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A wrong serial number read confidently is worse than no read.</a:t>
            </a:r>
            <a:endParaRPr lang="en-US" sz="1150" dirty="0"/>
          </a:p>
        </p:txBody>
      </p:sp>
      <p:sp>
        <p:nvSpPr>
          <p:cNvPr id="9" name="Shape 7"/>
          <p:cNvSpPr/>
          <p:nvPr/>
        </p:nvSpPr>
        <p:spPr>
          <a:xfrm>
            <a:off x="6263640" y="1783080"/>
            <a:ext cx="5257800" cy="2651760"/>
          </a:xfrm>
          <a:prstGeom prst="roundRect">
            <a:avLst>
              <a:gd name="adj" fmla="val 2069"/>
            </a:avLst>
          </a:prstGeom>
          <a:solidFill>
            <a:srgbClr val="EEF3F7"/>
          </a:solidFill>
          <a:ln w="12700">
            <a:solidFill>
              <a:srgbClr val="D8E4EC"/>
            </a:solidFill>
            <a:prstDash val="solid"/>
          </a:ln>
        </p:spPr>
      </p:sp>
      <p:sp>
        <p:nvSpPr>
          <p:cNvPr id="10" name="Text 8"/>
          <p:cNvSpPr/>
          <p:nvPr/>
        </p:nvSpPr>
        <p:spPr>
          <a:xfrm>
            <a:off x="6464808" y="1920240"/>
            <a:ext cx="485546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Gauge and display reading</a:t>
            </a:r>
            <a:endParaRPr lang="en-US" sz="1400" dirty="0"/>
          </a:p>
        </p:txBody>
      </p:sp>
      <p:sp>
        <p:nvSpPr>
          <p:cNvPr id="11" name="Text 9"/>
          <p:cNvSpPr/>
          <p:nvPr/>
        </p:nvSpPr>
        <p:spPr>
          <a:xfrm>
            <a:off x="6464808" y="2286000"/>
            <a:ext cx="4855464" cy="199339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Analogue dials, seven-segment displays and indicator lamps on equipment with no digital output.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What helps: fix the camera so the gauge geometry is constant, calibrate the dial range once, and detect the needle rather than reading the whole image.</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common failure is parallax — a camera not perpendicular to the dial reads consistently high or low, and nothing in the model reveals it.</a:t>
            </a:r>
            <a:endParaRPr lang="en-US" sz="1150" dirty="0"/>
          </a:p>
        </p:txBody>
      </p:sp>
      <p:sp>
        <p:nvSpPr>
          <p:cNvPr id="12" name="Text 10"/>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Both tasks reward physical setup far more than model choice. Both fail silently, which makes a confidence threshold and a rejection path essential.</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Model selection — and why it matters less than you expect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640080" y="1280160"/>
            <a:ext cx="5303520" cy="2377440"/>
          </a:xfrm>
          <a:prstGeom prst="roundRect">
            <a:avLst>
              <a:gd name="adj" fmla="val 2308"/>
            </a:avLst>
          </a:prstGeom>
          <a:solidFill>
            <a:srgbClr val="EEF3F7"/>
          </a:solidFill>
          <a:ln w="12700">
            <a:solidFill>
              <a:srgbClr val="D8E4EC"/>
            </a:solidFill>
            <a:prstDash val="solid"/>
          </a:ln>
        </p:spPr>
      </p:sp>
      <p:sp>
        <p:nvSpPr>
          <p:cNvPr id="6" name="Text 4"/>
          <p:cNvSpPr/>
          <p:nvPr/>
        </p:nvSpPr>
        <p:spPr>
          <a:xfrm>
            <a:off x="841248" y="1417320"/>
            <a:ext cx="49011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What drives model choice</a:t>
            </a:r>
            <a:endParaRPr lang="en-US" sz="1400" dirty="0"/>
          </a:p>
        </p:txBody>
      </p:sp>
      <p:sp>
        <p:nvSpPr>
          <p:cNvPr id="7" name="Text 5"/>
          <p:cNvSpPr/>
          <p:nvPr/>
        </p:nvSpPr>
        <p:spPr>
          <a:xfrm>
            <a:off x="841248" y="1783080"/>
            <a:ext cx="4901184" cy="17190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Inference location and latency budget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Defect size relative to image size</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Available labelled data volume</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Explainability requirement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Licensing terms of the model and its weights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Not benchmark leaderboard position, which is measured on datasets unlike yours.</a:t>
            </a:r>
            <a:endParaRPr lang="en-US" sz="1150" dirty="0"/>
          </a:p>
        </p:txBody>
      </p:sp>
      <p:sp>
        <p:nvSpPr>
          <p:cNvPr id="8" name="Shape 6"/>
          <p:cNvSpPr/>
          <p:nvPr/>
        </p:nvSpPr>
        <p:spPr>
          <a:xfrm>
            <a:off x="6263640" y="1280160"/>
            <a:ext cx="5257800" cy="2377440"/>
          </a:xfrm>
          <a:prstGeom prst="roundRect">
            <a:avLst>
              <a:gd name="adj" fmla="val 2308"/>
            </a:avLst>
          </a:prstGeom>
          <a:solidFill>
            <a:srgbClr val="EDF5EE"/>
          </a:solidFill>
          <a:ln w="12700">
            <a:solidFill>
              <a:srgbClr val="D8E4EC"/>
            </a:solidFill>
            <a:prstDash val="solid"/>
          </a:ln>
        </p:spPr>
      </p:sp>
      <p:sp>
        <p:nvSpPr>
          <p:cNvPr id="9" name="Text 7"/>
          <p:cNvSpPr/>
          <p:nvPr/>
        </p:nvSpPr>
        <p:spPr>
          <a:xfrm>
            <a:off x="6464808" y="1417320"/>
            <a:ext cx="4855464" cy="347472"/>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What actually determines performance</a:t>
            </a:r>
            <a:endParaRPr lang="en-US" sz="1400" dirty="0"/>
          </a:p>
        </p:txBody>
      </p:sp>
      <p:sp>
        <p:nvSpPr>
          <p:cNvPr id="10" name="Text 8"/>
          <p:cNvSpPr/>
          <p:nvPr/>
        </p:nvSpPr>
        <p:spPr>
          <a:xfrm>
            <a:off x="6464808" y="1783080"/>
            <a:ext cx="4855464" cy="17190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Whether the label definition is consistent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Whether capture conditions are controlled</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Whether resolution resolves the defect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Whether the training set covers real variation</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A well-controlled capture setup with a modest model beats an excellent model on inconsistent images, reliably.</a:t>
            </a:r>
            <a:endParaRPr lang="en-US" sz="1150" dirty="0"/>
          </a:p>
        </p:txBody>
      </p:sp>
      <p:sp>
        <p:nvSpPr>
          <p:cNvPr id="11" name="Shape 9"/>
          <p:cNvSpPr/>
          <p:nvPr/>
        </p:nvSpPr>
        <p:spPr>
          <a:xfrm>
            <a:off x="640080" y="3886200"/>
            <a:ext cx="10881360" cy="1463040"/>
          </a:xfrm>
          <a:prstGeom prst="roundRect">
            <a:avLst>
              <a:gd name="adj" fmla="val 3750"/>
            </a:avLst>
          </a:prstGeom>
          <a:solidFill>
            <a:srgbClr val="FDF1E3"/>
          </a:solidFill>
          <a:ln w="12700">
            <a:solidFill>
              <a:srgbClr val="EBD3BB"/>
            </a:solidFill>
            <a:prstDash val="solid"/>
          </a:ln>
        </p:spPr>
      </p:sp>
      <p:sp>
        <p:nvSpPr>
          <p:cNvPr id="12" name="Text 10"/>
          <p:cNvSpPr/>
          <p:nvPr/>
        </p:nvSpPr>
        <p:spPr>
          <a:xfrm>
            <a:off x="914400" y="4050792"/>
            <a:ext cx="10332720" cy="320040"/>
          </a:xfrm>
          <a:prstGeom prst="rect">
            <a:avLst/>
          </a:prstGeom>
          <a:noFill/>
          <a:ln/>
        </p:spPr>
        <p:txBody>
          <a:bodyPr wrap="square" lIns="0" tIns="0" rIns="0" bIns="0" rtlCol="0" anchor="ctr"/>
          <a:lstStyle/>
          <a:p>
            <a:pPr indent="0" marL="0">
              <a:buNone/>
            </a:pPr>
            <a:r>
              <a:rPr lang="en-US" sz="1350" b="1" dirty="0">
                <a:solidFill>
                  <a:srgbClr val="C1440E"/>
                </a:solidFill>
                <a:latin typeface="Calibri" pitchFamily="34" charset="0"/>
                <a:ea typeface="Calibri" pitchFamily="34" charset="-122"/>
                <a:cs typeface="Calibri" pitchFamily="34" charset="-120"/>
              </a:rPr>
              <a:t>A licensing note worth raising early</a:t>
            </a:r>
            <a:endParaRPr lang="en-US" sz="1350" dirty="0"/>
          </a:p>
        </p:txBody>
      </p:sp>
      <p:sp>
        <p:nvSpPr>
          <p:cNvPr id="13" name="Text 11"/>
          <p:cNvSpPr/>
          <p:nvPr/>
        </p:nvSpPr>
        <p:spPr>
          <a:xfrm>
            <a:off x="914400" y="4389120"/>
            <a:ext cx="10332720" cy="82296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Several widely-used vision frameworks and pretrained weights carry copyleft licences whose terms extend to network-delivered services, which can require a commercial licence for internal enterprise deployment. Others restrict pretrained weights to non-commercial research use. Establish the licence position for every model and dataset before it enters a production pipeline — retrofitting a licence decision after the system is embedded is considerably more expensive than checking now.</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Dataset size versus dataset quality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7</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500" b="1" i="1" dirty="0">
                <a:solidFill>
                  <a:srgbClr val="1C7293"/>
                </a:solidFill>
                <a:latin typeface="Calibri" pitchFamily="34" charset="0"/>
                <a:ea typeface="Calibri" pitchFamily="34" charset="-122"/>
                <a:cs typeface="Calibri" pitchFamily="34" charset="-120"/>
              </a:rPr>
              <a:t>The most consequential slide in Module 1, and the one that connects directly to Day 1.</a:t>
            </a:r>
            <a:endParaRPr lang="en-US" sz="1500" dirty="0"/>
          </a:p>
        </p:txBody>
      </p:sp>
      <p:sp>
        <p:nvSpPr>
          <p:cNvPr id="6" name="Shape 4"/>
          <p:cNvSpPr/>
          <p:nvPr/>
        </p:nvSpPr>
        <p:spPr>
          <a:xfrm>
            <a:off x="640080" y="1737360"/>
            <a:ext cx="3474720" cy="384048"/>
          </a:xfrm>
          <a:prstGeom prst="rect">
            <a:avLst/>
          </a:prstGeom>
          <a:solidFill>
            <a:srgbClr val="21295C"/>
          </a:solidFill>
          <a:ln/>
        </p:spPr>
      </p:sp>
      <p:sp>
        <p:nvSpPr>
          <p:cNvPr id="7" name="Text 5"/>
          <p:cNvSpPr/>
          <p:nvPr/>
        </p:nvSpPr>
        <p:spPr>
          <a:xfrm>
            <a:off x="749808" y="1737360"/>
            <a:ext cx="32552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Situation</a:t>
            </a:r>
            <a:endParaRPr lang="en-US" sz="1100" dirty="0"/>
          </a:p>
        </p:txBody>
      </p:sp>
      <p:sp>
        <p:nvSpPr>
          <p:cNvPr id="8" name="Shape 6"/>
          <p:cNvSpPr/>
          <p:nvPr/>
        </p:nvSpPr>
        <p:spPr>
          <a:xfrm>
            <a:off x="4114800" y="1737360"/>
            <a:ext cx="2560320" cy="384048"/>
          </a:xfrm>
          <a:prstGeom prst="rect">
            <a:avLst/>
          </a:prstGeom>
          <a:solidFill>
            <a:srgbClr val="21295C"/>
          </a:solidFill>
          <a:ln/>
        </p:spPr>
      </p:sp>
      <p:sp>
        <p:nvSpPr>
          <p:cNvPr id="9" name="Text 7"/>
          <p:cNvSpPr/>
          <p:nvPr/>
        </p:nvSpPr>
        <p:spPr>
          <a:xfrm>
            <a:off x="4224528" y="1737360"/>
            <a:ext cx="23408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More data</a:t>
            </a:r>
            <a:endParaRPr lang="en-US" sz="1100" dirty="0"/>
          </a:p>
        </p:txBody>
      </p:sp>
      <p:sp>
        <p:nvSpPr>
          <p:cNvPr id="10" name="Shape 8"/>
          <p:cNvSpPr/>
          <p:nvPr/>
        </p:nvSpPr>
        <p:spPr>
          <a:xfrm>
            <a:off x="6675120" y="1737360"/>
            <a:ext cx="2377440" cy="384048"/>
          </a:xfrm>
          <a:prstGeom prst="rect">
            <a:avLst/>
          </a:prstGeom>
          <a:solidFill>
            <a:srgbClr val="21295C"/>
          </a:solidFill>
          <a:ln/>
        </p:spPr>
      </p:sp>
      <p:sp>
        <p:nvSpPr>
          <p:cNvPr id="11" name="Text 9"/>
          <p:cNvSpPr/>
          <p:nvPr/>
        </p:nvSpPr>
        <p:spPr>
          <a:xfrm>
            <a:off x="6784848" y="1737360"/>
            <a:ext cx="2157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Better labels</a:t>
            </a:r>
            <a:endParaRPr lang="en-US" sz="1100" dirty="0"/>
          </a:p>
        </p:txBody>
      </p:sp>
      <p:sp>
        <p:nvSpPr>
          <p:cNvPr id="12" name="Shape 10"/>
          <p:cNvSpPr/>
          <p:nvPr/>
        </p:nvSpPr>
        <p:spPr>
          <a:xfrm>
            <a:off x="9052560" y="1737360"/>
            <a:ext cx="2468880" cy="384048"/>
          </a:xfrm>
          <a:prstGeom prst="rect">
            <a:avLst/>
          </a:prstGeom>
          <a:solidFill>
            <a:srgbClr val="21295C"/>
          </a:solidFill>
          <a:ln/>
        </p:spPr>
      </p:sp>
      <p:sp>
        <p:nvSpPr>
          <p:cNvPr id="13" name="Text 11"/>
          <p:cNvSpPr/>
          <p:nvPr/>
        </p:nvSpPr>
        <p:spPr>
          <a:xfrm>
            <a:off x="9162288" y="1737360"/>
            <a:ext cx="22494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Better capture</a:t>
            </a:r>
            <a:endParaRPr lang="en-US" sz="1100" dirty="0"/>
          </a:p>
        </p:txBody>
      </p:sp>
      <p:sp>
        <p:nvSpPr>
          <p:cNvPr id="14" name="Shape 12"/>
          <p:cNvSpPr/>
          <p:nvPr/>
        </p:nvSpPr>
        <p:spPr>
          <a:xfrm>
            <a:off x="640080" y="2121408"/>
            <a:ext cx="3474720" cy="475488"/>
          </a:xfrm>
          <a:prstGeom prst="rect">
            <a:avLst/>
          </a:prstGeom>
          <a:solidFill>
            <a:srgbClr val="FFFFFF"/>
          </a:solidFill>
          <a:ln w="9525">
            <a:solidFill>
              <a:srgbClr val="E3EBF0"/>
            </a:solidFill>
            <a:prstDash val="solid"/>
          </a:ln>
        </p:spPr>
      </p:sp>
      <p:sp>
        <p:nvSpPr>
          <p:cNvPr id="15" name="Text 13"/>
          <p:cNvSpPr/>
          <p:nvPr/>
        </p:nvSpPr>
        <p:spPr>
          <a:xfrm>
            <a:off x="749808" y="2121408"/>
            <a:ext cx="3255264" cy="47548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Labels are inconsistent</a:t>
            </a:r>
            <a:endParaRPr lang="en-US" sz="1050" dirty="0"/>
          </a:p>
        </p:txBody>
      </p:sp>
      <p:sp>
        <p:nvSpPr>
          <p:cNvPr id="16" name="Shape 14"/>
          <p:cNvSpPr/>
          <p:nvPr/>
        </p:nvSpPr>
        <p:spPr>
          <a:xfrm>
            <a:off x="4114800" y="2121408"/>
            <a:ext cx="2560320" cy="475488"/>
          </a:xfrm>
          <a:prstGeom prst="rect">
            <a:avLst/>
          </a:prstGeom>
          <a:solidFill>
            <a:srgbClr val="FFFFFF"/>
          </a:solidFill>
          <a:ln w="9525">
            <a:solidFill>
              <a:srgbClr val="E3EBF0"/>
            </a:solidFill>
            <a:prstDash val="solid"/>
          </a:ln>
        </p:spPr>
      </p:sp>
      <p:sp>
        <p:nvSpPr>
          <p:cNvPr id="17" name="Text 15"/>
          <p:cNvSpPr/>
          <p:nvPr/>
        </p:nvSpPr>
        <p:spPr>
          <a:xfrm>
            <a:off x="4224528" y="2121408"/>
            <a:ext cx="234086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effect — adds more inconsistency</a:t>
            </a:r>
            <a:endParaRPr lang="en-US" sz="1050" dirty="0"/>
          </a:p>
        </p:txBody>
      </p:sp>
      <p:sp>
        <p:nvSpPr>
          <p:cNvPr id="18" name="Shape 16"/>
          <p:cNvSpPr/>
          <p:nvPr/>
        </p:nvSpPr>
        <p:spPr>
          <a:xfrm>
            <a:off x="6675120" y="2121408"/>
            <a:ext cx="2377440" cy="475488"/>
          </a:xfrm>
          <a:prstGeom prst="rect">
            <a:avLst/>
          </a:prstGeom>
          <a:solidFill>
            <a:srgbClr val="FFFFFF"/>
          </a:solidFill>
          <a:ln w="9525">
            <a:solidFill>
              <a:srgbClr val="E3EBF0"/>
            </a:solidFill>
            <a:prstDash val="solid"/>
          </a:ln>
        </p:spPr>
      </p:sp>
      <p:sp>
        <p:nvSpPr>
          <p:cNvPr id="19" name="Text 17"/>
          <p:cNvSpPr/>
          <p:nvPr/>
        </p:nvSpPr>
        <p:spPr>
          <a:xfrm>
            <a:off x="6784848" y="2121408"/>
            <a:ext cx="215798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Large effect</a:t>
            </a:r>
            <a:endParaRPr lang="en-US" sz="1050" dirty="0"/>
          </a:p>
        </p:txBody>
      </p:sp>
      <p:sp>
        <p:nvSpPr>
          <p:cNvPr id="20" name="Shape 18"/>
          <p:cNvSpPr/>
          <p:nvPr/>
        </p:nvSpPr>
        <p:spPr>
          <a:xfrm>
            <a:off x="9052560" y="2121408"/>
            <a:ext cx="2468880" cy="475488"/>
          </a:xfrm>
          <a:prstGeom prst="rect">
            <a:avLst/>
          </a:prstGeom>
          <a:solidFill>
            <a:srgbClr val="FFFFFF"/>
          </a:solidFill>
          <a:ln w="9525">
            <a:solidFill>
              <a:srgbClr val="E3EBF0"/>
            </a:solidFill>
            <a:prstDash val="solid"/>
          </a:ln>
        </p:spPr>
      </p:sp>
      <p:sp>
        <p:nvSpPr>
          <p:cNvPr id="21" name="Text 19"/>
          <p:cNvSpPr/>
          <p:nvPr/>
        </p:nvSpPr>
        <p:spPr>
          <a:xfrm>
            <a:off x="9162288" y="2121408"/>
            <a:ext cx="224942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effect</a:t>
            </a:r>
            <a:endParaRPr lang="en-US" sz="1050" dirty="0"/>
          </a:p>
        </p:txBody>
      </p:sp>
      <p:sp>
        <p:nvSpPr>
          <p:cNvPr id="22" name="Shape 20"/>
          <p:cNvSpPr/>
          <p:nvPr/>
        </p:nvSpPr>
        <p:spPr>
          <a:xfrm>
            <a:off x="640080" y="2596896"/>
            <a:ext cx="3474720" cy="475488"/>
          </a:xfrm>
          <a:prstGeom prst="rect">
            <a:avLst/>
          </a:prstGeom>
          <a:solidFill>
            <a:srgbClr val="F5F9FB"/>
          </a:solidFill>
          <a:ln w="9525">
            <a:solidFill>
              <a:srgbClr val="E3EBF0"/>
            </a:solidFill>
            <a:prstDash val="solid"/>
          </a:ln>
        </p:spPr>
      </p:sp>
      <p:sp>
        <p:nvSpPr>
          <p:cNvPr id="23" name="Text 21"/>
          <p:cNvSpPr/>
          <p:nvPr/>
        </p:nvSpPr>
        <p:spPr>
          <a:xfrm>
            <a:off x="749808" y="2596896"/>
            <a:ext cx="3255264" cy="47548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Defect is smaller than the model can resolve</a:t>
            </a:r>
            <a:endParaRPr lang="en-US" sz="1050" dirty="0"/>
          </a:p>
        </p:txBody>
      </p:sp>
      <p:sp>
        <p:nvSpPr>
          <p:cNvPr id="24" name="Shape 22"/>
          <p:cNvSpPr/>
          <p:nvPr/>
        </p:nvSpPr>
        <p:spPr>
          <a:xfrm>
            <a:off x="4114800" y="2596896"/>
            <a:ext cx="2560320" cy="475488"/>
          </a:xfrm>
          <a:prstGeom prst="rect">
            <a:avLst/>
          </a:prstGeom>
          <a:solidFill>
            <a:srgbClr val="F5F9FB"/>
          </a:solidFill>
          <a:ln w="9525">
            <a:solidFill>
              <a:srgbClr val="E3EBF0"/>
            </a:solidFill>
            <a:prstDash val="solid"/>
          </a:ln>
        </p:spPr>
      </p:sp>
      <p:sp>
        <p:nvSpPr>
          <p:cNvPr id="25" name="Text 23"/>
          <p:cNvSpPr/>
          <p:nvPr/>
        </p:nvSpPr>
        <p:spPr>
          <a:xfrm>
            <a:off x="4224528" y="2596896"/>
            <a:ext cx="234086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effect</a:t>
            </a:r>
            <a:endParaRPr lang="en-US" sz="1050" dirty="0"/>
          </a:p>
        </p:txBody>
      </p:sp>
      <p:sp>
        <p:nvSpPr>
          <p:cNvPr id="26" name="Shape 24"/>
          <p:cNvSpPr/>
          <p:nvPr/>
        </p:nvSpPr>
        <p:spPr>
          <a:xfrm>
            <a:off x="6675120" y="2596896"/>
            <a:ext cx="2377440" cy="475488"/>
          </a:xfrm>
          <a:prstGeom prst="rect">
            <a:avLst/>
          </a:prstGeom>
          <a:solidFill>
            <a:srgbClr val="F5F9FB"/>
          </a:solidFill>
          <a:ln w="9525">
            <a:solidFill>
              <a:srgbClr val="E3EBF0"/>
            </a:solidFill>
            <a:prstDash val="solid"/>
          </a:ln>
        </p:spPr>
      </p:sp>
      <p:sp>
        <p:nvSpPr>
          <p:cNvPr id="27" name="Text 25"/>
          <p:cNvSpPr/>
          <p:nvPr/>
        </p:nvSpPr>
        <p:spPr>
          <a:xfrm>
            <a:off x="6784848" y="2596896"/>
            <a:ext cx="215798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effect</a:t>
            </a:r>
            <a:endParaRPr lang="en-US" sz="1050" dirty="0"/>
          </a:p>
        </p:txBody>
      </p:sp>
      <p:sp>
        <p:nvSpPr>
          <p:cNvPr id="28" name="Shape 26"/>
          <p:cNvSpPr/>
          <p:nvPr/>
        </p:nvSpPr>
        <p:spPr>
          <a:xfrm>
            <a:off x="9052560" y="2596896"/>
            <a:ext cx="2468880" cy="475488"/>
          </a:xfrm>
          <a:prstGeom prst="rect">
            <a:avLst/>
          </a:prstGeom>
          <a:solidFill>
            <a:srgbClr val="F5F9FB"/>
          </a:solidFill>
          <a:ln w="9525">
            <a:solidFill>
              <a:srgbClr val="E3EBF0"/>
            </a:solidFill>
            <a:prstDash val="solid"/>
          </a:ln>
        </p:spPr>
      </p:sp>
      <p:sp>
        <p:nvSpPr>
          <p:cNvPr id="29" name="Text 27"/>
          <p:cNvSpPr/>
          <p:nvPr/>
        </p:nvSpPr>
        <p:spPr>
          <a:xfrm>
            <a:off x="9162288" y="2596896"/>
            <a:ext cx="224942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Large effect</a:t>
            </a:r>
            <a:endParaRPr lang="en-US" sz="1050" dirty="0"/>
          </a:p>
        </p:txBody>
      </p:sp>
      <p:sp>
        <p:nvSpPr>
          <p:cNvPr id="30" name="Shape 28"/>
          <p:cNvSpPr/>
          <p:nvPr/>
        </p:nvSpPr>
        <p:spPr>
          <a:xfrm>
            <a:off x="640080" y="3072384"/>
            <a:ext cx="3474720" cy="475488"/>
          </a:xfrm>
          <a:prstGeom prst="rect">
            <a:avLst/>
          </a:prstGeom>
          <a:solidFill>
            <a:srgbClr val="FFFFFF"/>
          </a:solidFill>
          <a:ln w="9525">
            <a:solidFill>
              <a:srgbClr val="E3EBF0"/>
            </a:solidFill>
            <a:prstDash val="solid"/>
          </a:ln>
        </p:spPr>
      </p:sp>
      <p:sp>
        <p:nvSpPr>
          <p:cNvPr id="31" name="Text 29"/>
          <p:cNvSpPr/>
          <p:nvPr/>
        </p:nvSpPr>
        <p:spPr>
          <a:xfrm>
            <a:off x="749808" y="3072384"/>
            <a:ext cx="3255264" cy="47548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A defect class has 12 examples</a:t>
            </a:r>
            <a:endParaRPr lang="en-US" sz="1050" dirty="0"/>
          </a:p>
        </p:txBody>
      </p:sp>
      <p:sp>
        <p:nvSpPr>
          <p:cNvPr id="32" name="Shape 30"/>
          <p:cNvSpPr/>
          <p:nvPr/>
        </p:nvSpPr>
        <p:spPr>
          <a:xfrm>
            <a:off x="4114800" y="3072384"/>
            <a:ext cx="2560320" cy="475488"/>
          </a:xfrm>
          <a:prstGeom prst="rect">
            <a:avLst/>
          </a:prstGeom>
          <a:solidFill>
            <a:srgbClr val="FFFFFF"/>
          </a:solidFill>
          <a:ln w="9525">
            <a:solidFill>
              <a:srgbClr val="E3EBF0"/>
            </a:solidFill>
            <a:prstDash val="solid"/>
          </a:ln>
        </p:spPr>
      </p:sp>
      <p:sp>
        <p:nvSpPr>
          <p:cNvPr id="33" name="Text 31"/>
          <p:cNvSpPr/>
          <p:nvPr/>
        </p:nvSpPr>
        <p:spPr>
          <a:xfrm>
            <a:off x="4224528" y="3072384"/>
            <a:ext cx="234086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Large effect — targeted collection</a:t>
            </a:r>
            <a:endParaRPr lang="en-US" sz="1050" dirty="0"/>
          </a:p>
        </p:txBody>
      </p:sp>
      <p:sp>
        <p:nvSpPr>
          <p:cNvPr id="34" name="Shape 32"/>
          <p:cNvSpPr/>
          <p:nvPr/>
        </p:nvSpPr>
        <p:spPr>
          <a:xfrm>
            <a:off x="6675120" y="3072384"/>
            <a:ext cx="2377440" cy="475488"/>
          </a:xfrm>
          <a:prstGeom prst="rect">
            <a:avLst/>
          </a:prstGeom>
          <a:solidFill>
            <a:srgbClr val="FFFFFF"/>
          </a:solidFill>
          <a:ln w="9525">
            <a:solidFill>
              <a:srgbClr val="E3EBF0"/>
            </a:solidFill>
            <a:prstDash val="solid"/>
          </a:ln>
        </p:spPr>
      </p:sp>
      <p:sp>
        <p:nvSpPr>
          <p:cNvPr id="35" name="Text 33"/>
          <p:cNvSpPr/>
          <p:nvPr/>
        </p:nvSpPr>
        <p:spPr>
          <a:xfrm>
            <a:off x="6784848" y="3072384"/>
            <a:ext cx="215798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Moderate</a:t>
            </a:r>
            <a:endParaRPr lang="en-US" sz="1050" dirty="0"/>
          </a:p>
        </p:txBody>
      </p:sp>
      <p:sp>
        <p:nvSpPr>
          <p:cNvPr id="36" name="Shape 34"/>
          <p:cNvSpPr/>
          <p:nvPr/>
        </p:nvSpPr>
        <p:spPr>
          <a:xfrm>
            <a:off x="9052560" y="3072384"/>
            <a:ext cx="2468880" cy="475488"/>
          </a:xfrm>
          <a:prstGeom prst="rect">
            <a:avLst/>
          </a:prstGeom>
          <a:solidFill>
            <a:srgbClr val="FFFFFF"/>
          </a:solidFill>
          <a:ln w="9525">
            <a:solidFill>
              <a:srgbClr val="E3EBF0"/>
            </a:solidFill>
            <a:prstDash val="solid"/>
          </a:ln>
        </p:spPr>
      </p:sp>
      <p:sp>
        <p:nvSpPr>
          <p:cNvPr id="37" name="Text 35"/>
          <p:cNvSpPr/>
          <p:nvPr/>
        </p:nvSpPr>
        <p:spPr>
          <a:xfrm>
            <a:off x="9162288" y="3072384"/>
            <a:ext cx="224942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effect</a:t>
            </a:r>
            <a:endParaRPr lang="en-US" sz="1050" dirty="0"/>
          </a:p>
        </p:txBody>
      </p:sp>
      <p:sp>
        <p:nvSpPr>
          <p:cNvPr id="38" name="Shape 36"/>
          <p:cNvSpPr/>
          <p:nvPr/>
        </p:nvSpPr>
        <p:spPr>
          <a:xfrm>
            <a:off x="640080" y="3547872"/>
            <a:ext cx="3474720" cy="475488"/>
          </a:xfrm>
          <a:prstGeom prst="rect">
            <a:avLst/>
          </a:prstGeom>
          <a:solidFill>
            <a:srgbClr val="F5F9FB"/>
          </a:solidFill>
          <a:ln w="9525">
            <a:solidFill>
              <a:srgbClr val="E3EBF0"/>
            </a:solidFill>
            <a:prstDash val="solid"/>
          </a:ln>
        </p:spPr>
      </p:sp>
      <p:sp>
        <p:nvSpPr>
          <p:cNvPr id="39" name="Text 37"/>
          <p:cNvSpPr/>
          <p:nvPr/>
        </p:nvSpPr>
        <p:spPr>
          <a:xfrm>
            <a:off x="749808" y="3547872"/>
            <a:ext cx="3255264" cy="47548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Lighting varies uncontrolled between shifts</a:t>
            </a:r>
            <a:endParaRPr lang="en-US" sz="1050" dirty="0"/>
          </a:p>
        </p:txBody>
      </p:sp>
      <p:sp>
        <p:nvSpPr>
          <p:cNvPr id="40" name="Shape 38"/>
          <p:cNvSpPr/>
          <p:nvPr/>
        </p:nvSpPr>
        <p:spPr>
          <a:xfrm>
            <a:off x="4114800" y="3547872"/>
            <a:ext cx="2560320" cy="475488"/>
          </a:xfrm>
          <a:prstGeom prst="rect">
            <a:avLst/>
          </a:prstGeom>
          <a:solidFill>
            <a:srgbClr val="F5F9FB"/>
          </a:solidFill>
          <a:ln w="9525">
            <a:solidFill>
              <a:srgbClr val="E3EBF0"/>
            </a:solidFill>
            <a:prstDash val="solid"/>
          </a:ln>
        </p:spPr>
      </p:sp>
      <p:sp>
        <p:nvSpPr>
          <p:cNvPr id="41" name="Text 39"/>
          <p:cNvSpPr/>
          <p:nvPr/>
        </p:nvSpPr>
        <p:spPr>
          <a:xfrm>
            <a:off x="4224528" y="3547872"/>
            <a:ext cx="234086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Small — needs the variation covered</a:t>
            </a:r>
            <a:endParaRPr lang="en-US" sz="1050" dirty="0"/>
          </a:p>
        </p:txBody>
      </p:sp>
      <p:sp>
        <p:nvSpPr>
          <p:cNvPr id="42" name="Shape 40"/>
          <p:cNvSpPr/>
          <p:nvPr/>
        </p:nvSpPr>
        <p:spPr>
          <a:xfrm>
            <a:off x="6675120" y="3547872"/>
            <a:ext cx="2377440" cy="475488"/>
          </a:xfrm>
          <a:prstGeom prst="rect">
            <a:avLst/>
          </a:prstGeom>
          <a:solidFill>
            <a:srgbClr val="F5F9FB"/>
          </a:solidFill>
          <a:ln w="9525">
            <a:solidFill>
              <a:srgbClr val="E3EBF0"/>
            </a:solidFill>
            <a:prstDash val="solid"/>
          </a:ln>
        </p:spPr>
      </p:sp>
      <p:sp>
        <p:nvSpPr>
          <p:cNvPr id="43" name="Text 41"/>
          <p:cNvSpPr/>
          <p:nvPr/>
        </p:nvSpPr>
        <p:spPr>
          <a:xfrm>
            <a:off x="6784848" y="3547872"/>
            <a:ext cx="215798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effect</a:t>
            </a:r>
            <a:endParaRPr lang="en-US" sz="1050" dirty="0"/>
          </a:p>
        </p:txBody>
      </p:sp>
      <p:sp>
        <p:nvSpPr>
          <p:cNvPr id="44" name="Shape 42"/>
          <p:cNvSpPr/>
          <p:nvPr/>
        </p:nvSpPr>
        <p:spPr>
          <a:xfrm>
            <a:off x="9052560" y="3547872"/>
            <a:ext cx="2468880" cy="475488"/>
          </a:xfrm>
          <a:prstGeom prst="rect">
            <a:avLst/>
          </a:prstGeom>
          <a:solidFill>
            <a:srgbClr val="F5F9FB"/>
          </a:solidFill>
          <a:ln w="9525">
            <a:solidFill>
              <a:srgbClr val="E3EBF0"/>
            </a:solidFill>
            <a:prstDash val="solid"/>
          </a:ln>
        </p:spPr>
      </p:sp>
      <p:sp>
        <p:nvSpPr>
          <p:cNvPr id="45" name="Text 43"/>
          <p:cNvSpPr/>
          <p:nvPr/>
        </p:nvSpPr>
        <p:spPr>
          <a:xfrm>
            <a:off x="9162288" y="3547872"/>
            <a:ext cx="224942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Large effect</a:t>
            </a:r>
            <a:endParaRPr lang="en-US" sz="1050" dirty="0"/>
          </a:p>
        </p:txBody>
      </p:sp>
      <p:sp>
        <p:nvSpPr>
          <p:cNvPr id="46" name="Shape 44"/>
          <p:cNvSpPr/>
          <p:nvPr/>
        </p:nvSpPr>
        <p:spPr>
          <a:xfrm>
            <a:off x="640080" y="4023360"/>
            <a:ext cx="3474720" cy="475488"/>
          </a:xfrm>
          <a:prstGeom prst="rect">
            <a:avLst/>
          </a:prstGeom>
          <a:solidFill>
            <a:srgbClr val="FFFFFF"/>
          </a:solidFill>
          <a:ln w="9525">
            <a:solidFill>
              <a:srgbClr val="E3EBF0"/>
            </a:solidFill>
            <a:prstDash val="solid"/>
          </a:ln>
        </p:spPr>
      </p:sp>
      <p:sp>
        <p:nvSpPr>
          <p:cNvPr id="47" name="Text 45"/>
          <p:cNvSpPr/>
          <p:nvPr/>
        </p:nvSpPr>
        <p:spPr>
          <a:xfrm>
            <a:off x="749808" y="4023360"/>
            <a:ext cx="3255264" cy="47548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Model overfits a small clean set</a:t>
            </a:r>
            <a:endParaRPr lang="en-US" sz="1050" dirty="0"/>
          </a:p>
        </p:txBody>
      </p:sp>
      <p:sp>
        <p:nvSpPr>
          <p:cNvPr id="48" name="Shape 46"/>
          <p:cNvSpPr/>
          <p:nvPr/>
        </p:nvSpPr>
        <p:spPr>
          <a:xfrm>
            <a:off x="4114800" y="4023360"/>
            <a:ext cx="2560320" cy="475488"/>
          </a:xfrm>
          <a:prstGeom prst="rect">
            <a:avLst/>
          </a:prstGeom>
          <a:solidFill>
            <a:srgbClr val="FFFFFF"/>
          </a:solidFill>
          <a:ln w="9525">
            <a:solidFill>
              <a:srgbClr val="E3EBF0"/>
            </a:solidFill>
            <a:prstDash val="solid"/>
          </a:ln>
        </p:spPr>
      </p:sp>
      <p:sp>
        <p:nvSpPr>
          <p:cNvPr id="49" name="Text 47"/>
          <p:cNvSpPr/>
          <p:nvPr/>
        </p:nvSpPr>
        <p:spPr>
          <a:xfrm>
            <a:off x="4224528" y="4023360"/>
            <a:ext cx="234086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Moderate</a:t>
            </a:r>
            <a:endParaRPr lang="en-US" sz="1050" dirty="0"/>
          </a:p>
        </p:txBody>
      </p:sp>
      <p:sp>
        <p:nvSpPr>
          <p:cNvPr id="50" name="Shape 48"/>
          <p:cNvSpPr/>
          <p:nvPr/>
        </p:nvSpPr>
        <p:spPr>
          <a:xfrm>
            <a:off x="6675120" y="4023360"/>
            <a:ext cx="2377440" cy="475488"/>
          </a:xfrm>
          <a:prstGeom prst="rect">
            <a:avLst/>
          </a:prstGeom>
          <a:solidFill>
            <a:srgbClr val="FFFFFF"/>
          </a:solidFill>
          <a:ln w="9525">
            <a:solidFill>
              <a:srgbClr val="E3EBF0"/>
            </a:solidFill>
            <a:prstDash val="solid"/>
          </a:ln>
        </p:spPr>
      </p:sp>
      <p:sp>
        <p:nvSpPr>
          <p:cNvPr id="51" name="Text 49"/>
          <p:cNvSpPr/>
          <p:nvPr/>
        </p:nvSpPr>
        <p:spPr>
          <a:xfrm>
            <a:off x="6784848" y="4023360"/>
            <a:ext cx="215798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Small</a:t>
            </a:r>
            <a:endParaRPr lang="en-US" sz="1050" dirty="0"/>
          </a:p>
        </p:txBody>
      </p:sp>
      <p:sp>
        <p:nvSpPr>
          <p:cNvPr id="52" name="Shape 50"/>
          <p:cNvSpPr/>
          <p:nvPr/>
        </p:nvSpPr>
        <p:spPr>
          <a:xfrm>
            <a:off x="9052560" y="4023360"/>
            <a:ext cx="2468880" cy="475488"/>
          </a:xfrm>
          <a:prstGeom prst="rect">
            <a:avLst/>
          </a:prstGeom>
          <a:solidFill>
            <a:srgbClr val="FFFFFF"/>
          </a:solidFill>
          <a:ln w="9525">
            <a:solidFill>
              <a:srgbClr val="E3EBF0"/>
            </a:solidFill>
            <a:prstDash val="solid"/>
          </a:ln>
        </p:spPr>
      </p:sp>
      <p:sp>
        <p:nvSpPr>
          <p:cNvPr id="53" name="Text 51"/>
          <p:cNvSpPr/>
          <p:nvPr/>
        </p:nvSpPr>
        <p:spPr>
          <a:xfrm>
            <a:off x="9162288" y="4023360"/>
            <a:ext cx="224942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Small</a:t>
            </a:r>
            <a:endParaRPr lang="en-US" sz="1050" dirty="0"/>
          </a:p>
        </p:txBody>
      </p:sp>
      <p:sp>
        <p:nvSpPr>
          <p:cNvPr id="54" name="Shape 52"/>
          <p:cNvSpPr/>
          <p:nvPr/>
        </p:nvSpPr>
        <p:spPr>
          <a:xfrm>
            <a:off x="640080" y="4498848"/>
            <a:ext cx="3474720" cy="475488"/>
          </a:xfrm>
          <a:prstGeom prst="rect">
            <a:avLst/>
          </a:prstGeom>
          <a:solidFill>
            <a:srgbClr val="F5F9FB"/>
          </a:solidFill>
          <a:ln w="9525">
            <a:solidFill>
              <a:srgbClr val="E3EBF0"/>
            </a:solidFill>
            <a:prstDash val="solid"/>
          </a:ln>
        </p:spPr>
      </p:sp>
      <p:sp>
        <p:nvSpPr>
          <p:cNvPr id="55" name="Text 53"/>
          <p:cNvSpPr/>
          <p:nvPr/>
        </p:nvSpPr>
        <p:spPr>
          <a:xfrm>
            <a:off x="749808" y="4498848"/>
            <a:ext cx="3255264" cy="47548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Two inspectors disagree on borderline parts</a:t>
            </a:r>
            <a:endParaRPr lang="en-US" sz="1050" dirty="0"/>
          </a:p>
        </p:txBody>
      </p:sp>
      <p:sp>
        <p:nvSpPr>
          <p:cNvPr id="56" name="Shape 54"/>
          <p:cNvSpPr/>
          <p:nvPr/>
        </p:nvSpPr>
        <p:spPr>
          <a:xfrm>
            <a:off x="4114800" y="4498848"/>
            <a:ext cx="2560320" cy="475488"/>
          </a:xfrm>
          <a:prstGeom prst="rect">
            <a:avLst/>
          </a:prstGeom>
          <a:solidFill>
            <a:srgbClr val="F5F9FB"/>
          </a:solidFill>
          <a:ln w="9525">
            <a:solidFill>
              <a:srgbClr val="E3EBF0"/>
            </a:solidFill>
            <a:prstDash val="solid"/>
          </a:ln>
        </p:spPr>
      </p:sp>
      <p:sp>
        <p:nvSpPr>
          <p:cNvPr id="57" name="Text 55"/>
          <p:cNvSpPr/>
          <p:nvPr/>
        </p:nvSpPr>
        <p:spPr>
          <a:xfrm>
            <a:off x="4224528" y="4498848"/>
            <a:ext cx="234086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effect</a:t>
            </a:r>
            <a:endParaRPr lang="en-US" sz="1050" dirty="0"/>
          </a:p>
        </p:txBody>
      </p:sp>
      <p:sp>
        <p:nvSpPr>
          <p:cNvPr id="58" name="Shape 56"/>
          <p:cNvSpPr/>
          <p:nvPr/>
        </p:nvSpPr>
        <p:spPr>
          <a:xfrm>
            <a:off x="6675120" y="4498848"/>
            <a:ext cx="2377440" cy="475488"/>
          </a:xfrm>
          <a:prstGeom prst="rect">
            <a:avLst/>
          </a:prstGeom>
          <a:solidFill>
            <a:srgbClr val="F5F9FB"/>
          </a:solidFill>
          <a:ln w="9525">
            <a:solidFill>
              <a:srgbClr val="E3EBF0"/>
            </a:solidFill>
            <a:prstDash val="solid"/>
          </a:ln>
        </p:spPr>
      </p:sp>
      <p:sp>
        <p:nvSpPr>
          <p:cNvPr id="59" name="Text 57"/>
          <p:cNvSpPr/>
          <p:nvPr/>
        </p:nvSpPr>
        <p:spPr>
          <a:xfrm>
            <a:off x="6784848" y="4498848"/>
            <a:ext cx="215798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Large effect — write the rule down</a:t>
            </a:r>
            <a:endParaRPr lang="en-US" sz="1050" dirty="0"/>
          </a:p>
        </p:txBody>
      </p:sp>
      <p:sp>
        <p:nvSpPr>
          <p:cNvPr id="60" name="Shape 58"/>
          <p:cNvSpPr/>
          <p:nvPr/>
        </p:nvSpPr>
        <p:spPr>
          <a:xfrm>
            <a:off x="9052560" y="4498848"/>
            <a:ext cx="2468880" cy="475488"/>
          </a:xfrm>
          <a:prstGeom prst="rect">
            <a:avLst/>
          </a:prstGeom>
          <a:solidFill>
            <a:srgbClr val="F5F9FB"/>
          </a:solidFill>
          <a:ln w="9525">
            <a:solidFill>
              <a:srgbClr val="E3EBF0"/>
            </a:solidFill>
            <a:prstDash val="solid"/>
          </a:ln>
        </p:spPr>
      </p:sp>
      <p:sp>
        <p:nvSpPr>
          <p:cNvPr id="61" name="Text 59"/>
          <p:cNvSpPr/>
          <p:nvPr/>
        </p:nvSpPr>
        <p:spPr>
          <a:xfrm>
            <a:off x="9162288" y="4498848"/>
            <a:ext cx="2249424" cy="47548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effect</a:t>
            </a:r>
            <a:endParaRPr lang="en-US" sz="1050" dirty="0"/>
          </a:p>
        </p:txBody>
      </p:sp>
      <p:sp>
        <p:nvSpPr>
          <p:cNvPr id="62" name="Shape 60"/>
          <p:cNvSpPr/>
          <p:nvPr/>
        </p:nvSpPr>
        <p:spPr>
          <a:xfrm>
            <a:off x="640080" y="5074920"/>
            <a:ext cx="10881360" cy="914400"/>
          </a:xfrm>
          <a:prstGeom prst="roundRect">
            <a:avLst>
              <a:gd name="adj" fmla="val 6000"/>
            </a:avLst>
          </a:prstGeom>
          <a:solidFill>
            <a:srgbClr val="E4EEF4"/>
          </a:solidFill>
          <a:ln w="12700">
            <a:solidFill>
              <a:srgbClr val="C9DCE7"/>
            </a:solidFill>
            <a:prstDash val="solid"/>
          </a:ln>
        </p:spPr>
      </p:sp>
      <p:sp>
        <p:nvSpPr>
          <p:cNvPr id="63" name="Text 61"/>
          <p:cNvSpPr/>
          <p:nvPr/>
        </p:nvSpPr>
        <p:spPr>
          <a:xfrm>
            <a:off x="914400" y="5239512"/>
            <a:ext cx="10332720" cy="612648"/>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Four of the six rows are not solved by more data. Diagnose which row you are in before funding a collection programme — this is Day 1's error analysis applied to vision.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Labelling guidelines — where the ceiling is set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8</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50" dirty="0">
                <a:solidFill>
                  <a:srgbClr val="5A6B7C"/>
                </a:solidFill>
                <a:latin typeface="Calibri" pitchFamily="34" charset="0"/>
                <a:ea typeface="Calibri" pitchFamily="34" charset="-122"/>
                <a:cs typeface="Calibri" pitchFamily="34" charset="-120"/>
              </a:rPr>
              <a:t>Your model's realistic ceiling is roughly the level at which your inspectors agree with each other. Establish that number before setting a target.</a:t>
            </a:r>
            <a:endParaRPr lang="en-US" sz="1450" dirty="0"/>
          </a:p>
        </p:txBody>
      </p:sp>
      <p:sp>
        <p:nvSpPr>
          <p:cNvPr id="6" name="Shape 4"/>
          <p:cNvSpPr/>
          <p:nvPr/>
        </p:nvSpPr>
        <p:spPr>
          <a:xfrm>
            <a:off x="640080" y="1911096"/>
            <a:ext cx="365760" cy="365760"/>
          </a:xfrm>
          <a:prstGeom prst="ellipse">
            <a:avLst/>
          </a:prstGeom>
          <a:solidFill>
            <a:srgbClr val="065A82"/>
          </a:solidFill>
          <a:ln/>
        </p:spPr>
      </p:sp>
      <p:sp>
        <p:nvSpPr>
          <p:cNvPr id="7" name="Text 5"/>
          <p:cNvSpPr/>
          <p:nvPr/>
        </p:nvSpPr>
        <p:spPr>
          <a:xfrm>
            <a:off x="640080"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737360"/>
            <a:ext cx="356616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Measure agreement first</a:t>
            </a:r>
            <a:endParaRPr lang="en-US" sz="1300" dirty="0"/>
          </a:p>
        </p:txBody>
      </p:sp>
      <p:sp>
        <p:nvSpPr>
          <p:cNvPr id="9" name="Text 7"/>
          <p:cNvSpPr/>
          <p:nvPr/>
        </p:nvSpPr>
        <p:spPr>
          <a:xfrm>
            <a:off x="5074920" y="1737360"/>
            <a:ext cx="644652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Two experienced inspectors label the same 100 images independently. Report raw agreement and Cohen's kappa. This is your ceiling.</a:t>
            </a:r>
            <a:endParaRPr lang="en-US" sz="1150" dirty="0"/>
          </a:p>
        </p:txBody>
      </p:sp>
      <p:sp>
        <p:nvSpPr>
          <p:cNvPr id="10" name="Shape 8"/>
          <p:cNvSpPr/>
          <p:nvPr/>
        </p:nvSpPr>
        <p:spPr>
          <a:xfrm>
            <a:off x="640080" y="2624328"/>
            <a:ext cx="365760" cy="365760"/>
          </a:xfrm>
          <a:prstGeom prst="ellipse">
            <a:avLst/>
          </a:prstGeom>
          <a:solidFill>
            <a:srgbClr val="065A82"/>
          </a:solidFill>
          <a:ln/>
        </p:spPr>
      </p:sp>
      <p:sp>
        <p:nvSpPr>
          <p:cNvPr id="11" name="Text 9"/>
          <p:cNvSpPr/>
          <p:nvPr/>
        </p:nvSpPr>
        <p:spPr>
          <a:xfrm>
            <a:off x="640080" y="2624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450592"/>
            <a:ext cx="356616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Write the definition down</a:t>
            </a:r>
            <a:endParaRPr lang="en-US" sz="1300" dirty="0"/>
          </a:p>
        </p:txBody>
      </p:sp>
      <p:sp>
        <p:nvSpPr>
          <p:cNvPr id="13" name="Text 11"/>
          <p:cNvSpPr/>
          <p:nvPr/>
        </p:nvSpPr>
        <p:spPr>
          <a:xfrm>
            <a:off x="5074920" y="2450592"/>
            <a:ext cx="644652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For each class: what qualifies, what does not, and what to do at the boundary. Words alone are insufficient.</a:t>
            </a:r>
            <a:endParaRPr lang="en-US" sz="1150" dirty="0"/>
          </a:p>
        </p:txBody>
      </p:sp>
      <p:sp>
        <p:nvSpPr>
          <p:cNvPr id="14" name="Shape 12"/>
          <p:cNvSpPr/>
          <p:nvPr/>
        </p:nvSpPr>
        <p:spPr>
          <a:xfrm>
            <a:off x="640080" y="3337560"/>
            <a:ext cx="365760" cy="365760"/>
          </a:xfrm>
          <a:prstGeom prst="ellipse">
            <a:avLst/>
          </a:prstGeom>
          <a:solidFill>
            <a:srgbClr val="065A82"/>
          </a:solidFill>
          <a:ln/>
        </p:spPr>
      </p:sp>
      <p:sp>
        <p:nvSpPr>
          <p:cNvPr id="15" name="Text 13"/>
          <p:cNvSpPr/>
          <p:nvPr/>
        </p:nvSpPr>
        <p:spPr>
          <a:xfrm>
            <a:off x="640080" y="3337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163824"/>
            <a:ext cx="356616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Include visual examples of every borderline case</a:t>
            </a:r>
            <a:endParaRPr lang="en-US" sz="1300" dirty="0"/>
          </a:p>
        </p:txBody>
      </p:sp>
      <p:sp>
        <p:nvSpPr>
          <p:cNvPr id="17" name="Text 15"/>
          <p:cNvSpPr/>
          <p:nvPr/>
        </p:nvSpPr>
        <p:spPr>
          <a:xfrm>
            <a:off x="5074920" y="3163824"/>
            <a:ext cx="644652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This is what actually resolves disagreement. A picture of the smallest mark that counts as a defect is worth pages of definition.</a:t>
            </a:r>
            <a:endParaRPr lang="en-US" sz="1150" dirty="0"/>
          </a:p>
        </p:txBody>
      </p:sp>
      <p:sp>
        <p:nvSpPr>
          <p:cNvPr id="18" name="Shape 16"/>
          <p:cNvSpPr/>
          <p:nvPr/>
        </p:nvSpPr>
        <p:spPr>
          <a:xfrm>
            <a:off x="640080" y="4050792"/>
            <a:ext cx="365760" cy="365760"/>
          </a:xfrm>
          <a:prstGeom prst="ellipse">
            <a:avLst/>
          </a:prstGeom>
          <a:solidFill>
            <a:srgbClr val="065A82"/>
          </a:solidFill>
          <a:ln/>
        </p:spPr>
      </p:sp>
      <p:sp>
        <p:nvSpPr>
          <p:cNvPr id="19" name="Text 17"/>
          <p:cNvSpPr/>
          <p:nvPr/>
        </p:nvSpPr>
        <p:spPr>
          <a:xfrm>
            <a:off x="640080" y="40507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77056"/>
            <a:ext cx="356616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Define the ambiguous category explicitly</a:t>
            </a:r>
            <a:endParaRPr lang="en-US" sz="1300" dirty="0"/>
          </a:p>
        </p:txBody>
      </p:sp>
      <p:sp>
        <p:nvSpPr>
          <p:cNvPr id="21" name="Text 19"/>
          <p:cNvSpPr/>
          <p:nvPr/>
        </p:nvSpPr>
        <p:spPr>
          <a:xfrm>
            <a:off x="5074920" y="3877056"/>
            <a:ext cx="644652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Give annotators somewhere to put genuinely unclear cases rather than forcing a guess that becomes noise in the training set.</a:t>
            </a:r>
            <a:endParaRPr lang="en-US" sz="1150" dirty="0"/>
          </a:p>
        </p:txBody>
      </p:sp>
      <p:sp>
        <p:nvSpPr>
          <p:cNvPr id="22" name="Shape 20"/>
          <p:cNvSpPr/>
          <p:nvPr/>
        </p:nvSpPr>
        <p:spPr>
          <a:xfrm>
            <a:off x="640080" y="4764024"/>
            <a:ext cx="365760" cy="365760"/>
          </a:xfrm>
          <a:prstGeom prst="ellipse">
            <a:avLst/>
          </a:prstGeom>
          <a:solidFill>
            <a:srgbClr val="065A82"/>
          </a:solidFill>
          <a:ln/>
        </p:spPr>
      </p:sp>
      <p:sp>
        <p:nvSpPr>
          <p:cNvPr id="23" name="Text 21"/>
          <p:cNvSpPr/>
          <p:nvPr/>
        </p:nvSpPr>
        <p:spPr>
          <a:xfrm>
            <a:off x="640080" y="4764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590288"/>
            <a:ext cx="356616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Re-label a subset and measure again</a:t>
            </a:r>
            <a:endParaRPr lang="en-US" sz="1300" dirty="0"/>
          </a:p>
        </p:txBody>
      </p:sp>
      <p:sp>
        <p:nvSpPr>
          <p:cNvPr id="25" name="Text 23"/>
          <p:cNvSpPr/>
          <p:nvPr/>
        </p:nvSpPr>
        <p:spPr>
          <a:xfrm>
            <a:off x="5074920" y="4590288"/>
            <a:ext cx="644652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If agreement did not rise, the definition is still ambiguous. Iterate before labelling at scale.</a:t>
            </a:r>
            <a:endParaRPr lang="en-US" sz="1150" dirty="0"/>
          </a:p>
        </p:txBody>
      </p:sp>
      <p:sp>
        <p:nvSpPr>
          <p:cNvPr id="26" name="Shape 24"/>
          <p:cNvSpPr/>
          <p:nvPr/>
        </p:nvSpPr>
        <p:spPr>
          <a:xfrm>
            <a:off x="640080" y="5477256"/>
            <a:ext cx="365760" cy="365760"/>
          </a:xfrm>
          <a:prstGeom prst="ellipse">
            <a:avLst/>
          </a:prstGeom>
          <a:solidFill>
            <a:srgbClr val="065A82"/>
          </a:solidFill>
          <a:ln/>
        </p:spPr>
      </p:sp>
      <p:sp>
        <p:nvSpPr>
          <p:cNvPr id="27" name="Text 25"/>
          <p:cNvSpPr/>
          <p:nvPr/>
        </p:nvSpPr>
        <p:spPr>
          <a:xfrm>
            <a:off x="640080" y="5477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303520"/>
            <a:ext cx="356616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Version the guideline</a:t>
            </a:r>
            <a:endParaRPr lang="en-US" sz="1300" dirty="0"/>
          </a:p>
        </p:txBody>
      </p:sp>
      <p:sp>
        <p:nvSpPr>
          <p:cNvPr id="29" name="Text 27"/>
          <p:cNvSpPr/>
          <p:nvPr/>
        </p:nvSpPr>
        <p:spPr>
          <a:xfrm>
            <a:off x="5074920" y="5303520"/>
            <a:ext cx="644652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Labels created under different guideline versions are not comparable. Record which version produced each label.</a:t>
            </a:r>
            <a:endParaRPr lang="en-US" sz="1150" dirty="0"/>
          </a:p>
        </p:txBody>
      </p:sp>
      <p:sp>
        <p:nvSpPr>
          <p:cNvPr id="30" name="Text 28"/>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Improving label consistency is usually the single largest available gain on an industrial vision problem — and the least glamorous work available.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Augmentation — what is legitimate and what is not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640080" y="1280160"/>
            <a:ext cx="5303520" cy="2560320"/>
          </a:xfrm>
          <a:prstGeom prst="roundRect">
            <a:avLst>
              <a:gd name="adj" fmla="val 2143"/>
            </a:avLst>
          </a:prstGeom>
          <a:solidFill>
            <a:srgbClr val="EDF5EE"/>
          </a:solidFill>
          <a:ln w="12700">
            <a:solidFill>
              <a:srgbClr val="D8E4EC"/>
            </a:solidFill>
            <a:prstDash val="solid"/>
          </a:ln>
        </p:spPr>
      </p:sp>
      <p:sp>
        <p:nvSpPr>
          <p:cNvPr id="6" name="Text 4"/>
          <p:cNvSpPr/>
          <p:nvPr/>
        </p:nvSpPr>
        <p:spPr>
          <a:xfrm>
            <a:off x="841248" y="1417320"/>
            <a:ext cx="4901184" cy="347472"/>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Legitimate augmentation</a:t>
            </a:r>
            <a:endParaRPr lang="en-US" sz="1400" dirty="0"/>
          </a:p>
        </p:txBody>
      </p:sp>
      <p:sp>
        <p:nvSpPr>
          <p:cNvPr id="7" name="Text 5"/>
          <p:cNvSpPr/>
          <p:nvPr/>
        </p:nvSpPr>
        <p:spPr>
          <a:xfrm>
            <a:off x="841248" y="1783080"/>
            <a:ext cx="4901184" cy="19019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Transformations representing variation that genuinely occurs in production.</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Brightness and contrast, within the range shifts actually produce</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Small rotations, if part placement genuinely varies</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Noise and blur matching real sensor behaviour</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Scale, if working distance varies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Test: could this image plausibly have come out of your camera?</a:t>
            </a:r>
            <a:endParaRPr lang="en-US" sz="1150" dirty="0"/>
          </a:p>
        </p:txBody>
      </p:sp>
      <p:sp>
        <p:nvSpPr>
          <p:cNvPr id="8" name="Shape 6"/>
          <p:cNvSpPr/>
          <p:nvPr/>
        </p:nvSpPr>
        <p:spPr>
          <a:xfrm>
            <a:off x="6263640" y="1280160"/>
            <a:ext cx="5257800" cy="2560320"/>
          </a:xfrm>
          <a:prstGeom prst="roundRect">
            <a:avLst>
              <a:gd name="adj" fmla="val 2143"/>
            </a:avLst>
          </a:prstGeom>
          <a:solidFill>
            <a:srgbClr val="FBEEE8"/>
          </a:solidFill>
          <a:ln w="12700">
            <a:solidFill>
              <a:srgbClr val="D8E4EC"/>
            </a:solidFill>
            <a:prstDash val="solid"/>
          </a:ln>
        </p:spPr>
      </p:sp>
      <p:sp>
        <p:nvSpPr>
          <p:cNvPr id="9" name="Text 7"/>
          <p:cNvSpPr/>
          <p:nvPr/>
        </p:nvSpPr>
        <p:spPr>
          <a:xfrm>
            <a:off x="6464808" y="1417320"/>
            <a:ext cx="4855464" cy="347472"/>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Illegitimate augmentation</a:t>
            </a:r>
            <a:endParaRPr lang="en-US" sz="1400" dirty="0"/>
          </a:p>
        </p:txBody>
      </p:sp>
      <p:sp>
        <p:nvSpPr>
          <p:cNvPr id="10" name="Text 8"/>
          <p:cNvSpPr/>
          <p:nvPr/>
        </p:nvSpPr>
        <p:spPr>
          <a:xfrm>
            <a:off x="6464808" y="1783080"/>
            <a:ext cx="4855464" cy="190195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Transformations representing variation that cannot occur.</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90-degree rotation with a fixed camera and fixed fixture</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Horizontal flip where the part is asymmetric and orientation is fixed</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Colour shifts on a monochrome inspection setup</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Elastic distortion on a rigid metal component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These teach an invariance that does not exist and cost accuracy.</a:t>
            </a:r>
            <a:endParaRPr lang="en-US" sz="1150" dirty="0"/>
          </a:p>
        </p:txBody>
      </p:sp>
      <p:sp>
        <p:nvSpPr>
          <p:cNvPr id="11" name="Shape 9"/>
          <p:cNvSpPr/>
          <p:nvPr/>
        </p:nvSpPr>
        <p:spPr>
          <a:xfrm>
            <a:off x="640080" y="4069080"/>
            <a:ext cx="10881360" cy="1417320"/>
          </a:xfrm>
          <a:prstGeom prst="roundRect">
            <a:avLst>
              <a:gd name="adj" fmla="val 3871"/>
            </a:avLst>
          </a:prstGeom>
          <a:solidFill>
            <a:srgbClr val="FDF1E3"/>
          </a:solidFill>
          <a:ln w="12700">
            <a:solidFill>
              <a:srgbClr val="EBD3BB"/>
            </a:solidFill>
            <a:prstDash val="solid"/>
          </a:ln>
        </p:spPr>
      </p:sp>
      <p:sp>
        <p:nvSpPr>
          <p:cNvPr id="12" name="Text 10"/>
          <p:cNvSpPr/>
          <p:nvPr/>
        </p:nvSpPr>
        <p:spPr>
          <a:xfrm>
            <a:off x="914400" y="4233672"/>
            <a:ext cx="10332720" cy="320040"/>
          </a:xfrm>
          <a:prstGeom prst="rect">
            <a:avLst/>
          </a:prstGeom>
          <a:noFill/>
          <a:ln/>
        </p:spPr>
        <p:txBody>
          <a:bodyPr wrap="square" lIns="0" tIns="0" rIns="0" bIns="0" rtlCol="0" anchor="ctr"/>
          <a:lstStyle/>
          <a:p>
            <a:pPr indent="0" marL="0">
              <a:buNone/>
            </a:pPr>
            <a:r>
              <a:rPr lang="en-US" sz="1350" b="1" dirty="0">
                <a:solidFill>
                  <a:srgbClr val="C1440E"/>
                </a:solidFill>
                <a:latin typeface="Calibri" pitchFamily="34" charset="0"/>
                <a:ea typeface="Calibri" pitchFamily="34" charset="-122"/>
                <a:cs typeface="Calibri" pitchFamily="34" charset="-120"/>
              </a:rPr>
              <a:t>The rule to apply, and why it is not merely pedantic</a:t>
            </a:r>
            <a:endParaRPr lang="en-US" sz="1350" dirty="0"/>
          </a:p>
        </p:txBody>
      </p:sp>
      <p:sp>
        <p:nvSpPr>
          <p:cNvPr id="13" name="Text 11"/>
          <p:cNvSpPr/>
          <p:nvPr/>
        </p:nvSpPr>
        <p:spPr>
          <a:xfrm>
            <a:off x="914400" y="4572000"/>
            <a:ext cx="10332720" cy="77724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Augmentation teaches the model what to ignore. Teaching it to ignore orientation when orientation is diagnostic — when a mark on the left means something different from a mark on the right — actively destroys information the model needs. Every augmentation is a claim about your process. Check the claim with someone who knows the line before you apply it to a million images.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1 · 1.6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Production variation — the four axes that break vision systems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640080" y="1371600"/>
            <a:ext cx="2651760" cy="868680"/>
          </a:xfrm>
          <a:prstGeom prst="roundRect">
            <a:avLst>
              <a:gd name="adj" fmla="val 5263"/>
            </a:avLst>
          </a:prstGeom>
          <a:solidFill>
            <a:srgbClr val="065A82"/>
          </a:solidFill>
          <a:ln/>
        </p:spPr>
      </p:sp>
      <p:sp>
        <p:nvSpPr>
          <p:cNvPr id="6" name="Text 4"/>
          <p:cNvSpPr/>
          <p:nvPr/>
        </p:nvSpPr>
        <p:spPr>
          <a:xfrm>
            <a:off x="731520" y="1371600"/>
            <a:ext cx="24688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Lighting</a:t>
            </a:r>
            <a:endParaRPr lang="en-US" sz="1350" dirty="0"/>
          </a:p>
        </p:txBody>
      </p:sp>
      <p:sp>
        <p:nvSpPr>
          <p:cNvPr id="7" name="Text 5"/>
          <p:cNvSpPr/>
          <p:nvPr/>
        </p:nvSpPr>
        <p:spPr>
          <a:xfrm>
            <a:off x="3520440" y="1417320"/>
            <a:ext cx="3931920" cy="77724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Shift changes, ambient light, ageing lamps</a:t>
            </a:r>
            <a:endParaRPr lang="en-US" sz="1200" dirty="0"/>
          </a:p>
        </p:txBody>
      </p:sp>
      <p:sp>
        <p:nvSpPr>
          <p:cNvPr id="8" name="Text 6"/>
          <p:cNvSpPr/>
          <p:nvPr/>
        </p:nvSpPr>
        <p:spPr>
          <a:xfrm>
            <a:off x="7635240" y="1417320"/>
            <a:ext cx="3886200" cy="7772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most common cause of a vision system degrading after deployment. Control it physically where you can; cover it in training data where you cannot.</a:t>
            </a:r>
            <a:endParaRPr lang="en-US" sz="1150" dirty="0"/>
          </a:p>
        </p:txBody>
      </p:sp>
      <p:sp>
        <p:nvSpPr>
          <p:cNvPr id="9" name="Shape 7"/>
          <p:cNvSpPr/>
          <p:nvPr/>
        </p:nvSpPr>
        <p:spPr>
          <a:xfrm>
            <a:off x="640080" y="2423160"/>
            <a:ext cx="2651760" cy="868680"/>
          </a:xfrm>
          <a:prstGeom prst="roundRect">
            <a:avLst>
              <a:gd name="adj" fmla="val 5263"/>
            </a:avLst>
          </a:prstGeom>
          <a:solidFill>
            <a:srgbClr val="1C7293"/>
          </a:solidFill>
          <a:ln/>
        </p:spPr>
      </p:sp>
      <p:sp>
        <p:nvSpPr>
          <p:cNvPr id="10" name="Text 8"/>
          <p:cNvSpPr/>
          <p:nvPr/>
        </p:nvSpPr>
        <p:spPr>
          <a:xfrm>
            <a:off x="731520" y="2423160"/>
            <a:ext cx="24688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Camera and optics</a:t>
            </a:r>
            <a:endParaRPr lang="en-US" sz="1350" dirty="0"/>
          </a:p>
        </p:txBody>
      </p:sp>
      <p:sp>
        <p:nvSpPr>
          <p:cNvPr id="11" name="Text 9"/>
          <p:cNvSpPr/>
          <p:nvPr/>
        </p:nvSpPr>
        <p:spPr>
          <a:xfrm>
            <a:off x="3520440" y="2468880"/>
            <a:ext cx="3931920" cy="77724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Focus drift, dirt on the lens, replacement units, mounting shift</a:t>
            </a:r>
            <a:endParaRPr lang="en-US" sz="1200" dirty="0"/>
          </a:p>
        </p:txBody>
      </p:sp>
      <p:sp>
        <p:nvSpPr>
          <p:cNvPr id="12" name="Text 10"/>
          <p:cNvSpPr/>
          <p:nvPr/>
        </p:nvSpPr>
        <p:spPr>
          <a:xfrm>
            <a:off x="7635240" y="2468880"/>
            <a:ext cx="3886200" cy="7772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replaced camera with a slightly different sensor is a distribution shift nobody logs as a change.</a:t>
            </a:r>
            <a:endParaRPr lang="en-US" sz="1150" dirty="0"/>
          </a:p>
        </p:txBody>
      </p:sp>
      <p:sp>
        <p:nvSpPr>
          <p:cNvPr id="13" name="Shape 11"/>
          <p:cNvSpPr/>
          <p:nvPr/>
        </p:nvSpPr>
        <p:spPr>
          <a:xfrm>
            <a:off x="640080" y="3474720"/>
            <a:ext cx="2651760" cy="868680"/>
          </a:xfrm>
          <a:prstGeom prst="roundRect">
            <a:avLst>
              <a:gd name="adj" fmla="val 5263"/>
            </a:avLst>
          </a:prstGeom>
          <a:solidFill>
            <a:srgbClr val="21295C"/>
          </a:solidFill>
          <a:ln/>
        </p:spPr>
      </p:sp>
      <p:sp>
        <p:nvSpPr>
          <p:cNvPr id="14" name="Text 12"/>
          <p:cNvSpPr/>
          <p:nvPr/>
        </p:nvSpPr>
        <p:spPr>
          <a:xfrm>
            <a:off x="731520" y="3474720"/>
            <a:ext cx="24688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Part presentation</a:t>
            </a:r>
            <a:endParaRPr lang="en-US" sz="1350" dirty="0"/>
          </a:p>
        </p:txBody>
      </p:sp>
      <p:sp>
        <p:nvSpPr>
          <p:cNvPr id="15" name="Text 13"/>
          <p:cNvSpPr/>
          <p:nvPr/>
        </p:nvSpPr>
        <p:spPr>
          <a:xfrm>
            <a:off x="3520440" y="3520440"/>
            <a:ext cx="3931920" cy="77724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Fixture wear, orientation tolerance, surface finish, oil film</a:t>
            </a:r>
            <a:endParaRPr lang="en-US" sz="1200" dirty="0"/>
          </a:p>
        </p:txBody>
      </p:sp>
      <p:sp>
        <p:nvSpPr>
          <p:cNvPr id="16" name="Text 14"/>
          <p:cNvSpPr/>
          <p:nvPr/>
        </p:nvSpPr>
        <p:spPr>
          <a:xfrm>
            <a:off x="7635240" y="3520440"/>
            <a:ext cx="3886200" cy="7772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Small drifts in presentation accumulate. The model sees them as a new distribution.</a:t>
            </a:r>
            <a:endParaRPr lang="en-US" sz="1150" dirty="0"/>
          </a:p>
        </p:txBody>
      </p:sp>
      <p:sp>
        <p:nvSpPr>
          <p:cNvPr id="17" name="Shape 15"/>
          <p:cNvSpPr/>
          <p:nvPr/>
        </p:nvSpPr>
        <p:spPr>
          <a:xfrm>
            <a:off x="640080" y="4526280"/>
            <a:ext cx="2651760" cy="868680"/>
          </a:xfrm>
          <a:prstGeom prst="roundRect">
            <a:avLst>
              <a:gd name="adj" fmla="val 5263"/>
            </a:avLst>
          </a:prstGeom>
          <a:solidFill>
            <a:srgbClr val="6B3A5B"/>
          </a:solidFill>
          <a:ln/>
        </p:spPr>
      </p:sp>
      <p:sp>
        <p:nvSpPr>
          <p:cNvPr id="18" name="Text 16"/>
          <p:cNvSpPr/>
          <p:nvPr/>
        </p:nvSpPr>
        <p:spPr>
          <a:xfrm>
            <a:off x="731520" y="4526280"/>
            <a:ext cx="2468880"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Product mix</a:t>
            </a:r>
            <a:endParaRPr lang="en-US" sz="1350" dirty="0"/>
          </a:p>
        </p:txBody>
      </p:sp>
      <p:sp>
        <p:nvSpPr>
          <p:cNvPr id="19" name="Text 17"/>
          <p:cNvSpPr/>
          <p:nvPr/>
        </p:nvSpPr>
        <p:spPr>
          <a:xfrm>
            <a:off x="3520440" y="4572000"/>
            <a:ext cx="3931920" cy="777240"/>
          </a:xfrm>
          <a:prstGeom prst="rect">
            <a:avLst/>
          </a:prstGeom>
          <a:noFill/>
          <a:ln/>
        </p:spPr>
        <p:txBody>
          <a:bodyPr wrap="square" lIns="0" tIns="0" rIns="0" bIns="0" rtlCol="0" anchor="ctr"/>
          <a:lstStyle/>
          <a:p>
            <a:pPr indent="0" marL="0">
              <a:lnSpc>
                <a:spcPts val="1600"/>
              </a:lnSpc>
              <a:buNone/>
            </a:pPr>
            <a:r>
              <a:rPr lang="en-US" sz="1200" b="1" dirty="0">
                <a:solidFill>
                  <a:srgbClr val="1A2430"/>
                </a:solidFill>
                <a:latin typeface="Calibri" pitchFamily="34" charset="0"/>
                <a:ea typeface="Calibri" pitchFamily="34" charset="-122"/>
                <a:cs typeface="Calibri" pitchFamily="34" charset="-120"/>
              </a:rPr>
              <a:t>New variants, revised parts, alternative suppliers</a:t>
            </a:r>
            <a:endParaRPr lang="en-US" sz="1200" dirty="0"/>
          </a:p>
        </p:txBody>
      </p:sp>
      <p:sp>
        <p:nvSpPr>
          <p:cNvPr id="20" name="Text 18"/>
          <p:cNvSpPr/>
          <p:nvPr/>
        </p:nvSpPr>
        <p:spPr>
          <a:xfrm>
            <a:off x="7635240" y="4572000"/>
            <a:ext cx="3886200" cy="77724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new variant is invisible to monitoring until failures appear. It should be a planned event, not a discovery.</a:t>
            </a:r>
            <a:endParaRPr lang="en-US" sz="1150" dirty="0"/>
          </a:p>
        </p:txBody>
      </p:sp>
      <p:sp>
        <p:nvSpPr>
          <p:cNvPr id="21" name="Shape 19"/>
          <p:cNvSpPr/>
          <p:nvPr/>
        </p:nvSpPr>
        <p:spPr>
          <a:xfrm>
            <a:off x="640080" y="5486400"/>
            <a:ext cx="10881360" cy="777240"/>
          </a:xfrm>
          <a:prstGeom prst="roundRect">
            <a:avLst>
              <a:gd name="adj" fmla="val 7059"/>
            </a:avLst>
          </a:prstGeom>
          <a:solidFill>
            <a:srgbClr val="EDF5EE"/>
          </a:solidFill>
          <a:ln w="12700">
            <a:solidFill>
              <a:srgbClr val="C2DCC8"/>
            </a:solidFill>
            <a:prstDash val="solid"/>
          </a:ln>
        </p:spPr>
      </p:sp>
      <p:sp>
        <p:nvSpPr>
          <p:cNvPr id="22" name="Text 20"/>
          <p:cNvSpPr/>
          <p:nvPr/>
        </p:nvSpPr>
        <p:spPr>
          <a:xfrm>
            <a:off x="914400" y="5650992"/>
            <a:ext cx="10332720" cy="320040"/>
          </a:xfrm>
          <a:prstGeom prst="rect">
            <a:avLst/>
          </a:prstGeom>
          <a:noFill/>
          <a:ln/>
        </p:spPr>
        <p:txBody>
          <a:bodyPr wrap="square" lIns="0" tIns="0" rIns="0" bIns="0" rtlCol="0" anchor="ctr"/>
          <a:lstStyle/>
          <a:p>
            <a:pPr indent="0" marL="0">
              <a:buNone/>
            </a:pPr>
            <a:r>
              <a:rPr lang="en-US" sz="1350" b="1" dirty="0">
                <a:solidFill>
                  <a:srgbClr val="1E7A3C"/>
                </a:solidFill>
                <a:latin typeface="Calibri" pitchFamily="34" charset="0"/>
                <a:ea typeface="Calibri" pitchFamily="34" charset="-122"/>
                <a:cs typeface="Calibri" pitchFamily="34" charset="-120"/>
              </a:rPr>
              <a:t>The operational point</a:t>
            </a:r>
            <a:endParaRPr lang="en-US" sz="1350" dirty="0"/>
          </a:p>
        </p:txBody>
      </p:sp>
      <p:sp>
        <p:nvSpPr>
          <p:cNvPr id="23" name="Text 21"/>
          <p:cNvSpPr/>
          <p:nvPr/>
        </p:nvSpPr>
        <p:spPr>
          <a:xfrm>
            <a:off x="914400" y="5989320"/>
            <a:ext cx="10332720" cy="13716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Every one of these is a change to the physical process that nobody records as a change to the AI system — and each will show as unexplained model degradation weeks later. The mitigation is a change log linking physical process changes to model monitoring, which costs nothing and is almost never in place.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 1 — Why does the model fail?</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11</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500" dirty="0">
                <a:solidFill>
                  <a:srgbClr val="1A2430"/>
                </a:solidFill>
                <a:latin typeface="Calibri" pitchFamily="34" charset="0"/>
                <a:ea typeface="Calibri" pitchFamily="34" charset="-122"/>
                <a:cs typeface="Calibri" pitchFamily="34" charset="-120"/>
              </a:rPr>
              <a:t>Work with an industrial defect-detection dataset and its trained model. Diagnose the failures before proposing anything.</a:t>
            </a:r>
            <a:endParaRPr lang="en-US" sz="1500" dirty="0"/>
          </a:p>
        </p:txBody>
      </p:sp>
      <p:sp>
        <p:nvSpPr>
          <p:cNvPr id="6" name="Shape 4"/>
          <p:cNvSpPr/>
          <p:nvPr/>
        </p:nvSpPr>
        <p:spPr>
          <a:xfrm>
            <a:off x="640080" y="1783080"/>
            <a:ext cx="731520" cy="384048"/>
          </a:xfrm>
          <a:prstGeom prst="rect">
            <a:avLst/>
          </a:prstGeom>
          <a:solidFill>
            <a:srgbClr val="21295C"/>
          </a:solidFill>
          <a:ln/>
        </p:spPr>
      </p:sp>
      <p:sp>
        <p:nvSpPr>
          <p:cNvPr id="7" name="Text 5"/>
          <p:cNvSpPr/>
          <p:nvPr/>
        </p:nvSpPr>
        <p:spPr>
          <a:xfrm>
            <a:off x="749808" y="1783080"/>
            <a:ext cx="5120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8" name="Shape 6"/>
          <p:cNvSpPr/>
          <p:nvPr/>
        </p:nvSpPr>
        <p:spPr>
          <a:xfrm>
            <a:off x="1371600" y="1783080"/>
            <a:ext cx="4754880" cy="384048"/>
          </a:xfrm>
          <a:prstGeom prst="rect">
            <a:avLst/>
          </a:prstGeom>
          <a:solidFill>
            <a:srgbClr val="21295C"/>
          </a:solidFill>
          <a:ln/>
        </p:spPr>
      </p:sp>
      <p:sp>
        <p:nvSpPr>
          <p:cNvPr id="9" name="Text 7"/>
          <p:cNvSpPr/>
          <p:nvPr/>
        </p:nvSpPr>
        <p:spPr>
          <a:xfrm>
            <a:off x="1481328" y="1783080"/>
            <a:ext cx="45354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Do this</a:t>
            </a:r>
            <a:endParaRPr lang="en-US" sz="1100" dirty="0"/>
          </a:p>
        </p:txBody>
      </p:sp>
      <p:sp>
        <p:nvSpPr>
          <p:cNvPr id="10" name="Shape 8"/>
          <p:cNvSpPr/>
          <p:nvPr/>
        </p:nvSpPr>
        <p:spPr>
          <a:xfrm>
            <a:off x="6126480" y="1783080"/>
            <a:ext cx="5394960" cy="384048"/>
          </a:xfrm>
          <a:prstGeom prst="rect">
            <a:avLst/>
          </a:prstGeom>
          <a:solidFill>
            <a:srgbClr val="21295C"/>
          </a:solidFill>
          <a:ln/>
        </p:spPr>
      </p:sp>
      <p:sp>
        <p:nvSpPr>
          <p:cNvPr id="11" name="Text 9"/>
          <p:cNvSpPr/>
          <p:nvPr/>
        </p:nvSpPr>
        <p:spPr>
          <a:xfrm>
            <a:off x="6236208" y="1783080"/>
            <a:ext cx="51755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Look for</a:t>
            </a:r>
            <a:endParaRPr lang="en-US" sz="1100" dirty="0"/>
          </a:p>
        </p:txBody>
      </p:sp>
      <p:sp>
        <p:nvSpPr>
          <p:cNvPr id="12" name="Shape 10"/>
          <p:cNvSpPr/>
          <p:nvPr/>
        </p:nvSpPr>
        <p:spPr>
          <a:xfrm>
            <a:off x="640080" y="2167128"/>
            <a:ext cx="731520" cy="566928"/>
          </a:xfrm>
          <a:prstGeom prst="rect">
            <a:avLst/>
          </a:prstGeom>
          <a:solidFill>
            <a:srgbClr val="FFFFFF"/>
          </a:solidFill>
          <a:ln w="9525">
            <a:solidFill>
              <a:srgbClr val="E3EBF0"/>
            </a:solidFill>
            <a:prstDash val="solid"/>
          </a:ln>
        </p:spPr>
      </p:sp>
      <p:sp>
        <p:nvSpPr>
          <p:cNvPr id="13" name="Text 11"/>
          <p:cNvSpPr/>
          <p:nvPr/>
        </p:nvSpPr>
        <p:spPr>
          <a:xfrm>
            <a:off x="749808" y="2167128"/>
            <a:ext cx="5120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1</a:t>
            </a:r>
            <a:endParaRPr lang="en-US" sz="1050" dirty="0"/>
          </a:p>
        </p:txBody>
      </p:sp>
      <p:sp>
        <p:nvSpPr>
          <p:cNvPr id="14" name="Shape 12"/>
          <p:cNvSpPr/>
          <p:nvPr/>
        </p:nvSpPr>
        <p:spPr>
          <a:xfrm>
            <a:off x="1371600" y="2167128"/>
            <a:ext cx="4754880" cy="566928"/>
          </a:xfrm>
          <a:prstGeom prst="rect">
            <a:avLst/>
          </a:prstGeom>
          <a:solidFill>
            <a:srgbClr val="FFFFFF"/>
          </a:solidFill>
          <a:ln w="9525">
            <a:solidFill>
              <a:srgbClr val="E3EBF0"/>
            </a:solidFill>
            <a:prstDash val="solid"/>
          </a:ln>
        </p:spPr>
      </p:sp>
      <p:sp>
        <p:nvSpPr>
          <p:cNvPr id="15" name="Text 13"/>
          <p:cNvSpPr/>
          <p:nvPr/>
        </p:nvSpPr>
        <p:spPr>
          <a:xfrm>
            <a:off x="1481328" y="2167128"/>
            <a:ext cx="4535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Review 50 false negatives individually</a:t>
            </a:r>
            <a:endParaRPr lang="en-US" sz="1050" dirty="0"/>
          </a:p>
        </p:txBody>
      </p:sp>
      <p:sp>
        <p:nvSpPr>
          <p:cNvPr id="16" name="Shape 14"/>
          <p:cNvSpPr/>
          <p:nvPr/>
        </p:nvSpPr>
        <p:spPr>
          <a:xfrm>
            <a:off x="6126480" y="2167128"/>
            <a:ext cx="5394960" cy="566928"/>
          </a:xfrm>
          <a:prstGeom prst="rect">
            <a:avLst/>
          </a:prstGeom>
          <a:solidFill>
            <a:srgbClr val="FFFFFF"/>
          </a:solidFill>
          <a:ln w="9525">
            <a:solidFill>
              <a:srgbClr val="E3EBF0"/>
            </a:solidFill>
            <a:prstDash val="solid"/>
          </a:ln>
        </p:spPr>
      </p:sp>
      <p:sp>
        <p:nvSpPr>
          <p:cNvPr id="17" name="Text 15"/>
          <p:cNvSpPr/>
          <p:nvPr/>
        </p:nvSpPr>
        <p:spPr>
          <a:xfrm>
            <a:off x="6236208" y="2167128"/>
            <a:ext cx="5175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Are they small, low contrast, occluded, or a specific class?</a:t>
            </a:r>
            <a:endParaRPr lang="en-US" sz="1050" dirty="0"/>
          </a:p>
        </p:txBody>
      </p:sp>
      <p:sp>
        <p:nvSpPr>
          <p:cNvPr id="18" name="Shape 16"/>
          <p:cNvSpPr/>
          <p:nvPr/>
        </p:nvSpPr>
        <p:spPr>
          <a:xfrm>
            <a:off x="640080" y="2734056"/>
            <a:ext cx="731520" cy="566928"/>
          </a:xfrm>
          <a:prstGeom prst="rect">
            <a:avLst/>
          </a:prstGeom>
          <a:solidFill>
            <a:srgbClr val="F5F9FB"/>
          </a:solidFill>
          <a:ln w="9525">
            <a:solidFill>
              <a:srgbClr val="E3EBF0"/>
            </a:solidFill>
            <a:prstDash val="solid"/>
          </a:ln>
        </p:spPr>
      </p:sp>
      <p:sp>
        <p:nvSpPr>
          <p:cNvPr id="19" name="Text 17"/>
          <p:cNvSpPr/>
          <p:nvPr/>
        </p:nvSpPr>
        <p:spPr>
          <a:xfrm>
            <a:off x="749808" y="2734056"/>
            <a:ext cx="5120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2</a:t>
            </a:r>
            <a:endParaRPr lang="en-US" sz="1050" dirty="0"/>
          </a:p>
        </p:txBody>
      </p:sp>
      <p:sp>
        <p:nvSpPr>
          <p:cNvPr id="20" name="Shape 18"/>
          <p:cNvSpPr/>
          <p:nvPr/>
        </p:nvSpPr>
        <p:spPr>
          <a:xfrm>
            <a:off x="1371600" y="2734056"/>
            <a:ext cx="4754880" cy="566928"/>
          </a:xfrm>
          <a:prstGeom prst="rect">
            <a:avLst/>
          </a:prstGeom>
          <a:solidFill>
            <a:srgbClr val="F5F9FB"/>
          </a:solidFill>
          <a:ln w="9525">
            <a:solidFill>
              <a:srgbClr val="E3EBF0"/>
            </a:solidFill>
            <a:prstDash val="solid"/>
          </a:ln>
        </p:spPr>
      </p:sp>
      <p:sp>
        <p:nvSpPr>
          <p:cNvPr id="21" name="Text 19"/>
          <p:cNvSpPr/>
          <p:nvPr/>
        </p:nvSpPr>
        <p:spPr>
          <a:xfrm>
            <a:off x="1481328" y="2734056"/>
            <a:ext cx="4535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Review 50 false positives individually</a:t>
            </a:r>
            <a:endParaRPr lang="en-US" sz="1050" dirty="0"/>
          </a:p>
        </p:txBody>
      </p:sp>
      <p:sp>
        <p:nvSpPr>
          <p:cNvPr id="22" name="Shape 20"/>
          <p:cNvSpPr/>
          <p:nvPr/>
        </p:nvSpPr>
        <p:spPr>
          <a:xfrm>
            <a:off x="6126480" y="2734056"/>
            <a:ext cx="5394960" cy="566928"/>
          </a:xfrm>
          <a:prstGeom prst="rect">
            <a:avLst/>
          </a:prstGeom>
          <a:solidFill>
            <a:srgbClr val="F5F9FB"/>
          </a:solidFill>
          <a:ln w="9525">
            <a:solidFill>
              <a:srgbClr val="E3EBF0"/>
            </a:solidFill>
            <a:prstDash val="solid"/>
          </a:ln>
        </p:spPr>
      </p:sp>
      <p:sp>
        <p:nvSpPr>
          <p:cNvPr id="23" name="Text 21"/>
          <p:cNvSpPr/>
          <p:nvPr/>
        </p:nvSpPr>
        <p:spPr>
          <a:xfrm>
            <a:off x="6236208" y="2734056"/>
            <a:ext cx="5175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Are they a repeated benign feature the model treats as a defect?</a:t>
            </a:r>
            <a:endParaRPr lang="en-US" sz="1050" dirty="0"/>
          </a:p>
        </p:txBody>
      </p:sp>
      <p:sp>
        <p:nvSpPr>
          <p:cNvPr id="24" name="Shape 22"/>
          <p:cNvSpPr/>
          <p:nvPr/>
        </p:nvSpPr>
        <p:spPr>
          <a:xfrm>
            <a:off x="640080" y="3300984"/>
            <a:ext cx="731520" cy="566928"/>
          </a:xfrm>
          <a:prstGeom prst="rect">
            <a:avLst/>
          </a:prstGeom>
          <a:solidFill>
            <a:srgbClr val="FFFFFF"/>
          </a:solidFill>
          <a:ln w="9525">
            <a:solidFill>
              <a:srgbClr val="E3EBF0"/>
            </a:solidFill>
            <a:prstDash val="solid"/>
          </a:ln>
        </p:spPr>
      </p:sp>
      <p:sp>
        <p:nvSpPr>
          <p:cNvPr id="25" name="Text 23"/>
          <p:cNvSpPr/>
          <p:nvPr/>
        </p:nvSpPr>
        <p:spPr>
          <a:xfrm>
            <a:off x="749808" y="3300984"/>
            <a:ext cx="5120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3</a:t>
            </a:r>
            <a:endParaRPr lang="en-US" sz="1050" dirty="0"/>
          </a:p>
        </p:txBody>
      </p:sp>
      <p:sp>
        <p:nvSpPr>
          <p:cNvPr id="26" name="Shape 24"/>
          <p:cNvSpPr/>
          <p:nvPr/>
        </p:nvSpPr>
        <p:spPr>
          <a:xfrm>
            <a:off x="1371600" y="3300984"/>
            <a:ext cx="4754880" cy="566928"/>
          </a:xfrm>
          <a:prstGeom prst="rect">
            <a:avLst/>
          </a:prstGeom>
          <a:solidFill>
            <a:srgbClr val="FFFFFF"/>
          </a:solidFill>
          <a:ln w="9525">
            <a:solidFill>
              <a:srgbClr val="E3EBF0"/>
            </a:solidFill>
            <a:prstDash val="solid"/>
          </a:ln>
        </p:spPr>
      </p:sp>
      <p:sp>
        <p:nvSpPr>
          <p:cNvPr id="27" name="Text 25"/>
          <p:cNvSpPr/>
          <p:nvPr/>
        </p:nvSpPr>
        <p:spPr>
          <a:xfrm>
            <a:off x="1481328" y="3300984"/>
            <a:ext cx="4535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Check per-class recall, not aggregate</a:t>
            </a:r>
            <a:endParaRPr lang="en-US" sz="1050" dirty="0"/>
          </a:p>
        </p:txBody>
      </p:sp>
      <p:sp>
        <p:nvSpPr>
          <p:cNvPr id="28" name="Shape 26"/>
          <p:cNvSpPr/>
          <p:nvPr/>
        </p:nvSpPr>
        <p:spPr>
          <a:xfrm>
            <a:off x="6126480" y="3300984"/>
            <a:ext cx="5394960" cy="566928"/>
          </a:xfrm>
          <a:prstGeom prst="rect">
            <a:avLst/>
          </a:prstGeom>
          <a:solidFill>
            <a:srgbClr val="FFFFFF"/>
          </a:solidFill>
          <a:ln w="9525">
            <a:solidFill>
              <a:srgbClr val="E3EBF0"/>
            </a:solidFill>
            <a:prstDash val="solid"/>
          </a:ln>
        </p:spPr>
      </p:sp>
      <p:sp>
        <p:nvSpPr>
          <p:cNvPr id="29" name="Text 27"/>
          <p:cNvSpPr/>
          <p:nvPr/>
        </p:nvSpPr>
        <p:spPr>
          <a:xfrm>
            <a:off x="6236208" y="3300984"/>
            <a:ext cx="5175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Which classes carry the errors? Usually two of them carry most</a:t>
            </a:r>
            <a:endParaRPr lang="en-US" sz="1050" dirty="0"/>
          </a:p>
        </p:txBody>
      </p:sp>
      <p:sp>
        <p:nvSpPr>
          <p:cNvPr id="30" name="Shape 28"/>
          <p:cNvSpPr/>
          <p:nvPr/>
        </p:nvSpPr>
        <p:spPr>
          <a:xfrm>
            <a:off x="640080" y="3867912"/>
            <a:ext cx="731520" cy="566928"/>
          </a:xfrm>
          <a:prstGeom prst="rect">
            <a:avLst/>
          </a:prstGeom>
          <a:solidFill>
            <a:srgbClr val="F5F9FB"/>
          </a:solidFill>
          <a:ln w="9525">
            <a:solidFill>
              <a:srgbClr val="E3EBF0"/>
            </a:solidFill>
            <a:prstDash val="solid"/>
          </a:ln>
        </p:spPr>
      </p:sp>
      <p:sp>
        <p:nvSpPr>
          <p:cNvPr id="31" name="Text 29"/>
          <p:cNvSpPr/>
          <p:nvPr/>
        </p:nvSpPr>
        <p:spPr>
          <a:xfrm>
            <a:off x="749808" y="3867912"/>
            <a:ext cx="5120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4</a:t>
            </a:r>
            <a:endParaRPr lang="en-US" sz="1050" dirty="0"/>
          </a:p>
        </p:txBody>
      </p:sp>
      <p:sp>
        <p:nvSpPr>
          <p:cNvPr id="32" name="Shape 30"/>
          <p:cNvSpPr/>
          <p:nvPr/>
        </p:nvSpPr>
        <p:spPr>
          <a:xfrm>
            <a:off x="1371600" y="3867912"/>
            <a:ext cx="4754880" cy="566928"/>
          </a:xfrm>
          <a:prstGeom prst="rect">
            <a:avLst/>
          </a:prstGeom>
          <a:solidFill>
            <a:srgbClr val="F5F9FB"/>
          </a:solidFill>
          <a:ln w="9525">
            <a:solidFill>
              <a:srgbClr val="E3EBF0"/>
            </a:solidFill>
            <a:prstDash val="solid"/>
          </a:ln>
        </p:spPr>
      </p:sp>
      <p:sp>
        <p:nvSpPr>
          <p:cNvPr id="33" name="Text 31"/>
          <p:cNvSpPr/>
          <p:nvPr/>
        </p:nvSpPr>
        <p:spPr>
          <a:xfrm>
            <a:off x="1481328" y="3867912"/>
            <a:ext cx="4535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Check the label on 30 failures</a:t>
            </a:r>
            <a:endParaRPr lang="en-US" sz="1050" dirty="0"/>
          </a:p>
        </p:txBody>
      </p:sp>
      <p:sp>
        <p:nvSpPr>
          <p:cNvPr id="34" name="Shape 32"/>
          <p:cNvSpPr/>
          <p:nvPr/>
        </p:nvSpPr>
        <p:spPr>
          <a:xfrm>
            <a:off x="6126480" y="3867912"/>
            <a:ext cx="5394960" cy="566928"/>
          </a:xfrm>
          <a:prstGeom prst="rect">
            <a:avLst/>
          </a:prstGeom>
          <a:solidFill>
            <a:srgbClr val="F5F9FB"/>
          </a:solidFill>
          <a:ln w="9525">
            <a:solidFill>
              <a:srgbClr val="E3EBF0"/>
            </a:solidFill>
            <a:prstDash val="solid"/>
          </a:ln>
        </p:spPr>
      </p:sp>
      <p:sp>
        <p:nvSpPr>
          <p:cNvPr id="35" name="Text 33"/>
          <p:cNvSpPr/>
          <p:nvPr/>
        </p:nvSpPr>
        <p:spPr>
          <a:xfrm>
            <a:off x="6236208" y="3867912"/>
            <a:ext cx="5175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How many were actually labelled wrongly? This is often 10 to 30%</a:t>
            </a:r>
            <a:endParaRPr lang="en-US" sz="1050" dirty="0"/>
          </a:p>
        </p:txBody>
      </p:sp>
      <p:sp>
        <p:nvSpPr>
          <p:cNvPr id="36" name="Shape 34"/>
          <p:cNvSpPr/>
          <p:nvPr/>
        </p:nvSpPr>
        <p:spPr>
          <a:xfrm>
            <a:off x="640080" y="4434840"/>
            <a:ext cx="731520" cy="566928"/>
          </a:xfrm>
          <a:prstGeom prst="rect">
            <a:avLst/>
          </a:prstGeom>
          <a:solidFill>
            <a:srgbClr val="FFFFFF"/>
          </a:solidFill>
          <a:ln w="9525">
            <a:solidFill>
              <a:srgbClr val="E3EBF0"/>
            </a:solidFill>
            <a:prstDash val="solid"/>
          </a:ln>
        </p:spPr>
      </p:sp>
      <p:sp>
        <p:nvSpPr>
          <p:cNvPr id="37" name="Text 35"/>
          <p:cNvSpPr/>
          <p:nvPr/>
        </p:nvSpPr>
        <p:spPr>
          <a:xfrm>
            <a:off x="749808" y="4434840"/>
            <a:ext cx="5120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5</a:t>
            </a:r>
            <a:endParaRPr lang="en-US" sz="1050" dirty="0"/>
          </a:p>
        </p:txBody>
      </p:sp>
      <p:sp>
        <p:nvSpPr>
          <p:cNvPr id="38" name="Shape 36"/>
          <p:cNvSpPr/>
          <p:nvPr/>
        </p:nvSpPr>
        <p:spPr>
          <a:xfrm>
            <a:off x="1371600" y="4434840"/>
            <a:ext cx="4754880" cy="566928"/>
          </a:xfrm>
          <a:prstGeom prst="rect">
            <a:avLst/>
          </a:prstGeom>
          <a:solidFill>
            <a:srgbClr val="FFFFFF"/>
          </a:solidFill>
          <a:ln w="9525">
            <a:solidFill>
              <a:srgbClr val="E3EBF0"/>
            </a:solidFill>
            <a:prstDash val="solid"/>
          </a:ln>
        </p:spPr>
      </p:sp>
      <p:sp>
        <p:nvSpPr>
          <p:cNvPr id="39" name="Text 37"/>
          <p:cNvSpPr/>
          <p:nvPr/>
        </p:nvSpPr>
        <p:spPr>
          <a:xfrm>
            <a:off x="1481328" y="4434840"/>
            <a:ext cx="4535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Group failures by capture condition</a:t>
            </a:r>
            <a:endParaRPr lang="en-US" sz="1050" dirty="0"/>
          </a:p>
        </p:txBody>
      </p:sp>
      <p:sp>
        <p:nvSpPr>
          <p:cNvPr id="40" name="Shape 38"/>
          <p:cNvSpPr/>
          <p:nvPr/>
        </p:nvSpPr>
        <p:spPr>
          <a:xfrm>
            <a:off x="6126480" y="4434840"/>
            <a:ext cx="5394960" cy="566928"/>
          </a:xfrm>
          <a:prstGeom prst="rect">
            <a:avLst/>
          </a:prstGeom>
          <a:solidFill>
            <a:srgbClr val="FFFFFF"/>
          </a:solidFill>
          <a:ln w="9525">
            <a:solidFill>
              <a:srgbClr val="E3EBF0"/>
            </a:solidFill>
            <a:prstDash val="solid"/>
          </a:ln>
        </p:spPr>
      </p:sp>
      <p:sp>
        <p:nvSpPr>
          <p:cNvPr id="41" name="Text 39"/>
          <p:cNvSpPr/>
          <p:nvPr/>
        </p:nvSpPr>
        <p:spPr>
          <a:xfrm>
            <a:off x="6236208" y="4434840"/>
            <a:ext cx="5175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Lighting, camera, shift, product variant</a:t>
            </a:r>
            <a:endParaRPr lang="en-US" sz="1050" dirty="0"/>
          </a:p>
        </p:txBody>
      </p:sp>
      <p:sp>
        <p:nvSpPr>
          <p:cNvPr id="42" name="Shape 40"/>
          <p:cNvSpPr/>
          <p:nvPr/>
        </p:nvSpPr>
        <p:spPr>
          <a:xfrm>
            <a:off x="640080" y="5120640"/>
            <a:ext cx="10881360" cy="868680"/>
          </a:xfrm>
          <a:prstGeom prst="roundRect">
            <a:avLst>
              <a:gd name="adj" fmla="val 6316"/>
            </a:avLst>
          </a:prstGeom>
          <a:solidFill>
            <a:srgbClr val="E4EEF4"/>
          </a:solidFill>
          <a:ln w="12700">
            <a:solidFill>
              <a:srgbClr val="C9DCE7"/>
            </a:solidFill>
            <a:prstDash val="solid"/>
          </a:ln>
        </p:spPr>
      </p:sp>
      <p:sp>
        <p:nvSpPr>
          <p:cNvPr id="43" name="Text 41"/>
          <p:cNvSpPr/>
          <p:nvPr/>
        </p:nvSpPr>
        <p:spPr>
          <a:xfrm>
            <a:off x="914400" y="5285232"/>
            <a:ext cx="10332720" cy="566928"/>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Deliverable: a ranked failure taxonomy with counts, and one clear statement of whether the constraint is labels, capture conditions, coverage or the model itself.</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indent="0" marL="0">
              <a:buNone/>
            </a:pPr>
            <a:r>
              <a:rPr lang="en-US" sz="1200" b="1" spc="300" kern="0" dirty="0">
                <a:solidFill>
                  <a:srgbClr val="9FD0E3"/>
                </a:solidFill>
                <a:latin typeface="Calibri" pitchFamily="34" charset="0"/>
                <a:ea typeface="Calibri" pitchFamily="34" charset="-122"/>
                <a:cs typeface="Calibri" pitchFamily="34" charset="-120"/>
              </a:rPr>
              <a:t>MODULE 2</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CV Error Analysis and Hypothesis-Driven Improvement</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indent="0" marL="0">
              <a:lnSpc>
                <a:spcPts val="2100"/>
              </a:lnSpc>
              <a:buNone/>
            </a:pPr>
            <a:r>
              <a:rPr lang="en-US" sz="1500" dirty="0">
                <a:solidFill>
                  <a:srgbClr val="D5E8F0"/>
                </a:solidFill>
                <a:latin typeface="Calibri" pitchFamily="34" charset="0"/>
                <a:ea typeface="Calibri" pitchFamily="34" charset="-122"/>
                <a:cs typeface="Calibri" pitchFamily="34" charset="-120"/>
              </a:rPr>
              <a:t>The failure categories specific to industrial vision, and the improvement hypotheses that follow from each.</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vision failure taxonomy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640080" y="1234440"/>
            <a:ext cx="2194560" cy="384048"/>
          </a:xfrm>
          <a:prstGeom prst="rect">
            <a:avLst/>
          </a:prstGeom>
          <a:solidFill>
            <a:srgbClr val="21295C"/>
          </a:solidFill>
          <a:ln/>
        </p:spPr>
      </p:sp>
      <p:sp>
        <p:nvSpPr>
          <p:cNvPr id="6" name="Text 4"/>
          <p:cNvSpPr/>
          <p:nvPr/>
        </p:nvSpPr>
        <p:spPr>
          <a:xfrm>
            <a:off x="749808" y="1234440"/>
            <a:ext cx="19751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Failure mode</a:t>
            </a:r>
            <a:endParaRPr lang="en-US" sz="1100" dirty="0"/>
          </a:p>
        </p:txBody>
      </p:sp>
      <p:sp>
        <p:nvSpPr>
          <p:cNvPr id="7" name="Shape 5"/>
          <p:cNvSpPr/>
          <p:nvPr/>
        </p:nvSpPr>
        <p:spPr>
          <a:xfrm>
            <a:off x="2834640" y="1234440"/>
            <a:ext cx="3931920" cy="384048"/>
          </a:xfrm>
          <a:prstGeom prst="rect">
            <a:avLst/>
          </a:prstGeom>
          <a:solidFill>
            <a:srgbClr val="21295C"/>
          </a:solidFill>
          <a:ln/>
        </p:spPr>
      </p:sp>
      <p:sp>
        <p:nvSpPr>
          <p:cNvPr id="8" name="Text 6"/>
          <p:cNvSpPr/>
          <p:nvPr/>
        </p:nvSpPr>
        <p:spPr>
          <a:xfrm>
            <a:off x="2944368" y="1234440"/>
            <a:ext cx="37124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Signature</a:t>
            </a:r>
            <a:endParaRPr lang="en-US" sz="1100" dirty="0"/>
          </a:p>
        </p:txBody>
      </p:sp>
      <p:sp>
        <p:nvSpPr>
          <p:cNvPr id="9" name="Shape 7"/>
          <p:cNvSpPr/>
          <p:nvPr/>
        </p:nvSpPr>
        <p:spPr>
          <a:xfrm>
            <a:off x="6766560" y="1234440"/>
            <a:ext cx="4754880" cy="384048"/>
          </a:xfrm>
          <a:prstGeom prst="rect">
            <a:avLst/>
          </a:prstGeom>
          <a:solidFill>
            <a:srgbClr val="21295C"/>
          </a:solidFill>
          <a:ln/>
        </p:spPr>
      </p:sp>
      <p:sp>
        <p:nvSpPr>
          <p:cNvPr id="10" name="Text 8"/>
          <p:cNvSpPr/>
          <p:nvPr/>
        </p:nvSpPr>
        <p:spPr>
          <a:xfrm>
            <a:off x="6876288" y="1234440"/>
            <a:ext cx="45354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First hypothesis to test</a:t>
            </a:r>
            <a:endParaRPr lang="en-US" sz="1100" dirty="0"/>
          </a:p>
        </p:txBody>
      </p:sp>
      <p:sp>
        <p:nvSpPr>
          <p:cNvPr id="11" name="Shape 9"/>
          <p:cNvSpPr/>
          <p:nvPr/>
        </p:nvSpPr>
        <p:spPr>
          <a:xfrm>
            <a:off x="640080" y="1618488"/>
            <a:ext cx="2194560" cy="438912"/>
          </a:xfrm>
          <a:prstGeom prst="rect">
            <a:avLst/>
          </a:prstGeom>
          <a:solidFill>
            <a:srgbClr val="FFFFFF"/>
          </a:solidFill>
          <a:ln w="9525">
            <a:solidFill>
              <a:srgbClr val="E3EBF0"/>
            </a:solidFill>
            <a:prstDash val="solid"/>
          </a:ln>
        </p:spPr>
      </p:sp>
      <p:sp>
        <p:nvSpPr>
          <p:cNvPr id="12" name="Text 10"/>
          <p:cNvSpPr/>
          <p:nvPr/>
        </p:nvSpPr>
        <p:spPr>
          <a:xfrm>
            <a:off x="749808" y="1618488"/>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Small object</a:t>
            </a:r>
            <a:endParaRPr lang="en-US" sz="1050" dirty="0"/>
          </a:p>
        </p:txBody>
      </p:sp>
      <p:sp>
        <p:nvSpPr>
          <p:cNvPr id="13" name="Shape 11"/>
          <p:cNvSpPr/>
          <p:nvPr/>
        </p:nvSpPr>
        <p:spPr>
          <a:xfrm>
            <a:off x="2834640" y="1618488"/>
            <a:ext cx="3931920" cy="438912"/>
          </a:xfrm>
          <a:prstGeom prst="rect">
            <a:avLst/>
          </a:prstGeom>
          <a:solidFill>
            <a:srgbClr val="FFFFFF"/>
          </a:solidFill>
          <a:ln w="9525">
            <a:solidFill>
              <a:srgbClr val="E3EBF0"/>
            </a:solidFill>
            <a:prstDash val="solid"/>
          </a:ln>
        </p:spPr>
      </p:sp>
      <p:sp>
        <p:nvSpPr>
          <p:cNvPr id="14" name="Text 12"/>
          <p:cNvSpPr/>
          <p:nvPr/>
        </p:nvSpPr>
        <p:spPr>
          <a:xfrm>
            <a:off x="2944368" y="1618488"/>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Recall drops sharply with defect size</a:t>
            </a:r>
            <a:endParaRPr lang="en-US" sz="1050" dirty="0"/>
          </a:p>
        </p:txBody>
      </p:sp>
      <p:sp>
        <p:nvSpPr>
          <p:cNvPr id="15" name="Shape 13"/>
          <p:cNvSpPr/>
          <p:nvPr/>
        </p:nvSpPr>
        <p:spPr>
          <a:xfrm>
            <a:off x="6766560" y="1618488"/>
            <a:ext cx="4754880" cy="438912"/>
          </a:xfrm>
          <a:prstGeom prst="rect">
            <a:avLst/>
          </a:prstGeom>
          <a:solidFill>
            <a:srgbClr val="FFFFFF"/>
          </a:solidFill>
          <a:ln w="9525">
            <a:solidFill>
              <a:srgbClr val="E3EBF0"/>
            </a:solidFill>
            <a:prstDash val="solid"/>
          </a:ln>
        </p:spPr>
      </p:sp>
      <p:sp>
        <p:nvSpPr>
          <p:cNvPr id="16" name="Text 14"/>
          <p:cNvSpPr/>
          <p:nvPr/>
        </p:nvSpPr>
        <p:spPr>
          <a:xfrm>
            <a:off x="6876288" y="1618488"/>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Increase input resolution or tile the image before inference</a:t>
            </a:r>
            <a:endParaRPr lang="en-US" sz="1050" dirty="0"/>
          </a:p>
        </p:txBody>
      </p:sp>
      <p:sp>
        <p:nvSpPr>
          <p:cNvPr id="17" name="Shape 15"/>
          <p:cNvSpPr/>
          <p:nvPr/>
        </p:nvSpPr>
        <p:spPr>
          <a:xfrm>
            <a:off x="640080" y="2057400"/>
            <a:ext cx="2194560" cy="438912"/>
          </a:xfrm>
          <a:prstGeom prst="rect">
            <a:avLst/>
          </a:prstGeom>
          <a:solidFill>
            <a:srgbClr val="F5F9FB"/>
          </a:solidFill>
          <a:ln w="9525">
            <a:solidFill>
              <a:srgbClr val="E3EBF0"/>
            </a:solidFill>
            <a:prstDash val="solid"/>
          </a:ln>
        </p:spPr>
      </p:sp>
      <p:sp>
        <p:nvSpPr>
          <p:cNvPr id="18" name="Text 16"/>
          <p:cNvSpPr/>
          <p:nvPr/>
        </p:nvSpPr>
        <p:spPr>
          <a:xfrm>
            <a:off x="749808" y="2057400"/>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Low contrast</a:t>
            </a:r>
            <a:endParaRPr lang="en-US" sz="1050" dirty="0"/>
          </a:p>
        </p:txBody>
      </p:sp>
      <p:sp>
        <p:nvSpPr>
          <p:cNvPr id="19" name="Shape 17"/>
          <p:cNvSpPr/>
          <p:nvPr/>
        </p:nvSpPr>
        <p:spPr>
          <a:xfrm>
            <a:off x="2834640" y="2057400"/>
            <a:ext cx="3931920" cy="438912"/>
          </a:xfrm>
          <a:prstGeom prst="rect">
            <a:avLst/>
          </a:prstGeom>
          <a:solidFill>
            <a:srgbClr val="F5F9FB"/>
          </a:solidFill>
          <a:ln w="9525">
            <a:solidFill>
              <a:srgbClr val="E3EBF0"/>
            </a:solidFill>
            <a:prstDash val="solid"/>
          </a:ln>
        </p:spPr>
      </p:sp>
      <p:sp>
        <p:nvSpPr>
          <p:cNvPr id="20" name="Text 18"/>
          <p:cNvSpPr/>
          <p:nvPr/>
        </p:nvSpPr>
        <p:spPr>
          <a:xfrm>
            <a:off x="2944368" y="2057400"/>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Failures cluster on particular finishes or lighting</a:t>
            </a:r>
            <a:endParaRPr lang="en-US" sz="1050" dirty="0"/>
          </a:p>
        </p:txBody>
      </p:sp>
      <p:sp>
        <p:nvSpPr>
          <p:cNvPr id="21" name="Shape 19"/>
          <p:cNvSpPr/>
          <p:nvPr/>
        </p:nvSpPr>
        <p:spPr>
          <a:xfrm>
            <a:off x="6766560" y="2057400"/>
            <a:ext cx="4754880" cy="438912"/>
          </a:xfrm>
          <a:prstGeom prst="rect">
            <a:avLst/>
          </a:prstGeom>
          <a:solidFill>
            <a:srgbClr val="F5F9FB"/>
          </a:solidFill>
          <a:ln w="9525">
            <a:solidFill>
              <a:srgbClr val="E3EBF0"/>
            </a:solidFill>
            <a:prstDash val="solid"/>
          </a:ln>
        </p:spPr>
      </p:sp>
      <p:sp>
        <p:nvSpPr>
          <p:cNvPr id="22" name="Text 20"/>
          <p:cNvSpPr/>
          <p:nvPr/>
        </p:nvSpPr>
        <p:spPr>
          <a:xfrm>
            <a:off x="6876288" y="2057400"/>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Improve capture lighting; add contrast-matched training data</a:t>
            </a:r>
            <a:endParaRPr lang="en-US" sz="1050" dirty="0"/>
          </a:p>
        </p:txBody>
      </p:sp>
      <p:sp>
        <p:nvSpPr>
          <p:cNvPr id="23" name="Shape 21"/>
          <p:cNvSpPr/>
          <p:nvPr/>
        </p:nvSpPr>
        <p:spPr>
          <a:xfrm>
            <a:off x="640080" y="2496312"/>
            <a:ext cx="2194560" cy="438912"/>
          </a:xfrm>
          <a:prstGeom prst="rect">
            <a:avLst/>
          </a:prstGeom>
          <a:solidFill>
            <a:srgbClr val="FFFFFF"/>
          </a:solidFill>
          <a:ln w="9525">
            <a:solidFill>
              <a:srgbClr val="E3EBF0"/>
            </a:solidFill>
            <a:prstDash val="solid"/>
          </a:ln>
        </p:spPr>
      </p:sp>
      <p:sp>
        <p:nvSpPr>
          <p:cNvPr id="24" name="Text 22"/>
          <p:cNvSpPr/>
          <p:nvPr/>
        </p:nvSpPr>
        <p:spPr>
          <a:xfrm>
            <a:off x="749808" y="2496312"/>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Occlusion</a:t>
            </a:r>
            <a:endParaRPr lang="en-US" sz="1050" dirty="0"/>
          </a:p>
        </p:txBody>
      </p:sp>
      <p:sp>
        <p:nvSpPr>
          <p:cNvPr id="25" name="Shape 23"/>
          <p:cNvSpPr/>
          <p:nvPr/>
        </p:nvSpPr>
        <p:spPr>
          <a:xfrm>
            <a:off x="2834640" y="2496312"/>
            <a:ext cx="3931920" cy="438912"/>
          </a:xfrm>
          <a:prstGeom prst="rect">
            <a:avLst/>
          </a:prstGeom>
          <a:solidFill>
            <a:srgbClr val="FFFFFF"/>
          </a:solidFill>
          <a:ln w="9525">
            <a:solidFill>
              <a:srgbClr val="E3EBF0"/>
            </a:solidFill>
            <a:prstDash val="solid"/>
          </a:ln>
        </p:spPr>
      </p:sp>
      <p:sp>
        <p:nvSpPr>
          <p:cNvPr id="26" name="Text 24"/>
          <p:cNvSpPr/>
          <p:nvPr/>
        </p:nvSpPr>
        <p:spPr>
          <a:xfrm>
            <a:off x="2944368" y="2496312"/>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Failures where the defect is partly hidden</a:t>
            </a:r>
            <a:endParaRPr lang="en-US" sz="1050" dirty="0"/>
          </a:p>
        </p:txBody>
      </p:sp>
      <p:sp>
        <p:nvSpPr>
          <p:cNvPr id="27" name="Shape 25"/>
          <p:cNvSpPr/>
          <p:nvPr/>
        </p:nvSpPr>
        <p:spPr>
          <a:xfrm>
            <a:off x="6766560" y="2496312"/>
            <a:ext cx="4754880" cy="438912"/>
          </a:xfrm>
          <a:prstGeom prst="rect">
            <a:avLst/>
          </a:prstGeom>
          <a:solidFill>
            <a:srgbClr val="FFFFFF"/>
          </a:solidFill>
          <a:ln w="9525">
            <a:solidFill>
              <a:srgbClr val="E3EBF0"/>
            </a:solidFill>
            <a:prstDash val="solid"/>
          </a:ln>
        </p:spPr>
      </p:sp>
      <p:sp>
        <p:nvSpPr>
          <p:cNvPr id="28" name="Text 26"/>
          <p:cNvSpPr/>
          <p:nvPr/>
        </p:nvSpPr>
        <p:spPr>
          <a:xfrm>
            <a:off x="6876288" y="2496312"/>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Add occluded examples; consider segmentation over detection</a:t>
            </a:r>
            <a:endParaRPr lang="en-US" sz="1050" dirty="0"/>
          </a:p>
        </p:txBody>
      </p:sp>
      <p:sp>
        <p:nvSpPr>
          <p:cNvPr id="29" name="Shape 27"/>
          <p:cNvSpPr/>
          <p:nvPr/>
        </p:nvSpPr>
        <p:spPr>
          <a:xfrm>
            <a:off x="640080" y="2935224"/>
            <a:ext cx="2194560" cy="438912"/>
          </a:xfrm>
          <a:prstGeom prst="rect">
            <a:avLst/>
          </a:prstGeom>
          <a:solidFill>
            <a:srgbClr val="F5F9FB"/>
          </a:solidFill>
          <a:ln w="9525">
            <a:solidFill>
              <a:srgbClr val="E3EBF0"/>
            </a:solidFill>
            <a:prstDash val="solid"/>
          </a:ln>
        </p:spPr>
      </p:sp>
      <p:sp>
        <p:nvSpPr>
          <p:cNvPr id="30" name="Text 28"/>
          <p:cNvSpPr/>
          <p:nvPr/>
        </p:nvSpPr>
        <p:spPr>
          <a:xfrm>
            <a:off x="749808" y="2935224"/>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Class confusion</a:t>
            </a:r>
            <a:endParaRPr lang="en-US" sz="1050" dirty="0"/>
          </a:p>
        </p:txBody>
      </p:sp>
      <p:sp>
        <p:nvSpPr>
          <p:cNvPr id="31" name="Shape 29"/>
          <p:cNvSpPr/>
          <p:nvPr/>
        </p:nvSpPr>
        <p:spPr>
          <a:xfrm>
            <a:off x="2834640" y="2935224"/>
            <a:ext cx="3931920" cy="438912"/>
          </a:xfrm>
          <a:prstGeom prst="rect">
            <a:avLst/>
          </a:prstGeom>
          <a:solidFill>
            <a:srgbClr val="F5F9FB"/>
          </a:solidFill>
          <a:ln w="9525">
            <a:solidFill>
              <a:srgbClr val="E3EBF0"/>
            </a:solidFill>
            <a:prstDash val="solid"/>
          </a:ln>
        </p:spPr>
      </p:sp>
      <p:sp>
        <p:nvSpPr>
          <p:cNvPr id="32" name="Text 30"/>
          <p:cNvSpPr/>
          <p:nvPr/>
        </p:nvSpPr>
        <p:spPr>
          <a:xfrm>
            <a:off x="2944368" y="2935224"/>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Two classes are systematically swapped</a:t>
            </a:r>
            <a:endParaRPr lang="en-US" sz="1050" dirty="0"/>
          </a:p>
        </p:txBody>
      </p:sp>
      <p:sp>
        <p:nvSpPr>
          <p:cNvPr id="33" name="Shape 31"/>
          <p:cNvSpPr/>
          <p:nvPr/>
        </p:nvSpPr>
        <p:spPr>
          <a:xfrm>
            <a:off x="6766560" y="2935224"/>
            <a:ext cx="4754880" cy="438912"/>
          </a:xfrm>
          <a:prstGeom prst="rect">
            <a:avLst/>
          </a:prstGeom>
          <a:solidFill>
            <a:srgbClr val="F5F9FB"/>
          </a:solidFill>
          <a:ln w="9525">
            <a:solidFill>
              <a:srgbClr val="E3EBF0"/>
            </a:solidFill>
            <a:prstDash val="solid"/>
          </a:ln>
        </p:spPr>
      </p:sp>
      <p:sp>
        <p:nvSpPr>
          <p:cNvPr id="34" name="Text 32"/>
          <p:cNvSpPr/>
          <p:nvPr/>
        </p:nvSpPr>
        <p:spPr>
          <a:xfrm>
            <a:off x="6876288" y="2935224"/>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class definitions overlap — this is a labelling problem</a:t>
            </a:r>
            <a:endParaRPr lang="en-US" sz="1050" dirty="0"/>
          </a:p>
        </p:txBody>
      </p:sp>
      <p:sp>
        <p:nvSpPr>
          <p:cNvPr id="35" name="Shape 33"/>
          <p:cNvSpPr/>
          <p:nvPr/>
        </p:nvSpPr>
        <p:spPr>
          <a:xfrm>
            <a:off x="640080" y="3374136"/>
            <a:ext cx="2194560" cy="438912"/>
          </a:xfrm>
          <a:prstGeom prst="rect">
            <a:avLst/>
          </a:prstGeom>
          <a:solidFill>
            <a:srgbClr val="FFFFFF"/>
          </a:solidFill>
          <a:ln w="9525">
            <a:solidFill>
              <a:srgbClr val="E3EBF0"/>
            </a:solidFill>
            <a:prstDash val="solid"/>
          </a:ln>
        </p:spPr>
      </p:sp>
      <p:sp>
        <p:nvSpPr>
          <p:cNvPr id="36" name="Text 34"/>
          <p:cNvSpPr/>
          <p:nvPr/>
        </p:nvSpPr>
        <p:spPr>
          <a:xfrm>
            <a:off x="749808" y="3374136"/>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Poor labelling</a:t>
            </a:r>
            <a:endParaRPr lang="en-US" sz="1050" dirty="0"/>
          </a:p>
        </p:txBody>
      </p:sp>
      <p:sp>
        <p:nvSpPr>
          <p:cNvPr id="37" name="Shape 35"/>
          <p:cNvSpPr/>
          <p:nvPr/>
        </p:nvSpPr>
        <p:spPr>
          <a:xfrm>
            <a:off x="2834640" y="3374136"/>
            <a:ext cx="3931920" cy="438912"/>
          </a:xfrm>
          <a:prstGeom prst="rect">
            <a:avLst/>
          </a:prstGeom>
          <a:solidFill>
            <a:srgbClr val="FFFFFF"/>
          </a:solidFill>
          <a:ln w="9525">
            <a:solidFill>
              <a:srgbClr val="E3EBF0"/>
            </a:solidFill>
            <a:prstDash val="solid"/>
          </a:ln>
        </p:spPr>
      </p:sp>
      <p:sp>
        <p:nvSpPr>
          <p:cNvPr id="38" name="Text 36"/>
          <p:cNvSpPr/>
          <p:nvPr/>
        </p:nvSpPr>
        <p:spPr>
          <a:xfrm>
            <a:off x="2944368" y="3374136"/>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Disagreement between annotators on failures</a:t>
            </a:r>
            <a:endParaRPr lang="en-US" sz="1050" dirty="0"/>
          </a:p>
        </p:txBody>
      </p:sp>
      <p:sp>
        <p:nvSpPr>
          <p:cNvPr id="39" name="Shape 37"/>
          <p:cNvSpPr/>
          <p:nvPr/>
        </p:nvSpPr>
        <p:spPr>
          <a:xfrm>
            <a:off x="6766560" y="3374136"/>
            <a:ext cx="4754880" cy="438912"/>
          </a:xfrm>
          <a:prstGeom prst="rect">
            <a:avLst/>
          </a:prstGeom>
          <a:solidFill>
            <a:srgbClr val="FFFFFF"/>
          </a:solidFill>
          <a:ln w="9525">
            <a:solidFill>
              <a:srgbClr val="E3EBF0"/>
            </a:solidFill>
            <a:prstDash val="solid"/>
          </a:ln>
        </p:spPr>
      </p:sp>
      <p:sp>
        <p:nvSpPr>
          <p:cNvPr id="40" name="Text 38"/>
          <p:cNvSpPr/>
          <p:nvPr/>
        </p:nvSpPr>
        <p:spPr>
          <a:xfrm>
            <a:off x="6876288" y="3374136"/>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Rewrite the guideline with visual boundary examples, then re-label</a:t>
            </a:r>
            <a:endParaRPr lang="en-US" sz="1050" dirty="0"/>
          </a:p>
        </p:txBody>
      </p:sp>
      <p:sp>
        <p:nvSpPr>
          <p:cNvPr id="41" name="Shape 39"/>
          <p:cNvSpPr/>
          <p:nvPr/>
        </p:nvSpPr>
        <p:spPr>
          <a:xfrm>
            <a:off x="640080" y="3813048"/>
            <a:ext cx="2194560" cy="438912"/>
          </a:xfrm>
          <a:prstGeom prst="rect">
            <a:avLst/>
          </a:prstGeom>
          <a:solidFill>
            <a:srgbClr val="F5F9FB"/>
          </a:solidFill>
          <a:ln w="9525">
            <a:solidFill>
              <a:srgbClr val="E3EBF0"/>
            </a:solidFill>
            <a:prstDash val="solid"/>
          </a:ln>
        </p:spPr>
      </p:sp>
      <p:sp>
        <p:nvSpPr>
          <p:cNvPr id="42" name="Text 40"/>
          <p:cNvSpPr/>
          <p:nvPr/>
        </p:nvSpPr>
        <p:spPr>
          <a:xfrm>
            <a:off x="749808" y="3813048"/>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Class imbalance</a:t>
            </a:r>
            <a:endParaRPr lang="en-US" sz="1050" dirty="0"/>
          </a:p>
        </p:txBody>
      </p:sp>
      <p:sp>
        <p:nvSpPr>
          <p:cNvPr id="43" name="Shape 41"/>
          <p:cNvSpPr/>
          <p:nvPr/>
        </p:nvSpPr>
        <p:spPr>
          <a:xfrm>
            <a:off x="2834640" y="3813048"/>
            <a:ext cx="3931920" cy="438912"/>
          </a:xfrm>
          <a:prstGeom prst="rect">
            <a:avLst/>
          </a:prstGeom>
          <a:solidFill>
            <a:srgbClr val="F5F9FB"/>
          </a:solidFill>
          <a:ln w="9525">
            <a:solidFill>
              <a:srgbClr val="E3EBF0"/>
            </a:solidFill>
            <a:prstDash val="solid"/>
          </a:ln>
        </p:spPr>
      </p:sp>
      <p:sp>
        <p:nvSpPr>
          <p:cNvPr id="44" name="Text 42"/>
          <p:cNvSpPr/>
          <p:nvPr/>
        </p:nvSpPr>
        <p:spPr>
          <a:xfrm>
            <a:off x="2944368" y="3813048"/>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One class has very few examples and poor recall</a:t>
            </a:r>
            <a:endParaRPr lang="en-US" sz="1050" dirty="0"/>
          </a:p>
        </p:txBody>
      </p:sp>
      <p:sp>
        <p:nvSpPr>
          <p:cNvPr id="45" name="Shape 43"/>
          <p:cNvSpPr/>
          <p:nvPr/>
        </p:nvSpPr>
        <p:spPr>
          <a:xfrm>
            <a:off x="6766560" y="3813048"/>
            <a:ext cx="4754880" cy="438912"/>
          </a:xfrm>
          <a:prstGeom prst="rect">
            <a:avLst/>
          </a:prstGeom>
          <a:solidFill>
            <a:srgbClr val="F5F9FB"/>
          </a:solidFill>
          <a:ln w="9525">
            <a:solidFill>
              <a:srgbClr val="E3EBF0"/>
            </a:solidFill>
            <a:prstDash val="solid"/>
          </a:ln>
        </p:spPr>
      </p:sp>
      <p:sp>
        <p:nvSpPr>
          <p:cNvPr id="46" name="Text 44"/>
          <p:cNvSpPr/>
          <p:nvPr/>
        </p:nvSpPr>
        <p:spPr>
          <a:xfrm>
            <a:off x="6876288" y="3813048"/>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Targeted collection, class weighting, or merge the class</a:t>
            </a:r>
            <a:endParaRPr lang="en-US" sz="1050" dirty="0"/>
          </a:p>
        </p:txBody>
      </p:sp>
      <p:sp>
        <p:nvSpPr>
          <p:cNvPr id="47" name="Shape 45"/>
          <p:cNvSpPr/>
          <p:nvPr/>
        </p:nvSpPr>
        <p:spPr>
          <a:xfrm>
            <a:off x="640080" y="4251960"/>
            <a:ext cx="2194560" cy="438912"/>
          </a:xfrm>
          <a:prstGeom prst="rect">
            <a:avLst/>
          </a:prstGeom>
          <a:solidFill>
            <a:srgbClr val="FFFFFF"/>
          </a:solidFill>
          <a:ln w="9525">
            <a:solidFill>
              <a:srgbClr val="E3EBF0"/>
            </a:solidFill>
            <a:prstDash val="solid"/>
          </a:ln>
        </p:spPr>
      </p:sp>
      <p:sp>
        <p:nvSpPr>
          <p:cNvPr id="48" name="Text 46"/>
          <p:cNvSpPr/>
          <p:nvPr/>
        </p:nvSpPr>
        <p:spPr>
          <a:xfrm>
            <a:off x="749808" y="4251960"/>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Domain shift</a:t>
            </a:r>
            <a:endParaRPr lang="en-US" sz="1050" dirty="0"/>
          </a:p>
        </p:txBody>
      </p:sp>
      <p:sp>
        <p:nvSpPr>
          <p:cNvPr id="49" name="Shape 47"/>
          <p:cNvSpPr/>
          <p:nvPr/>
        </p:nvSpPr>
        <p:spPr>
          <a:xfrm>
            <a:off x="2834640" y="4251960"/>
            <a:ext cx="3931920" cy="438912"/>
          </a:xfrm>
          <a:prstGeom prst="rect">
            <a:avLst/>
          </a:prstGeom>
          <a:solidFill>
            <a:srgbClr val="FFFFFF"/>
          </a:solidFill>
          <a:ln w="9525">
            <a:solidFill>
              <a:srgbClr val="E3EBF0"/>
            </a:solidFill>
            <a:prstDash val="solid"/>
          </a:ln>
        </p:spPr>
      </p:sp>
      <p:sp>
        <p:nvSpPr>
          <p:cNvPr id="50" name="Text 48"/>
          <p:cNvSpPr/>
          <p:nvPr/>
        </p:nvSpPr>
        <p:spPr>
          <a:xfrm>
            <a:off x="2944368" y="4251960"/>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Performance fell after a physical change</a:t>
            </a:r>
            <a:endParaRPr lang="en-US" sz="1050" dirty="0"/>
          </a:p>
        </p:txBody>
      </p:sp>
      <p:sp>
        <p:nvSpPr>
          <p:cNvPr id="51" name="Shape 49"/>
          <p:cNvSpPr/>
          <p:nvPr/>
        </p:nvSpPr>
        <p:spPr>
          <a:xfrm>
            <a:off x="6766560" y="4251960"/>
            <a:ext cx="4754880" cy="438912"/>
          </a:xfrm>
          <a:prstGeom prst="rect">
            <a:avLst/>
          </a:prstGeom>
          <a:solidFill>
            <a:srgbClr val="FFFFFF"/>
          </a:solidFill>
          <a:ln w="9525">
            <a:solidFill>
              <a:srgbClr val="E3EBF0"/>
            </a:solidFill>
            <a:prstDash val="solid"/>
          </a:ln>
        </p:spPr>
      </p:sp>
      <p:sp>
        <p:nvSpPr>
          <p:cNvPr id="52" name="Text 50"/>
          <p:cNvSpPr/>
          <p:nvPr/>
        </p:nvSpPr>
        <p:spPr>
          <a:xfrm>
            <a:off x="6876288" y="4251960"/>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Recapture training data under current conditions</a:t>
            </a:r>
            <a:endParaRPr lang="en-US" sz="1050" dirty="0"/>
          </a:p>
        </p:txBody>
      </p:sp>
      <p:sp>
        <p:nvSpPr>
          <p:cNvPr id="53" name="Shape 51"/>
          <p:cNvSpPr/>
          <p:nvPr/>
        </p:nvSpPr>
        <p:spPr>
          <a:xfrm>
            <a:off x="640080" y="4690872"/>
            <a:ext cx="2194560" cy="438912"/>
          </a:xfrm>
          <a:prstGeom prst="rect">
            <a:avLst/>
          </a:prstGeom>
          <a:solidFill>
            <a:srgbClr val="F5F9FB"/>
          </a:solidFill>
          <a:ln w="9525">
            <a:solidFill>
              <a:srgbClr val="E3EBF0"/>
            </a:solidFill>
            <a:prstDash val="solid"/>
          </a:ln>
        </p:spPr>
      </p:sp>
      <p:sp>
        <p:nvSpPr>
          <p:cNvPr id="54" name="Text 52"/>
          <p:cNvSpPr/>
          <p:nvPr/>
        </p:nvSpPr>
        <p:spPr>
          <a:xfrm>
            <a:off x="749808" y="4690872"/>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Production drift</a:t>
            </a:r>
            <a:endParaRPr lang="en-US" sz="1050" dirty="0"/>
          </a:p>
        </p:txBody>
      </p:sp>
      <p:sp>
        <p:nvSpPr>
          <p:cNvPr id="55" name="Shape 53"/>
          <p:cNvSpPr/>
          <p:nvPr/>
        </p:nvSpPr>
        <p:spPr>
          <a:xfrm>
            <a:off x="2834640" y="4690872"/>
            <a:ext cx="3931920" cy="438912"/>
          </a:xfrm>
          <a:prstGeom prst="rect">
            <a:avLst/>
          </a:prstGeom>
          <a:solidFill>
            <a:srgbClr val="F5F9FB"/>
          </a:solidFill>
          <a:ln w="9525">
            <a:solidFill>
              <a:srgbClr val="E3EBF0"/>
            </a:solidFill>
            <a:prstDash val="solid"/>
          </a:ln>
        </p:spPr>
      </p:sp>
      <p:sp>
        <p:nvSpPr>
          <p:cNvPr id="56" name="Text 54"/>
          <p:cNvSpPr/>
          <p:nvPr/>
        </p:nvSpPr>
        <p:spPr>
          <a:xfrm>
            <a:off x="2944368" y="4690872"/>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Gradual decline over weeks with no single cause</a:t>
            </a:r>
            <a:endParaRPr lang="en-US" sz="1050" dirty="0"/>
          </a:p>
        </p:txBody>
      </p:sp>
      <p:sp>
        <p:nvSpPr>
          <p:cNvPr id="57" name="Shape 55"/>
          <p:cNvSpPr/>
          <p:nvPr/>
        </p:nvSpPr>
        <p:spPr>
          <a:xfrm>
            <a:off x="6766560" y="4690872"/>
            <a:ext cx="4754880" cy="438912"/>
          </a:xfrm>
          <a:prstGeom prst="rect">
            <a:avLst/>
          </a:prstGeom>
          <a:solidFill>
            <a:srgbClr val="F5F9FB"/>
          </a:solidFill>
          <a:ln w="9525">
            <a:solidFill>
              <a:srgbClr val="E3EBF0"/>
            </a:solidFill>
            <a:prstDash val="solid"/>
          </a:ln>
        </p:spPr>
      </p:sp>
      <p:sp>
        <p:nvSpPr>
          <p:cNvPr id="58" name="Text 56"/>
          <p:cNvSpPr/>
          <p:nvPr/>
        </p:nvSpPr>
        <p:spPr>
          <a:xfrm>
            <a:off x="6876288" y="4690872"/>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Scheduled evaluation on a fresh labelled sample</a:t>
            </a:r>
            <a:endParaRPr lang="en-US" sz="1050" dirty="0"/>
          </a:p>
        </p:txBody>
      </p:sp>
      <p:sp>
        <p:nvSpPr>
          <p:cNvPr id="59" name="Shape 57"/>
          <p:cNvSpPr/>
          <p:nvPr/>
        </p:nvSpPr>
        <p:spPr>
          <a:xfrm>
            <a:off x="640080" y="5129784"/>
            <a:ext cx="2194560" cy="438912"/>
          </a:xfrm>
          <a:prstGeom prst="rect">
            <a:avLst/>
          </a:prstGeom>
          <a:solidFill>
            <a:srgbClr val="FFFFFF"/>
          </a:solidFill>
          <a:ln w="9525">
            <a:solidFill>
              <a:srgbClr val="E3EBF0"/>
            </a:solidFill>
            <a:prstDash val="solid"/>
          </a:ln>
        </p:spPr>
      </p:sp>
      <p:sp>
        <p:nvSpPr>
          <p:cNvPr id="60" name="Text 58"/>
          <p:cNvSpPr/>
          <p:nvPr/>
        </p:nvSpPr>
        <p:spPr>
          <a:xfrm>
            <a:off x="749808" y="5129784"/>
            <a:ext cx="1975104" cy="438912"/>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Threshold misplacement</a:t>
            </a:r>
            <a:endParaRPr lang="en-US" sz="1050" dirty="0"/>
          </a:p>
        </p:txBody>
      </p:sp>
      <p:sp>
        <p:nvSpPr>
          <p:cNvPr id="61" name="Shape 59"/>
          <p:cNvSpPr/>
          <p:nvPr/>
        </p:nvSpPr>
        <p:spPr>
          <a:xfrm>
            <a:off x="2834640" y="5129784"/>
            <a:ext cx="3931920" cy="438912"/>
          </a:xfrm>
          <a:prstGeom prst="rect">
            <a:avLst/>
          </a:prstGeom>
          <a:solidFill>
            <a:srgbClr val="FFFFFF"/>
          </a:solidFill>
          <a:ln w="9525">
            <a:solidFill>
              <a:srgbClr val="E3EBF0"/>
            </a:solidFill>
            <a:prstDash val="solid"/>
          </a:ln>
        </p:spPr>
      </p:sp>
      <p:sp>
        <p:nvSpPr>
          <p:cNvPr id="62" name="Text 60"/>
          <p:cNvSpPr/>
          <p:nvPr/>
        </p:nvSpPr>
        <p:spPr>
          <a:xfrm>
            <a:off x="2944368" y="5129784"/>
            <a:ext cx="371246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Precision and recall both plausible but the mix is wrong</a:t>
            </a:r>
            <a:endParaRPr lang="en-US" sz="1050" dirty="0"/>
          </a:p>
        </p:txBody>
      </p:sp>
      <p:sp>
        <p:nvSpPr>
          <p:cNvPr id="63" name="Shape 61"/>
          <p:cNvSpPr/>
          <p:nvPr/>
        </p:nvSpPr>
        <p:spPr>
          <a:xfrm>
            <a:off x="6766560" y="5129784"/>
            <a:ext cx="4754880" cy="438912"/>
          </a:xfrm>
          <a:prstGeom prst="rect">
            <a:avLst/>
          </a:prstGeom>
          <a:solidFill>
            <a:srgbClr val="FFFFFF"/>
          </a:solidFill>
          <a:ln w="9525">
            <a:solidFill>
              <a:srgbClr val="E3EBF0"/>
            </a:solidFill>
            <a:prstDash val="solid"/>
          </a:ln>
        </p:spPr>
      </p:sp>
      <p:sp>
        <p:nvSpPr>
          <p:cNvPr id="64" name="Text 62"/>
          <p:cNvSpPr/>
          <p:nvPr/>
        </p:nvSpPr>
        <p:spPr>
          <a:xfrm>
            <a:off x="6876288" y="5129784"/>
            <a:ext cx="4535424" cy="438912"/>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Cost-optimal threshold from Day 1 — no retraining needed</a:t>
            </a:r>
            <a:endParaRPr lang="en-US" sz="1050" dirty="0"/>
          </a:p>
        </p:txBody>
      </p:sp>
      <p:sp>
        <p:nvSpPr>
          <p:cNvPr id="65" name="Text 63"/>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Two of these — poor labelling and threshold misplacement — need no new data and no retraining. Check them first.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Small objects — the most common industrial failure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14</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50" dirty="0">
                <a:solidFill>
                  <a:srgbClr val="5A6B7C"/>
                </a:solidFill>
                <a:latin typeface="Calibri" pitchFamily="34" charset="0"/>
                <a:ea typeface="Calibri" pitchFamily="34" charset="-122"/>
                <a:cs typeface="Calibri" pitchFamily="34" charset="-120"/>
              </a:rPr>
              <a:t>A defect occupying 20 pixels in a 4,000-pixel-wide image is 0.5% of the width. Most detection architectures downsample it out of existence before the detection head sees it.</a:t>
            </a:r>
            <a:endParaRPr lang="en-US" sz="1450" dirty="0"/>
          </a:p>
        </p:txBody>
      </p:sp>
      <p:sp>
        <p:nvSpPr>
          <p:cNvPr id="6" name="Shape 4"/>
          <p:cNvSpPr/>
          <p:nvPr/>
        </p:nvSpPr>
        <p:spPr>
          <a:xfrm>
            <a:off x="640080" y="1783080"/>
            <a:ext cx="2651760" cy="384048"/>
          </a:xfrm>
          <a:prstGeom prst="rect">
            <a:avLst/>
          </a:prstGeom>
          <a:solidFill>
            <a:srgbClr val="21295C"/>
          </a:solidFill>
          <a:ln/>
        </p:spPr>
      </p:sp>
      <p:sp>
        <p:nvSpPr>
          <p:cNvPr id="7" name="Text 5"/>
          <p:cNvSpPr/>
          <p:nvPr/>
        </p:nvSpPr>
        <p:spPr>
          <a:xfrm>
            <a:off x="749808" y="1783080"/>
            <a:ext cx="24323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Approach</a:t>
            </a:r>
            <a:endParaRPr lang="en-US" sz="1100" dirty="0"/>
          </a:p>
        </p:txBody>
      </p:sp>
      <p:sp>
        <p:nvSpPr>
          <p:cNvPr id="8" name="Shape 6"/>
          <p:cNvSpPr/>
          <p:nvPr/>
        </p:nvSpPr>
        <p:spPr>
          <a:xfrm>
            <a:off x="3291840" y="1783080"/>
            <a:ext cx="4572000" cy="384048"/>
          </a:xfrm>
          <a:prstGeom prst="rect">
            <a:avLst/>
          </a:prstGeom>
          <a:solidFill>
            <a:srgbClr val="21295C"/>
          </a:solidFill>
          <a:ln/>
        </p:spPr>
      </p:sp>
      <p:sp>
        <p:nvSpPr>
          <p:cNvPr id="9" name="Text 7"/>
          <p:cNvSpPr/>
          <p:nvPr/>
        </p:nvSpPr>
        <p:spPr>
          <a:xfrm>
            <a:off x="3401568" y="1783080"/>
            <a:ext cx="43525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10" name="Shape 8"/>
          <p:cNvSpPr/>
          <p:nvPr/>
        </p:nvSpPr>
        <p:spPr>
          <a:xfrm>
            <a:off x="7863840" y="1783080"/>
            <a:ext cx="3657600" cy="384048"/>
          </a:xfrm>
          <a:prstGeom prst="rect">
            <a:avLst/>
          </a:prstGeom>
          <a:solidFill>
            <a:srgbClr val="21295C"/>
          </a:solidFill>
          <a:ln/>
        </p:spPr>
      </p:sp>
      <p:sp>
        <p:nvSpPr>
          <p:cNvPr id="11" name="Text 9"/>
          <p:cNvSpPr/>
          <p:nvPr/>
        </p:nvSpPr>
        <p:spPr>
          <a:xfrm>
            <a:off x="7973568" y="1783080"/>
            <a:ext cx="34381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a:t>
            </a:r>
            <a:endParaRPr lang="en-US" sz="1100" dirty="0"/>
          </a:p>
        </p:txBody>
      </p:sp>
      <p:sp>
        <p:nvSpPr>
          <p:cNvPr id="12" name="Shape 10"/>
          <p:cNvSpPr/>
          <p:nvPr/>
        </p:nvSpPr>
        <p:spPr>
          <a:xfrm>
            <a:off x="640080" y="2167128"/>
            <a:ext cx="2651760" cy="566928"/>
          </a:xfrm>
          <a:prstGeom prst="rect">
            <a:avLst/>
          </a:prstGeom>
          <a:solidFill>
            <a:srgbClr val="FFFFFF"/>
          </a:solidFill>
          <a:ln w="9525">
            <a:solidFill>
              <a:srgbClr val="E3EBF0"/>
            </a:solidFill>
            <a:prstDash val="solid"/>
          </a:ln>
        </p:spPr>
      </p:sp>
      <p:sp>
        <p:nvSpPr>
          <p:cNvPr id="13" name="Text 11"/>
          <p:cNvSpPr/>
          <p:nvPr/>
        </p:nvSpPr>
        <p:spPr>
          <a:xfrm>
            <a:off x="749808" y="2167128"/>
            <a:ext cx="24323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Higher input resolution</a:t>
            </a:r>
            <a:endParaRPr lang="en-US" sz="1050" dirty="0"/>
          </a:p>
        </p:txBody>
      </p:sp>
      <p:sp>
        <p:nvSpPr>
          <p:cNvPr id="14" name="Shape 12"/>
          <p:cNvSpPr/>
          <p:nvPr/>
        </p:nvSpPr>
        <p:spPr>
          <a:xfrm>
            <a:off x="3291840" y="2167128"/>
            <a:ext cx="4572000" cy="566928"/>
          </a:xfrm>
          <a:prstGeom prst="rect">
            <a:avLst/>
          </a:prstGeom>
          <a:solidFill>
            <a:srgbClr val="FFFFFF"/>
          </a:solidFill>
          <a:ln w="9525">
            <a:solidFill>
              <a:srgbClr val="E3EBF0"/>
            </a:solidFill>
            <a:prstDash val="solid"/>
          </a:ln>
        </p:spPr>
      </p:sp>
      <p:sp>
        <p:nvSpPr>
          <p:cNvPr id="15" name="Text 13"/>
          <p:cNvSpPr/>
          <p:nvPr/>
        </p:nvSpPr>
        <p:spPr>
          <a:xfrm>
            <a:off x="3401568" y="2167128"/>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Feed the network a larger image</a:t>
            </a:r>
            <a:endParaRPr lang="en-US" sz="1050" dirty="0"/>
          </a:p>
        </p:txBody>
      </p:sp>
      <p:sp>
        <p:nvSpPr>
          <p:cNvPr id="16" name="Shape 14"/>
          <p:cNvSpPr/>
          <p:nvPr/>
        </p:nvSpPr>
        <p:spPr>
          <a:xfrm>
            <a:off x="7863840" y="2167128"/>
            <a:ext cx="3657600" cy="566928"/>
          </a:xfrm>
          <a:prstGeom prst="rect">
            <a:avLst/>
          </a:prstGeom>
          <a:solidFill>
            <a:srgbClr val="FFFFFF"/>
          </a:solidFill>
          <a:ln w="9525">
            <a:solidFill>
              <a:srgbClr val="E3EBF0"/>
            </a:solidFill>
            <a:prstDash val="solid"/>
          </a:ln>
        </p:spPr>
      </p:sp>
      <p:sp>
        <p:nvSpPr>
          <p:cNvPr id="17" name="Text 15"/>
          <p:cNvSpPr/>
          <p:nvPr/>
        </p:nvSpPr>
        <p:spPr>
          <a:xfrm>
            <a:off x="7973568" y="2167128"/>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Memory and latency rise sharply; may exceed edge budget</a:t>
            </a:r>
            <a:endParaRPr lang="en-US" sz="1050" dirty="0"/>
          </a:p>
        </p:txBody>
      </p:sp>
      <p:sp>
        <p:nvSpPr>
          <p:cNvPr id="18" name="Shape 16"/>
          <p:cNvSpPr/>
          <p:nvPr/>
        </p:nvSpPr>
        <p:spPr>
          <a:xfrm>
            <a:off x="640080" y="2734056"/>
            <a:ext cx="2651760" cy="566928"/>
          </a:xfrm>
          <a:prstGeom prst="rect">
            <a:avLst/>
          </a:prstGeom>
          <a:solidFill>
            <a:srgbClr val="F5F9FB"/>
          </a:solidFill>
          <a:ln w="9525">
            <a:solidFill>
              <a:srgbClr val="E3EBF0"/>
            </a:solidFill>
            <a:prstDash val="solid"/>
          </a:ln>
        </p:spPr>
      </p:sp>
      <p:sp>
        <p:nvSpPr>
          <p:cNvPr id="19" name="Text 17"/>
          <p:cNvSpPr/>
          <p:nvPr/>
        </p:nvSpPr>
        <p:spPr>
          <a:xfrm>
            <a:off x="749808" y="2734056"/>
            <a:ext cx="24323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Tiling</a:t>
            </a:r>
            <a:endParaRPr lang="en-US" sz="1050" dirty="0"/>
          </a:p>
        </p:txBody>
      </p:sp>
      <p:sp>
        <p:nvSpPr>
          <p:cNvPr id="20" name="Shape 18"/>
          <p:cNvSpPr/>
          <p:nvPr/>
        </p:nvSpPr>
        <p:spPr>
          <a:xfrm>
            <a:off x="3291840" y="2734056"/>
            <a:ext cx="4572000" cy="566928"/>
          </a:xfrm>
          <a:prstGeom prst="rect">
            <a:avLst/>
          </a:prstGeom>
          <a:solidFill>
            <a:srgbClr val="F5F9FB"/>
          </a:solidFill>
          <a:ln w="9525">
            <a:solidFill>
              <a:srgbClr val="E3EBF0"/>
            </a:solidFill>
            <a:prstDash val="solid"/>
          </a:ln>
        </p:spPr>
      </p:sp>
      <p:sp>
        <p:nvSpPr>
          <p:cNvPr id="21" name="Text 19"/>
          <p:cNvSpPr/>
          <p:nvPr/>
        </p:nvSpPr>
        <p:spPr>
          <a:xfrm>
            <a:off x="3401568" y="2734056"/>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Split the image into overlapping tiles, run inference on each, merge</a:t>
            </a:r>
            <a:endParaRPr lang="en-US" sz="1050" dirty="0"/>
          </a:p>
        </p:txBody>
      </p:sp>
      <p:sp>
        <p:nvSpPr>
          <p:cNvPr id="22" name="Shape 20"/>
          <p:cNvSpPr/>
          <p:nvPr/>
        </p:nvSpPr>
        <p:spPr>
          <a:xfrm>
            <a:off x="7863840" y="2734056"/>
            <a:ext cx="3657600" cy="566928"/>
          </a:xfrm>
          <a:prstGeom prst="rect">
            <a:avLst/>
          </a:prstGeom>
          <a:solidFill>
            <a:srgbClr val="F5F9FB"/>
          </a:solidFill>
          <a:ln w="9525">
            <a:solidFill>
              <a:srgbClr val="E3EBF0"/>
            </a:solidFill>
            <a:prstDash val="solid"/>
          </a:ln>
        </p:spPr>
      </p:sp>
      <p:sp>
        <p:nvSpPr>
          <p:cNvPr id="23" name="Text 21"/>
          <p:cNvSpPr/>
          <p:nvPr/>
        </p:nvSpPr>
        <p:spPr>
          <a:xfrm>
            <a:off x="7973568" y="2734056"/>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Linear increase in inference count; needs careful merge logic</a:t>
            </a:r>
            <a:endParaRPr lang="en-US" sz="1050" dirty="0"/>
          </a:p>
        </p:txBody>
      </p:sp>
      <p:sp>
        <p:nvSpPr>
          <p:cNvPr id="24" name="Shape 22"/>
          <p:cNvSpPr/>
          <p:nvPr/>
        </p:nvSpPr>
        <p:spPr>
          <a:xfrm>
            <a:off x="640080" y="3300984"/>
            <a:ext cx="2651760" cy="566928"/>
          </a:xfrm>
          <a:prstGeom prst="rect">
            <a:avLst/>
          </a:prstGeom>
          <a:solidFill>
            <a:srgbClr val="FFFFFF"/>
          </a:solidFill>
          <a:ln w="9525">
            <a:solidFill>
              <a:srgbClr val="E3EBF0"/>
            </a:solidFill>
            <a:prstDash val="solid"/>
          </a:ln>
        </p:spPr>
      </p:sp>
      <p:sp>
        <p:nvSpPr>
          <p:cNvPr id="25" name="Text 23"/>
          <p:cNvSpPr/>
          <p:nvPr/>
        </p:nvSpPr>
        <p:spPr>
          <a:xfrm>
            <a:off x="749808" y="3300984"/>
            <a:ext cx="24323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Higher optical magnification</a:t>
            </a:r>
            <a:endParaRPr lang="en-US" sz="1050" dirty="0"/>
          </a:p>
        </p:txBody>
      </p:sp>
      <p:sp>
        <p:nvSpPr>
          <p:cNvPr id="26" name="Shape 24"/>
          <p:cNvSpPr/>
          <p:nvPr/>
        </p:nvSpPr>
        <p:spPr>
          <a:xfrm>
            <a:off x="3291840" y="3300984"/>
            <a:ext cx="4572000" cy="566928"/>
          </a:xfrm>
          <a:prstGeom prst="rect">
            <a:avLst/>
          </a:prstGeom>
          <a:solidFill>
            <a:srgbClr val="FFFFFF"/>
          </a:solidFill>
          <a:ln w="9525">
            <a:solidFill>
              <a:srgbClr val="E3EBF0"/>
            </a:solidFill>
            <a:prstDash val="solid"/>
          </a:ln>
        </p:spPr>
      </p:sp>
      <p:sp>
        <p:nvSpPr>
          <p:cNvPr id="27" name="Text 25"/>
          <p:cNvSpPr/>
          <p:nvPr/>
        </p:nvSpPr>
        <p:spPr>
          <a:xfrm>
            <a:off x="3401568" y="3300984"/>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Change the physical setup so the defect is larger</a:t>
            </a:r>
            <a:endParaRPr lang="en-US" sz="1050" dirty="0"/>
          </a:p>
        </p:txBody>
      </p:sp>
      <p:sp>
        <p:nvSpPr>
          <p:cNvPr id="28" name="Shape 26"/>
          <p:cNvSpPr/>
          <p:nvPr/>
        </p:nvSpPr>
        <p:spPr>
          <a:xfrm>
            <a:off x="7863840" y="3300984"/>
            <a:ext cx="3657600" cy="566928"/>
          </a:xfrm>
          <a:prstGeom prst="rect">
            <a:avLst/>
          </a:prstGeom>
          <a:solidFill>
            <a:srgbClr val="FFFFFF"/>
          </a:solidFill>
          <a:ln w="9525">
            <a:solidFill>
              <a:srgbClr val="E3EBF0"/>
            </a:solidFill>
            <a:prstDash val="solid"/>
          </a:ln>
        </p:spPr>
      </p:sp>
      <p:sp>
        <p:nvSpPr>
          <p:cNvPr id="29" name="Text 27"/>
          <p:cNvSpPr/>
          <p:nvPr/>
        </p:nvSpPr>
        <p:spPr>
          <a:xfrm>
            <a:off x="7973568" y="3300984"/>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Best result where feasible; may require more cameras or passes</a:t>
            </a:r>
            <a:endParaRPr lang="en-US" sz="1050" dirty="0"/>
          </a:p>
        </p:txBody>
      </p:sp>
      <p:sp>
        <p:nvSpPr>
          <p:cNvPr id="30" name="Shape 28"/>
          <p:cNvSpPr/>
          <p:nvPr/>
        </p:nvSpPr>
        <p:spPr>
          <a:xfrm>
            <a:off x="640080" y="3867912"/>
            <a:ext cx="2651760" cy="566928"/>
          </a:xfrm>
          <a:prstGeom prst="rect">
            <a:avLst/>
          </a:prstGeom>
          <a:solidFill>
            <a:srgbClr val="F5F9FB"/>
          </a:solidFill>
          <a:ln w="9525">
            <a:solidFill>
              <a:srgbClr val="E3EBF0"/>
            </a:solidFill>
            <a:prstDash val="solid"/>
          </a:ln>
        </p:spPr>
      </p:sp>
      <p:sp>
        <p:nvSpPr>
          <p:cNvPr id="31" name="Text 29"/>
          <p:cNvSpPr/>
          <p:nvPr/>
        </p:nvSpPr>
        <p:spPr>
          <a:xfrm>
            <a:off x="749808" y="3867912"/>
            <a:ext cx="24323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Multi-scale architecture</a:t>
            </a:r>
            <a:endParaRPr lang="en-US" sz="1050" dirty="0"/>
          </a:p>
        </p:txBody>
      </p:sp>
      <p:sp>
        <p:nvSpPr>
          <p:cNvPr id="32" name="Shape 30"/>
          <p:cNvSpPr/>
          <p:nvPr/>
        </p:nvSpPr>
        <p:spPr>
          <a:xfrm>
            <a:off x="3291840" y="3867912"/>
            <a:ext cx="4572000" cy="566928"/>
          </a:xfrm>
          <a:prstGeom prst="rect">
            <a:avLst/>
          </a:prstGeom>
          <a:solidFill>
            <a:srgbClr val="F5F9FB"/>
          </a:solidFill>
          <a:ln w="9525">
            <a:solidFill>
              <a:srgbClr val="E3EBF0"/>
            </a:solidFill>
            <a:prstDash val="solid"/>
          </a:ln>
        </p:spPr>
      </p:sp>
      <p:sp>
        <p:nvSpPr>
          <p:cNvPr id="33" name="Text 31"/>
          <p:cNvSpPr/>
          <p:nvPr/>
        </p:nvSpPr>
        <p:spPr>
          <a:xfrm>
            <a:off x="3401568" y="3867912"/>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Feature pyramid or similar, designed for scale variation</a:t>
            </a:r>
            <a:endParaRPr lang="en-US" sz="1050" dirty="0"/>
          </a:p>
        </p:txBody>
      </p:sp>
      <p:sp>
        <p:nvSpPr>
          <p:cNvPr id="34" name="Shape 32"/>
          <p:cNvSpPr/>
          <p:nvPr/>
        </p:nvSpPr>
        <p:spPr>
          <a:xfrm>
            <a:off x="7863840" y="3867912"/>
            <a:ext cx="3657600" cy="566928"/>
          </a:xfrm>
          <a:prstGeom prst="rect">
            <a:avLst/>
          </a:prstGeom>
          <a:solidFill>
            <a:srgbClr val="F5F9FB"/>
          </a:solidFill>
          <a:ln w="9525">
            <a:solidFill>
              <a:srgbClr val="E3EBF0"/>
            </a:solidFill>
            <a:prstDash val="solid"/>
          </a:ln>
        </p:spPr>
      </p:sp>
      <p:sp>
        <p:nvSpPr>
          <p:cNvPr id="35" name="Text 33"/>
          <p:cNvSpPr/>
          <p:nvPr/>
        </p:nvSpPr>
        <p:spPr>
          <a:xfrm>
            <a:off x="7973568" y="3867912"/>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Moderate; a model choice rather than a physical one</a:t>
            </a:r>
            <a:endParaRPr lang="en-US" sz="1050" dirty="0"/>
          </a:p>
        </p:txBody>
      </p:sp>
      <p:sp>
        <p:nvSpPr>
          <p:cNvPr id="36" name="Shape 34"/>
          <p:cNvSpPr/>
          <p:nvPr/>
        </p:nvSpPr>
        <p:spPr>
          <a:xfrm>
            <a:off x="640080" y="4434840"/>
            <a:ext cx="2651760" cy="566928"/>
          </a:xfrm>
          <a:prstGeom prst="rect">
            <a:avLst/>
          </a:prstGeom>
          <a:solidFill>
            <a:srgbClr val="FFFFFF"/>
          </a:solidFill>
          <a:ln w="9525">
            <a:solidFill>
              <a:srgbClr val="E3EBF0"/>
            </a:solidFill>
            <a:prstDash val="solid"/>
          </a:ln>
        </p:spPr>
      </p:sp>
      <p:sp>
        <p:nvSpPr>
          <p:cNvPr id="37" name="Text 35"/>
          <p:cNvSpPr/>
          <p:nvPr/>
        </p:nvSpPr>
        <p:spPr>
          <a:xfrm>
            <a:off x="749808" y="4434840"/>
            <a:ext cx="24323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Two-stage inspection</a:t>
            </a:r>
            <a:endParaRPr lang="en-US" sz="1050" dirty="0"/>
          </a:p>
        </p:txBody>
      </p:sp>
      <p:sp>
        <p:nvSpPr>
          <p:cNvPr id="38" name="Shape 36"/>
          <p:cNvSpPr/>
          <p:nvPr/>
        </p:nvSpPr>
        <p:spPr>
          <a:xfrm>
            <a:off x="3291840" y="4434840"/>
            <a:ext cx="4572000" cy="566928"/>
          </a:xfrm>
          <a:prstGeom prst="rect">
            <a:avLst/>
          </a:prstGeom>
          <a:solidFill>
            <a:srgbClr val="FFFFFF"/>
          </a:solidFill>
          <a:ln w="9525">
            <a:solidFill>
              <a:srgbClr val="E3EBF0"/>
            </a:solidFill>
            <a:prstDash val="solid"/>
          </a:ln>
        </p:spPr>
      </p:sp>
      <p:sp>
        <p:nvSpPr>
          <p:cNvPr id="39" name="Text 37"/>
          <p:cNvSpPr/>
          <p:nvPr/>
        </p:nvSpPr>
        <p:spPr>
          <a:xfrm>
            <a:off x="3401568" y="4434840"/>
            <a:ext cx="43525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Fast pass locates regions of interest; slow pass inspects them</a:t>
            </a:r>
            <a:endParaRPr lang="en-US" sz="1050" dirty="0"/>
          </a:p>
        </p:txBody>
      </p:sp>
      <p:sp>
        <p:nvSpPr>
          <p:cNvPr id="40" name="Shape 38"/>
          <p:cNvSpPr/>
          <p:nvPr/>
        </p:nvSpPr>
        <p:spPr>
          <a:xfrm>
            <a:off x="7863840" y="4434840"/>
            <a:ext cx="3657600" cy="566928"/>
          </a:xfrm>
          <a:prstGeom prst="rect">
            <a:avLst/>
          </a:prstGeom>
          <a:solidFill>
            <a:srgbClr val="FFFFFF"/>
          </a:solidFill>
          <a:ln w="9525">
            <a:solidFill>
              <a:srgbClr val="E3EBF0"/>
            </a:solidFill>
            <a:prstDash val="solid"/>
          </a:ln>
        </p:spPr>
      </p:sp>
      <p:sp>
        <p:nvSpPr>
          <p:cNvPr id="41" name="Text 39"/>
          <p:cNvSpPr/>
          <p:nvPr/>
        </p:nvSpPr>
        <p:spPr>
          <a:xfrm>
            <a:off x="7973568" y="4434840"/>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More complex pipeline; often the best latency-accuracy trade</a:t>
            </a:r>
            <a:endParaRPr lang="en-US" sz="1050" dirty="0"/>
          </a:p>
        </p:txBody>
      </p:sp>
      <p:sp>
        <p:nvSpPr>
          <p:cNvPr id="42" name="Shape 40"/>
          <p:cNvSpPr/>
          <p:nvPr/>
        </p:nvSpPr>
        <p:spPr>
          <a:xfrm>
            <a:off x="640080" y="5074920"/>
            <a:ext cx="10881360" cy="914400"/>
          </a:xfrm>
          <a:prstGeom prst="roundRect">
            <a:avLst>
              <a:gd name="adj" fmla="val 6000"/>
            </a:avLst>
          </a:prstGeom>
          <a:solidFill>
            <a:srgbClr val="EDF5EE"/>
          </a:solidFill>
          <a:ln w="12700">
            <a:solidFill>
              <a:srgbClr val="C2DCC8"/>
            </a:solidFill>
            <a:prstDash val="solid"/>
          </a:ln>
        </p:spPr>
      </p:sp>
      <p:sp>
        <p:nvSpPr>
          <p:cNvPr id="43" name="Text 41"/>
          <p:cNvSpPr/>
          <p:nvPr/>
        </p:nvSpPr>
        <p:spPr>
          <a:xfrm>
            <a:off x="914400" y="5239512"/>
            <a:ext cx="10332720" cy="612648"/>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Establish the smallest defect you must catch, in pixels, before choosing anything. If the answer is under about 20 pixels, the honest fix is optical rather than algorithmic.</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2.2b</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Occlusion, low contrast and the limits of the image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15</a:t>
            </a:r>
            <a:endParaRPr lang="en-US" sz="1000" dirty="0"/>
          </a:p>
        </p:txBody>
      </p:sp>
      <p:sp>
        <p:nvSpPr>
          <p:cNvPr id="5" name="Shape 3"/>
          <p:cNvSpPr/>
          <p:nvPr/>
        </p:nvSpPr>
        <p:spPr>
          <a:xfrm>
            <a:off x="640080" y="1234440"/>
            <a:ext cx="2103120" cy="384048"/>
          </a:xfrm>
          <a:prstGeom prst="rect">
            <a:avLst/>
          </a:prstGeom>
          <a:solidFill>
            <a:srgbClr val="21295C"/>
          </a:solidFill>
          <a:ln/>
        </p:spPr>
      </p:sp>
      <p:sp>
        <p:nvSpPr>
          <p:cNvPr id="6" name="Text 4"/>
          <p:cNvSpPr/>
          <p:nvPr/>
        </p:nvSpPr>
        <p:spPr>
          <a:xfrm>
            <a:off x="749808" y="1234440"/>
            <a:ext cx="18836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Condition</a:t>
            </a:r>
            <a:endParaRPr lang="en-US" sz="1100" dirty="0"/>
          </a:p>
        </p:txBody>
      </p:sp>
      <p:sp>
        <p:nvSpPr>
          <p:cNvPr id="7" name="Shape 5"/>
          <p:cNvSpPr/>
          <p:nvPr/>
        </p:nvSpPr>
        <p:spPr>
          <a:xfrm>
            <a:off x="2743200" y="1234440"/>
            <a:ext cx="4114800" cy="384048"/>
          </a:xfrm>
          <a:prstGeom prst="rect">
            <a:avLst/>
          </a:prstGeom>
          <a:solidFill>
            <a:srgbClr val="21295C"/>
          </a:solidFill>
          <a:ln/>
        </p:spPr>
      </p:sp>
      <p:sp>
        <p:nvSpPr>
          <p:cNvPr id="8" name="Text 6"/>
          <p:cNvSpPr/>
          <p:nvPr/>
        </p:nvSpPr>
        <p:spPr>
          <a:xfrm>
            <a:off x="2852928" y="1234440"/>
            <a:ext cx="38953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the model fails</a:t>
            </a:r>
            <a:endParaRPr lang="en-US" sz="1100" dirty="0"/>
          </a:p>
        </p:txBody>
      </p:sp>
      <p:sp>
        <p:nvSpPr>
          <p:cNvPr id="9" name="Shape 7"/>
          <p:cNvSpPr/>
          <p:nvPr/>
        </p:nvSpPr>
        <p:spPr>
          <a:xfrm>
            <a:off x="6858000" y="1234440"/>
            <a:ext cx="4663440" cy="384048"/>
          </a:xfrm>
          <a:prstGeom prst="rect">
            <a:avLst/>
          </a:prstGeom>
          <a:solidFill>
            <a:srgbClr val="21295C"/>
          </a:solidFill>
          <a:ln/>
        </p:spPr>
      </p:sp>
      <p:sp>
        <p:nvSpPr>
          <p:cNvPr id="10" name="Text 8"/>
          <p:cNvSpPr/>
          <p:nvPr/>
        </p:nvSpPr>
        <p:spPr>
          <a:xfrm>
            <a:off x="6967728" y="1234440"/>
            <a:ext cx="4443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actually fixes it</a:t>
            </a:r>
            <a:endParaRPr lang="en-US" sz="1100" dirty="0"/>
          </a:p>
        </p:txBody>
      </p:sp>
      <p:sp>
        <p:nvSpPr>
          <p:cNvPr id="11" name="Shape 9"/>
          <p:cNvSpPr/>
          <p:nvPr/>
        </p:nvSpPr>
        <p:spPr>
          <a:xfrm>
            <a:off x="640080" y="1618488"/>
            <a:ext cx="2103120" cy="603504"/>
          </a:xfrm>
          <a:prstGeom prst="rect">
            <a:avLst/>
          </a:prstGeom>
          <a:solidFill>
            <a:srgbClr val="FFFFFF"/>
          </a:solidFill>
          <a:ln w="9525">
            <a:solidFill>
              <a:srgbClr val="E3EBF0"/>
            </a:solidFill>
            <a:prstDash val="solid"/>
          </a:ln>
        </p:spPr>
      </p:sp>
      <p:sp>
        <p:nvSpPr>
          <p:cNvPr id="12" name="Text 10"/>
          <p:cNvSpPr/>
          <p:nvPr/>
        </p:nvSpPr>
        <p:spPr>
          <a:xfrm>
            <a:off x="749808" y="1618488"/>
            <a:ext cx="18836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Partial occlusion</a:t>
            </a:r>
            <a:endParaRPr lang="en-US" sz="1050" dirty="0"/>
          </a:p>
        </p:txBody>
      </p:sp>
      <p:sp>
        <p:nvSpPr>
          <p:cNvPr id="13" name="Shape 11"/>
          <p:cNvSpPr/>
          <p:nvPr/>
        </p:nvSpPr>
        <p:spPr>
          <a:xfrm>
            <a:off x="2743200" y="1618488"/>
            <a:ext cx="4114800" cy="603504"/>
          </a:xfrm>
          <a:prstGeom prst="rect">
            <a:avLst/>
          </a:prstGeom>
          <a:solidFill>
            <a:srgbClr val="FFFFFF"/>
          </a:solidFill>
          <a:ln w="9525">
            <a:solidFill>
              <a:srgbClr val="E3EBF0"/>
            </a:solidFill>
            <a:prstDash val="solid"/>
          </a:ln>
        </p:spPr>
      </p:sp>
      <p:sp>
        <p:nvSpPr>
          <p:cNvPr id="14" name="Text 12"/>
          <p:cNvSpPr/>
          <p:nvPr/>
        </p:nvSpPr>
        <p:spPr>
          <a:xfrm>
            <a:off x="2852928" y="1618488"/>
            <a:ext cx="389534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distinguishing feature is hidden by a fixture, a cable or another part</a:t>
            </a:r>
            <a:endParaRPr lang="en-US" sz="1050" dirty="0"/>
          </a:p>
        </p:txBody>
      </p:sp>
      <p:sp>
        <p:nvSpPr>
          <p:cNvPr id="15" name="Shape 13"/>
          <p:cNvSpPr/>
          <p:nvPr/>
        </p:nvSpPr>
        <p:spPr>
          <a:xfrm>
            <a:off x="6858000" y="1618488"/>
            <a:ext cx="4663440" cy="603504"/>
          </a:xfrm>
          <a:prstGeom prst="rect">
            <a:avLst/>
          </a:prstGeom>
          <a:solidFill>
            <a:srgbClr val="FFFFFF"/>
          </a:solidFill>
          <a:ln w="9525">
            <a:solidFill>
              <a:srgbClr val="E3EBF0"/>
            </a:solidFill>
            <a:prstDash val="solid"/>
          </a:ln>
        </p:spPr>
      </p:sp>
      <p:sp>
        <p:nvSpPr>
          <p:cNvPr id="16" name="Text 14"/>
          <p:cNvSpPr/>
          <p:nvPr/>
        </p:nvSpPr>
        <p:spPr>
          <a:xfrm>
            <a:off x="6967728" y="1618488"/>
            <a:ext cx="44439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Change the fixture or add a second viewpoint. Training on occluded examples helps only partially</a:t>
            </a:r>
            <a:endParaRPr lang="en-US" sz="1050" dirty="0"/>
          </a:p>
        </p:txBody>
      </p:sp>
      <p:sp>
        <p:nvSpPr>
          <p:cNvPr id="17" name="Shape 15"/>
          <p:cNvSpPr/>
          <p:nvPr/>
        </p:nvSpPr>
        <p:spPr>
          <a:xfrm>
            <a:off x="640080" y="2221992"/>
            <a:ext cx="2103120" cy="603504"/>
          </a:xfrm>
          <a:prstGeom prst="rect">
            <a:avLst/>
          </a:prstGeom>
          <a:solidFill>
            <a:srgbClr val="F5F9FB"/>
          </a:solidFill>
          <a:ln w="9525">
            <a:solidFill>
              <a:srgbClr val="E3EBF0"/>
            </a:solidFill>
            <a:prstDash val="solid"/>
          </a:ln>
        </p:spPr>
      </p:sp>
      <p:sp>
        <p:nvSpPr>
          <p:cNvPr id="18" name="Text 16"/>
          <p:cNvSpPr/>
          <p:nvPr/>
        </p:nvSpPr>
        <p:spPr>
          <a:xfrm>
            <a:off x="749808" y="2221992"/>
            <a:ext cx="18836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Low contrast</a:t>
            </a:r>
            <a:endParaRPr lang="en-US" sz="1050" dirty="0"/>
          </a:p>
        </p:txBody>
      </p:sp>
      <p:sp>
        <p:nvSpPr>
          <p:cNvPr id="19" name="Shape 17"/>
          <p:cNvSpPr/>
          <p:nvPr/>
        </p:nvSpPr>
        <p:spPr>
          <a:xfrm>
            <a:off x="2743200" y="2221992"/>
            <a:ext cx="4114800" cy="603504"/>
          </a:xfrm>
          <a:prstGeom prst="rect">
            <a:avLst/>
          </a:prstGeom>
          <a:solidFill>
            <a:srgbClr val="F5F9FB"/>
          </a:solidFill>
          <a:ln w="9525">
            <a:solidFill>
              <a:srgbClr val="E3EBF0"/>
            </a:solidFill>
            <a:prstDash val="solid"/>
          </a:ln>
        </p:spPr>
      </p:sp>
      <p:sp>
        <p:nvSpPr>
          <p:cNvPr id="20" name="Text 18"/>
          <p:cNvSpPr/>
          <p:nvPr/>
        </p:nvSpPr>
        <p:spPr>
          <a:xfrm>
            <a:off x="2852928" y="2221992"/>
            <a:ext cx="389534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defect and the surface differ by very few grey levels</a:t>
            </a:r>
            <a:endParaRPr lang="en-US" sz="1050" dirty="0"/>
          </a:p>
        </p:txBody>
      </p:sp>
      <p:sp>
        <p:nvSpPr>
          <p:cNvPr id="21" name="Shape 19"/>
          <p:cNvSpPr/>
          <p:nvPr/>
        </p:nvSpPr>
        <p:spPr>
          <a:xfrm>
            <a:off x="6858000" y="2221992"/>
            <a:ext cx="4663440" cy="603504"/>
          </a:xfrm>
          <a:prstGeom prst="rect">
            <a:avLst/>
          </a:prstGeom>
          <a:solidFill>
            <a:srgbClr val="F5F9FB"/>
          </a:solidFill>
          <a:ln w="9525">
            <a:solidFill>
              <a:srgbClr val="E3EBF0"/>
            </a:solidFill>
            <a:prstDash val="solid"/>
          </a:ln>
        </p:spPr>
      </p:sp>
      <p:sp>
        <p:nvSpPr>
          <p:cNvPr id="22" name="Text 20"/>
          <p:cNvSpPr/>
          <p:nvPr/>
        </p:nvSpPr>
        <p:spPr>
          <a:xfrm>
            <a:off x="6967728" y="2221992"/>
            <a:ext cx="44439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Directional or raking lighting, polarised filters, or a different exposure — an optical fix</a:t>
            </a:r>
            <a:endParaRPr lang="en-US" sz="1050" dirty="0"/>
          </a:p>
        </p:txBody>
      </p:sp>
      <p:sp>
        <p:nvSpPr>
          <p:cNvPr id="23" name="Shape 21"/>
          <p:cNvSpPr/>
          <p:nvPr/>
        </p:nvSpPr>
        <p:spPr>
          <a:xfrm>
            <a:off x="640080" y="2825496"/>
            <a:ext cx="2103120" cy="603504"/>
          </a:xfrm>
          <a:prstGeom prst="rect">
            <a:avLst/>
          </a:prstGeom>
          <a:solidFill>
            <a:srgbClr val="FFFFFF"/>
          </a:solidFill>
          <a:ln w="9525">
            <a:solidFill>
              <a:srgbClr val="E3EBF0"/>
            </a:solidFill>
            <a:prstDash val="solid"/>
          </a:ln>
        </p:spPr>
      </p:sp>
      <p:sp>
        <p:nvSpPr>
          <p:cNvPr id="24" name="Text 22"/>
          <p:cNvSpPr/>
          <p:nvPr/>
        </p:nvSpPr>
        <p:spPr>
          <a:xfrm>
            <a:off x="749808" y="2825496"/>
            <a:ext cx="18836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Specular reflection</a:t>
            </a:r>
            <a:endParaRPr lang="en-US" sz="1050" dirty="0"/>
          </a:p>
        </p:txBody>
      </p:sp>
      <p:sp>
        <p:nvSpPr>
          <p:cNvPr id="25" name="Shape 23"/>
          <p:cNvSpPr/>
          <p:nvPr/>
        </p:nvSpPr>
        <p:spPr>
          <a:xfrm>
            <a:off x="2743200" y="2825496"/>
            <a:ext cx="4114800" cy="603504"/>
          </a:xfrm>
          <a:prstGeom prst="rect">
            <a:avLst/>
          </a:prstGeom>
          <a:solidFill>
            <a:srgbClr val="FFFFFF"/>
          </a:solidFill>
          <a:ln w="9525">
            <a:solidFill>
              <a:srgbClr val="E3EBF0"/>
            </a:solidFill>
            <a:prstDash val="solid"/>
          </a:ln>
        </p:spPr>
      </p:sp>
      <p:sp>
        <p:nvSpPr>
          <p:cNvPr id="26" name="Text 24"/>
          <p:cNvSpPr/>
          <p:nvPr/>
        </p:nvSpPr>
        <p:spPr>
          <a:xfrm>
            <a:off x="2852928" y="2825496"/>
            <a:ext cx="389534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Bright highlights saturate the sensor and destroy detail</a:t>
            </a:r>
            <a:endParaRPr lang="en-US" sz="1050" dirty="0"/>
          </a:p>
        </p:txBody>
      </p:sp>
      <p:sp>
        <p:nvSpPr>
          <p:cNvPr id="27" name="Shape 25"/>
          <p:cNvSpPr/>
          <p:nvPr/>
        </p:nvSpPr>
        <p:spPr>
          <a:xfrm>
            <a:off x="6858000" y="2825496"/>
            <a:ext cx="4663440" cy="603504"/>
          </a:xfrm>
          <a:prstGeom prst="rect">
            <a:avLst/>
          </a:prstGeom>
          <a:solidFill>
            <a:srgbClr val="FFFFFF"/>
          </a:solidFill>
          <a:ln w="9525">
            <a:solidFill>
              <a:srgbClr val="E3EBF0"/>
            </a:solidFill>
            <a:prstDash val="solid"/>
          </a:ln>
        </p:spPr>
      </p:sp>
      <p:sp>
        <p:nvSpPr>
          <p:cNvPr id="28" name="Text 26"/>
          <p:cNvSpPr/>
          <p:nvPr/>
        </p:nvSpPr>
        <p:spPr>
          <a:xfrm>
            <a:off x="6967728" y="2825496"/>
            <a:ext cx="44439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Polarisers, diffuse lighting, or multiple exposures combined</a:t>
            </a:r>
            <a:endParaRPr lang="en-US" sz="1050" dirty="0"/>
          </a:p>
        </p:txBody>
      </p:sp>
      <p:sp>
        <p:nvSpPr>
          <p:cNvPr id="29" name="Shape 27"/>
          <p:cNvSpPr/>
          <p:nvPr/>
        </p:nvSpPr>
        <p:spPr>
          <a:xfrm>
            <a:off x="640080" y="3429000"/>
            <a:ext cx="2103120" cy="603504"/>
          </a:xfrm>
          <a:prstGeom prst="rect">
            <a:avLst/>
          </a:prstGeom>
          <a:solidFill>
            <a:srgbClr val="F5F9FB"/>
          </a:solidFill>
          <a:ln w="9525">
            <a:solidFill>
              <a:srgbClr val="E3EBF0"/>
            </a:solidFill>
            <a:prstDash val="solid"/>
          </a:ln>
        </p:spPr>
      </p:sp>
      <p:sp>
        <p:nvSpPr>
          <p:cNvPr id="30" name="Text 28"/>
          <p:cNvSpPr/>
          <p:nvPr/>
        </p:nvSpPr>
        <p:spPr>
          <a:xfrm>
            <a:off x="749808" y="3429000"/>
            <a:ext cx="18836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Motion blur</a:t>
            </a:r>
            <a:endParaRPr lang="en-US" sz="1050" dirty="0"/>
          </a:p>
        </p:txBody>
      </p:sp>
      <p:sp>
        <p:nvSpPr>
          <p:cNvPr id="31" name="Shape 29"/>
          <p:cNvSpPr/>
          <p:nvPr/>
        </p:nvSpPr>
        <p:spPr>
          <a:xfrm>
            <a:off x="2743200" y="3429000"/>
            <a:ext cx="4114800" cy="603504"/>
          </a:xfrm>
          <a:prstGeom prst="rect">
            <a:avLst/>
          </a:prstGeom>
          <a:solidFill>
            <a:srgbClr val="F5F9FB"/>
          </a:solidFill>
          <a:ln w="9525">
            <a:solidFill>
              <a:srgbClr val="E3EBF0"/>
            </a:solidFill>
            <a:prstDash val="solid"/>
          </a:ln>
        </p:spPr>
      </p:sp>
      <p:sp>
        <p:nvSpPr>
          <p:cNvPr id="32" name="Text 30"/>
          <p:cNvSpPr/>
          <p:nvPr/>
        </p:nvSpPr>
        <p:spPr>
          <a:xfrm>
            <a:off x="2852928" y="3429000"/>
            <a:ext cx="389534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part moves during exposure</a:t>
            </a:r>
            <a:endParaRPr lang="en-US" sz="1050" dirty="0"/>
          </a:p>
        </p:txBody>
      </p:sp>
      <p:sp>
        <p:nvSpPr>
          <p:cNvPr id="33" name="Shape 31"/>
          <p:cNvSpPr/>
          <p:nvPr/>
        </p:nvSpPr>
        <p:spPr>
          <a:xfrm>
            <a:off x="6858000" y="3429000"/>
            <a:ext cx="4663440" cy="603504"/>
          </a:xfrm>
          <a:prstGeom prst="rect">
            <a:avLst/>
          </a:prstGeom>
          <a:solidFill>
            <a:srgbClr val="F5F9FB"/>
          </a:solidFill>
          <a:ln w="9525">
            <a:solidFill>
              <a:srgbClr val="E3EBF0"/>
            </a:solidFill>
            <a:prstDash val="solid"/>
          </a:ln>
        </p:spPr>
      </p:sp>
      <p:sp>
        <p:nvSpPr>
          <p:cNvPr id="34" name="Text 32"/>
          <p:cNvSpPr/>
          <p:nvPr/>
        </p:nvSpPr>
        <p:spPr>
          <a:xfrm>
            <a:off x="6967728" y="3429000"/>
            <a:ext cx="44439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Shorter exposure with more light, or a triggered strobe</a:t>
            </a:r>
            <a:endParaRPr lang="en-US" sz="1050" dirty="0"/>
          </a:p>
        </p:txBody>
      </p:sp>
      <p:sp>
        <p:nvSpPr>
          <p:cNvPr id="35" name="Shape 33"/>
          <p:cNvSpPr/>
          <p:nvPr/>
        </p:nvSpPr>
        <p:spPr>
          <a:xfrm>
            <a:off x="640080" y="4032504"/>
            <a:ext cx="2103120" cy="603504"/>
          </a:xfrm>
          <a:prstGeom prst="rect">
            <a:avLst/>
          </a:prstGeom>
          <a:solidFill>
            <a:srgbClr val="FFFFFF"/>
          </a:solidFill>
          <a:ln w="9525">
            <a:solidFill>
              <a:srgbClr val="E3EBF0"/>
            </a:solidFill>
            <a:prstDash val="solid"/>
          </a:ln>
        </p:spPr>
      </p:sp>
      <p:sp>
        <p:nvSpPr>
          <p:cNvPr id="36" name="Text 34"/>
          <p:cNvSpPr/>
          <p:nvPr/>
        </p:nvSpPr>
        <p:spPr>
          <a:xfrm>
            <a:off x="749808" y="4032504"/>
            <a:ext cx="1883664" cy="603504"/>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Depth of field</a:t>
            </a:r>
            <a:endParaRPr lang="en-US" sz="1050" dirty="0"/>
          </a:p>
        </p:txBody>
      </p:sp>
      <p:sp>
        <p:nvSpPr>
          <p:cNvPr id="37" name="Shape 35"/>
          <p:cNvSpPr/>
          <p:nvPr/>
        </p:nvSpPr>
        <p:spPr>
          <a:xfrm>
            <a:off x="2743200" y="4032504"/>
            <a:ext cx="4114800" cy="603504"/>
          </a:xfrm>
          <a:prstGeom prst="rect">
            <a:avLst/>
          </a:prstGeom>
          <a:solidFill>
            <a:srgbClr val="FFFFFF"/>
          </a:solidFill>
          <a:ln w="9525">
            <a:solidFill>
              <a:srgbClr val="E3EBF0"/>
            </a:solidFill>
            <a:prstDash val="solid"/>
          </a:ln>
        </p:spPr>
      </p:sp>
      <p:sp>
        <p:nvSpPr>
          <p:cNvPr id="38" name="Text 36"/>
          <p:cNvSpPr/>
          <p:nvPr/>
        </p:nvSpPr>
        <p:spPr>
          <a:xfrm>
            <a:off x="2852928" y="4032504"/>
            <a:ext cx="389534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Part of the surface is out of focus</a:t>
            </a:r>
            <a:endParaRPr lang="en-US" sz="1050" dirty="0"/>
          </a:p>
        </p:txBody>
      </p:sp>
      <p:sp>
        <p:nvSpPr>
          <p:cNvPr id="39" name="Shape 37"/>
          <p:cNvSpPr/>
          <p:nvPr/>
        </p:nvSpPr>
        <p:spPr>
          <a:xfrm>
            <a:off x="6858000" y="4032504"/>
            <a:ext cx="4663440" cy="603504"/>
          </a:xfrm>
          <a:prstGeom prst="rect">
            <a:avLst/>
          </a:prstGeom>
          <a:solidFill>
            <a:srgbClr val="FFFFFF"/>
          </a:solidFill>
          <a:ln w="9525">
            <a:solidFill>
              <a:srgbClr val="E3EBF0"/>
            </a:solidFill>
            <a:prstDash val="solid"/>
          </a:ln>
        </p:spPr>
      </p:sp>
      <p:sp>
        <p:nvSpPr>
          <p:cNvPr id="40" name="Text 38"/>
          <p:cNvSpPr/>
          <p:nvPr/>
        </p:nvSpPr>
        <p:spPr>
          <a:xfrm>
            <a:off x="6967728" y="4032504"/>
            <a:ext cx="4443984" cy="603504"/>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Smaller aperture with more light, or telecentric optics</a:t>
            </a:r>
            <a:endParaRPr lang="en-US" sz="1050" dirty="0"/>
          </a:p>
        </p:txBody>
      </p:sp>
      <p:sp>
        <p:nvSpPr>
          <p:cNvPr id="41" name="Shape 39"/>
          <p:cNvSpPr/>
          <p:nvPr/>
        </p:nvSpPr>
        <p:spPr>
          <a:xfrm>
            <a:off x="640080" y="4754880"/>
            <a:ext cx="10881360" cy="1325880"/>
          </a:xfrm>
          <a:prstGeom prst="roundRect">
            <a:avLst>
              <a:gd name="adj" fmla="val 4138"/>
            </a:avLst>
          </a:prstGeom>
          <a:solidFill>
            <a:srgbClr val="FDF1E3"/>
          </a:solidFill>
          <a:ln w="12700">
            <a:solidFill>
              <a:srgbClr val="EBD3BB"/>
            </a:solidFill>
            <a:prstDash val="solid"/>
          </a:ln>
        </p:spPr>
      </p:sp>
      <p:sp>
        <p:nvSpPr>
          <p:cNvPr id="42" name="Text 40"/>
          <p:cNvSpPr/>
          <p:nvPr/>
        </p:nvSpPr>
        <p:spPr>
          <a:xfrm>
            <a:off x="914400" y="4919472"/>
            <a:ext cx="10332720" cy="320040"/>
          </a:xfrm>
          <a:prstGeom prst="rect">
            <a:avLst/>
          </a:prstGeom>
          <a:noFill/>
          <a:ln/>
        </p:spPr>
        <p:txBody>
          <a:bodyPr wrap="square" lIns="0" tIns="0" rIns="0" bIns="0" rtlCol="0" anchor="ctr"/>
          <a:lstStyle/>
          <a:p>
            <a:pPr indent="0" marL="0">
              <a:buNone/>
            </a:pPr>
            <a:r>
              <a:rPr lang="en-US" sz="1350" b="1" dirty="0">
                <a:solidFill>
                  <a:srgbClr val="C1440E"/>
                </a:solidFill>
                <a:latin typeface="Calibri" pitchFamily="34" charset="0"/>
                <a:ea typeface="Calibri" pitchFamily="34" charset="-122"/>
                <a:cs typeface="Calibri" pitchFamily="34" charset="-120"/>
              </a:rPr>
              <a:t>The question to ask before any model work</a:t>
            </a:r>
            <a:endParaRPr lang="en-US" sz="1350" dirty="0"/>
          </a:p>
        </p:txBody>
      </p:sp>
      <p:sp>
        <p:nvSpPr>
          <p:cNvPr id="43" name="Text 41"/>
          <p:cNvSpPr/>
          <p:nvPr/>
        </p:nvSpPr>
        <p:spPr>
          <a:xfrm>
            <a:off x="914400" y="5257800"/>
            <a:ext cx="10332720" cy="68580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Can a trained inspector reliably see the defect in this image? If not, the model cannot either, and no architecture or data volume will change that. This sounds obvious and is routinely skipped — teams spend months on a model when the honest finding is that the image does not contain the information. Print twenty failure images and ask an inspector. It takes an hour and it settles the question.</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Class confusion and the labelling problem beneath it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16</a:t>
            </a:r>
            <a:endParaRPr lang="en-US" sz="1000" dirty="0"/>
          </a:p>
        </p:txBody>
      </p:sp>
      <p:sp>
        <p:nvSpPr>
          <p:cNvPr id="5" name="Shape 3"/>
          <p:cNvSpPr/>
          <p:nvPr/>
        </p:nvSpPr>
        <p:spPr>
          <a:xfrm>
            <a:off x="640080" y="1280160"/>
            <a:ext cx="5303520" cy="2377440"/>
          </a:xfrm>
          <a:prstGeom prst="roundRect">
            <a:avLst>
              <a:gd name="adj" fmla="val 2308"/>
            </a:avLst>
          </a:prstGeom>
          <a:solidFill>
            <a:srgbClr val="FBEEE8"/>
          </a:solidFill>
          <a:ln w="12700">
            <a:solidFill>
              <a:srgbClr val="D8E4EC"/>
            </a:solidFill>
            <a:prstDash val="solid"/>
          </a:ln>
        </p:spPr>
      </p:sp>
      <p:sp>
        <p:nvSpPr>
          <p:cNvPr id="6" name="Text 4"/>
          <p:cNvSpPr/>
          <p:nvPr/>
        </p:nvSpPr>
        <p:spPr>
          <a:xfrm>
            <a:off x="841248" y="1417320"/>
            <a:ext cx="4901184" cy="347472"/>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What it looks like</a:t>
            </a:r>
            <a:endParaRPr lang="en-US" sz="1400" dirty="0"/>
          </a:p>
        </p:txBody>
      </p:sp>
      <p:sp>
        <p:nvSpPr>
          <p:cNvPr id="7" name="Text 5"/>
          <p:cNvSpPr/>
          <p:nvPr/>
        </p:nvSpPr>
        <p:spPr>
          <a:xfrm>
            <a:off x="841248" y="1783080"/>
            <a:ext cx="4901184" cy="17190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confusion matrix shows two classes systematically swapped — scratches classified as scuffs, porosity as inclusions.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instinct is to add training data for both classes.</a:t>
            </a:r>
            <a:endParaRPr lang="en-US" sz="1150" dirty="0"/>
          </a:p>
        </p:txBody>
      </p:sp>
      <p:sp>
        <p:nvSpPr>
          <p:cNvPr id="8" name="Shape 6"/>
          <p:cNvSpPr/>
          <p:nvPr/>
        </p:nvSpPr>
        <p:spPr>
          <a:xfrm>
            <a:off x="6263640" y="1280160"/>
            <a:ext cx="5257800" cy="2377440"/>
          </a:xfrm>
          <a:prstGeom prst="roundRect">
            <a:avLst>
              <a:gd name="adj" fmla="val 2308"/>
            </a:avLst>
          </a:prstGeom>
          <a:solidFill>
            <a:srgbClr val="EDF5EE"/>
          </a:solidFill>
          <a:ln w="12700">
            <a:solidFill>
              <a:srgbClr val="D8E4EC"/>
            </a:solidFill>
            <a:prstDash val="solid"/>
          </a:ln>
        </p:spPr>
      </p:sp>
      <p:sp>
        <p:nvSpPr>
          <p:cNvPr id="9" name="Text 7"/>
          <p:cNvSpPr/>
          <p:nvPr/>
        </p:nvSpPr>
        <p:spPr>
          <a:xfrm>
            <a:off x="6464808" y="1417320"/>
            <a:ext cx="4855464" cy="347472"/>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What is usually happening</a:t>
            </a:r>
            <a:endParaRPr lang="en-US" sz="1400" dirty="0"/>
          </a:p>
        </p:txBody>
      </p:sp>
      <p:sp>
        <p:nvSpPr>
          <p:cNvPr id="10" name="Text 8"/>
          <p:cNvSpPr/>
          <p:nvPr/>
        </p:nvSpPr>
        <p:spPr>
          <a:xfrm>
            <a:off x="6464808" y="1783080"/>
            <a:ext cx="4855464" cy="17190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two class definitions overlap, and your annotators were also swapping them.</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model has learned the inconsistency faithfully. More data adds more inconsistency and the confusion persists.</a:t>
            </a:r>
            <a:endParaRPr lang="en-US" sz="1150" dirty="0"/>
          </a:p>
        </p:txBody>
      </p:sp>
      <p:sp>
        <p:nvSpPr>
          <p:cNvPr id="11" name="Shape 9"/>
          <p:cNvSpPr/>
          <p:nvPr/>
        </p:nvSpPr>
        <p:spPr>
          <a:xfrm>
            <a:off x="640080" y="3886200"/>
            <a:ext cx="10881360" cy="1737360"/>
          </a:xfrm>
          <a:prstGeom prst="roundRect">
            <a:avLst>
              <a:gd name="adj" fmla="val 3158"/>
            </a:avLst>
          </a:prstGeom>
          <a:solidFill>
            <a:srgbClr val="E4EEF4"/>
          </a:solidFill>
          <a:ln w="12700">
            <a:solidFill>
              <a:srgbClr val="C9DCE7"/>
            </a:solidFill>
            <a:prstDash val="solid"/>
          </a:ln>
        </p:spPr>
      </p:sp>
      <p:sp>
        <p:nvSpPr>
          <p:cNvPr id="12" name="Text 10"/>
          <p:cNvSpPr/>
          <p:nvPr/>
        </p:nvSpPr>
        <p:spPr>
          <a:xfrm>
            <a:off x="914400" y="4050792"/>
            <a:ext cx="10332720" cy="32004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The diagnostic, and the two possible outcomes</a:t>
            </a:r>
            <a:endParaRPr lang="en-US" sz="1350" dirty="0"/>
          </a:p>
        </p:txBody>
      </p:sp>
      <p:sp>
        <p:nvSpPr>
          <p:cNvPr id="13" name="Text 11"/>
          <p:cNvSpPr/>
          <p:nvPr/>
        </p:nvSpPr>
        <p:spPr>
          <a:xfrm>
            <a:off x="914400" y="4389120"/>
            <a:ext cx="10332720" cy="109728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Take 50 images the model confused. Have two experienced inspectors label them independently, without seeing the model's answer. If the inspectors also disagree, the problem is the class definition, not the model — and no amount of data fixes it. Two outcomes follow: either write a sharper definition with visual boundary examples and re-label, or accept that the distinction is not reliably makeable and merge the classes. Merging is frequently the right answer and is rarely considered, because it feels like a retreat rather than the honest simplification it usually is.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From CV failures to testable hypotheses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17</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500" b="1" i="1" dirty="0">
                <a:solidFill>
                  <a:srgbClr val="1C7293"/>
                </a:solidFill>
                <a:latin typeface="Calibri" pitchFamily="34" charset="0"/>
                <a:ea typeface="Calibri" pitchFamily="34" charset="-122"/>
                <a:cs typeface="Calibri" pitchFamily="34" charset="-120"/>
              </a:rPr>
              <a:t>Day 1's discipline applied to vision: a measurable claim, a pass criterion set in advance, and a statistical test.</a:t>
            </a:r>
            <a:endParaRPr lang="en-US" sz="1500" dirty="0"/>
          </a:p>
        </p:txBody>
      </p:sp>
      <p:sp>
        <p:nvSpPr>
          <p:cNvPr id="6" name="Shape 4"/>
          <p:cNvSpPr/>
          <p:nvPr/>
        </p:nvSpPr>
        <p:spPr>
          <a:xfrm>
            <a:off x="640080" y="1783080"/>
            <a:ext cx="3108960" cy="384048"/>
          </a:xfrm>
          <a:prstGeom prst="rect">
            <a:avLst/>
          </a:prstGeom>
          <a:solidFill>
            <a:srgbClr val="21295C"/>
          </a:solidFill>
          <a:ln/>
        </p:spPr>
      </p:sp>
      <p:sp>
        <p:nvSpPr>
          <p:cNvPr id="7" name="Text 5"/>
          <p:cNvSpPr/>
          <p:nvPr/>
        </p:nvSpPr>
        <p:spPr>
          <a:xfrm>
            <a:off x="749808" y="1783080"/>
            <a:ext cx="28895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Observed failure</a:t>
            </a:r>
            <a:endParaRPr lang="en-US" sz="1100" dirty="0"/>
          </a:p>
        </p:txBody>
      </p:sp>
      <p:sp>
        <p:nvSpPr>
          <p:cNvPr id="8" name="Shape 6"/>
          <p:cNvSpPr/>
          <p:nvPr/>
        </p:nvSpPr>
        <p:spPr>
          <a:xfrm>
            <a:off x="3749040" y="1783080"/>
            <a:ext cx="4572000" cy="384048"/>
          </a:xfrm>
          <a:prstGeom prst="rect">
            <a:avLst/>
          </a:prstGeom>
          <a:solidFill>
            <a:srgbClr val="21295C"/>
          </a:solidFill>
          <a:ln/>
        </p:spPr>
      </p:sp>
      <p:sp>
        <p:nvSpPr>
          <p:cNvPr id="9" name="Text 7"/>
          <p:cNvSpPr/>
          <p:nvPr/>
        </p:nvSpPr>
        <p:spPr>
          <a:xfrm>
            <a:off x="3858768" y="1783080"/>
            <a:ext cx="43525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Measurable hypothesis</a:t>
            </a:r>
            <a:endParaRPr lang="en-US" sz="1100" dirty="0"/>
          </a:p>
        </p:txBody>
      </p:sp>
      <p:sp>
        <p:nvSpPr>
          <p:cNvPr id="10" name="Shape 8"/>
          <p:cNvSpPr/>
          <p:nvPr/>
        </p:nvSpPr>
        <p:spPr>
          <a:xfrm>
            <a:off x="8321040" y="1783080"/>
            <a:ext cx="3200400" cy="384048"/>
          </a:xfrm>
          <a:prstGeom prst="rect">
            <a:avLst/>
          </a:prstGeom>
          <a:solidFill>
            <a:srgbClr val="21295C"/>
          </a:solidFill>
          <a:ln/>
        </p:spPr>
      </p:sp>
      <p:sp>
        <p:nvSpPr>
          <p:cNvPr id="11" name="Text 9"/>
          <p:cNvSpPr/>
          <p:nvPr/>
        </p:nvSpPr>
        <p:spPr>
          <a:xfrm>
            <a:off x="8430768" y="1783080"/>
            <a:ext cx="29809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p>
        </p:txBody>
      </p:sp>
      <p:sp>
        <p:nvSpPr>
          <p:cNvPr id="12" name="Shape 10"/>
          <p:cNvSpPr/>
          <p:nvPr/>
        </p:nvSpPr>
        <p:spPr>
          <a:xfrm>
            <a:off x="640080" y="2167128"/>
            <a:ext cx="3108960" cy="685800"/>
          </a:xfrm>
          <a:prstGeom prst="rect">
            <a:avLst/>
          </a:prstGeom>
          <a:solidFill>
            <a:srgbClr val="FFFFFF"/>
          </a:solidFill>
          <a:ln w="9525">
            <a:solidFill>
              <a:srgbClr val="E3EBF0"/>
            </a:solidFill>
            <a:prstDash val="solid"/>
          </a:ln>
        </p:spPr>
      </p:sp>
      <p:sp>
        <p:nvSpPr>
          <p:cNvPr id="13" name="Text 11"/>
          <p:cNvSpPr/>
          <p:nvPr/>
        </p:nvSpPr>
        <p:spPr>
          <a:xfrm>
            <a:off x="749808" y="2167128"/>
            <a:ext cx="2889504" cy="6858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Recall poor on defects under 30 px</a:t>
            </a:r>
            <a:endParaRPr lang="en-US" sz="1050" dirty="0"/>
          </a:p>
        </p:txBody>
      </p:sp>
      <p:sp>
        <p:nvSpPr>
          <p:cNvPr id="14" name="Shape 12"/>
          <p:cNvSpPr/>
          <p:nvPr/>
        </p:nvSpPr>
        <p:spPr>
          <a:xfrm>
            <a:off x="3749040" y="2167128"/>
            <a:ext cx="4572000" cy="685800"/>
          </a:xfrm>
          <a:prstGeom prst="rect">
            <a:avLst/>
          </a:prstGeom>
          <a:solidFill>
            <a:srgbClr val="FFFFFF"/>
          </a:solidFill>
          <a:ln w="9525">
            <a:solidFill>
              <a:srgbClr val="E3EBF0"/>
            </a:solidFill>
            <a:prstDash val="solid"/>
          </a:ln>
        </p:spPr>
      </p:sp>
      <p:sp>
        <p:nvSpPr>
          <p:cNvPr id="15" name="Text 13"/>
          <p:cNvSpPr/>
          <p:nvPr/>
        </p:nvSpPr>
        <p:spPr>
          <a:xfrm>
            <a:off x="3858768" y="2167128"/>
            <a:ext cx="4352544" cy="6858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Tiling at 2× overlap raises small-defect recall from 0.52 to at least 0.70</a:t>
            </a:r>
            <a:endParaRPr lang="en-US" sz="1050" dirty="0"/>
          </a:p>
        </p:txBody>
      </p:sp>
      <p:sp>
        <p:nvSpPr>
          <p:cNvPr id="16" name="Shape 14"/>
          <p:cNvSpPr/>
          <p:nvPr/>
        </p:nvSpPr>
        <p:spPr>
          <a:xfrm>
            <a:off x="8321040" y="2167128"/>
            <a:ext cx="3200400" cy="685800"/>
          </a:xfrm>
          <a:prstGeom prst="rect">
            <a:avLst/>
          </a:prstGeom>
          <a:solidFill>
            <a:srgbClr val="FFFFFF"/>
          </a:solidFill>
          <a:ln w="9525">
            <a:solidFill>
              <a:srgbClr val="E3EBF0"/>
            </a:solidFill>
            <a:prstDash val="solid"/>
          </a:ln>
        </p:spPr>
      </p:sp>
      <p:sp>
        <p:nvSpPr>
          <p:cNvPr id="17" name="Text 15"/>
          <p:cNvSpPr/>
          <p:nvPr/>
        </p:nvSpPr>
        <p:spPr>
          <a:xfrm>
            <a:off x="8430768" y="2167128"/>
            <a:ext cx="2980944" cy="6858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McNemar on the small-defect subset</a:t>
            </a:r>
            <a:endParaRPr lang="en-US" sz="1050" dirty="0"/>
          </a:p>
        </p:txBody>
      </p:sp>
      <p:sp>
        <p:nvSpPr>
          <p:cNvPr id="18" name="Shape 16"/>
          <p:cNvSpPr/>
          <p:nvPr/>
        </p:nvSpPr>
        <p:spPr>
          <a:xfrm>
            <a:off x="640080" y="2852928"/>
            <a:ext cx="3108960" cy="685800"/>
          </a:xfrm>
          <a:prstGeom prst="rect">
            <a:avLst/>
          </a:prstGeom>
          <a:solidFill>
            <a:srgbClr val="F5F9FB"/>
          </a:solidFill>
          <a:ln w="9525">
            <a:solidFill>
              <a:srgbClr val="E3EBF0"/>
            </a:solidFill>
            <a:prstDash val="solid"/>
          </a:ln>
        </p:spPr>
      </p:sp>
      <p:sp>
        <p:nvSpPr>
          <p:cNvPr id="19" name="Text 17"/>
          <p:cNvSpPr/>
          <p:nvPr/>
        </p:nvSpPr>
        <p:spPr>
          <a:xfrm>
            <a:off x="749808" y="2852928"/>
            <a:ext cx="2889504" cy="6858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Classes C and D confused</a:t>
            </a:r>
            <a:endParaRPr lang="en-US" sz="1050" dirty="0"/>
          </a:p>
        </p:txBody>
      </p:sp>
      <p:sp>
        <p:nvSpPr>
          <p:cNvPr id="20" name="Shape 18"/>
          <p:cNvSpPr/>
          <p:nvPr/>
        </p:nvSpPr>
        <p:spPr>
          <a:xfrm>
            <a:off x="3749040" y="2852928"/>
            <a:ext cx="4572000" cy="685800"/>
          </a:xfrm>
          <a:prstGeom prst="rect">
            <a:avLst/>
          </a:prstGeom>
          <a:solidFill>
            <a:srgbClr val="F5F9FB"/>
          </a:solidFill>
          <a:ln w="9525">
            <a:solidFill>
              <a:srgbClr val="E3EBF0"/>
            </a:solidFill>
            <a:prstDash val="solid"/>
          </a:ln>
        </p:spPr>
      </p:sp>
      <p:sp>
        <p:nvSpPr>
          <p:cNvPr id="21" name="Text 19"/>
          <p:cNvSpPr/>
          <p:nvPr/>
        </p:nvSpPr>
        <p:spPr>
          <a:xfrm>
            <a:off x="3858768" y="2852928"/>
            <a:ext cx="4352544" cy="6858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Re-labelling under a revised guideline raises per-class recall by ≥ 0.06 for both</a:t>
            </a:r>
            <a:endParaRPr lang="en-US" sz="1050" dirty="0"/>
          </a:p>
        </p:txBody>
      </p:sp>
      <p:sp>
        <p:nvSpPr>
          <p:cNvPr id="22" name="Shape 20"/>
          <p:cNvSpPr/>
          <p:nvPr/>
        </p:nvSpPr>
        <p:spPr>
          <a:xfrm>
            <a:off x="8321040" y="2852928"/>
            <a:ext cx="3200400" cy="685800"/>
          </a:xfrm>
          <a:prstGeom prst="rect">
            <a:avLst/>
          </a:prstGeom>
          <a:solidFill>
            <a:srgbClr val="F5F9FB"/>
          </a:solidFill>
          <a:ln w="9525">
            <a:solidFill>
              <a:srgbClr val="E3EBF0"/>
            </a:solidFill>
            <a:prstDash val="solid"/>
          </a:ln>
        </p:spPr>
      </p:sp>
      <p:sp>
        <p:nvSpPr>
          <p:cNvPr id="23" name="Text 21"/>
          <p:cNvSpPr/>
          <p:nvPr/>
        </p:nvSpPr>
        <p:spPr>
          <a:xfrm>
            <a:off x="8430768" y="2852928"/>
            <a:ext cx="2980944" cy="6858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Paired comparison on a fixed held-out set</a:t>
            </a:r>
            <a:endParaRPr lang="en-US" sz="1050" dirty="0"/>
          </a:p>
        </p:txBody>
      </p:sp>
      <p:sp>
        <p:nvSpPr>
          <p:cNvPr id="24" name="Shape 22"/>
          <p:cNvSpPr/>
          <p:nvPr/>
        </p:nvSpPr>
        <p:spPr>
          <a:xfrm>
            <a:off x="640080" y="3538728"/>
            <a:ext cx="3108960" cy="685800"/>
          </a:xfrm>
          <a:prstGeom prst="rect">
            <a:avLst/>
          </a:prstGeom>
          <a:solidFill>
            <a:srgbClr val="FFFFFF"/>
          </a:solidFill>
          <a:ln w="9525">
            <a:solidFill>
              <a:srgbClr val="E3EBF0"/>
            </a:solidFill>
            <a:prstDash val="solid"/>
          </a:ln>
        </p:spPr>
      </p:sp>
      <p:sp>
        <p:nvSpPr>
          <p:cNvPr id="25" name="Text 23"/>
          <p:cNvSpPr/>
          <p:nvPr/>
        </p:nvSpPr>
        <p:spPr>
          <a:xfrm>
            <a:off x="749808" y="3538728"/>
            <a:ext cx="2889504" cy="6858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Failures cluster on night shift</a:t>
            </a:r>
            <a:endParaRPr lang="en-US" sz="1050" dirty="0"/>
          </a:p>
        </p:txBody>
      </p:sp>
      <p:sp>
        <p:nvSpPr>
          <p:cNvPr id="26" name="Shape 24"/>
          <p:cNvSpPr/>
          <p:nvPr/>
        </p:nvSpPr>
        <p:spPr>
          <a:xfrm>
            <a:off x="3749040" y="3538728"/>
            <a:ext cx="4572000" cy="685800"/>
          </a:xfrm>
          <a:prstGeom prst="rect">
            <a:avLst/>
          </a:prstGeom>
          <a:solidFill>
            <a:srgbClr val="FFFFFF"/>
          </a:solidFill>
          <a:ln w="9525">
            <a:solidFill>
              <a:srgbClr val="E3EBF0"/>
            </a:solidFill>
            <a:prstDash val="solid"/>
          </a:ln>
        </p:spPr>
      </p:sp>
      <p:sp>
        <p:nvSpPr>
          <p:cNvPr id="27" name="Text 25"/>
          <p:cNvSpPr/>
          <p:nvPr/>
        </p:nvSpPr>
        <p:spPr>
          <a:xfrm>
            <a:off x="3858768" y="3538728"/>
            <a:ext cx="4352544" cy="6858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Adding 500 night-shift images raises night-shift recall to within 0.03 of day shift</a:t>
            </a:r>
            <a:endParaRPr lang="en-US" sz="1050" dirty="0"/>
          </a:p>
        </p:txBody>
      </p:sp>
      <p:sp>
        <p:nvSpPr>
          <p:cNvPr id="28" name="Shape 26"/>
          <p:cNvSpPr/>
          <p:nvPr/>
        </p:nvSpPr>
        <p:spPr>
          <a:xfrm>
            <a:off x="8321040" y="3538728"/>
            <a:ext cx="3200400" cy="685800"/>
          </a:xfrm>
          <a:prstGeom prst="rect">
            <a:avLst/>
          </a:prstGeom>
          <a:solidFill>
            <a:srgbClr val="FFFFFF"/>
          </a:solidFill>
          <a:ln w="9525">
            <a:solidFill>
              <a:srgbClr val="E3EBF0"/>
            </a:solidFill>
            <a:prstDash val="solid"/>
          </a:ln>
        </p:spPr>
      </p:sp>
      <p:sp>
        <p:nvSpPr>
          <p:cNvPr id="29" name="Text 27"/>
          <p:cNvSpPr/>
          <p:nvPr/>
        </p:nvSpPr>
        <p:spPr>
          <a:xfrm>
            <a:off x="8430768" y="3538728"/>
            <a:ext cx="2980944" cy="6858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Two-proportion test between shift slices</a:t>
            </a:r>
            <a:endParaRPr lang="en-US" sz="1050" dirty="0"/>
          </a:p>
        </p:txBody>
      </p:sp>
      <p:sp>
        <p:nvSpPr>
          <p:cNvPr id="30" name="Shape 28"/>
          <p:cNvSpPr/>
          <p:nvPr/>
        </p:nvSpPr>
        <p:spPr>
          <a:xfrm>
            <a:off x="640080" y="4224528"/>
            <a:ext cx="3108960" cy="685800"/>
          </a:xfrm>
          <a:prstGeom prst="rect">
            <a:avLst/>
          </a:prstGeom>
          <a:solidFill>
            <a:srgbClr val="F5F9FB"/>
          </a:solidFill>
          <a:ln w="9525">
            <a:solidFill>
              <a:srgbClr val="E3EBF0"/>
            </a:solidFill>
            <a:prstDash val="solid"/>
          </a:ln>
        </p:spPr>
      </p:sp>
      <p:sp>
        <p:nvSpPr>
          <p:cNvPr id="31" name="Text 29"/>
          <p:cNvSpPr/>
          <p:nvPr/>
        </p:nvSpPr>
        <p:spPr>
          <a:xfrm>
            <a:off x="749808" y="4224528"/>
            <a:ext cx="2889504" cy="68580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False rejects too costly</a:t>
            </a:r>
            <a:endParaRPr lang="en-US" sz="1050" dirty="0"/>
          </a:p>
        </p:txBody>
      </p:sp>
      <p:sp>
        <p:nvSpPr>
          <p:cNvPr id="32" name="Shape 30"/>
          <p:cNvSpPr/>
          <p:nvPr/>
        </p:nvSpPr>
        <p:spPr>
          <a:xfrm>
            <a:off x="3749040" y="4224528"/>
            <a:ext cx="4572000" cy="685800"/>
          </a:xfrm>
          <a:prstGeom prst="rect">
            <a:avLst/>
          </a:prstGeom>
          <a:solidFill>
            <a:srgbClr val="F5F9FB"/>
          </a:solidFill>
          <a:ln w="9525">
            <a:solidFill>
              <a:srgbClr val="E3EBF0"/>
            </a:solidFill>
            <a:prstDash val="solid"/>
          </a:ln>
        </p:spPr>
      </p:sp>
      <p:sp>
        <p:nvSpPr>
          <p:cNvPr id="33" name="Text 31"/>
          <p:cNvSpPr/>
          <p:nvPr/>
        </p:nvSpPr>
        <p:spPr>
          <a:xfrm>
            <a:off x="3858768" y="4224528"/>
            <a:ext cx="4352544" cy="6858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Threshold at 0.38 rather than 0.5 reduces total error cost by ≥ 30%</a:t>
            </a:r>
            <a:endParaRPr lang="en-US" sz="1050" dirty="0"/>
          </a:p>
        </p:txBody>
      </p:sp>
      <p:sp>
        <p:nvSpPr>
          <p:cNvPr id="34" name="Shape 32"/>
          <p:cNvSpPr/>
          <p:nvPr/>
        </p:nvSpPr>
        <p:spPr>
          <a:xfrm>
            <a:off x="8321040" y="4224528"/>
            <a:ext cx="3200400" cy="685800"/>
          </a:xfrm>
          <a:prstGeom prst="rect">
            <a:avLst/>
          </a:prstGeom>
          <a:solidFill>
            <a:srgbClr val="F5F9FB"/>
          </a:solidFill>
          <a:ln w="9525">
            <a:solidFill>
              <a:srgbClr val="E3EBF0"/>
            </a:solidFill>
            <a:prstDash val="solid"/>
          </a:ln>
        </p:spPr>
      </p:sp>
      <p:sp>
        <p:nvSpPr>
          <p:cNvPr id="35" name="Text 33"/>
          <p:cNvSpPr/>
          <p:nvPr/>
        </p:nvSpPr>
        <p:spPr>
          <a:xfrm>
            <a:off x="8430768" y="4224528"/>
            <a:ext cx="2980944" cy="68580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Cost curve on held-out data; no retraining</a:t>
            </a:r>
            <a:endParaRPr lang="en-US" sz="1050" dirty="0"/>
          </a:p>
        </p:txBody>
      </p:sp>
      <p:sp>
        <p:nvSpPr>
          <p:cNvPr id="36" name="Shape 34"/>
          <p:cNvSpPr/>
          <p:nvPr/>
        </p:nvSpPr>
        <p:spPr>
          <a:xfrm>
            <a:off x="640080" y="5029200"/>
            <a:ext cx="10881360" cy="960120"/>
          </a:xfrm>
          <a:prstGeom prst="roundRect">
            <a:avLst>
              <a:gd name="adj" fmla="val 5714"/>
            </a:avLst>
          </a:prstGeom>
          <a:solidFill>
            <a:srgbClr val="EDF5EE"/>
          </a:solidFill>
          <a:ln w="12700">
            <a:solidFill>
              <a:srgbClr val="C2DCC8"/>
            </a:solidFill>
            <a:prstDash val="solid"/>
          </a:ln>
        </p:spPr>
      </p:sp>
      <p:sp>
        <p:nvSpPr>
          <p:cNvPr id="37" name="Text 35"/>
          <p:cNvSpPr/>
          <p:nvPr/>
        </p:nvSpPr>
        <p:spPr>
          <a:xfrm>
            <a:off x="914400" y="5193792"/>
            <a:ext cx="10332720" cy="658368"/>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Note that the fourth requires no new data, no new labels and no training run. It is arithmetic on the existing model — and on many industrial systems it is the largest single available gain.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2.4b</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Threshold tuning and statistical comparison for CV</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18</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500" b="1" i="1" dirty="0">
                <a:solidFill>
                  <a:srgbClr val="1C7293"/>
                </a:solidFill>
                <a:latin typeface="Calibri" pitchFamily="34" charset="0"/>
                <a:ea typeface="Calibri" pitchFamily="34" charset="-122"/>
                <a:cs typeface="Calibri" pitchFamily="34" charset="-120"/>
              </a:rPr>
              <a:t>Day 1's threshold and testing discipline, in the specific form vision problems need.</a:t>
            </a:r>
            <a:endParaRPr lang="en-US" sz="1500" dirty="0"/>
          </a:p>
        </p:txBody>
      </p:sp>
      <p:sp>
        <p:nvSpPr>
          <p:cNvPr id="6" name="Shape 4"/>
          <p:cNvSpPr/>
          <p:nvPr/>
        </p:nvSpPr>
        <p:spPr>
          <a:xfrm>
            <a:off x="640080" y="1737360"/>
            <a:ext cx="2743200" cy="384048"/>
          </a:xfrm>
          <a:prstGeom prst="rect">
            <a:avLst/>
          </a:prstGeom>
          <a:solidFill>
            <a:srgbClr val="21295C"/>
          </a:solidFill>
          <a:ln/>
        </p:spPr>
      </p:sp>
      <p:sp>
        <p:nvSpPr>
          <p:cNvPr id="7" name="Text 5"/>
          <p:cNvSpPr/>
          <p:nvPr/>
        </p:nvSpPr>
        <p:spPr>
          <a:xfrm>
            <a:off x="749808" y="1737360"/>
            <a:ext cx="25237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8" name="Shape 6"/>
          <p:cNvSpPr/>
          <p:nvPr/>
        </p:nvSpPr>
        <p:spPr>
          <a:xfrm>
            <a:off x="3383280" y="1737360"/>
            <a:ext cx="8138160" cy="384048"/>
          </a:xfrm>
          <a:prstGeom prst="rect">
            <a:avLst/>
          </a:prstGeom>
          <a:solidFill>
            <a:srgbClr val="21295C"/>
          </a:solidFill>
          <a:ln/>
        </p:spPr>
      </p:sp>
      <p:sp>
        <p:nvSpPr>
          <p:cNvPr id="9" name="Text 7"/>
          <p:cNvSpPr/>
          <p:nvPr/>
        </p:nvSpPr>
        <p:spPr>
          <a:xfrm>
            <a:off x="3493008" y="1737360"/>
            <a:ext cx="79187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For a vision system specifically</a:t>
            </a:r>
            <a:endParaRPr lang="en-US" sz="1100" dirty="0"/>
          </a:p>
        </p:txBody>
      </p:sp>
      <p:sp>
        <p:nvSpPr>
          <p:cNvPr id="10" name="Shape 8"/>
          <p:cNvSpPr/>
          <p:nvPr/>
        </p:nvSpPr>
        <p:spPr>
          <a:xfrm>
            <a:off x="640080" y="2121408"/>
            <a:ext cx="2743200" cy="502920"/>
          </a:xfrm>
          <a:prstGeom prst="rect">
            <a:avLst/>
          </a:prstGeom>
          <a:solidFill>
            <a:srgbClr val="FFFFFF"/>
          </a:solidFill>
          <a:ln w="9525">
            <a:solidFill>
              <a:srgbClr val="E3EBF0"/>
            </a:solidFill>
            <a:prstDash val="solid"/>
          </a:ln>
        </p:spPr>
      </p:sp>
      <p:sp>
        <p:nvSpPr>
          <p:cNvPr id="11" name="Text 9"/>
          <p:cNvSpPr/>
          <p:nvPr/>
        </p:nvSpPr>
        <p:spPr>
          <a:xfrm>
            <a:off x="749808" y="2121408"/>
            <a:ext cx="252374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Establish both error costs</a:t>
            </a:r>
            <a:endParaRPr lang="en-US" sz="1050" dirty="0"/>
          </a:p>
        </p:txBody>
      </p:sp>
      <p:sp>
        <p:nvSpPr>
          <p:cNvPr id="12" name="Shape 10"/>
          <p:cNvSpPr/>
          <p:nvPr/>
        </p:nvSpPr>
        <p:spPr>
          <a:xfrm>
            <a:off x="3383280" y="2121408"/>
            <a:ext cx="8138160" cy="502920"/>
          </a:xfrm>
          <a:prstGeom prst="rect">
            <a:avLst/>
          </a:prstGeom>
          <a:solidFill>
            <a:srgbClr val="FFFFFF"/>
          </a:solidFill>
          <a:ln w="9525">
            <a:solidFill>
              <a:srgbClr val="E3EBF0"/>
            </a:solidFill>
            <a:prstDash val="solid"/>
          </a:ln>
        </p:spPr>
      </p:sp>
      <p:sp>
        <p:nvSpPr>
          <p:cNvPr id="13" name="Text 11"/>
          <p:cNvSpPr/>
          <p:nvPr/>
        </p:nvSpPr>
        <p:spPr>
          <a:xfrm>
            <a:off x="3493008" y="2121408"/>
            <a:ext cx="791870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Cost of a scrapped good part, and cost of an escaped defect reaching a customer. Finance owns these numbers, not engineering</a:t>
            </a:r>
            <a:endParaRPr lang="en-US" sz="1050" dirty="0"/>
          </a:p>
        </p:txBody>
      </p:sp>
      <p:sp>
        <p:nvSpPr>
          <p:cNvPr id="14" name="Shape 12"/>
          <p:cNvSpPr/>
          <p:nvPr/>
        </p:nvSpPr>
        <p:spPr>
          <a:xfrm>
            <a:off x="640080" y="2624328"/>
            <a:ext cx="2743200" cy="502920"/>
          </a:xfrm>
          <a:prstGeom prst="rect">
            <a:avLst/>
          </a:prstGeom>
          <a:solidFill>
            <a:srgbClr val="F5F9FB"/>
          </a:solidFill>
          <a:ln w="9525">
            <a:solidFill>
              <a:srgbClr val="E3EBF0"/>
            </a:solidFill>
            <a:prstDash val="solid"/>
          </a:ln>
        </p:spPr>
      </p:sp>
      <p:sp>
        <p:nvSpPr>
          <p:cNvPr id="15" name="Text 13"/>
          <p:cNvSpPr/>
          <p:nvPr/>
        </p:nvSpPr>
        <p:spPr>
          <a:xfrm>
            <a:off x="749808" y="2624328"/>
            <a:ext cx="252374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Sweep the detection threshold</a:t>
            </a:r>
            <a:endParaRPr lang="en-US" sz="1050" dirty="0"/>
          </a:p>
        </p:txBody>
      </p:sp>
      <p:sp>
        <p:nvSpPr>
          <p:cNvPr id="16" name="Shape 14"/>
          <p:cNvSpPr/>
          <p:nvPr/>
        </p:nvSpPr>
        <p:spPr>
          <a:xfrm>
            <a:off x="3383280" y="2624328"/>
            <a:ext cx="8138160" cy="502920"/>
          </a:xfrm>
          <a:prstGeom prst="rect">
            <a:avLst/>
          </a:prstGeom>
          <a:solidFill>
            <a:srgbClr val="F5F9FB"/>
          </a:solidFill>
          <a:ln w="9525">
            <a:solidFill>
              <a:srgbClr val="E3EBF0"/>
            </a:solidFill>
            <a:prstDash val="solid"/>
          </a:ln>
        </p:spPr>
      </p:sp>
      <p:sp>
        <p:nvSpPr>
          <p:cNvPr id="17" name="Text 15"/>
          <p:cNvSpPr/>
          <p:nvPr/>
        </p:nvSpPr>
        <p:spPr>
          <a:xfrm>
            <a:off x="3493008" y="2624328"/>
            <a:ext cx="791870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Recompute false rejects and false accepts at each point, on held-out data, and plot total cost</a:t>
            </a:r>
            <a:endParaRPr lang="en-US" sz="1050" dirty="0"/>
          </a:p>
        </p:txBody>
      </p:sp>
      <p:sp>
        <p:nvSpPr>
          <p:cNvPr id="18" name="Shape 16"/>
          <p:cNvSpPr/>
          <p:nvPr/>
        </p:nvSpPr>
        <p:spPr>
          <a:xfrm>
            <a:off x="640080" y="3127248"/>
            <a:ext cx="2743200" cy="502920"/>
          </a:xfrm>
          <a:prstGeom prst="rect">
            <a:avLst/>
          </a:prstGeom>
          <a:solidFill>
            <a:srgbClr val="FFFFFF"/>
          </a:solidFill>
          <a:ln w="9525">
            <a:solidFill>
              <a:srgbClr val="E3EBF0"/>
            </a:solidFill>
            <a:prstDash val="solid"/>
          </a:ln>
        </p:spPr>
      </p:sp>
      <p:sp>
        <p:nvSpPr>
          <p:cNvPr id="19" name="Text 17"/>
          <p:cNvSpPr/>
          <p:nvPr/>
        </p:nvSpPr>
        <p:spPr>
          <a:xfrm>
            <a:off x="749808" y="3127248"/>
            <a:ext cx="252374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Check per class</a:t>
            </a:r>
            <a:endParaRPr lang="en-US" sz="1050" dirty="0"/>
          </a:p>
        </p:txBody>
      </p:sp>
      <p:sp>
        <p:nvSpPr>
          <p:cNvPr id="20" name="Shape 18"/>
          <p:cNvSpPr/>
          <p:nvPr/>
        </p:nvSpPr>
        <p:spPr>
          <a:xfrm>
            <a:off x="3383280" y="3127248"/>
            <a:ext cx="8138160" cy="502920"/>
          </a:xfrm>
          <a:prstGeom prst="rect">
            <a:avLst/>
          </a:prstGeom>
          <a:solidFill>
            <a:srgbClr val="FFFFFF"/>
          </a:solidFill>
          <a:ln w="9525">
            <a:solidFill>
              <a:srgbClr val="E3EBF0"/>
            </a:solidFill>
            <a:prstDash val="solid"/>
          </a:ln>
        </p:spPr>
      </p:sp>
      <p:sp>
        <p:nvSpPr>
          <p:cNvPr id="21" name="Text 19"/>
          <p:cNvSpPr/>
          <p:nvPr/>
        </p:nvSpPr>
        <p:spPr>
          <a:xfrm>
            <a:off x="3493008" y="3127248"/>
            <a:ext cx="791870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cost-optimal threshold frequently differs by defect class. A single global threshold may be leaving value on the table</a:t>
            </a:r>
            <a:endParaRPr lang="en-US" sz="1050" dirty="0"/>
          </a:p>
        </p:txBody>
      </p:sp>
      <p:sp>
        <p:nvSpPr>
          <p:cNvPr id="22" name="Shape 20"/>
          <p:cNvSpPr/>
          <p:nvPr/>
        </p:nvSpPr>
        <p:spPr>
          <a:xfrm>
            <a:off x="640080" y="3630168"/>
            <a:ext cx="2743200" cy="502920"/>
          </a:xfrm>
          <a:prstGeom prst="rect">
            <a:avLst/>
          </a:prstGeom>
          <a:solidFill>
            <a:srgbClr val="F5F9FB"/>
          </a:solidFill>
          <a:ln w="9525">
            <a:solidFill>
              <a:srgbClr val="E3EBF0"/>
            </a:solidFill>
            <a:prstDash val="solid"/>
          </a:ln>
        </p:spPr>
      </p:sp>
      <p:sp>
        <p:nvSpPr>
          <p:cNvPr id="23" name="Text 21"/>
          <p:cNvSpPr/>
          <p:nvPr/>
        </p:nvSpPr>
        <p:spPr>
          <a:xfrm>
            <a:off x="749808" y="3630168"/>
            <a:ext cx="252374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Confirm on a later time window</a:t>
            </a:r>
            <a:endParaRPr lang="en-US" sz="1050" dirty="0"/>
          </a:p>
        </p:txBody>
      </p:sp>
      <p:sp>
        <p:nvSpPr>
          <p:cNvPr id="24" name="Shape 22"/>
          <p:cNvSpPr/>
          <p:nvPr/>
        </p:nvSpPr>
        <p:spPr>
          <a:xfrm>
            <a:off x="3383280" y="3630168"/>
            <a:ext cx="8138160" cy="502920"/>
          </a:xfrm>
          <a:prstGeom prst="rect">
            <a:avLst/>
          </a:prstGeom>
          <a:solidFill>
            <a:srgbClr val="F5F9FB"/>
          </a:solidFill>
          <a:ln w="9525">
            <a:solidFill>
              <a:srgbClr val="E3EBF0"/>
            </a:solidFill>
            <a:prstDash val="solid"/>
          </a:ln>
        </p:spPr>
      </p:sp>
      <p:sp>
        <p:nvSpPr>
          <p:cNvPr id="25" name="Text 23"/>
          <p:cNvSpPr/>
          <p:nvPr/>
        </p:nvSpPr>
        <p:spPr>
          <a:xfrm>
            <a:off x="3493008" y="3630168"/>
            <a:ext cx="791870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 threshold tuned on old data may not hold under current capture conditions</a:t>
            </a:r>
            <a:endParaRPr lang="en-US" sz="1050" dirty="0"/>
          </a:p>
        </p:txBody>
      </p:sp>
      <p:sp>
        <p:nvSpPr>
          <p:cNvPr id="26" name="Shape 24"/>
          <p:cNvSpPr/>
          <p:nvPr/>
        </p:nvSpPr>
        <p:spPr>
          <a:xfrm>
            <a:off x="640080" y="4133088"/>
            <a:ext cx="2743200" cy="502920"/>
          </a:xfrm>
          <a:prstGeom prst="rect">
            <a:avLst/>
          </a:prstGeom>
          <a:solidFill>
            <a:srgbClr val="FFFFFF"/>
          </a:solidFill>
          <a:ln w="9525">
            <a:solidFill>
              <a:srgbClr val="E3EBF0"/>
            </a:solidFill>
            <a:prstDash val="solid"/>
          </a:ln>
        </p:spPr>
      </p:sp>
      <p:sp>
        <p:nvSpPr>
          <p:cNvPr id="27" name="Text 25"/>
          <p:cNvSpPr/>
          <p:nvPr/>
        </p:nvSpPr>
        <p:spPr>
          <a:xfrm>
            <a:off x="749808" y="4133088"/>
            <a:ext cx="252374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Compare models with McNemar</a:t>
            </a:r>
            <a:endParaRPr lang="en-US" sz="1050" dirty="0"/>
          </a:p>
        </p:txBody>
      </p:sp>
      <p:sp>
        <p:nvSpPr>
          <p:cNvPr id="28" name="Shape 26"/>
          <p:cNvSpPr/>
          <p:nvPr/>
        </p:nvSpPr>
        <p:spPr>
          <a:xfrm>
            <a:off x="3383280" y="4133088"/>
            <a:ext cx="8138160" cy="502920"/>
          </a:xfrm>
          <a:prstGeom prst="rect">
            <a:avLst/>
          </a:prstGeom>
          <a:solidFill>
            <a:srgbClr val="FFFFFF"/>
          </a:solidFill>
          <a:ln w="9525">
            <a:solidFill>
              <a:srgbClr val="E3EBF0"/>
            </a:solidFill>
            <a:prstDash val="solid"/>
          </a:ln>
        </p:spPr>
      </p:sp>
      <p:sp>
        <p:nvSpPr>
          <p:cNvPr id="29" name="Text 27"/>
          <p:cNvSpPr/>
          <p:nvPr/>
        </p:nvSpPr>
        <p:spPr>
          <a:xfrm>
            <a:off x="3493008" y="4133088"/>
            <a:ext cx="791870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Both models scored on the same images, each image right or wrong — this is exactly McNemar's case</a:t>
            </a:r>
            <a:endParaRPr lang="en-US" sz="1050" dirty="0"/>
          </a:p>
        </p:txBody>
      </p:sp>
      <p:sp>
        <p:nvSpPr>
          <p:cNvPr id="30" name="Shape 28"/>
          <p:cNvSpPr/>
          <p:nvPr/>
        </p:nvSpPr>
        <p:spPr>
          <a:xfrm>
            <a:off x="640080" y="4636008"/>
            <a:ext cx="2743200" cy="502920"/>
          </a:xfrm>
          <a:prstGeom prst="rect">
            <a:avLst/>
          </a:prstGeom>
          <a:solidFill>
            <a:srgbClr val="F5F9FB"/>
          </a:solidFill>
          <a:ln w="9525">
            <a:solidFill>
              <a:srgbClr val="E3EBF0"/>
            </a:solidFill>
            <a:prstDash val="solid"/>
          </a:ln>
        </p:spPr>
      </p:sp>
      <p:sp>
        <p:nvSpPr>
          <p:cNvPr id="31" name="Text 29"/>
          <p:cNvSpPr/>
          <p:nvPr/>
        </p:nvSpPr>
        <p:spPr>
          <a:xfrm>
            <a:off x="749808" y="4636008"/>
            <a:ext cx="252374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Report per-slice, not aggregate</a:t>
            </a:r>
            <a:endParaRPr lang="en-US" sz="1050" dirty="0"/>
          </a:p>
        </p:txBody>
      </p:sp>
      <p:sp>
        <p:nvSpPr>
          <p:cNvPr id="32" name="Shape 30"/>
          <p:cNvSpPr/>
          <p:nvPr/>
        </p:nvSpPr>
        <p:spPr>
          <a:xfrm>
            <a:off x="3383280" y="4636008"/>
            <a:ext cx="8138160" cy="502920"/>
          </a:xfrm>
          <a:prstGeom prst="rect">
            <a:avLst/>
          </a:prstGeom>
          <a:solidFill>
            <a:srgbClr val="F5F9FB"/>
          </a:solidFill>
          <a:ln w="9525">
            <a:solidFill>
              <a:srgbClr val="E3EBF0"/>
            </a:solidFill>
            <a:prstDash val="solid"/>
          </a:ln>
        </p:spPr>
      </p:sp>
      <p:sp>
        <p:nvSpPr>
          <p:cNvPr id="33" name="Text 31"/>
          <p:cNvSpPr/>
          <p:nvPr/>
        </p:nvSpPr>
        <p:spPr>
          <a:xfrm>
            <a:off x="3493008" y="4636008"/>
            <a:ext cx="791870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An improvement that helps common classes and harms a rare critical one is not an improvement</a:t>
            </a:r>
            <a:endParaRPr lang="en-US" sz="1050" dirty="0"/>
          </a:p>
        </p:txBody>
      </p:sp>
      <p:sp>
        <p:nvSpPr>
          <p:cNvPr id="34" name="Shape 32"/>
          <p:cNvSpPr/>
          <p:nvPr/>
        </p:nvSpPr>
        <p:spPr>
          <a:xfrm>
            <a:off x="640080" y="5257800"/>
            <a:ext cx="10881360" cy="822960"/>
          </a:xfrm>
          <a:prstGeom prst="roundRect">
            <a:avLst>
              <a:gd name="adj" fmla="val 6667"/>
            </a:avLst>
          </a:prstGeom>
          <a:solidFill>
            <a:srgbClr val="EDF5EE"/>
          </a:solidFill>
          <a:ln w="12700">
            <a:solidFill>
              <a:srgbClr val="C2DCC8"/>
            </a:solidFill>
            <a:prstDash val="solid"/>
          </a:ln>
        </p:spPr>
      </p:sp>
      <p:sp>
        <p:nvSpPr>
          <p:cNvPr id="35" name="Text 33"/>
          <p:cNvSpPr/>
          <p:nvPr/>
        </p:nvSpPr>
        <p:spPr>
          <a:xfrm>
            <a:off x="914400" y="5422392"/>
            <a:ext cx="10332720" cy="521208"/>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Per-class thresholds are underused. A safety-critical defect class can be set to favour recall heavily while a cosmetic class favours precision — one model, two operating points.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2 · 2.5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Human review for vision systems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19</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50" dirty="0">
                <a:solidFill>
                  <a:srgbClr val="5A6B7C"/>
                </a:solidFill>
                <a:latin typeface="Calibri" pitchFamily="34" charset="0"/>
                <a:ea typeface="Calibri" pitchFamily="34" charset="-122"/>
                <a:cs typeface="Calibri" pitchFamily="34" charset="-120"/>
              </a:rPr>
              <a:t>The three-band design from Day 1, applied to inspection — and the arithmetic that decides whether it is viable.</a:t>
            </a:r>
            <a:endParaRPr lang="en-US" sz="1450" dirty="0"/>
          </a:p>
        </p:txBody>
      </p:sp>
      <p:sp>
        <p:nvSpPr>
          <p:cNvPr id="6" name="Shape 4"/>
          <p:cNvSpPr/>
          <p:nvPr/>
        </p:nvSpPr>
        <p:spPr>
          <a:xfrm>
            <a:off x="640080" y="1783080"/>
            <a:ext cx="3108960" cy="384048"/>
          </a:xfrm>
          <a:prstGeom prst="rect">
            <a:avLst/>
          </a:prstGeom>
          <a:solidFill>
            <a:srgbClr val="21295C"/>
          </a:solidFill>
          <a:ln/>
        </p:spPr>
      </p:sp>
      <p:sp>
        <p:nvSpPr>
          <p:cNvPr id="7" name="Text 5"/>
          <p:cNvSpPr/>
          <p:nvPr/>
        </p:nvSpPr>
        <p:spPr>
          <a:xfrm>
            <a:off x="749808" y="1783080"/>
            <a:ext cx="28895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Design question</a:t>
            </a:r>
            <a:endParaRPr lang="en-US" sz="1100" dirty="0"/>
          </a:p>
        </p:txBody>
      </p:sp>
      <p:sp>
        <p:nvSpPr>
          <p:cNvPr id="8" name="Shape 6"/>
          <p:cNvSpPr/>
          <p:nvPr/>
        </p:nvSpPr>
        <p:spPr>
          <a:xfrm>
            <a:off x="3749040" y="1783080"/>
            <a:ext cx="7772400" cy="384048"/>
          </a:xfrm>
          <a:prstGeom prst="rect">
            <a:avLst/>
          </a:prstGeom>
          <a:solidFill>
            <a:srgbClr val="21295C"/>
          </a:solidFill>
          <a:ln/>
        </p:spPr>
      </p:sp>
      <p:sp>
        <p:nvSpPr>
          <p:cNvPr id="9" name="Text 7"/>
          <p:cNvSpPr/>
          <p:nvPr/>
        </p:nvSpPr>
        <p:spPr>
          <a:xfrm>
            <a:off x="3858768" y="1783080"/>
            <a:ext cx="75529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Consideration</a:t>
            </a:r>
            <a:endParaRPr lang="en-US" sz="1100" dirty="0"/>
          </a:p>
        </p:txBody>
      </p:sp>
      <p:sp>
        <p:nvSpPr>
          <p:cNvPr id="10" name="Shape 8"/>
          <p:cNvSpPr/>
          <p:nvPr/>
        </p:nvSpPr>
        <p:spPr>
          <a:xfrm>
            <a:off x="640080" y="2167128"/>
            <a:ext cx="3108960" cy="566928"/>
          </a:xfrm>
          <a:prstGeom prst="rect">
            <a:avLst/>
          </a:prstGeom>
          <a:solidFill>
            <a:srgbClr val="FFFFFF"/>
          </a:solidFill>
          <a:ln w="9525">
            <a:solidFill>
              <a:srgbClr val="E3EBF0"/>
            </a:solidFill>
            <a:prstDash val="solid"/>
          </a:ln>
        </p:spPr>
      </p:sp>
      <p:sp>
        <p:nvSpPr>
          <p:cNvPr id="11" name="Text 9"/>
          <p:cNvSpPr/>
          <p:nvPr/>
        </p:nvSpPr>
        <p:spPr>
          <a:xfrm>
            <a:off x="749808" y="2167128"/>
            <a:ext cx="28895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What lands in review?</a:t>
            </a:r>
            <a:endParaRPr lang="en-US" sz="1050" dirty="0"/>
          </a:p>
        </p:txBody>
      </p:sp>
      <p:sp>
        <p:nvSpPr>
          <p:cNvPr id="12" name="Shape 10"/>
          <p:cNvSpPr/>
          <p:nvPr/>
        </p:nvSpPr>
        <p:spPr>
          <a:xfrm>
            <a:off x="3749040" y="2167128"/>
            <a:ext cx="7772400" cy="566928"/>
          </a:xfrm>
          <a:prstGeom prst="rect">
            <a:avLst/>
          </a:prstGeom>
          <a:solidFill>
            <a:srgbClr val="FFFFFF"/>
          </a:solidFill>
          <a:ln w="9525">
            <a:solidFill>
              <a:srgbClr val="E3EBF0"/>
            </a:solidFill>
            <a:prstDash val="solid"/>
          </a:ln>
        </p:spPr>
      </p:sp>
      <p:sp>
        <p:nvSpPr>
          <p:cNvPr id="13" name="Text 11"/>
          <p:cNvSpPr/>
          <p:nvPr/>
        </p:nvSpPr>
        <p:spPr>
          <a:xfrm>
            <a:off x="3858768" y="2167128"/>
            <a:ext cx="75529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Cases between the two thresholds, plus any detection of a safety-critical class regardless of confidence</a:t>
            </a:r>
            <a:endParaRPr lang="en-US" sz="1050" dirty="0"/>
          </a:p>
        </p:txBody>
      </p:sp>
      <p:sp>
        <p:nvSpPr>
          <p:cNvPr id="14" name="Shape 12"/>
          <p:cNvSpPr/>
          <p:nvPr/>
        </p:nvSpPr>
        <p:spPr>
          <a:xfrm>
            <a:off x="640080" y="2734056"/>
            <a:ext cx="3108960" cy="566928"/>
          </a:xfrm>
          <a:prstGeom prst="rect">
            <a:avLst/>
          </a:prstGeom>
          <a:solidFill>
            <a:srgbClr val="F5F9FB"/>
          </a:solidFill>
          <a:ln w="9525">
            <a:solidFill>
              <a:srgbClr val="E3EBF0"/>
            </a:solidFill>
            <a:prstDash val="solid"/>
          </a:ln>
        </p:spPr>
      </p:sp>
      <p:sp>
        <p:nvSpPr>
          <p:cNvPr id="15" name="Text 13"/>
          <p:cNvSpPr/>
          <p:nvPr/>
        </p:nvSpPr>
        <p:spPr>
          <a:xfrm>
            <a:off x="749808" y="2734056"/>
            <a:ext cx="28895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Who reviews?</a:t>
            </a:r>
            <a:endParaRPr lang="en-US" sz="1050" dirty="0"/>
          </a:p>
        </p:txBody>
      </p:sp>
      <p:sp>
        <p:nvSpPr>
          <p:cNvPr id="16" name="Shape 14"/>
          <p:cNvSpPr/>
          <p:nvPr/>
        </p:nvSpPr>
        <p:spPr>
          <a:xfrm>
            <a:off x="3749040" y="2734056"/>
            <a:ext cx="7772400" cy="566928"/>
          </a:xfrm>
          <a:prstGeom prst="rect">
            <a:avLst/>
          </a:prstGeom>
          <a:solidFill>
            <a:srgbClr val="F5F9FB"/>
          </a:solidFill>
          <a:ln w="9525">
            <a:solidFill>
              <a:srgbClr val="E3EBF0"/>
            </a:solidFill>
            <a:prstDash val="solid"/>
          </a:ln>
        </p:spPr>
      </p:sp>
      <p:sp>
        <p:nvSpPr>
          <p:cNvPr id="17" name="Text 15"/>
          <p:cNvSpPr/>
          <p:nvPr/>
        </p:nvSpPr>
        <p:spPr>
          <a:xfrm>
            <a:off x="3858768" y="2734056"/>
            <a:ext cx="75529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existing inspector, at their existing station, in their existing workflow. A separate review queue nobody visits fails</a:t>
            </a:r>
            <a:endParaRPr lang="en-US" sz="1050" dirty="0"/>
          </a:p>
        </p:txBody>
      </p:sp>
      <p:sp>
        <p:nvSpPr>
          <p:cNvPr id="18" name="Shape 16"/>
          <p:cNvSpPr/>
          <p:nvPr/>
        </p:nvSpPr>
        <p:spPr>
          <a:xfrm>
            <a:off x="640080" y="3300984"/>
            <a:ext cx="3108960" cy="566928"/>
          </a:xfrm>
          <a:prstGeom prst="rect">
            <a:avLst/>
          </a:prstGeom>
          <a:solidFill>
            <a:srgbClr val="FFFFFF"/>
          </a:solidFill>
          <a:ln w="9525">
            <a:solidFill>
              <a:srgbClr val="E3EBF0"/>
            </a:solidFill>
            <a:prstDash val="solid"/>
          </a:ln>
        </p:spPr>
      </p:sp>
      <p:sp>
        <p:nvSpPr>
          <p:cNvPr id="19" name="Text 17"/>
          <p:cNvSpPr/>
          <p:nvPr/>
        </p:nvSpPr>
        <p:spPr>
          <a:xfrm>
            <a:off x="749808" y="3300984"/>
            <a:ext cx="28895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How fast must it be?</a:t>
            </a:r>
            <a:endParaRPr lang="en-US" sz="1050" dirty="0"/>
          </a:p>
        </p:txBody>
      </p:sp>
      <p:sp>
        <p:nvSpPr>
          <p:cNvPr id="20" name="Shape 18"/>
          <p:cNvSpPr/>
          <p:nvPr/>
        </p:nvSpPr>
        <p:spPr>
          <a:xfrm>
            <a:off x="3749040" y="3300984"/>
            <a:ext cx="7772400" cy="566928"/>
          </a:xfrm>
          <a:prstGeom prst="rect">
            <a:avLst/>
          </a:prstGeom>
          <a:solidFill>
            <a:srgbClr val="FFFFFF"/>
          </a:solidFill>
          <a:ln w="9525">
            <a:solidFill>
              <a:srgbClr val="E3EBF0"/>
            </a:solidFill>
            <a:prstDash val="solid"/>
          </a:ln>
        </p:spPr>
      </p:sp>
      <p:sp>
        <p:nvSpPr>
          <p:cNvPr id="21" name="Text 19"/>
          <p:cNvSpPr/>
          <p:nvPr/>
        </p:nvSpPr>
        <p:spPr>
          <a:xfrm>
            <a:off x="3858768" y="3300984"/>
            <a:ext cx="75529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On a moving line, review must fit the cycle time or the part must be diverted. This constrains the deferral rate hard</a:t>
            </a:r>
            <a:endParaRPr lang="en-US" sz="1050" dirty="0"/>
          </a:p>
        </p:txBody>
      </p:sp>
      <p:sp>
        <p:nvSpPr>
          <p:cNvPr id="22" name="Shape 20"/>
          <p:cNvSpPr/>
          <p:nvPr/>
        </p:nvSpPr>
        <p:spPr>
          <a:xfrm>
            <a:off x="640080" y="3867912"/>
            <a:ext cx="3108960" cy="566928"/>
          </a:xfrm>
          <a:prstGeom prst="rect">
            <a:avLst/>
          </a:prstGeom>
          <a:solidFill>
            <a:srgbClr val="F5F9FB"/>
          </a:solidFill>
          <a:ln w="9525">
            <a:solidFill>
              <a:srgbClr val="E3EBF0"/>
            </a:solidFill>
            <a:prstDash val="solid"/>
          </a:ln>
        </p:spPr>
      </p:sp>
      <p:sp>
        <p:nvSpPr>
          <p:cNvPr id="23" name="Text 21"/>
          <p:cNvSpPr/>
          <p:nvPr/>
        </p:nvSpPr>
        <p:spPr>
          <a:xfrm>
            <a:off x="749808" y="3867912"/>
            <a:ext cx="28895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What does the reviewer see?</a:t>
            </a:r>
            <a:endParaRPr lang="en-US" sz="1050" dirty="0"/>
          </a:p>
        </p:txBody>
      </p:sp>
      <p:sp>
        <p:nvSpPr>
          <p:cNvPr id="24" name="Shape 22"/>
          <p:cNvSpPr/>
          <p:nvPr/>
        </p:nvSpPr>
        <p:spPr>
          <a:xfrm>
            <a:off x="3749040" y="3867912"/>
            <a:ext cx="7772400" cy="566928"/>
          </a:xfrm>
          <a:prstGeom prst="rect">
            <a:avLst/>
          </a:prstGeom>
          <a:solidFill>
            <a:srgbClr val="F5F9FB"/>
          </a:solidFill>
          <a:ln w="9525">
            <a:solidFill>
              <a:srgbClr val="E3EBF0"/>
            </a:solidFill>
            <a:prstDash val="solid"/>
          </a:ln>
        </p:spPr>
      </p:sp>
      <p:sp>
        <p:nvSpPr>
          <p:cNvPr id="25" name="Text 23"/>
          <p:cNvSpPr/>
          <p:nvPr/>
        </p:nvSpPr>
        <p:spPr>
          <a:xfrm>
            <a:off x="3858768" y="3867912"/>
            <a:ext cx="75529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image, the model's proposal, its confidence, and the closest matching training examples</a:t>
            </a:r>
            <a:endParaRPr lang="en-US" sz="1050" dirty="0"/>
          </a:p>
        </p:txBody>
      </p:sp>
      <p:sp>
        <p:nvSpPr>
          <p:cNvPr id="26" name="Shape 24"/>
          <p:cNvSpPr/>
          <p:nvPr/>
        </p:nvSpPr>
        <p:spPr>
          <a:xfrm>
            <a:off x="640080" y="4434840"/>
            <a:ext cx="3108960" cy="566928"/>
          </a:xfrm>
          <a:prstGeom prst="rect">
            <a:avLst/>
          </a:prstGeom>
          <a:solidFill>
            <a:srgbClr val="FFFFFF"/>
          </a:solidFill>
          <a:ln w="9525">
            <a:solidFill>
              <a:srgbClr val="E3EBF0"/>
            </a:solidFill>
            <a:prstDash val="solid"/>
          </a:ln>
        </p:spPr>
      </p:sp>
      <p:sp>
        <p:nvSpPr>
          <p:cNvPr id="27" name="Text 25"/>
          <p:cNvSpPr/>
          <p:nvPr/>
        </p:nvSpPr>
        <p:spPr>
          <a:xfrm>
            <a:off x="749808" y="4434840"/>
            <a:ext cx="28895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What happens to the decision?</a:t>
            </a:r>
            <a:endParaRPr lang="en-US" sz="1050" dirty="0"/>
          </a:p>
        </p:txBody>
      </p:sp>
      <p:sp>
        <p:nvSpPr>
          <p:cNvPr id="28" name="Shape 26"/>
          <p:cNvSpPr/>
          <p:nvPr/>
        </p:nvSpPr>
        <p:spPr>
          <a:xfrm>
            <a:off x="3749040" y="4434840"/>
            <a:ext cx="7772400" cy="566928"/>
          </a:xfrm>
          <a:prstGeom prst="rect">
            <a:avLst/>
          </a:prstGeom>
          <a:solidFill>
            <a:srgbClr val="FFFFFF"/>
          </a:solidFill>
          <a:ln w="9525">
            <a:solidFill>
              <a:srgbClr val="E3EBF0"/>
            </a:solidFill>
            <a:prstDash val="solid"/>
          </a:ln>
        </p:spPr>
      </p:sp>
      <p:sp>
        <p:nvSpPr>
          <p:cNvPr id="29" name="Text 27"/>
          <p:cNvSpPr/>
          <p:nvPr/>
        </p:nvSpPr>
        <p:spPr>
          <a:xfrm>
            <a:off x="3858768" y="4434840"/>
            <a:ext cx="75529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It becomes a labelled example. If it does not flow back to training, you are discarding your best data</a:t>
            </a:r>
            <a:endParaRPr lang="en-US" sz="1050" dirty="0"/>
          </a:p>
        </p:txBody>
      </p:sp>
      <p:sp>
        <p:nvSpPr>
          <p:cNvPr id="30" name="Shape 28"/>
          <p:cNvSpPr/>
          <p:nvPr/>
        </p:nvSpPr>
        <p:spPr>
          <a:xfrm>
            <a:off x="640080" y="5001768"/>
            <a:ext cx="3108960" cy="566928"/>
          </a:xfrm>
          <a:prstGeom prst="rect">
            <a:avLst/>
          </a:prstGeom>
          <a:solidFill>
            <a:srgbClr val="F5F9FB"/>
          </a:solidFill>
          <a:ln w="9525">
            <a:solidFill>
              <a:srgbClr val="E3EBF0"/>
            </a:solidFill>
            <a:prstDash val="solid"/>
          </a:ln>
        </p:spPr>
      </p:sp>
      <p:sp>
        <p:nvSpPr>
          <p:cNvPr id="31" name="Text 29"/>
          <p:cNvSpPr/>
          <p:nvPr/>
        </p:nvSpPr>
        <p:spPr>
          <a:xfrm>
            <a:off x="749808" y="5001768"/>
            <a:ext cx="288950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What is measured?</a:t>
            </a:r>
            <a:endParaRPr lang="en-US" sz="1050" dirty="0"/>
          </a:p>
        </p:txBody>
      </p:sp>
      <p:sp>
        <p:nvSpPr>
          <p:cNvPr id="32" name="Shape 30"/>
          <p:cNvSpPr/>
          <p:nvPr/>
        </p:nvSpPr>
        <p:spPr>
          <a:xfrm>
            <a:off x="3749040" y="5001768"/>
            <a:ext cx="7772400" cy="566928"/>
          </a:xfrm>
          <a:prstGeom prst="rect">
            <a:avLst/>
          </a:prstGeom>
          <a:solidFill>
            <a:srgbClr val="F5F9FB"/>
          </a:solidFill>
          <a:ln w="9525">
            <a:solidFill>
              <a:srgbClr val="E3EBF0"/>
            </a:solidFill>
            <a:prstDash val="solid"/>
          </a:ln>
        </p:spPr>
      </p:sp>
      <p:sp>
        <p:nvSpPr>
          <p:cNvPr id="33" name="Text 31"/>
          <p:cNvSpPr/>
          <p:nvPr/>
        </p:nvSpPr>
        <p:spPr>
          <a:xfrm>
            <a:off x="3858768" y="5001768"/>
            <a:ext cx="75529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Deferral rate, reviewer agreement with the model, time per review, and the trend in all three</a:t>
            </a:r>
            <a:endParaRPr lang="en-US" sz="1050" dirty="0"/>
          </a:p>
        </p:txBody>
      </p:sp>
      <p:sp>
        <p:nvSpPr>
          <p:cNvPr id="34" name="Text 32"/>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C1440E"/>
                </a:solidFill>
                <a:latin typeface="Calibri" pitchFamily="34" charset="0"/>
                <a:ea typeface="Calibri" pitchFamily="34" charset="-122"/>
                <a:cs typeface="Calibri" pitchFamily="34" charset="-120"/>
              </a:rPr>
              <a:t>On a line running at two parts per second, a 12% deferral rate is 8,600 reviews per shift. Do the arithmetic before choosing thresholds.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HANDS-ON · 60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 2 — Error analysis report and hypotheses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20</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500" dirty="0">
                <a:solidFill>
                  <a:srgbClr val="1A2430"/>
                </a:solidFill>
                <a:latin typeface="Calibri" pitchFamily="34" charset="0"/>
                <a:ea typeface="Calibri" pitchFamily="34" charset="-122"/>
                <a:cs typeface="Calibri" pitchFamily="34" charset="-120"/>
              </a:rPr>
              <a:t>Produce the report you would give your engineering manager, and the three hypotheses you would fund next.</a:t>
            </a:r>
            <a:endParaRPr lang="en-US" sz="1500" dirty="0"/>
          </a:p>
        </p:txBody>
      </p:sp>
      <p:sp>
        <p:nvSpPr>
          <p:cNvPr id="6" name="Shape 4"/>
          <p:cNvSpPr/>
          <p:nvPr/>
        </p:nvSpPr>
        <p:spPr>
          <a:xfrm>
            <a:off x="640080" y="1783080"/>
            <a:ext cx="2926080" cy="384048"/>
          </a:xfrm>
          <a:prstGeom prst="rect">
            <a:avLst/>
          </a:prstGeom>
          <a:solidFill>
            <a:srgbClr val="21295C"/>
          </a:solidFill>
          <a:ln/>
        </p:spPr>
      </p:sp>
      <p:sp>
        <p:nvSpPr>
          <p:cNvPr id="7" name="Text 5"/>
          <p:cNvSpPr/>
          <p:nvPr/>
        </p:nvSpPr>
        <p:spPr>
          <a:xfrm>
            <a:off x="749808" y="1783080"/>
            <a:ext cx="27066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Section</a:t>
            </a:r>
            <a:endParaRPr lang="en-US" sz="1100" dirty="0"/>
          </a:p>
        </p:txBody>
      </p:sp>
      <p:sp>
        <p:nvSpPr>
          <p:cNvPr id="8" name="Shape 6"/>
          <p:cNvSpPr/>
          <p:nvPr/>
        </p:nvSpPr>
        <p:spPr>
          <a:xfrm>
            <a:off x="3566160" y="1783080"/>
            <a:ext cx="7955280" cy="384048"/>
          </a:xfrm>
          <a:prstGeom prst="rect">
            <a:avLst/>
          </a:prstGeom>
          <a:solidFill>
            <a:srgbClr val="21295C"/>
          </a:solidFill>
          <a:ln/>
        </p:spPr>
      </p:sp>
      <p:sp>
        <p:nvSpPr>
          <p:cNvPr id="9" name="Text 7"/>
          <p:cNvSpPr/>
          <p:nvPr/>
        </p:nvSpPr>
        <p:spPr>
          <a:xfrm>
            <a:off x="3675888" y="1783080"/>
            <a:ext cx="77358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Content</a:t>
            </a:r>
            <a:endParaRPr lang="en-US" sz="1100" dirty="0"/>
          </a:p>
        </p:txBody>
      </p:sp>
      <p:sp>
        <p:nvSpPr>
          <p:cNvPr id="10" name="Shape 8"/>
          <p:cNvSpPr/>
          <p:nvPr/>
        </p:nvSpPr>
        <p:spPr>
          <a:xfrm>
            <a:off x="640080" y="2167128"/>
            <a:ext cx="2926080" cy="566928"/>
          </a:xfrm>
          <a:prstGeom prst="rect">
            <a:avLst/>
          </a:prstGeom>
          <a:solidFill>
            <a:srgbClr val="FFFFFF"/>
          </a:solidFill>
          <a:ln w="9525">
            <a:solidFill>
              <a:srgbClr val="E3EBF0"/>
            </a:solidFill>
            <a:prstDash val="solid"/>
          </a:ln>
        </p:spPr>
      </p:sp>
      <p:sp>
        <p:nvSpPr>
          <p:cNvPr id="11" name="Text 9"/>
          <p:cNvSpPr/>
          <p:nvPr/>
        </p:nvSpPr>
        <p:spPr>
          <a:xfrm>
            <a:off x="749808" y="2167128"/>
            <a:ext cx="27066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Failure taxonomy</a:t>
            </a:r>
            <a:endParaRPr lang="en-US" sz="1050" dirty="0"/>
          </a:p>
        </p:txBody>
      </p:sp>
      <p:sp>
        <p:nvSpPr>
          <p:cNvPr id="12" name="Shape 10"/>
          <p:cNvSpPr/>
          <p:nvPr/>
        </p:nvSpPr>
        <p:spPr>
          <a:xfrm>
            <a:off x="3566160" y="2167128"/>
            <a:ext cx="7955280" cy="566928"/>
          </a:xfrm>
          <a:prstGeom prst="rect">
            <a:avLst/>
          </a:prstGeom>
          <a:solidFill>
            <a:srgbClr val="FFFFFF"/>
          </a:solidFill>
          <a:ln w="9525">
            <a:solidFill>
              <a:srgbClr val="E3EBF0"/>
            </a:solidFill>
            <a:prstDash val="solid"/>
          </a:ln>
        </p:spPr>
      </p:sp>
      <p:sp>
        <p:nvSpPr>
          <p:cNvPr id="13" name="Text 11"/>
          <p:cNvSpPr/>
          <p:nvPr/>
        </p:nvSpPr>
        <p:spPr>
          <a:xfrm>
            <a:off x="3675888" y="2167128"/>
            <a:ext cx="77358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Categories with counts, weighted by business cost, ranked</a:t>
            </a:r>
            <a:endParaRPr lang="en-US" sz="1050" dirty="0"/>
          </a:p>
        </p:txBody>
      </p:sp>
      <p:sp>
        <p:nvSpPr>
          <p:cNvPr id="14" name="Shape 12"/>
          <p:cNvSpPr/>
          <p:nvPr/>
        </p:nvSpPr>
        <p:spPr>
          <a:xfrm>
            <a:off x="640080" y="2734056"/>
            <a:ext cx="2926080" cy="566928"/>
          </a:xfrm>
          <a:prstGeom prst="rect">
            <a:avLst/>
          </a:prstGeom>
          <a:solidFill>
            <a:srgbClr val="F5F9FB"/>
          </a:solidFill>
          <a:ln w="9525">
            <a:solidFill>
              <a:srgbClr val="E3EBF0"/>
            </a:solidFill>
            <a:prstDash val="solid"/>
          </a:ln>
        </p:spPr>
      </p:sp>
      <p:sp>
        <p:nvSpPr>
          <p:cNvPr id="15" name="Text 13"/>
          <p:cNvSpPr/>
          <p:nvPr/>
        </p:nvSpPr>
        <p:spPr>
          <a:xfrm>
            <a:off x="749808" y="2734056"/>
            <a:ext cx="27066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Per-class breakdown</a:t>
            </a:r>
            <a:endParaRPr lang="en-US" sz="1050" dirty="0"/>
          </a:p>
        </p:txBody>
      </p:sp>
      <p:sp>
        <p:nvSpPr>
          <p:cNvPr id="16" name="Shape 14"/>
          <p:cNvSpPr/>
          <p:nvPr/>
        </p:nvSpPr>
        <p:spPr>
          <a:xfrm>
            <a:off x="3566160" y="2734056"/>
            <a:ext cx="7955280" cy="566928"/>
          </a:xfrm>
          <a:prstGeom prst="rect">
            <a:avLst/>
          </a:prstGeom>
          <a:solidFill>
            <a:srgbClr val="F5F9FB"/>
          </a:solidFill>
          <a:ln w="9525">
            <a:solidFill>
              <a:srgbClr val="E3EBF0"/>
            </a:solidFill>
            <a:prstDash val="solid"/>
          </a:ln>
        </p:spPr>
      </p:sp>
      <p:sp>
        <p:nvSpPr>
          <p:cNvPr id="17" name="Text 15"/>
          <p:cNvSpPr/>
          <p:nvPr/>
        </p:nvSpPr>
        <p:spPr>
          <a:xfrm>
            <a:off x="3675888" y="2734056"/>
            <a:ext cx="77358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Recall by class, with the two classes carrying most errors identified</a:t>
            </a:r>
            <a:endParaRPr lang="en-US" sz="1050" dirty="0"/>
          </a:p>
        </p:txBody>
      </p:sp>
      <p:sp>
        <p:nvSpPr>
          <p:cNvPr id="18" name="Shape 16"/>
          <p:cNvSpPr/>
          <p:nvPr/>
        </p:nvSpPr>
        <p:spPr>
          <a:xfrm>
            <a:off x="640080" y="3300984"/>
            <a:ext cx="2926080" cy="566928"/>
          </a:xfrm>
          <a:prstGeom prst="rect">
            <a:avLst/>
          </a:prstGeom>
          <a:solidFill>
            <a:srgbClr val="FFFFFF"/>
          </a:solidFill>
          <a:ln w="9525">
            <a:solidFill>
              <a:srgbClr val="E3EBF0"/>
            </a:solidFill>
            <a:prstDash val="solid"/>
          </a:ln>
        </p:spPr>
      </p:sp>
      <p:sp>
        <p:nvSpPr>
          <p:cNvPr id="19" name="Text 17"/>
          <p:cNvSpPr/>
          <p:nvPr/>
        </p:nvSpPr>
        <p:spPr>
          <a:xfrm>
            <a:off x="749808" y="3300984"/>
            <a:ext cx="27066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Label audit</a:t>
            </a:r>
            <a:endParaRPr lang="en-US" sz="1050" dirty="0"/>
          </a:p>
        </p:txBody>
      </p:sp>
      <p:sp>
        <p:nvSpPr>
          <p:cNvPr id="20" name="Shape 18"/>
          <p:cNvSpPr/>
          <p:nvPr/>
        </p:nvSpPr>
        <p:spPr>
          <a:xfrm>
            <a:off x="3566160" y="3300984"/>
            <a:ext cx="7955280" cy="566928"/>
          </a:xfrm>
          <a:prstGeom prst="rect">
            <a:avLst/>
          </a:prstGeom>
          <a:solidFill>
            <a:srgbClr val="FFFFFF"/>
          </a:solidFill>
          <a:ln w="9525">
            <a:solidFill>
              <a:srgbClr val="E3EBF0"/>
            </a:solidFill>
            <a:prstDash val="solid"/>
          </a:ln>
        </p:spPr>
      </p:sp>
      <p:sp>
        <p:nvSpPr>
          <p:cNvPr id="21" name="Text 19"/>
          <p:cNvSpPr/>
          <p:nvPr/>
        </p:nvSpPr>
        <p:spPr>
          <a:xfrm>
            <a:off x="3675888" y="3300984"/>
            <a:ext cx="77358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Of the failures reviewed, how many were labelling errors rather than model errors</a:t>
            </a:r>
            <a:endParaRPr lang="en-US" sz="1050" dirty="0"/>
          </a:p>
        </p:txBody>
      </p:sp>
      <p:sp>
        <p:nvSpPr>
          <p:cNvPr id="22" name="Shape 20"/>
          <p:cNvSpPr/>
          <p:nvPr/>
        </p:nvSpPr>
        <p:spPr>
          <a:xfrm>
            <a:off x="640080" y="3867912"/>
            <a:ext cx="2926080" cy="566928"/>
          </a:xfrm>
          <a:prstGeom prst="rect">
            <a:avLst/>
          </a:prstGeom>
          <a:solidFill>
            <a:srgbClr val="F5F9FB"/>
          </a:solidFill>
          <a:ln w="9525">
            <a:solidFill>
              <a:srgbClr val="E3EBF0"/>
            </a:solidFill>
            <a:prstDash val="solid"/>
          </a:ln>
        </p:spPr>
      </p:sp>
      <p:sp>
        <p:nvSpPr>
          <p:cNvPr id="23" name="Text 21"/>
          <p:cNvSpPr/>
          <p:nvPr/>
        </p:nvSpPr>
        <p:spPr>
          <a:xfrm>
            <a:off x="749808" y="3867912"/>
            <a:ext cx="27066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Capture condition analysis</a:t>
            </a:r>
            <a:endParaRPr lang="en-US" sz="1050" dirty="0"/>
          </a:p>
        </p:txBody>
      </p:sp>
      <p:sp>
        <p:nvSpPr>
          <p:cNvPr id="24" name="Shape 22"/>
          <p:cNvSpPr/>
          <p:nvPr/>
        </p:nvSpPr>
        <p:spPr>
          <a:xfrm>
            <a:off x="3566160" y="3867912"/>
            <a:ext cx="7955280" cy="566928"/>
          </a:xfrm>
          <a:prstGeom prst="rect">
            <a:avLst/>
          </a:prstGeom>
          <a:solidFill>
            <a:srgbClr val="F5F9FB"/>
          </a:solidFill>
          <a:ln w="9525">
            <a:solidFill>
              <a:srgbClr val="E3EBF0"/>
            </a:solidFill>
            <a:prstDash val="solid"/>
          </a:ln>
        </p:spPr>
      </p:sp>
      <p:sp>
        <p:nvSpPr>
          <p:cNvPr id="25" name="Text 23"/>
          <p:cNvSpPr/>
          <p:nvPr/>
        </p:nvSpPr>
        <p:spPr>
          <a:xfrm>
            <a:off x="3675888" y="3867912"/>
            <a:ext cx="77358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Failures grouped by lighting, camera, shift and product variant</a:t>
            </a:r>
            <a:endParaRPr lang="en-US" sz="1050" dirty="0"/>
          </a:p>
        </p:txBody>
      </p:sp>
      <p:sp>
        <p:nvSpPr>
          <p:cNvPr id="26" name="Shape 24"/>
          <p:cNvSpPr/>
          <p:nvPr/>
        </p:nvSpPr>
        <p:spPr>
          <a:xfrm>
            <a:off x="640080" y="4434840"/>
            <a:ext cx="2926080" cy="566928"/>
          </a:xfrm>
          <a:prstGeom prst="rect">
            <a:avLst/>
          </a:prstGeom>
          <a:solidFill>
            <a:srgbClr val="FFFFFF"/>
          </a:solidFill>
          <a:ln w="9525">
            <a:solidFill>
              <a:srgbClr val="E3EBF0"/>
            </a:solidFill>
            <a:prstDash val="solid"/>
          </a:ln>
        </p:spPr>
      </p:sp>
      <p:sp>
        <p:nvSpPr>
          <p:cNvPr id="27" name="Text 25"/>
          <p:cNvSpPr/>
          <p:nvPr/>
        </p:nvSpPr>
        <p:spPr>
          <a:xfrm>
            <a:off x="749808" y="4434840"/>
            <a:ext cx="27066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Three hypotheses</a:t>
            </a:r>
            <a:endParaRPr lang="en-US" sz="1050" dirty="0"/>
          </a:p>
        </p:txBody>
      </p:sp>
      <p:sp>
        <p:nvSpPr>
          <p:cNvPr id="28" name="Shape 26"/>
          <p:cNvSpPr/>
          <p:nvPr/>
        </p:nvSpPr>
        <p:spPr>
          <a:xfrm>
            <a:off x="3566160" y="4434840"/>
            <a:ext cx="7955280" cy="566928"/>
          </a:xfrm>
          <a:prstGeom prst="rect">
            <a:avLst/>
          </a:prstGeom>
          <a:solidFill>
            <a:srgbClr val="FFFFFF"/>
          </a:solidFill>
          <a:ln w="9525">
            <a:solidFill>
              <a:srgbClr val="E3EBF0"/>
            </a:solidFill>
            <a:prstDash val="solid"/>
          </a:ln>
        </p:spPr>
      </p:sp>
      <p:sp>
        <p:nvSpPr>
          <p:cNvPr id="29" name="Text 27"/>
          <p:cNvSpPr/>
          <p:nvPr/>
        </p:nvSpPr>
        <p:spPr>
          <a:xfrm>
            <a:off x="3675888" y="4434840"/>
            <a:ext cx="77358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Measurable, with expected effect size, statistical test and pass criterion set in advance</a:t>
            </a:r>
            <a:endParaRPr lang="en-US" sz="1050" dirty="0"/>
          </a:p>
        </p:txBody>
      </p:sp>
      <p:sp>
        <p:nvSpPr>
          <p:cNvPr id="30" name="Shape 28"/>
          <p:cNvSpPr/>
          <p:nvPr/>
        </p:nvSpPr>
        <p:spPr>
          <a:xfrm>
            <a:off x="640080" y="5001768"/>
            <a:ext cx="2926080" cy="566928"/>
          </a:xfrm>
          <a:prstGeom prst="rect">
            <a:avLst/>
          </a:prstGeom>
          <a:solidFill>
            <a:srgbClr val="F5F9FB"/>
          </a:solidFill>
          <a:ln w="9525">
            <a:solidFill>
              <a:srgbClr val="E3EBF0"/>
            </a:solidFill>
            <a:prstDash val="solid"/>
          </a:ln>
        </p:spPr>
      </p:sp>
      <p:sp>
        <p:nvSpPr>
          <p:cNvPr id="31" name="Text 29"/>
          <p:cNvSpPr/>
          <p:nvPr/>
        </p:nvSpPr>
        <p:spPr>
          <a:xfrm>
            <a:off x="749808" y="5001768"/>
            <a:ext cx="27066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Threshold analysis</a:t>
            </a:r>
            <a:endParaRPr lang="en-US" sz="1050" dirty="0"/>
          </a:p>
        </p:txBody>
      </p:sp>
      <p:sp>
        <p:nvSpPr>
          <p:cNvPr id="32" name="Shape 30"/>
          <p:cNvSpPr/>
          <p:nvPr/>
        </p:nvSpPr>
        <p:spPr>
          <a:xfrm>
            <a:off x="3566160" y="5001768"/>
            <a:ext cx="7955280" cy="566928"/>
          </a:xfrm>
          <a:prstGeom prst="rect">
            <a:avLst/>
          </a:prstGeom>
          <a:solidFill>
            <a:srgbClr val="F5F9FB"/>
          </a:solidFill>
          <a:ln w="9525">
            <a:solidFill>
              <a:srgbClr val="E3EBF0"/>
            </a:solidFill>
            <a:prstDash val="solid"/>
          </a:ln>
        </p:spPr>
      </p:sp>
      <p:sp>
        <p:nvSpPr>
          <p:cNvPr id="33" name="Text 31"/>
          <p:cNvSpPr/>
          <p:nvPr/>
        </p:nvSpPr>
        <p:spPr>
          <a:xfrm>
            <a:off x="3675888" y="5001768"/>
            <a:ext cx="77358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Cost of each error type and the cost-optimal operating point</a:t>
            </a:r>
            <a:endParaRPr lang="en-US" sz="1050" dirty="0"/>
          </a:p>
        </p:txBody>
      </p:sp>
      <p:sp>
        <p:nvSpPr>
          <p:cNvPr id="34" name="Shape 32"/>
          <p:cNvSpPr/>
          <p:nvPr/>
        </p:nvSpPr>
        <p:spPr>
          <a:xfrm>
            <a:off x="640080" y="5568696"/>
            <a:ext cx="2926080" cy="566928"/>
          </a:xfrm>
          <a:prstGeom prst="rect">
            <a:avLst/>
          </a:prstGeom>
          <a:solidFill>
            <a:srgbClr val="FFFFFF"/>
          </a:solidFill>
          <a:ln w="9525">
            <a:solidFill>
              <a:srgbClr val="E3EBF0"/>
            </a:solidFill>
            <a:prstDash val="solid"/>
          </a:ln>
        </p:spPr>
      </p:sp>
      <p:sp>
        <p:nvSpPr>
          <p:cNvPr id="35" name="Text 33"/>
          <p:cNvSpPr/>
          <p:nvPr/>
        </p:nvSpPr>
        <p:spPr>
          <a:xfrm>
            <a:off x="749808" y="5568696"/>
            <a:ext cx="27066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Recommendation</a:t>
            </a:r>
            <a:endParaRPr lang="en-US" sz="1050" dirty="0"/>
          </a:p>
        </p:txBody>
      </p:sp>
      <p:sp>
        <p:nvSpPr>
          <p:cNvPr id="36" name="Shape 34"/>
          <p:cNvSpPr/>
          <p:nvPr/>
        </p:nvSpPr>
        <p:spPr>
          <a:xfrm>
            <a:off x="3566160" y="5568696"/>
            <a:ext cx="7955280" cy="566928"/>
          </a:xfrm>
          <a:prstGeom prst="rect">
            <a:avLst/>
          </a:prstGeom>
          <a:solidFill>
            <a:srgbClr val="FFFFFF"/>
          </a:solidFill>
          <a:ln w="9525">
            <a:solidFill>
              <a:srgbClr val="E3EBF0"/>
            </a:solidFill>
            <a:prstDash val="solid"/>
          </a:ln>
        </p:spPr>
      </p:sp>
      <p:sp>
        <p:nvSpPr>
          <p:cNvPr id="37" name="Text 35"/>
          <p:cNvSpPr/>
          <p:nvPr/>
        </p:nvSpPr>
        <p:spPr>
          <a:xfrm>
            <a:off x="3675888" y="5568696"/>
            <a:ext cx="77358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Data, labels, capture or model — which one, and why the evidence supports it</a:t>
            </a:r>
            <a:endParaRPr lang="en-US" sz="1050" dirty="0"/>
          </a:p>
        </p:txBody>
      </p:sp>
      <p:sp>
        <p:nvSpPr>
          <p:cNvPr id="38" name="Text 36"/>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The label audit line is the one that usually changes the conversation with management.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indent="0" marL="0">
              <a:buNone/>
            </a:pPr>
            <a:r>
              <a:rPr lang="en-US" sz="1200" b="1" spc="300" kern="0" dirty="0">
                <a:solidFill>
                  <a:srgbClr val="9FD0E3"/>
                </a:solidFill>
                <a:latin typeface="Calibri" pitchFamily="34" charset="0"/>
                <a:ea typeface="Calibri" pitchFamily="34" charset="-122"/>
                <a:cs typeface="Calibri" pitchFamily="34" charset="-120"/>
              </a:rPr>
              <a:t>MODULE 3</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MLOps for Production AI Systems</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indent="0" marL="0">
              <a:lnSpc>
                <a:spcPts val="2100"/>
              </a:lnSpc>
              <a:buNone/>
            </a:pPr>
            <a:r>
              <a:rPr lang="en-US" sz="1500" dirty="0">
                <a:solidFill>
                  <a:srgbClr val="D5E8F0"/>
                </a:solidFill>
                <a:latin typeface="Calibri" pitchFamily="34" charset="0"/>
                <a:ea typeface="Calibri" pitchFamily="34" charset="-122"/>
                <a:cs typeface="Calibri" pitchFamily="34" charset="-120"/>
              </a:rPr>
              <a:t>The machinery that makes model changes safe, reversible, reproducible and observable.</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What MLOps is actually for</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22</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500" b="1" i="1" dirty="0">
                <a:solidFill>
                  <a:srgbClr val="1C7293"/>
                </a:solidFill>
                <a:latin typeface="Calibri" pitchFamily="34" charset="0"/>
                <a:ea typeface="Calibri" pitchFamily="34" charset="-122"/>
                <a:cs typeface="Calibri" pitchFamily="34" charset="-120"/>
              </a:rPr>
              <a:t>Not tooling for its own sake. Five specific questions it makes answerable.</a:t>
            </a:r>
            <a:endParaRPr lang="en-US" sz="1500" dirty="0"/>
          </a:p>
        </p:txBody>
      </p:sp>
      <p:sp>
        <p:nvSpPr>
          <p:cNvPr id="6" name="Shape 4"/>
          <p:cNvSpPr/>
          <p:nvPr/>
        </p:nvSpPr>
        <p:spPr>
          <a:xfrm>
            <a:off x="640080" y="1965960"/>
            <a:ext cx="365760" cy="365760"/>
          </a:xfrm>
          <a:prstGeom prst="ellipse">
            <a:avLst/>
          </a:prstGeom>
          <a:solidFill>
            <a:srgbClr val="065A82"/>
          </a:solidFill>
          <a:ln/>
        </p:spPr>
      </p:sp>
      <p:sp>
        <p:nvSpPr>
          <p:cNvPr id="7" name="Text 5"/>
          <p:cNvSpPr/>
          <p:nvPr/>
        </p:nvSpPr>
        <p:spPr>
          <a:xfrm>
            <a:off x="640080" y="1965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737360"/>
            <a:ext cx="356616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Can you reproduce a result?</a:t>
            </a:r>
            <a:endParaRPr lang="en-US" sz="1300" dirty="0"/>
          </a:p>
        </p:txBody>
      </p:sp>
      <p:sp>
        <p:nvSpPr>
          <p:cNvPr id="9" name="Text 7"/>
          <p:cNvSpPr/>
          <p:nvPr/>
        </p:nvSpPr>
        <p:spPr>
          <a:xfrm>
            <a:off x="5074920" y="1737360"/>
            <a:ext cx="64465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Which data, which features, which code, which parameters produced this model. Without it, no comparison across time is valid.</a:t>
            </a:r>
            <a:endParaRPr lang="en-US" sz="1150" dirty="0"/>
          </a:p>
        </p:txBody>
      </p:sp>
      <p:sp>
        <p:nvSpPr>
          <p:cNvPr id="10" name="Shape 8"/>
          <p:cNvSpPr/>
          <p:nvPr/>
        </p:nvSpPr>
        <p:spPr>
          <a:xfrm>
            <a:off x="640080" y="2788920"/>
            <a:ext cx="365760" cy="365760"/>
          </a:xfrm>
          <a:prstGeom prst="ellipse">
            <a:avLst/>
          </a:prstGeom>
          <a:solidFill>
            <a:srgbClr val="065A82"/>
          </a:solidFill>
          <a:ln/>
        </p:spPr>
      </p:sp>
      <p:sp>
        <p:nvSpPr>
          <p:cNvPr id="11" name="Text 9"/>
          <p:cNvSpPr/>
          <p:nvPr/>
        </p:nvSpPr>
        <p:spPr>
          <a:xfrm>
            <a:off x="640080" y="27889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560320"/>
            <a:ext cx="356616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Can you roll back?</a:t>
            </a:r>
            <a:endParaRPr lang="en-US" sz="1300" dirty="0"/>
          </a:p>
        </p:txBody>
      </p:sp>
      <p:sp>
        <p:nvSpPr>
          <p:cNvPr id="13" name="Text 11"/>
          <p:cNvSpPr/>
          <p:nvPr/>
        </p:nvSpPr>
        <p:spPr>
          <a:xfrm>
            <a:off x="5074920" y="2560320"/>
            <a:ext cx="64465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new model degrades in production. How long until the previous one is serving again — minutes, or a week?</a:t>
            </a:r>
            <a:endParaRPr lang="en-US" sz="1150" dirty="0"/>
          </a:p>
        </p:txBody>
      </p:sp>
      <p:sp>
        <p:nvSpPr>
          <p:cNvPr id="14" name="Shape 12"/>
          <p:cNvSpPr/>
          <p:nvPr/>
        </p:nvSpPr>
        <p:spPr>
          <a:xfrm>
            <a:off x="640080" y="3611880"/>
            <a:ext cx="365760" cy="365760"/>
          </a:xfrm>
          <a:prstGeom prst="ellipse">
            <a:avLst/>
          </a:prstGeom>
          <a:solidFill>
            <a:srgbClr val="065A82"/>
          </a:solidFill>
          <a:ln/>
        </p:spPr>
      </p:sp>
      <p:sp>
        <p:nvSpPr>
          <p:cNvPr id="15" name="Text 13"/>
          <p:cNvSpPr/>
          <p:nvPr/>
        </p:nvSpPr>
        <p:spPr>
          <a:xfrm>
            <a:off x="640080" y="3611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383280"/>
            <a:ext cx="356616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Can you tell it degraded?</a:t>
            </a:r>
            <a:endParaRPr lang="en-US" sz="1300" dirty="0"/>
          </a:p>
        </p:txBody>
      </p:sp>
      <p:sp>
        <p:nvSpPr>
          <p:cNvPr id="17" name="Text 15"/>
          <p:cNvSpPr/>
          <p:nvPr/>
        </p:nvSpPr>
        <p:spPr>
          <a:xfrm>
            <a:off x="5074920" y="3383280"/>
            <a:ext cx="64465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Silent decline is the default failure mode of a deployed model. Something must be measuring continuously.</a:t>
            </a:r>
            <a:endParaRPr lang="en-US" sz="1150" dirty="0"/>
          </a:p>
        </p:txBody>
      </p:sp>
      <p:sp>
        <p:nvSpPr>
          <p:cNvPr id="18" name="Shape 16"/>
          <p:cNvSpPr/>
          <p:nvPr/>
        </p:nvSpPr>
        <p:spPr>
          <a:xfrm>
            <a:off x="640080" y="4434840"/>
            <a:ext cx="365760" cy="365760"/>
          </a:xfrm>
          <a:prstGeom prst="ellipse">
            <a:avLst/>
          </a:prstGeom>
          <a:solidFill>
            <a:srgbClr val="065A82"/>
          </a:solidFill>
          <a:ln/>
        </p:spPr>
      </p:sp>
      <p:sp>
        <p:nvSpPr>
          <p:cNvPr id="19" name="Text 17"/>
          <p:cNvSpPr/>
          <p:nvPr/>
        </p:nvSpPr>
        <p:spPr>
          <a:xfrm>
            <a:off x="640080" y="4434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4206240"/>
            <a:ext cx="356616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Can you ship a change safely?</a:t>
            </a:r>
            <a:endParaRPr lang="en-US" sz="1300" dirty="0"/>
          </a:p>
        </p:txBody>
      </p:sp>
      <p:sp>
        <p:nvSpPr>
          <p:cNvPr id="21" name="Text 19"/>
          <p:cNvSpPr/>
          <p:nvPr/>
        </p:nvSpPr>
        <p:spPr>
          <a:xfrm>
            <a:off x="5074920" y="4206240"/>
            <a:ext cx="64465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Automated evaluation, staged rollout, monitored promotion — rather than a manual deploy and a hopeful weekend.</a:t>
            </a:r>
            <a:endParaRPr lang="en-US" sz="1150" dirty="0"/>
          </a:p>
        </p:txBody>
      </p:sp>
      <p:sp>
        <p:nvSpPr>
          <p:cNvPr id="22" name="Shape 20"/>
          <p:cNvSpPr/>
          <p:nvPr/>
        </p:nvSpPr>
        <p:spPr>
          <a:xfrm>
            <a:off x="640080" y="5257800"/>
            <a:ext cx="365760" cy="365760"/>
          </a:xfrm>
          <a:prstGeom prst="ellipse">
            <a:avLst/>
          </a:prstGeom>
          <a:solidFill>
            <a:srgbClr val="065A82"/>
          </a:solidFill>
          <a:ln/>
        </p:spPr>
      </p:sp>
      <p:sp>
        <p:nvSpPr>
          <p:cNvPr id="23" name="Text 21"/>
          <p:cNvSpPr/>
          <p:nvPr/>
        </p:nvSpPr>
        <p:spPr>
          <a:xfrm>
            <a:off x="640080" y="5257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5029200"/>
            <a:ext cx="3566160" cy="731520"/>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Can you retrain reliably?</a:t>
            </a:r>
            <a:endParaRPr lang="en-US" sz="1300" dirty="0"/>
          </a:p>
        </p:txBody>
      </p:sp>
      <p:sp>
        <p:nvSpPr>
          <p:cNvPr id="25" name="Text 23"/>
          <p:cNvSpPr/>
          <p:nvPr/>
        </p:nvSpPr>
        <p:spPr>
          <a:xfrm>
            <a:off x="5074920" y="5029200"/>
            <a:ext cx="6446520" cy="731520"/>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When drift is detected or new labels accumulate, is retraining a documented pipeline or a person's notebook?</a:t>
            </a:r>
            <a:endParaRPr lang="en-US" sz="1150" dirty="0"/>
          </a:p>
        </p:txBody>
      </p:sp>
      <p:sp>
        <p:nvSpPr>
          <p:cNvPr id="26" name="Text 24"/>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If the honest answer to any of these is no, that is your MLOps priority. Do not start with the tooling — start with the unanswered question.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Versioning — four things, bound together</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23</a:t>
            </a:r>
            <a:endParaRPr lang="en-US" sz="1000" dirty="0"/>
          </a:p>
        </p:txBody>
      </p:sp>
      <p:sp>
        <p:nvSpPr>
          <p:cNvPr id="5" name="Shape 3"/>
          <p:cNvSpPr/>
          <p:nvPr/>
        </p:nvSpPr>
        <p:spPr>
          <a:xfrm>
            <a:off x="640080" y="1234440"/>
            <a:ext cx="2286000" cy="384048"/>
          </a:xfrm>
          <a:prstGeom prst="rect">
            <a:avLst/>
          </a:prstGeom>
          <a:solidFill>
            <a:srgbClr val="21295C"/>
          </a:solidFill>
          <a:ln/>
        </p:spPr>
      </p:sp>
      <p:sp>
        <p:nvSpPr>
          <p:cNvPr id="6" name="Text 4"/>
          <p:cNvSpPr/>
          <p:nvPr/>
        </p:nvSpPr>
        <p:spPr>
          <a:xfrm>
            <a:off x="749808" y="1234440"/>
            <a:ext cx="20665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a:t>
            </a:r>
            <a:endParaRPr lang="en-US" sz="1100" dirty="0"/>
          </a:p>
        </p:txBody>
      </p:sp>
      <p:sp>
        <p:nvSpPr>
          <p:cNvPr id="7" name="Shape 5"/>
          <p:cNvSpPr/>
          <p:nvPr/>
        </p:nvSpPr>
        <p:spPr>
          <a:xfrm>
            <a:off x="2926080" y="1234440"/>
            <a:ext cx="4023360" cy="384048"/>
          </a:xfrm>
          <a:prstGeom prst="rect">
            <a:avLst/>
          </a:prstGeom>
          <a:solidFill>
            <a:srgbClr val="21295C"/>
          </a:solidFill>
          <a:ln/>
        </p:spPr>
      </p:sp>
      <p:sp>
        <p:nvSpPr>
          <p:cNvPr id="8" name="Text 6"/>
          <p:cNvSpPr/>
          <p:nvPr/>
        </p:nvSpPr>
        <p:spPr>
          <a:xfrm>
            <a:off x="3035808" y="1234440"/>
            <a:ext cx="38039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p>
        </p:txBody>
      </p:sp>
      <p:sp>
        <p:nvSpPr>
          <p:cNvPr id="9" name="Shape 7"/>
          <p:cNvSpPr/>
          <p:nvPr/>
        </p:nvSpPr>
        <p:spPr>
          <a:xfrm>
            <a:off x="6949440" y="1234440"/>
            <a:ext cx="4572000" cy="384048"/>
          </a:xfrm>
          <a:prstGeom prst="rect">
            <a:avLst/>
          </a:prstGeom>
          <a:solidFill>
            <a:srgbClr val="21295C"/>
          </a:solidFill>
          <a:ln/>
        </p:spPr>
      </p:sp>
      <p:sp>
        <p:nvSpPr>
          <p:cNvPr id="10" name="Text 8"/>
          <p:cNvSpPr/>
          <p:nvPr/>
        </p:nvSpPr>
        <p:spPr>
          <a:xfrm>
            <a:off x="7059168" y="1234440"/>
            <a:ext cx="43525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Consequence of omitting</a:t>
            </a:r>
            <a:endParaRPr lang="en-US" sz="1100" dirty="0"/>
          </a:p>
        </p:txBody>
      </p:sp>
      <p:sp>
        <p:nvSpPr>
          <p:cNvPr id="11" name="Shape 9"/>
          <p:cNvSpPr/>
          <p:nvPr/>
        </p:nvSpPr>
        <p:spPr>
          <a:xfrm>
            <a:off x="640080" y="1618488"/>
            <a:ext cx="2286000" cy="658368"/>
          </a:xfrm>
          <a:prstGeom prst="rect">
            <a:avLst/>
          </a:prstGeom>
          <a:solidFill>
            <a:srgbClr val="FFFFFF"/>
          </a:solidFill>
          <a:ln w="9525">
            <a:solidFill>
              <a:srgbClr val="E3EBF0"/>
            </a:solidFill>
            <a:prstDash val="solid"/>
          </a:ln>
        </p:spPr>
      </p:sp>
      <p:sp>
        <p:nvSpPr>
          <p:cNvPr id="12" name="Text 10"/>
          <p:cNvSpPr/>
          <p:nvPr/>
        </p:nvSpPr>
        <p:spPr>
          <a:xfrm>
            <a:off x="749808" y="1618488"/>
            <a:ext cx="2066544" cy="65836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Dataset version</a:t>
            </a:r>
            <a:endParaRPr lang="en-US" sz="1050" dirty="0"/>
          </a:p>
        </p:txBody>
      </p:sp>
      <p:sp>
        <p:nvSpPr>
          <p:cNvPr id="13" name="Shape 11"/>
          <p:cNvSpPr/>
          <p:nvPr/>
        </p:nvSpPr>
        <p:spPr>
          <a:xfrm>
            <a:off x="2926080" y="1618488"/>
            <a:ext cx="4023360" cy="658368"/>
          </a:xfrm>
          <a:prstGeom prst="rect">
            <a:avLst/>
          </a:prstGeom>
          <a:solidFill>
            <a:srgbClr val="FFFFFF"/>
          </a:solidFill>
          <a:ln w="9525">
            <a:solidFill>
              <a:srgbClr val="E3EBF0"/>
            </a:solidFill>
            <a:prstDash val="solid"/>
          </a:ln>
        </p:spPr>
      </p:sp>
      <p:sp>
        <p:nvSpPr>
          <p:cNvPr id="14" name="Text 12"/>
          <p:cNvSpPr/>
          <p:nvPr/>
        </p:nvSpPr>
        <p:spPr>
          <a:xfrm>
            <a:off x="3035808" y="1618488"/>
            <a:ext cx="3803904" cy="65836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exact data used for a training run</a:t>
            </a:r>
            <a:endParaRPr lang="en-US" sz="1050" dirty="0"/>
          </a:p>
        </p:txBody>
      </p:sp>
      <p:sp>
        <p:nvSpPr>
          <p:cNvPr id="15" name="Shape 13"/>
          <p:cNvSpPr/>
          <p:nvPr/>
        </p:nvSpPr>
        <p:spPr>
          <a:xfrm>
            <a:off x="6949440" y="1618488"/>
            <a:ext cx="4572000" cy="658368"/>
          </a:xfrm>
          <a:prstGeom prst="rect">
            <a:avLst/>
          </a:prstGeom>
          <a:solidFill>
            <a:srgbClr val="FFFFFF"/>
          </a:solidFill>
          <a:ln w="9525">
            <a:solidFill>
              <a:srgbClr val="E3EBF0"/>
            </a:solidFill>
            <a:prstDash val="solid"/>
          </a:ln>
        </p:spPr>
      </p:sp>
      <p:sp>
        <p:nvSpPr>
          <p:cNvPr id="16" name="Text 14"/>
          <p:cNvSpPr/>
          <p:nvPr/>
        </p:nvSpPr>
        <p:spPr>
          <a:xfrm>
            <a:off x="7059168" y="1618488"/>
            <a:ext cx="4352544" cy="65836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Results cannot be reproduced or compared across time</a:t>
            </a:r>
            <a:endParaRPr lang="en-US" sz="1050" dirty="0"/>
          </a:p>
        </p:txBody>
      </p:sp>
      <p:sp>
        <p:nvSpPr>
          <p:cNvPr id="17" name="Shape 15"/>
          <p:cNvSpPr/>
          <p:nvPr/>
        </p:nvSpPr>
        <p:spPr>
          <a:xfrm>
            <a:off x="640080" y="2276856"/>
            <a:ext cx="2286000" cy="658368"/>
          </a:xfrm>
          <a:prstGeom prst="rect">
            <a:avLst/>
          </a:prstGeom>
          <a:solidFill>
            <a:srgbClr val="F5F9FB"/>
          </a:solidFill>
          <a:ln w="9525">
            <a:solidFill>
              <a:srgbClr val="E3EBF0"/>
            </a:solidFill>
            <a:prstDash val="solid"/>
          </a:ln>
        </p:spPr>
      </p:sp>
      <p:sp>
        <p:nvSpPr>
          <p:cNvPr id="18" name="Text 16"/>
          <p:cNvSpPr/>
          <p:nvPr/>
        </p:nvSpPr>
        <p:spPr>
          <a:xfrm>
            <a:off x="749808" y="2276856"/>
            <a:ext cx="2066544" cy="65836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Feature version</a:t>
            </a:r>
            <a:endParaRPr lang="en-US" sz="1050" dirty="0"/>
          </a:p>
        </p:txBody>
      </p:sp>
      <p:sp>
        <p:nvSpPr>
          <p:cNvPr id="19" name="Shape 17"/>
          <p:cNvSpPr/>
          <p:nvPr/>
        </p:nvSpPr>
        <p:spPr>
          <a:xfrm>
            <a:off x="2926080" y="2276856"/>
            <a:ext cx="4023360" cy="658368"/>
          </a:xfrm>
          <a:prstGeom prst="rect">
            <a:avLst/>
          </a:prstGeom>
          <a:solidFill>
            <a:srgbClr val="F5F9FB"/>
          </a:solidFill>
          <a:ln w="9525">
            <a:solidFill>
              <a:srgbClr val="E3EBF0"/>
            </a:solidFill>
            <a:prstDash val="solid"/>
          </a:ln>
        </p:spPr>
      </p:sp>
      <p:sp>
        <p:nvSpPr>
          <p:cNvPr id="20" name="Text 18"/>
          <p:cNvSpPr/>
          <p:nvPr/>
        </p:nvSpPr>
        <p:spPr>
          <a:xfrm>
            <a:off x="3035808" y="2276856"/>
            <a:ext cx="3803904" cy="65836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code that computed the features</a:t>
            </a:r>
            <a:endParaRPr lang="en-US" sz="1050" dirty="0"/>
          </a:p>
        </p:txBody>
      </p:sp>
      <p:sp>
        <p:nvSpPr>
          <p:cNvPr id="21" name="Shape 19"/>
          <p:cNvSpPr/>
          <p:nvPr/>
        </p:nvSpPr>
        <p:spPr>
          <a:xfrm>
            <a:off x="6949440" y="2276856"/>
            <a:ext cx="4572000" cy="658368"/>
          </a:xfrm>
          <a:prstGeom prst="rect">
            <a:avLst/>
          </a:prstGeom>
          <a:solidFill>
            <a:srgbClr val="F5F9FB"/>
          </a:solidFill>
          <a:ln w="9525">
            <a:solidFill>
              <a:srgbClr val="E3EBF0"/>
            </a:solidFill>
            <a:prstDash val="solid"/>
          </a:ln>
        </p:spPr>
      </p:sp>
      <p:sp>
        <p:nvSpPr>
          <p:cNvPr id="22" name="Text 20"/>
          <p:cNvSpPr/>
          <p:nvPr/>
        </p:nvSpPr>
        <p:spPr>
          <a:xfrm>
            <a:off x="7059168" y="2276856"/>
            <a:ext cx="4352544" cy="65836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Training-serving skew; silent invalidation of comparisons</a:t>
            </a:r>
            <a:endParaRPr lang="en-US" sz="1050" dirty="0"/>
          </a:p>
        </p:txBody>
      </p:sp>
      <p:sp>
        <p:nvSpPr>
          <p:cNvPr id="23" name="Shape 21"/>
          <p:cNvSpPr/>
          <p:nvPr/>
        </p:nvSpPr>
        <p:spPr>
          <a:xfrm>
            <a:off x="640080" y="2935224"/>
            <a:ext cx="2286000" cy="658368"/>
          </a:xfrm>
          <a:prstGeom prst="rect">
            <a:avLst/>
          </a:prstGeom>
          <a:solidFill>
            <a:srgbClr val="FFFFFF"/>
          </a:solidFill>
          <a:ln w="9525">
            <a:solidFill>
              <a:srgbClr val="E3EBF0"/>
            </a:solidFill>
            <a:prstDash val="solid"/>
          </a:ln>
        </p:spPr>
      </p:sp>
      <p:sp>
        <p:nvSpPr>
          <p:cNvPr id="24" name="Text 22"/>
          <p:cNvSpPr/>
          <p:nvPr/>
        </p:nvSpPr>
        <p:spPr>
          <a:xfrm>
            <a:off x="749808" y="2935224"/>
            <a:ext cx="2066544" cy="65836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Model version</a:t>
            </a:r>
            <a:endParaRPr lang="en-US" sz="1050" dirty="0"/>
          </a:p>
        </p:txBody>
      </p:sp>
      <p:sp>
        <p:nvSpPr>
          <p:cNvPr id="25" name="Shape 23"/>
          <p:cNvSpPr/>
          <p:nvPr/>
        </p:nvSpPr>
        <p:spPr>
          <a:xfrm>
            <a:off x="2926080" y="2935224"/>
            <a:ext cx="4023360" cy="658368"/>
          </a:xfrm>
          <a:prstGeom prst="rect">
            <a:avLst/>
          </a:prstGeom>
          <a:solidFill>
            <a:srgbClr val="FFFFFF"/>
          </a:solidFill>
          <a:ln w="9525">
            <a:solidFill>
              <a:srgbClr val="E3EBF0"/>
            </a:solidFill>
            <a:prstDash val="solid"/>
          </a:ln>
        </p:spPr>
      </p:sp>
      <p:sp>
        <p:nvSpPr>
          <p:cNvPr id="26" name="Text 24"/>
          <p:cNvSpPr/>
          <p:nvPr/>
        </p:nvSpPr>
        <p:spPr>
          <a:xfrm>
            <a:off x="3035808" y="2935224"/>
            <a:ext cx="3803904" cy="65836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Weights, architecture, hyperparameters</a:t>
            </a:r>
            <a:endParaRPr lang="en-US" sz="1050" dirty="0"/>
          </a:p>
        </p:txBody>
      </p:sp>
      <p:sp>
        <p:nvSpPr>
          <p:cNvPr id="27" name="Shape 25"/>
          <p:cNvSpPr/>
          <p:nvPr/>
        </p:nvSpPr>
        <p:spPr>
          <a:xfrm>
            <a:off x="6949440" y="2935224"/>
            <a:ext cx="4572000" cy="658368"/>
          </a:xfrm>
          <a:prstGeom prst="rect">
            <a:avLst/>
          </a:prstGeom>
          <a:solidFill>
            <a:srgbClr val="FFFFFF"/>
          </a:solidFill>
          <a:ln w="9525">
            <a:solidFill>
              <a:srgbClr val="E3EBF0"/>
            </a:solidFill>
            <a:prstDash val="solid"/>
          </a:ln>
        </p:spPr>
      </p:sp>
      <p:sp>
        <p:nvSpPr>
          <p:cNvPr id="28" name="Text 26"/>
          <p:cNvSpPr/>
          <p:nvPr/>
        </p:nvSpPr>
        <p:spPr>
          <a:xfrm>
            <a:off x="7059168" y="2935224"/>
            <a:ext cx="4352544" cy="65836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Cannot roll back; cannot say what is serving</a:t>
            </a:r>
            <a:endParaRPr lang="en-US" sz="1050" dirty="0"/>
          </a:p>
        </p:txBody>
      </p:sp>
      <p:sp>
        <p:nvSpPr>
          <p:cNvPr id="29" name="Shape 27"/>
          <p:cNvSpPr/>
          <p:nvPr/>
        </p:nvSpPr>
        <p:spPr>
          <a:xfrm>
            <a:off x="640080" y="3593592"/>
            <a:ext cx="2286000" cy="658368"/>
          </a:xfrm>
          <a:prstGeom prst="rect">
            <a:avLst/>
          </a:prstGeom>
          <a:solidFill>
            <a:srgbClr val="F5F9FB"/>
          </a:solidFill>
          <a:ln w="9525">
            <a:solidFill>
              <a:srgbClr val="E3EBF0"/>
            </a:solidFill>
            <a:prstDash val="solid"/>
          </a:ln>
        </p:spPr>
      </p:sp>
      <p:sp>
        <p:nvSpPr>
          <p:cNvPr id="30" name="Text 28"/>
          <p:cNvSpPr/>
          <p:nvPr/>
        </p:nvSpPr>
        <p:spPr>
          <a:xfrm>
            <a:off x="749808" y="3593592"/>
            <a:ext cx="2066544" cy="65836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Label guideline version</a:t>
            </a:r>
            <a:endParaRPr lang="en-US" sz="1050" dirty="0"/>
          </a:p>
        </p:txBody>
      </p:sp>
      <p:sp>
        <p:nvSpPr>
          <p:cNvPr id="31" name="Shape 29"/>
          <p:cNvSpPr/>
          <p:nvPr/>
        </p:nvSpPr>
        <p:spPr>
          <a:xfrm>
            <a:off x="2926080" y="3593592"/>
            <a:ext cx="4023360" cy="658368"/>
          </a:xfrm>
          <a:prstGeom prst="rect">
            <a:avLst/>
          </a:prstGeom>
          <a:solidFill>
            <a:srgbClr val="F5F9FB"/>
          </a:solidFill>
          <a:ln w="9525">
            <a:solidFill>
              <a:srgbClr val="E3EBF0"/>
            </a:solidFill>
            <a:prstDash val="solid"/>
          </a:ln>
        </p:spPr>
      </p:sp>
      <p:sp>
        <p:nvSpPr>
          <p:cNvPr id="32" name="Text 30"/>
          <p:cNvSpPr/>
          <p:nvPr/>
        </p:nvSpPr>
        <p:spPr>
          <a:xfrm>
            <a:off x="3035808" y="3593592"/>
            <a:ext cx="3803904" cy="65836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definition under which labels were created</a:t>
            </a:r>
            <a:endParaRPr lang="en-US" sz="1050" dirty="0"/>
          </a:p>
        </p:txBody>
      </p:sp>
      <p:sp>
        <p:nvSpPr>
          <p:cNvPr id="33" name="Shape 31"/>
          <p:cNvSpPr/>
          <p:nvPr/>
        </p:nvSpPr>
        <p:spPr>
          <a:xfrm>
            <a:off x="6949440" y="3593592"/>
            <a:ext cx="4572000" cy="658368"/>
          </a:xfrm>
          <a:prstGeom prst="rect">
            <a:avLst/>
          </a:prstGeom>
          <a:solidFill>
            <a:srgbClr val="F5F9FB"/>
          </a:solidFill>
          <a:ln w="9525">
            <a:solidFill>
              <a:srgbClr val="E3EBF0"/>
            </a:solidFill>
            <a:prstDash val="solid"/>
          </a:ln>
        </p:spPr>
      </p:sp>
      <p:sp>
        <p:nvSpPr>
          <p:cNvPr id="34" name="Text 32"/>
          <p:cNvSpPr/>
          <p:nvPr/>
        </p:nvSpPr>
        <p:spPr>
          <a:xfrm>
            <a:off x="7059168" y="3593592"/>
            <a:ext cx="4352544" cy="65836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Labels from different eras are silently incomparable</a:t>
            </a:r>
            <a:endParaRPr lang="en-US" sz="1050" dirty="0"/>
          </a:p>
        </p:txBody>
      </p:sp>
      <p:sp>
        <p:nvSpPr>
          <p:cNvPr id="35" name="Shape 33"/>
          <p:cNvSpPr/>
          <p:nvPr/>
        </p:nvSpPr>
        <p:spPr>
          <a:xfrm>
            <a:off x="640080" y="4251960"/>
            <a:ext cx="10881360" cy="1463040"/>
          </a:xfrm>
          <a:prstGeom prst="roundRect">
            <a:avLst>
              <a:gd name="adj" fmla="val 3750"/>
            </a:avLst>
          </a:prstGeom>
          <a:solidFill>
            <a:srgbClr val="E4EEF4"/>
          </a:solidFill>
          <a:ln w="12700">
            <a:solidFill>
              <a:srgbClr val="C9DCE7"/>
            </a:solidFill>
            <a:prstDash val="solid"/>
          </a:ln>
        </p:spPr>
      </p:sp>
      <p:sp>
        <p:nvSpPr>
          <p:cNvPr id="36" name="Text 34"/>
          <p:cNvSpPr/>
          <p:nvPr/>
        </p:nvSpPr>
        <p:spPr>
          <a:xfrm>
            <a:off x="914400" y="4416552"/>
            <a:ext cx="10332720" cy="32004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The binding is what matters</a:t>
            </a:r>
            <a:endParaRPr lang="en-US" sz="1350" dirty="0"/>
          </a:p>
        </p:txBody>
      </p:sp>
      <p:sp>
        <p:nvSpPr>
          <p:cNvPr id="37" name="Text 35"/>
          <p:cNvSpPr/>
          <p:nvPr/>
        </p:nvSpPr>
        <p:spPr>
          <a:xfrm>
            <a:off x="914400" y="4754880"/>
            <a:ext cx="10332720" cy="82296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Each model version records the dataset version, feature version and label guideline version that produced it. That binding is what makes rollback meaningful — rolling back a model without rolling back the feature code gives you a model running on inputs it was never trained for, which frequently performs worse than either version alone. It is also what lets you answer, months later, why two apparently identical training runs produced different results.</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Experiment tracking</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24</a:t>
            </a:r>
            <a:endParaRPr lang="en-US" sz="1000" dirty="0"/>
          </a:p>
        </p:txBody>
      </p:sp>
      <p:sp>
        <p:nvSpPr>
          <p:cNvPr id="5" name="Shape 3"/>
          <p:cNvSpPr/>
          <p:nvPr/>
        </p:nvSpPr>
        <p:spPr>
          <a:xfrm>
            <a:off x="640080" y="1280160"/>
            <a:ext cx="5303520" cy="2468880"/>
          </a:xfrm>
          <a:prstGeom prst="roundRect">
            <a:avLst>
              <a:gd name="adj" fmla="val 2222"/>
            </a:avLst>
          </a:prstGeom>
          <a:solidFill>
            <a:srgbClr val="EEF3F7"/>
          </a:solidFill>
          <a:ln w="12700">
            <a:solidFill>
              <a:srgbClr val="D8E4EC"/>
            </a:solidFill>
            <a:prstDash val="solid"/>
          </a:ln>
        </p:spPr>
      </p:sp>
      <p:sp>
        <p:nvSpPr>
          <p:cNvPr id="6" name="Text 4"/>
          <p:cNvSpPr/>
          <p:nvPr/>
        </p:nvSpPr>
        <p:spPr>
          <a:xfrm>
            <a:off x="841248" y="1417320"/>
            <a:ext cx="49011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What to record per run</a:t>
            </a:r>
            <a:endParaRPr lang="en-US" sz="1400" dirty="0"/>
          </a:p>
        </p:txBody>
      </p:sp>
      <p:sp>
        <p:nvSpPr>
          <p:cNvPr id="7" name="Text 5"/>
          <p:cNvSpPr/>
          <p:nvPr/>
        </p:nvSpPr>
        <p:spPr>
          <a:xfrm>
            <a:off x="841248" y="1783080"/>
            <a:ext cx="4901184" cy="181051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Dataset and feature versions</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Code commit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Hyperparameters</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All metrics, including per-class and per-slice</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Training duration and compute cost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Who ran it and why</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The hypothesis it was testing</a:t>
            </a:r>
            <a:endParaRPr lang="en-US" sz="1150" dirty="0"/>
          </a:p>
        </p:txBody>
      </p:sp>
      <p:sp>
        <p:nvSpPr>
          <p:cNvPr id="8" name="Shape 6"/>
          <p:cNvSpPr/>
          <p:nvPr/>
        </p:nvSpPr>
        <p:spPr>
          <a:xfrm>
            <a:off x="6263640" y="1280160"/>
            <a:ext cx="5257800" cy="2468880"/>
          </a:xfrm>
          <a:prstGeom prst="roundRect">
            <a:avLst>
              <a:gd name="adj" fmla="val 2222"/>
            </a:avLst>
          </a:prstGeom>
          <a:solidFill>
            <a:srgbClr val="EEF3F7"/>
          </a:solidFill>
          <a:ln w="12700">
            <a:solidFill>
              <a:srgbClr val="D8E4EC"/>
            </a:solidFill>
            <a:prstDash val="solid"/>
          </a:ln>
        </p:spPr>
      </p:sp>
      <p:sp>
        <p:nvSpPr>
          <p:cNvPr id="9" name="Text 7"/>
          <p:cNvSpPr/>
          <p:nvPr/>
        </p:nvSpPr>
        <p:spPr>
          <a:xfrm>
            <a:off x="6464808" y="1417320"/>
            <a:ext cx="485546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What it enables</a:t>
            </a:r>
            <a:endParaRPr lang="en-US" sz="1400" dirty="0"/>
          </a:p>
        </p:txBody>
      </p:sp>
      <p:sp>
        <p:nvSpPr>
          <p:cNvPr id="10" name="Text 8"/>
          <p:cNvSpPr/>
          <p:nvPr/>
        </p:nvSpPr>
        <p:spPr>
          <a:xfrm>
            <a:off x="6464808" y="1783080"/>
            <a:ext cx="4855464" cy="181051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Comparing runs honestly, months apart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Finding which change actually helped — the ablation from Day 1</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Avoiding repeated experiments across teams</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Reproducing a result for an audit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Answering "why did we choose this?" after the person who chose it has moved on</a:t>
            </a:r>
            <a:endParaRPr lang="en-US" sz="1150" dirty="0"/>
          </a:p>
        </p:txBody>
      </p:sp>
      <p:sp>
        <p:nvSpPr>
          <p:cNvPr id="11" name="Shape 9"/>
          <p:cNvSpPr/>
          <p:nvPr/>
        </p:nvSpPr>
        <p:spPr>
          <a:xfrm>
            <a:off x="640080" y="3977640"/>
            <a:ext cx="10881360" cy="1371600"/>
          </a:xfrm>
          <a:prstGeom prst="roundRect">
            <a:avLst>
              <a:gd name="adj" fmla="val 4000"/>
            </a:avLst>
          </a:prstGeom>
          <a:solidFill>
            <a:srgbClr val="EDF5EE"/>
          </a:solidFill>
          <a:ln w="12700">
            <a:solidFill>
              <a:srgbClr val="C2DCC8"/>
            </a:solidFill>
            <a:prstDash val="solid"/>
          </a:ln>
        </p:spPr>
      </p:sp>
      <p:sp>
        <p:nvSpPr>
          <p:cNvPr id="12" name="Text 10"/>
          <p:cNvSpPr/>
          <p:nvPr/>
        </p:nvSpPr>
        <p:spPr>
          <a:xfrm>
            <a:off x="914400" y="4142232"/>
            <a:ext cx="10332720" cy="320040"/>
          </a:xfrm>
          <a:prstGeom prst="rect">
            <a:avLst/>
          </a:prstGeom>
          <a:noFill/>
          <a:ln/>
        </p:spPr>
        <p:txBody>
          <a:bodyPr wrap="square" lIns="0" tIns="0" rIns="0" bIns="0" rtlCol="0" anchor="ctr"/>
          <a:lstStyle/>
          <a:p>
            <a:pPr indent="0" marL="0">
              <a:buNone/>
            </a:pPr>
            <a:r>
              <a:rPr lang="en-US" sz="1350" b="1" dirty="0">
                <a:solidFill>
                  <a:srgbClr val="1E7A3C"/>
                </a:solidFill>
                <a:latin typeface="Calibri" pitchFamily="34" charset="0"/>
                <a:ea typeface="Calibri" pitchFamily="34" charset="-122"/>
                <a:cs typeface="Calibri" pitchFamily="34" charset="-120"/>
              </a:rPr>
              <a:t>The line that usually gets skipped and matters most</a:t>
            </a:r>
            <a:endParaRPr lang="en-US" sz="1350" dirty="0"/>
          </a:p>
        </p:txBody>
      </p:sp>
      <p:sp>
        <p:nvSpPr>
          <p:cNvPr id="13" name="Text 11"/>
          <p:cNvSpPr/>
          <p:nvPr/>
        </p:nvSpPr>
        <p:spPr>
          <a:xfrm>
            <a:off x="914400" y="4480560"/>
            <a:ext cx="10332720" cy="73152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"The hypothesis it was testing." A tracked run without a stated hypothesis is a record that something was tried. A tracked run with one is a record of what was learned — including the negative results, which are the ones teams repeat because nobody wrote down that they did not work.</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CI/CD for machine learning</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50" dirty="0">
                <a:solidFill>
                  <a:srgbClr val="5A6B7C"/>
                </a:solidFill>
                <a:latin typeface="Calibri" pitchFamily="34" charset="0"/>
                <a:ea typeface="Calibri" pitchFamily="34" charset="-122"/>
                <a:cs typeface="Calibri" pitchFamily="34" charset="-120"/>
              </a:rPr>
              <a:t>Software CI runs tests on code. ML CI must also run evaluation on data — and the second is what most pipelines lack.</a:t>
            </a:r>
            <a:endParaRPr lang="en-US" sz="1450" dirty="0"/>
          </a:p>
        </p:txBody>
      </p:sp>
      <p:sp>
        <p:nvSpPr>
          <p:cNvPr id="6" name="Shape 4"/>
          <p:cNvSpPr/>
          <p:nvPr/>
        </p:nvSpPr>
        <p:spPr>
          <a:xfrm>
            <a:off x="640080" y="1828800"/>
            <a:ext cx="1429077" cy="2286000"/>
          </a:xfrm>
          <a:prstGeom prst="roundRect">
            <a:avLst>
              <a:gd name="adj" fmla="val 3839"/>
            </a:avLst>
          </a:prstGeom>
          <a:solidFill>
            <a:srgbClr val="E4EEF4"/>
          </a:solidFill>
          <a:ln w="12700">
            <a:solidFill>
              <a:srgbClr val="D3E1EA"/>
            </a:solidFill>
            <a:prstDash val="solid"/>
          </a:ln>
        </p:spPr>
      </p:sp>
      <p:sp>
        <p:nvSpPr>
          <p:cNvPr id="7" name="Shape 5"/>
          <p:cNvSpPr/>
          <p:nvPr/>
        </p:nvSpPr>
        <p:spPr>
          <a:xfrm>
            <a:off x="1171738" y="2029968"/>
            <a:ext cx="365760" cy="365760"/>
          </a:xfrm>
          <a:prstGeom prst="ellipse">
            <a:avLst/>
          </a:prstGeom>
          <a:solidFill>
            <a:srgbClr val="065A82"/>
          </a:solidFill>
          <a:ln/>
        </p:spPr>
      </p:sp>
      <p:sp>
        <p:nvSpPr>
          <p:cNvPr id="8" name="Text 6"/>
          <p:cNvSpPr/>
          <p:nvPr/>
        </p:nvSpPr>
        <p:spPr>
          <a:xfrm>
            <a:off x="1171738"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2542032"/>
            <a:ext cx="1246197"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Commit</a:t>
            </a:r>
            <a:endParaRPr lang="en-US" sz="1150" dirty="0"/>
          </a:p>
        </p:txBody>
      </p:sp>
      <p:sp>
        <p:nvSpPr>
          <p:cNvPr id="10" name="Text 8"/>
          <p:cNvSpPr/>
          <p:nvPr/>
        </p:nvSpPr>
        <p:spPr>
          <a:xfrm>
            <a:off x="731520" y="2889504"/>
            <a:ext cx="1246197" cy="109728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Code, config or data version change is committed</a:t>
            </a:r>
            <a:endParaRPr lang="en-US" sz="950" dirty="0"/>
          </a:p>
        </p:txBody>
      </p:sp>
      <p:sp>
        <p:nvSpPr>
          <p:cNvPr id="11" name="Shape 9"/>
          <p:cNvSpPr/>
          <p:nvPr/>
        </p:nvSpPr>
        <p:spPr>
          <a:xfrm>
            <a:off x="2215461" y="1828800"/>
            <a:ext cx="1429077" cy="2286000"/>
          </a:xfrm>
          <a:prstGeom prst="roundRect">
            <a:avLst>
              <a:gd name="adj" fmla="val 3839"/>
            </a:avLst>
          </a:prstGeom>
          <a:solidFill>
            <a:srgbClr val="EEF3F7"/>
          </a:solidFill>
          <a:ln w="12700">
            <a:solidFill>
              <a:srgbClr val="D3E1EA"/>
            </a:solidFill>
            <a:prstDash val="solid"/>
          </a:ln>
        </p:spPr>
      </p:sp>
      <p:sp>
        <p:nvSpPr>
          <p:cNvPr id="12" name="Shape 10"/>
          <p:cNvSpPr/>
          <p:nvPr/>
        </p:nvSpPr>
        <p:spPr>
          <a:xfrm>
            <a:off x="2747119" y="2029968"/>
            <a:ext cx="365760" cy="365760"/>
          </a:xfrm>
          <a:prstGeom prst="ellipse">
            <a:avLst/>
          </a:prstGeom>
          <a:solidFill>
            <a:srgbClr val="065A82"/>
          </a:solidFill>
          <a:ln/>
        </p:spPr>
      </p:sp>
      <p:sp>
        <p:nvSpPr>
          <p:cNvPr id="13" name="Text 11"/>
          <p:cNvSpPr/>
          <p:nvPr/>
        </p:nvSpPr>
        <p:spPr>
          <a:xfrm>
            <a:off x="2747119"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2306901" y="2542032"/>
            <a:ext cx="1246197"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Validate</a:t>
            </a:r>
            <a:endParaRPr lang="en-US" sz="1150" dirty="0"/>
          </a:p>
        </p:txBody>
      </p:sp>
      <p:sp>
        <p:nvSpPr>
          <p:cNvPr id="15" name="Text 13"/>
          <p:cNvSpPr/>
          <p:nvPr/>
        </p:nvSpPr>
        <p:spPr>
          <a:xfrm>
            <a:off x="2306901" y="2889504"/>
            <a:ext cx="1246197" cy="109728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Schema checks, data quality checks, unit tests on feature code</a:t>
            </a:r>
            <a:endParaRPr lang="en-US" sz="950" dirty="0"/>
          </a:p>
        </p:txBody>
      </p:sp>
      <p:sp>
        <p:nvSpPr>
          <p:cNvPr id="16" name="Shape 14"/>
          <p:cNvSpPr/>
          <p:nvPr/>
        </p:nvSpPr>
        <p:spPr>
          <a:xfrm>
            <a:off x="3790841" y="1828800"/>
            <a:ext cx="1429077" cy="2286000"/>
          </a:xfrm>
          <a:prstGeom prst="roundRect">
            <a:avLst>
              <a:gd name="adj" fmla="val 3839"/>
            </a:avLst>
          </a:prstGeom>
          <a:solidFill>
            <a:srgbClr val="E4EEF4"/>
          </a:solidFill>
          <a:ln w="12700">
            <a:solidFill>
              <a:srgbClr val="D3E1EA"/>
            </a:solidFill>
            <a:prstDash val="solid"/>
          </a:ln>
        </p:spPr>
      </p:sp>
      <p:sp>
        <p:nvSpPr>
          <p:cNvPr id="17" name="Shape 15"/>
          <p:cNvSpPr/>
          <p:nvPr/>
        </p:nvSpPr>
        <p:spPr>
          <a:xfrm>
            <a:off x="4322499" y="2029968"/>
            <a:ext cx="365760" cy="365760"/>
          </a:xfrm>
          <a:prstGeom prst="ellipse">
            <a:avLst/>
          </a:prstGeom>
          <a:solidFill>
            <a:srgbClr val="065A82"/>
          </a:solidFill>
          <a:ln/>
        </p:spPr>
      </p:sp>
      <p:sp>
        <p:nvSpPr>
          <p:cNvPr id="18" name="Text 16"/>
          <p:cNvSpPr/>
          <p:nvPr/>
        </p:nvSpPr>
        <p:spPr>
          <a:xfrm>
            <a:off x="4322499"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3882281" y="2542032"/>
            <a:ext cx="1246197"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Train</a:t>
            </a:r>
            <a:endParaRPr lang="en-US" sz="1150" dirty="0"/>
          </a:p>
        </p:txBody>
      </p:sp>
      <p:sp>
        <p:nvSpPr>
          <p:cNvPr id="20" name="Text 18"/>
          <p:cNvSpPr/>
          <p:nvPr/>
        </p:nvSpPr>
        <p:spPr>
          <a:xfrm>
            <a:off x="3882281" y="2889504"/>
            <a:ext cx="1246197" cy="109728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Reproducible training run, fully versioned</a:t>
            </a:r>
            <a:endParaRPr lang="en-US" sz="950" dirty="0"/>
          </a:p>
        </p:txBody>
      </p:sp>
      <p:sp>
        <p:nvSpPr>
          <p:cNvPr id="21" name="Shape 19"/>
          <p:cNvSpPr/>
          <p:nvPr/>
        </p:nvSpPr>
        <p:spPr>
          <a:xfrm>
            <a:off x="5366222" y="1828800"/>
            <a:ext cx="1429077" cy="2286000"/>
          </a:xfrm>
          <a:prstGeom prst="roundRect">
            <a:avLst>
              <a:gd name="adj" fmla="val 3839"/>
            </a:avLst>
          </a:prstGeom>
          <a:solidFill>
            <a:srgbClr val="EEF3F7"/>
          </a:solidFill>
          <a:ln w="12700">
            <a:solidFill>
              <a:srgbClr val="D3E1EA"/>
            </a:solidFill>
            <a:prstDash val="solid"/>
          </a:ln>
        </p:spPr>
      </p:sp>
      <p:sp>
        <p:nvSpPr>
          <p:cNvPr id="22" name="Shape 20"/>
          <p:cNvSpPr/>
          <p:nvPr/>
        </p:nvSpPr>
        <p:spPr>
          <a:xfrm>
            <a:off x="5897880" y="2029968"/>
            <a:ext cx="365760" cy="365760"/>
          </a:xfrm>
          <a:prstGeom prst="ellipse">
            <a:avLst/>
          </a:prstGeom>
          <a:solidFill>
            <a:srgbClr val="065A82"/>
          </a:solidFill>
          <a:ln/>
        </p:spPr>
      </p:sp>
      <p:sp>
        <p:nvSpPr>
          <p:cNvPr id="23" name="Text 21"/>
          <p:cNvSpPr/>
          <p:nvPr/>
        </p:nvSpPr>
        <p:spPr>
          <a:xfrm>
            <a:off x="5897880"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5457662" y="2542032"/>
            <a:ext cx="1246197"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Evaluate</a:t>
            </a:r>
            <a:endParaRPr lang="en-US" sz="1150" dirty="0"/>
          </a:p>
        </p:txBody>
      </p:sp>
      <p:sp>
        <p:nvSpPr>
          <p:cNvPr id="25" name="Text 23"/>
          <p:cNvSpPr/>
          <p:nvPr/>
        </p:nvSpPr>
        <p:spPr>
          <a:xfrm>
            <a:off x="5457662" y="2889504"/>
            <a:ext cx="1246197" cy="109728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Gold set, per-class, per-slice, plus the full regression suite</a:t>
            </a:r>
            <a:endParaRPr lang="en-US" sz="950" dirty="0"/>
          </a:p>
        </p:txBody>
      </p:sp>
      <p:sp>
        <p:nvSpPr>
          <p:cNvPr id="26" name="Shape 24"/>
          <p:cNvSpPr/>
          <p:nvPr/>
        </p:nvSpPr>
        <p:spPr>
          <a:xfrm>
            <a:off x="6941602" y="1828800"/>
            <a:ext cx="1429077" cy="2286000"/>
          </a:xfrm>
          <a:prstGeom prst="roundRect">
            <a:avLst>
              <a:gd name="adj" fmla="val 3839"/>
            </a:avLst>
          </a:prstGeom>
          <a:solidFill>
            <a:srgbClr val="E4EEF4"/>
          </a:solidFill>
          <a:ln w="12700">
            <a:solidFill>
              <a:srgbClr val="D3E1EA"/>
            </a:solidFill>
            <a:prstDash val="solid"/>
          </a:ln>
        </p:spPr>
      </p:sp>
      <p:sp>
        <p:nvSpPr>
          <p:cNvPr id="27" name="Shape 25"/>
          <p:cNvSpPr/>
          <p:nvPr/>
        </p:nvSpPr>
        <p:spPr>
          <a:xfrm>
            <a:off x="7473261" y="2029968"/>
            <a:ext cx="365760" cy="365760"/>
          </a:xfrm>
          <a:prstGeom prst="ellipse">
            <a:avLst/>
          </a:prstGeom>
          <a:solidFill>
            <a:srgbClr val="065A82"/>
          </a:solidFill>
          <a:ln/>
        </p:spPr>
      </p:sp>
      <p:sp>
        <p:nvSpPr>
          <p:cNvPr id="28" name="Text 26"/>
          <p:cNvSpPr/>
          <p:nvPr/>
        </p:nvSpPr>
        <p:spPr>
          <a:xfrm>
            <a:off x="7473261"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7033042" y="2542032"/>
            <a:ext cx="1246197"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Gate</a:t>
            </a:r>
            <a:endParaRPr lang="en-US" sz="1150" dirty="0"/>
          </a:p>
        </p:txBody>
      </p:sp>
      <p:sp>
        <p:nvSpPr>
          <p:cNvPr id="30" name="Text 28"/>
          <p:cNvSpPr/>
          <p:nvPr/>
        </p:nvSpPr>
        <p:spPr>
          <a:xfrm>
            <a:off x="7033042" y="2889504"/>
            <a:ext cx="1246197" cy="109728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Automated pass/fail against thresholds set in advance</a:t>
            </a:r>
            <a:endParaRPr lang="en-US" sz="950" dirty="0"/>
          </a:p>
        </p:txBody>
      </p:sp>
      <p:sp>
        <p:nvSpPr>
          <p:cNvPr id="31" name="Shape 29"/>
          <p:cNvSpPr/>
          <p:nvPr/>
        </p:nvSpPr>
        <p:spPr>
          <a:xfrm>
            <a:off x="8516983" y="1828800"/>
            <a:ext cx="1429077" cy="2286000"/>
          </a:xfrm>
          <a:prstGeom prst="roundRect">
            <a:avLst>
              <a:gd name="adj" fmla="val 3839"/>
            </a:avLst>
          </a:prstGeom>
          <a:solidFill>
            <a:srgbClr val="EEF3F7"/>
          </a:solidFill>
          <a:ln w="12700">
            <a:solidFill>
              <a:srgbClr val="D3E1EA"/>
            </a:solidFill>
            <a:prstDash val="solid"/>
          </a:ln>
        </p:spPr>
      </p:sp>
      <p:sp>
        <p:nvSpPr>
          <p:cNvPr id="32" name="Shape 30"/>
          <p:cNvSpPr/>
          <p:nvPr/>
        </p:nvSpPr>
        <p:spPr>
          <a:xfrm>
            <a:off x="9048641" y="2029968"/>
            <a:ext cx="365760" cy="365760"/>
          </a:xfrm>
          <a:prstGeom prst="ellipse">
            <a:avLst/>
          </a:prstGeom>
          <a:solidFill>
            <a:srgbClr val="065A82"/>
          </a:solidFill>
          <a:ln/>
        </p:spPr>
      </p:sp>
      <p:sp>
        <p:nvSpPr>
          <p:cNvPr id="33" name="Text 31"/>
          <p:cNvSpPr/>
          <p:nvPr/>
        </p:nvSpPr>
        <p:spPr>
          <a:xfrm>
            <a:off x="9048641"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8608423" y="2542032"/>
            <a:ext cx="1246197"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Register</a:t>
            </a:r>
            <a:endParaRPr lang="en-US" sz="1150" dirty="0"/>
          </a:p>
        </p:txBody>
      </p:sp>
      <p:sp>
        <p:nvSpPr>
          <p:cNvPr id="35" name="Text 33"/>
          <p:cNvSpPr/>
          <p:nvPr/>
        </p:nvSpPr>
        <p:spPr>
          <a:xfrm>
            <a:off x="8608423" y="2889504"/>
            <a:ext cx="1246197" cy="109728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Model registered with its metrics, lineage and approval status</a:t>
            </a:r>
            <a:endParaRPr lang="en-US" sz="950" dirty="0"/>
          </a:p>
        </p:txBody>
      </p:sp>
      <p:sp>
        <p:nvSpPr>
          <p:cNvPr id="36" name="Shape 34"/>
          <p:cNvSpPr/>
          <p:nvPr/>
        </p:nvSpPr>
        <p:spPr>
          <a:xfrm>
            <a:off x="10092363" y="1828800"/>
            <a:ext cx="1429077" cy="2286000"/>
          </a:xfrm>
          <a:prstGeom prst="roundRect">
            <a:avLst>
              <a:gd name="adj" fmla="val 3839"/>
            </a:avLst>
          </a:prstGeom>
          <a:solidFill>
            <a:srgbClr val="E4EEF4"/>
          </a:solidFill>
          <a:ln w="12700">
            <a:solidFill>
              <a:srgbClr val="D3E1EA"/>
            </a:solidFill>
            <a:prstDash val="solid"/>
          </a:ln>
        </p:spPr>
      </p:sp>
      <p:sp>
        <p:nvSpPr>
          <p:cNvPr id="37" name="Shape 35"/>
          <p:cNvSpPr/>
          <p:nvPr/>
        </p:nvSpPr>
        <p:spPr>
          <a:xfrm>
            <a:off x="10624022" y="2029968"/>
            <a:ext cx="365760" cy="365760"/>
          </a:xfrm>
          <a:prstGeom prst="ellipse">
            <a:avLst/>
          </a:prstGeom>
          <a:solidFill>
            <a:srgbClr val="065A82"/>
          </a:solidFill>
          <a:ln/>
        </p:spPr>
      </p:sp>
      <p:sp>
        <p:nvSpPr>
          <p:cNvPr id="38" name="Text 36"/>
          <p:cNvSpPr/>
          <p:nvPr/>
        </p:nvSpPr>
        <p:spPr>
          <a:xfrm>
            <a:off x="10624022"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9" name="Text 37"/>
          <p:cNvSpPr/>
          <p:nvPr/>
        </p:nvSpPr>
        <p:spPr>
          <a:xfrm>
            <a:off x="10183803" y="2542032"/>
            <a:ext cx="1246197"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Deploy</a:t>
            </a:r>
            <a:endParaRPr lang="en-US" sz="1150" dirty="0"/>
          </a:p>
        </p:txBody>
      </p:sp>
      <p:sp>
        <p:nvSpPr>
          <p:cNvPr id="40" name="Text 38"/>
          <p:cNvSpPr/>
          <p:nvPr/>
        </p:nvSpPr>
        <p:spPr>
          <a:xfrm>
            <a:off x="10183803" y="2889504"/>
            <a:ext cx="1246197" cy="109728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Shadow, then canary, then full — with rollback ready at each stage</a:t>
            </a:r>
            <a:endParaRPr lang="en-US" sz="950" dirty="0"/>
          </a:p>
        </p:txBody>
      </p:sp>
      <p:sp>
        <p:nvSpPr>
          <p:cNvPr id="41" name="Shape 39"/>
          <p:cNvSpPr/>
          <p:nvPr/>
        </p:nvSpPr>
        <p:spPr>
          <a:xfrm>
            <a:off x="640080" y="4389120"/>
            <a:ext cx="10881360" cy="1371600"/>
          </a:xfrm>
          <a:prstGeom prst="roundRect">
            <a:avLst>
              <a:gd name="adj" fmla="val 4000"/>
            </a:avLst>
          </a:prstGeom>
          <a:solidFill>
            <a:srgbClr val="EDF5EE"/>
          </a:solidFill>
          <a:ln w="12700">
            <a:solidFill>
              <a:srgbClr val="C2DCC8"/>
            </a:solidFill>
            <a:prstDash val="solid"/>
          </a:ln>
        </p:spPr>
      </p:sp>
      <p:sp>
        <p:nvSpPr>
          <p:cNvPr id="42" name="Text 40"/>
          <p:cNvSpPr/>
          <p:nvPr/>
        </p:nvSpPr>
        <p:spPr>
          <a:xfrm>
            <a:off x="914400" y="4553712"/>
            <a:ext cx="10332720" cy="320040"/>
          </a:xfrm>
          <a:prstGeom prst="rect">
            <a:avLst/>
          </a:prstGeom>
          <a:noFill/>
          <a:ln/>
        </p:spPr>
        <p:txBody>
          <a:bodyPr wrap="square" lIns="0" tIns="0" rIns="0" bIns="0" rtlCol="0" anchor="ctr"/>
          <a:lstStyle/>
          <a:p>
            <a:pPr indent="0" marL="0">
              <a:buNone/>
            </a:pPr>
            <a:r>
              <a:rPr lang="en-US" sz="1350" b="1" dirty="0">
                <a:solidFill>
                  <a:srgbClr val="1E7A3C"/>
                </a:solidFill>
                <a:latin typeface="Calibri" pitchFamily="34" charset="0"/>
                <a:ea typeface="Calibri" pitchFamily="34" charset="-122"/>
                <a:cs typeface="Calibri" pitchFamily="34" charset="-120"/>
              </a:rPr>
              <a:t>The gate is the part that makes it MLOps rather than CI</a:t>
            </a:r>
            <a:endParaRPr lang="en-US" sz="1350" dirty="0"/>
          </a:p>
        </p:txBody>
      </p:sp>
      <p:sp>
        <p:nvSpPr>
          <p:cNvPr id="43" name="Text 41"/>
          <p:cNvSpPr/>
          <p:nvPr/>
        </p:nvSpPr>
        <p:spPr>
          <a:xfrm>
            <a:off x="914400" y="4892040"/>
            <a:ext cx="10332720" cy="73152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The pass criterion is set before the run, exactly as on Day 1: the model must not regress on any slice by more than a stated margin, must exceed the current model on the primary metric, and must pass every regression case. A model that fails the gate does not get deployed and does not get argued into production — which is precisely the discipline that stops quality drifting downward one small exception at a time.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3.4b</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Model registry, serving and inference mode</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26</a:t>
            </a:r>
            <a:endParaRPr lang="en-US" sz="1000" dirty="0"/>
          </a:p>
        </p:txBody>
      </p:sp>
      <p:sp>
        <p:nvSpPr>
          <p:cNvPr id="5" name="Shape 3"/>
          <p:cNvSpPr/>
          <p:nvPr/>
        </p:nvSpPr>
        <p:spPr>
          <a:xfrm>
            <a:off x="640080" y="1280160"/>
            <a:ext cx="3474720" cy="2834640"/>
          </a:xfrm>
          <a:prstGeom prst="roundRect">
            <a:avLst>
              <a:gd name="adj" fmla="val 1935"/>
            </a:avLst>
          </a:prstGeom>
          <a:solidFill>
            <a:srgbClr val="EEF3F7"/>
          </a:solidFill>
          <a:ln w="12700">
            <a:solidFill>
              <a:srgbClr val="D8E4EC"/>
            </a:solidFill>
            <a:prstDash val="solid"/>
          </a:ln>
        </p:spPr>
      </p:sp>
      <p:sp>
        <p:nvSpPr>
          <p:cNvPr id="6" name="Text 4"/>
          <p:cNvSpPr/>
          <p:nvPr/>
        </p:nvSpPr>
        <p:spPr>
          <a:xfrm>
            <a:off x="841248" y="1417320"/>
            <a:ext cx="3072384" cy="347472"/>
          </a:xfrm>
          <a:prstGeom prst="rect">
            <a:avLst/>
          </a:prstGeom>
          <a:noFill/>
          <a:ln/>
        </p:spPr>
        <p:txBody>
          <a:bodyPr wrap="square" lIns="0" tIns="0" rIns="0" bIns="0" rtlCol="0" anchor="ctr"/>
          <a:lstStyle/>
          <a:p>
            <a:pPr indent="0" marL="0">
              <a:buNone/>
            </a:pPr>
            <a:r>
              <a:rPr lang="en-US" sz="1400" b="1" dirty="0">
                <a:solidFill>
                  <a:srgbClr val="065A82"/>
                </a:solidFill>
                <a:latin typeface="Calibri" pitchFamily="34" charset="0"/>
                <a:ea typeface="Calibri" pitchFamily="34" charset="-122"/>
                <a:cs typeface="Calibri" pitchFamily="34" charset="-120"/>
              </a:rPr>
              <a:t>Model registry</a:t>
            </a:r>
            <a:endParaRPr lang="en-US" sz="1400" dirty="0"/>
          </a:p>
        </p:txBody>
      </p:sp>
      <p:sp>
        <p:nvSpPr>
          <p:cNvPr id="7" name="Text 5"/>
          <p:cNvSpPr/>
          <p:nvPr/>
        </p:nvSpPr>
        <p:spPr>
          <a:xfrm>
            <a:off x="841248" y="1783080"/>
            <a:ext cx="3072384" cy="21762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record of every model that exists.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Version and lineage</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Metrics, per class and per slice</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Approval status and approver</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Which environment it is serving</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Known limitations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prerequisite for rollback.</a:t>
            </a:r>
            <a:endParaRPr lang="en-US" sz="1150" dirty="0"/>
          </a:p>
        </p:txBody>
      </p:sp>
      <p:sp>
        <p:nvSpPr>
          <p:cNvPr id="8" name="Shape 6"/>
          <p:cNvSpPr/>
          <p:nvPr/>
        </p:nvSpPr>
        <p:spPr>
          <a:xfrm>
            <a:off x="4343400" y="1280160"/>
            <a:ext cx="3474720" cy="2834640"/>
          </a:xfrm>
          <a:prstGeom prst="roundRect">
            <a:avLst>
              <a:gd name="adj" fmla="val 1935"/>
            </a:avLst>
          </a:prstGeom>
          <a:solidFill>
            <a:srgbClr val="EEF3F7"/>
          </a:solidFill>
          <a:ln w="12700">
            <a:solidFill>
              <a:srgbClr val="D8E4EC"/>
            </a:solidFill>
            <a:prstDash val="solid"/>
          </a:ln>
        </p:spPr>
      </p:sp>
      <p:sp>
        <p:nvSpPr>
          <p:cNvPr id="9" name="Text 7"/>
          <p:cNvSpPr/>
          <p:nvPr/>
        </p:nvSpPr>
        <p:spPr>
          <a:xfrm>
            <a:off x="4544568" y="1417320"/>
            <a:ext cx="3072384" cy="347472"/>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Model serving</a:t>
            </a:r>
            <a:endParaRPr lang="en-US" sz="1400" dirty="0"/>
          </a:p>
        </p:txBody>
      </p:sp>
      <p:sp>
        <p:nvSpPr>
          <p:cNvPr id="10" name="Text 8"/>
          <p:cNvSpPr/>
          <p:nvPr/>
        </p:nvSpPr>
        <p:spPr>
          <a:xfrm>
            <a:off x="4544568" y="1783080"/>
            <a:ext cx="3072384" cy="21762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How inference is delivered.</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Batching for throughput</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Warm instances to avoid cold starts</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Hardware match — GPU, CPU or accelerator</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Concurrency limits</a:t>
            </a: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 Graceful degradation under load</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For edge, add fleet update management.</a:t>
            </a:r>
            <a:endParaRPr lang="en-US" sz="1150" dirty="0"/>
          </a:p>
        </p:txBody>
      </p:sp>
      <p:sp>
        <p:nvSpPr>
          <p:cNvPr id="11" name="Shape 9"/>
          <p:cNvSpPr/>
          <p:nvPr/>
        </p:nvSpPr>
        <p:spPr>
          <a:xfrm>
            <a:off x="8046720" y="1280160"/>
            <a:ext cx="3474720" cy="2834640"/>
          </a:xfrm>
          <a:prstGeom prst="roundRect">
            <a:avLst>
              <a:gd name="adj" fmla="val 1935"/>
            </a:avLst>
          </a:prstGeom>
          <a:solidFill>
            <a:srgbClr val="EEF3F7"/>
          </a:solidFill>
          <a:ln w="12700">
            <a:solidFill>
              <a:srgbClr val="D8E4EC"/>
            </a:solidFill>
            <a:prstDash val="solid"/>
          </a:ln>
        </p:spPr>
      </p:sp>
      <p:sp>
        <p:nvSpPr>
          <p:cNvPr id="12" name="Text 10"/>
          <p:cNvSpPr/>
          <p:nvPr/>
        </p:nvSpPr>
        <p:spPr>
          <a:xfrm>
            <a:off x="8247888" y="1417320"/>
            <a:ext cx="3072384" cy="347472"/>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Batch or real-time</a:t>
            </a:r>
            <a:endParaRPr lang="en-US" sz="1400" dirty="0"/>
          </a:p>
        </p:txBody>
      </p:sp>
      <p:sp>
        <p:nvSpPr>
          <p:cNvPr id="13" name="Text 11"/>
          <p:cNvSpPr/>
          <p:nvPr/>
        </p:nvSpPr>
        <p:spPr>
          <a:xfrm>
            <a:off x="8247888" y="1783080"/>
            <a:ext cx="3072384" cy="217627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Batch: overnight scoring of accumulated data. Cheaper, simpler, higher throughput.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Real-time: per-request inference with a latency budget.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Inspection on a line is real-time by necessity. Maintenance scoring is frequently batch by choice — and teams build real-time anyway.</a:t>
            </a:r>
            <a:endParaRPr lang="en-US" sz="1150" dirty="0"/>
          </a:p>
        </p:txBody>
      </p:sp>
      <p:sp>
        <p:nvSpPr>
          <p:cNvPr id="14" name="Shape 12"/>
          <p:cNvSpPr/>
          <p:nvPr/>
        </p:nvSpPr>
        <p:spPr>
          <a:xfrm>
            <a:off x="640080" y="4343400"/>
            <a:ext cx="10881360" cy="1325880"/>
          </a:xfrm>
          <a:prstGeom prst="roundRect">
            <a:avLst>
              <a:gd name="adj" fmla="val 4138"/>
            </a:avLst>
          </a:prstGeom>
          <a:solidFill>
            <a:srgbClr val="E4EEF4"/>
          </a:solidFill>
          <a:ln w="12700">
            <a:solidFill>
              <a:srgbClr val="C9DCE7"/>
            </a:solidFill>
            <a:prstDash val="solid"/>
          </a:ln>
        </p:spPr>
      </p:sp>
      <p:sp>
        <p:nvSpPr>
          <p:cNvPr id="15" name="Text 13"/>
          <p:cNvSpPr/>
          <p:nvPr/>
        </p:nvSpPr>
        <p:spPr>
          <a:xfrm>
            <a:off x="914400" y="4507992"/>
            <a:ext cx="10332720" cy="32004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Reproducibility — the property that ties this together</a:t>
            </a:r>
            <a:endParaRPr lang="en-US" sz="1350" dirty="0"/>
          </a:p>
        </p:txBody>
      </p:sp>
      <p:sp>
        <p:nvSpPr>
          <p:cNvPr id="16" name="Text 14"/>
          <p:cNvSpPr/>
          <p:nvPr/>
        </p:nvSpPr>
        <p:spPr>
          <a:xfrm>
            <a:off x="914400" y="4846320"/>
            <a:ext cx="10332720" cy="68580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A model in the registry should be rebuildable from its recorded lineage: same data version, same feature code, same parameters, same result within tolerance. Test this deliberately once a quarter by rebuilding an older model and comparing. Teams that assume reproducibility without testing it usually discover, during an incident, that an undocumented step existed in someone's notebook.</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Deployment strategies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27</a:t>
            </a:r>
            <a:endParaRPr lang="en-US" sz="1000" dirty="0"/>
          </a:p>
        </p:txBody>
      </p:sp>
      <p:sp>
        <p:nvSpPr>
          <p:cNvPr id="5" name="Shape 3"/>
          <p:cNvSpPr/>
          <p:nvPr/>
        </p:nvSpPr>
        <p:spPr>
          <a:xfrm>
            <a:off x="640080" y="1234440"/>
            <a:ext cx="2011680" cy="384048"/>
          </a:xfrm>
          <a:prstGeom prst="rect">
            <a:avLst/>
          </a:prstGeom>
          <a:solidFill>
            <a:srgbClr val="21295C"/>
          </a:solidFill>
          <a:ln/>
        </p:spPr>
      </p:sp>
      <p:sp>
        <p:nvSpPr>
          <p:cNvPr id="6" name="Text 4"/>
          <p:cNvSpPr/>
          <p:nvPr/>
        </p:nvSpPr>
        <p:spPr>
          <a:xfrm>
            <a:off x="749808" y="1234440"/>
            <a:ext cx="17922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p>
        </p:txBody>
      </p:sp>
      <p:sp>
        <p:nvSpPr>
          <p:cNvPr id="7" name="Shape 5"/>
          <p:cNvSpPr/>
          <p:nvPr/>
        </p:nvSpPr>
        <p:spPr>
          <a:xfrm>
            <a:off x="2651760" y="1234440"/>
            <a:ext cx="3657600" cy="384048"/>
          </a:xfrm>
          <a:prstGeom prst="rect">
            <a:avLst/>
          </a:prstGeom>
          <a:solidFill>
            <a:srgbClr val="21295C"/>
          </a:solidFill>
          <a:ln/>
        </p:spPr>
      </p:sp>
      <p:sp>
        <p:nvSpPr>
          <p:cNvPr id="8" name="Text 6"/>
          <p:cNvSpPr/>
          <p:nvPr/>
        </p:nvSpPr>
        <p:spPr>
          <a:xfrm>
            <a:off x="2761488" y="1234440"/>
            <a:ext cx="343814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a:t>
            </a:r>
            <a:endParaRPr lang="en-US" sz="1100" dirty="0"/>
          </a:p>
        </p:txBody>
      </p:sp>
      <p:sp>
        <p:nvSpPr>
          <p:cNvPr id="9" name="Shape 7"/>
          <p:cNvSpPr/>
          <p:nvPr/>
        </p:nvSpPr>
        <p:spPr>
          <a:xfrm>
            <a:off x="6309360" y="1234440"/>
            <a:ext cx="3291840" cy="384048"/>
          </a:xfrm>
          <a:prstGeom prst="rect">
            <a:avLst/>
          </a:prstGeom>
          <a:solidFill>
            <a:srgbClr val="21295C"/>
          </a:solidFill>
          <a:ln/>
        </p:spPr>
      </p:sp>
      <p:sp>
        <p:nvSpPr>
          <p:cNvPr id="10" name="Text 8"/>
          <p:cNvSpPr/>
          <p:nvPr/>
        </p:nvSpPr>
        <p:spPr>
          <a:xfrm>
            <a:off x="6419088" y="1234440"/>
            <a:ext cx="30723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Detects</a:t>
            </a:r>
            <a:endParaRPr lang="en-US" sz="1100" dirty="0"/>
          </a:p>
        </p:txBody>
      </p:sp>
      <p:sp>
        <p:nvSpPr>
          <p:cNvPr id="11" name="Shape 9"/>
          <p:cNvSpPr/>
          <p:nvPr/>
        </p:nvSpPr>
        <p:spPr>
          <a:xfrm>
            <a:off x="9601200" y="1234440"/>
            <a:ext cx="1920240" cy="384048"/>
          </a:xfrm>
          <a:prstGeom prst="rect">
            <a:avLst/>
          </a:prstGeom>
          <a:solidFill>
            <a:srgbClr val="21295C"/>
          </a:solidFill>
          <a:ln/>
        </p:spPr>
      </p:sp>
      <p:sp>
        <p:nvSpPr>
          <p:cNvPr id="12" name="Text 10"/>
          <p:cNvSpPr/>
          <p:nvPr/>
        </p:nvSpPr>
        <p:spPr>
          <a:xfrm>
            <a:off x="9710928" y="1234440"/>
            <a:ext cx="1700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Risk</a:t>
            </a:r>
            <a:endParaRPr lang="en-US" sz="1100" dirty="0"/>
          </a:p>
        </p:txBody>
      </p:sp>
      <p:sp>
        <p:nvSpPr>
          <p:cNvPr id="13" name="Shape 11"/>
          <p:cNvSpPr/>
          <p:nvPr/>
        </p:nvSpPr>
        <p:spPr>
          <a:xfrm>
            <a:off x="640080" y="1618488"/>
            <a:ext cx="2011680" cy="566928"/>
          </a:xfrm>
          <a:prstGeom prst="rect">
            <a:avLst/>
          </a:prstGeom>
          <a:solidFill>
            <a:srgbClr val="FFFFFF"/>
          </a:solidFill>
          <a:ln w="9525">
            <a:solidFill>
              <a:srgbClr val="E3EBF0"/>
            </a:solidFill>
            <a:prstDash val="solid"/>
          </a:ln>
        </p:spPr>
      </p:sp>
      <p:sp>
        <p:nvSpPr>
          <p:cNvPr id="14" name="Text 12"/>
          <p:cNvSpPr/>
          <p:nvPr/>
        </p:nvSpPr>
        <p:spPr>
          <a:xfrm>
            <a:off x="749808" y="1618488"/>
            <a:ext cx="17922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Shadow</a:t>
            </a:r>
            <a:endParaRPr lang="en-US" sz="1050" dirty="0"/>
          </a:p>
        </p:txBody>
      </p:sp>
      <p:sp>
        <p:nvSpPr>
          <p:cNvPr id="15" name="Shape 13"/>
          <p:cNvSpPr/>
          <p:nvPr/>
        </p:nvSpPr>
        <p:spPr>
          <a:xfrm>
            <a:off x="2651760" y="1618488"/>
            <a:ext cx="3657600" cy="566928"/>
          </a:xfrm>
          <a:prstGeom prst="rect">
            <a:avLst/>
          </a:prstGeom>
          <a:solidFill>
            <a:srgbClr val="FFFFFF"/>
          </a:solidFill>
          <a:ln w="9525">
            <a:solidFill>
              <a:srgbClr val="E3EBF0"/>
            </a:solidFill>
            <a:prstDash val="solid"/>
          </a:ln>
        </p:spPr>
      </p:sp>
      <p:sp>
        <p:nvSpPr>
          <p:cNvPr id="16" name="Text 14"/>
          <p:cNvSpPr/>
          <p:nvPr/>
        </p:nvSpPr>
        <p:spPr>
          <a:xfrm>
            <a:off x="2761488" y="1618488"/>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New model runs on live traffic; output not used</a:t>
            </a:r>
            <a:endParaRPr lang="en-US" sz="1050" dirty="0"/>
          </a:p>
        </p:txBody>
      </p:sp>
      <p:sp>
        <p:nvSpPr>
          <p:cNvPr id="17" name="Shape 15"/>
          <p:cNvSpPr/>
          <p:nvPr/>
        </p:nvSpPr>
        <p:spPr>
          <a:xfrm>
            <a:off x="6309360" y="1618488"/>
            <a:ext cx="3291840" cy="566928"/>
          </a:xfrm>
          <a:prstGeom prst="rect">
            <a:avLst/>
          </a:prstGeom>
          <a:solidFill>
            <a:srgbClr val="FFFFFF"/>
          </a:solidFill>
          <a:ln w="9525">
            <a:solidFill>
              <a:srgbClr val="E3EBF0"/>
            </a:solidFill>
            <a:prstDash val="solid"/>
          </a:ln>
        </p:spPr>
      </p:sp>
      <p:sp>
        <p:nvSpPr>
          <p:cNvPr id="18" name="Text 16"/>
          <p:cNvSpPr/>
          <p:nvPr/>
        </p:nvSpPr>
        <p:spPr>
          <a:xfrm>
            <a:off x="6419088" y="1618488"/>
            <a:ext cx="30723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Real-world behaviour, latency, cost, disagreement rate</a:t>
            </a:r>
            <a:endParaRPr lang="en-US" sz="1050" dirty="0"/>
          </a:p>
        </p:txBody>
      </p:sp>
      <p:sp>
        <p:nvSpPr>
          <p:cNvPr id="19" name="Shape 17"/>
          <p:cNvSpPr/>
          <p:nvPr/>
        </p:nvSpPr>
        <p:spPr>
          <a:xfrm>
            <a:off x="9601200" y="1618488"/>
            <a:ext cx="1920240" cy="566928"/>
          </a:xfrm>
          <a:prstGeom prst="rect">
            <a:avLst/>
          </a:prstGeom>
          <a:solidFill>
            <a:srgbClr val="FFFFFF"/>
          </a:solidFill>
          <a:ln w="9525">
            <a:solidFill>
              <a:srgbClr val="E3EBF0"/>
            </a:solidFill>
            <a:prstDash val="solid"/>
          </a:ln>
        </p:spPr>
      </p:sp>
      <p:sp>
        <p:nvSpPr>
          <p:cNvPr id="20" name="Text 18"/>
          <p:cNvSpPr/>
          <p:nvPr/>
        </p:nvSpPr>
        <p:spPr>
          <a:xfrm>
            <a:off x="9710928" y="1618488"/>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None to users — the safest first step</a:t>
            </a:r>
            <a:endParaRPr lang="en-US" sz="1050" dirty="0"/>
          </a:p>
        </p:txBody>
      </p:sp>
      <p:sp>
        <p:nvSpPr>
          <p:cNvPr id="21" name="Shape 19"/>
          <p:cNvSpPr/>
          <p:nvPr/>
        </p:nvSpPr>
        <p:spPr>
          <a:xfrm>
            <a:off x="640080" y="2185416"/>
            <a:ext cx="2011680" cy="566928"/>
          </a:xfrm>
          <a:prstGeom prst="rect">
            <a:avLst/>
          </a:prstGeom>
          <a:solidFill>
            <a:srgbClr val="F5F9FB"/>
          </a:solidFill>
          <a:ln w="9525">
            <a:solidFill>
              <a:srgbClr val="E3EBF0"/>
            </a:solidFill>
            <a:prstDash val="solid"/>
          </a:ln>
        </p:spPr>
      </p:sp>
      <p:sp>
        <p:nvSpPr>
          <p:cNvPr id="22" name="Text 20"/>
          <p:cNvSpPr/>
          <p:nvPr/>
        </p:nvSpPr>
        <p:spPr>
          <a:xfrm>
            <a:off x="749808" y="2185416"/>
            <a:ext cx="17922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Canary</a:t>
            </a:r>
            <a:endParaRPr lang="en-US" sz="1050" dirty="0"/>
          </a:p>
        </p:txBody>
      </p:sp>
      <p:sp>
        <p:nvSpPr>
          <p:cNvPr id="23" name="Shape 21"/>
          <p:cNvSpPr/>
          <p:nvPr/>
        </p:nvSpPr>
        <p:spPr>
          <a:xfrm>
            <a:off x="2651760" y="2185416"/>
            <a:ext cx="3657600" cy="566928"/>
          </a:xfrm>
          <a:prstGeom prst="rect">
            <a:avLst/>
          </a:prstGeom>
          <a:solidFill>
            <a:srgbClr val="F5F9FB"/>
          </a:solidFill>
          <a:ln w="9525">
            <a:solidFill>
              <a:srgbClr val="E3EBF0"/>
            </a:solidFill>
            <a:prstDash val="solid"/>
          </a:ln>
        </p:spPr>
      </p:sp>
      <p:sp>
        <p:nvSpPr>
          <p:cNvPr id="24" name="Text 22"/>
          <p:cNvSpPr/>
          <p:nvPr/>
        </p:nvSpPr>
        <p:spPr>
          <a:xfrm>
            <a:off x="2761488" y="2185416"/>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Small share of traffic served by the new model</a:t>
            </a:r>
            <a:endParaRPr lang="en-US" sz="1050" dirty="0"/>
          </a:p>
        </p:txBody>
      </p:sp>
      <p:sp>
        <p:nvSpPr>
          <p:cNvPr id="25" name="Shape 23"/>
          <p:cNvSpPr/>
          <p:nvPr/>
        </p:nvSpPr>
        <p:spPr>
          <a:xfrm>
            <a:off x="6309360" y="2185416"/>
            <a:ext cx="3291840" cy="566928"/>
          </a:xfrm>
          <a:prstGeom prst="rect">
            <a:avLst/>
          </a:prstGeom>
          <a:solidFill>
            <a:srgbClr val="F5F9FB"/>
          </a:solidFill>
          <a:ln w="9525">
            <a:solidFill>
              <a:srgbClr val="E3EBF0"/>
            </a:solidFill>
            <a:prstDash val="solid"/>
          </a:ln>
        </p:spPr>
      </p:sp>
      <p:sp>
        <p:nvSpPr>
          <p:cNvPr id="26" name="Text 24"/>
          <p:cNvSpPr/>
          <p:nvPr/>
        </p:nvSpPr>
        <p:spPr>
          <a:xfrm>
            <a:off x="6419088" y="2185416"/>
            <a:ext cx="30723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Real outcomes on a limited population</a:t>
            </a:r>
            <a:endParaRPr lang="en-US" sz="1050" dirty="0"/>
          </a:p>
        </p:txBody>
      </p:sp>
      <p:sp>
        <p:nvSpPr>
          <p:cNvPr id="27" name="Shape 25"/>
          <p:cNvSpPr/>
          <p:nvPr/>
        </p:nvSpPr>
        <p:spPr>
          <a:xfrm>
            <a:off x="9601200" y="2185416"/>
            <a:ext cx="1920240" cy="566928"/>
          </a:xfrm>
          <a:prstGeom prst="rect">
            <a:avLst/>
          </a:prstGeom>
          <a:solidFill>
            <a:srgbClr val="F5F9FB"/>
          </a:solidFill>
          <a:ln w="9525">
            <a:solidFill>
              <a:srgbClr val="E3EBF0"/>
            </a:solidFill>
            <a:prstDash val="solid"/>
          </a:ln>
        </p:spPr>
      </p:sp>
      <p:sp>
        <p:nvSpPr>
          <p:cNvPr id="28" name="Text 26"/>
          <p:cNvSpPr/>
          <p:nvPr/>
        </p:nvSpPr>
        <p:spPr>
          <a:xfrm>
            <a:off x="9710928" y="2185416"/>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Limited, and bounded by the share</a:t>
            </a:r>
            <a:endParaRPr lang="en-US" sz="1050" dirty="0"/>
          </a:p>
        </p:txBody>
      </p:sp>
      <p:sp>
        <p:nvSpPr>
          <p:cNvPr id="29" name="Shape 27"/>
          <p:cNvSpPr/>
          <p:nvPr/>
        </p:nvSpPr>
        <p:spPr>
          <a:xfrm>
            <a:off x="640080" y="2752344"/>
            <a:ext cx="2011680" cy="566928"/>
          </a:xfrm>
          <a:prstGeom prst="rect">
            <a:avLst/>
          </a:prstGeom>
          <a:solidFill>
            <a:srgbClr val="FFFFFF"/>
          </a:solidFill>
          <a:ln w="9525">
            <a:solidFill>
              <a:srgbClr val="E3EBF0"/>
            </a:solidFill>
            <a:prstDash val="solid"/>
          </a:ln>
        </p:spPr>
      </p:sp>
      <p:sp>
        <p:nvSpPr>
          <p:cNvPr id="30" name="Text 28"/>
          <p:cNvSpPr/>
          <p:nvPr/>
        </p:nvSpPr>
        <p:spPr>
          <a:xfrm>
            <a:off x="749808" y="2752344"/>
            <a:ext cx="17922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Blue-green</a:t>
            </a:r>
            <a:endParaRPr lang="en-US" sz="1050" dirty="0"/>
          </a:p>
        </p:txBody>
      </p:sp>
      <p:sp>
        <p:nvSpPr>
          <p:cNvPr id="31" name="Shape 29"/>
          <p:cNvSpPr/>
          <p:nvPr/>
        </p:nvSpPr>
        <p:spPr>
          <a:xfrm>
            <a:off x="2651760" y="2752344"/>
            <a:ext cx="3657600" cy="566928"/>
          </a:xfrm>
          <a:prstGeom prst="rect">
            <a:avLst/>
          </a:prstGeom>
          <a:solidFill>
            <a:srgbClr val="FFFFFF"/>
          </a:solidFill>
          <a:ln w="9525">
            <a:solidFill>
              <a:srgbClr val="E3EBF0"/>
            </a:solidFill>
            <a:prstDash val="solid"/>
          </a:ln>
        </p:spPr>
      </p:sp>
      <p:sp>
        <p:nvSpPr>
          <p:cNvPr id="32" name="Text 30"/>
          <p:cNvSpPr/>
          <p:nvPr/>
        </p:nvSpPr>
        <p:spPr>
          <a:xfrm>
            <a:off x="2761488" y="2752344"/>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Two environments; traffic switched wholesale</a:t>
            </a:r>
            <a:endParaRPr lang="en-US" sz="1050" dirty="0"/>
          </a:p>
        </p:txBody>
      </p:sp>
      <p:sp>
        <p:nvSpPr>
          <p:cNvPr id="33" name="Shape 31"/>
          <p:cNvSpPr/>
          <p:nvPr/>
        </p:nvSpPr>
        <p:spPr>
          <a:xfrm>
            <a:off x="6309360" y="2752344"/>
            <a:ext cx="3291840" cy="566928"/>
          </a:xfrm>
          <a:prstGeom prst="rect">
            <a:avLst/>
          </a:prstGeom>
          <a:solidFill>
            <a:srgbClr val="FFFFFF"/>
          </a:solidFill>
          <a:ln w="9525">
            <a:solidFill>
              <a:srgbClr val="E3EBF0"/>
            </a:solidFill>
            <a:prstDash val="solid"/>
          </a:ln>
        </p:spPr>
      </p:sp>
      <p:sp>
        <p:nvSpPr>
          <p:cNvPr id="34" name="Text 32"/>
          <p:cNvSpPr/>
          <p:nvPr/>
        </p:nvSpPr>
        <p:spPr>
          <a:xfrm>
            <a:off x="6419088" y="2752344"/>
            <a:ext cx="30723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Nothing new — it is a fast rollback mechanism</a:t>
            </a:r>
            <a:endParaRPr lang="en-US" sz="1050" dirty="0"/>
          </a:p>
        </p:txBody>
      </p:sp>
      <p:sp>
        <p:nvSpPr>
          <p:cNvPr id="35" name="Shape 33"/>
          <p:cNvSpPr/>
          <p:nvPr/>
        </p:nvSpPr>
        <p:spPr>
          <a:xfrm>
            <a:off x="9601200" y="2752344"/>
            <a:ext cx="1920240" cy="566928"/>
          </a:xfrm>
          <a:prstGeom prst="rect">
            <a:avLst/>
          </a:prstGeom>
          <a:solidFill>
            <a:srgbClr val="FFFFFF"/>
          </a:solidFill>
          <a:ln w="9525">
            <a:solidFill>
              <a:srgbClr val="E3EBF0"/>
            </a:solidFill>
            <a:prstDash val="solid"/>
          </a:ln>
        </p:spPr>
      </p:sp>
      <p:sp>
        <p:nvSpPr>
          <p:cNvPr id="36" name="Text 34"/>
          <p:cNvSpPr/>
          <p:nvPr/>
        </p:nvSpPr>
        <p:spPr>
          <a:xfrm>
            <a:off x="9710928" y="2752344"/>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Full exposure at switch; instant reversal</a:t>
            </a:r>
            <a:endParaRPr lang="en-US" sz="1050" dirty="0"/>
          </a:p>
        </p:txBody>
      </p:sp>
      <p:sp>
        <p:nvSpPr>
          <p:cNvPr id="37" name="Shape 35"/>
          <p:cNvSpPr/>
          <p:nvPr/>
        </p:nvSpPr>
        <p:spPr>
          <a:xfrm>
            <a:off x="640080" y="3319272"/>
            <a:ext cx="2011680" cy="566928"/>
          </a:xfrm>
          <a:prstGeom prst="rect">
            <a:avLst/>
          </a:prstGeom>
          <a:solidFill>
            <a:srgbClr val="F5F9FB"/>
          </a:solidFill>
          <a:ln w="9525">
            <a:solidFill>
              <a:srgbClr val="E3EBF0"/>
            </a:solidFill>
            <a:prstDash val="solid"/>
          </a:ln>
        </p:spPr>
      </p:sp>
      <p:sp>
        <p:nvSpPr>
          <p:cNvPr id="38" name="Text 36"/>
          <p:cNvSpPr/>
          <p:nvPr/>
        </p:nvSpPr>
        <p:spPr>
          <a:xfrm>
            <a:off x="749808" y="3319272"/>
            <a:ext cx="17922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Staged rollout</a:t>
            </a:r>
            <a:endParaRPr lang="en-US" sz="1050" dirty="0"/>
          </a:p>
        </p:txBody>
      </p:sp>
      <p:sp>
        <p:nvSpPr>
          <p:cNvPr id="39" name="Shape 37"/>
          <p:cNvSpPr/>
          <p:nvPr/>
        </p:nvSpPr>
        <p:spPr>
          <a:xfrm>
            <a:off x="2651760" y="3319272"/>
            <a:ext cx="3657600" cy="566928"/>
          </a:xfrm>
          <a:prstGeom prst="rect">
            <a:avLst/>
          </a:prstGeom>
          <a:solidFill>
            <a:srgbClr val="F5F9FB"/>
          </a:solidFill>
          <a:ln w="9525">
            <a:solidFill>
              <a:srgbClr val="E3EBF0"/>
            </a:solidFill>
            <a:prstDash val="solid"/>
          </a:ln>
        </p:spPr>
      </p:sp>
      <p:sp>
        <p:nvSpPr>
          <p:cNvPr id="40" name="Text 38"/>
          <p:cNvSpPr/>
          <p:nvPr/>
        </p:nvSpPr>
        <p:spPr>
          <a:xfrm>
            <a:off x="2761488" y="3319272"/>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Progressive increase with monitoring at each stage</a:t>
            </a:r>
            <a:endParaRPr lang="en-US" sz="1050" dirty="0"/>
          </a:p>
        </p:txBody>
      </p:sp>
      <p:sp>
        <p:nvSpPr>
          <p:cNvPr id="41" name="Shape 39"/>
          <p:cNvSpPr/>
          <p:nvPr/>
        </p:nvSpPr>
        <p:spPr>
          <a:xfrm>
            <a:off x="6309360" y="3319272"/>
            <a:ext cx="3291840" cy="566928"/>
          </a:xfrm>
          <a:prstGeom prst="rect">
            <a:avLst/>
          </a:prstGeom>
          <a:solidFill>
            <a:srgbClr val="F5F9FB"/>
          </a:solidFill>
          <a:ln w="9525">
            <a:solidFill>
              <a:srgbClr val="E3EBF0"/>
            </a:solidFill>
            <a:prstDash val="solid"/>
          </a:ln>
        </p:spPr>
      </p:sp>
      <p:sp>
        <p:nvSpPr>
          <p:cNvPr id="42" name="Text 40"/>
          <p:cNvSpPr/>
          <p:nvPr/>
        </p:nvSpPr>
        <p:spPr>
          <a:xfrm>
            <a:off x="6419088" y="3319272"/>
            <a:ext cx="30723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Problems that emerge only at scale or on specific segments</a:t>
            </a:r>
            <a:endParaRPr lang="en-US" sz="1050" dirty="0"/>
          </a:p>
        </p:txBody>
      </p:sp>
      <p:sp>
        <p:nvSpPr>
          <p:cNvPr id="43" name="Shape 41"/>
          <p:cNvSpPr/>
          <p:nvPr/>
        </p:nvSpPr>
        <p:spPr>
          <a:xfrm>
            <a:off x="9601200" y="3319272"/>
            <a:ext cx="1920240" cy="566928"/>
          </a:xfrm>
          <a:prstGeom prst="rect">
            <a:avLst/>
          </a:prstGeom>
          <a:solidFill>
            <a:srgbClr val="F5F9FB"/>
          </a:solidFill>
          <a:ln w="9525">
            <a:solidFill>
              <a:srgbClr val="E3EBF0"/>
            </a:solidFill>
            <a:prstDash val="solid"/>
          </a:ln>
        </p:spPr>
      </p:sp>
      <p:sp>
        <p:nvSpPr>
          <p:cNvPr id="44" name="Text 42"/>
          <p:cNvSpPr/>
          <p:nvPr/>
        </p:nvSpPr>
        <p:spPr>
          <a:xfrm>
            <a:off x="9710928" y="3319272"/>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Managed, with defined abort criteria</a:t>
            </a:r>
            <a:endParaRPr lang="en-US" sz="1050" dirty="0"/>
          </a:p>
        </p:txBody>
      </p:sp>
      <p:sp>
        <p:nvSpPr>
          <p:cNvPr id="45" name="Shape 43"/>
          <p:cNvSpPr/>
          <p:nvPr/>
        </p:nvSpPr>
        <p:spPr>
          <a:xfrm>
            <a:off x="640080" y="3886200"/>
            <a:ext cx="2011680" cy="566928"/>
          </a:xfrm>
          <a:prstGeom prst="rect">
            <a:avLst/>
          </a:prstGeom>
          <a:solidFill>
            <a:srgbClr val="FFFFFF"/>
          </a:solidFill>
          <a:ln w="9525">
            <a:solidFill>
              <a:srgbClr val="E3EBF0"/>
            </a:solidFill>
            <a:prstDash val="solid"/>
          </a:ln>
        </p:spPr>
      </p:sp>
      <p:sp>
        <p:nvSpPr>
          <p:cNvPr id="46" name="Text 44"/>
          <p:cNvSpPr/>
          <p:nvPr/>
        </p:nvSpPr>
        <p:spPr>
          <a:xfrm>
            <a:off x="749808" y="3886200"/>
            <a:ext cx="179222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Champion-challenger</a:t>
            </a:r>
            <a:endParaRPr lang="en-US" sz="1050" dirty="0"/>
          </a:p>
        </p:txBody>
      </p:sp>
      <p:sp>
        <p:nvSpPr>
          <p:cNvPr id="47" name="Shape 45"/>
          <p:cNvSpPr/>
          <p:nvPr/>
        </p:nvSpPr>
        <p:spPr>
          <a:xfrm>
            <a:off x="2651760" y="3886200"/>
            <a:ext cx="3657600" cy="566928"/>
          </a:xfrm>
          <a:prstGeom prst="rect">
            <a:avLst/>
          </a:prstGeom>
          <a:solidFill>
            <a:srgbClr val="FFFFFF"/>
          </a:solidFill>
          <a:ln w="9525">
            <a:solidFill>
              <a:srgbClr val="E3EBF0"/>
            </a:solidFill>
            <a:prstDash val="solid"/>
          </a:ln>
        </p:spPr>
      </p:sp>
      <p:sp>
        <p:nvSpPr>
          <p:cNvPr id="48" name="Text 46"/>
          <p:cNvSpPr/>
          <p:nvPr/>
        </p:nvSpPr>
        <p:spPr>
          <a:xfrm>
            <a:off x="2761488" y="3886200"/>
            <a:ext cx="343814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Challenger runs continuously alongside; promoted on evidence</a:t>
            </a:r>
            <a:endParaRPr lang="en-US" sz="1050" dirty="0"/>
          </a:p>
        </p:txBody>
      </p:sp>
      <p:sp>
        <p:nvSpPr>
          <p:cNvPr id="49" name="Shape 47"/>
          <p:cNvSpPr/>
          <p:nvPr/>
        </p:nvSpPr>
        <p:spPr>
          <a:xfrm>
            <a:off x="6309360" y="3886200"/>
            <a:ext cx="3291840" cy="566928"/>
          </a:xfrm>
          <a:prstGeom prst="rect">
            <a:avLst/>
          </a:prstGeom>
          <a:solidFill>
            <a:srgbClr val="FFFFFF"/>
          </a:solidFill>
          <a:ln w="9525">
            <a:solidFill>
              <a:srgbClr val="E3EBF0"/>
            </a:solidFill>
            <a:prstDash val="solid"/>
          </a:ln>
        </p:spPr>
      </p:sp>
      <p:sp>
        <p:nvSpPr>
          <p:cNvPr id="50" name="Text 48"/>
          <p:cNvSpPr/>
          <p:nvPr/>
        </p:nvSpPr>
        <p:spPr>
          <a:xfrm>
            <a:off x="6419088" y="3886200"/>
            <a:ext cx="30723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Sustained comparison rather than a one-off test</a:t>
            </a:r>
            <a:endParaRPr lang="en-US" sz="1050" dirty="0"/>
          </a:p>
        </p:txBody>
      </p:sp>
      <p:sp>
        <p:nvSpPr>
          <p:cNvPr id="51" name="Shape 49"/>
          <p:cNvSpPr/>
          <p:nvPr/>
        </p:nvSpPr>
        <p:spPr>
          <a:xfrm>
            <a:off x="9601200" y="3886200"/>
            <a:ext cx="1920240" cy="566928"/>
          </a:xfrm>
          <a:prstGeom prst="rect">
            <a:avLst/>
          </a:prstGeom>
          <a:solidFill>
            <a:srgbClr val="FFFFFF"/>
          </a:solidFill>
          <a:ln w="9525">
            <a:solidFill>
              <a:srgbClr val="E3EBF0"/>
            </a:solidFill>
            <a:prstDash val="solid"/>
          </a:ln>
        </p:spPr>
      </p:sp>
      <p:sp>
        <p:nvSpPr>
          <p:cNvPr id="52" name="Text 50"/>
          <p:cNvSpPr/>
          <p:nvPr/>
        </p:nvSpPr>
        <p:spPr>
          <a:xfrm>
            <a:off x="9710928" y="3886200"/>
            <a:ext cx="17007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None; the standard for continuous improvement</a:t>
            </a:r>
            <a:endParaRPr lang="en-US" sz="1050" dirty="0"/>
          </a:p>
        </p:txBody>
      </p:sp>
      <p:sp>
        <p:nvSpPr>
          <p:cNvPr id="53" name="Shape 51"/>
          <p:cNvSpPr/>
          <p:nvPr/>
        </p:nvSpPr>
        <p:spPr>
          <a:xfrm>
            <a:off x="640080" y="4709160"/>
            <a:ext cx="10881360" cy="1005840"/>
          </a:xfrm>
          <a:prstGeom prst="roundRect">
            <a:avLst>
              <a:gd name="adj" fmla="val 5455"/>
            </a:avLst>
          </a:prstGeom>
          <a:solidFill>
            <a:srgbClr val="EDF5EE"/>
          </a:solidFill>
          <a:ln w="12700">
            <a:solidFill>
              <a:srgbClr val="C2DCC8"/>
            </a:solidFill>
            <a:prstDash val="solid"/>
          </a:ln>
        </p:spPr>
      </p:sp>
      <p:sp>
        <p:nvSpPr>
          <p:cNvPr id="54" name="Text 52"/>
          <p:cNvSpPr/>
          <p:nvPr/>
        </p:nvSpPr>
        <p:spPr>
          <a:xfrm>
            <a:off x="914400" y="4873752"/>
            <a:ext cx="10332720" cy="704088"/>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For industrial vision, shadow deployment is unusually valuable: you can compare the new model's decisions against the current one and against inspector judgement on the same physical parts, before anything changes on the line.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3 · 3.6</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Monitoring and retraining triggers</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28</a:t>
            </a:r>
            <a:endParaRPr lang="en-US" sz="1000" dirty="0"/>
          </a:p>
        </p:txBody>
      </p:sp>
      <p:sp>
        <p:nvSpPr>
          <p:cNvPr id="5" name="Shape 3"/>
          <p:cNvSpPr/>
          <p:nvPr/>
        </p:nvSpPr>
        <p:spPr>
          <a:xfrm>
            <a:off x="640080" y="1234440"/>
            <a:ext cx="2926080" cy="384048"/>
          </a:xfrm>
          <a:prstGeom prst="rect">
            <a:avLst/>
          </a:prstGeom>
          <a:solidFill>
            <a:srgbClr val="21295C"/>
          </a:solidFill>
          <a:ln/>
        </p:spPr>
      </p:sp>
      <p:sp>
        <p:nvSpPr>
          <p:cNvPr id="6" name="Text 4"/>
          <p:cNvSpPr/>
          <p:nvPr/>
        </p:nvSpPr>
        <p:spPr>
          <a:xfrm>
            <a:off x="749808" y="1234440"/>
            <a:ext cx="27066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p>
        </p:txBody>
      </p:sp>
      <p:sp>
        <p:nvSpPr>
          <p:cNvPr id="7" name="Shape 5"/>
          <p:cNvSpPr/>
          <p:nvPr/>
        </p:nvSpPr>
        <p:spPr>
          <a:xfrm>
            <a:off x="3566160" y="1234440"/>
            <a:ext cx="4206240" cy="384048"/>
          </a:xfrm>
          <a:prstGeom prst="rect">
            <a:avLst/>
          </a:prstGeom>
          <a:solidFill>
            <a:srgbClr val="21295C"/>
          </a:solidFill>
          <a:ln/>
        </p:spPr>
      </p:sp>
      <p:sp>
        <p:nvSpPr>
          <p:cNvPr id="8" name="Text 6"/>
          <p:cNvSpPr/>
          <p:nvPr/>
        </p:nvSpPr>
        <p:spPr>
          <a:xfrm>
            <a:off x="3675888" y="1234440"/>
            <a:ext cx="39867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it indicates</a:t>
            </a:r>
            <a:endParaRPr lang="en-US" sz="1100" dirty="0"/>
          </a:p>
        </p:txBody>
      </p:sp>
      <p:sp>
        <p:nvSpPr>
          <p:cNvPr id="9" name="Shape 7"/>
          <p:cNvSpPr/>
          <p:nvPr/>
        </p:nvSpPr>
        <p:spPr>
          <a:xfrm>
            <a:off x="7772400" y="1234440"/>
            <a:ext cx="3749040" cy="384048"/>
          </a:xfrm>
          <a:prstGeom prst="rect">
            <a:avLst/>
          </a:prstGeom>
          <a:solidFill>
            <a:srgbClr val="21295C"/>
          </a:solidFill>
          <a:ln/>
        </p:spPr>
      </p:sp>
      <p:sp>
        <p:nvSpPr>
          <p:cNvPr id="10" name="Text 8"/>
          <p:cNvSpPr/>
          <p:nvPr/>
        </p:nvSpPr>
        <p:spPr>
          <a:xfrm>
            <a:off x="7882128" y="1234440"/>
            <a:ext cx="35295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Available without labels?</a:t>
            </a:r>
            <a:endParaRPr lang="en-US" sz="1100" dirty="0"/>
          </a:p>
        </p:txBody>
      </p:sp>
      <p:sp>
        <p:nvSpPr>
          <p:cNvPr id="11" name="Shape 9"/>
          <p:cNvSpPr/>
          <p:nvPr/>
        </p:nvSpPr>
        <p:spPr>
          <a:xfrm>
            <a:off x="640080" y="1618488"/>
            <a:ext cx="2926080" cy="548640"/>
          </a:xfrm>
          <a:prstGeom prst="rect">
            <a:avLst/>
          </a:prstGeom>
          <a:solidFill>
            <a:srgbClr val="FFFFFF"/>
          </a:solidFill>
          <a:ln w="9525">
            <a:solidFill>
              <a:srgbClr val="E3EBF0"/>
            </a:solidFill>
            <a:prstDash val="solid"/>
          </a:ln>
        </p:spPr>
      </p:sp>
      <p:sp>
        <p:nvSpPr>
          <p:cNvPr id="12" name="Text 10"/>
          <p:cNvSpPr/>
          <p:nvPr/>
        </p:nvSpPr>
        <p:spPr>
          <a:xfrm>
            <a:off x="749808" y="1618488"/>
            <a:ext cx="27066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Input distribution shift</a:t>
            </a:r>
            <a:endParaRPr lang="en-US" sz="1050" dirty="0"/>
          </a:p>
        </p:txBody>
      </p:sp>
      <p:sp>
        <p:nvSpPr>
          <p:cNvPr id="13" name="Shape 11"/>
          <p:cNvSpPr/>
          <p:nvPr/>
        </p:nvSpPr>
        <p:spPr>
          <a:xfrm>
            <a:off x="3566160" y="1618488"/>
            <a:ext cx="4206240" cy="548640"/>
          </a:xfrm>
          <a:prstGeom prst="rect">
            <a:avLst/>
          </a:prstGeom>
          <a:solidFill>
            <a:srgbClr val="FFFFFF"/>
          </a:solidFill>
          <a:ln w="9525">
            <a:solidFill>
              <a:srgbClr val="E3EBF0"/>
            </a:solidFill>
            <a:prstDash val="solid"/>
          </a:ln>
        </p:spPr>
      </p:sp>
      <p:sp>
        <p:nvSpPr>
          <p:cNvPr id="14" name="Text 12"/>
          <p:cNvSpPr/>
          <p:nvPr/>
        </p:nvSpPr>
        <p:spPr>
          <a:xfrm>
            <a:off x="3675888" y="161848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Capture conditions or product mix changed</a:t>
            </a:r>
            <a:endParaRPr lang="en-US" sz="1050" dirty="0"/>
          </a:p>
        </p:txBody>
      </p:sp>
      <p:sp>
        <p:nvSpPr>
          <p:cNvPr id="15" name="Shape 13"/>
          <p:cNvSpPr/>
          <p:nvPr/>
        </p:nvSpPr>
        <p:spPr>
          <a:xfrm>
            <a:off x="7772400" y="1618488"/>
            <a:ext cx="3749040" cy="548640"/>
          </a:xfrm>
          <a:prstGeom prst="rect">
            <a:avLst/>
          </a:prstGeom>
          <a:solidFill>
            <a:srgbClr val="FFFFFF"/>
          </a:solidFill>
          <a:ln w="9525">
            <a:solidFill>
              <a:srgbClr val="E3EBF0"/>
            </a:solidFill>
            <a:prstDash val="solid"/>
          </a:ln>
        </p:spPr>
      </p:sp>
      <p:sp>
        <p:nvSpPr>
          <p:cNvPr id="16" name="Text 14"/>
          <p:cNvSpPr/>
          <p:nvPr/>
        </p:nvSpPr>
        <p:spPr>
          <a:xfrm>
            <a:off x="7882128" y="161848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Yes — the earliest signal you have</a:t>
            </a:r>
            <a:endParaRPr lang="en-US" sz="1050" dirty="0"/>
          </a:p>
        </p:txBody>
      </p:sp>
      <p:sp>
        <p:nvSpPr>
          <p:cNvPr id="17" name="Shape 15"/>
          <p:cNvSpPr/>
          <p:nvPr/>
        </p:nvSpPr>
        <p:spPr>
          <a:xfrm>
            <a:off x="640080" y="2167128"/>
            <a:ext cx="2926080" cy="548640"/>
          </a:xfrm>
          <a:prstGeom prst="rect">
            <a:avLst/>
          </a:prstGeom>
          <a:solidFill>
            <a:srgbClr val="F5F9FB"/>
          </a:solidFill>
          <a:ln w="9525">
            <a:solidFill>
              <a:srgbClr val="E3EBF0"/>
            </a:solidFill>
            <a:prstDash val="solid"/>
          </a:ln>
        </p:spPr>
      </p:sp>
      <p:sp>
        <p:nvSpPr>
          <p:cNvPr id="18" name="Text 16"/>
          <p:cNvSpPr/>
          <p:nvPr/>
        </p:nvSpPr>
        <p:spPr>
          <a:xfrm>
            <a:off x="749808" y="2167128"/>
            <a:ext cx="27066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Confidence distribution shift</a:t>
            </a:r>
            <a:endParaRPr lang="en-US" sz="1050" dirty="0"/>
          </a:p>
        </p:txBody>
      </p:sp>
      <p:sp>
        <p:nvSpPr>
          <p:cNvPr id="19" name="Shape 17"/>
          <p:cNvSpPr/>
          <p:nvPr/>
        </p:nvSpPr>
        <p:spPr>
          <a:xfrm>
            <a:off x="3566160" y="2167128"/>
            <a:ext cx="4206240" cy="548640"/>
          </a:xfrm>
          <a:prstGeom prst="rect">
            <a:avLst/>
          </a:prstGeom>
          <a:solidFill>
            <a:srgbClr val="F5F9FB"/>
          </a:solidFill>
          <a:ln w="9525">
            <a:solidFill>
              <a:srgbClr val="E3EBF0"/>
            </a:solidFill>
            <a:prstDash val="solid"/>
          </a:ln>
        </p:spPr>
      </p:sp>
      <p:sp>
        <p:nvSpPr>
          <p:cNvPr id="20" name="Text 18"/>
          <p:cNvSpPr/>
          <p:nvPr/>
        </p:nvSpPr>
        <p:spPr>
          <a:xfrm>
            <a:off x="3675888" y="216712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model is less certain than it was</a:t>
            </a:r>
            <a:endParaRPr lang="en-US" sz="1050" dirty="0"/>
          </a:p>
        </p:txBody>
      </p:sp>
      <p:sp>
        <p:nvSpPr>
          <p:cNvPr id="21" name="Shape 19"/>
          <p:cNvSpPr/>
          <p:nvPr/>
        </p:nvSpPr>
        <p:spPr>
          <a:xfrm>
            <a:off x="7772400" y="2167128"/>
            <a:ext cx="3749040" cy="548640"/>
          </a:xfrm>
          <a:prstGeom prst="rect">
            <a:avLst/>
          </a:prstGeom>
          <a:solidFill>
            <a:srgbClr val="F5F9FB"/>
          </a:solidFill>
          <a:ln w="9525">
            <a:solidFill>
              <a:srgbClr val="E3EBF0"/>
            </a:solidFill>
            <a:prstDash val="solid"/>
          </a:ln>
        </p:spPr>
      </p:sp>
      <p:sp>
        <p:nvSpPr>
          <p:cNvPr id="22" name="Text 20"/>
          <p:cNvSpPr/>
          <p:nvPr/>
        </p:nvSpPr>
        <p:spPr>
          <a:xfrm>
            <a:off x="7882128" y="216712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Yes</a:t>
            </a:r>
            <a:endParaRPr lang="en-US" sz="1050" dirty="0"/>
          </a:p>
        </p:txBody>
      </p:sp>
      <p:sp>
        <p:nvSpPr>
          <p:cNvPr id="23" name="Shape 21"/>
          <p:cNvSpPr/>
          <p:nvPr/>
        </p:nvSpPr>
        <p:spPr>
          <a:xfrm>
            <a:off x="640080" y="2715768"/>
            <a:ext cx="2926080" cy="548640"/>
          </a:xfrm>
          <a:prstGeom prst="rect">
            <a:avLst/>
          </a:prstGeom>
          <a:solidFill>
            <a:srgbClr val="FFFFFF"/>
          </a:solidFill>
          <a:ln w="9525">
            <a:solidFill>
              <a:srgbClr val="E3EBF0"/>
            </a:solidFill>
            <a:prstDash val="solid"/>
          </a:ln>
        </p:spPr>
      </p:sp>
      <p:sp>
        <p:nvSpPr>
          <p:cNvPr id="24" name="Text 22"/>
          <p:cNvSpPr/>
          <p:nvPr/>
        </p:nvSpPr>
        <p:spPr>
          <a:xfrm>
            <a:off x="749808" y="2715768"/>
            <a:ext cx="27066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Deferral or escalation rate rising</a:t>
            </a:r>
            <a:endParaRPr lang="en-US" sz="1050" dirty="0"/>
          </a:p>
        </p:txBody>
      </p:sp>
      <p:sp>
        <p:nvSpPr>
          <p:cNvPr id="25" name="Shape 23"/>
          <p:cNvSpPr/>
          <p:nvPr/>
        </p:nvSpPr>
        <p:spPr>
          <a:xfrm>
            <a:off x="3566160" y="2715768"/>
            <a:ext cx="4206240" cy="548640"/>
          </a:xfrm>
          <a:prstGeom prst="rect">
            <a:avLst/>
          </a:prstGeom>
          <a:solidFill>
            <a:srgbClr val="FFFFFF"/>
          </a:solidFill>
          <a:ln w="9525">
            <a:solidFill>
              <a:srgbClr val="E3EBF0"/>
            </a:solidFill>
            <a:prstDash val="solid"/>
          </a:ln>
        </p:spPr>
      </p:sp>
      <p:sp>
        <p:nvSpPr>
          <p:cNvPr id="26" name="Text 24"/>
          <p:cNvSpPr/>
          <p:nvPr/>
        </p:nvSpPr>
        <p:spPr>
          <a:xfrm>
            <a:off x="3675888" y="271576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More cases falling into the uncertain band</a:t>
            </a:r>
            <a:endParaRPr lang="en-US" sz="1050" dirty="0"/>
          </a:p>
        </p:txBody>
      </p:sp>
      <p:sp>
        <p:nvSpPr>
          <p:cNvPr id="27" name="Shape 25"/>
          <p:cNvSpPr/>
          <p:nvPr/>
        </p:nvSpPr>
        <p:spPr>
          <a:xfrm>
            <a:off x="7772400" y="2715768"/>
            <a:ext cx="3749040" cy="548640"/>
          </a:xfrm>
          <a:prstGeom prst="rect">
            <a:avLst/>
          </a:prstGeom>
          <a:solidFill>
            <a:srgbClr val="FFFFFF"/>
          </a:solidFill>
          <a:ln w="9525">
            <a:solidFill>
              <a:srgbClr val="E3EBF0"/>
            </a:solidFill>
            <a:prstDash val="solid"/>
          </a:ln>
        </p:spPr>
      </p:sp>
      <p:sp>
        <p:nvSpPr>
          <p:cNvPr id="28" name="Text 26"/>
          <p:cNvSpPr/>
          <p:nvPr/>
        </p:nvSpPr>
        <p:spPr>
          <a:xfrm>
            <a:off x="7882128" y="271576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Yes</a:t>
            </a:r>
            <a:endParaRPr lang="en-US" sz="1050" dirty="0"/>
          </a:p>
        </p:txBody>
      </p:sp>
      <p:sp>
        <p:nvSpPr>
          <p:cNvPr id="29" name="Shape 27"/>
          <p:cNvSpPr/>
          <p:nvPr/>
        </p:nvSpPr>
        <p:spPr>
          <a:xfrm>
            <a:off x="640080" y="3264408"/>
            <a:ext cx="2926080" cy="548640"/>
          </a:xfrm>
          <a:prstGeom prst="rect">
            <a:avLst/>
          </a:prstGeom>
          <a:solidFill>
            <a:srgbClr val="F5F9FB"/>
          </a:solidFill>
          <a:ln w="9525">
            <a:solidFill>
              <a:srgbClr val="E3EBF0"/>
            </a:solidFill>
            <a:prstDash val="solid"/>
          </a:ln>
        </p:spPr>
      </p:sp>
      <p:sp>
        <p:nvSpPr>
          <p:cNvPr id="30" name="Text 28"/>
          <p:cNvSpPr/>
          <p:nvPr/>
        </p:nvSpPr>
        <p:spPr>
          <a:xfrm>
            <a:off x="749808" y="3264408"/>
            <a:ext cx="27066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Reviewer override rate rising</a:t>
            </a:r>
            <a:endParaRPr lang="en-US" sz="1050" dirty="0"/>
          </a:p>
        </p:txBody>
      </p:sp>
      <p:sp>
        <p:nvSpPr>
          <p:cNvPr id="31" name="Shape 29"/>
          <p:cNvSpPr/>
          <p:nvPr/>
        </p:nvSpPr>
        <p:spPr>
          <a:xfrm>
            <a:off x="3566160" y="3264408"/>
            <a:ext cx="4206240" cy="548640"/>
          </a:xfrm>
          <a:prstGeom prst="rect">
            <a:avLst/>
          </a:prstGeom>
          <a:solidFill>
            <a:srgbClr val="F5F9FB"/>
          </a:solidFill>
          <a:ln w="9525">
            <a:solidFill>
              <a:srgbClr val="E3EBF0"/>
            </a:solidFill>
            <a:prstDash val="solid"/>
          </a:ln>
        </p:spPr>
      </p:sp>
      <p:sp>
        <p:nvSpPr>
          <p:cNvPr id="32" name="Text 30"/>
          <p:cNvSpPr/>
          <p:nvPr/>
        </p:nvSpPr>
        <p:spPr>
          <a:xfrm>
            <a:off x="3675888" y="326440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Humans disagreeing with the model more often</a:t>
            </a:r>
            <a:endParaRPr lang="en-US" sz="1050" dirty="0"/>
          </a:p>
        </p:txBody>
      </p:sp>
      <p:sp>
        <p:nvSpPr>
          <p:cNvPr id="33" name="Shape 31"/>
          <p:cNvSpPr/>
          <p:nvPr/>
        </p:nvSpPr>
        <p:spPr>
          <a:xfrm>
            <a:off x="7772400" y="3264408"/>
            <a:ext cx="3749040" cy="548640"/>
          </a:xfrm>
          <a:prstGeom prst="rect">
            <a:avLst/>
          </a:prstGeom>
          <a:solidFill>
            <a:srgbClr val="F5F9FB"/>
          </a:solidFill>
          <a:ln w="9525">
            <a:solidFill>
              <a:srgbClr val="E3EBF0"/>
            </a:solidFill>
            <a:prstDash val="solid"/>
          </a:ln>
        </p:spPr>
      </p:sp>
      <p:sp>
        <p:nvSpPr>
          <p:cNvPr id="34" name="Text 32"/>
          <p:cNvSpPr/>
          <p:nvPr/>
        </p:nvSpPr>
        <p:spPr>
          <a:xfrm>
            <a:off x="7882128" y="326440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Yes, if review decisions are captured</a:t>
            </a:r>
            <a:endParaRPr lang="en-US" sz="1050" dirty="0"/>
          </a:p>
        </p:txBody>
      </p:sp>
      <p:sp>
        <p:nvSpPr>
          <p:cNvPr id="35" name="Shape 33"/>
          <p:cNvSpPr/>
          <p:nvPr/>
        </p:nvSpPr>
        <p:spPr>
          <a:xfrm>
            <a:off x="640080" y="3813048"/>
            <a:ext cx="2926080" cy="548640"/>
          </a:xfrm>
          <a:prstGeom prst="rect">
            <a:avLst/>
          </a:prstGeom>
          <a:solidFill>
            <a:srgbClr val="FFFFFF"/>
          </a:solidFill>
          <a:ln w="9525">
            <a:solidFill>
              <a:srgbClr val="E3EBF0"/>
            </a:solidFill>
            <a:prstDash val="solid"/>
          </a:ln>
        </p:spPr>
      </p:sp>
      <p:sp>
        <p:nvSpPr>
          <p:cNvPr id="36" name="Text 34"/>
          <p:cNvSpPr/>
          <p:nvPr/>
        </p:nvSpPr>
        <p:spPr>
          <a:xfrm>
            <a:off x="749808" y="3813048"/>
            <a:ext cx="27066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Measured accuracy on a fresh sample</a:t>
            </a:r>
            <a:endParaRPr lang="en-US" sz="1050" dirty="0"/>
          </a:p>
        </p:txBody>
      </p:sp>
      <p:sp>
        <p:nvSpPr>
          <p:cNvPr id="37" name="Shape 35"/>
          <p:cNvSpPr/>
          <p:nvPr/>
        </p:nvSpPr>
        <p:spPr>
          <a:xfrm>
            <a:off x="3566160" y="3813048"/>
            <a:ext cx="4206240" cy="548640"/>
          </a:xfrm>
          <a:prstGeom prst="rect">
            <a:avLst/>
          </a:prstGeom>
          <a:solidFill>
            <a:srgbClr val="FFFFFF"/>
          </a:solidFill>
          <a:ln w="9525">
            <a:solidFill>
              <a:srgbClr val="E3EBF0"/>
            </a:solidFill>
            <a:prstDash val="solid"/>
          </a:ln>
        </p:spPr>
      </p:sp>
      <p:sp>
        <p:nvSpPr>
          <p:cNvPr id="38" name="Text 36"/>
          <p:cNvSpPr/>
          <p:nvPr/>
        </p:nvSpPr>
        <p:spPr>
          <a:xfrm>
            <a:off x="3675888" y="381304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Actual performance</a:t>
            </a:r>
            <a:endParaRPr lang="en-US" sz="1050" dirty="0"/>
          </a:p>
        </p:txBody>
      </p:sp>
      <p:sp>
        <p:nvSpPr>
          <p:cNvPr id="39" name="Shape 37"/>
          <p:cNvSpPr/>
          <p:nvPr/>
        </p:nvSpPr>
        <p:spPr>
          <a:xfrm>
            <a:off x="7772400" y="3813048"/>
            <a:ext cx="3749040" cy="548640"/>
          </a:xfrm>
          <a:prstGeom prst="rect">
            <a:avLst/>
          </a:prstGeom>
          <a:solidFill>
            <a:srgbClr val="FFFFFF"/>
          </a:solidFill>
          <a:ln w="9525">
            <a:solidFill>
              <a:srgbClr val="E3EBF0"/>
            </a:solidFill>
            <a:prstDash val="solid"/>
          </a:ln>
        </p:spPr>
      </p:sp>
      <p:sp>
        <p:nvSpPr>
          <p:cNvPr id="40" name="Text 38"/>
          <p:cNvSpPr/>
          <p:nvPr/>
        </p:nvSpPr>
        <p:spPr>
          <a:xfrm>
            <a:off x="7882128" y="381304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No — requires periodic labelling</a:t>
            </a:r>
            <a:endParaRPr lang="en-US" sz="1050" dirty="0"/>
          </a:p>
        </p:txBody>
      </p:sp>
      <p:sp>
        <p:nvSpPr>
          <p:cNvPr id="41" name="Shape 39"/>
          <p:cNvSpPr/>
          <p:nvPr/>
        </p:nvSpPr>
        <p:spPr>
          <a:xfrm>
            <a:off x="640080" y="4361688"/>
            <a:ext cx="2926080" cy="548640"/>
          </a:xfrm>
          <a:prstGeom prst="rect">
            <a:avLst/>
          </a:prstGeom>
          <a:solidFill>
            <a:srgbClr val="F5F9FB"/>
          </a:solidFill>
          <a:ln w="9525">
            <a:solidFill>
              <a:srgbClr val="E3EBF0"/>
            </a:solidFill>
            <a:prstDash val="solid"/>
          </a:ln>
        </p:spPr>
      </p:sp>
      <p:sp>
        <p:nvSpPr>
          <p:cNvPr id="42" name="Text 40"/>
          <p:cNvSpPr/>
          <p:nvPr/>
        </p:nvSpPr>
        <p:spPr>
          <a:xfrm>
            <a:off x="749808" y="4361688"/>
            <a:ext cx="2706624" cy="54864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Business outcome change</a:t>
            </a:r>
            <a:endParaRPr lang="en-US" sz="1050" dirty="0"/>
          </a:p>
        </p:txBody>
      </p:sp>
      <p:sp>
        <p:nvSpPr>
          <p:cNvPr id="43" name="Shape 41"/>
          <p:cNvSpPr/>
          <p:nvPr/>
        </p:nvSpPr>
        <p:spPr>
          <a:xfrm>
            <a:off x="3566160" y="4361688"/>
            <a:ext cx="4206240" cy="548640"/>
          </a:xfrm>
          <a:prstGeom prst="rect">
            <a:avLst/>
          </a:prstGeom>
          <a:solidFill>
            <a:srgbClr val="F5F9FB"/>
          </a:solidFill>
          <a:ln w="9525">
            <a:solidFill>
              <a:srgbClr val="E3EBF0"/>
            </a:solidFill>
            <a:prstDash val="solid"/>
          </a:ln>
        </p:spPr>
      </p:sp>
      <p:sp>
        <p:nvSpPr>
          <p:cNvPr id="44" name="Text 42"/>
          <p:cNvSpPr/>
          <p:nvPr/>
        </p:nvSpPr>
        <p:spPr>
          <a:xfrm>
            <a:off x="3675888" y="4361688"/>
            <a:ext cx="39867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Escapes, scrap rate, warranty claims</a:t>
            </a:r>
            <a:endParaRPr lang="en-US" sz="1050" dirty="0"/>
          </a:p>
        </p:txBody>
      </p:sp>
      <p:sp>
        <p:nvSpPr>
          <p:cNvPr id="45" name="Shape 43"/>
          <p:cNvSpPr/>
          <p:nvPr/>
        </p:nvSpPr>
        <p:spPr>
          <a:xfrm>
            <a:off x="7772400" y="4361688"/>
            <a:ext cx="3749040" cy="548640"/>
          </a:xfrm>
          <a:prstGeom prst="rect">
            <a:avLst/>
          </a:prstGeom>
          <a:solidFill>
            <a:srgbClr val="F5F9FB"/>
          </a:solidFill>
          <a:ln w="9525">
            <a:solidFill>
              <a:srgbClr val="E3EBF0"/>
            </a:solidFill>
            <a:prstDash val="solid"/>
          </a:ln>
        </p:spPr>
      </p:sp>
      <p:sp>
        <p:nvSpPr>
          <p:cNvPr id="46" name="Text 44"/>
          <p:cNvSpPr/>
          <p:nvPr/>
        </p:nvSpPr>
        <p:spPr>
          <a:xfrm>
            <a:off x="7882128" y="4361688"/>
            <a:ext cx="3529584" cy="54864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Lagging, but the one that matters</a:t>
            </a:r>
            <a:endParaRPr lang="en-US" sz="1050" dirty="0"/>
          </a:p>
        </p:txBody>
      </p:sp>
      <p:sp>
        <p:nvSpPr>
          <p:cNvPr id="47" name="Shape 45"/>
          <p:cNvSpPr/>
          <p:nvPr/>
        </p:nvSpPr>
        <p:spPr>
          <a:xfrm>
            <a:off x="640080" y="4892040"/>
            <a:ext cx="10881360" cy="960120"/>
          </a:xfrm>
          <a:prstGeom prst="roundRect">
            <a:avLst>
              <a:gd name="adj" fmla="val 5714"/>
            </a:avLst>
          </a:prstGeom>
          <a:solidFill>
            <a:srgbClr val="E4EEF4"/>
          </a:solidFill>
          <a:ln w="12700">
            <a:solidFill>
              <a:srgbClr val="C9DCE7"/>
            </a:solidFill>
            <a:prstDash val="solid"/>
          </a:ln>
        </p:spPr>
      </p:sp>
      <p:sp>
        <p:nvSpPr>
          <p:cNvPr id="48" name="Text 46"/>
          <p:cNvSpPr/>
          <p:nvPr/>
        </p:nvSpPr>
        <p:spPr>
          <a:xfrm>
            <a:off x="914400" y="5056632"/>
            <a:ext cx="10332720" cy="32004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Retraining triggers — set these in advance</a:t>
            </a:r>
            <a:endParaRPr lang="en-US" sz="1350" dirty="0"/>
          </a:p>
        </p:txBody>
      </p:sp>
      <p:sp>
        <p:nvSpPr>
          <p:cNvPr id="49" name="Text 47"/>
          <p:cNvSpPr/>
          <p:nvPr/>
        </p:nvSpPr>
        <p:spPr>
          <a:xfrm>
            <a:off x="914400" y="5394960"/>
            <a:ext cx="10332720" cy="32004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Retrain when measured accuracy on the fresh sample falls below the error budget, when a defined volume of new labelled data has accumulated, when a physical process change is logged, or on a scheduled cadence as a floor. Triggering on a single alarming week is how you end up retraining on noise.</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HANDS-ON · 45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 3 — MLOps pipeline design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29</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500" dirty="0">
                <a:solidFill>
                  <a:srgbClr val="1A2430"/>
                </a:solidFill>
                <a:latin typeface="Calibri" pitchFamily="34" charset="0"/>
                <a:ea typeface="Calibri" pitchFamily="34" charset="-122"/>
                <a:cs typeface="Calibri" pitchFamily="34" charset="-120"/>
              </a:rPr>
              <a:t>Design the pipeline for one team's CV or predictive maintenance model, end to end.</a:t>
            </a:r>
            <a:endParaRPr lang="en-US" sz="1500" dirty="0"/>
          </a:p>
        </p:txBody>
      </p:sp>
      <p:sp>
        <p:nvSpPr>
          <p:cNvPr id="6" name="Shape 4"/>
          <p:cNvSpPr/>
          <p:nvPr/>
        </p:nvSpPr>
        <p:spPr>
          <a:xfrm>
            <a:off x="640080" y="1783080"/>
            <a:ext cx="2560320" cy="384048"/>
          </a:xfrm>
          <a:prstGeom prst="rect">
            <a:avLst/>
          </a:prstGeom>
          <a:solidFill>
            <a:srgbClr val="21295C"/>
          </a:solidFill>
          <a:ln/>
        </p:spPr>
      </p:sp>
      <p:sp>
        <p:nvSpPr>
          <p:cNvPr id="7" name="Text 5"/>
          <p:cNvSpPr/>
          <p:nvPr/>
        </p:nvSpPr>
        <p:spPr>
          <a:xfrm>
            <a:off x="749808" y="1783080"/>
            <a:ext cx="23408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p>
        </p:txBody>
      </p:sp>
      <p:sp>
        <p:nvSpPr>
          <p:cNvPr id="8" name="Shape 6"/>
          <p:cNvSpPr/>
          <p:nvPr/>
        </p:nvSpPr>
        <p:spPr>
          <a:xfrm>
            <a:off x="3200400" y="1783080"/>
            <a:ext cx="8321040" cy="384048"/>
          </a:xfrm>
          <a:prstGeom prst="rect">
            <a:avLst/>
          </a:prstGeom>
          <a:solidFill>
            <a:srgbClr val="21295C"/>
          </a:solidFill>
          <a:ln/>
        </p:spPr>
      </p:sp>
      <p:sp>
        <p:nvSpPr>
          <p:cNvPr id="9" name="Text 7"/>
          <p:cNvSpPr/>
          <p:nvPr/>
        </p:nvSpPr>
        <p:spPr>
          <a:xfrm>
            <a:off x="3310128" y="1783080"/>
            <a:ext cx="81015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Specify</a:t>
            </a:r>
            <a:endParaRPr lang="en-US" sz="1100" dirty="0"/>
          </a:p>
        </p:txBody>
      </p:sp>
      <p:sp>
        <p:nvSpPr>
          <p:cNvPr id="10" name="Shape 8"/>
          <p:cNvSpPr/>
          <p:nvPr/>
        </p:nvSpPr>
        <p:spPr>
          <a:xfrm>
            <a:off x="640080" y="2167128"/>
            <a:ext cx="2560320" cy="566928"/>
          </a:xfrm>
          <a:prstGeom prst="rect">
            <a:avLst/>
          </a:prstGeom>
          <a:solidFill>
            <a:srgbClr val="FFFFFF"/>
          </a:solidFill>
          <a:ln w="9525">
            <a:solidFill>
              <a:srgbClr val="E3EBF0"/>
            </a:solidFill>
            <a:prstDash val="solid"/>
          </a:ln>
        </p:spPr>
      </p:sp>
      <p:sp>
        <p:nvSpPr>
          <p:cNvPr id="11" name="Text 9"/>
          <p:cNvSpPr/>
          <p:nvPr/>
        </p:nvSpPr>
        <p:spPr>
          <a:xfrm>
            <a:off x="749808" y="2167128"/>
            <a:ext cx="23408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Versioning</a:t>
            </a:r>
            <a:endParaRPr lang="en-US" sz="1050" dirty="0"/>
          </a:p>
        </p:txBody>
      </p:sp>
      <p:sp>
        <p:nvSpPr>
          <p:cNvPr id="12" name="Shape 10"/>
          <p:cNvSpPr/>
          <p:nvPr/>
        </p:nvSpPr>
        <p:spPr>
          <a:xfrm>
            <a:off x="3200400" y="2167128"/>
            <a:ext cx="8321040" cy="566928"/>
          </a:xfrm>
          <a:prstGeom prst="rect">
            <a:avLst/>
          </a:prstGeom>
          <a:solidFill>
            <a:srgbClr val="FFFFFF"/>
          </a:solidFill>
          <a:ln w="9525">
            <a:solidFill>
              <a:srgbClr val="E3EBF0"/>
            </a:solidFill>
            <a:prstDash val="solid"/>
          </a:ln>
        </p:spPr>
      </p:sp>
      <p:sp>
        <p:nvSpPr>
          <p:cNvPr id="13" name="Text 11"/>
          <p:cNvSpPr/>
          <p:nvPr/>
        </p:nvSpPr>
        <p:spPr>
          <a:xfrm>
            <a:off x="3310128" y="2167128"/>
            <a:ext cx="81015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What is versioned, how, and how the four versions are bound to each model</a:t>
            </a:r>
            <a:endParaRPr lang="en-US" sz="1050" dirty="0"/>
          </a:p>
        </p:txBody>
      </p:sp>
      <p:sp>
        <p:nvSpPr>
          <p:cNvPr id="14" name="Shape 12"/>
          <p:cNvSpPr/>
          <p:nvPr/>
        </p:nvSpPr>
        <p:spPr>
          <a:xfrm>
            <a:off x="640080" y="2734056"/>
            <a:ext cx="2560320" cy="566928"/>
          </a:xfrm>
          <a:prstGeom prst="rect">
            <a:avLst/>
          </a:prstGeom>
          <a:solidFill>
            <a:srgbClr val="F5F9FB"/>
          </a:solidFill>
          <a:ln w="9525">
            <a:solidFill>
              <a:srgbClr val="E3EBF0"/>
            </a:solidFill>
            <a:prstDash val="solid"/>
          </a:ln>
        </p:spPr>
      </p:sp>
      <p:sp>
        <p:nvSpPr>
          <p:cNvPr id="15" name="Text 13"/>
          <p:cNvSpPr/>
          <p:nvPr/>
        </p:nvSpPr>
        <p:spPr>
          <a:xfrm>
            <a:off x="749808" y="2734056"/>
            <a:ext cx="23408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Training pipeline</a:t>
            </a:r>
            <a:endParaRPr lang="en-US" sz="1050" dirty="0"/>
          </a:p>
        </p:txBody>
      </p:sp>
      <p:sp>
        <p:nvSpPr>
          <p:cNvPr id="16" name="Shape 14"/>
          <p:cNvSpPr/>
          <p:nvPr/>
        </p:nvSpPr>
        <p:spPr>
          <a:xfrm>
            <a:off x="3200400" y="2734056"/>
            <a:ext cx="8321040" cy="566928"/>
          </a:xfrm>
          <a:prstGeom prst="rect">
            <a:avLst/>
          </a:prstGeom>
          <a:solidFill>
            <a:srgbClr val="F5F9FB"/>
          </a:solidFill>
          <a:ln w="9525">
            <a:solidFill>
              <a:srgbClr val="E3EBF0"/>
            </a:solidFill>
            <a:prstDash val="solid"/>
          </a:ln>
        </p:spPr>
      </p:sp>
      <p:sp>
        <p:nvSpPr>
          <p:cNvPr id="17" name="Text 15"/>
          <p:cNvSpPr/>
          <p:nvPr/>
        </p:nvSpPr>
        <p:spPr>
          <a:xfrm>
            <a:off x="3310128" y="2734056"/>
            <a:ext cx="81015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Trigger, steps, reproducibility guarantees, compute and duration</a:t>
            </a:r>
            <a:endParaRPr lang="en-US" sz="1050" dirty="0"/>
          </a:p>
        </p:txBody>
      </p:sp>
      <p:sp>
        <p:nvSpPr>
          <p:cNvPr id="18" name="Shape 16"/>
          <p:cNvSpPr/>
          <p:nvPr/>
        </p:nvSpPr>
        <p:spPr>
          <a:xfrm>
            <a:off x="640080" y="3300984"/>
            <a:ext cx="2560320" cy="566928"/>
          </a:xfrm>
          <a:prstGeom prst="rect">
            <a:avLst/>
          </a:prstGeom>
          <a:solidFill>
            <a:srgbClr val="FFFFFF"/>
          </a:solidFill>
          <a:ln w="9525">
            <a:solidFill>
              <a:srgbClr val="E3EBF0"/>
            </a:solidFill>
            <a:prstDash val="solid"/>
          </a:ln>
        </p:spPr>
      </p:sp>
      <p:sp>
        <p:nvSpPr>
          <p:cNvPr id="19" name="Text 17"/>
          <p:cNvSpPr/>
          <p:nvPr/>
        </p:nvSpPr>
        <p:spPr>
          <a:xfrm>
            <a:off x="749808" y="3300984"/>
            <a:ext cx="23408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Evaluation gate</a:t>
            </a:r>
            <a:endParaRPr lang="en-US" sz="1050" dirty="0"/>
          </a:p>
        </p:txBody>
      </p:sp>
      <p:sp>
        <p:nvSpPr>
          <p:cNvPr id="20" name="Shape 18"/>
          <p:cNvSpPr/>
          <p:nvPr/>
        </p:nvSpPr>
        <p:spPr>
          <a:xfrm>
            <a:off x="3200400" y="3300984"/>
            <a:ext cx="8321040" cy="566928"/>
          </a:xfrm>
          <a:prstGeom prst="rect">
            <a:avLst/>
          </a:prstGeom>
          <a:solidFill>
            <a:srgbClr val="FFFFFF"/>
          </a:solidFill>
          <a:ln w="9525">
            <a:solidFill>
              <a:srgbClr val="E3EBF0"/>
            </a:solidFill>
            <a:prstDash val="solid"/>
          </a:ln>
        </p:spPr>
      </p:sp>
      <p:sp>
        <p:nvSpPr>
          <p:cNvPr id="21" name="Text 19"/>
          <p:cNvSpPr/>
          <p:nvPr/>
        </p:nvSpPr>
        <p:spPr>
          <a:xfrm>
            <a:off x="3310128" y="3300984"/>
            <a:ext cx="81015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exact pass criteria, per metric and per slice, set in advance</a:t>
            </a:r>
            <a:endParaRPr lang="en-US" sz="1050" dirty="0"/>
          </a:p>
        </p:txBody>
      </p:sp>
      <p:sp>
        <p:nvSpPr>
          <p:cNvPr id="22" name="Shape 20"/>
          <p:cNvSpPr/>
          <p:nvPr/>
        </p:nvSpPr>
        <p:spPr>
          <a:xfrm>
            <a:off x="640080" y="3867912"/>
            <a:ext cx="2560320" cy="566928"/>
          </a:xfrm>
          <a:prstGeom prst="rect">
            <a:avLst/>
          </a:prstGeom>
          <a:solidFill>
            <a:srgbClr val="F5F9FB"/>
          </a:solidFill>
          <a:ln w="9525">
            <a:solidFill>
              <a:srgbClr val="E3EBF0"/>
            </a:solidFill>
            <a:prstDash val="solid"/>
          </a:ln>
        </p:spPr>
      </p:sp>
      <p:sp>
        <p:nvSpPr>
          <p:cNvPr id="23" name="Text 21"/>
          <p:cNvSpPr/>
          <p:nvPr/>
        </p:nvSpPr>
        <p:spPr>
          <a:xfrm>
            <a:off x="749808" y="3867912"/>
            <a:ext cx="23408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Registry and approval</a:t>
            </a:r>
            <a:endParaRPr lang="en-US" sz="1050" dirty="0"/>
          </a:p>
        </p:txBody>
      </p:sp>
      <p:sp>
        <p:nvSpPr>
          <p:cNvPr id="24" name="Shape 22"/>
          <p:cNvSpPr/>
          <p:nvPr/>
        </p:nvSpPr>
        <p:spPr>
          <a:xfrm>
            <a:off x="3200400" y="3867912"/>
            <a:ext cx="8321040" cy="566928"/>
          </a:xfrm>
          <a:prstGeom prst="rect">
            <a:avLst/>
          </a:prstGeom>
          <a:solidFill>
            <a:srgbClr val="F5F9FB"/>
          </a:solidFill>
          <a:ln w="9525">
            <a:solidFill>
              <a:srgbClr val="E3EBF0"/>
            </a:solidFill>
            <a:prstDash val="solid"/>
          </a:ln>
        </p:spPr>
      </p:sp>
      <p:sp>
        <p:nvSpPr>
          <p:cNvPr id="25" name="Text 23"/>
          <p:cNvSpPr/>
          <p:nvPr/>
        </p:nvSpPr>
        <p:spPr>
          <a:xfrm>
            <a:off x="3310128" y="3867912"/>
            <a:ext cx="81015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What is recorded, who approves promotion, and on what evidence</a:t>
            </a:r>
            <a:endParaRPr lang="en-US" sz="1050" dirty="0"/>
          </a:p>
        </p:txBody>
      </p:sp>
      <p:sp>
        <p:nvSpPr>
          <p:cNvPr id="26" name="Shape 24"/>
          <p:cNvSpPr/>
          <p:nvPr/>
        </p:nvSpPr>
        <p:spPr>
          <a:xfrm>
            <a:off x="640080" y="4434840"/>
            <a:ext cx="2560320" cy="566928"/>
          </a:xfrm>
          <a:prstGeom prst="rect">
            <a:avLst/>
          </a:prstGeom>
          <a:solidFill>
            <a:srgbClr val="FFFFFF"/>
          </a:solidFill>
          <a:ln w="9525">
            <a:solidFill>
              <a:srgbClr val="E3EBF0"/>
            </a:solidFill>
            <a:prstDash val="solid"/>
          </a:ln>
        </p:spPr>
      </p:sp>
      <p:sp>
        <p:nvSpPr>
          <p:cNvPr id="27" name="Text 25"/>
          <p:cNvSpPr/>
          <p:nvPr/>
        </p:nvSpPr>
        <p:spPr>
          <a:xfrm>
            <a:off x="749808" y="4434840"/>
            <a:ext cx="23408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Deployment</a:t>
            </a:r>
            <a:endParaRPr lang="en-US" sz="1050" dirty="0"/>
          </a:p>
        </p:txBody>
      </p:sp>
      <p:sp>
        <p:nvSpPr>
          <p:cNvPr id="28" name="Shape 26"/>
          <p:cNvSpPr/>
          <p:nvPr/>
        </p:nvSpPr>
        <p:spPr>
          <a:xfrm>
            <a:off x="3200400" y="4434840"/>
            <a:ext cx="8321040" cy="566928"/>
          </a:xfrm>
          <a:prstGeom prst="rect">
            <a:avLst/>
          </a:prstGeom>
          <a:solidFill>
            <a:srgbClr val="FFFFFF"/>
          </a:solidFill>
          <a:ln w="9525">
            <a:solidFill>
              <a:srgbClr val="E3EBF0"/>
            </a:solidFill>
            <a:prstDash val="solid"/>
          </a:ln>
        </p:spPr>
      </p:sp>
      <p:sp>
        <p:nvSpPr>
          <p:cNvPr id="29" name="Text 27"/>
          <p:cNvSpPr/>
          <p:nvPr/>
        </p:nvSpPr>
        <p:spPr>
          <a:xfrm>
            <a:off x="3310128" y="4434840"/>
            <a:ext cx="81015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Shadow, canary or staged; abort criteria; rollback mechanism and its measured time</a:t>
            </a:r>
            <a:endParaRPr lang="en-US" sz="1050" dirty="0"/>
          </a:p>
        </p:txBody>
      </p:sp>
      <p:sp>
        <p:nvSpPr>
          <p:cNvPr id="30" name="Shape 28"/>
          <p:cNvSpPr/>
          <p:nvPr/>
        </p:nvSpPr>
        <p:spPr>
          <a:xfrm>
            <a:off x="640080" y="5001768"/>
            <a:ext cx="2560320" cy="566928"/>
          </a:xfrm>
          <a:prstGeom prst="rect">
            <a:avLst/>
          </a:prstGeom>
          <a:solidFill>
            <a:srgbClr val="F5F9FB"/>
          </a:solidFill>
          <a:ln w="9525">
            <a:solidFill>
              <a:srgbClr val="E3EBF0"/>
            </a:solidFill>
            <a:prstDash val="solid"/>
          </a:ln>
        </p:spPr>
      </p:sp>
      <p:sp>
        <p:nvSpPr>
          <p:cNvPr id="31" name="Text 29"/>
          <p:cNvSpPr/>
          <p:nvPr/>
        </p:nvSpPr>
        <p:spPr>
          <a:xfrm>
            <a:off x="749808" y="5001768"/>
            <a:ext cx="23408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Monitoring</a:t>
            </a:r>
            <a:endParaRPr lang="en-US" sz="1050" dirty="0"/>
          </a:p>
        </p:txBody>
      </p:sp>
      <p:sp>
        <p:nvSpPr>
          <p:cNvPr id="32" name="Shape 30"/>
          <p:cNvSpPr/>
          <p:nvPr/>
        </p:nvSpPr>
        <p:spPr>
          <a:xfrm>
            <a:off x="3200400" y="5001768"/>
            <a:ext cx="8321040" cy="566928"/>
          </a:xfrm>
          <a:prstGeom prst="rect">
            <a:avLst/>
          </a:prstGeom>
          <a:solidFill>
            <a:srgbClr val="F5F9FB"/>
          </a:solidFill>
          <a:ln w="9525">
            <a:solidFill>
              <a:srgbClr val="E3EBF0"/>
            </a:solidFill>
            <a:prstDash val="solid"/>
          </a:ln>
        </p:spPr>
      </p:sp>
      <p:sp>
        <p:nvSpPr>
          <p:cNvPr id="33" name="Text 31"/>
          <p:cNvSpPr/>
          <p:nvPr/>
        </p:nvSpPr>
        <p:spPr>
          <a:xfrm>
            <a:off x="3310128" y="5001768"/>
            <a:ext cx="81015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Signals tracked, thresholds, alert routing, and who is on the receiving end</a:t>
            </a:r>
            <a:endParaRPr lang="en-US" sz="1050" dirty="0"/>
          </a:p>
        </p:txBody>
      </p:sp>
      <p:sp>
        <p:nvSpPr>
          <p:cNvPr id="34" name="Shape 32"/>
          <p:cNvSpPr/>
          <p:nvPr/>
        </p:nvSpPr>
        <p:spPr>
          <a:xfrm>
            <a:off x="640080" y="5568696"/>
            <a:ext cx="2560320" cy="566928"/>
          </a:xfrm>
          <a:prstGeom prst="rect">
            <a:avLst/>
          </a:prstGeom>
          <a:solidFill>
            <a:srgbClr val="FFFFFF"/>
          </a:solidFill>
          <a:ln w="9525">
            <a:solidFill>
              <a:srgbClr val="E3EBF0"/>
            </a:solidFill>
            <a:prstDash val="solid"/>
          </a:ln>
        </p:spPr>
      </p:sp>
      <p:sp>
        <p:nvSpPr>
          <p:cNvPr id="35" name="Text 33"/>
          <p:cNvSpPr/>
          <p:nvPr/>
        </p:nvSpPr>
        <p:spPr>
          <a:xfrm>
            <a:off x="749808" y="5568696"/>
            <a:ext cx="234086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Retraining</a:t>
            </a:r>
            <a:endParaRPr lang="en-US" sz="1050" dirty="0"/>
          </a:p>
        </p:txBody>
      </p:sp>
      <p:sp>
        <p:nvSpPr>
          <p:cNvPr id="36" name="Shape 34"/>
          <p:cNvSpPr/>
          <p:nvPr/>
        </p:nvSpPr>
        <p:spPr>
          <a:xfrm>
            <a:off x="3200400" y="5568696"/>
            <a:ext cx="8321040" cy="566928"/>
          </a:xfrm>
          <a:prstGeom prst="rect">
            <a:avLst/>
          </a:prstGeom>
          <a:solidFill>
            <a:srgbClr val="FFFFFF"/>
          </a:solidFill>
          <a:ln w="9525">
            <a:solidFill>
              <a:srgbClr val="E3EBF0"/>
            </a:solidFill>
            <a:prstDash val="solid"/>
          </a:ln>
        </p:spPr>
      </p:sp>
      <p:sp>
        <p:nvSpPr>
          <p:cNvPr id="37" name="Text 35"/>
          <p:cNvSpPr/>
          <p:nvPr/>
        </p:nvSpPr>
        <p:spPr>
          <a:xfrm>
            <a:off x="3310128" y="5568696"/>
            <a:ext cx="810158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Triggers, data source, approval path, and validation before promotion</a:t>
            </a:r>
            <a:endParaRPr lang="en-US" sz="1050" dirty="0"/>
          </a:p>
        </p:txBody>
      </p:sp>
      <p:sp>
        <p:nvSpPr>
          <p:cNvPr id="38" name="Text 36"/>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Test of a good design: how long from noticing a problem to the previous model serving again? If nobody knows, that is the first gap to close.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822960" y="2194560"/>
            <a:ext cx="10058400" cy="365760"/>
          </a:xfrm>
          <a:prstGeom prst="rect">
            <a:avLst/>
          </a:prstGeom>
          <a:noFill/>
          <a:ln/>
        </p:spPr>
        <p:txBody>
          <a:bodyPr wrap="square" rtlCol="0" anchor="ctr"/>
          <a:lstStyle/>
          <a:p>
            <a:pPr indent="0" marL="0">
              <a:buNone/>
            </a:pPr>
            <a:r>
              <a:rPr lang="en-US" sz="1200" b="1" spc="300" kern="0" dirty="0">
                <a:solidFill>
                  <a:srgbClr val="9FD0E3"/>
                </a:solidFill>
                <a:latin typeface="Calibri" pitchFamily="34" charset="0"/>
                <a:ea typeface="Calibri" pitchFamily="34" charset="-122"/>
                <a:cs typeface="Calibri" pitchFamily="34" charset="-120"/>
              </a:rPr>
              <a:t>MODULE 4</a:t>
            </a:r>
            <a:endParaRPr lang="en-US" sz="1200" dirty="0"/>
          </a:p>
        </p:txBody>
      </p:sp>
      <p:sp>
        <p:nvSpPr>
          <p:cNvPr id="3" name="Text 1"/>
          <p:cNvSpPr/>
          <p:nvPr/>
        </p:nvSpPr>
        <p:spPr>
          <a:xfrm>
            <a:off x="822960" y="2606040"/>
            <a:ext cx="10241280" cy="10972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Active Learning and Feedback Loops</a:t>
            </a:r>
            <a:endParaRPr lang="en-US" sz="3400" dirty="0"/>
          </a:p>
        </p:txBody>
      </p:sp>
      <p:sp>
        <p:nvSpPr>
          <p:cNvPr id="4" name="Text 2"/>
          <p:cNvSpPr/>
          <p:nvPr/>
        </p:nvSpPr>
        <p:spPr>
          <a:xfrm>
            <a:off x="822960" y="3794760"/>
            <a:ext cx="9692640" cy="822960"/>
          </a:xfrm>
          <a:prstGeom prst="rect">
            <a:avLst/>
          </a:prstGeom>
          <a:noFill/>
          <a:ln/>
        </p:spPr>
        <p:txBody>
          <a:bodyPr wrap="square" rtlCol="0" anchor="ctr"/>
          <a:lstStyle/>
          <a:p>
            <a:pPr indent="0" marL="0">
              <a:lnSpc>
                <a:spcPts val="2100"/>
              </a:lnSpc>
              <a:buNone/>
            </a:pPr>
            <a:r>
              <a:rPr lang="en-US" sz="1500" dirty="0">
                <a:solidFill>
                  <a:srgbClr val="D5E8F0"/>
                </a:solidFill>
                <a:latin typeface="Calibri" pitchFamily="34" charset="0"/>
                <a:ea typeface="Calibri" pitchFamily="34" charset="-122"/>
                <a:cs typeface="Calibri" pitchFamily="34" charset="-120"/>
              </a:rPr>
              <a:t>Turning production uncertainty and human corrections into the next training set — the loop that makes improvement compound.</a:t>
            </a:r>
            <a:endParaRPr lang="en-US" sz="1500" dirty="0"/>
          </a:p>
        </p:txBody>
      </p:sp>
      <p:sp>
        <p:nvSpPr>
          <p:cNvPr id="5" name="Text 3"/>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4 · 4.1</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Why active learning matters industrially</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31</a:t>
            </a:r>
            <a:endParaRPr lang="en-US" sz="1000" dirty="0"/>
          </a:p>
        </p:txBody>
      </p:sp>
      <p:sp>
        <p:nvSpPr>
          <p:cNvPr id="5" name="Shape 3"/>
          <p:cNvSpPr/>
          <p:nvPr/>
        </p:nvSpPr>
        <p:spPr>
          <a:xfrm>
            <a:off x="640080" y="1280160"/>
            <a:ext cx="5303520" cy="2286000"/>
          </a:xfrm>
          <a:prstGeom prst="roundRect">
            <a:avLst>
              <a:gd name="adj" fmla="val 2400"/>
            </a:avLst>
          </a:prstGeom>
          <a:solidFill>
            <a:srgbClr val="FBEEE8"/>
          </a:solidFill>
          <a:ln w="12700">
            <a:solidFill>
              <a:srgbClr val="D8E4EC"/>
            </a:solidFill>
            <a:prstDash val="solid"/>
          </a:ln>
        </p:spPr>
      </p:sp>
      <p:sp>
        <p:nvSpPr>
          <p:cNvPr id="6" name="Text 4"/>
          <p:cNvSpPr/>
          <p:nvPr/>
        </p:nvSpPr>
        <p:spPr>
          <a:xfrm>
            <a:off x="841248" y="1417320"/>
            <a:ext cx="4901184" cy="347472"/>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Random labelling</a:t>
            </a:r>
            <a:endParaRPr lang="en-US" sz="1400" dirty="0"/>
          </a:p>
        </p:txBody>
      </p:sp>
      <p:sp>
        <p:nvSpPr>
          <p:cNvPr id="7" name="Text 5"/>
          <p:cNvSpPr/>
          <p:nvPr/>
        </p:nvSpPr>
        <p:spPr>
          <a:xfrm>
            <a:off x="841248" y="1783080"/>
            <a:ext cx="4901184" cy="16276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Label 1,000 randomly selected images.</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Most are easy cases the model already handles correctly. You have paid for 1,000 labels and bought very little information.</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This is what most labelling budgets buy.</a:t>
            </a:r>
            <a:endParaRPr lang="en-US" sz="1150" dirty="0"/>
          </a:p>
        </p:txBody>
      </p:sp>
      <p:sp>
        <p:nvSpPr>
          <p:cNvPr id="8" name="Shape 6"/>
          <p:cNvSpPr/>
          <p:nvPr/>
        </p:nvSpPr>
        <p:spPr>
          <a:xfrm>
            <a:off x="6263640" y="1280160"/>
            <a:ext cx="5257800" cy="2286000"/>
          </a:xfrm>
          <a:prstGeom prst="roundRect">
            <a:avLst>
              <a:gd name="adj" fmla="val 2400"/>
            </a:avLst>
          </a:prstGeom>
          <a:solidFill>
            <a:srgbClr val="EDF5EE"/>
          </a:solidFill>
          <a:ln w="12700">
            <a:solidFill>
              <a:srgbClr val="D8E4EC"/>
            </a:solidFill>
            <a:prstDash val="solid"/>
          </a:ln>
        </p:spPr>
      </p:sp>
      <p:sp>
        <p:nvSpPr>
          <p:cNvPr id="9" name="Text 7"/>
          <p:cNvSpPr/>
          <p:nvPr/>
        </p:nvSpPr>
        <p:spPr>
          <a:xfrm>
            <a:off x="6464808" y="1417320"/>
            <a:ext cx="4855464" cy="347472"/>
          </a:xfrm>
          <a:prstGeom prst="rect">
            <a:avLst/>
          </a:prstGeom>
          <a:noFill/>
          <a:ln/>
        </p:spPr>
        <p:txBody>
          <a:bodyPr wrap="square" lIns="0" tIns="0" rIns="0" bIns="0" rtlCol="0" anchor="ctr"/>
          <a:lstStyle/>
          <a:p>
            <a:pPr indent="0" marL="0">
              <a:buNone/>
            </a:pPr>
            <a:r>
              <a:rPr lang="en-US" sz="1400" b="1" dirty="0">
                <a:solidFill>
                  <a:srgbClr val="1E7A3C"/>
                </a:solidFill>
                <a:latin typeface="Calibri" pitchFamily="34" charset="0"/>
                <a:ea typeface="Calibri" pitchFamily="34" charset="-122"/>
                <a:cs typeface="Calibri" pitchFamily="34" charset="-120"/>
              </a:rPr>
              <a:t>Active learning</a:t>
            </a:r>
            <a:endParaRPr lang="en-US" sz="1400" dirty="0"/>
          </a:p>
        </p:txBody>
      </p:sp>
      <p:sp>
        <p:nvSpPr>
          <p:cNvPr id="10" name="Text 8"/>
          <p:cNvSpPr/>
          <p:nvPr/>
        </p:nvSpPr>
        <p:spPr>
          <a:xfrm>
            <a:off x="6464808" y="1783080"/>
            <a:ext cx="4855464" cy="1627632"/>
          </a:xfrm>
          <a:prstGeom prst="rect">
            <a:avLst/>
          </a:prstGeom>
          <a:noFill/>
          <a:ln/>
        </p:spPr>
        <p:txBody>
          <a:bodyPr wrap="square" lIns="0" tIns="0" rIns="0" bIns="0" rtlCol="0" anchor="ctr"/>
          <a:lstStyle/>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Label the 1,000 images the model is least certain about, or gets wrong.</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Every label lands where the decision boundary is unclear. The same budget produces substantially more improvement.</a:t>
            </a:r>
            <a:endParaRPr lang="en-US" sz="1150" dirty="0"/>
          </a:p>
          <a:p>
            <a:pPr indent="0" marL="0">
              <a:lnSpc>
                <a:spcPts val="1500"/>
              </a:lnSpc>
              <a:buNone/>
            </a:pPr>
            <a:endParaRPr lang="en-US" sz="1150" dirty="0"/>
          </a:p>
          <a:p>
            <a:pPr indent="0" marL="0">
              <a:lnSpc>
                <a:spcPts val="1500"/>
              </a:lnSpc>
              <a:buNone/>
            </a:pPr>
            <a:r>
              <a:rPr lang="en-US" sz="1150" dirty="0">
                <a:solidFill>
                  <a:srgbClr val="1A2430"/>
                </a:solidFill>
                <a:latin typeface="Calibri" pitchFamily="34" charset="0"/>
                <a:ea typeface="Calibri" pitchFamily="34" charset="-122"/>
                <a:cs typeface="Calibri" pitchFamily="34" charset="-120"/>
              </a:rPr>
              <a:t>The selection is the value, not the volume.</a:t>
            </a:r>
            <a:endParaRPr lang="en-US" sz="1150" dirty="0"/>
          </a:p>
        </p:txBody>
      </p:sp>
      <p:sp>
        <p:nvSpPr>
          <p:cNvPr id="11" name="Shape 9"/>
          <p:cNvSpPr/>
          <p:nvPr/>
        </p:nvSpPr>
        <p:spPr>
          <a:xfrm>
            <a:off x="640080" y="3794760"/>
            <a:ext cx="10881360" cy="1554480"/>
          </a:xfrm>
          <a:prstGeom prst="roundRect">
            <a:avLst>
              <a:gd name="adj" fmla="val 3529"/>
            </a:avLst>
          </a:prstGeom>
          <a:solidFill>
            <a:srgbClr val="E4EEF4"/>
          </a:solidFill>
          <a:ln w="12700">
            <a:solidFill>
              <a:srgbClr val="C9DCE7"/>
            </a:solidFill>
            <a:prstDash val="solid"/>
          </a:ln>
        </p:spPr>
      </p:sp>
      <p:sp>
        <p:nvSpPr>
          <p:cNvPr id="12" name="Text 10"/>
          <p:cNvSpPr/>
          <p:nvPr/>
        </p:nvSpPr>
        <p:spPr>
          <a:xfrm>
            <a:off x="914400" y="3959352"/>
            <a:ext cx="10332720" cy="320040"/>
          </a:xfrm>
          <a:prstGeom prst="rect">
            <a:avLst/>
          </a:prstGeom>
          <a:noFill/>
          <a:ln/>
        </p:spPr>
        <p:txBody>
          <a:bodyPr wrap="square" lIns="0" tIns="0" rIns="0" bIns="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Why it fits industrial problems particularly well</a:t>
            </a:r>
            <a:endParaRPr lang="en-US" sz="1350" dirty="0"/>
          </a:p>
        </p:txBody>
      </p:sp>
      <p:sp>
        <p:nvSpPr>
          <p:cNvPr id="13" name="Text 11"/>
          <p:cNvSpPr/>
          <p:nvPr/>
        </p:nvSpPr>
        <p:spPr>
          <a:xfrm>
            <a:off x="914400" y="4297680"/>
            <a:ext cx="10332720" cy="91440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Labelling industrial defects requires an expert whose time is scarce and expensive, and production generates far more images than anyone can label. Those two facts together are exactly the conditions active learning is designed for — you cannot label everything, so which examples you choose matters more than how many. It also connects directly to Day 1's epistemic uncertainty: you are targeting the uncertainty that more data can actually reduce.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4 · 4.2</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Sampling strategies for the next training batch</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32</a:t>
            </a:r>
            <a:endParaRPr lang="en-US" sz="1000" dirty="0"/>
          </a:p>
        </p:txBody>
      </p:sp>
      <p:sp>
        <p:nvSpPr>
          <p:cNvPr id="5" name="Shape 3"/>
          <p:cNvSpPr/>
          <p:nvPr/>
        </p:nvSpPr>
        <p:spPr>
          <a:xfrm>
            <a:off x="640080" y="1234440"/>
            <a:ext cx="2377440" cy="384048"/>
          </a:xfrm>
          <a:prstGeom prst="rect">
            <a:avLst/>
          </a:prstGeom>
          <a:solidFill>
            <a:srgbClr val="21295C"/>
          </a:solidFill>
          <a:ln/>
        </p:spPr>
      </p:sp>
      <p:sp>
        <p:nvSpPr>
          <p:cNvPr id="6" name="Text 4"/>
          <p:cNvSpPr/>
          <p:nvPr/>
        </p:nvSpPr>
        <p:spPr>
          <a:xfrm>
            <a:off x="749808" y="1234440"/>
            <a:ext cx="21579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p>
        </p:txBody>
      </p:sp>
      <p:sp>
        <p:nvSpPr>
          <p:cNvPr id="7" name="Shape 5"/>
          <p:cNvSpPr/>
          <p:nvPr/>
        </p:nvSpPr>
        <p:spPr>
          <a:xfrm>
            <a:off x="3017520" y="1234440"/>
            <a:ext cx="3108960" cy="384048"/>
          </a:xfrm>
          <a:prstGeom prst="rect">
            <a:avLst/>
          </a:prstGeom>
          <a:solidFill>
            <a:srgbClr val="21295C"/>
          </a:solidFill>
          <a:ln/>
        </p:spPr>
      </p:sp>
      <p:sp>
        <p:nvSpPr>
          <p:cNvPr id="8" name="Text 6"/>
          <p:cNvSpPr/>
          <p:nvPr/>
        </p:nvSpPr>
        <p:spPr>
          <a:xfrm>
            <a:off x="3127248" y="1234440"/>
            <a:ext cx="288950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Selects</a:t>
            </a:r>
            <a:endParaRPr lang="en-US" sz="1100" dirty="0"/>
          </a:p>
        </p:txBody>
      </p:sp>
      <p:sp>
        <p:nvSpPr>
          <p:cNvPr id="9" name="Shape 7"/>
          <p:cNvSpPr/>
          <p:nvPr/>
        </p:nvSpPr>
        <p:spPr>
          <a:xfrm>
            <a:off x="6126480" y="1234440"/>
            <a:ext cx="2926080" cy="384048"/>
          </a:xfrm>
          <a:prstGeom prst="rect">
            <a:avLst/>
          </a:prstGeom>
          <a:solidFill>
            <a:srgbClr val="21295C"/>
          </a:solidFill>
          <a:ln/>
        </p:spPr>
      </p:sp>
      <p:sp>
        <p:nvSpPr>
          <p:cNvPr id="10" name="Text 8"/>
          <p:cNvSpPr/>
          <p:nvPr/>
        </p:nvSpPr>
        <p:spPr>
          <a:xfrm>
            <a:off x="6236208" y="1234440"/>
            <a:ext cx="27066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Strength</a:t>
            </a:r>
            <a:endParaRPr lang="en-US" sz="1100" dirty="0"/>
          </a:p>
        </p:txBody>
      </p:sp>
      <p:sp>
        <p:nvSpPr>
          <p:cNvPr id="11" name="Shape 9"/>
          <p:cNvSpPr/>
          <p:nvPr/>
        </p:nvSpPr>
        <p:spPr>
          <a:xfrm>
            <a:off x="9052560" y="1234440"/>
            <a:ext cx="2468880" cy="384048"/>
          </a:xfrm>
          <a:prstGeom prst="rect">
            <a:avLst/>
          </a:prstGeom>
          <a:solidFill>
            <a:srgbClr val="21295C"/>
          </a:solidFill>
          <a:ln/>
        </p:spPr>
      </p:sp>
      <p:sp>
        <p:nvSpPr>
          <p:cNvPr id="12" name="Text 10"/>
          <p:cNvSpPr/>
          <p:nvPr/>
        </p:nvSpPr>
        <p:spPr>
          <a:xfrm>
            <a:off x="9162288" y="1234440"/>
            <a:ext cx="224942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Weakness</a:t>
            </a:r>
            <a:endParaRPr lang="en-US" sz="1100" dirty="0"/>
          </a:p>
        </p:txBody>
      </p:sp>
      <p:sp>
        <p:nvSpPr>
          <p:cNvPr id="13" name="Shape 11"/>
          <p:cNvSpPr/>
          <p:nvPr/>
        </p:nvSpPr>
        <p:spPr>
          <a:xfrm>
            <a:off x="640080" y="1618488"/>
            <a:ext cx="2377440" cy="566928"/>
          </a:xfrm>
          <a:prstGeom prst="rect">
            <a:avLst/>
          </a:prstGeom>
          <a:solidFill>
            <a:srgbClr val="FFFFFF"/>
          </a:solidFill>
          <a:ln w="9525">
            <a:solidFill>
              <a:srgbClr val="E3EBF0"/>
            </a:solidFill>
            <a:prstDash val="solid"/>
          </a:ln>
        </p:spPr>
      </p:sp>
      <p:sp>
        <p:nvSpPr>
          <p:cNvPr id="14" name="Text 12"/>
          <p:cNvSpPr/>
          <p:nvPr/>
        </p:nvSpPr>
        <p:spPr>
          <a:xfrm>
            <a:off x="749808" y="1618488"/>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Uncertainty sampling</a:t>
            </a:r>
            <a:endParaRPr lang="en-US" sz="1050" dirty="0"/>
          </a:p>
        </p:txBody>
      </p:sp>
      <p:sp>
        <p:nvSpPr>
          <p:cNvPr id="15" name="Shape 13"/>
          <p:cNvSpPr/>
          <p:nvPr/>
        </p:nvSpPr>
        <p:spPr>
          <a:xfrm>
            <a:off x="3017520" y="1618488"/>
            <a:ext cx="3108960" cy="566928"/>
          </a:xfrm>
          <a:prstGeom prst="rect">
            <a:avLst/>
          </a:prstGeom>
          <a:solidFill>
            <a:srgbClr val="FFFFFF"/>
          </a:solidFill>
          <a:ln w="9525">
            <a:solidFill>
              <a:srgbClr val="E3EBF0"/>
            </a:solidFill>
            <a:prstDash val="solid"/>
          </a:ln>
        </p:spPr>
      </p:sp>
      <p:sp>
        <p:nvSpPr>
          <p:cNvPr id="16" name="Text 14"/>
          <p:cNvSpPr/>
          <p:nvPr/>
        </p:nvSpPr>
        <p:spPr>
          <a:xfrm>
            <a:off x="3127248" y="1618488"/>
            <a:ext cx="2889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Predictions near the decision boundary</a:t>
            </a:r>
            <a:endParaRPr lang="en-US" sz="1050" dirty="0"/>
          </a:p>
        </p:txBody>
      </p:sp>
      <p:sp>
        <p:nvSpPr>
          <p:cNvPr id="17" name="Shape 15"/>
          <p:cNvSpPr/>
          <p:nvPr/>
        </p:nvSpPr>
        <p:spPr>
          <a:xfrm>
            <a:off x="6126480" y="1618488"/>
            <a:ext cx="2926080" cy="566928"/>
          </a:xfrm>
          <a:prstGeom prst="rect">
            <a:avLst/>
          </a:prstGeom>
          <a:solidFill>
            <a:srgbClr val="FFFFFF"/>
          </a:solidFill>
          <a:ln w="9525">
            <a:solidFill>
              <a:srgbClr val="E3EBF0"/>
            </a:solidFill>
            <a:prstDash val="solid"/>
          </a:ln>
        </p:spPr>
      </p:sp>
      <p:sp>
        <p:nvSpPr>
          <p:cNvPr id="18" name="Text 16"/>
          <p:cNvSpPr/>
          <p:nvPr/>
        </p:nvSpPr>
        <p:spPr>
          <a:xfrm>
            <a:off x="6236208" y="1618488"/>
            <a:ext cx="27066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Simple, effective, cheap to implement</a:t>
            </a:r>
            <a:endParaRPr lang="en-US" sz="1050" dirty="0"/>
          </a:p>
        </p:txBody>
      </p:sp>
      <p:sp>
        <p:nvSpPr>
          <p:cNvPr id="19" name="Shape 17"/>
          <p:cNvSpPr/>
          <p:nvPr/>
        </p:nvSpPr>
        <p:spPr>
          <a:xfrm>
            <a:off x="9052560" y="1618488"/>
            <a:ext cx="2468880" cy="566928"/>
          </a:xfrm>
          <a:prstGeom prst="rect">
            <a:avLst/>
          </a:prstGeom>
          <a:solidFill>
            <a:srgbClr val="FFFFFF"/>
          </a:solidFill>
          <a:ln w="9525">
            <a:solidFill>
              <a:srgbClr val="E3EBF0"/>
            </a:solidFill>
            <a:prstDash val="solid"/>
          </a:ln>
        </p:spPr>
      </p:sp>
      <p:sp>
        <p:nvSpPr>
          <p:cNvPr id="20" name="Text 18"/>
          <p:cNvSpPr/>
          <p:nvPr/>
        </p:nvSpPr>
        <p:spPr>
          <a:xfrm>
            <a:off x="9162288" y="1618488"/>
            <a:ext cx="2249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Depends on calibrated confidence — check first</a:t>
            </a:r>
            <a:endParaRPr lang="en-US" sz="1050" dirty="0"/>
          </a:p>
        </p:txBody>
      </p:sp>
      <p:sp>
        <p:nvSpPr>
          <p:cNvPr id="21" name="Shape 19"/>
          <p:cNvSpPr/>
          <p:nvPr/>
        </p:nvSpPr>
        <p:spPr>
          <a:xfrm>
            <a:off x="640080" y="2185416"/>
            <a:ext cx="2377440" cy="566928"/>
          </a:xfrm>
          <a:prstGeom prst="rect">
            <a:avLst/>
          </a:prstGeom>
          <a:solidFill>
            <a:srgbClr val="F5F9FB"/>
          </a:solidFill>
          <a:ln w="9525">
            <a:solidFill>
              <a:srgbClr val="E3EBF0"/>
            </a:solidFill>
            <a:prstDash val="solid"/>
          </a:ln>
        </p:spPr>
      </p:sp>
      <p:sp>
        <p:nvSpPr>
          <p:cNvPr id="22" name="Text 20"/>
          <p:cNvSpPr/>
          <p:nvPr/>
        </p:nvSpPr>
        <p:spPr>
          <a:xfrm>
            <a:off x="749808" y="2185416"/>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Error-based sampling</a:t>
            </a:r>
            <a:endParaRPr lang="en-US" sz="1050" dirty="0"/>
          </a:p>
        </p:txBody>
      </p:sp>
      <p:sp>
        <p:nvSpPr>
          <p:cNvPr id="23" name="Shape 21"/>
          <p:cNvSpPr/>
          <p:nvPr/>
        </p:nvSpPr>
        <p:spPr>
          <a:xfrm>
            <a:off x="3017520" y="2185416"/>
            <a:ext cx="3108960" cy="566928"/>
          </a:xfrm>
          <a:prstGeom prst="rect">
            <a:avLst/>
          </a:prstGeom>
          <a:solidFill>
            <a:srgbClr val="F5F9FB"/>
          </a:solidFill>
          <a:ln w="9525">
            <a:solidFill>
              <a:srgbClr val="E3EBF0"/>
            </a:solidFill>
            <a:prstDash val="solid"/>
          </a:ln>
        </p:spPr>
      </p:sp>
      <p:sp>
        <p:nvSpPr>
          <p:cNvPr id="24" name="Text 22"/>
          <p:cNvSpPr/>
          <p:nvPr/>
        </p:nvSpPr>
        <p:spPr>
          <a:xfrm>
            <a:off x="3127248" y="2185416"/>
            <a:ext cx="2889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Cases where review overturned the model</a:t>
            </a:r>
            <a:endParaRPr lang="en-US" sz="1050" dirty="0"/>
          </a:p>
        </p:txBody>
      </p:sp>
      <p:sp>
        <p:nvSpPr>
          <p:cNvPr id="25" name="Shape 23"/>
          <p:cNvSpPr/>
          <p:nvPr/>
        </p:nvSpPr>
        <p:spPr>
          <a:xfrm>
            <a:off x="6126480" y="2185416"/>
            <a:ext cx="2926080" cy="566928"/>
          </a:xfrm>
          <a:prstGeom prst="rect">
            <a:avLst/>
          </a:prstGeom>
          <a:solidFill>
            <a:srgbClr val="F5F9FB"/>
          </a:solidFill>
          <a:ln w="9525">
            <a:solidFill>
              <a:srgbClr val="E3EBF0"/>
            </a:solidFill>
            <a:prstDash val="solid"/>
          </a:ln>
        </p:spPr>
      </p:sp>
      <p:sp>
        <p:nvSpPr>
          <p:cNvPr id="26" name="Text 24"/>
          <p:cNvSpPr/>
          <p:nvPr/>
        </p:nvSpPr>
        <p:spPr>
          <a:xfrm>
            <a:off x="6236208" y="2185416"/>
            <a:ext cx="27066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The highest-information examples available</a:t>
            </a:r>
            <a:endParaRPr lang="en-US" sz="1050" dirty="0"/>
          </a:p>
        </p:txBody>
      </p:sp>
      <p:sp>
        <p:nvSpPr>
          <p:cNvPr id="27" name="Shape 25"/>
          <p:cNvSpPr/>
          <p:nvPr/>
        </p:nvSpPr>
        <p:spPr>
          <a:xfrm>
            <a:off x="9052560" y="2185416"/>
            <a:ext cx="2468880" cy="566928"/>
          </a:xfrm>
          <a:prstGeom prst="rect">
            <a:avLst/>
          </a:prstGeom>
          <a:solidFill>
            <a:srgbClr val="F5F9FB"/>
          </a:solidFill>
          <a:ln w="9525">
            <a:solidFill>
              <a:srgbClr val="E3EBF0"/>
            </a:solidFill>
            <a:prstDash val="solid"/>
          </a:ln>
        </p:spPr>
      </p:sp>
      <p:sp>
        <p:nvSpPr>
          <p:cNvPr id="28" name="Text 26"/>
          <p:cNvSpPr/>
          <p:nvPr/>
        </p:nvSpPr>
        <p:spPr>
          <a:xfrm>
            <a:off x="9162288" y="2185416"/>
            <a:ext cx="2249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Only exists where a review loop is running</a:t>
            </a:r>
            <a:endParaRPr lang="en-US" sz="1050" dirty="0"/>
          </a:p>
        </p:txBody>
      </p:sp>
      <p:sp>
        <p:nvSpPr>
          <p:cNvPr id="29" name="Shape 27"/>
          <p:cNvSpPr/>
          <p:nvPr/>
        </p:nvSpPr>
        <p:spPr>
          <a:xfrm>
            <a:off x="640080" y="2752344"/>
            <a:ext cx="2377440" cy="566928"/>
          </a:xfrm>
          <a:prstGeom prst="rect">
            <a:avLst/>
          </a:prstGeom>
          <a:solidFill>
            <a:srgbClr val="FFFFFF"/>
          </a:solidFill>
          <a:ln w="9525">
            <a:solidFill>
              <a:srgbClr val="E3EBF0"/>
            </a:solidFill>
            <a:prstDash val="solid"/>
          </a:ln>
        </p:spPr>
      </p:sp>
      <p:sp>
        <p:nvSpPr>
          <p:cNvPr id="30" name="Text 28"/>
          <p:cNvSpPr/>
          <p:nvPr/>
        </p:nvSpPr>
        <p:spPr>
          <a:xfrm>
            <a:off x="749808" y="2752344"/>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Edge-case mining</a:t>
            </a:r>
            <a:endParaRPr lang="en-US" sz="1050" dirty="0"/>
          </a:p>
        </p:txBody>
      </p:sp>
      <p:sp>
        <p:nvSpPr>
          <p:cNvPr id="31" name="Shape 29"/>
          <p:cNvSpPr/>
          <p:nvPr/>
        </p:nvSpPr>
        <p:spPr>
          <a:xfrm>
            <a:off x="3017520" y="2752344"/>
            <a:ext cx="3108960" cy="566928"/>
          </a:xfrm>
          <a:prstGeom prst="rect">
            <a:avLst/>
          </a:prstGeom>
          <a:solidFill>
            <a:srgbClr val="FFFFFF"/>
          </a:solidFill>
          <a:ln w="9525">
            <a:solidFill>
              <a:srgbClr val="E3EBF0"/>
            </a:solidFill>
            <a:prstDash val="solid"/>
          </a:ln>
        </p:spPr>
      </p:sp>
      <p:sp>
        <p:nvSpPr>
          <p:cNvPr id="32" name="Text 30"/>
          <p:cNvSpPr/>
          <p:nvPr/>
        </p:nvSpPr>
        <p:spPr>
          <a:xfrm>
            <a:off x="3127248" y="2752344"/>
            <a:ext cx="2889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Inputs unlike anything in the training set</a:t>
            </a:r>
            <a:endParaRPr lang="en-US" sz="1050" dirty="0"/>
          </a:p>
        </p:txBody>
      </p:sp>
      <p:sp>
        <p:nvSpPr>
          <p:cNvPr id="33" name="Shape 31"/>
          <p:cNvSpPr/>
          <p:nvPr/>
        </p:nvSpPr>
        <p:spPr>
          <a:xfrm>
            <a:off x="6126480" y="2752344"/>
            <a:ext cx="2926080" cy="566928"/>
          </a:xfrm>
          <a:prstGeom prst="rect">
            <a:avLst/>
          </a:prstGeom>
          <a:solidFill>
            <a:srgbClr val="FFFFFF"/>
          </a:solidFill>
          <a:ln w="9525">
            <a:solidFill>
              <a:srgbClr val="E3EBF0"/>
            </a:solidFill>
            <a:prstDash val="solid"/>
          </a:ln>
        </p:spPr>
      </p:sp>
      <p:sp>
        <p:nvSpPr>
          <p:cNvPr id="34" name="Text 32"/>
          <p:cNvSpPr/>
          <p:nvPr/>
        </p:nvSpPr>
        <p:spPr>
          <a:xfrm>
            <a:off x="6236208" y="2752344"/>
            <a:ext cx="27066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Finds genuine coverage gaps</a:t>
            </a:r>
            <a:endParaRPr lang="en-US" sz="1050" dirty="0"/>
          </a:p>
        </p:txBody>
      </p:sp>
      <p:sp>
        <p:nvSpPr>
          <p:cNvPr id="35" name="Shape 33"/>
          <p:cNvSpPr/>
          <p:nvPr/>
        </p:nvSpPr>
        <p:spPr>
          <a:xfrm>
            <a:off x="9052560" y="2752344"/>
            <a:ext cx="2468880" cy="566928"/>
          </a:xfrm>
          <a:prstGeom prst="rect">
            <a:avLst/>
          </a:prstGeom>
          <a:solidFill>
            <a:srgbClr val="FFFFFF"/>
          </a:solidFill>
          <a:ln w="9525">
            <a:solidFill>
              <a:srgbClr val="E3EBF0"/>
            </a:solidFill>
            <a:prstDash val="solid"/>
          </a:ln>
        </p:spPr>
      </p:sp>
      <p:sp>
        <p:nvSpPr>
          <p:cNvPr id="36" name="Text 34"/>
          <p:cNvSpPr/>
          <p:nvPr/>
        </p:nvSpPr>
        <p:spPr>
          <a:xfrm>
            <a:off x="9162288" y="2752344"/>
            <a:ext cx="2249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Can surface irrelevant outliers</a:t>
            </a:r>
            <a:endParaRPr lang="en-US" sz="1050" dirty="0"/>
          </a:p>
        </p:txBody>
      </p:sp>
      <p:sp>
        <p:nvSpPr>
          <p:cNvPr id="37" name="Shape 35"/>
          <p:cNvSpPr/>
          <p:nvPr/>
        </p:nvSpPr>
        <p:spPr>
          <a:xfrm>
            <a:off x="640080" y="3319272"/>
            <a:ext cx="2377440" cy="566928"/>
          </a:xfrm>
          <a:prstGeom prst="rect">
            <a:avLst/>
          </a:prstGeom>
          <a:solidFill>
            <a:srgbClr val="F5F9FB"/>
          </a:solidFill>
          <a:ln w="9525">
            <a:solidFill>
              <a:srgbClr val="E3EBF0"/>
            </a:solidFill>
            <a:prstDash val="solid"/>
          </a:ln>
        </p:spPr>
      </p:sp>
      <p:sp>
        <p:nvSpPr>
          <p:cNvPr id="38" name="Text 36"/>
          <p:cNvSpPr/>
          <p:nvPr/>
        </p:nvSpPr>
        <p:spPr>
          <a:xfrm>
            <a:off x="749808" y="3319272"/>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Diversity sampling</a:t>
            </a:r>
            <a:endParaRPr lang="en-US" sz="1050" dirty="0"/>
          </a:p>
        </p:txBody>
      </p:sp>
      <p:sp>
        <p:nvSpPr>
          <p:cNvPr id="39" name="Shape 37"/>
          <p:cNvSpPr/>
          <p:nvPr/>
        </p:nvSpPr>
        <p:spPr>
          <a:xfrm>
            <a:off x="3017520" y="3319272"/>
            <a:ext cx="3108960" cy="566928"/>
          </a:xfrm>
          <a:prstGeom prst="rect">
            <a:avLst/>
          </a:prstGeom>
          <a:solidFill>
            <a:srgbClr val="F5F9FB"/>
          </a:solidFill>
          <a:ln w="9525">
            <a:solidFill>
              <a:srgbClr val="E3EBF0"/>
            </a:solidFill>
            <a:prstDash val="solid"/>
          </a:ln>
        </p:spPr>
      </p:sp>
      <p:sp>
        <p:nvSpPr>
          <p:cNvPr id="40" name="Text 38"/>
          <p:cNvSpPr/>
          <p:nvPr/>
        </p:nvSpPr>
        <p:spPr>
          <a:xfrm>
            <a:off x="3127248" y="3319272"/>
            <a:ext cx="2889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Spread across feature space rather than clustered</a:t>
            </a:r>
            <a:endParaRPr lang="en-US" sz="1050" dirty="0"/>
          </a:p>
        </p:txBody>
      </p:sp>
      <p:sp>
        <p:nvSpPr>
          <p:cNvPr id="41" name="Shape 39"/>
          <p:cNvSpPr/>
          <p:nvPr/>
        </p:nvSpPr>
        <p:spPr>
          <a:xfrm>
            <a:off x="6126480" y="3319272"/>
            <a:ext cx="2926080" cy="566928"/>
          </a:xfrm>
          <a:prstGeom prst="rect">
            <a:avLst/>
          </a:prstGeom>
          <a:solidFill>
            <a:srgbClr val="F5F9FB"/>
          </a:solidFill>
          <a:ln w="9525">
            <a:solidFill>
              <a:srgbClr val="E3EBF0"/>
            </a:solidFill>
            <a:prstDash val="solid"/>
          </a:ln>
        </p:spPr>
      </p:sp>
      <p:sp>
        <p:nvSpPr>
          <p:cNvPr id="42" name="Text 40"/>
          <p:cNvSpPr/>
          <p:nvPr/>
        </p:nvSpPr>
        <p:spPr>
          <a:xfrm>
            <a:off x="6236208" y="3319272"/>
            <a:ext cx="27066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Avoids labelling 200 near-identical images</a:t>
            </a:r>
            <a:endParaRPr lang="en-US" sz="1050" dirty="0"/>
          </a:p>
        </p:txBody>
      </p:sp>
      <p:sp>
        <p:nvSpPr>
          <p:cNvPr id="43" name="Shape 41"/>
          <p:cNvSpPr/>
          <p:nvPr/>
        </p:nvSpPr>
        <p:spPr>
          <a:xfrm>
            <a:off x="9052560" y="3319272"/>
            <a:ext cx="2468880" cy="566928"/>
          </a:xfrm>
          <a:prstGeom prst="rect">
            <a:avLst/>
          </a:prstGeom>
          <a:solidFill>
            <a:srgbClr val="F5F9FB"/>
          </a:solidFill>
          <a:ln w="9525">
            <a:solidFill>
              <a:srgbClr val="E3EBF0"/>
            </a:solidFill>
            <a:prstDash val="solid"/>
          </a:ln>
        </p:spPr>
      </p:sp>
      <p:sp>
        <p:nvSpPr>
          <p:cNvPr id="44" name="Text 42"/>
          <p:cNvSpPr/>
          <p:nvPr/>
        </p:nvSpPr>
        <p:spPr>
          <a:xfrm>
            <a:off x="9162288" y="3319272"/>
            <a:ext cx="2249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More complex to implement</a:t>
            </a:r>
            <a:endParaRPr lang="en-US" sz="1050" dirty="0"/>
          </a:p>
        </p:txBody>
      </p:sp>
      <p:sp>
        <p:nvSpPr>
          <p:cNvPr id="45" name="Shape 43"/>
          <p:cNvSpPr/>
          <p:nvPr/>
        </p:nvSpPr>
        <p:spPr>
          <a:xfrm>
            <a:off x="640080" y="3886200"/>
            <a:ext cx="2377440" cy="566928"/>
          </a:xfrm>
          <a:prstGeom prst="rect">
            <a:avLst/>
          </a:prstGeom>
          <a:solidFill>
            <a:srgbClr val="FFFFFF"/>
          </a:solidFill>
          <a:ln w="9525">
            <a:solidFill>
              <a:srgbClr val="E3EBF0"/>
            </a:solidFill>
            <a:prstDash val="solid"/>
          </a:ln>
        </p:spPr>
      </p:sp>
      <p:sp>
        <p:nvSpPr>
          <p:cNvPr id="46" name="Text 44"/>
          <p:cNvSpPr/>
          <p:nvPr/>
        </p:nvSpPr>
        <p:spPr>
          <a:xfrm>
            <a:off x="749808" y="3886200"/>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Disagreement sampling</a:t>
            </a:r>
            <a:endParaRPr lang="en-US" sz="1050" dirty="0"/>
          </a:p>
        </p:txBody>
      </p:sp>
      <p:sp>
        <p:nvSpPr>
          <p:cNvPr id="47" name="Shape 45"/>
          <p:cNvSpPr/>
          <p:nvPr/>
        </p:nvSpPr>
        <p:spPr>
          <a:xfrm>
            <a:off x="3017520" y="3886200"/>
            <a:ext cx="3108960" cy="566928"/>
          </a:xfrm>
          <a:prstGeom prst="rect">
            <a:avLst/>
          </a:prstGeom>
          <a:solidFill>
            <a:srgbClr val="FFFFFF"/>
          </a:solidFill>
          <a:ln w="9525">
            <a:solidFill>
              <a:srgbClr val="E3EBF0"/>
            </a:solidFill>
            <a:prstDash val="solid"/>
          </a:ln>
        </p:spPr>
      </p:sp>
      <p:sp>
        <p:nvSpPr>
          <p:cNvPr id="48" name="Text 46"/>
          <p:cNvSpPr/>
          <p:nvPr/>
        </p:nvSpPr>
        <p:spPr>
          <a:xfrm>
            <a:off x="3127248" y="3886200"/>
            <a:ext cx="2889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Cases where ensemble members disagree</a:t>
            </a:r>
            <a:endParaRPr lang="en-US" sz="1050" dirty="0"/>
          </a:p>
        </p:txBody>
      </p:sp>
      <p:sp>
        <p:nvSpPr>
          <p:cNvPr id="49" name="Shape 47"/>
          <p:cNvSpPr/>
          <p:nvPr/>
        </p:nvSpPr>
        <p:spPr>
          <a:xfrm>
            <a:off x="6126480" y="3886200"/>
            <a:ext cx="2926080" cy="566928"/>
          </a:xfrm>
          <a:prstGeom prst="rect">
            <a:avLst/>
          </a:prstGeom>
          <a:solidFill>
            <a:srgbClr val="FFFFFF"/>
          </a:solidFill>
          <a:ln w="9525">
            <a:solidFill>
              <a:srgbClr val="E3EBF0"/>
            </a:solidFill>
            <a:prstDash val="solid"/>
          </a:ln>
        </p:spPr>
      </p:sp>
      <p:sp>
        <p:nvSpPr>
          <p:cNvPr id="50" name="Text 48"/>
          <p:cNvSpPr/>
          <p:nvPr/>
        </p:nvSpPr>
        <p:spPr>
          <a:xfrm>
            <a:off x="6236208" y="3886200"/>
            <a:ext cx="27066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Directly targets epistemic uncertainty</a:t>
            </a:r>
            <a:endParaRPr lang="en-US" sz="1050" dirty="0"/>
          </a:p>
        </p:txBody>
      </p:sp>
      <p:sp>
        <p:nvSpPr>
          <p:cNvPr id="51" name="Shape 49"/>
          <p:cNvSpPr/>
          <p:nvPr/>
        </p:nvSpPr>
        <p:spPr>
          <a:xfrm>
            <a:off x="9052560" y="3886200"/>
            <a:ext cx="2468880" cy="566928"/>
          </a:xfrm>
          <a:prstGeom prst="rect">
            <a:avLst/>
          </a:prstGeom>
          <a:solidFill>
            <a:srgbClr val="FFFFFF"/>
          </a:solidFill>
          <a:ln w="9525">
            <a:solidFill>
              <a:srgbClr val="E3EBF0"/>
            </a:solidFill>
            <a:prstDash val="solid"/>
          </a:ln>
        </p:spPr>
      </p:sp>
      <p:sp>
        <p:nvSpPr>
          <p:cNvPr id="52" name="Text 50"/>
          <p:cNvSpPr/>
          <p:nvPr/>
        </p:nvSpPr>
        <p:spPr>
          <a:xfrm>
            <a:off x="9162288" y="3886200"/>
            <a:ext cx="2249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Requires running an ensemble</a:t>
            </a:r>
            <a:endParaRPr lang="en-US" sz="1050" dirty="0"/>
          </a:p>
        </p:txBody>
      </p:sp>
      <p:sp>
        <p:nvSpPr>
          <p:cNvPr id="53" name="Shape 51"/>
          <p:cNvSpPr/>
          <p:nvPr/>
        </p:nvSpPr>
        <p:spPr>
          <a:xfrm>
            <a:off x="640080" y="4453128"/>
            <a:ext cx="2377440" cy="566928"/>
          </a:xfrm>
          <a:prstGeom prst="rect">
            <a:avLst/>
          </a:prstGeom>
          <a:solidFill>
            <a:srgbClr val="F5F9FB"/>
          </a:solidFill>
          <a:ln w="9525">
            <a:solidFill>
              <a:srgbClr val="E3EBF0"/>
            </a:solidFill>
            <a:prstDash val="solid"/>
          </a:ln>
        </p:spPr>
      </p:sp>
      <p:sp>
        <p:nvSpPr>
          <p:cNvPr id="54" name="Text 52"/>
          <p:cNvSpPr/>
          <p:nvPr/>
        </p:nvSpPr>
        <p:spPr>
          <a:xfrm>
            <a:off x="749808" y="4453128"/>
            <a:ext cx="2157984" cy="566928"/>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Class-targeted</a:t>
            </a:r>
            <a:endParaRPr lang="en-US" sz="1050" dirty="0"/>
          </a:p>
        </p:txBody>
      </p:sp>
      <p:sp>
        <p:nvSpPr>
          <p:cNvPr id="55" name="Shape 53"/>
          <p:cNvSpPr/>
          <p:nvPr/>
        </p:nvSpPr>
        <p:spPr>
          <a:xfrm>
            <a:off x="3017520" y="4453128"/>
            <a:ext cx="3108960" cy="566928"/>
          </a:xfrm>
          <a:prstGeom prst="rect">
            <a:avLst/>
          </a:prstGeom>
          <a:solidFill>
            <a:srgbClr val="F5F9FB"/>
          </a:solidFill>
          <a:ln w="9525">
            <a:solidFill>
              <a:srgbClr val="E3EBF0"/>
            </a:solidFill>
            <a:prstDash val="solid"/>
          </a:ln>
        </p:spPr>
      </p:sp>
      <p:sp>
        <p:nvSpPr>
          <p:cNvPr id="56" name="Text 54"/>
          <p:cNvSpPr/>
          <p:nvPr/>
        </p:nvSpPr>
        <p:spPr>
          <a:xfrm>
            <a:off x="3127248" y="4453128"/>
            <a:ext cx="288950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Deliberately seeks under-represented classes</a:t>
            </a:r>
            <a:endParaRPr lang="en-US" sz="1050" dirty="0"/>
          </a:p>
        </p:txBody>
      </p:sp>
      <p:sp>
        <p:nvSpPr>
          <p:cNvPr id="57" name="Shape 55"/>
          <p:cNvSpPr/>
          <p:nvPr/>
        </p:nvSpPr>
        <p:spPr>
          <a:xfrm>
            <a:off x="6126480" y="4453128"/>
            <a:ext cx="2926080" cy="566928"/>
          </a:xfrm>
          <a:prstGeom prst="rect">
            <a:avLst/>
          </a:prstGeom>
          <a:solidFill>
            <a:srgbClr val="F5F9FB"/>
          </a:solidFill>
          <a:ln w="9525">
            <a:solidFill>
              <a:srgbClr val="E3EBF0"/>
            </a:solidFill>
            <a:prstDash val="solid"/>
          </a:ln>
        </p:spPr>
      </p:sp>
      <p:sp>
        <p:nvSpPr>
          <p:cNvPr id="58" name="Text 56"/>
          <p:cNvSpPr/>
          <p:nvPr/>
        </p:nvSpPr>
        <p:spPr>
          <a:xfrm>
            <a:off x="6236208" y="4453128"/>
            <a:ext cx="27066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Fixes known imbalance directly</a:t>
            </a:r>
            <a:endParaRPr lang="en-US" sz="1050" dirty="0"/>
          </a:p>
        </p:txBody>
      </p:sp>
      <p:sp>
        <p:nvSpPr>
          <p:cNvPr id="59" name="Shape 57"/>
          <p:cNvSpPr/>
          <p:nvPr/>
        </p:nvSpPr>
        <p:spPr>
          <a:xfrm>
            <a:off x="9052560" y="4453128"/>
            <a:ext cx="2468880" cy="566928"/>
          </a:xfrm>
          <a:prstGeom prst="rect">
            <a:avLst/>
          </a:prstGeom>
          <a:solidFill>
            <a:srgbClr val="F5F9FB"/>
          </a:solidFill>
          <a:ln w="9525">
            <a:solidFill>
              <a:srgbClr val="E3EBF0"/>
            </a:solidFill>
            <a:prstDash val="solid"/>
          </a:ln>
        </p:spPr>
      </p:sp>
      <p:sp>
        <p:nvSpPr>
          <p:cNvPr id="60" name="Text 58"/>
          <p:cNvSpPr/>
          <p:nvPr/>
        </p:nvSpPr>
        <p:spPr>
          <a:xfrm>
            <a:off x="9162288" y="4453128"/>
            <a:ext cx="2249424" cy="566928"/>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Needs a known target distribution</a:t>
            </a:r>
            <a:endParaRPr lang="en-US" sz="1050" dirty="0"/>
          </a:p>
        </p:txBody>
      </p:sp>
      <p:sp>
        <p:nvSpPr>
          <p:cNvPr id="61" name="Shape 59"/>
          <p:cNvSpPr/>
          <p:nvPr/>
        </p:nvSpPr>
        <p:spPr>
          <a:xfrm>
            <a:off x="640080" y="5074920"/>
            <a:ext cx="10881360" cy="914400"/>
          </a:xfrm>
          <a:prstGeom prst="roundRect">
            <a:avLst>
              <a:gd name="adj" fmla="val 6000"/>
            </a:avLst>
          </a:prstGeom>
          <a:solidFill>
            <a:srgbClr val="FBEEE8"/>
          </a:solidFill>
          <a:ln w="12700">
            <a:solidFill>
              <a:srgbClr val="EBCFC2"/>
            </a:solidFill>
            <a:prstDash val="solid"/>
          </a:ln>
        </p:spPr>
      </p:sp>
      <p:sp>
        <p:nvSpPr>
          <p:cNvPr id="62" name="Text 60"/>
          <p:cNvSpPr/>
          <p:nvPr/>
        </p:nvSpPr>
        <p:spPr>
          <a:xfrm>
            <a:off x="914400" y="5239512"/>
            <a:ext cx="10332720" cy="612648"/>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Uncertainty sampling depends on calibrated confidence. If the model is over-confident — which, per Day 1, most neural networks are — it will select the wrong examples. Calibrate before relying on it.</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4 · 4.3</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The production learning loop</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33</a:t>
            </a:r>
            <a:endParaRPr lang="en-US" sz="1000" dirty="0"/>
          </a:p>
        </p:txBody>
      </p:sp>
      <p:sp>
        <p:nvSpPr>
          <p:cNvPr id="5" name="Shape 3"/>
          <p:cNvSpPr/>
          <p:nvPr/>
        </p:nvSpPr>
        <p:spPr>
          <a:xfrm>
            <a:off x="640080" y="1828800"/>
            <a:ext cx="1232154" cy="2377440"/>
          </a:xfrm>
          <a:prstGeom prst="roundRect">
            <a:avLst>
              <a:gd name="adj" fmla="val 4453"/>
            </a:avLst>
          </a:prstGeom>
          <a:solidFill>
            <a:srgbClr val="E4EEF4"/>
          </a:solidFill>
          <a:ln w="12700">
            <a:solidFill>
              <a:srgbClr val="D3E1EA"/>
            </a:solidFill>
            <a:prstDash val="solid"/>
          </a:ln>
        </p:spPr>
      </p:sp>
      <p:sp>
        <p:nvSpPr>
          <p:cNvPr id="6" name="Shape 4"/>
          <p:cNvSpPr/>
          <p:nvPr/>
        </p:nvSpPr>
        <p:spPr>
          <a:xfrm>
            <a:off x="1073277" y="2029968"/>
            <a:ext cx="365760" cy="365760"/>
          </a:xfrm>
          <a:prstGeom prst="ellipse">
            <a:avLst/>
          </a:prstGeom>
          <a:solidFill>
            <a:srgbClr val="065A82"/>
          </a:solidFill>
          <a:ln/>
        </p:spPr>
      </p:sp>
      <p:sp>
        <p:nvSpPr>
          <p:cNvPr id="7" name="Text 5"/>
          <p:cNvSpPr/>
          <p:nvPr/>
        </p:nvSpPr>
        <p:spPr>
          <a:xfrm>
            <a:off x="1073277"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731520" y="2542032"/>
            <a:ext cx="1049274"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Predict</a:t>
            </a:r>
            <a:endParaRPr lang="en-US" sz="1150" dirty="0"/>
          </a:p>
        </p:txBody>
      </p:sp>
      <p:sp>
        <p:nvSpPr>
          <p:cNvPr id="9" name="Text 7"/>
          <p:cNvSpPr/>
          <p:nvPr/>
        </p:nvSpPr>
        <p:spPr>
          <a:xfrm>
            <a:off x="731520" y="2889504"/>
            <a:ext cx="1049274" cy="118872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Model scores the input and produces a confidence</a:t>
            </a:r>
            <a:endParaRPr lang="en-US" sz="950" dirty="0"/>
          </a:p>
        </p:txBody>
      </p:sp>
      <p:sp>
        <p:nvSpPr>
          <p:cNvPr id="10" name="Shape 8"/>
          <p:cNvSpPr/>
          <p:nvPr/>
        </p:nvSpPr>
        <p:spPr>
          <a:xfrm>
            <a:off x="2018538" y="1828800"/>
            <a:ext cx="1232154" cy="2377440"/>
          </a:xfrm>
          <a:prstGeom prst="roundRect">
            <a:avLst>
              <a:gd name="adj" fmla="val 4453"/>
            </a:avLst>
          </a:prstGeom>
          <a:solidFill>
            <a:srgbClr val="EEF3F7"/>
          </a:solidFill>
          <a:ln w="12700">
            <a:solidFill>
              <a:srgbClr val="D3E1EA"/>
            </a:solidFill>
            <a:prstDash val="solid"/>
          </a:ln>
        </p:spPr>
      </p:sp>
      <p:sp>
        <p:nvSpPr>
          <p:cNvPr id="11" name="Shape 9"/>
          <p:cNvSpPr/>
          <p:nvPr/>
        </p:nvSpPr>
        <p:spPr>
          <a:xfrm>
            <a:off x="2451735" y="2029968"/>
            <a:ext cx="365760" cy="365760"/>
          </a:xfrm>
          <a:prstGeom prst="ellipse">
            <a:avLst/>
          </a:prstGeom>
          <a:solidFill>
            <a:srgbClr val="065A82"/>
          </a:solidFill>
          <a:ln/>
        </p:spPr>
      </p:sp>
      <p:sp>
        <p:nvSpPr>
          <p:cNvPr id="12" name="Text 10"/>
          <p:cNvSpPr/>
          <p:nvPr/>
        </p:nvSpPr>
        <p:spPr>
          <a:xfrm>
            <a:off x="2451735"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2109978" y="2542032"/>
            <a:ext cx="1049274"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Route</a:t>
            </a:r>
            <a:endParaRPr lang="en-US" sz="1150" dirty="0"/>
          </a:p>
        </p:txBody>
      </p:sp>
      <p:sp>
        <p:nvSpPr>
          <p:cNvPr id="14" name="Text 12"/>
          <p:cNvSpPr/>
          <p:nvPr/>
        </p:nvSpPr>
        <p:spPr>
          <a:xfrm>
            <a:off x="2109978" y="2889504"/>
            <a:ext cx="1049274" cy="118872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High confidence acts; uncertain goes to review; low declines</a:t>
            </a:r>
            <a:endParaRPr lang="en-US" sz="950" dirty="0"/>
          </a:p>
        </p:txBody>
      </p:sp>
      <p:sp>
        <p:nvSpPr>
          <p:cNvPr id="15" name="Shape 13"/>
          <p:cNvSpPr/>
          <p:nvPr/>
        </p:nvSpPr>
        <p:spPr>
          <a:xfrm>
            <a:off x="3396996" y="1828800"/>
            <a:ext cx="1232154" cy="2377440"/>
          </a:xfrm>
          <a:prstGeom prst="roundRect">
            <a:avLst>
              <a:gd name="adj" fmla="val 4453"/>
            </a:avLst>
          </a:prstGeom>
          <a:solidFill>
            <a:srgbClr val="E4EEF4"/>
          </a:solidFill>
          <a:ln w="12700">
            <a:solidFill>
              <a:srgbClr val="D3E1EA"/>
            </a:solidFill>
            <a:prstDash val="solid"/>
          </a:ln>
        </p:spPr>
      </p:sp>
      <p:sp>
        <p:nvSpPr>
          <p:cNvPr id="16" name="Shape 14"/>
          <p:cNvSpPr/>
          <p:nvPr/>
        </p:nvSpPr>
        <p:spPr>
          <a:xfrm>
            <a:off x="3830193" y="2029968"/>
            <a:ext cx="365760" cy="365760"/>
          </a:xfrm>
          <a:prstGeom prst="ellipse">
            <a:avLst/>
          </a:prstGeom>
          <a:solidFill>
            <a:srgbClr val="065A82"/>
          </a:solidFill>
          <a:ln/>
        </p:spPr>
      </p:sp>
      <p:sp>
        <p:nvSpPr>
          <p:cNvPr id="17" name="Text 15"/>
          <p:cNvSpPr/>
          <p:nvPr/>
        </p:nvSpPr>
        <p:spPr>
          <a:xfrm>
            <a:off x="3830193"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3488436" y="2542032"/>
            <a:ext cx="1049274"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Review</a:t>
            </a:r>
            <a:endParaRPr lang="en-US" sz="1150" dirty="0"/>
          </a:p>
        </p:txBody>
      </p:sp>
      <p:sp>
        <p:nvSpPr>
          <p:cNvPr id="19" name="Text 17"/>
          <p:cNvSpPr/>
          <p:nvPr/>
        </p:nvSpPr>
        <p:spPr>
          <a:xfrm>
            <a:off x="3488436" y="2889504"/>
            <a:ext cx="1049274" cy="118872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A person decides, seeing the image, the proposal and the confidence</a:t>
            </a:r>
            <a:endParaRPr lang="en-US" sz="950" dirty="0"/>
          </a:p>
        </p:txBody>
      </p:sp>
      <p:sp>
        <p:nvSpPr>
          <p:cNvPr id="20" name="Shape 18"/>
          <p:cNvSpPr/>
          <p:nvPr/>
        </p:nvSpPr>
        <p:spPr>
          <a:xfrm>
            <a:off x="4775454" y="1828800"/>
            <a:ext cx="1232154" cy="2377440"/>
          </a:xfrm>
          <a:prstGeom prst="roundRect">
            <a:avLst>
              <a:gd name="adj" fmla="val 4453"/>
            </a:avLst>
          </a:prstGeom>
          <a:solidFill>
            <a:srgbClr val="EEF3F7"/>
          </a:solidFill>
          <a:ln w="12700">
            <a:solidFill>
              <a:srgbClr val="D3E1EA"/>
            </a:solidFill>
            <a:prstDash val="solid"/>
          </a:ln>
        </p:spPr>
      </p:sp>
      <p:sp>
        <p:nvSpPr>
          <p:cNvPr id="21" name="Shape 19"/>
          <p:cNvSpPr/>
          <p:nvPr/>
        </p:nvSpPr>
        <p:spPr>
          <a:xfrm>
            <a:off x="5208651" y="2029968"/>
            <a:ext cx="365760" cy="365760"/>
          </a:xfrm>
          <a:prstGeom prst="ellipse">
            <a:avLst/>
          </a:prstGeom>
          <a:solidFill>
            <a:srgbClr val="065A82"/>
          </a:solidFill>
          <a:ln/>
        </p:spPr>
      </p:sp>
      <p:sp>
        <p:nvSpPr>
          <p:cNvPr id="22" name="Text 20"/>
          <p:cNvSpPr/>
          <p:nvPr/>
        </p:nvSpPr>
        <p:spPr>
          <a:xfrm>
            <a:off x="5208651"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4866894" y="2542032"/>
            <a:ext cx="1049274"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Capture</a:t>
            </a:r>
            <a:endParaRPr lang="en-US" sz="1150" dirty="0"/>
          </a:p>
        </p:txBody>
      </p:sp>
      <p:sp>
        <p:nvSpPr>
          <p:cNvPr id="24" name="Text 22"/>
          <p:cNvSpPr/>
          <p:nvPr/>
        </p:nvSpPr>
        <p:spPr>
          <a:xfrm>
            <a:off x="4866894" y="2889504"/>
            <a:ext cx="1049274" cy="118872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The decision is stored as a labelled example with full context</a:t>
            </a:r>
            <a:endParaRPr lang="en-US" sz="950" dirty="0"/>
          </a:p>
        </p:txBody>
      </p:sp>
      <p:sp>
        <p:nvSpPr>
          <p:cNvPr id="25" name="Shape 23"/>
          <p:cNvSpPr/>
          <p:nvPr/>
        </p:nvSpPr>
        <p:spPr>
          <a:xfrm>
            <a:off x="6153912" y="1828800"/>
            <a:ext cx="1232154" cy="2377440"/>
          </a:xfrm>
          <a:prstGeom prst="roundRect">
            <a:avLst>
              <a:gd name="adj" fmla="val 4453"/>
            </a:avLst>
          </a:prstGeom>
          <a:solidFill>
            <a:srgbClr val="E4EEF4"/>
          </a:solidFill>
          <a:ln w="12700">
            <a:solidFill>
              <a:srgbClr val="D3E1EA"/>
            </a:solidFill>
            <a:prstDash val="solid"/>
          </a:ln>
        </p:spPr>
      </p:sp>
      <p:sp>
        <p:nvSpPr>
          <p:cNvPr id="26" name="Shape 24"/>
          <p:cNvSpPr/>
          <p:nvPr/>
        </p:nvSpPr>
        <p:spPr>
          <a:xfrm>
            <a:off x="6587109" y="2029968"/>
            <a:ext cx="365760" cy="365760"/>
          </a:xfrm>
          <a:prstGeom prst="ellipse">
            <a:avLst/>
          </a:prstGeom>
          <a:solidFill>
            <a:srgbClr val="065A82"/>
          </a:solidFill>
          <a:ln/>
        </p:spPr>
      </p:sp>
      <p:sp>
        <p:nvSpPr>
          <p:cNvPr id="27" name="Text 25"/>
          <p:cNvSpPr/>
          <p:nvPr/>
        </p:nvSpPr>
        <p:spPr>
          <a:xfrm>
            <a:off x="6587109"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6245352" y="2542032"/>
            <a:ext cx="1049274"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Select</a:t>
            </a:r>
            <a:endParaRPr lang="en-US" sz="1150" dirty="0"/>
          </a:p>
        </p:txBody>
      </p:sp>
      <p:sp>
        <p:nvSpPr>
          <p:cNvPr id="29" name="Text 27"/>
          <p:cNvSpPr/>
          <p:nvPr/>
        </p:nvSpPr>
        <p:spPr>
          <a:xfrm>
            <a:off x="6245352" y="2889504"/>
            <a:ext cx="1049274" cy="118872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Sampling strategy chooses which captured cases enter the next batch</a:t>
            </a:r>
            <a:endParaRPr lang="en-US" sz="950" dirty="0"/>
          </a:p>
        </p:txBody>
      </p:sp>
      <p:sp>
        <p:nvSpPr>
          <p:cNvPr id="30" name="Shape 28"/>
          <p:cNvSpPr/>
          <p:nvPr/>
        </p:nvSpPr>
        <p:spPr>
          <a:xfrm>
            <a:off x="7532370" y="1828800"/>
            <a:ext cx="1232154" cy="2377440"/>
          </a:xfrm>
          <a:prstGeom prst="roundRect">
            <a:avLst>
              <a:gd name="adj" fmla="val 4453"/>
            </a:avLst>
          </a:prstGeom>
          <a:solidFill>
            <a:srgbClr val="EEF3F7"/>
          </a:solidFill>
          <a:ln w="12700">
            <a:solidFill>
              <a:srgbClr val="D3E1EA"/>
            </a:solidFill>
            <a:prstDash val="solid"/>
          </a:ln>
        </p:spPr>
      </p:sp>
      <p:sp>
        <p:nvSpPr>
          <p:cNvPr id="31" name="Shape 29"/>
          <p:cNvSpPr/>
          <p:nvPr/>
        </p:nvSpPr>
        <p:spPr>
          <a:xfrm>
            <a:off x="7965567" y="2029968"/>
            <a:ext cx="365760" cy="365760"/>
          </a:xfrm>
          <a:prstGeom prst="ellipse">
            <a:avLst/>
          </a:prstGeom>
          <a:solidFill>
            <a:srgbClr val="065A82"/>
          </a:solidFill>
          <a:ln/>
        </p:spPr>
      </p:sp>
      <p:sp>
        <p:nvSpPr>
          <p:cNvPr id="32" name="Text 30"/>
          <p:cNvSpPr/>
          <p:nvPr/>
        </p:nvSpPr>
        <p:spPr>
          <a:xfrm>
            <a:off x="7965567"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7623810" y="2542032"/>
            <a:ext cx="1049274"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Retrain</a:t>
            </a:r>
            <a:endParaRPr lang="en-US" sz="1150" dirty="0"/>
          </a:p>
        </p:txBody>
      </p:sp>
      <p:sp>
        <p:nvSpPr>
          <p:cNvPr id="34" name="Text 32"/>
          <p:cNvSpPr/>
          <p:nvPr/>
        </p:nvSpPr>
        <p:spPr>
          <a:xfrm>
            <a:off x="7623810" y="2889504"/>
            <a:ext cx="1049274" cy="118872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Triggered by volume, drift or schedule; fully versioned</a:t>
            </a:r>
            <a:endParaRPr lang="en-US" sz="950" dirty="0"/>
          </a:p>
        </p:txBody>
      </p:sp>
      <p:sp>
        <p:nvSpPr>
          <p:cNvPr id="35" name="Shape 33"/>
          <p:cNvSpPr/>
          <p:nvPr/>
        </p:nvSpPr>
        <p:spPr>
          <a:xfrm>
            <a:off x="8910828" y="1828800"/>
            <a:ext cx="1232154" cy="2377440"/>
          </a:xfrm>
          <a:prstGeom prst="roundRect">
            <a:avLst>
              <a:gd name="adj" fmla="val 4453"/>
            </a:avLst>
          </a:prstGeom>
          <a:solidFill>
            <a:srgbClr val="E4EEF4"/>
          </a:solidFill>
          <a:ln w="12700">
            <a:solidFill>
              <a:srgbClr val="D3E1EA"/>
            </a:solidFill>
            <a:prstDash val="solid"/>
          </a:ln>
        </p:spPr>
      </p:sp>
      <p:sp>
        <p:nvSpPr>
          <p:cNvPr id="36" name="Shape 34"/>
          <p:cNvSpPr/>
          <p:nvPr/>
        </p:nvSpPr>
        <p:spPr>
          <a:xfrm>
            <a:off x="9344025" y="2029968"/>
            <a:ext cx="365760" cy="365760"/>
          </a:xfrm>
          <a:prstGeom prst="ellipse">
            <a:avLst/>
          </a:prstGeom>
          <a:solidFill>
            <a:srgbClr val="065A82"/>
          </a:solidFill>
          <a:ln/>
        </p:spPr>
      </p:sp>
      <p:sp>
        <p:nvSpPr>
          <p:cNvPr id="37" name="Text 35"/>
          <p:cNvSpPr/>
          <p:nvPr/>
        </p:nvSpPr>
        <p:spPr>
          <a:xfrm>
            <a:off x="9344025"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6"/>
          <p:cNvSpPr/>
          <p:nvPr/>
        </p:nvSpPr>
        <p:spPr>
          <a:xfrm>
            <a:off x="9002268" y="2542032"/>
            <a:ext cx="1049274"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Validate</a:t>
            </a:r>
            <a:endParaRPr lang="en-US" sz="1150" dirty="0"/>
          </a:p>
        </p:txBody>
      </p:sp>
      <p:sp>
        <p:nvSpPr>
          <p:cNvPr id="39" name="Text 37"/>
          <p:cNvSpPr/>
          <p:nvPr/>
        </p:nvSpPr>
        <p:spPr>
          <a:xfrm>
            <a:off x="9002268" y="2889504"/>
            <a:ext cx="1049274" cy="118872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Evaluation gate — must pass before promotion</a:t>
            </a:r>
            <a:endParaRPr lang="en-US" sz="950" dirty="0"/>
          </a:p>
        </p:txBody>
      </p:sp>
      <p:sp>
        <p:nvSpPr>
          <p:cNvPr id="40" name="Shape 38"/>
          <p:cNvSpPr/>
          <p:nvPr/>
        </p:nvSpPr>
        <p:spPr>
          <a:xfrm>
            <a:off x="10289286" y="1828800"/>
            <a:ext cx="1232154" cy="2377440"/>
          </a:xfrm>
          <a:prstGeom prst="roundRect">
            <a:avLst>
              <a:gd name="adj" fmla="val 4453"/>
            </a:avLst>
          </a:prstGeom>
          <a:solidFill>
            <a:srgbClr val="EEF3F7"/>
          </a:solidFill>
          <a:ln w="12700">
            <a:solidFill>
              <a:srgbClr val="D3E1EA"/>
            </a:solidFill>
            <a:prstDash val="solid"/>
          </a:ln>
        </p:spPr>
      </p:sp>
      <p:sp>
        <p:nvSpPr>
          <p:cNvPr id="41" name="Shape 39"/>
          <p:cNvSpPr/>
          <p:nvPr/>
        </p:nvSpPr>
        <p:spPr>
          <a:xfrm>
            <a:off x="10722483" y="2029968"/>
            <a:ext cx="365760" cy="365760"/>
          </a:xfrm>
          <a:prstGeom prst="ellipse">
            <a:avLst/>
          </a:prstGeom>
          <a:solidFill>
            <a:srgbClr val="065A82"/>
          </a:solidFill>
          <a:ln/>
        </p:spPr>
      </p:sp>
      <p:sp>
        <p:nvSpPr>
          <p:cNvPr id="42" name="Text 40"/>
          <p:cNvSpPr/>
          <p:nvPr/>
        </p:nvSpPr>
        <p:spPr>
          <a:xfrm>
            <a:off x="10722483" y="20299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3" name="Text 41"/>
          <p:cNvSpPr/>
          <p:nvPr/>
        </p:nvSpPr>
        <p:spPr>
          <a:xfrm>
            <a:off x="10380726" y="2542032"/>
            <a:ext cx="1049274" cy="320040"/>
          </a:xfrm>
          <a:prstGeom prst="rect">
            <a:avLst/>
          </a:prstGeom>
          <a:noFill/>
          <a:ln/>
        </p:spPr>
        <p:txBody>
          <a:bodyPr wrap="square" lIns="0" tIns="0" rIns="0" bIns="0" rtlCol="0" anchor="ctr"/>
          <a:lstStyle/>
          <a:p>
            <a:pPr algn="ctr" indent="0" marL="0">
              <a:buNone/>
            </a:pPr>
            <a:r>
              <a:rPr lang="en-US" sz="1150" b="1" dirty="0">
                <a:solidFill>
                  <a:srgbClr val="1A2430"/>
                </a:solidFill>
                <a:latin typeface="Cambria" pitchFamily="34" charset="0"/>
                <a:ea typeface="Cambria" pitchFamily="34" charset="-122"/>
                <a:cs typeface="Cambria" pitchFamily="34" charset="-120"/>
              </a:rPr>
              <a:t>Deploy</a:t>
            </a:r>
            <a:endParaRPr lang="en-US" sz="1150" dirty="0"/>
          </a:p>
        </p:txBody>
      </p:sp>
      <p:sp>
        <p:nvSpPr>
          <p:cNvPr id="44" name="Text 42"/>
          <p:cNvSpPr/>
          <p:nvPr/>
        </p:nvSpPr>
        <p:spPr>
          <a:xfrm>
            <a:off x="10380726" y="2889504"/>
            <a:ext cx="1049274" cy="1188720"/>
          </a:xfrm>
          <a:prstGeom prst="rect">
            <a:avLst/>
          </a:prstGeom>
          <a:noFill/>
          <a:ln/>
        </p:spPr>
        <p:txBody>
          <a:bodyPr wrap="square" lIns="0" tIns="0" rIns="0" bIns="0" rtlCol="0" anchor="ctr"/>
          <a:lstStyle/>
          <a:p>
            <a:pPr algn="ctr" indent="0" marL="0">
              <a:lnSpc>
                <a:spcPts val="1300"/>
              </a:lnSpc>
              <a:buNone/>
            </a:pPr>
            <a:r>
              <a:rPr lang="en-US" sz="950" dirty="0">
                <a:solidFill>
                  <a:srgbClr val="5A6B7C"/>
                </a:solidFill>
                <a:latin typeface="Calibri" pitchFamily="34" charset="0"/>
                <a:ea typeface="Calibri" pitchFamily="34" charset="-122"/>
                <a:cs typeface="Calibri" pitchFamily="34" charset="-120"/>
              </a:rPr>
              <a:t>Shadow, canary, staged; monitored throughout</a:t>
            </a:r>
            <a:endParaRPr lang="en-US" sz="950" dirty="0"/>
          </a:p>
        </p:txBody>
      </p:sp>
      <p:sp>
        <p:nvSpPr>
          <p:cNvPr id="45" name="Shape 43"/>
          <p:cNvSpPr/>
          <p:nvPr/>
        </p:nvSpPr>
        <p:spPr>
          <a:xfrm>
            <a:off x="640080" y="4480560"/>
            <a:ext cx="10881360" cy="1280160"/>
          </a:xfrm>
          <a:prstGeom prst="roundRect">
            <a:avLst>
              <a:gd name="adj" fmla="val 4286"/>
            </a:avLst>
          </a:prstGeom>
          <a:solidFill>
            <a:srgbClr val="FBEEE8"/>
          </a:solidFill>
          <a:ln w="12700">
            <a:solidFill>
              <a:srgbClr val="EBCFC2"/>
            </a:solidFill>
            <a:prstDash val="solid"/>
          </a:ln>
        </p:spPr>
      </p:sp>
      <p:sp>
        <p:nvSpPr>
          <p:cNvPr id="46" name="Text 44"/>
          <p:cNvSpPr/>
          <p:nvPr/>
        </p:nvSpPr>
        <p:spPr>
          <a:xfrm>
            <a:off x="914400" y="4645152"/>
            <a:ext cx="10332720" cy="320040"/>
          </a:xfrm>
          <a:prstGeom prst="rect">
            <a:avLst/>
          </a:prstGeom>
          <a:noFill/>
          <a:ln/>
        </p:spPr>
        <p:txBody>
          <a:bodyPr wrap="square" lIns="0" tIns="0" rIns="0" bIns="0" rtlCol="0" anchor="ctr"/>
          <a:lstStyle/>
          <a:p>
            <a:pPr indent="0" marL="0">
              <a:buNone/>
            </a:pPr>
            <a:r>
              <a:rPr lang="en-US" sz="1350" b="1" dirty="0">
                <a:solidFill>
                  <a:srgbClr val="C1440E"/>
                </a:solidFill>
                <a:latin typeface="Calibri" pitchFamily="34" charset="0"/>
                <a:ea typeface="Calibri" pitchFamily="34" charset="-122"/>
                <a:cs typeface="Calibri" pitchFamily="34" charset="-120"/>
              </a:rPr>
              <a:t>The two steps that get skipped, and why the loop fails without them</a:t>
            </a:r>
            <a:endParaRPr lang="en-US" sz="1350" dirty="0"/>
          </a:p>
        </p:txBody>
      </p:sp>
      <p:sp>
        <p:nvSpPr>
          <p:cNvPr id="47" name="Text 45"/>
          <p:cNvSpPr/>
          <p:nvPr/>
        </p:nvSpPr>
        <p:spPr>
          <a:xfrm>
            <a:off x="914400" y="4983480"/>
            <a:ext cx="10332720" cy="640080"/>
          </a:xfrm>
          <a:prstGeom prst="rect">
            <a:avLst/>
          </a:prstGeom>
          <a:noFill/>
          <a:ln/>
        </p:spPr>
        <p:txBody>
          <a:bodyPr wrap="square" lIns="0" tIns="0" rIns="0" bIns="0" rtlCol="0" anchor="ctr"/>
          <a:lstStyle/>
          <a:p>
            <a:pPr indent="0" marL="0">
              <a:lnSpc>
                <a:spcPts val="1700"/>
              </a:lnSpc>
              <a:buNone/>
            </a:pPr>
            <a:r>
              <a:rPr lang="en-US" sz="1250" dirty="0">
                <a:solidFill>
                  <a:srgbClr val="1A2430"/>
                </a:solidFill>
                <a:latin typeface="Calibri" pitchFamily="34" charset="0"/>
                <a:ea typeface="Calibri" pitchFamily="34" charset="-122"/>
                <a:cs typeface="Calibri" pitchFamily="34" charset="-120"/>
              </a:rPr>
              <a:t>Capture and validate. Teams build the review interface and never store the decision in a form that can reach training, so the most valuable data the system generates is discarded daily. And teams retrain on newly collected data without an evaluation gate, so a batch of mislabelled reviews degrades the model with nobody noticing. The loop only compounds if both are in place.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4 · 4.4</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Feedback capture and label correction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34</a:t>
            </a:r>
            <a:endParaRPr lang="en-US" sz="1000" dirty="0"/>
          </a:p>
        </p:txBody>
      </p:sp>
      <p:sp>
        <p:nvSpPr>
          <p:cNvPr id="5" name="Shape 3"/>
          <p:cNvSpPr/>
          <p:nvPr/>
        </p:nvSpPr>
        <p:spPr>
          <a:xfrm>
            <a:off x="640080" y="1911096"/>
            <a:ext cx="365760" cy="365760"/>
          </a:xfrm>
          <a:prstGeom prst="ellipse">
            <a:avLst/>
          </a:prstGeom>
          <a:solidFill>
            <a:srgbClr val="065A82"/>
          </a:solidFill>
          <a:ln/>
        </p:spPr>
      </p:sp>
      <p:sp>
        <p:nvSpPr>
          <p:cNvPr id="6" name="Text 4"/>
          <p:cNvSpPr/>
          <p:nvPr/>
        </p:nvSpPr>
        <p:spPr>
          <a:xfrm>
            <a:off x="640080"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737360"/>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Capture the decision, not just the outcome</a:t>
            </a:r>
            <a:endParaRPr lang="en-US" sz="1300" dirty="0"/>
          </a:p>
        </p:txBody>
      </p:sp>
      <p:sp>
        <p:nvSpPr>
          <p:cNvPr id="8" name="Text 6"/>
          <p:cNvSpPr/>
          <p:nvPr/>
        </p:nvSpPr>
        <p:spPr>
          <a:xfrm>
            <a:off x="5166360" y="1737360"/>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Record what the reviewer decided, what the model proposed, the confidence, and where they disagreed. A binary accept/reject discards most of the information.</a:t>
            </a:r>
            <a:endParaRPr lang="en-US" sz="1150" dirty="0"/>
          </a:p>
        </p:txBody>
      </p:sp>
      <p:sp>
        <p:nvSpPr>
          <p:cNvPr id="9" name="Shape 7"/>
          <p:cNvSpPr/>
          <p:nvPr/>
        </p:nvSpPr>
        <p:spPr>
          <a:xfrm>
            <a:off x="640080" y="2624328"/>
            <a:ext cx="365760" cy="365760"/>
          </a:xfrm>
          <a:prstGeom prst="ellipse">
            <a:avLst/>
          </a:prstGeom>
          <a:solidFill>
            <a:srgbClr val="065A82"/>
          </a:solidFill>
          <a:ln/>
        </p:spPr>
      </p:sp>
      <p:sp>
        <p:nvSpPr>
          <p:cNvPr id="10" name="Text 8"/>
          <p:cNvSpPr/>
          <p:nvPr/>
        </p:nvSpPr>
        <p:spPr>
          <a:xfrm>
            <a:off x="640080" y="2624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450592"/>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Make correcting easier than overriding</a:t>
            </a:r>
            <a:endParaRPr lang="en-US" sz="1300" dirty="0"/>
          </a:p>
        </p:txBody>
      </p:sp>
      <p:sp>
        <p:nvSpPr>
          <p:cNvPr id="12" name="Text 10"/>
          <p:cNvSpPr/>
          <p:nvPr/>
        </p:nvSpPr>
        <p:spPr>
          <a:xfrm>
            <a:off x="5166360" y="2450592"/>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If correcting a label takes four clicks and overriding takes one, you will get overrides and no training data. The interface determines the data quality.</a:t>
            </a:r>
            <a:endParaRPr lang="en-US" sz="1150" dirty="0"/>
          </a:p>
        </p:txBody>
      </p:sp>
      <p:sp>
        <p:nvSpPr>
          <p:cNvPr id="13" name="Shape 11"/>
          <p:cNvSpPr/>
          <p:nvPr/>
        </p:nvSpPr>
        <p:spPr>
          <a:xfrm>
            <a:off x="640080" y="3337560"/>
            <a:ext cx="365760" cy="365760"/>
          </a:xfrm>
          <a:prstGeom prst="ellipse">
            <a:avLst/>
          </a:prstGeom>
          <a:solidFill>
            <a:srgbClr val="065A82"/>
          </a:solidFill>
          <a:ln/>
        </p:spPr>
      </p:sp>
      <p:sp>
        <p:nvSpPr>
          <p:cNvPr id="14" name="Text 12"/>
          <p:cNvSpPr/>
          <p:nvPr/>
        </p:nvSpPr>
        <p:spPr>
          <a:xfrm>
            <a:off x="640080" y="3337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3163824"/>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Attribute every correction</a:t>
            </a:r>
            <a:endParaRPr lang="en-US" sz="1300" dirty="0"/>
          </a:p>
        </p:txBody>
      </p:sp>
      <p:sp>
        <p:nvSpPr>
          <p:cNvPr id="16" name="Text 14"/>
          <p:cNvSpPr/>
          <p:nvPr/>
        </p:nvSpPr>
        <p:spPr>
          <a:xfrm>
            <a:off x="5166360" y="3163824"/>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Which reviewer, when, under which guideline version. Needed to audit label quality and to detect a reviewer drifting from the definition.</a:t>
            </a:r>
            <a:endParaRPr lang="en-US" sz="1150" dirty="0"/>
          </a:p>
        </p:txBody>
      </p:sp>
      <p:sp>
        <p:nvSpPr>
          <p:cNvPr id="17" name="Shape 15"/>
          <p:cNvSpPr/>
          <p:nvPr/>
        </p:nvSpPr>
        <p:spPr>
          <a:xfrm>
            <a:off x="640080" y="4050792"/>
            <a:ext cx="365760" cy="365760"/>
          </a:xfrm>
          <a:prstGeom prst="ellipse">
            <a:avLst/>
          </a:prstGeom>
          <a:solidFill>
            <a:srgbClr val="065A82"/>
          </a:solidFill>
          <a:ln/>
        </p:spPr>
      </p:sp>
      <p:sp>
        <p:nvSpPr>
          <p:cNvPr id="18" name="Text 16"/>
          <p:cNvSpPr/>
          <p:nvPr/>
        </p:nvSpPr>
        <p:spPr>
          <a:xfrm>
            <a:off x="640080" y="40507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877056"/>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Reconcile disagreements</a:t>
            </a:r>
            <a:endParaRPr lang="en-US" sz="1300" dirty="0"/>
          </a:p>
        </p:txBody>
      </p:sp>
      <p:sp>
        <p:nvSpPr>
          <p:cNvPr id="20" name="Text 18"/>
          <p:cNvSpPr/>
          <p:nvPr/>
        </p:nvSpPr>
        <p:spPr>
          <a:xfrm>
            <a:off x="5166360" y="3877056"/>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Where two reviewers differ, route to a third or to a defined adjudicator. Unreconciled disagreement becomes training noise.</a:t>
            </a:r>
            <a:endParaRPr lang="en-US" sz="1150" dirty="0"/>
          </a:p>
        </p:txBody>
      </p:sp>
      <p:sp>
        <p:nvSpPr>
          <p:cNvPr id="21" name="Shape 19"/>
          <p:cNvSpPr/>
          <p:nvPr/>
        </p:nvSpPr>
        <p:spPr>
          <a:xfrm>
            <a:off x="640080" y="4764024"/>
            <a:ext cx="365760" cy="365760"/>
          </a:xfrm>
          <a:prstGeom prst="ellipse">
            <a:avLst/>
          </a:prstGeom>
          <a:solidFill>
            <a:srgbClr val="065A82"/>
          </a:solidFill>
          <a:ln/>
        </p:spPr>
      </p:sp>
      <p:sp>
        <p:nvSpPr>
          <p:cNvPr id="22" name="Text 20"/>
          <p:cNvSpPr/>
          <p:nvPr/>
        </p:nvSpPr>
        <p:spPr>
          <a:xfrm>
            <a:off x="640080" y="4764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590288"/>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Sample-audit the corrections</a:t>
            </a:r>
            <a:endParaRPr lang="en-US" sz="1300" dirty="0"/>
          </a:p>
        </p:txBody>
      </p:sp>
      <p:sp>
        <p:nvSpPr>
          <p:cNvPr id="24" name="Text 22"/>
          <p:cNvSpPr/>
          <p:nvPr/>
        </p:nvSpPr>
        <p:spPr>
          <a:xfrm>
            <a:off x="5166360" y="4590288"/>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Corrections are labels and can be wrong. Audit a sample against the guideline before they enter the training set.</a:t>
            </a:r>
            <a:endParaRPr lang="en-US" sz="1150" dirty="0"/>
          </a:p>
        </p:txBody>
      </p:sp>
      <p:sp>
        <p:nvSpPr>
          <p:cNvPr id="25" name="Shape 23"/>
          <p:cNvSpPr/>
          <p:nvPr/>
        </p:nvSpPr>
        <p:spPr>
          <a:xfrm>
            <a:off x="640080" y="5477256"/>
            <a:ext cx="365760" cy="365760"/>
          </a:xfrm>
          <a:prstGeom prst="ellipse">
            <a:avLst/>
          </a:prstGeom>
          <a:solidFill>
            <a:srgbClr val="065A82"/>
          </a:solidFill>
          <a:ln/>
        </p:spPr>
      </p:sp>
      <p:sp>
        <p:nvSpPr>
          <p:cNvPr id="26" name="Text 24"/>
          <p:cNvSpPr/>
          <p:nvPr/>
        </p:nvSpPr>
        <p:spPr>
          <a:xfrm>
            <a:off x="640080" y="5477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5303520"/>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Close the loop visibly</a:t>
            </a:r>
            <a:endParaRPr lang="en-US" sz="1300" dirty="0"/>
          </a:p>
        </p:txBody>
      </p:sp>
      <p:sp>
        <p:nvSpPr>
          <p:cNvPr id="28" name="Text 26"/>
          <p:cNvSpPr/>
          <p:nvPr/>
        </p:nvSpPr>
        <p:spPr>
          <a:xfrm>
            <a:off x="5166360" y="5303520"/>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Tell reviewers when their corrections improved the model. Without that, correction rates decay within weeks.</a:t>
            </a:r>
            <a:endParaRPr lang="en-US" sz="1150" dirty="0"/>
          </a:p>
        </p:txBody>
      </p:sp>
      <p:sp>
        <p:nvSpPr>
          <p:cNvPr id="29" name="Text 27"/>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A2430"/>
                </a:solidFill>
                <a:latin typeface="Calibri" pitchFamily="34" charset="0"/>
                <a:ea typeface="Calibri" pitchFamily="34" charset="-122"/>
                <a:cs typeface="Calibri" pitchFamily="34" charset="-120"/>
              </a:rPr>
              <a:t>The last point is the one that determines whether the loop still runs in six months. It is a human factor, and it is decisive.</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MODULE 4 · 4.5</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Continuous evaluation and expert review</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35</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450" dirty="0">
                <a:solidFill>
                  <a:srgbClr val="5A6B7C"/>
                </a:solidFill>
                <a:latin typeface="Calibri" pitchFamily="34" charset="0"/>
                <a:ea typeface="Calibri" pitchFamily="34" charset="-122"/>
                <a:cs typeface="Calibri" pitchFamily="34" charset="-120"/>
              </a:rPr>
              <a:t>The loop generates labels. Continuous evaluation is what tells you whether the loop is working — and it needs its own protected data.</a:t>
            </a:r>
            <a:endParaRPr lang="en-US" sz="1450" dirty="0"/>
          </a:p>
        </p:txBody>
      </p:sp>
      <p:sp>
        <p:nvSpPr>
          <p:cNvPr id="6" name="Shape 4"/>
          <p:cNvSpPr/>
          <p:nvPr/>
        </p:nvSpPr>
        <p:spPr>
          <a:xfrm>
            <a:off x="640080" y="1911096"/>
            <a:ext cx="365760" cy="365760"/>
          </a:xfrm>
          <a:prstGeom prst="ellipse">
            <a:avLst/>
          </a:prstGeom>
          <a:solidFill>
            <a:srgbClr val="065A82"/>
          </a:solidFill>
          <a:ln/>
        </p:spPr>
      </p:sp>
      <p:sp>
        <p:nvSpPr>
          <p:cNvPr id="7" name="Text 5"/>
          <p:cNvSpPr/>
          <p:nvPr/>
        </p:nvSpPr>
        <p:spPr>
          <a:xfrm>
            <a:off x="640080"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88720" y="1737360"/>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Keep a protected evaluation set</a:t>
            </a:r>
            <a:endParaRPr lang="en-US" sz="1300" dirty="0"/>
          </a:p>
        </p:txBody>
      </p:sp>
      <p:sp>
        <p:nvSpPr>
          <p:cNvPr id="9" name="Text 7"/>
          <p:cNvSpPr/>
          <p:nvPr/>
        </p:nvSpPr>
        <p:spPr>
          <a:xfrm>
            <a:off x="5166360" y="1737360"/>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Never trained on, never used for tuning, refreshed periodically with newly labelled cases. This is the instrument, not fuel.</a:t>
            </a:r>
            <a:endParaRPr lang="en-US" sz="1150" dirty="0"/>
          </a:p>
        </p:txBody>
      </p:sp>
      <p:sp>
        <p:nvSpPr>
          <p:cNvPr id="10" name="Shape 8"/>
          <p:cNvSpPr/>
          <p:nvPr/>
        </p:nvSpPr>
        <p:spPr>
          <a:xfrm>
            <a:off x="640080" y="2624328"/>
            <a:ext cx="365760" cy="365760"/>
          </a:xfrm>
          <a:prstGeom prst="ellipse">
            <a:avLst/>
          </a:prstGeom>
          <a:solidFill>
            <a:srgbClr val="065A82"/>
          </a:solidFill>
          <a:ln/>
        </p:spPr>
      </p:sp>
      <p:sp>
        <p:nvSpPr>
          <p:cNvPr id="11" name="Text 9"/>
          <p:cNvSpPr/>
          <p:nvPr/>
        </p:nvSpPr>
        <p:spPr>
          <a:xfrm>
            <a:off x="640080" y="2624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450592"/>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Score it on a fixed schedule</a:t>
            </a:r>
            <a:endParaRPr lang="en-US" sz="1300" dirty="0"/>
          </a:p>
        </p:txBody>
      </p:sp>
      <p:sp>
        <p:nvSpPr>
          <p:cNvPr id="13" name="Text 11"/>
          <p:cNvSpPr/>
          <p:nvPr/>
        </p:nvSpPr>
        <p:spPr>
          <a:xfrm>
            <a:off x="5166360" y="2450592"/>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Weekly or monthly regardless of changes. This is what catches drift, which happens without anyone doing anything.</a:t>
            </a:r>
            <a:endParaRPr lang="en-US" sz="1150" dirty="0"/>
          </a:p>
        </p:txBody>
      </p:sp>
      <p:sp>
        <p:nvSpPr>
          <p:cNvPr id="14" name="Shape 12"/>
          <p:cNvSpPr/>
          <p:nvPr/>
        </p:nvSpPr>
        <p:spPr>
          <a:xfrm>
            <a:off x="640080" y="3337560"/>
            <a:ext cx="365760" cy="365760"/>
          </a:xfrm>
          <a:prstGeom prst="ellipse">
            <a:avLst/>
          </a:prstGeom>
          <a:solidFill>
            <a:srgbClr val="065A82"/>
          </a:solidFill>
          <a:ln/>
        </p:spPr>
      </p:sp>
      <p:sp>
        <p:nvSpPr>
          <p:cNvPr id="15" name="Text 13"/>
          <p:cNvSpPr/>
          <p:nvPr/>
        </p:nvSpPr>
        <p:spPr>
          <a:xfrm>
            <a:off x="640080" y="3337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88720" y="3163824"/>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Refresh it from production, carefully</a:t>
            </a:r>
            <a:endParaRPr lang="en-US" sz="1300" dirty="0"/>
          </a:p>
        </p:txBody>
      </p:sp>
      <p:sp>
        <p:nvSpPr>
          <p:cNvPr id="17" name="Text 15"/>
          <p:cNvSpPr/>
          <p:nvPr/>
        </p:nvSpPr>
        <p:spPr>
          <a:xfrm>
            <a:off x="5166360" y="3163824"/>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Add newly labelled production cases so it stays representative — but add them to the evaluation set or the training set, never both.</a:t>
            </a:r>
            <a:endParaRPr lang="en-US" sz="1150" dirty="0"/>
          </a:p>
        </p:txBody>
      </p:sp>
      <p:sp>
        <p:nvSpPr>
          <p:cNvPr id="18" name="Shape 16"/>
          <p:cNvSpPr/>
          <p:nvPr/>
        </p:nvSpPr>
        <p:spPr>
          <a:xfrm>
            <a:off x="640080" y="4050792"/>
            <a:ext cx="365760" cy="365760"/>
          </a:xfrm>
          <a:prstGeom prst="ellipse">
            <a:avLst/>
          </a:prstGeom>
          <a:solidFill>
            <a:srgbClr val="065A82"/>
          </a:solidFill>
          <a:ln/>
        </p:spPr>
      </p:sp>
      <p:sp>
        <p:nvSpPr>
          <p:cNvPr id="19" name="Text 17"/>
          <p:cNvSpPr/>
          <p:nvPr/>
        </p:nvSpPr>
        <p:spPr>
          <a:xfrm>
            <a:off x="640080" y="40507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p:nvPr/>
        </p:nvSpPr>
        <p:spPr>
          <a:xfrm>
            <a:off x="1188720" y="3877056"/>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Route expert review deliberately</a:t>
            </a:r>
            <a:endParaRPr lang="en-US" sz="1300" dirty="0"/>
          </a:p>
        </p:txBody>
      </p:sp>
      <p:sp>
        <p:nvSpPr>
          <p:cNvPr id="21" name="Text 19"/>
          <p:cNvSpPr/>
          <p:nvPr/>
        </p:nvSpPr>
        <p:spPr>
          <a:xfrm>
            <a:off x="5166360" y="3877056"/>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Scarce expert time goes to boundary cases and disputed labels, not to a random queue. Ordinary review handles the routine.</a:t>
            </a:r>
            <a:endParaRPr lang="en-US" sz="1150" dirty="0"/>
          </a:p>
        </p:txBody>
      </p:sp>
      <p:sp>
        <p:nvSpPr>
          <p:cNvPr id="22" name="Shape 20"/>
          <p:cNvSpPr/>
          <p:nvPr/>
        </p:nvSpPr>
        <p:spPr>
          <a:xfrm>
            <a:off x="640080" y="4764024"/>
            <a:ext cx="365760" cy="365760"/>
          </a:xfrm>
          <a:prstGeom prst="ellipse">
            <a:avLst/>
          </a:prstGeom>
          <a:solidFill>
            <a:srgbClr val="065A82"/>
          </a:solidFill>
          <a:ln/>
        </p:spPr>
      </p:sp>
      <p:sp>
        <p:nvSpPr>
          <p:cNvPr id="23" name="Text 21"/>
          <p:cNvSpPr/>
          <p:nvPr/>
        </p:nvSpPr>
        <p:spPr>
          <a:xfrm>
            <a:off x="640080" y="4764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p:nvPr/>
        </p:nvSpPr>
        <p:spPr>
          <a:xfrm>
            <a:off x="1188720" y="4590288"/>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Track reviewer agreement over time</a:t>
            </a:r>
            <a:endParaRPr lang="en-US" sz="1300" dirty="0"/>
          </a:p>
        </p:txBody>
      </p:sp>
      <p:sp>
        <p:nvSpPr>
          <p:cNvPr id="25" name="Text 23"/>
          <p:cNvSpPr/>
          <p:nvPr/>
        </p:nvSpPr>
        <p:spPr>
          <a:xfrm>
            <a:off x="5166360" y="4590288"/>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A reviewer drifting from the guideline shows up here first, and is correctable with a short recalibration session.</a:t>
            </a:r>
            <a:endParaRPr lang="en-US" sz="1150" dirty="0"/>
          </a:p>
        </p:txBody>
      </p:sp>
      <p:sp>
        <p:nvSpPr>
          <p:cNvPr id="26" name="Shape 24"/>
          <p:cNvSpPr/>
          <p:nvPr/>
        </p:nvSpPr>
        <p:spPr>
          <a:xfrm>
            <a:off x="640080" y="5477256"/>
            <a:ext cx="365760" cy="365760"/>
          </a:xfrm>
          <a:prstGeom prst="ellipse">
            <a:avLst/>
          </a:prstGeom>
          <a:solidFill>
            <a:srgbClr val="065A82"/>
          </a:solidFill>
          <a:ln/>
        </p:spPr>
      </p:sp>
      <p:sp>
        <p:nvSpPr>
          <p:cNvPr id="27" name="Text 25"/>
          <p:cNvSpPr/>
          <p:nvPr/>
        </p:nvSpPr>
        <p:spPr>
          <a:xfrm>
            <a:off x="640080" y="5477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p:nvPr/>
        </p:nvSpPr>
        <p:spPr>
          <a:xfrm>
            <a:off x="1188720" y="5303520"/>
            <a:ext cx="3657600" cy="621792"/>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Audit the corrections themselves</a:t>
            </a:r>
            <a:endParaRPr lang="en-US" sz="1300" dirty="0"/>
          </a:p>
        </p:txBody>
      </p:sp>
      <p:sp>
        <p:nvSpPr>
          <p:cNvPr id="29" name="Text 27"/>
          <p:cNvSpPr/>
          <p:nvPr/>
        </p:nvSpPr>
        <p:spPr>
          <a:xfrm>
            <a:off x="5166360" y="5303520"/>
            <a:ext cx="6355080" cy="621792"/>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Corrections are labels and can be wrong. Sample and check them against the guideline before they enter training.</a:t>
            </a:r>
            <a:endParaRPr lang="en-US" sz="1150" dirty="0"/>
          </a:p>
        </p:txBody>
      </p:sp>
      <p:sp>
        <p:nvSpPr>
          <p:cNvPr id="30" name="Text 28"/>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C1440E"/>
                </a:solidFill>
                <a:latin typeface="Calibri" pitchFamily="34" charset="0"/>
                <a:ea typeface="Calibri" pitchFamily="34" charset="-122"/>
                <a:cs typeface="Calibri" pitchFamily="34" charset="-120"/>
              </a:rPr>
              <a:t>The failure to avoid: newly labelled cases going into training and evaluation simultaneously, which quietly inflates every future measurement.</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HANDS-ON · 40 MINUTES</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Lab 4 — Feedback loop design</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36</a:t>
            </a:r>
            <a:endParaRPr lang="en-US" sz="1000" dirty="0"/>
          </a:p>
        </p:txBody>
      </p:sp>
      <p:sp>
        <p:nvSpPr>
          <p:cNvPr id="5" name="Text 3"/>
          <p:cNvSpPr/>
          <p:nvPr/>
        </p:nvSpPr>
        <p:spPr>
          <a:xfrm>
            <a:off x="640080" y="1280160"/>
            <a:ext cx="10881360" cy="457200"/>
          </a:xfrm>
          <a:prstGeom prst="rect">
            <a:avLst/>
          </a:prstGeom>
          <a:noFill/>
          <a:ln/>
        </p:spPr>
        <p:txBody>
          <a:bodyPr wrap="square" rtlCol="0" anchor="ctr"/>
          <a:lstStyle/>
          <a:p>
            <a:pPr indent="0" marL="0">
              <a:lnSpc>
                <a:spcPts val="1900"/>
              </a:lnSpc>
              <a:buNone/>
            </a:pPr>
            <a:r>
              <a:rPr lang="en-US" sz="1500" dirty="0">
                <a:solidFill>
                  <a:srgbClr val="1A2430"/>
                </a:solidFill>
                <a:latin typeface="Calibri" pitchFamily="34" charset="0"/>
                <a:ea typeface="Calibri" pitchFamily="34" charset="-122"/>
                <a:cs typeface="Calibri" pitchFamily="34" charset="-120"/>
              </a:rPr>
              <a:t>Design the loop for one team's system: from a low-confidence prediction to a retrained, validated, deployed model.</a:t>
            </a:r>
            <a:endParaRPr lang="en-US" sz="1500" dirty="0"/>
          </a:p>
        </p:txBody>
      </p:sp>
      <p:sp>
        <p:nvSpPr>
          <p:cNvPr id="6" name="Shape 4"/>
          <p:cNvSpPr/>
          <p:nvPr/>
        </p:nvSpPr>
        <p:spPr>
          <a:xfrm>
            <a:off x="640080" y="1783080"/>
            <a:ext cx="2560320" cy="384048"/>
          </a:xfrm>
          <a:prstGeom prst="rect">
            <a:avLst/>
          </a:prstGeom>
          <a:solidFill>
            <a:srgbClr val="21295C"/>
          </a:solidFill>
          <a:ln/>
        </p:spPr>
      </p:sp>
      <p:sp>
        <p:nvSpPr>
          <p:cNvPr id="7" name="Text 5"/>
          <p:cNvSpPr/>
          <p:nvPr/>
        </p:nvSpPr>
        <p:spPr>
          <a:xfrm>
            <a:off x="749808" y="1783080"/>
            <a:ext cx="234086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Element</a:t>
            </a:r>
            <a:endParaRPr lang="en-US" sz="1100" dirty="0"/>
          </a:p>
        </p:txBody>
      </p:sp>
      <p:sp>
        <p:nvSpPr>
          <p:cNvPr id="8" name="Shape 6"/>
          <p:cNvSpPr/>
          <p:nvPr/>
        </p:nvSpPr>
        <p:spPr>
          <a:xfrm>
            <a:off x="3200400" y="1783080"/>
            <a:ext cx="8321040" cy="384048"/>
          </a:xfrm>
          <a:prstGeom prst="rect">
            <a:avLst/>
          </a:prstGeom>
          <a:solidFill>
            <a:srgbClr val="21295C"/>
          </a:solidFill>
          <a:ln/>
        </p:spPr>
      </p:sp>
      <p:sp>
        <p:nvSpPr>
          <p:cNvPr id="9" name="Text 7"/>
          <p:cNvSpPr/>
          <p:nvPr/>
        </p:nvSpPr>
        <p:spPr>
          <a:xfrm>
            <a:off x="3310128" y="1783080"/>
            <a:ext cx="8101584"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Define</a:t>
            </a:r>
            <a:endParaRPr lang="en-US" sz="1100" dirty="0"/>
          </a:p>
        </p:txBody>
      </p:sp>
      <p:sp>
        <p:nvSpPr>
          <p:cNvPr id="10" name="Shape 8"/>
          <p:cNvSpPr/>
          <p:nvPr/>
        </p:nvSpPr>
        <p:spPr>
          <a:xfrm>
            <a:off x="640080" y="2167128"/>
            <a:ext cx="2560320" cy="502920"/>
          </a:xfrm>
          <a:prstGeom prst="rect">
            <a:avLst/>
          </a:prstGeom>
          <a:solidFill>
            <a:srgbClr val="FFFFFF"/>
          </a:solidFill>
          <a:ln w="9525">
            <a:solidFill>
              <a:srgbClr val="E3EBF0"/>
            </a:solidFill>
            <a:prstDash val="solid"/>
          </a:ln>
        </p:spPr>
      </p:sp>
      <p:sp>
        <p:nvSpPr>
          <p:cNvPr id="11" name="Text 9"/>
          <p:cNvSpPr/>
          <p:nvPr/>
        </p:nvSpPr>
        <p:spPr>
          <a:xfrm>
            <a:off x="749808" y="2167128"/>
            <a:ext cx="234086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Routing rule</a:t>
            </a:r>
            <a:endParaRPr lang="en-US" sz="1050" dirty="0"/>
          </a:p>
        </p:txBody>
      </p:sp>
      <p:sp>
        <p:nvSpPr>
          <p:cNvPr id="12" name="Shape 10"/>
          <p:cNvSpPr/>
          <p:nvPr/>
        </p:nvSpPr>
        <p:spPr>
          <a:xfrm>
            <a:off x="3200400" y="2167128"/>
            <a:ext cx="8321040" cy="502920"/>
          </a:xfrm>
          <a:prstGeom prst="rect">
            <a:avLst/>
          </a:prstGeom>
          <a:solidFill>
            <a:srgbClr val="FFFFFF"/>
          </a:solidFill>
          <a:ln w="9525">
            <a:solidFill>
              <a:srgbClr val="E3EBF0"/>
            </a:solidFill>
            <a:prstDash val="solid"/>
          </a:ln>
        </p:spPr>
      </p:sp>
      <p:sp>
        <p:nvSpPr>
          <p:cNvPr id="13" name="Text 11"/>
          <p:cNvSpPr/>
          <p:nvPr/>
        </p:nvSpPr>
        <p:spPr>
          <a:xfrm>
            <a:off x="3310128" y="2167128"/>
            <a:ext cx="81015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What confidence range goes to review, plus any always-review classes</a:t>
            </a:r>
            <a:endParaRPr lang="en-US" sz="1050" dirty="0"/>
          </a:p>
        </p:txBody>
      </p:sp>
      <p:sp>
        <p:nvSpPr>
          <p:cNvPr id="14" name="Shape 12"/>
          <p:cNvSpPr/>
          <p:nvPr/>
        </p:nvSpPr>
        <p:spPr>
          <a:xfrm>
            <a:off x="640080" y="2670048"/>
            <a:ext cx="2560320" cy="502920"/>
          </a:xfrm>
          <a:prstGeom prst="rect">
            <a:avLst/>
          </a:prstGeom>
          <a:solidFill>
            <a:srgbClr val="F5F9FB"/>
          </a:solidFill>
          <a:ln w="9525">
            <a:solidFill>
              <a:srgbClr val="E3EBF0"/>
            </a:solidFill>
            <a:prstDash val="solid"/>
          </a:ln>
        </p:spPr>
      </p:sp>
      <p:sp>
        <p:nvSpPr>
          <p:cNvPr id="15" name="Text 13"/>
          <p:cNvSpPr/>
          <p:nvPr/>
        </p:nvSpPr>
        <p:spPr>
          <a:xfrm>
            <a:off x="749808" y="2670048"/>
            <a:ext cx="234086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Volume estimate</a:t>
            </a:r>
            <a:endParaRPr lang="en-US" sz="1050" dirty="0"/>
          </a:p>
        </p:txBody>
      </p:sp>
      <p:sp>
        <p:nvSpPr>
          <p:cNvPr id="16" name="Shape 14"/>
          <p:cNvSpPr/>
          <p:nvPr/>
        </p:nvSpPr>
        <p:spPr>
          <a:xfrm>
            <a:off x="3200400" y="2670048"/>
            <a:ext cx="8321040" cy="502920"/>
          </a:xfrm>
          <a:prstGeom prst="rect">
            <a:avLst/>
          </a:prstGeom>
          <a:solidFill>
            <a:srgbClr val="F5F9FB"/>
          </a:solidFill>
          <a:ln w="9525">
            <a:solidFill>
              <a:srgbClr val="E3EBF0"/>
            </a:solidFill>
            <a:prstDash val="solid"/>
          </a:ln>
        </p:spPr>
      </p:sp>
      <p:sp>
        <p:nvSpPr>
          <p:cNvPr id="17" name="Text 15"/>
          <p:cNvSpPr/>
          <p:nvPr/>
        </p:nvSpPr>
        <p:spPr>
          <a:xfrm>
            <a:off x="3310128" y="2670048"/>
            <a:ext cx="81015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Reviews per shift at that threshold, against available reviewer capacity</a:t>
            </a:r>
            <a:endParaRPr lang="en-US" sz="1050" dirty="0"/>
          </a:p>
        </p:txBody>
      </p:sp>
      <p:sp>
        <p:nvSpPr>
          <p:cNvPr id="18" name="Shape 16"/>
          <p:cNvSpPr/>
          <p:nvPr/>
        </p:nvSpPr>
        <p:spPr>
          <a:xfrm>
            <a:off x="640080" y="3172968"/>
            <a:ext cx="2560320" cy="502920"/>
          </a:xfrm>
          <a:prstGeom prst="rect">
            <a:avLst/>
          </a:prstGeom>
          <a:solidFill>
            <a:srgbClr val="FFFFFF"/>
          </a:solidFill>
          <a:ln w="9525">
            <a:solidFill>
              <a:srgbClr val="E3EBF0"/>
            </a:solidFill>
            <a:prstDash val="solid"/>
          </a:ln>
        </p:spPr>
      </p:sp>
      <p:sp>
        <p:nvSpPr>
          <p:cNvPr id="19" name="Text 17"/>
          <p:cNvSpPr/>
          <p:nvPr/>
        </p:nvSpPr>
        <p:spPr>
          <a:xfrm>
            <a:off x="749808" y="3172968"/>
            <a:ext cx="234086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Reviewer interface</a:t>
            </a:r>
            <a:endParaRPr lang="en-US" sz="1050" dirty="0"/>
          </a:p>
        </p:txBody>
      </p:sp>
      <p:sp>
        <p:nvSpPr>
          <p:cNvPr id="20" name="Shape 18"/>
          <p:cNvSpPr/>
          <p:nvPr/>
        </p:nvSpPr>
        <p:spPr>
          <a:xfrm>
            <a:off x="3200400" y="3172968"/>
            <a:ext cx="8321040" cy="502920"/>
          </a:xfrm>
          <a:prstGeom prst="rect">
            <a:avLst/>
          </a:prstGeom>
          <a:solidFill>
            <a:srgbClr val="FFFFFF"/>
          </a:solidFill>
          <a:ln w="9525">
            <a:solidFill>
              <a:srgbClr val="E3EBF0"/>
            </a:solidFill>
            <a:prstDash val="solid"/>
          </a:ln>
        </p:spPr>
      </p:sp>
      <p:sp>
        <p:nvSpPr>
          <p:cNvPr id="21" name="Text 19"/>
          <p:cNvSpPr/>
          <p:nvPr/>
        </p:nvSpPr>
        <p:spPr>
          <a:xfrm>
            <a:off x="3310128" y="3172968"/>
            <a:ext cx="81015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What is shown, what actions are available, how long a review should take</a:t>
            </a:r>
            <a:endParaRPr lang="en-US" sz="1050" dirty="0"/>
          </a:p>
        </p:txBody>
      </p:sp>
      <p:sp>
        <p:nvSpPr>
          <p:cNvPr id="22" name="Shape 20"/>
          <p:cNvSpPr/>
          <p:nvPr/>
        </p:nvSpPr>
        <p:spPr>
          <a:xfrm>
            <a:off x="640080" y="3675888"/>
            <a:ext cx="2560320" cy="502920"/>
          </a:xfrm>
          <a:prstGeom prst="rect">
            <a:avLst/>
          </a:prstGeom>
          <a:solidFill>
            <a:srgbClr val="F5F9FB"/>
          </a:solidFill>
          <a:ln w="9525">
            <a:solidFill>
              <a:srgbClr val="E3EBF0"/>
            </a:solidFill>
            <a:prstDash val="solid"/>
          </a:ln>
        </p:spPr>
      </p:sp>
      <p:sp>
        <p:nvSpPr>
          <p:cNvPr id="23" name="Text 21"/>
          <p:cNvSpPr/>
          <p:nvPr/>
        </p:nvSpPr>
        <p:spPr>
          <a:xfrm>
            <a:off x="749808" y="3675888"/>
            <a:ext cx="234086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Capture schema</a:t>
            </a:r>
            <a:endParaRPr lang="en-US" sz="1050" dirty="0"/>
          </a:p>
        </p:txBody>
      </p:sp>
      <p:sp>
        <p:nvSpPr>
          <p:cNvPr id="24" name="Shape 22"/>
          <p:cNvSpPr/>
          <p:nvPr/>
        </p:nvSpPr>
        <p:spPr>
          <a:xfrm>
            <a:off x="3200400" y="3675888"/>
            <a:ext cx="8321040" cy="502920"/>
          </a:xfrm>
          <a:prstGeom prst="rect">
            <a:avLst/>
          </a:prstGeom>
          <a:solidFill>
            <a:srgbClr val="F5F9FB"/>
          </a:solidFill>
          <a:ln w="9525">
            <a:solidFill>
              <a:srgbClr val="E3EBF0"/>
            </a:solidFill>
            <a:prstDash val="solid"/>
          </a:ln>
        </p:spPr>
      </p:sp>
      <p:sp>
        <p:nvSpPr>
          <p:cNvPr id="25" name="Text 23"/>
          <p:cNvSpPr/>
          <p:nvPr/>
        </p:nvSpPr>
        <p:spPr>
          <a:xfrm>
            <a:off x="3310128" y="3675888"/>
            <a:ext cx="81015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Exactly what is stored per review, and where it lives</a:t>
            </a:r>
            <a:endParaRPr lang="en-US" sz="1050" dirty="0"/>
          </a:p>
        </p:txBody>
      </p:sp>
      <p:sp>
        <p:nvSpPr>
          <p:cNvPr id="26" name="Shape 24"/>
          <p:cNvSpPr/>
          <p:nvPr/>
        </p:nvSpPr>
        <p:spPr>
          <a:xfrm>
            <a:off x="640080" y="4178808"/>
            <a:ext cx="2560320" cy="502920"/>
          </a:xfrm>
          <a:prstGeom prst="rect">
            <a:avLst/>
          </a:prstGeom>
          <a:solidFill>
            <a:srgbClr val="FFFFFF"/>
          </a:solidFill>
          <a:ln w="9525">
            <a:solidFill>
              <a:srgbClr val="E3EBF0"/>
            </a:solidFill>
            <a:prstDash val="solid"/>
          </a:ln>
        </p:spPr>
      </p:sp>
      <p:sp>
        <p:nvSpPr>
          <p:cNvPr id="27" name="Text 25"/>
          <p:cNvSpPr/>
          <p:nvPr/>
        </p:nvSpPr>
        <p:spPr>
          <a:xfrm>
            <a:off x="749808" y="4178808"/>
            <a:ext cx="234086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Selection strategy</a:t>
            </a:r>
            <a:endParaRPr lang="en-US" sz="1050" dirty="0"/>
          </a:p>
        </p:txBody>
      </p:sp>
      <p:sp>
        <p:nvSpPr>
          <p:cNvPr id="28" name="Shape 26"/>
          <p:cNvSpPr/>
          <p:nvPr/>
        </p:nvSpPr>
        <p:spPr>
          <a:xfrm>
            <a:off x="3200400" y="4178808"/>
            <a:ext cx="8321040" cy="502920"/>
          </a:xfrm>
          <a:prstGeom prst="rect">
            <a:avLst/>
          </a:prstGeom>
          <a:solidFill>
            <a:srgbClr val="FFFFFF"/>
          </a:solidFill>
          <a:ln w="9525">
            <a:solidFill>
              <a:srgbClr val="E3EBF0"/>
            </a:solidFill>
            <a:prstDash val="solid"/>
          </a:ln>
        </p:spPr>
      </p:sp>
      <p:sp>
        <p:nvSpPr>
          <p:cNvPr id="29" name="Text 27"/>
          <p:cNvSpPr/>
          <p:nvPr/>
        </p:nvSpPr>
        <p:spPr>
          <a:xfrm>
            <a:off x="3310128" y="4178808"/>
            <a:ext cx="81015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Which captured cases enter the next training batch, and how they are chosen</a:t>
            </a:r>
            <a:endParaRPr lang="en-US" sz="1050" dirty="0"/>
          </a:p>
        </p:txBody>
      </p:sp>
      <p:sp>
        <p:nvSpPr>
          <p:cNvPr id="30" name="Shape 28"/>
          <p:cNvSpPr/>
          <p:nvPr/>
        </p:nvSpPr>
        <p:spPr>
          <a:xfrm>
            <a:off x="640080" y="4681728"/>
            <a:ext cx="2560320" cy="502920"/>
          </a:xfrm>
          <a:prstGeom prst="rect">
            <a:avLst/>
          </a:prstGeom>
          <a:solidFill>
            <a:srgbClr val="F5F9FB"/>
          </a:solidFill>
          <a:ln w="9525">
            <a:solidFill>
              <a:srgbClr val="E3EBF0"/>
            </a:solidFill>
            <a:prstDash val="solid"/>
          </a:ln>
        </p:spPr>
      </p:sp>
      <p:sp>
        <p:nvSpPr>
          <p:cNvPr id="31" name="Text 29"/>
          <p:cNvSpPr/>
          <p:nvPr/>
        </p:nvSpPr>
        <p:spPr>
          <a:xfrm>
            <a:off x="749808" y="4681728"/>
            <a:ext cx="234086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Retraining trigger</a:t>
            </a:r>
            <a:endParaRPr lang="en-US" sz="1050" dirty="0"/>
          </a:p>
        </p:txBody>
      </p:sp>
      <p:sp>
        <p:nvSpPr>
          <p:cNvPr id="32" name="Shape 30"/>
          <p:cNvSpPr/>
          <p:nvPr/>
        </p:nvSpPr>
        <p:spPr>
          <a:xfrm>
            <a:off x="3200400" y="4681728"/>
            <a:ext cx="8321040" cy="502920"/>
          </a:xfrm>
          <a:prstGeom prst="rect">
            <a:avLst/>
          </a:prstGeom>
          <a:solidFill>
            <a:srgbClr val="F5F9FB"/>
          </a:solidFill>
          <a:ln w="9525">
            <a:solidFill>
              <a:srgbClr val="E3EBF0"/>
            </a:solidFill>
            <a:prstDash val="solid"/>
          </a:ln>
        </p:spPr>
      </p:sp>
      <p:sp>
        <p:nvSpPr>
          <p:cNvPr id="33" name="Text 31"/>
          <p:cNvSpPr/>
          <p:nvPr/>
        </p:nvSpPr>
        <p:spPr>
          <a:xfrm>
            <a:off x="3310128" y="4681728"/>
            <a:ext cx="81015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Volume, drift, schedule or process change — with the specific thresholds</a:t>
            </a:r>
            <a:endParaRPr lang="en-US" sz="1050" dirty="0"/>
          </a:p>
        </p:txBody>
      </p:sp>
      <p:sp>
        <p:nvSpPr>
          <p:cNvPr id="34" name="Shape 32"/>
          <p:cNvSpPr/>
          <p:nvPr/>
        </p:nvSpPr>
        <p:spPr>
          <a:xfrm>
            <a:off x="640080" y="5184648"/>
            <a:ext cx="2560320" cy="502920"/>
          </a:xfrm>
          <a:prstGeom prst="rect">
            <a:avLst/>
          </a:prstGeom>
          <a:solidFill>
            <a:srgbClr val="FFFFFF"/>
          </a:solidFill>
          <a:ln w="9525">
            <a:solidFill>
              <a:srgbClr val="E3EBF0"/>
            </a:solidFill>
            <a:prstDash val="solid"/>
          </a:ln>
        </p:spPr>
      </p:sp>
      <p:sp>
        <p:nvSpPr>
          <p:cNvPr id="35" name="Text 33"/>
          <p:cNvSpPr/>
          <p:nvPr/>
        </p:nvSpPr>
        <p:spPr>
          <a:xfrm>
            <a:off x="749808" y="5184648"/>
            <a:ext cx="234086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Validation gate</a:t>
            </a:r>
            <a:endParaRPr lang="en-US" sz="1050" dirty="0"/>
          </a:p>
        </p:txBody>
      </p:sp>
      <p:sp>
        <p:nvSpPr>
          <p:cNvPr id="36" name="Shape 34"/>
          <p:cNvSpPr/>
          <p:nvPr/>
        </p:nvSpPr>
        <p:spPr>
          <a:xfrm>
            <a:off x="3200400" y="5184648"/>
            <a:ext cx="8321040" cy="502920"/>
          </a:xfrm>
          <a:prstGeom prst="rect">
            <a:avLst/>
          </a:prstGeom>
          <a:solidFill>
            <a:srgbClr val="FFFFFF"/>
          </a:solidFill>
          <a:ln w="9525">
            <a:solidFill>
              <a:srgbClr val="E3EBF0"/>
            </a:solidFill>
            <a:prstDash val="solid"/>
          </a:ln>
        </p:spPr>
      </p:sp>
      <p:sp>
        <p:nvSpPr>
          <p:cNvPr id="37" name="Text 35"/>
          <p:cNvSpPr/>
          <p:nvPr/>
        </p:nvSpPr>
        <p:spPr>
          <a:xfrm>
            <a:off x="3310128" y="5184648"/>
            <a:ext cx="81015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What the retrained model must achieve before promotion</a:t>
            </a:r>
            <a:endParaRPr lang="en-US" sz="1050" dirty="0"/>
          </a:p>
        </p:txBody>
      </p:sp>
      <p:sp>
        <p:nvSpPr>
          <p:cNvPr id="38" name="Shape 36"/>
          <p:cNvSpPr/>
          <p:nvPr/>
        </p:nvSpPr>
        <p:spPr>
          <a:xfrm>
            <a:off x="640080" y="5687568"/>
            <a:ext cx="2560320" cy="502920"/>
          </a:xfrm>
          <a:prstGeom prst="rect">
            <a:avLst/>
          </a:prstGeom>
          <a:solidFill>
            <a:srgbClr val="F5F9FB"/>
          </a:solidFill>
          <a:ln w="9525">
            <a:solidFill>
              <a:srgbClr val="E3EBF0"/>
            </a:solidFill>
            <a:prstDash val="solid"/>
          </a:ln>
        </p:spPr>
      </p:sp>
      <p:sp>
        <p:nvSpPr>
          <p:cNvPr id="39" name="Text 37"/>
          <p:cNvSpPr/>
          <p:nvPr/>
        </p:nvSpPr>
        <p:spPr>
          <a:xfrm>
            <a:off x="749808" y="5687568"/>
            <a:ext cx="2340864" cy="502920"/>
          </a:xfrm>
          <a:prstGeom prst="rect">
            <a:avLst/>
          </a:prstGeom>
          <a:noFill/>
          <a:ln/>
        </p:spPr>
        <p:txBody>
          <a:bodyPr wrap="square" lIns="0" tIns="0" rIns="0" bIns="0" rtlCol="0" anchor="ctr"/>
          <a:lstStyle/>
          <a:p>
            <a:pPr indent="0" marL="0">
              <a:lnSpc>
                <a:spcPts val="1300"/>
              </a:lnSpc>
              <a:buNone/>
            </a:pPr>
            <a:r>
              <a:rPr lang="en-US" sz="1050" b="1" dirty="0">
                <a:solidFill>
                  <a:srgbClr val="065A82"/>
                </a:solidFill>
                <a:latin typeface="Calibri" pitchFamily="34" charset="0"/>
                <a:ea typeface="Calibri" pitchFamily="34" charset="-122"/>
                <a:cs typeface="Calibri" pitchFamily="34" charset="-120"/>
              </a:rPr>
              <a:t>Reviewer feedback</a:t>
            </a:r>
            <a:endParaRPr lang="en-US" sz="1050" dirty="0"/>
          </a:p>
        </p:txBody>
      </p:sp>
      <p:sp>
        <p:nvSpPr>
          <p:cNvPr id="40" name="Shape 38"/>
          <p:cNvSpPr/>
          <p:nvPr/>
        </p:nvSpPr>
        <p:spPr>
          <a:xfrm>
            <a:off x="3200400" y="5687568"/>
            <a:ext cx="8321040" cy="502920"/>
          </a:xfrm>
          <a:prstGeom prst="rect">
            <a:avLst/>
          </a:prstGeom>
          <a:solidFill>
            <a:srgbClr val="F5F9FB"/>
          </a:solidFill>
          <a:ln w="9525">
            <a:solidFill>
              <a:srgbClr val="E3EBF0"/>
            </a:solidFill>
            <a:prstDash val="solid"/>
          </a:ln>
        </p:spPr>
      </p:sp>
      <p:sp>
        <p:nvSpPr>
          <p:cNvPr id="41" name="Text 39"/>
          <p:cNvSpPr/>
          <p:nvPr/>
        </p:nvSpPr>
        <p:spPr>
          <a:xfrm>
            <a:off x="3310128" y="5687568"/>
            <a:ext cx="8101584" cy="502920"/>
          </a:xfrm>
          <a:prstGeom prst="rect">
            <a:avLst/>
          </a:prstGeom>
          <a:noFill/>
          <a:ln/>
        </p:spPr>
        <p:txBody>
          <a:bodyPr wrap="square" lIns="0" tIns="0" rIns="0" bIns="0" rtlCol="0" anchor="ctr"/>
          <a:lstStyle/>
          <a:p>
            <a:pPr indent="0" marL="0">
              <a:lnSpc>
                <a:spcPts val="1300"/>
              </a:lnSpc>
              <a:buNone/>
            </a:pPr>
            <a:r>
              <a:rPr lang="en-US" sz="1050" dirty="0">
                <a:solidFill>
                  <a:srgbClr val="1A2430"/>
                </a:solidFill>
                <a:latin typeface="Calibri" pitchFamily="34" charset="0"/>
                <a:ea typeface="Calibri" pitchFamily="34" charset="-122"/>
                <a:cs typeface="Calibri" pitchFamily="34" charset="-120"/>
              </a:rPr>
              <a:t>How reviewers learn that their corrections mattered</a:t>
            </a:r>
            <a:endParaRPr lang="en-US" sz="1050" dirty="0"/>
          </a:p>
        </p:txBody>
      </p:sp>
      <p:sp>
        <p:nvSpPr>
          <p:cNvPr id="42" name="Text 40"/>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Deliverable: a loop diagram with the volume arithmetic on it. If the numbers do not work, the design does not work.</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SCORED · SUBMIT BY TOMORROW MORNING</a:t>
            </a:r>
            <a:endParaRPr lang="en-US" sz="1050" dirty="0"/>
          </a:p>
        </p:txBody>
      </p:sp>
      <p:sp>
        <p:nvSpPr>
          <p:cNvPr id="3" name="Text 1"/>
          <p:cNvSpPr/>
          <p:nvPr/>
        </p:nvSpPr>
        <p:spPr>
          <a:xfrm>
            <a:off x="640080" y="658368"/>
            <a:ext cx="10881360" cy="685800"/>
          </a:xfrm>
          <a:prstGeom prst="rect">
            <a:avLst/>
          </a:prstGeom>
          <a:noFill/>
          <a:ln/>
        </p:spPr>
        <p:txBody>
          <a:bodyPr wrap="square" rtlCol="0" anchor="ctr"/>
          <a:lstStyle/>
          <a:p>
            <a:pPr indent="0" marL="0">
              <a:buNone/>
            </a:pPr>
            <a:r>
              <a:rPr lang="en-US" sz="2700" b="1" dirty="0">
                <a:solidFill>
                  <a:srgbClr val="1A2430"/>
                </a:solidFill>
                <a:latin typeface="Cambria" pitchFamily="34" charset="0"/>
                <a:ea typeface="Cambria" pitchFamily="34" charset="-122"/>
                <a:cs typeface="Cambria" pitchFamily="34" charset="-120"/>
              </a:rPr>
              <a:t>Day 4 assignment</a:t>
            </a:r>
            <a:endParaRPr lang="en-US" sz="2700" dirty="0"/>
          </a:p>
        </p:txBody>
      </p:sp>
      <p:sp>
        <p:nvSpPr>
          <p:cNvPr id="4" name="Text 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37</a:t>
            </a:r>
            <a:endParaRPr lang="en-US" sz="1000" dirty="0"/>
          </a:p>
        </p:txBody>
      </p:sp>
      <p:sp>
        <p:nvSpPr>
          <p:cNvPr id="5" name="Shape 3"/>
          <p:cNvSpPr/>
          <p:nvPr/>
        </p:nvSpPr>
        <p:spPr>
          <a:xfrm>
            <a:off x="640080" y="1481328"/>
            <a:ext cx="365760" cy="365760"/>
          </a:xfrm>
          <a:prstGeom prst="ellipse">
            <a:avLst/>
          </a:prstGeom>
          <a:solidFill>
            <a:srgbClr val="065A82"/>
          </a:solidFill>
          <a:ln/>
        </p:spPr>
      </p:sp>
      <p:sp>
        <p:nvSpPr>
          <p:cNvPr id="6" name="Text 4"/>
          <p:cNvSpPr/>
          <p:nvPr/>
        </p:nvSpPr>
        <p:spPr>
          <a:xfrm>
            <a:off x="640080" y="14813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325880"/>
            <a:ext cx="4206240" cy="585216"/>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CV or ML error analysis</a:t>
            </a:r>
            <a:endParaRPr lang="en-US" sz="1300" dirty="0"/>
          </a:p>
        </p:txBody>
      </p:sp>
      <p:sp>
        <p:nvSpPr>
          <p:cNvPr id="8" name="Text 6"/>
          <p:cNvSpPr/>
          <p:nvPr/>
        </p:nvSpPr>
        <p:spPr>
          <a:xfrm>
            <a:off x="5715000" y="1325880"/>
            <a:ext cx="5806440" cy="585216"/>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Ranked failure taxonomy with counts, per-class recall, and the label audit result</a:t>
            </a:r>
            <a:endParaRPr lang="en-US" sz="1150" dirty="0"/>
          </a:p>
        </p:txBody>
      </p:sp>
      <p:sp>
        <p:nvSpPr>
          <p:cNvPr id="9" name="Shape 7"/>
          <p:cNvSpPr/>
          <p:nvPr/>
        </p:nvSpPr>
        <p:spPr>
          <a:xfrm>
            <a:off x="640080" y="2157984"/>
            <a:ext cx="365760" cy="365760"/>
          </a:xfrm>
          <a:prstGeom prst="ellipse">
            <a:avLst/>
          </a:prstGeom>
          <a:solidFill>
            <a:srgbClr val="065A82"/>
          </a:solidFill>
          <a:ln/>
        </p:spPr>
      </p:sp>
      <p:sp>
        <p:nvSpPr>
          <p:cNvPr id="10" name="Text 8"/>
          <p:cNvSpPr/>
          <p:nvPr/>
        </p:nvSpPr>
        <p:spPr>
          <a:xfrm>
            <a:off x="640080" y="2157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88720" y="2002536"/>
            <a:ext cx="4206240" cy="585216"/>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Improvement hypotheses and validation</a:t>
            </a:r>
            <a:endParaRPr lang="en-US" sz="1300" dirty="0"/>
          </a:p>
        </p:txBody>
      </p:sp>
      <p:sp>
        <p:nvSpPr>
          <p:cNvPr id="12" name="Text 10"/>
          <p:cNvSpPr/>
          <p:nvPr/>
        </p:nvSpPr>
        <p:spPr>
          <a:xfrm>
            <a:off x="5715000" y="2002536"/>
            <a:ext cx="5806440" cy="585216"/>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Three measurable hypotheses with test, sample size and pass criterion set in advance</a:t>
            </a:r>
            <a:endParaRPr lang="en-US" sz="1150" dirty="0"/>
          </a:p>
        </p:txBody>
      </p:sp>
      <p:sp>
        <p:nvSpPr>
          <p:cNvPr id="13" name="Shape 11"/>
          <p:cNvSpPr/>
          <p:nvPr/>
        </p:nvSpPr>
        <p:spPr>
          <a:xfrm>
            <a:off x="640080" y="2834640"/>
            <a:ext cx="365760" cy="365760"/>
          </a:xfrm>
          <a:prstGeom prst="ellipse">
            <a:avLst/>
          </a:prstGeom>
          <a:solidFill>
            <a:srgbClr val="065A82"/>
          </a:solidFill>
          <a:ln/>
        </p:spPr>
      </p:sp>
      <p:sp>
        <p:nvSpPr>
          <p:cNvPr id="14" name="Text 12"/>
          <p:cNvSpPr/>
          <p:nvPr/>
        </p:nvSpPr>
        <p:spPr>
          <a:xfrm>
            <a:off x="640080" y="2834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188720" y="2679192"/>
            <a:ext cx="4206240" cy="585216"/>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Active learning strategy</a:t>
            </a:r>
            <a:endParaRPr lang="en-US" sz="1300" dirty="0"/>
          </a:p>
        </p:txBody>
      </p:sp>
      <p:sp>
        <p:nvSpPr>
          <p:cNvPr id="16" name="Text 14"/>
          <p:cNvSpPr/>
          <p:nvPr/>
        </p:nvSpPr>
        <p:spPr>
          <a:xfrm>
            <a:off x="5715000" y="2679192"/>
            <a:ext cx="5806440" cy="585216"/>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Sampling strategy chosen and justified, with the calibration check completed</a:t>
            </a:r>
            <a:endParaRPr lang="en-US" sz="1150" dirty="0"/>
          </a:p>
        </p:txBody>
      </p:sp>
      <p:sp>
        <p:nvSpPr>
          <p:cNvPr id="17" name="Shape 15"/>
          <p:cNvSpPr/>
          <p:nvPr/>
        </p:nvSpPr>
        <p:spPr>
          <a:xfrm>
            <a:off x="640080" y="3511296"/>
            <a:ext cx="365760" cy="365760"/>
          </a:xfrm>
          <a:prstGeom prst="ellipse">
            <a:avLst/>
          </a:prstGeom>
          <a:solidFill>
            <a:srgbClr val="065A82"/>
          </a:solidFill>
          <a:ln/>
        </p:spPr>
      </p:sp>
      <p:sp>
        <p:nvSpPr>
          <p:cNvPr id="18" name="Text 16"/>
          <p:cNvSpPr/>
          <p:nvPr/>
        </p:nvSpPr>
        <p:spPr>
          <a:xfrm>
            <a:off x="640080" y="35112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3355848"/>
            <a:ext cx="4206240" cy="585216"/>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Feedback loop design</a:t>
            </a:r>
            <a:endParaRPr lang="en-US" sz="1300" dirty="0"/>
          </a:p>
        </p:txBody>
      </p:sp>
      <p:sp>
        <p:nvSpPr>
          <p:cNvPr id="20" name="Text 18"/>
          <p:cNvSpPr/>
          <p:nvPr/>
        </p:nvSpPr>
        <p:spPr>
          <a:xfrm>
            <a:off x="5715000" y="3355848"/>
            <a:ext cx="5806440" cy="585216"/>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The full loop with routing rule, volume arithmetic, capture schema and reviewer feedback</a:t>
            </a:r>
            <a:endParaRPr lang="en-US" sz="1150" dirty="0"/>
          </a:p>
        </p:txBody>
      </p:sp>
      <p:sp>
        <p:nvSpPr>
          <p:cNvPr id="21" name="Shape 19"/>
          <p:cNvSpPr/>
          <p:nvPr/>
        </p:nvSpPr>
        <p:spPr>
          <a:xfrm>
            <a:off x="640080" y="4187952"/>
            <a:ext cx="365760" cy="365760"/>
          </a:xfrm>
          <a:prstGeom prst="ellipse">
            <a:avLst/>
          </a:prstGeom>
          <a:solidFill>
            <a:srgbClr val="065A82"/>
          </a:solidFill>
          <a:ln/>
        </p:spPr>
      </p:sp>
      <p:sp>
        <p:nvSpPr>
          <p:cNvPr id="22" name="Text 20"/>
          <p:cNvSpPr/>
          <p:nvPr/>
        </p:nvSpPr>
        <p:spPr>
          <a:xfrm>
            <a:off x="640080" y="41879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188720" y="4032504"/>
            <a:ext cx="4206240" cy="585216"/>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MLOps pipeline diagram</a:t>
            </a:r>
            <a:endParaRPr lang="en-US" sz="1300" dirty="0"/>
          </a:p>
        </p:txBody>
      </p:sp>
      <p:sp>
        <p:nvSpPr>
          <p:cNvPr id="24" name="Text 22"/>
          <p:cNvSpPr/>
          <p:nvPr/>
        </p:nvSpPr>
        <p:spPr>
          <a:xfrm>
            <a:off x="5715000" y="4032504"/>
            <a:ext cx="5806440" cy="585216"/>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Versioning, training, evaluation gate, registry, deployment and rollback</a:t>
            </a:r>
            <a:endParaRPr lang="en-US" sz="1150" dirty="0"/>
          </a:p>
        </p:txBody>
      </p:sp>
      <p:sp>
        <p:nvSpPr>
          <p:cNvPr id="25" name="Shape 23"/>
          <p:cNvSpPr/>
          <p:nvPr/>
        </p:nvSpPr>
        <p:spPr>
          <a:xfrm>
            <a:off x="640080" y="4864608"/>
            <a:ext cx="365760" cy="365760"/>
          </a:xfrm>
          <a:prstGeom prst="ellipse">
            <a:avLst/>
          </a:prstGeom>
          <a:solidFill>
            <a:srgbClr val="065A82"/>
          </a:solidFill>
          <a:ln/>
        </p:spPr>
      </p:sp>
      <p:sp>
        <p:nvSpPr>
          <p:cNvPr id="26" name="Text 24"/>
          <p:cNvSpPr/>
          <p:nvPr/>
        </p:nvSpPr>
        <p:spPr>
          <a:xfrm>
            <a:off x="640080" y="48646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1188720" y="4709160"/>
            <a:ext cx="4206240" cy="585216"/>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Monitoring and retraining plan</a:t>
            </a:r>
            <a:endParaRPr lang="en-US" sz="1300" dirty="0"/>
          </a:p>
        </p:txBody>
      </p:sp>
      <p:sp>
        <p:nvSpPr>
          <p:cNvPr id="28" name="Text 26"/>
          <p:cNvSpPr/>
          <p:nvPr/>
        </p:nvSpPr>
        <p:spPr>
          <a:xfrm>
            <a:off x="5715000" y="4709160"/>
            <a:ext cx="5806440" cy="585216"/>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Signals tracked, thresholds, alert routing and the specific retraining triggers</a:t>
            </a:r>
            <a:endParaRPr lang="en-US" sz="1150" dirty="0"/>
          </a:p>
        </p:txBody>
      </p:sp>
      <p:sp>
        <p:nvSpPr>
          <p:cNvPr id="29" name="Shape 27"/>
          <p:cNvSpPr/>
          <p:nvPr/>
        </p:nvSpPr>
        <p:spPr>
          <a:xfrm>
            <a:off x="640080" y="5541264"/>
            <a:ext cx="365760" cy="365760"/>
          </a:xfrm>
          <a:prstGeom prst="ellipse">
            <a:avLst/>
          </a:prstGeom>
          <a:solidFill>
            <a:srgbClr val="065A82"/>
          </a:solidFill>
          <a:ln/>
        </p:spPr>
      </p:sp>
      <p:sp>
        <p:nvSpPr>
          <p:cNvPr id="30" name="Text 28"/>
          <p:cNvSpPr/>
          <p:nvPr/>
        </p:nvSpPr>
        <p:spPr>
          <a:xfrm>
            <a:off x="640080" y="55412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188720" y="5385816"/>
            <a:ext cx="4206240" cy="585216"/>
          </a:xfrm>
          <a:prstGeom prst="rect">
            <a:avLst/>
          </a:prstGeom>
          <a:noFill/>
          <a:ln/>
        </p:spPr>
        <p:txBody>
          <a:bodyPr wrap="square" lIns="0" tIns="0" rIns="0" bIns="0" rtlCol="0" anchor="ctr"/>
          <a:lstStyle/>
          <a:p>
            <a:pPr indent="0" marL="0">
              <a:lnSpc>
                <a:spcPts val="1600"/>
              </a:lnSpc>
              <a:buNone/>
            </a:pPr>
            <a:r>
              <a:rPr lang="en-US" sz="1300" b="1" dirty="0">
                <a:solidFill>
                  <a:srgbClr val="1A2430"/>
                </a:solidFill>
                <a:latin typeface="Calibri" pitchFamily="34" charset="0"/>
                <a:ea typeface="Calibri" pitchFamily="34" charset="-122"/>
                <a:cs typeface="Calibri" pitchFamily="34" charset="-120"/>
              </a:rPr>
              <a:t>Expected accuracy improvement roadmap</a:t>
            </a:r>
            <a:endParaRPr lang="en-US" sz="1300" dirty="0"/>
          </a:p>
        </p:txBody>
      </p:sp>
      <p:sp>
        <p:nvSpPr>
          <p:cNvPr id="32" name="Text 30"/>
          <p:cNvSpPr/>
          <p:nvPr/>
        </p:nvSpPr>
        <p:spPr>
          <a:xfrm>
            <a:off x="5715000" y="5385816"/>
            <a:ext cx="5806440" cy="585216"/>
          </a:xfrm>
          <a:prstGeom prst="rect">
            <a:avLst/>
          </a:prstGeom>
          <a:noFill/>
          <a:ln/>
        </p:spPr>
        <p:txBody>
          <a:bodyPr wrap="square" lIns="0" tIns="0" rIns="0" bIns="0" rtlCol="0" anchor="ctr"/>
          <a:lstStyle/>
          <a:p>
            <a:pPr indent="0" marL="0">
              <a:lnSpc>
                <a:spcPts val="1500"/>
              </a:lnSpc>
              <a:buNone/>
            </a:pPr>
            <a:r>
              <a:rPr lang="en-US" sz="1150" dirty="0">
                <a:solidFill>
                  <a:srgbClr val="5A6B7C"/>
                </a:solidFill>
                <a:latin typeface="Calibri" pitchFamily="34" charset="0"/>
                <a:ea typeface="Calibri" pitchFamily="34" charset="-122"/>
                <a:cs typeface="Calibri" pitchFamily="34" charset="-120"/>
              </a:rPr>
              <a:t>What you expect each intervention to deliver, with the evidence behind the estimate</a:t>
            </a:r>
            <a:endParaRPr lang="en-US" sz="1150" dirty="0"/>
          </a:p>
        </p:txBody>
      </p:sp>
      <p:sp>
        <p:nvSpPr>
          <p:cNvPr id="33" name="Text 31"/>
          <p:cNvSpPr/>
          <p:nvPr/>
        </p:nvSpPr>
        <p:spPr>
          <a:xfrm>
            <a:off x="640080" y="5989320"/>
            <a:ext cx="10881360" cy="411480"/>
          </a:xfrm>
          <a:prstGeom prst="rect">
            <a:avLst/>
          </a:prstGeom>
          <a:noFill/>
          <a:ln/>
        </p:spPr>
        <p:txBody>
          <a:bodyPr wrap="square" rtlCol="0" anchor="ctr"/>
          <a:lstStyle/>
          <a:p>
            <a:pPr indent="0" marL="0">
              <a:lnSpc>
                <a:spcPts val="1600"/>
              </a:lnSpc>
              <a:buNone/>
            </a:pPr>
            <a:r>
              <a:rPr lang="en-US" sz="1250" b="1" dirty="0">
                <a:solidFill>
                  <a:srgbClr val="1C7293"/>
                </a:solidFill>
                <a:latin typeface="Calibri" pitchFamily="34" charset="0"/>
                <a:ea typeface="Calibri" pitchFamily="34" charset="-122"/>
                <a:cs typeface="Calibri" pitchFamily="34" charset="-120"/>
              </a:rPr>
              <a:t>Scored on: diagnostic rigour, hypothesis quality, loop design realism and operational completeness.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914400"/>
            <a:ext cx="105156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to take from today</a:t>
            </a:r>
            <a:endParaRPr lang="en-US" sz="3200" dirty="0"/>
          </a:p>
        </p:txBody>
      </p:sp>
      <p:sp>
        <p:nvSpPr>
          <p:cNvPr id="3" name="Shape 1"/>
          <p:cNvSpPr/>
          <p:nvPr/>
        </p:nvSpPr>
        <p:spPr>
          <a:xfrm>
            <a:off x="822960" y="1911096"/>
            <a:ext cx="365760" cy="365760"/>
          </a:xfrm>
          <a:prstGeom prst="ellipse">
            <a:avLst/>
          </a:prstGeom>
          <a:solidFill>
            <a:srgbClr val="4E9DBE"/>
          </a:solidFill>
          <a:ln/>
        </p:spPr>
      </p:sp>
      <p:sp>
        <p:nvSpPr>
          <p:cNvPr id="4" name="Text 2"/>
          <p:cNvSpPr/>
          <p:nvPr/>
        </p:nvSpPr>
        <p:spPr>
          <a:xfrm>
            <a:off x="822960" y="19110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371600" y="187452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Diagnose before collecting.</a:t>
            </a:r>
            <a:endParaRPr lang="en-US" sz="1450" dirty="0"/>
          </a:p>
        </p:txBody>
      </p:sp>
      <p:sp>
        <p:nvSpPr>
          <p:cNvPr id="6" name="Text 4"/>
          <p:cNvSpPr/>
          <p:nvPr/>
        </p:nvSpPr>
        <p:spPr>
          <a:xfrm>
            <a:off x="1371600" y="222199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Four of the six common situations are not solved by more data. Find out which one you are in.</a:t>
            </a:r>
            <a:endParaRPr lang="en-US" sz="1200" dirty="0"/>
          </a:p>
        </p:txBody>
      </p:sp>
      <p:sp>
        <p:nvSpPr>
          <p:cNvPr id="7" name="Shape 5"/>
          <p:cNvSpPr/>
          <p:nvPr/>
        </p:nvSpPr>
        <p:spPr>
          <a:xfrm>
            <a:off x="822960" y="2779776"/>
            <a:ext cx="365760" cy="365760"/>
          </a:xfrm>
          <a:prstGeom prst="ellipse">
            <a:avLst/>
          </a:prstGeom>
          <a:solidFill>
            <a:srgbClr val="4E9DBE"/>
          </a:solidFill>
          <a:ln/>
        </p:spPr>
      </p:sp>
      <p:sp>
        <p:nvSpPr>
          <p:cNvPr id="8" name="Text 6"/>
          <p:cNvSpPr/>
          <p:nvPr/>
        </p:nvSpPr>
        <p:spPr>
          <a:xfrm>
            <a:off x="822960" y="27797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371600" y="274320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Label consistency sets the ceiling.</a:t>
            </a:r>
            <a:endParaRPr lang="en-US" sz="1450" dirty="0"/>
          </a:p>
        </p:txBody>
      </p:sp>
      <p:sp>
        <p:nvSpPr>
          <p:cNvPr id="10" name="Text 8"/>
          <p:cNvSpPr/>
          <p:nvPr/>
        </p:nvSpPr>
        <p:spPr>
          <a:xfrm>
            <a:off x="1371600" y="309067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Your model cannot be more consistent than the ground truth it learns from. Measure agreement first.</a:t>
            </a:r>
            <a:endParaRPr lang="en-US" sz="1200" dirty="0"/>
          </a:p>
        </p:txBody>
      </p:sp>
      <p:sp>
        <p:nvSpPr>
          <p:cNvPr id="11" name="Shape 9"/>
          <p:cNvSpPr/>
          <p:nvPr/>
        </p:nvSpPr>
        <p:spPr>
          <a:xfrm>
            <a:off x="822960" y="3648456"/>
            <a:ext cx="365760" cy="365760"/>
          </a:xfrm>
          <a:prstGeom prst="ellipse">
            <a:avLst/>
          </a:prstGeom>
          <a:solidFill>
            <a:srgbClr val="4E9DBE"/>
          </a:solidFill>
          <a:ln/>
        </p:spPr>
      </p:sp>
      <p:sp>
        <p:nvSpPr>
          <p:cNvPr id="12" name="Text 10"/>
          <p:cNvSpPr/>
          <p:nvPr/>
        </p:nvSpPr>
        <p:spPr>
          <a:xfrm>
            <a:off x="822960" y="36484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371600" y="361188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Every augmentation is a claim about your process.</a:t>
            </a:r>
            <a:endParaRPr lang="en-US" sz="1450" dirty="0"/>
          </a:p>
        </p:txBody>
      </p:sp>
      <p:sp>
        <p:nvSpPr>
          <p:cNvPr id="14" name="Text 12"/>
          <p:cNvSpPr/>
          <p:nvPr/>
        </p:nvSpPr>
        <p:spPr>
          <a:xfrm>
            <a:off x="1371600" y="395935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Check the claim with someone who knows the line before applying it to a million images.</a:t>
            </a:r>
            <a:endParaRPr lang="en-US" sz="1200" dirty="0"/>
          </a:p>
        </p:txBody>
      </p:sp>
      <p:sp>
        <p:nvSpPr>
          <p:cNvPr id="15" name="Shape 13"/>
          <p:cNvSpPr/>
          <p:nvPr/>
        </p:nvSpPr>
        <p:spPr>
          <a:xfrm>
            <a:off x="822960" y="4517136"/>
            <a:ext cx="365760" cy="365760"/>
          </a:xfrm>
          <a:prstGeom prst="ellipse">
            <a:avLst/>
          </a:prstGeom>
          <a:solidFill>
            <a:srgbClr val="4E9DBE"/>
          </a:solidFill>
          <a:ln/>
        </p:spPr>
      </p:sp>
      <p:sp>
        <p:nvSpPr>
          <p:cNvPr id="16" name="Text 14"/>
          <p:cNvSpPr/>
          <p:nvPr/>
        </p:nvSpPr>
        <p:spPr>
          <a:xfrm>
            <a:off x="822960" y="45171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371600" y="448056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The evaluation gate is what makes MLOps real.</a:t>
            </a:r>
            <a:endParaRPr lang="en-US" sz="1450" dirty="0"/>
          </a:p>
        </p:txBody>
      </p:sp>
      <p:sp>
        <p:nvSpPr>
          <p:cNvPr id="18" name="Text 16"/>
          <p:cNvSpPr/>
          <p:nvPr/>
        </p:nvSpPr>
        <p:spPr>
          <a:xfrm>
            <a:off x="1371600" y="482803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Pass criteria set in advance, enforced automatically, with no arguing a failing model into production.</a:t>
            </a:r>
            <a:endParaRPr lang="en-US" sz="1200" dirty="0"/>
          </a:p>
        </p:txBody>
      </p:sp>
      <p:sp>
        <p:nvSpPr>
          <p:cNvPr id="19" name="Shape 17"/>
          <p:cNvSpPr/>
          <p:nvPr/>
        </p:nvSpPr>
        <p:spPr>
          <a:xfrm>
            <a:off x="822960" y="5385816"/>
            <a:ext cx="365760" cy="365760"/>
          </a:xfrm>
          <a:prstGeom prst="ellipse">
            <a:avLst/>
          </a:prstGeom>
          <a:solidFill>
            <a:srgbClr val="4E9DBE"/>
          </a:solidFill>
          <a:ln/>
        </p:spPr>
      </p:sp>
      <p:sp>
        <p:nvSpPr>
          <p:cNvPr id="20" name="Text 18"/>
          <p:cNvSpPr/>
          <p:nvPr/>
        </p:nvSpPr>
        <p:spPr>
          <a:xfrm>
            <a:off x="822960" y="538581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371600" y="5349240"/>
            <a:ext cx="1005840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 feedback loop only compounds if capture and validation are both present.</a:t>
            </a:r>
            <a:endParaRPr lang="en-US" sz="1450" dirty="0"/>
          </a:p>
        </p:txBody>
      </p:sp>
      <p:sp>
        <p:nvSpPr>
          <p:cNvPr id="22" name="Text 20"/>
          <p:cNvSpPr/>
          <p:nvPr/>
        </p:nvSpPr>
        <p:spPr>
          <a:xfrm>
            <a:off x="1371600" y="5696712"/>
            <a:ext cx="10058400" cy="365760"/>
          </a:xfrm>
          <a:prstGeom prst="rect">
            <a:avLst/>
          </a:prstGeom>
          <a:noFill/>
          <a:ln/>
        </p:spPr>
        <p:txBody>
          <a:bodyPr wrap="square" lIns="0" tIns="0" rIns="0" bIns="0" rtlCol="0" anchor="ctr"/>
          <a:lstStyle/>
          <a:p>
            <a:pPr indent="0" marL="0">
              <a:buNone/>
            </a:pPr>
            <a:r>
              <a:rPr lang="en-US" sz="1200" dirty="0">
                <a:solidFill>
                  <a:srgbClr val="B9CFDD"/>
                </a:solidFill>
                <a:latin typeface="Calibri" pitchFamily="34" charset="0"/>
                <a:ea typeface="Calibri" pitchFamily="34" charset="-122"/>
                <a:cs typeface="Calibri" pitchFamily="34" charset="-120"/>
              </a:rPr>
              <a:t>Most teams build the review interface and discard the decision.</a:t>
            </a:r>
            <a:endParaRPr lang="en-US" sz="1200" dirty="0"/>
          </a:p>
        </p:txBody>
      </p:sp>
      <p:sp>
        <p:nvSpPr>
          <p:cNvPr id="23" name="Text 21"/>
          <p:cNvSpPr/>
          <p:nvPr/>
        </p:nvSpPr>
        <p:spPr>
          <a:xfrm>
            <a:off x="822960" y="6172200"/>
            <a:ext cx="10515600" cy="365760"/>
          </a:xfrm>
          <a:prstGeom prst="rect">
            <a:avLst/>
          </a:prstGeom>
          <a:noFill/>
          <a:ln/>
        </p:spPr>
        <p:txBody>
          <a:bodyPr wrap="square" rtlCol="0" anchor="ctr"/>
          <a:lstStyle/>
          <a:p>
            <a:pPr indent="0" marL="0">
              <a:buNone/>
            </a:pPr>
            <a:r>
              <a:rPr lang="en-US" sz="1250" b="1" dirty="0">
                <a:solidFill>
                  <a:srgbClr val="9FD0E3"/>
                </a:solidFill>
                <a:latin typeface="Calibri" pitchFamily="34" charset="0"/>
                <a:ea typeface="Calibri" pitchFamily="34" charset="-122"/>
                <a:cs typeface="Calibri" pitchFamily="34" charset="-120"/>
              </a:rPr>
              <a:t>Tomorrow — Day 5:  Agentic AI, agent-to-agent communication, the Skill concept, guardrails and the final capstone.</a:t>
            </a:r>
            <a:endParaRPr lang="en-US" sz="1250" dirty="0"/>
          </a:p>
        </p:txBody>
      </p:sp>
      <p:sp>
        <p:nvSpPr>
          <p:cNvPr id="24" name="Text 22"/>
          <p:cNvSpPr/>
          <p:nvPr/>
        </p:nvSpPr>
        <p:spPr>
          <a:xfrm>
            <a:off x="11475720" y="6400800"/>
            <a:ext cx="365760" cy="274320"/>
          </a:xfrm>
          <a:prstGeom prst="rect">
            <a:avLst/>
          </a:prstGeom>
          <a:noFill/>
          <a:ln/>
        </p:spPr>
        <p:txBody>
          <a:bodyPr wrap="square" rtlCol="0" anchor="ctr"/>
          <a:lstStyle/>
          <a:p>
            <a:pPr algn="r" indent="0" marL="0">
              <a:buNone/>
            </a:pPr>
            <a:r>
              <a:rPr lang="en-US" sz="1000" dirty="0">
                <a:solidFill>
                  <a:srgbClr val="5A6B7C"/>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2026-08-15T06:19:35Z</dcterms:created>
  <dcterms:modified xsi:type="dcterms:W3CDTF">2026-08-15T06:19:35Z</dcterms:modified>
</cp:coreProperties>
</file>