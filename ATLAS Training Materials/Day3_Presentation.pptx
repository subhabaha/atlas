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6761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longest day of the week. Six modules. Keep to time — the observability module at the end is the one that gets squeezed and it is one of the two most valuable.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frame: when a RAG system gives a wrong answer, the overwhelming majority of the time the right passage was never retrieved. Today is mostly about retrieval.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Modules 1 and 2 can be compressed if the room is strong. Module 5 must not be.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tool-schema cost point surprises people. Twenty tools attached to every request is a permanent tax on every call.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Counter-intuitive and important. Teams believe more context is safer. Demonstrate the opposite if time allows in the lab.</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Chunking is where the largest cheap gains are. Most teams use fixed-size because it was the tutorial default.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makes chunking concrete and consequential. Use it — it is the single best argument for structure-aware chunking.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Retrieve-many-rerank-pass-few is the single most transferable pattern in Module 1. It appears again in Module 3 and Module 6.</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top-20 result is counter-intuitive enough that teams must measure it themselves. Do not pre-empt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 real badly-extracted table if you can — it makes the case instantly and nothing else does it as well.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metadata is not optional if Day 2's security model is to be implemented. It must be added at ingestion.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version and status field is the one industrial teams most often omit and most urgently need.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safety-relevant rather than as data hygiene. It changes how seriously it is taken.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the specific failure example. An abstract 'tables did not work' is far less persuasive to their management than one wrong torque value.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mixed-query example is exactly what their field engineers type. It makes the case for hybrid in one sentence.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Reranking is usually the highest return-per-day-of-work change available. Say so plainly.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ingestion dependency. Filtering cannot be added later without re-indexing.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back on Graph RAG enthusiasm — it is expensive to build and maintain, and hybrid plus reranking usually gets further faster.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teams write ten out-of-corpus questions during the lab. The result is usually sobering and immediately actionable.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five-row comparison table is the deliverable teams take back. Make sure every team leaves with one filled in.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forty-versus-eight arithmetic. It is the argument that lands with architects and with management.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varying client support explicitly — designing around tools-only keeps the server portable across host applications.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distinction stops teams wrapping their entire pipeline in MCP, which is a real and common overreach.</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'describes the implementation instead of the purpose' failure is extremely common. Give an example if time allows.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untrusted-argument point connects Day 2's security module to Day 5's injection lab.</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confused deputy plainly: a privileged component acting on behalf of an unprivileged caller without checking what that caller is allowed.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'another team could implement it' bar is the right standard and is more demanding than teams expect.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separation is the central point of the module. Most teams measure one end-to-end number and cannot act on it.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make sure lands. It redirects effort more effectively than anything else on Day 3.</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the correct-passage requirement. Without it, the diagnosis table on the previous slide cannot be used.</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context-assembly span the concrete ask. It is cheap to add and resolves most support questions in one look.</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token-count-as-quality-signal point is non-obvious and genuinely useful in operations.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Day 1 Module 3. The failure-to-permanent-test discipline is the same idea, now with concrete RAG machinery.</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ranking is the practical takeaway of Day 3. It is deliberately ordered against what teams instinctively try first.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adoption argument is the strongest case for the engineering cost of citation validation. Use it with management.</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ablation format connects Day 3 back to Day 1's method. It also produces the assignment's fifth deliverable directly.</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8 is the one that carries into the capstone on Day 5. Flag that when issuing it.</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each team which of the thirteen levers they will apply first. Most will name chunking or reranking, which is the right answer.</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822960" y="1554480"/>
            <a:ext cx="10515600" cy="365760"/>
          </a:xfrm>
          <a:prstGeom prst="rect">
            <a:avLst/>
          </a:prstGeom>
          <a:noFill/>
          <a:ln/>
        </p:spPr>
        <p:txBody>
          <a:bodyPr wrap="square" rtlCol="0" anchor="ctr"/>
          <a:lstStyle/>
          <a:p>
            <a:pPr marL="0" indent="0">
              <a:buNone/>
            </a:pPr>
            <a:r>
              <a:rPr lang="en-US" sz="1300" b="1" kern="0" spc="300" dirty="0">
                <a:solidFill>
                  <a:srgbClr val="8FB8CC"/>
                </a:solidFill>
                <a:latin typeface="Calibri" pitchFamily="34" charset="0"/>
                <a:ea typeface="Calibri" pitchFamily="34" charset="-122"/>
                <a:cs typeface="Calibri" pitchFamily="34" charset="-120"/>
              </a:rPr>
              <a:t>DAY 3 OF 5</a:t>
            </a:r>
            <a:endParaRPr lang="en-US" sz="1300" dirty="0"/>
          </a:p>
        </p:txBody>
      </p:sp>
      <p:sp>
        <p:nvSpPr>
          <p:cNvPr id="3" name="Text 1"/>
          <p:cNvSpPr/>
          <p:nvPr/>
        </p:nvSpPr>
        <p:spPr>
          <a:xfrm>
            <a:off x="822960" y="1965960"/>
            <a:ext cx="10515600" cy="1737360"/>
          </a:xfrm>
          <a:prstGeom prst="rect">
            <a:avLst/>
          </a:prstGeom>
          <a:noFill/>
          <a:ln/>
        </p:spPr>
        <p:txBody>
          <a:bodyPr wrap="square" rtlCol="0" anchor="ctr"/>
          <a:lstStyle/>
          <a:p>
            <a:pPr marL="0" indent="0">
              <a:lnSpc>
                <a:spcPts val="4400"/>
              </a:lnSpc>
              <a:buNone/>
            </a:pPr>
            <a:r>
              <a:rPr lang="en-US" sz="3800" b="1" dirty="0">
                <a:solidFill>
                  <a:srgbClr val="FFFFFF"/>
                </a:solidFill>
                <a:latin typeface="Cambria" pitchFamily="34" charset="0"/>
                <a:ea typeface="Cambria" pitchFamily="34" charset="-122"/>
                <a:cs typeface="Cambria" pitchFamily="34" charset="-120"/>
              </a:rPr>
              <a:t>Production-Grade GenAI, RAG,</a:t>
            </a:r>
            <a:endParaRPr lang="en-US" sz="3800" dirty="0"/>
          </a:p>
          <a:p>
            <a:pPr marL="0" indent="0">
              <a:lnSpc>
                <a:spcPts val="4400"/>
              </a:lnSpc>
              <a:buNone/>
            </a:pPr>
            <a:r>
              <a:rPr lang="en-US" sz="3800" b="1" dirty="0">
                <a:solidFill>
                  <a:srgbClr val="FFFFFF"/>
                </a:solidFill>
                <a:latin typeface="Cambria" pitchFamily="34" charset="0"/>
                <a:ea typeface="Cambria" pitchFamily="34" charset="-122"/>
                <a:cs typeface="Cambria" pitchFamily="34" charset="-120"/>
              </a:rPr>
              <a:t>Tokenisation, MCP and Observability</a:t>
            </a:r>
            <a:endParaRPr lang="en-US" sz="3800" dirty="0"/>
          </a:p>
        </p:txBody>
      </p:sp>
      <p:sp>
        <p:nvSpPr>
          <p:cNvPr id="4" name="Text 2"/>
          <p:cNvSpPr/>
          <p:nvPr/>
        </p:nvSpPr>
        <p:spPr>
          <a:xfrm>
            <a:off x="822960" y="3840480"/>
            <a:ext cx="10058400" cy="548640"/>
          </a:xfrm>
          <a:prstGeom prst="rect">
            <a:avLst/>
          </a:prstGeom>
          <a:noFill/>
          <a:ln/>
        </p:spPr>
        <p:txBody>
          <a:bodyPr wrap="square" rtlCol="0" anchor="ctr"/>
          <a:lstStyle/>
          <a:p>
            <a:pPr marL="0" indent="0">
              <a:buNone/>
            </a:pPr>
            <a:r>
              <a:rPr lang="en-US" sz="1600" dirty="0">
                <a:solidFill>
                  <a:srgbClr val="CADCFC"/>
                </a:solidFill>
                <a:latin typeface="Calibri" pitchFamily="34" charset="0"/>
                <a:ea typeface="Calibri" pitchFamily="34" charset="-122"/>
                <a:cs typeface="Calibri" pitchFamily="34" charset="-120"/>
              </a:rPr>
              <a:t>Designing retrieval systems that are accurate, layout-aware, secure, measurable and integration-ready</a:t>
            </a:r>
            <a:endParaRPr lang="en-US" sz="1600" dirty="0"/>
          </a:p>
        </p:txBody>
      </p:sp>
      <p:sp>
        <p:nvSpPr>
          <p:cNvPr id="5" name="Shape 3"/>
          <p:cNvSpPr/>
          <p:nvPr/>
        </p:nvSpPr>
        <p:spPr>
          <a:xfrm>
            <a:off x="822960" y="4663440"/>
            <a:ext cx="1463040" cy="32004"/>
          </a:xfrm>
          <a:prstGeom prst="rect">
            <a:avLst/>
          </a:prstGeom>
          <a:solidFill>
            <a:srgbClr val="4E9DBE"/>
          </a:solidFill>
          <a:ln/>
        </p:spPr>
        <p:txBody>
          <a:bodyPr/>
          <a:lstStyle/>
          <a:p>
            <a:endParaRPr lang="en-US"/>
          </a:p>
        </p:txBody>
      </p:sp>
      <p:sp>
        <p:nvSpPr>
          <p:cNvPr id="6" name="Text 4"/>
          <p:cNvSpPr/>
          <p:nvPr/>
        </p:nvSpPr>
        <p:spPr>
          <a:xfrm>
            <a:off x="822960" y="4937760"/>
            <a:ext cx="9144000" cy="365760"/>
          </a:xfrm>
          <a:prstGeom prst="rect">
            <a:avLst/>
          </a:prstGeom>
          <a:noFill/>
          <a:ln/>
        </p:spPr>
        <p:txBody>
          <a:bodyPr wrap="square" rtlCol="0" anchor="ctr"/>
          <a:lstStyle/>
          <a:p>
            <a:pPr marL="0" indent="0">
              <a:buNone/>
            </a:pPr>
            <a:r>
              <a:rPr lang="en-US" sz="1250" dirty="0">
                <a:solidFill>
                  <a:srgbClr val="9FB4C7"/>
                </a:solidFill>
                <a:latin typeface="Calibri" pitchFamily="34" charset="0"/>
                <a:ea typeface="Calibri" pitchFamily="34" charset="-122"/>
                <a:cs typeface="Calibri" pitchFamily="34" charset="-120"/>
              </a:rPr>
              <a:t>Enterprise AI Engineering Bootcamp  ·  Six modules, six hands-on labs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ORIENTATION</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Where Day 3 sits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a:t>
            </a:r>
            <a:endParaRPr lang="en-US" sz="1000" dirty="0"/>
          </a:p>
        </p:txBody>
      </p:sp>
      <p:sp>
        <p:nvSpPr>
          <p:cNvPr id="5" name="Text 3"/>
          <p:cNvSpPr/>
          <p:nvPr/>
        </p:nvSpPr>
        <p:spPr>
          <a:xfrm>
            <a:off x="640080" y="1371600"/>
            <a:ext cx="10881360" cy="457200"/>
          </a:xfrm>
          <a:prstGeom prst="rect">
            <a:avLst/>
          </a:prstGeom>
          <a:noFill/>
          <a:ln/>
        </p:spPr>
        <p:txBody>
          <a:bodyPr wrap="square" rtlCol="0" anchor="ctr"/>
          <a:lstStyle/>
          <a:p>
            <a:pPr marL="0" indent="0">
              <a:lnSpc>
                <a:spcPts val="1900"/>
              </a:lnSpc>
              <a:buNone/>
            </a:pPr>
            <a:r>
              <a:rPr lang="en-US" sz="1500" dirty="0">
                <a:solidFill>
                  <a:srgbClr val="1A2430"/>
                </a:solidFill>
                <a:latin typeface="Calibri" pitchFamily="34" charset="0"/>
                <a:ea typeface="Calibri" pitchFamily="34" charset="-122"/>
                <a:cs typeface="Calibri" pitchFamily="34" charset="-120"/>
              </a:rPr>
              <a:t>Day 1 gave you measurement. Day 2 gave you architecture. Today builds the pattern most of your use cases actually need — and measures it properly.</a:t>
            </a:r>
            <a:endParaRPr lang="en-US" sz="1500" dirty="0"/>
          </a:p>
        </p:txBody>
      </p:sp>
      <p:sp>
        <p:nvSpPr>
          <p:cNvPr id="6" name="Shape 4"/>
          <p:cNvSpPr/>
          <p:nvPr/>
        </p:nvSpPr>
        <p:spPr>
          <a:xfrm>
            <a:off x="640080" y="2377440"/>
            <a:ext cx="1691640" cy="2194560"/>
          </a:xfrm>
          <a:prstGeom prst="roundRect">
            <a:avLst>
              <a:gd name="adj" fmla="val 3243"/>
            </a:avLst>
          </a:prstGeom>
          <a:solidFill>
            <a:srgbClr val="E4EEF4"/>
          </a:solidFill>
          <a:ln w="12700">
            <a:solidFill>
              <a:srgbClr val="D3E1EA"/>
            </a:solidFill>
            <a:prstDash val="solid"/>
          </a:ln>
        </p:spPr>
        <p:txBody>
          <a:bodyPr/>
          <a:lstStyle/>
          <a:p>
            <a:endParaRPr lang="en-US"/>
          </a:p>
        </p:txBody>
      </p:sp>
      <p:sp>
        <p:nvSpPr>
          <p:cNvPr id="7" name="Shape 5"/>
          <p:cNvSpPr/>
          <p:nvPr/>
        </p:nvSpPr>
        <p:spPr>
          <a:xfrm>
            <a:off x="1303020" y="2578608"/>
            <a:ext cx="365760" cy="365760"/>
          </a:xfrm>
          <a:prstGeom prst="ellipse">
            <a:avLst/>
          </a:prstGeom>
          <a:solidFill>
            <a:srgbClr val="065A82"/>
          </a:solidFill>
          <a:ln/>
        </p:spPr>
        <p:txBody>
          <a:bodyPr/>
          <a:lstStyle/>
          <a:p>
            <a:endParaRPr lang="en-US"/>
          </a:p>
        </p:txBody>
      </p:sp>
      <p:sp>
        <p:nvSpPr>
          <p:cNvPr id="8" name="Text 6"/>
          <p:cNvSpPr/>
          <p:nvPr/>
        </p:nvSpPr>
        <p:spPr>
          <a:xfrm>
            <a:off x="1303020" y="25786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731520" y="3090672"/>
            <a:ext cx="1508760" cy="320040"/>
          </a:xfrm>
          <a:prstGeom prst="rect">
            <a:avLst/>
          </a:prstGeom>
          <a:noFill/>
          <a:ln/>
        </p:spPr>
        <p:txBody>
          <a:bodyPr wrap="square" lIns="0" tIns="0" rIns="0" bIns="0" rtlCol="0" anchor="ctr"/>
          <a:lstStyle/>
          <a:p>
            <a:pPr marL="0" indent="0" algn="ctr">
              <a:buNone/>
            </a:pPr>
            <a:r>
              <a:rPr lang="en-US" sz="1300" b="1" dirty="0">
                <a:solidFill>
                  <a:srgbClr val="1A2430"/>
                </a:solidFill>
                <a:latin typeface="Cambria" pitchFamily="34" charset="0"/>
                <a:ea typeface="Cambria" pitchFamily="34" charset="-122"/>
                <a:cs typeface="Cambria" pitchFamily="34" charset="-120"/>
              </a:rPr>
              <a:t>Tokens</a:t>
            </a:r>
            <a:endParaRPr lang="en-US" sz="1300" dirty="0"/>
          </a:p>
        </p:txBody>
      </p:sp>
      <p:sp>
        <p:nvSpPr>
          <p:cNvPr id="10" name="Text 8"/>
          <p:cNvSpPr/>
          <p:nvPr/>
        </p:nvSpPr>
        <p:spPr>
          <a:xfrm>
            <a:off x="731520" y="3438144"/>
            <a:ext cx="1508760" cy="1005840"/>
          </a:xfrm>
          <a:prstGeom prst="rect">
            <a:avLst/>
          </a:prstGeom>
          <a:noFill/>
          <a:ln/>
        </p:spPr>
        <p:txBody>
          <a:bodyPr wrap="square" lIns="0" tIns="0" rIns="0" bIns="0" rtlCol="0" anchor="ctr"/>
          <a:lstStyle/>
          <a:p>
            <a:pPr marL="0" indent="0" algn="ctr">
              <a:lnSpc>
                <a:spcPts val="1300"/>
              </a:lnSpc>
              <a:buNone/>
            </a:pPr>
            <a:r>
              <a:rPr lang="en-US" sz="1050" dirty="0">
                <a:solidFill>
                  <a:srgbClr val="5A6B7C"/>
                </a:solidFill>
                <a:latin typeface="Calibri" pitchFamily="34" charset="0"/>
                <a:ea typeface="Calibri" pitchFamily="34" charset="-122"/>
                <a:cs typeface="Calibri" pitchFamily="34" charset="-120"/>
              </a:rPr>
              <a:t>What the model actually sees, and what it costs</a:t>
            </a:r>
            <a:endParaRPr lang="en-US" sz="1050" dirty="0"/>
          </a:p>
        </p:txBody>
      </p:sp>
      <p:sp>
        <p:nvSpPr>
          <p:cNvPr id="11" name="Shape 9"/>
          <p:cNvSpPr/>
          <p:nvPr/>
        </p:nvSpPr>
        <p:spPr>
          <a:xfrm>
            <a:off x="2478024" y="2377440"/>
            <a:ext cx="1691640" cy="2194560"/>
          </a:xfrm>
          <a:prstGeom prst="roundRect">
            <a:avLst>
              <a:gd name="adj" fmla="val 3243"/>
            </a:avLst>
          </a:prstGeom>
          <a:solidFill>
            <a:srgbClr val="EEF3F7"/>
          </a:solidFill>
          <a:ln w="12700">
            <a:solidFill>
              <a:srgbClr val="D3E1EA"/>
            </a:solidFill>
            <a:prstDash val="solid"/>
          </a:ln>
        </p:spPr>
        <p:txBody>
          <a:bodyPr/>
          <a:lstStyle/>
          <a:p>
            <a:endParaRPr lang="en-US"/>
          </a:p>
        </p:txBody>
      </p:sp>
      <p:sp>
        <p:nvSpPr>
          <p:cNvPr id="12" name="Shape 10"/>
          <p:cNvSpPr/>
          <p:nvPr/>
        </p:nvSpPr>
        <p:spPr>
          <a:xfrm>
            <a:off x="3140964" y="2578608"/>
            <a:ext cx="365760" cy="365760"/>
          </a:xfrm>
          <a:prstGeom prst="ellipse">
            <a:avLst/>
          </a:prstGeom>
          <a:solidFill>
            <a:srgbClr val="065A82"/>
          </a:solidFill>
          <a:ln/>
        </p:spPr>
        <p:txBody>
          <a:bodyPr/>
          <a:lstStyle/>
          <a:p>
            <a:endParaRPr lang="en-US"/>
          </a:p>
        </p:txBody>
      </p:sp>
      <p:sp>
        <p:nvSpPr>
          <p:cNvPr id="13" name="Text 11"/>
          <p:cNvSpPr/>
          <p:nvPr/>
        </p:nvSpPr>
        <p:spPr>
          <a:xfrm>
            <a:off x="3140964" y="25786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2569464" y="3090672"/>
            <a:ext cx="1508760" cy="320040"/>
          </a:xfrm>
          <a:prstGeom prst="rect">
            <a:avLst/>
          </a:prstGeom>
          <a:noFill/>
          <a:ln/>
        </p:spPr>
        <p:txBody>
          <a:bodyPr wrap="square" lIns="0" tIns="0" rIns="0" bIns="0" rtlCol="0" anchor="ctr"/>
          <a:lstStyle/>
          <a:p>
            <a:pPr marL="0" indent="0" algn="ctr">
              <a:buNone/>
            </a:pPr>
            <a:r>
              <a:rPr lang="en-US" sz="1300" b="1" dirty="0">
                <a:solidFill>
                  <a:srgbClr val="1A2430"/>
                </a:solidFill>
                <a:latin typeface="Cambria" pitchFamily="34" charset="0"/>
                <a:ea typeface="Cambria" pitchFamily="34" charset="-122"/>
                <a:cs typeface="Cambria" pitchFamily="34" charset="-120"/>
              </a:rPr>
              <a:t>Ingestion</a:t>
            </a:r>
            <a:endParaRPr lang="en-US" sz="1300" dirty="0"/>
          </a:p>
        </p:txBody>
      </p:sp>
      <p:sp>
        <p:nvSpPr>
          <p:cNvPr id="15" name="Text 13"/>
          <p:cNvSpPr/>
          <p:nvPr/>
        </p:nvSpPr>
        <p:spPr>
          <a:xfrm>
            <a:off x="2569464" y="3438144"/>
            <a:ext cx="1508760" cy="1005840"/>
          </a:xfrm>
          <a:prstGeom prst="rect">
            <a:avLst/>
          </a:prstGeom>
          <a:noFill/>
          <a:ln/>
        </p:spPr>
        <p:txBody>
          <a:bodyPr wrap="square" lIns="0" tIns="0" rIns="0" bIns="0" rtlCol="0" anchor="ctr"/>
          <a:lstStyle/>
          <a:p>
            <a:pPr marL="0" indent="0" algn="ctr">
              <a:lnSpc>
                <a:spcPts val="1300"/>
              </a:lnSpc>
              <a:buNone/>
            </a:pPr>
            <a:r>
              <a:rPr lang="en-US" sz="1050" dirty="0">
                <a:solidFill>
                  <a:srgbClr val="5A6B7C"/>
                </a:solidFill>
                <a:latin typeface="Calibri" pitchFamily="34" charset="0"/>
                <a:ea typeface="Calibri" pitchFamily="34" charset="-122"/>
                <a:cs typeface="Calibri" pitchFamily="34" charset="-120"/>
              </a:rPr>
              <a:t>Getting technical documents in without destroying their structure</a:t>
            </a:r>
            <a:endParaRPr lang="en-US" sz="1050" dirty="0"/>
          </a:p>
        </p:txBody>
      </p:sp>
      <p:sp>
        <p:nvSpPr>
          <p:cNvPr id="16" name="Shape 14"/>
          <p:cNvSpPr/>
          <p:nvPr/>
        </p:nvSpPr>
        <p:spPr>
          <a:xfrm>
            <a:off x="4315968" y="2377440"/>
            <a:ext cx="1691640" cy="2194560"/>
          </a:xfrm>
          <a:prstGeom prst="roundRect">
            <a:avLst>
              <a:gd name="adj" fmla="val 3243"/>
            </a:avLst>
          </a:prstGeom>
          <a:solidFill>
            <a:srgbClr val="E4EEF4"/>
          </a:solidFill>
          <a:ln w="12700">
            <a:solidFill>
              <a:srgbClr val="D3E1EA"/>
            </a:solidFill>
            <a:prstDash val="solid"/>
          </a:ln>
        </p:spPr>
        <p:txBody>
          <a:bodyPr/>
          <a:lstStyle/>
          <a:p>
            <a:endParaRPr lang="en-US"/>
          </a:p>
        </p:txBody>
      </p:sp>
      <p:sp>
        <p:nvSpPr>
          <p:cNvPr id="17" name="Shape 15"/>
          <p:cNvSpPr/>
          <p:nvPr/>
        </p:nvSpPr>
        <p:spPr>
          <a:xfrm>
            <a:off x="4978908" y="2578608"/>
            <a:ext cx="365760" cy="365760"/>
          </a:xfrm>
          <a:prstGeom prst="ellipse">
            <a:avLst/>
          </a:prstGeom>
          <a:solidFill>
            <a:srgbClr val="065A82"/>
          </a:solidFill>
          <a:ln/>
        </p:spPr>
        <p:txBody>
          <a:bodyPr/>
          <a:lstStyle/>
          <a:p>
            <a:endParaRPr lang="en-US"/>
          </a:p>
        </p:txBody>
      </p:sp>
      <p:sp>
        <p:nvSpPr>
          <p:cNvPr id="18" name="Text 16"/>
          <p:cNvSpPr/>
          <p:nvPr/>
        </p:nvSpPr>
        <p:spPr>
          <a:xfrm>
            <a:off x="4978908" y="25786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4407408" y="3090672"/>
            <a:ext cx="1508760" cy="320040"/>
          </a:xfrm>
          <a:prstGeom prst="rect">
            <a:avLst/>
          </a:prstGeom>
          <a:noFill/>
          <a:ln/>
        </p:spPr>
        <p:txBody>
          <a:bodyPr wrap="square" lIns="0" tIns="0" rIns="0" bIns="0" rtlCol="0" anchor="ctr"/>
          <a:lstStyle/>
          <a:p>
            <a:pPr marL="0" indent="0" algn="ctr">
              <a:buNone/>
            </a:pPr>
            <a:r>
              <a:rPr lang="en-US" sz="1300" b="1" dirty="0">
                <a:solidFill>
                  <a:srgbClr val="1A2430"/>
                </a:solidFill>
                <a:latin typeface="Cambria" pitchFamily="34" charset="0"/>
                <a:ea typeface="Cambria" pitchFamily="34" charset="-122"/>
                <a:cs typeface="Cambria" pitchFamily="34" charset="-120"/>
              </a:rPr>
              <a:t>Retrieval</a:t>
            </a:r>
            <a:endParaRPr lang="en-US" sz="1300" dirty="0"/>
          </a:p>
        </p:txBody>
      </p:sp>
      <p:sp>
        <p:nvSpPr>
          <p:cNvPr id="20" name="Text 18"/>
          <p:cNvSpPr/>
          <p:nvPr/>
        </p:nvSpPr>
        <p:spPr>
          <a:xfrm>
            <a:off x="4407408" y="3438144"/>
            <a:ext cx="1508760" cy="1005840"/>
          </a:xfrm>
          <a:prstGeom prst="rect">
            <a:avLst/>
          </a:prstGeom>
          <a:noFill/>
          <a:ln/>
        </p:spPr>
        <p:txBody>
          <a:bodyPr wrap="square" lIns="0" tIns="0" rIns="0" bIns="0" rtlCol="0" anchor="ctr"/>
          <a:lstStyle/>
          <a:p>
            <a:pPr marL="0" indent="0" algn="ctr">
              <a:lnSpc>
                <a:spcPts val="1300"/>
              </a:lnSpc>
              <a:buNone/>
            </a:pPr>
            <a:r>
              <a:rPr lang="en-US" sz="1050" dirty="0">
                <a:solidFill>
                  <a:srgbClr val="5A6B7C"/>
                </a:solidFill>
                <a:latin typeface="Calibri" pitchFamily="34" charset="0"/>
                <a:ea typeface="Calibri" pitchFamily="34" charset="-122"/>
                <a:cs typeface="Calibri" pitchFamily="34" charset="-120"/>
              </a:rPr>
              <a:t>Finding the right passage, not merely a similar one</a:t>
            </a:r>
            <a:endParaRPr lang="en-US" sz="1050" dirty="0"/>
          </a:p>
        </p:txBody>
      </p:sp>
      <p:sp>
        <p:nvSpPr>
          <p:cNvPr id="21" name="Shape 19"/>
          <p:cNvSpPr/>
          <p:nvPr/>
        </p:nvSpPr>
        <p:spPr>
          <a:xfrm>
            <a:off x="6153912" y="2377440"/>
            <a:ext cx="1691640" cy="2194560"/>
          </a:xfrm>
          <a:prstGeom prst="roundRect">
            <a:avLst>
              <a:gd name="adj" fmla="val 3243"/>
            </a:avLst>
          </a:prstGeom>
          <a:solidFill>
            <a:srgbClr val="EEF3F7"/>
          </a:solidFill>
          <a:ln w="12700">
            <a:solidFill>
              <a:srgbClr val="D3E1EA"/>
            </a:solidFill>
            <a:prstDash val="solid"/>
          </a:ln>
        </p:spPr>
        <p:txBody>
          <a:bodyPr/>
          <a:lstStyle/>
          <a:p>
            <a:endParaRPr lang="en-US"/>
          </a:p>
        </p:txBody>
      </p:sp>
      <p:sp>
        <p:nvSpPr>
          <p:cNvPr id="22" name="Shape 20"/>
          <p:cNvSpPr/>
          <p:nvPr/>
        </p:nvSpPr>
        <p:spPr>
          <a:xfrm>
            <a:off x="6816852" y="2578608"/>
            <a:ext cx="365760" cy="365760"/>
          </a:xfrm>
          <a:prstGeom prst="ellipse">
            <a:avLst/>
          </a:prstGeom>
          <a:solidFill>
            <a:srgbClr val="065A82"/>
          </a:solidFill>
          <a:ln/>
        </p:spPr>
        <p:txBody>
          <a:bodyPr/>
          <a:lstStyle/>
          <a:p>
            <a:endParaRPr lang="en-US"/>
          </a:p>
        </p:txBody>
      </p:sp>
      <p:sp>
        <p:nvSpPr>
          <p:cNvPr id="23" name="Text 21"/>
          <p:cNvSpPr/>
          <p:nvPr/>
        </p:nvSpPr>
        <p:spPr>
          <a:xfrm>
            <a:off x="6816852" y="25786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6245352" y="3090672"/>
            <a:ext cx="1508760" cy="320040"/>
          </a:xfrm>
          <a:prstGeom prst="rect">
            <a:avLst/>
          </a:prstGeom>
          <a:noFill/>
          <a:ln/>
        </p:spPr>
        <p:txBody>
          <a:bodyPr wrap="square" lIns="0" tIns="0" rIns="0" bIns="0" rtlCol="0" anchor="ctr"/>
          <a:lstStyle/>
          <a:p>
            <a:pPr marL="0" indent="0" algn="ctr">
              <a:buNone/>
            </a:pPr>
            <a:r>
              <a:rPr lang="en-US" sz="1300" b="1" dirty="0">
                <a:solidFill>
                  <a:srgbClr val="1A2430"/>
                </a:solidFill>
                <a:latin typeface="Cambria" pitchFamily="34" charset="0"/>
                <a:ea typeface="Cambria" pitchFamily="34" charset="-122"/>
                <a:cs typeface="Cambria" pitchFamily="34" charset="-120"/>
              </a:rPr>
              <a:t>MCP</a:t>
            </a:r>
            <a:endParaRPr lang="en-US" sz="1300" dirty="0"/>
          </a:p>
        </p:txBody>
      </p:sp>
      <p:sp>
        <p:nvSpPr>
          <p:cNvPr id="25" name="Text 23"/>
          <p:cNvSpPr/>
          <p:nvPr/>
        </p:nvSpPr>
        <p:spPr>
          <a:xfrm>
            <a:off x="6245352" y="3438144"/>
            <a:ext cx="1508760" cy="1005840"/>
          </a:xfrm>
          <a:prstGeom prst="rect">
            <a:avLst/>
          </a:prstGeom>
          <a:noFill/>
          <a:ln/>
        </p:spPr>
        <p:txBody>
          <a:bodyPr wrap="square" lIns="0" tIns="0" rIns="0" bIns="0" rtlCol="0" anchor="ctr"/>
          <a:lstStyle/>
          <a:p>
            <a:pPr marL="0" indent="0" algn="ctr">
              <a:lnSpc>
                <a:spcPts val="1300"/>
              </a:lnSpc>
              <a:buNone/>
            </a:pPr>
            <a:r>
              <a:rPr lang="en-US" sz="1050" dirty="0">
                <a:solidFill>
                  <a:srgbClr val="5A6B7C"/>
                </a:solidFill>
                <a:latin typeface="Calibri" pitchFamily="34" charset="0"/>
                <a:ea typeface="Calibri" pitchFamily="34" charset="-122"/>
                <a:cs typeface="Calibri" pitchFamily="34" charset="-120"/>
              </a:rPr>
              <a:t>Connecting to systems safely, with contracts and boundaries</a:t>
            </a:r>
            <a:endParaRPr lang="en-US" sz="1050" dirty="0"/>
          </a:p>
        </p:txBody>
      </p:sp>
      <p:sp>
        <p:nvSpPr>
          <p:cNvPr id="26" name="Shape 24"/>
          <p:cNvSpPr/>
          <p:nvPr/>
        </p:nvSpPr>
        <p:spPr>
          <a:xfrm>
            <a:off x="7991856" y="2377440"/>
            <a:ext cx="1691640" cy="2194560"/>
          </a:xfrm>
          <a:prstGeom prst="roundRect">
            <a:avLst>
              <a:gd name="adj" fmla="val 3243"/>
            </a:avLst>
          </a:prstGeom>
          <a:solidFill>
            <a:srgbClr val="E4EEF4"/>
          </a:solidFill>
          <a:ln w="12700">
            <a:solidFill>
              <a:srgbClr val="D3E1EA"/>
            </a:solidFill>
            <a:prstDash val="solid"/>
          </a:ln>
        </p:spPr>
        <p:txBody>
          <a:bodyPr/>
          <a:lstStyle/>
          <a:p>
            <a:endParaRPr lang="en-US"/>
          </a:p>
        </p:txBody>
      </p:sp>
      <p:sp>
        <p:nvSpPr>
          <p:cNvPr id="27" name="Shape 25"/>
          <p:cNvSpPr/>
          <p:nvPr/>
        </p:nvSpPr>
        <p:spPr>
          <a:xfrm>
            <a:off x="8654796" y="2578608"/>
            <a:ext cx="365760" cy="365760"/>
          </a:xfrm>
          <a:prstGeom prst="ellipse">
            <a:avLst/>
          </a:prstGeom>
          <a:solidFill>
            <a:srgbClr val="065A82"/>
          </a:solidFill>
          <a:ln/>
        </p:spPr>
        <p:txBody>
          <a:bodyPr/>
          <a:lstStyle/>
          <a:p>
            <a:endParaRPr lang="en-US"/>
          </a:p>
        </p:txBody>
      </p:sp>
      <p:sp>
        <p:nvSpPr>
          <p:cNvPr id="28" name="Text 26"/>
          <p:cNvSpPr/>
          <p:nvPr/>
        </p:nvSpPr>
        <p:spPr>
          <a:xfrm>
            <a:off x="8654796" y="25786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p:nvPr/>
        </p:nvSpPr>
        <p:spPr>
          <a:xfrm>
            <a:off x="8083296" y="3090672"/>
            <a:ext cx="1508760" cy="320040"/>
          </a:xfrm>
          <a:prstGeom prst="rect">
            <a:avLst/>
          </a:prstGeom>
          <a:noFill/>
          <a:ln/>
        </p:spPr>
        <p:txBody>
          <a:bodyPr wrap="square" lIns="0" tIns="0" rIns="0" bIns="0" rtlCol="0" anchor="ctr"/>
          <a:lstStyle/>
          <a:p>
            <a:pPr marL="0" indent="0" algn="ctr">
              <a:buNone/>
            </a:pPr>
            <a:r>
              <a:rPr lang="en-US" sz="1300" b="1" dirty="0">
                <a:solidFill>
                  <a:srgbClr val="1A2430"/>
                </a:solidFill>
                <a:latin typeface="Cambria" pitchFamily="34" charset="0"/>
                <a:ea typeface="Cambria" pitchFamily="34" charset="-122"/>
                <a:cs typeface="Cambria" pitchFamily="34" charset="-120"/>
              </a:rPr>
              <a:t>Evaluation</a:t>
            </a:r>
            <a:endParaRPr lang="en-US" sz="1300" dirty="0"/>
          </a:p>
        </p:txBody>
      </p:sp>
      <p:sp>
        <p:nvSpPr>
          <p:cNvPr id="30" name="Text 28"/>
          <p:cNvSpPr/>
          <p:nvPr/>
        </p:nvSpPr>
        <p:spPr>
          <a:xfrm>
            <a:off x="8083296" y="3438144"/>
            <a:ext cx="1508760" cy="1005840"/>
          </a:xfrm>
          <a:prstGeom prst="rect">
            <a:avLst/>
          </a:prstGeom>
          <a:noFill/>
          <a:ln/>
        </p:spPr>
        <p:txBody>
          <a:bodyPr wrap="square" lIns="0" tIns="0" rIns="0" bIns="0" rtlCol="0" anchor="ctr"/>
          <a:lstStyle/>
          <a:p>
            <a:pPr marL="0" indent="0" algn="ctr">
              <a:lnSpc>
                <a:spcPts val="1300"/>
              </a:lnSpc>
              <a:buNone/>
            </a:pPr>
            <a:r>
              <a:rPr lang="en-US" sz="1050" dirty="0">
                <a:solidFill>
                  <a:srgbClr val="5A6B7C"/>
                </a:solidFill>
                <a:latin typeface="Calibri" pitchFamily="34" charset="0"/>
                <a:ea typeface="Calibri" pitchFamily="34" charset="-122"/>
                <a:cs typeface="Calibri" pitchFamily="34" charset="-120"/>
              </a:rPr>
              <a:t>Proving retrieval quality, not guessing at it</a:t>
            </a:r>
            <a:endParaRPr lang="en-US" sz="1050" dirty="0"/>
          </a:p>
        </p:txBody>
      </p:sp>
      <p:sp>
        <p:nvSpPr>
          <p:cNvPr id="31" name="Shape 29"/>
          <p:cNvSpPr/>
          <p:nvPr/>
        </p:nvSpPr>
        <p:spPr>
          <a:xfrm>
            <a:off x="9829800" y="2377440"/>
            <a:ext cx="1691640" cy="2194560"/>
          </a:xfrm>
          <a:prstGeom prst="roundRect">
            <a:avLst>
              <a:gd name="adj" fmla="val 3243"/>
            </a:avLst>
          </a:prstGeom>
          <a:solidFill>
            <a:srgbClr val="EEF3F7"/>
          </a:solidFill>
          <a:ln w="12700">
            <a:solidFill>
              <a:srgbClr val="D3E1EA"/>
            </a:solidFill>
            <a:prstDash val="solid"/>
          </a:ln>
        </p:spPr>
        <p:txBody>
          <a:bodyPr/>
          <a:lstStyle/>
          <a:p>
            <a:endParaRPr lang="en-US"/>
          </a:p>
        </p:txBody>
      </p:sp>
      <p:sp>
        <p:nvSpPr>
          <p:cNvPr id="32" name="Shape 30"/>
          <p:cNvSpPr/>
          <p:nvPr/>
        </p:nvSpPr>
        <p:spPr>
          <a:xfrm>
            <a:off x="10492740" y="2578608"/>
            <a:ext cx="365760" cy="365760"/>
          </a:xfrm>
          <a:prstGeom prst="ellipse">
            <a:avLst/>
          </a:prstGeom>
          <a:solidFill>
            <a:srgbClr val="065A82"/>
          </a:solidFill>
          <a:ln/>
        </p:spPr>
        <p:txBody>
          <a:bodyPr/>
          <a:lstStyle/>
          <a:p>
            <a:endParaRPr lang="en-US"/>
          </a:p>
        </p:txBody>
      </p:sp>
      <p:sp>
        <p:nvSpPr>
          <p:cNvPr id="33" name="Text 31"/>
          <p:cNvSpPr/>
          <p:nvPr/>
        </p:nvSpPr>
        <p:spPr>
          <a:xfrm>
            <a:off x="10492740" y="25786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Text 32"/>
          <p:cNvSpPr/>
          <p:nvPr/>
        </p:nvSpPr>
        <p:spPr>
          <a:xfrm>
            <a:off x="9921240" y="3090672"/>
            <a:ext cx="1508760" cy="320040"/>
          </a:xfrm>
          <a:prstGeom prst="rect">
            <a:avLst/>
          </a:prstGeom>
          <a:noFill/>
          <a:ln/>
        </p:spPr>
        <p:txBody>
          <a:bodyPr wrap="square" lIns="0" tIns="0" rIns="0" bIns="0" rtlCol="0" anchor="ctr"/>
          <a:lstStyle/>
          <a:p>
            <a:pPr marL="0" indent="0" algn="ctr">
              <a:buNone/>
            </a:pPr>
            <a:r>
              <a:rPr lang="en-US" sz="1300" b="1" dirty="0">
                <a:solidFill>
                  <a:srgbClr val="1A2430"/>
                </a:solidFill>
                <a:latin typeface="Cambria" pitchFamily="34" charset="0"/>
                <a:ea typeface="Cambria" pitchFamily="34" charset="-122"/>
                <a:cs typeface="Cambria" pitchFamily="34" charset="-120"/>
              </a:rPr>
              <a:t>Improvement</a:t>
            </a:r>
            <a:endParaRPr lang="en-US" sz="1300" dirty="0"/>
          </a:p>
        </p:txBody>
      </p:sp>
      <p:sp>
        <p:nvSpPr>
          <p:cNvPr id="35" name="Text 33"/>
          <p:cNvSpPr/>
          <p:nvPr/>
        </p:nvSpPr>
        <p:spPr>
          <a:xfrm>
            <a:off x="9921240" y="3438144"/>
            <a:ext cx="1508760" cy="1005840"/>
          </a:xfrm>
          <a:prstGeom prst="rect">
            <a:avLst/>
          </a:prstGeom>
          <a:noFill/>
          <a:ln/>
        </p:spPr>
        <p:txBody>
          <a:bodyPr wrap="square" lIns="0" tIns="0" rIns="0" bIns="0" rtlCol="0" anchor="ctr"/>
          <a:lstStyle/>
          <a:p>
            <a:pPr marL="0" indent="0" algn="ctr">
              <a:lnSpc>
                <a:spcPts val="1300"/>
              </a:lnSpc>
              <a:buNone/>
            </a:pPr>
            <a:r>
              <a:rPr lang="en-US" sz="1050" dirty="0">
                <a:solidFill>
                  <a:srgbClr val="5A6B7C"/>
                </a:solidFill>
                <a:latin typeface="Calibri" pitchFamily="34" charset="0"/>
                <a:ea typeface="Calibri" pitchFamily="34" charset="-122"/>
                <a:cs typeface="Calibri" pitchFamily="34" charset="-120"/>
              </a:rPr>
              <a:t>The patterns that reliably move the number</a:t>
            </a:r>
            <a:endParaRPr lang="en-US" sz="1050" dirty="0"/>
          </a:p>
        </p:txBody>
      </p:sp>
      <p:sp>
        <p:nvSpPr>
          <p:cNvPr id="36" name="Text 34"/>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A2430"/>
                </a:solidFill>
                <a:latin typeface="Calibri" pitchFamily="34" charset="0"/>
                <a:ea typeface="Calibri" pitchFamily="34" charset="-122"/>
                <a:cs typeface="Calibri" pitchFamily="34" charset="-120"/>
              </a:rPr>
              <a:t>Most RAG failures are retrieval failures. The model is usually the last thing wrong and the first thing blamed.</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STRUCTURE · 8 HOURS</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Day 3 schedule</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640080" y="1371600"/>
            <a:ext cx="1188720" cy="384048"/>
          </a:xfrm>
          <a:prstGeom prst="rect">
            <a:avLst/>
          </a:prstGeom>
          <a:solidFill>
            <a:srgbClr val="21295C"/>
          </a:solidFill>
          <a:ln/>
        </p:spPr>
        <p:txBody>
          <a:bodyPr/>
          <a:lstStyle/>
          <a:p>
            <a:endParaRPr lang="en-US"/>
          </a:p>
        </p:txBody>
      </p:sp>
      <p:sp>
        <p:nvSpPr>
          <p:cNvPr id="6" name="Text 4"/>
          <p:cNvSpPr/>
          <p:nvPr/>
        </p:nvSpPr>
        <p:spPr>
          <a:xfrm>
            <a:off x="749808" y="1371600"/>
            <a:ext cx="96926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Time</a:t>
            </a:r>
            <a:endParaRPr lang="en-US" sz="1100" dirty="0"/>
          </a:p>
        </p:txBody>
      </p:sp>
      <p:sp>
        <p:nvSpPr>
          <p:cNvPr id="7" name="Shape 5"/>
          <p:cNvSpPr/>
          <p:nvPr/>
        </p:nvSpPr>
        <p:spPr>
          <a:xfrm>
            <a:off x="1828800" y="1371600"/>
            <a:ext cx="4480560" cy="384048"/>
          </a:xfrm>
          <a:prstGeom prst="rect">
            <a:avLst/>
          </a:prstGeom>
          <a:solidFill>
            <a:srgbClr val="21295C"/>
          </a:solidFill>
          <a:ln/>
        </p:spPr>
        <p:txBody>
          <a:bodyPr/>
          <a:lstStyle/>
          <a:p>
            <a:endParaRPr lang="en-US"/>
          </a:p>
        </p:txBody>
      </p:sp>
      <p:sp>
        <p:nvSpPr>
          <p:cNvPr id="8" name="Text 6"/>
          <p:cNvSpPr/>
          <p:nvPr/>
        </p:nvSpPr>
        <p:spPr>
          <a:xfrm>
            <a:off x="1938528" y="1371600"/>
            <a:ext cx="42611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Session</a:t>
            </a:r>
            <a:endParaRPr lang="en-US" sz="1100" dirty="0"/>
          </a:p>
        </p:txBody>
      </p:sp>
      <p:sp>
        <p:nvSpPr>
          <p:cNvPr id="9" name="Shape 7"/>
          <p:cNvSpPr/>
          <p:nvPr/>
        </p:nvSpPr>
        <p:spPr>
          <a:xfrm>
            <a:off x="6309360" y="1371600"/>
            <a:ext cx="5212080" cy="384048"/>
          </a:xfrm>
          <a:prstGeom prst="rect">
            <a:avLst/>
          </a:prstGeom>
          <a:solidFill>
            <a:srgbClr val="21295C"/>
          </a:solidFill>
          <a:ln/>
        </p:spPr>
        <p:txBody>
          <a:bodyPr/>
          <a:lstStyle/>
          <a:p>
            <a:endParaRPr lang="en-US"/>
          </a:p>
        </p:txBody>
      </p:sp>
      <p:sp>
        <p:nvSpPr>
          <p:cNvPr id="10" name="Text 8"/>
          <p:cNvSpPr/>
          <p:nvPr/>
        </p:nvSpPr>
        <p:spPr>
          <a:xfrm>
            <a:off x="6419088" y="1371600"/>
            <a:ext cx="49926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Focus</a:t>
            </a:r>
            <a:endParaRPr lang="en-US" sz="1100" dirty="0"/>
          </a:p>
        </p:txBody>
      </p:sp>
      <p:sp>
        <p:nvSpPr>
          <p:cNvPr id="11" name="Shape 9"/>
          <p:cNvSpPr/>
          <p:nvPr/>
        </p:nvSpPr>
        <p:spPr>
          <a:xfrm>
            <a:off x="640080" y="1755648"/>
            <a:ext cx="1188720" cy="438912"/>
          </a:xfrm>
          <a:prstGeom prst="rect">
            <a:avLst/>
          </a:prstGeom>
          <a:solidFill>
            <a:srgbClr val="FFFFFF"/>
          </a:solidFill>
          <a:ln w="9525">
            <a:solidFill>
              <a:srgbClr val="E3EBF0"/>
            </a:solidFill>
            <a:prstDash val="solid"/>
          </a:ln>
        </p:spPr>
        <p:txBody>
          <a:bodyPr/>
          <a:lstStyle/>
          <a:p>
            <a:endParaRPr lang="en-US"/>
          </a:p>
        </p:txBody>
      </p:sp>
      <p:sp>
        <p:nvSpPr>
          <p:cNvPr id="12" name="Text 10"/>
          <p:cNvSpPr/>
          <p:nvPr/>
        </p:nvSpPr>
        <p:spPr>
          <a:xfrm>
            <a:off x="749808" y="1755648"/>
            <a:ext cx="969264" cy="43891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09:00</a:t>
            </a:r>
            <a:endParaRPr lang="en-US" sz="1050" dirty="0"/>
          </a:p>
        </p:txBody>
      </p:sp>
      <p:sp>
        <p:nvSpPr>
          <p:cNvPr id="13" name="Shape 11"/>
          <p:cNvSpPr/>
          <p:nvPr/>
        </p:nvSpPr>
        <p:spPr>
          <a:xfrm>
            <a:off x="1828800" y="1755648"/>
            <a:ext cx="4480560" cy="438912"/>
          </a:xfrm>
          <a:prstGeom prst="rect">
            <a:avLst/>
          </a:prstGeom>
          <a:solidFill>
            <a:srgbClr val="FFFFFF"/>
          </a:solidFill>
          <a:ln w="9525">
            <a:solidFill>
              <a:srgbClr val="E3EBF0"/>
            </a:solidFill>
            <a:prstDash val="solid"/>
          </a:ln>
        </p:spPr>
        <p:txBody>
          <a:bodyPr/>
          <a:lstStyle/>
          <a:p>
            <a:endParaRPr lang="en-US"/>
          </a:p>
        </p:txBody>
      </p:sp>
      <p:sp>
        <p:nvSpPr>
          <p:cNvPr id="14" name="Text 12"/>
          <p:cNvSpPr/>
          <p:nvPr/>
        </p:nvSpPr>
        <p:spPr>
          <a:xfrm>
            <a:off x="1938528" y="1755648"/>
            <a:ext cx="4261104" cy="43891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Module 1 — Tokenisation and context engineering</a:t>
            </a:r>
            <a:endParaRPr lang="en-US" sz="1050" dirty="0"/>
          </a:p>
        </p:txBody>
      </p:sp>
      <p:sp>
        <p:nvSpPr>
          <p:cNvPr id="15" name="Shape 13"/>
          <p:cNvSpPr/>
          <p:nvPr/>
        </p:nvSpPr>
        <p:spPr>
          <a:xfrm>
            <a:off x="6309360" y="1755648"/>
            <a:ext cx="5212080" cy="438912"/>
          </a:xfrm>
          <a:prstGeom prst="rect">
            <a:avLst/>
          </a:prstGeom>
          <a:solidFill>
            <a:srgbClr val="FFFFFF"/>
          </a:solidFill>
          <a:ln w="9525">
            <a:solidFill>
              <a:srgbClr val="E3EBF0"/>
            </a:solidFill>
            <a:prstDash val="solid"/>
          </a:ln>
        </p:spPr>
        <p:txBody>
          <a:bodyPr/>
          <a:lstStyle/>
          <a:p>
            <a:endParaRPr lang="en-US"/>
          </a:p>
        </p:txBody>
      </p:sp>
      <p:sp>
        <p:nvSpPr>
          <p:cNvPr id="16" name="Text 14"/>
          <p:cNvSpPr/>
          <p:nvPr/>
        </p:nvSpPr>
        <p:spPr>
          <a:xfrm>
            <a:off x="6419088" y="1755648"/>
            <a:ext cx="4992624" cy="43891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Tokens, cost, context window, chunking, lost-in-the-middle, token budgeting</a:t>
            </a:r>
            <a:endParaRPr lang="en-US" sz="1050" dirty="0"/>
          </a:p>
        </p:txBody>
      </p:sp>
      <p:sp>
        <p:nvSpPr>
          <p:cNvPr id="17" name="Shape 15"/>
          <p:cNvSpPr/>
          <p:nvPr/>
        </p:nvSpPr>
        <p:spPr>
          <a:xfrm>
            <a:off x="640080" y="2194560"/>
            <a:ext cx="1188720" cy="438912"/>
          </a:xfrm>
          <a:prstGeom prst="rect">
            <a:avLst/>
          </a:prstGeom>
          <a:solidFill>
            <a:srgbClr val="F5F9FB"/>
          </a:solidFill>
          <a:ln w="9525">
            <a:solidFill>
              <a:srgbClr val="E3EBF0"/>
            </a:solidFill>
            <a:prstDash val="solid"/>
          </a:ln>
        </p:spPr>
        <p:txBody>
          <a:bodyPr/>
          <a:lstStyle/>
          <a:p>
            <a:endParaRPr lang="en-US"/>
          </a:p>
        </p:txBody>
      </p:sp>
      <p:sp>
        <p:nvSpPr>
          <p:cNvPr id="18" name="Text 16"/>
          <p:cNvSpPr/>
          <p:nvPr/>
        </p:nvSpPr>
        <p:spPr>
          <a:xfrm>
            <a:off x="749808" y="2194560"/>
            <a:ext cx="969264" cy="43891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10:00</a:t>
            </a:r>
            <a:endParaRPr lang="en-US" sz="1050" dirty="0"/>
          </a:p>
        </p:txBody>
      </p:sp>
      <p:sp>
        <p:nvSpPr>
          <p:cNvPr id="19" name="Shape 17"/>
          <p:cNvSpPr/>
          <p:nvPr/>
        </p:nvSpPr>
        <p:spPr>
          <a:xfrm>
            <a:off x="1828800" y="2194560"/>
            <a:ext cx="4480560" cy="438912"/>
          </a:xfrm>
          <a:prstGeom prst="rect">
            <a:avLst/>
          </a:prstGeom>
          <a:solidFill>
            <a:srgbClr val="F5F9FB"/>
          </a:solidFill>
          <a:ln w="9525">
            <a:solidFill>
              <a:srgbClr val="E3EBF0"/>
            </a:solidFill>
            <a:prstDash val="solid"/>
          </a:ln>
        </p:spPr>
        <p:txBody>
          <a:bodyPr/>
          <a:lstStyle/>
          <a:p>
            <a:endParaRPr lang="en-US"/>
          </a:p>
        </p:txBody>
      </p:sp>
      <p:sp>
        <p:nvSpPr>
          <p:cNvPr id="20" name="Text 18"/>
          <p:cNvSpPr/>
          <p:nvPr/>
        </p:nvSpPr>
        <p:spPr>
          <a:xfrm>
            <a:off x="1938528" y="2194560"/>
            <a:ext cx="4261104" cy="43891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Module 2 — Document ingestion for industrial RAG</a:t>
            </a:r>
            <a:endParaRPr lang="en-US" sz="1050" dirty="0"/>
          </a:p>
        </p:txBody>
      </p:sp>
      <p:sp>
        <p:nvSpPr>
          <p:cNvPr id="21" name="Shape 19"/>
          <p:cNvSpPr/>
          <p:nvPr/>
        </p:nvSpPr>
        <p:spPr>
          <a:xfrm>
            <a:off x="6309360" y="2194560"/>
            <a:ext cx="5212080" cy="438912"/>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6419088" y="2194560"/>
            <a:ext cx="4992624" cy="43891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PDF parsing, layout, tables, diagrams, OCR, metadata, versioning</a:t>
            </a:r>
            <a:endParaRPr lang="en-US" sz="1050" dirty="0"/>
          </a:p>
        </p:txBody>
      </p:sp>
      <p:sp>
        <p:nvSpPr>
          <p:cNvPr id="23" name="Shape 21"/>
          <p:cNvSpPr/>
          <p:nvPr/>
        </p:nvSpPr>
        <p:spPr>
          <a:xfrm>
            <a:off x="640080" y="2633472"/>
            <a:ext cx="1188720" cy="438912"/>
          </a:xfrm>
          <a:prstGeom prst="rect">
            <a:avLst/>
          </a:prstGeom>
          <a:solidFill>
            <a:srgbClr val="FFFFFF"/>
          </a:solidFill>
          <a:ln w="9525">
            <a:solidFill>
              <a:srgbClr val="E3EBF0"/>
            </a:solidFill>
            <a:prstDash val="solid"/>
          </a:ln>
        </p:spPr>
        <p:txBody>
          <a:bodyPr/>
          <a:lstStyle/>
          <a:p>
            <a:endParaRPr lang="en-US"/>
          </a:p>
        </p:txBody>
      </p:sp>
      <p:sp>
        <p:nvSpPr>
          <p:cNvPr id="24" name="Text 22"/>
          <p:cNvSpPr/>
          <p:nvPr/>
        </p:nvSpPr>
        <p:spPr>
          <a:xfrm>
            <a:off x="749808" y="2633472"/>
            <a:ext cx="969264" cy="43891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11:15</a:t>
            </a:r>
            <a:endParaRPr lang="en-US" sz="1050" dirty="0"/>
          </a:p>
        </p:txBody>
      </p:sp>
      <p:sp>
        <p:nvSpPr>
          <p:cNvPr id="25" name="Shape 23"/>
          <p:cNvSpPr/>
          <p:nvPr/>
        </p:nvSpPr>
        <p:spPr>
          <a:xfrm>
            <a:off x="1828800" y="2633472"/>
            <a:ext cx="4480560" cy="438912"/>
          </a:xfrm>
          <a:prstGeom prst="rect">
            <a:avLst/>
          </a:prstGeom>
          <a:solidFill>
            <a:srgbClr val="FFFFFF"/>
          </a:solidFill>
          <a:ln w="9525">
            <a:solidFill>
              <a:srgbClr val="E3EBF0"/>
            </a:solidFill>
            <a:prstDash val="solid"/>
          </a:ln>
        </p:spPr>
        <p:txBody>
          <a:bodyPr/>
          <a:lstStyle/>
          <a:p>
            <a:endParaRPr lang="en-US"/>
          </a:p>
        </p:txBody>
      </p:sp>
      <p:sp>
        <p:nvSpPr>
          <p:cNvPr id="26" name="Text 24"/>
          <p:cNvSpPr/>
          <p:nvPr/>
        </p:nvSpPr>
        <p:spPr>
          <a:xfrm>
            <a:off x="1938528" y="2633472"/>
            <a:ext cx="4261104" cy="43891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Lab 1+2 — Chunking and extraction comparison</a:t>
            </a:r>
            <a:endParaRPr lang="en-US" sz="1050" dirty="0"/>
          </a:p>
        </p:txBody>
      </p:sp>
      <p:sp>
        <p:nvSpPr>
          <p:cNvPr id="27" name="Shape 25"/>
          <p:cNvSpPr/>
          <p:nvPr/>
        </p:nvSpPr>
        <p:spPr>
          <a:xfrm>
            <a:off x="6309360" y="2633472"/>
            <a:ext cx="5212080" cy="438912"/>
          </a:xfrm>
          <a:prstGeom prst="rect">
            <a:avLst/>
          </a:prstGeom>
          <a:solidFill>
            <a:srgbClr val="FFFFFF"/>
          </a:solidFill>
          <a:ln w="9525">
            <a:solidFill>
              <a:srgbClr val="E3EBF0"/>
            </a:solidFill>
            <a:prstDash val="solid"/>
          </a:ln>
        </p:spPr>
        <p:txBody>
          <a:bodyPr/>
          <a:lstStyle/>
          <a:p>
            <a:endParaRPr lang="en-US"/>
          </a:p>
        </p:txBody>
      </p:sp>
      <p:sp>
        <p:nvSpPr>
          <p:cNvPr id="28" name="Text 26"/>
          <p:cNvSpPr/>
          <p:nvPr/>
        </p:nvSpPr>
        <p:spPr>
          <a:xfrm>
            <a:off x="6419088" y="2633472"/>
            <a:ext cx="4992624" cy="43891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Four extraction methods, three chunk strategies, measured</a:t>
            </a:r>
            <a:endParaRPr lang="en-US" sz="1050" dirty="0"/>
          </a:p>
        </p:txBody>
      </p:sp>
      <p:sp>
        <p:nvSpPr>
          <p:cNvPr id="29" name="Shape 27"/>
          <p:cNvSpPr/>
          <p:nvPr/>
        </p:nvSpPr>
        <p:spPr>
          <a:xfrm>
            <a:off x="640080" y="3072384"/>
            <a:ext cx="1188720" cy="438912"/>
          </a:xfrm>
          <a:prstGeom prst="rect">
            <a:avLst/>
          </a:prstGeom>
          <a:solidFill>
            <a:srgbClr val="F5F9FB"/>
          </a:solidFill>
          <a:ln w="9525">
            <a:solidFill>
              <a:srgbClr val="E3EBF0"/>
            </a:solidFill>
            <a:prstDash val="solid"/>
          </a:ln>
        </p:spPr>
        <p:txBody>
          <a:bodyPr/>
          <a:lstStyle/>
          <a:p>
            <a:endParaRPr lang="en-US"/>
          </a:p>
        </p:txBody>
      </p:sp>
      <p:sp>
        <p:nvSpPr>
          <p:cNvPr id="30" name="Text 28"/>
          <p:cNvSpPr/>
          <p:nvPr/>
        </p:nvSpPr>
        <p:spPr>
          <a:xfrm>
            <a:off x="749808" y="3072384"/>
            <a:ext cx="969264" cy="43891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12:00</a:t>
            </a:r>
            <a:endParaRPr lang="en-US" sz="1050" dirty="0"/>
          </a:p>
        </p:txBody>
      </p:sp>
      <p:sp>
        <p:nvSpPr>
          <p:cNvPr id="31" name="Shape 29"/>
          <p:cNvSpPr/>
          <p:nvPr/>
        </p:nvSpPr>
        <p:spPr>
          <a:xfrm>
            <a:off x="1828800" y="3072384"/>
            <a:ext cx="4480560" cy="438912"/>
          </a:xfrm>
          <a:prstGeom prst="rect">
            <a:avLst/>
          </a:prstGeom>
          <a:solidFill>
            <a:srgbClr val="F5F9FB"/>
          </a:solidFill>
          <a:ln w="9525">
            <a:solidFill>
              <a:srgbClr val="E3EBF0"/>
            </a:solidFill>
            <a:prstDash val="solid"/>
          </a:ln>
        </p:spPr>
        <p:txBody>
          <a:bodyPr/>
          <a:lstStyle/>
          <a:p>
            <a:endParaRPr lang="en-US"/>
          </a:p>
        </p:txBody>
      </p:sp>
      <p:sp>
        <p:nvSpPr>
          <p:cNvPr id="32" name="Text 30"/>
          <p:cNvSpPr/>
          <p:nvPr/>
        </p:nvSpPr>
        <p:spPr>
          <a:xfrm>
            <a:off x="1938528" y="3072384"/>
            <a:ext cx="4261104" cy="43891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Module 3 — Retrieval architecture</a:t>
            </a:r>
            <a:endParaRPr lang="en-US" sz="1050" dirty="0"/>
          </a:p>
        </p:txBody>
      </p:sp>
      <p:sp>
        <p:nvSpPr>
          <p:cNvPr id="33" name="Shape 31"/>
          <p:cNvSpPr/>
          <p:nvPr/>
        </p:nvSpPr>
        <p:spPr>
          <a:xfrm>
            <a:off x="6309360" y="3072384"/>
            <a:ext cx="5212080" cy="438912"/>
          </a:xfrm>
          <a:prstGeom prst="rect">
            <a:avLst/>
          </a:prstGeom>
          <a:solidFill>
            <a:srgbClr val="F5F9FB"/>
          </a:solidFill>
          <a:ln w="9525">
            <a:solidFill>
              <a:srgbClr val="E3EBF0"/>
            </a:solidFill>
            <a:prstDash val="solid"/>
          </a:ln>
        </p:spPr>
        <p:txBody>
          <a:bodyPr/>
          <a:lstStyle/>
          <a:p>
            <a:endParaRPr lang="en-US"/>
          </a:p>
        </p:txBody>
      </p:sp>
      <p:sp>
        <p:nvSpPr>
          <p:cNvPr id="34" name="Text 32"/>
          <p:cNvSpPr/>
          <p:nvPr/>
        </p:nvSpPr>
        <p:spPr>
          <a:xfrm>
            <a:off x="6419088" y="3072384"/>
            <a:ext cx="4992624" cy="43891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Dense, sparse, hybrid, reranking, filtering, multi-hop, graph, fallback</a:t>
            </a:r>
            <a:endParaRPr lang="en-US" sz="1050" dirty="0"/>
          </a:p>
        </p:txBody>
      </p:sp>
      <p:sp>
        <p:nvSpPr>
          <p:cNvPr id="35" name="Shape 33"/>
          <p:cNvSpPr/>
          <p:nvPr/>
        </p:nvSpPr>
        <p:spPr>
          <a:xfrm>
            <a:off x="640080" y="3511296"/>
            <a:ext cx="1188720" cy="438912"/>
          </a:xfrm>
          <a:prstGeom prst="rect">
            <a:avLst/>
          </a:prstGeom>
          <a:solidFill>
            <a:srgbClr val="FFFFFF"/>
          </a:solidFill>
          <a:ln w="9525">
            <a:solidFill>
              <a:srgbClr val="E3EBF0"/>
            </a:solidFill>
            <a:prstDash val="solid"/>
          </a:ln>
        </p:spPr>
        <p:txBody>
          <a:bodyPr/>
          <a:lstStyle/>
          <a:p>
            <a:endParaRPr lang="en-US"/>
          </a:p>
        </p:txBody>
      </p:sp>
      <p:sp>
        <p:nvSpPr>
          <p:cNvPr id="36" name="Text 34"/>
          <p:cNvSpPr/>
          <p:nvPr/>
        </p:nvSpPr>
        <p:spPr>
          <a:xfrm>
            <a:off x="749808" y="3511296"/>
            <a:ext cx="969264" cy="43891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13:00</a:t>
            </a:r>
            <a:endParaRPr lang="en-US" sz="1050" dirty="0"/>
          </a:p>
        </p:txBody>
      </p:sp>
      <p:sp>
        <p:nvSpPr>
          <p:cNvPr id="37" name="Shape 35"/>
          <p:cNvSpPr/>
          <p:nvPr/>
        </p:nvSpPr>
        <p:spPr>
          <a:xfrm>
            <a:off x="1828800" y="3511296"/>
            <a:ext cx="4480560" cy="438912"/>
          </a:xfrm>
          <a:prstGeom prst="rect">
            <a:avLst/>
          </a:prstGeom>
          <a:solidFill>
            <a:srgbClr val="FFFFFF"/>
          </a:solidFill>
          <a:ln w="9525">
            <a:solidFill>
              <a:srgbClr val="E3EBF0"/>
            </a:solidFill>
            <a:prstDash val="solid"/>
          </a:ln>
        </p:spPr>
        <p:txBody>
          <a:bodyPr/>
          <a:lstStyle/>
          <a:p>
            <a:endParaRPr lang="en-US"/>
          </a:p>
        </p:txBody>
      </p:sp>
      <p:sp>
        <p:nvSpPr>
          <p:cNvPr id="38" name="Text 36"/>
          <p:cNvSpPr/>
          <p:nvPr/>
        </p:nvSpPr>
        <p:spPr>
          <a:xfrm>
            <a:off x="1938528" y="3511296"/>
            <a:ext cx="4261104" cy="43891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Lunch</a:t>
            </a:r>
            <a:endParaRPr lang="en-US" sz="1050" dirty="0"/>
          </a:p>
        </p:txBody>
      </p:sp>
      <p:sp>
        <p:nvSpPr>
          <p:cNvPr id="39" name="Shape 37"/>
          <p:cNvSpPr/>
          <p:nvPr/>
        </p:nvSpPr>
        <p:spPr>
          <a:xfrm>
            <a:off x="6309360" y="3511296"/>
            <a:ext cx="5212080" cy="438912"/>
          </a:xfrm>
          <a:prstGeom prst="rect">
            <a:avLst/>
          </a:prstGeom>
          <a:solidFill>
            <a:srgbClr val="FFFFFF"/>
          </a:solidFill>
          <a:ln w="9525">
            <a:solidFill>
              <a:srgbClr val="E3EBF0"/>
            </a:solidFill>
            <a:prstDash val="solid"/>
          </a:ln>
        </p:spPr>
        <p:txBody>
          <a:bodyPr/>
          <a:lstStyle/>
          <a:p>
            <a:endParaRPr lang="en-US"/>
          </a:p>
        </p:txBody>
      </p:sp>
      <p:sp>
        <p:nvSpPr>
          <p:cNvPr id="40" name="Text 38"/>
          <p:cNvSpPr/>
          <p:nvPr/>
        </p:nvSpPr>
        <p:spPr>
          <a:xfrm>
            <a:off x="6419088" y="3511296"/>
            <a:ext cx="4992624" cy="438912"/>
          </a:xfrm>
          <a:prstGeom prst="rect">
            <a:avLst/>
          </a:prstGeom>
          <a:noFill/>
          <a:ln/>
        </p:spPr>
        <p:txBody>
          <a:bodyPr wrap="square" lIns="0" tIns="0" rIns="0" bIns="0" rtlCol="0" anchor="ctr"/>
          <a:lstStyle/>
          <a:p>
            <a:pPr marL="0" indent="0">
              <a:lnSpc>
                <a:spcPts val="1300"/>
              </a:lnSpc>
              <a:buNone/>
            </a:pPr>
            <a:endParaRPr lang="en-US" sz="1050" dirty="0"/>
          </a:p>
        </p:txBody>
      </p:sp>
      <p:sp>
        <p:nvSpPr>
          <p:cNvPr id="41" name="Shape 39"/>
          <p:cNvSpPr/>
          <p:nvPr/>
        </p:nvSpPr>
        <p:spPr>
          <a:xfrm>
            <a:off x="640080" y="3950208"/>
            <a:ext cx="1188720" cy="438912"/>
          </a:xfrm>
          <a:prstGeom prst="rect">
            <a:avLst/>
          </a:prstGeom>
          <a:solidFill>
            <a:srgbClr val="F5F9FB"/>
          </a:solidFill>
          <a:ln w="9525">
            <a:solidFill>
              <a:srgbClr val="E3EBF0"/>
            </a:solidFill>
            <a:prstDash val="solid"/>
          </a:ln>
        </p:spPr>
        <p:txBody>
          <a:bodyPr/>
          <a:lstStyle/>
          <a:p>
            <a:endParaRPr lang="en-US"/>
          </a:p>
        </p:txBody>
      </p:sp>
      <p:sp>
        <p:nvSpPr>
          <p:cNvPr id="42" name="Text 40"/>
          <p:cNvSpPr/>
          <p:nvPr/>
        </p:nvSpPr>
        <p:spPr>
          <a:xfrm>
            <a:off x="749808" y="3950208"/>
            <a:ext cx="969264" cy="43891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13:45</a:t>
            </a:r>
            <a:endParaRPr lang="en-US" sz="1050" dirty="0"/>
          </a:p>
        </p:txBody>
      </p:sp>
      <p:sp>
        <p:nvSpPr>
          <p:cNvPr id="43" name="Shape 41"/>
          <p:cNvSpPr/>
          <p:nvPr/>
        </p:nvSpPr>
        <p:spPr>
          <a:xfrm>
            <a:off x="1828800" y="3950208"/>
            <a:ext cx="4480560" cy="438912"/>
          </a:xfrm>
          <a:prstGeom prst="rect">
            <a:avLst/>
          </a:prstGeom>
          <a:solidFill>
            <a:srgbClr val="F5F9FB"/>
          </a:solidFill>
          <a:ln w="9525">
            <a:solidFill>
              <a:srgbClr val="E3EBF0"/>
            </a:solidFill>
            <a:prstDash val="solid"/>
          </a:ln>
        </p:spPr>
        <p:txBody>
          <a:bodyPr/>
          <a:lstStyle/>
          <a:p>
            <a:endParaRPr lang="en-US"/>
          </a:p>
        </p:txBody>
      </p:sp>
      <p:sp>
        <p:nvSpPr>
          <p:cNvPr id="44" name="Text 42"/>
          <p:cNvSpPr/>
          <p:nvPr/>
        </p:nvSpPr>
        <p:spPr>
          <a:xfrm>
            <a:off x="1938528" y="3950208"/>
            <a:ext cx="4261104" cy="43891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Lab 3 — Build and compare retrieval strategies</a:t>
            </a:r>
            <a:endParaRPr lang="en-US" sz="1050" dirty="0"/>
          </a:p>
        </p:txBody>
      </p:sp>
      <p:sp>
        <p:nvSpPr>
          <p:cNvPr id="45" name="Shape 43"/>
          <p:cNvSpPr/>
          <p:nvPr/>
        </p:nvSpPr>
        <p:spPr>
          <a:xfrm>
            <a:off x="6309360" y="3950208"/>
            <a:ext cx="5212080" cy="438912"/>
          </a:xfrm>
          <a:prstGeom prst="rect">
            <a:avLst/>
          </a:prstGeom>
          <a:solidFill>
            <a:srgbClr val="F5F9FB"/>
          </a:solidFill>
          <a:ln w="9525">
            <a:solidFill>
              <a:srgbClr val="E3EBF0"/>
            </a:solidFill>
            <a:prstDash val="solid"/>
          </a:ln>
        </p:spPr>
        <p:txBody>
          <a:bodyPr/>
          <a:lstStyle/>
          <a:p>
            <a:endParaRPr lang="en-US"/>
          </a:p>
        </p:txBody>
      </p:sp>
      <p:sp>
        <p:nvSpPr>
          <p:cNvPr id="46" name="Text 44"/>
          <p:cNvSpPr/>
          <p:nvPr/>
        </p:nvSpPr>
        <p:spPr>
          <a:xfrm>
            <a:off x="6419088" y="3950208"/>
            <a:ext cx="4992624" cy="43891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Same corpus, same questions, four strategies, one table</a:t>
            </a:r>
            <a:endParaRPr lang="en-US" sz="1050" dirty="0"/>
          </a:p>
        </p:txBody>
      </p:sp>
      <p:sp>
        <p:nvSpPr>
          <p:cNvPr id="47" name="Shape 45"/>
          <p:cNvSpPr/>
          <p:nvPr/>
        </p:nvSpPr>
        <p:spPr>
          <a:xfrm>
            <a:off x="640080" y="4389120"/>
            <a:ext cx="1188720" cy="438912"/>
          </a:xfrm>
          <a:prstGeom prst="rect">
            <a:avLst/>
          </a:prstGeom>
          <a:solidFill>
            <a:srgbClr val="FFFFFF"/>
          </a:solidFill>
          <a:ln w="9525">
            <a:solidFill>
              <a:srgbClr val="E3EBF0"/>
            </a:solidFill>
            <a:prstDash val="solid"/>
          </a:ln>
        </p:spPr>
        <p:txBody>
          <a:bodyPr/>
          <a:lstStyle/>
          <a:p>
            <a:endParaRPr lang="en-US"/>
          </a:p>
        </p:txBody>
      </p:sp>
      <p:sp>
        <p:nvSpPr>
          <p:cNvPr id="48" name="Text 46"/>
          <p:cNvSpPr/>
          <p:nvPr/>
        </p:nvSpPr>
        <p:spPr>
          <a:xfrm>
            <a:off x="749808" y="4389120"/>
            <a:ext cx="969264" cy="43891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14:45</a:t>
            </a:r>
            <a:endParaRPr lang="en-US" sz="1050" dirty="0"/>
          </a:p>
        </p:txBody>
      </p:sp>
      <p:sp>
        <p:nvSpPr>
          <p:cNvPr id="49" name="Shape 47"/>
          <p:cNvSpPr/>
          <p:nvPr/>
        </p:nvSpPr>
        <p:spPr>
          <a:xfrm>
            <a:off x="1828800" y="4389120"/>
            <a:ext cx="4480560" cy="438912"/>
          </a:xfrm>
          <a:prstGeom prst="rect">
            <a:avLst/>
          </a:prstGeom>
          <a:solidFill>
            <a:srgbClr val="FFFFFF"/>
          </a:solidFill>
          <a:ln w="9525">
            <a:solidFill>
              <a:srgbClr val="E3EBF0"/>
            </a:solidFill>
            <a:prstDash val="solid"/>
          </a:ln>
        </p:spPr>
        <p:txBody>
          <a:bodyPr/>
          <a:lstStyle/>
          <a:p>
            <a:endParaRPr lang="en-US"/>
          </a:p>
        </p:txBody>
      </p:sp>
      <p:sp>
        <p:nvSpPr>
          <p:cNvPr id="50" name="Text 48"/>
          <p:cNvSpPr/>
          <p:nvPr/>
        </p:nvSpPr>
        <p:spPr>
          <a:xfrm>
            <a:off x="1938528" y="4389120"/>
            <a:ext cx="4261104" cy="43891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Module 4 — MCP for tool and data integration</a:t>
            </a:r>
            <a:endParaRPr lang="en-US" sz="1050" dirty="0"/>
          </a:p>
        </p:txBody>
      </p:sp>
      <p:sp>
        <p:nvSpPr>
          <p:cNvPr id="51" name="Shape 49"/>
          <p:cNvSpPr/>
          <p:nvPr/>
        </p:nvSpPr>
        <p:spPr>
          <a:xfrm>
            <a:off x="6309360" y="4389120"/>
            <a:ext cx="5212080" cy="438912"/>
          </a:xfrm>
          <a:prstGeom prst="rect">
            <a:avLst/>
          </a:prstGeom>
          <a:solidFill>
            <a:srgbClr val="FFFFFF"/>
          </a:solidFill>
          <a:ln w="9525">
            <a:solidFill>
              <a:srgbClr val="E3EBF0"/>
            </a:solidFill>
            <a:prstDash val="solid"/>
          </a:ln>
        </p:spPr>
        <p:txBody>
          <a:bodyPr/>
          <a:lstStyle/>
          <a:p>
            <a:endParaRPr lang="en-US"/>
          </a:p>
        </p:txBody>
      </p:sp>
      <p:sp>
        <p:nvSpPr>
          <p:cNvPr id="52" name="Text 50"/>
          <p:cNvSpPr/>
          <p:nvPr/>
        </p:nvSpPr>
        <p:spPr>
          <a:xfrm>
            <a:off x="6419088" y="4389120"/>
            <a:ext cx="4992624" cy="43891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Client and server roles, contracts, boundaries, logging, security</a:t>
            </a:r>
            <a:endParaRPr lang="en-US" sz="1050" dirty="0"/>
          </a:p>
        </p:txBody>
      </p:sp>
      <p:sp>
        <p:nvSpPr>
          <p:cNvPr id="53" name="Shape 51"/>
          <p:cNvSpPr/>
          <p:nvPr/>
        </p:nvSpPr>
        <p:spPr>
          <a:xfrm>
            <a:off x="640080" y="4828032"/>
            <a:ext cx="1188720" cy="438912"/>
          </a:xfrm>
          <a:prstGeom prst="rect">
            <a:avLst/>
          </a:prstGeom>
          <a:solidFill>
            <a:srgbClr val="F5F9FB"/>
          </a:solidFill>
          <a:ln w="9525">
            <a:solidFill>
              <a:srgbClr val="E3EBF0"/>
            </a:solidFill>
            <a:prstDash val="solid"/>
          </a:ln>
        </p:spPr>
        <p:txBody>
          <a:bodyPr/>
          <a:lstStyle/>
          <a:p>
            <a:endParaRPr lang="en-US"/>
          </a:p>
        </p:txBody>
      </p:sp>
      <p:sp>
        <p:nvSpPr>
          <p:cNvPr id="54" name="Text 52"/>
          <p:cNvSpPr/>
          <p:nvPr/>
        </p:nvSpPr>
        <p:spPr>
          <a:xfrm>
            <a:off x="749808" y="4828032"/>
            <a:ext cx="969264" cy="43891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15:45</a:t>
            </a:r>
            <a:endParaRPr lang="en-US" sz="1050" dirty="0"/>
          </a:p>
        </p:txBody>
      </p:sp>
      <p:sp>
        <p:nvSpPr>
          <p:cNvPr id="55" name="Shape 53"/>
          <p:cNvSpPr/>
          <p:nvPr/>
        </p:nvSpPr>
        <p:spPr>
          <a:xfrm>
            <a:off x="1828800" y="4828032"/>
            <a:ext cx="4480560" cy="438912"/>
          </a:xfrm>
          <a:prstGeom prst="rect">
            <a:avLst/>
          </a:prstGeom>
          <a:solidFill>
            <a:srgbClr val="F5F9FB"/>
          </a:solidFill>
          <a:ln w="9525">
            <a:solidFill>
              <a:srgbClr val="E3EBF0"/>
            </a:solidFill>
            <a:prstDash val="solid"/>
          </a:ln>
        </p:spPr>
        <p:txBody>
          <a:bodyPr/>
          <a:lstStyle/>
          <a:p>
            <a:endParaRPr lang="en-US"/>
          </a:p>
        </p:txBody>
      </p:sp>
      <p:sp>
        <p:nvSpPr>
          <p:cNvPr id="56" name="Text 54"/>
          <p:cNvSpPr/>
          <p:nvPr/>
        </p:nvSpPr>
        <p:spPr>
          <a:xfrm>
            <a:off x="1938528" y="4828032"/>
            <a:ext cx="4261104" cy="43891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Module 5 — RAG evaluation and observability</a:t>
            </a:r>
            <a:endParaRPr lang="en-US" sz="1050" dirty="0"/>
          </a:p>
        </p:txBody>
      </p:sp>
      <p:sp>
        <p:nvSpPr>
          <p:cNvPr id="57" name="Shape 55"/>
          <p:cNvSpPr/>
          <p:nvPr/>
        </p:nvSpPr>
        <p:spPr>
          <a:xfrm>
            <a:off x="6309360" y="4828032"/>
            <a:ext cx="5212080" cy="438912"/>
          </a:xfrm>
          <a:prstGeom prst="rect">
            <a:avLst/>
          </a:prstGeom>
          <a:solidFill>
            <a:srgbClr val="F5F9FB"/>
          </a:solidFill>
          <a:ln w="9525">
            <a:solidFill>
              <a:srgbClr val="E3EBF0"/>
            </a:solidFill>
            <a:prstDash val="solid"/>
          </a:ln>
        </p:spPr>
        <p:txBody>
          <a:bodyPr/>
          <a:lstStyle/>
          <a:p>
            <a:endParaRPr lang="en-US"/>
          </a:p>
        </p:txBody>
      </p:sp>
      <p:sp>
        <p:nvSpPr>
          <p:cNvPr id="58" name="Text 56"/>
          <p:cNvSpPr/>
          <p:nvPr/>
        </p:nvSpPr>
        <p:spPr>
          <a:xfrm>
            <a:off x="6419088" y="4828032"/>
            <a:ext cx="4992624" cy="43891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Eight metrics, traces, spans, cost, latency, error clustering, alerts</a:t>
            </a:r>
            <a:endParaRPr lang="en-US" sz="1050" dirty="0"/>
          </a:p>
        </p:txBody>
      </p:sp>
      <p:sp>
        <p:nvSpPr>
          <p:cNvPr id="59" name="Shape 57"/>
          <p:cNvSpPr/>
          <p:nvPr/>
        </p:nvSpPr>
        <p:spPr>
          <a:xfrm>
            <a:off x="640080" y="5266944"/>
            <a:ext cx="1188720" cy="438912"/>
          </a:xfrm>
          <a:prstGeom prst="rect">
            <a:avLst/>
          </a:prstGeom>
          <a:solidFill>
            <a:srgbClr val="FFFFFF"/>
          </a:solidFill>
          <a:ln w="9525">
            <a:solidFill>
              <a:srgbClr val="E3EBF0"/>
            </a:solidFill>
            <a:prstDash val="solid"/>
          </a:ln>
        </p:spPr>
        <p:txBody>
          <a:bodyPr/>
          <a:lstStyle/>
          <a:p>
            <a:endParaRPr lang="en-US"/>
          </a:p>
        </p:txBody>
      </p:sp>
      <p:sp>
        <p:nvSpPr>
          <p:cNvPr id="60" name="Text 58"/>
          <p:cNvSpPr/>
          <p:nvPr/>
        </p:nvSpPr>
        <p:spPr>
          <a:xfrm>
            <a:off x="749808" y="5266944"/>
            <a:ext cx="969264" cy="43891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17:00</a:t>
            </a:r>
            <a:endParaRPr lang="en-US" sz="1050" dirty="0"/>
          </a:p>
        </p:txBody>
      </p:sp>
      <p:sp>
        <p:nvSpPr>
          <p:cNvPr id="61" name="Shape 59"/>
          <p:cNvSpPr/>
          <p:nvPr/>
        </p:nvSpPr>
        <p:spPr>
          <a:xfrm>
            <a:off x="1828800" y="5266944"/>
            <a:ext cx="4480560" cy="438912"/>
          </a:xfrm>
          <a:prstGeom prst="rect">
            <a:avLst/>
          </a:prstGeom>
          <a:solidFill>
            <a:srgbClr val="FFFFFF"/>
          </a:solidFill>
          <a:ln w="9525">
            <a:solidFill>
              <a:srgbClr val="E3EBF0"/>
            </a:solidFill>
            <a:prstDash val="solid"/>
          </a:ln>
        </p:spPr>
        <p:txBody>
          <a:bodyPr/>
          <a:lstStyle/>
          <a:p>
            <a:endParaRPr lang="en-US"/>
          </a:p>
        </p:txBody>
      </p:sp>
      <p:sp>
        <p:nvSpPr>
          <p:cNvPr id="62" name="Text 60"/>
          <p:cNvSpPr/>
          <p:nvPr/>
        </p:nvSpPr>
        <p:spPr>
          <a:xfrm>
            <a:off x="1938528" y="5266944"/>
            <a:ext cx="4261104" cy="43891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Module 6 — Accuracy improvement patterns</a:t>
            </a:r>
            <a:endParaRPr lang="en-US" sz="1050" dirty="0"/>
          </a:p>
        </p:txBody>
      </p:sp>
      <p:sp>
        <p:nvSpPr>
          <p:cNvPr id="63" name="Shape 61"/>
          <p:cNvSpPr/>
          <p:nvPr/>
        </p:nvSpPr>
        <p:spPr>
          <a:xfrm>
            <a:off x="6309360" y="5266944"/>
            <a:ext cx="5212080" cy="438912"/>
          </a:xfrm>
          <a:prstGeom prst="rect">
            <a:avLst/>
          </a:prstGeom>
          <a:solidFill>
            <a:srgbClr val="FFFFFF"/>
          </a:solidFill>
          <a:ln w="9525">
            <a:solidFill>
              <a:srgbClr val="E3EBF0"/>
            </a:solidFill>
            <a:prstDash val="solid"/>
          </a:ln>
        </p:spPr>
        <p:txBody>
          <a:bodyPr/>
          <a:lstStyle/>
          <a:p>
            <a:endParaRPr lang="en-US"/>
          </a:p>
        </p:txBody>
      </p:sp>
      <p:sp>
        <p:nvSpPr>
          <p:cNvPr id="64" name="Text 62"/>
          <p:cNvSpPr/>
          <p:nvPr/>
        </p:nvSpPr>
        <p:spPr>
          <a:xfrm>
            <a:off x="6419088" y="5266944"/>
            <a:ext cx="4992624" cy="43891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Thirteen levers, ranked by typical return</a:t>
            </a:r>
            <a:endParaRPr lang="en-US" sz="1050" dirty="0"/>
          </a:p>
        </p:txBody>
      </p:sp>
      <p:sp>
        <p:nvSpPr>
          <p:cNvPr id="65" name="Shape 63"/>
          <p:cNvSpPr/>
          <p:nvPr/>
        </p:nvSpPr>
        <p:spPr>
          <a:xfrm>
            <a:off x="640080" y="5705856"/>
            <a:ext cx="1188720" cy="438912"/>
          </a:xfrm>
          <a:prstGeom prst="rect">
            <a:avLst/>
          </a:prstGeom>
          <a:solidFill>
            <a:srgbClr val="F5F9FB"/>
          </a:solidFill>
          <a:ln w="9525">
            <a:solidFill>
              <a:srgbClr val="E3EBF0"/>
            </a:solidFill>
            <a:prstDash val="solid"/>
          </a:ln>
        </p:spPr>
        <p:txBody>
          <a:bodyPr/>
          <a:lstStyle/>
          <a:p>
            <a:endParaRPr lang="en-US"/>
          </a:p>
        </p:txBody>
      </p:sp>
      <p:sp>
        <p:nvSpPr>
          <p:cNvPr id="66" name="Text 64"/>
          <p:cNvSpPr/>
          <p:nvPr/>
        </p:nvSpPr>
        <p:spPr>
          <a:xfrm>
            <a:off x="749808" y="5705856"/>
            <a:ext cx="969264" cy="43891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17:30</a:t>
            </a:r>
            <a:endParaRPr lang="en-US" sz="1050" dirty="0"/>
          </a:p>
        </p:txBody>
      </p:sp>
      <p:sp>
        <p:nvSpPr>
          <p:cNvPr id="67" name="Shape 65"/>
          <p:cNvSpPr/>
          <p:nvPr/>
        </p:nvSpPr>
        <p:spPr>
          <a:xfrm>
            <a:off x="1828800" y="5705856"/>
            <a:ext cx="4480560" cy="438912"/>
          </a:xfrm>
          <a:prstGeom prst="rect">
            <a:avLst/>
          </a:prstGeom>
          <a:solidFill>
            <a:srgbClr val="F5F9FB"/>
          </a:solidFill>
          <a:ln w="9525">
            <a:solidFill>
              <a:srgbClr val="E3EBF0"/>
            </a:solidFill>
            <a:prstDash val="solid"/>
          </a:ln>
        </p:spPr>
        <p:txBody>
          <a:bodyPr/>
          <a:lstStyle/>
          <a:p>
            <a:endParaRPr lang="en-US"/>
          </a:p>
        </p:txBody>
      </p:sp>
      <p:sp>
        <p:nvSpPr>
          <p:cNvPr id="68" name="Text 66"/>
          <p:cNvSpPr/>
          <p:nvPr/>
        </p:nvSpPr>
        <p:spPr>
          <a:xfrm>
            <a:off x="1938528" y="5705856"/>
            <a:ext cx="4261104" cy="43891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Lab 5+6 — Improve a weak pipeline, measure before and after</a:t>
            </a:r>
            <a:endParaRPr lang="en-US" sz="1050" dirty="0"/>
          </a:p>
        </p:txBody>
      </p:sp>
      <p:sp>
        <p:nvSpPr>
          <p:cNvPr id="69" name="Shape 67"/>
          <p:cNvSpPr/>
          <p:nvPr/>
        </p:nvSpPr>
        <p:spPr>
          <a:xfrm>
            <a:off x="6309360" y="5705856"/>
            <a:ext cx="5212080" cy="438912"/>
          </a:xfrm>
          <a:prstGeom prst="rect">
            <a:avLst/>
          </a:prstGeom>
          <a:solidFill>
            <a:srgbClr val="F5F9FB"/>
          </a:solidFill>
          <a:ln w="9525">
            <a:solidFill>
              <a:srgbClr val="E3EBF0"/>
            </a:solidFill>
            <a:prstDash val="solid"/>
          </a:ln>
        </p:spPr>
        <p:txBody>
          <a:bodyPr/>
          <a:lstStyle/>
          <a:p>
            <a:endParaRPr lang="en-US"/>
          </a:p>
        </p:txBody>
      </p:sp>
      <p:sp>
        <p:nvSpPr>
          <p:cNvPr id="70" name="Text 68"/>
          <p:cNvSpPr/>
          <p:nvPr/>
        </p:nvSpPr>
        <p:spPr>
          <a:xfrm>
            <a:off x="6419088" y="5705856"/>
            <a:ext cx="4992624" cy="438912"/>
          </a:xfrm>
          <a:prstGeom prst="rect">
            <a:avLst/>
          </a:prstGeom>
          <a:noFill/>
          <a:ln/>
        </p:spPr>
        <p:txBody>
          <a:bodyPr wrap="square" lIns="0" tIns="0" rIns="0" bIns="0" rtlCol="0" anchor="ctr"/>
          <a:lstStyle/>
          <a:p>
            <a:pPr marL="0" indent="0">
              <a:lnSpc>
                <a:spcPts val="1300"/>
              </a:lnSpc>
              <a:buNone/>
            </a:pP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22960" y="2194560"/>
            <a:ext cx="10058400" cy="365760"/>
          </a:xfrm>
          <a:prstGeom prst="rect">
            <a:avLst/>
          </a:prstGeom>
          <a:noFill/>
          <a:ln/>
        </p:spPr>
        <p:txBody>
          <a:bodyPr wrap="square" rtlCol="0" anchor="ctr"/>
          <a:lstStyle/>
          <a:p>
            <a:pPr marL="0" indent="0">
              <a:buNone/>
            </a:pPr>
            <a:r>
              <a:rPr lang="en-US" sz="1200" b="1" kern="0" spc="300" dirty="0">
                <a:solidFill>
                  <a:srgbClr val="9FD0E3"/>
                </a:solidFill>
                <a:latin typeface="Calibri" pitchFamily="34" charset="0"/>
                <a:ea typeface="Calibri" pitchFamily="34" charset="-122"/>
                <a:cs typeface="Calibri" pitchFamily="34" charset="-120"/>
              </a:rPr>
              <a:t>MODULE 1</a:t>
            </a:r>
            <a:endParaRPr lang="en-US" sz="1200" dirty="0"/>
          </a:p>
        </p:txBody>
      </p:sp>
      <p:sp>
        <p:nvSpPr>
          <p:cNvPr id="3" name="Text 1"/>
          <p:cNvSpPr/>
          <p:nvPr/>
        </p:nvSpPr>
        <p:spPr>
          <a:xfrm>
            <a:off x="822960" y="2606040"/>
            <a:ext cx="10241280" cy="10972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Tokenisation and Context Engineering</a:t>
            </a:r>
            <a:endParaRPr lang="en-US" sz="3400" dirty="0"/>
          </a:p>
        </p:txBody>
      </p:sp>
      <p:sp>
        <p:nvSpPr>
          <p:cNvPr id="4" name="Text 2"/>
          <p:cNvSpPr/>
          <p:nvPr/>
        </p:nvSpPr>
        <p:spPr>
          <a:xfrm>
            <a:off x="822960" y="3794760"/>
            <a:ext cx="9692640" cy="822960"/>
          </a:xfrm>
          <a:prstGeom prst="rect">
            <a:avLst/>
          </a:prstGeom>
          <a:noFill/>
          <a:ln/>
        </p:spPr>
        <p:txBody>
          <a:bodyPr wrap="square" rtlCol="0" anchor="ctr"/>
          <a:lstStyle/>
          <a:p>
            <a:pPr marL="0" indent="0">
              <a:lnSpc>
                <a:spcPts val="2100"/>
              </a:lnSpc>
              <a:buNone/>
            </a:pPr>
            <a:r>
              <a:rPr lang="en-US" sz="1500" dirty="0">
                <a:solidFill>
                  <a:srgbClr val="D5E8F0"/>
                </a:solidFill>
                <a:latin typeface="Calibri" pitchFamily="34" charset="0"/>
                <a:ea typeface="Calibri" pitchFamily="34" charset="-122"/>
                <a:cs typeface="Calibri" pitchFamily="34" charset="-120"/>
              </a:rPr>
              <a:t>What the model actually receives, what it costs, and why more context frequently makes answers worse.</a:t>
            </a:r>
            <a:endParaRPr lang="en-US" sz="1500" dirty="0"/>
          </a:p>
        </p:txBody>
      </p:sp>
      <p:sp>
        <p:nvSpPr>
          <p:cNvPr id="5" name="Text 3"/>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1 · 1.1</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What a token is, and why it matters commercially</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4</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450" dirty="0">
                <a:solidFill>
                  <a:srgbClr val="5A6B7C"/>
                </a:solidFill>
                <a:latin typeface="Calibri" pitchFamily="34" charset="0"/>
                <a:ea typeface="Calibri" pitchFamily="34" charset="-122"/>
                <a:cs typeface="Calibri" pitchFamily="34" charset="-120"/>
              </a:rPr>
              <a:t>A token is roughly three-quarters of a word in English, and considerably less in technical text full of part numbers and abbreviations.</a:t>
            </a:r>
            <a:endParaRPr lang="en-US" sz="1450" dirty="0"/>
          </a:p>
        </p:txBody>
      </p:sp>
      <p:sp>
        <p:nvSpPr>
          <p:cNvPr id="6" name="Shape 4"/>
          <p:cNvSpPr/>
          <p:nvPr/>
        </p:nvSpPr>
        <p:spPr>
          <a:xfrm>
            <a:off x="640080" y="1783080"/>
            <a:ext cx="3474720" cy="384048"/>
          </a:xfrm>
          <a:prstGeom prst="rect">
            <a:avLst/>
          </a:prstGeom>
          <a:solidFill>
            <a:srgbClr val="21295C"/>
          </a:solidFill>
          <a:ln/>
        </p:spPr>
        <p:txBody>
          <a:bodyPr/>
          <a:lstStyle/>
          <a:p>
            <a:endParaRPr lang="en-US"/>
          </a:p>
        </p:txBody>
      </p:sp>
      <p:sp>
        <p:nvSpPr>
          <p:cNvPr id="7" name="Text 5"/>
          <p:cNvSpPr/>
          <p:nvPr/>
        </p:nvSpPr>
        <p:spPr>
          <a:xfrm>
            <a:off x="749808" y="1783080"/>
            <a:ext cx="325526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Content</a:t>
            </a:r>
            <a:endParaRPr lang="en-US" sz="1100" dirty="0"/>
          </a:p>
        </p:txBody>
      </p:sp>
      <p:sp>
        <p:nvSpPr>
          <p:cNvPr id="8" name="Shape 6"/>
          <p:cNvSpPr/>
          <p:nvPr/>
        </p:nvSpPr>
        <p:spPr>
          <a:xfrm>
            <a:off x="4114800" y="1783080"/>
            <a:ext cx="2377440" cy="384048"/>
          </a:xfrm>
          <a:prstGeom prst="rect">
            <a:avLst/>
          </a:prstGeom>
          <a:solidFill>
            <a:srgbClr val="21295C"/>
          </a:solidFill>
          <a:ln/>
        </p:spPr>
        <p:txBody>
          <a:bodyPr/>
          <a:lstStyle/>
          <a:p>
            <a:endParaRPr lang="en-US"/>
          </a:p>
        </p:txBody>
      </p:sp>
      <p:sp>
        <p:nvSpPr>
          <p:cNvPr id="9" name="Text 7"/>
          <p:cNvSpPr/>
          <p:nvPr/>
        </p:nvSpPr>
        <p:spPr>
          <a:xfrm>
            <a:off x="4224528" y="1783080"/>
            <a:ext cx="21579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Approximate tokens</a:t>
            </a:r>
            <a:endParaRPr lang="en-US" sz="1100" dirty="0"/>
          </a:p>
        </p:txBody>
      </p:sp>
      <p:sp>
        <p:nvSpPr>
          <p:cNvPr id="10" name="Shape 8"/>
          <p:cNvSpPr/>
          <p:nvPr/>
        </p:nvSpPr>
        <p:spPr>
          <a:xfrm>
            <a:off x="6492240" y="1783080"/>
            <a:ext cx="5029200" cy="384048"/>
          </a:xfrm>
          <a:prstGeom prst="rect">
            <a:avLst/>
          </a:prstGeom>
          <a:solidFill>
            <a:srgbClr val="21295C"/>
          </a:solidFill>
          <a:ln/>
        </p:spPr>
        <p:txBody>
          <a:bodyPr/>
          <a:lstStyle/>
          <a:p>
            <a:endParaRPr lang="en-US"/>
          </a:p>
        </p:txBody>
      </p:sp>
      <p:sp>
        <p:nvSpPr>
          <p:cNvPr id="11" name="Text 9"/>
          <p:cNvSpPr/>
          <p:nvPr/>
        </p:nvSpPr>
        <p:spPr>
          <a:xfrm>
            <a:off x="6601968" y="1783080"/>
            <a:ext cx="48097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Note</a:t>
            </a:r>
            <a:endParaRPr lang="en-US" sz="1100" dirty="0"/>
          </a:p>
        </p:txBody>
      </p:sp>
      <p:sp>
        <p:nvSpPr>
          <p:cNvPr id="12" name="Shape 10"/>
          <p:cNvSpPr/>
          <p:nvPr/>
        </p:nvSpPr>
        <p:spPr>
          <a:xfrm>
            <a:off x="640080" y="2167128"/>
            <a:ext cx="3474720" cy="548640"/>
          </a:xfrm>
          <a:prstGeom prst="rect">
            <a:avLst/>
          </a:prstGeom>
          <a:solidFill>
            <a:srgbClr val="FFFFFF"/>
          </a:solidFill>
          <a:ln w="9525">
            <a:solidFill>
              <a:srgbClr val="E3EBF0"/>
            </a:solidFill>
            <a:prstDash val="solid"/>
          </a:ln>
        </p:spPr>
        <p:txBody>
          <a:bodyPr/>
          <a:lstStyle/>
          <a:p>
            <a:endParaRPr lang="en-US"/>
          </a:p>
        </p:txBody>
      </p:sp>
      <p:sp>
        <p:nvSpPr>
          <p:cNvPr id="13" name="Text 11"/>
          <p:cNvSpPr/>
          <p:nvPr/>
        </p:nvSpPr>
        <p:spPr>
          <a:xfrm>
            <a:off x="749808" y="2167128"/>
            <a:ext cx="325526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One page of prose</a:t>
            </a:r>
            <a:endParaRPr lang="en-US" sz="1050" dirty="0"/>
          </a:p>
        </p:txBody>
      </p:sp>
      <p:sp>
        <p:nvSpPr>
          <p:cNvPr id="14" name="Shape 12"/>
          <p:cNvSpPr/>
          <p:nvPr/>
        </p:nvSpPr>
        <p:spPr>
          <a:xfrm>
            <a:off x="4114800" y="2167128"/>
            <a:ext cx="2377440" cy="548640"/>
          </a:xfrm>
          <a:prstGeom prst="rect">
            <a:avLst/>
          </a:prstGeom>
          <a:solidFill>
            <a:srgbClr val="FFFFFF"/>
          </a:solidFill>
          <a:ln w="9525">
            <a:solidFill>
              <a:srgbClr val="E3EBF0"/>
            </a:solidFill>
            <a:prstDash val="solid"/>
          </a:ln>
        </p:spPr>
        <p:txBody>
          <a:bodyPr/>
          <a:lstStyle/>
          <a:p>
            <a:endParaRPr lang="en-US"/>
          </a:p>
        </p:txBody>
      </p:sp>
      <p:sp>
        <p:nvSpPr>
          <p:cNvPr id="15" name="Text 13"/>
          <p:cNvSpPr/>
          <p:nvPr/>
        </p:nvSpPr>
        <p:spPr>
          <a:xfrm>
            <a:off x="4224528" y="2167128"/>
            <a:ext cx="215798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500 – 700</a:t>
            </a:r>
            <a:endParaRPr lang="en-US" sz="1050" dirty="0"/>
          </a:p>
        </p:txBody>
      </p:sp>
      <p:sp>
        <p:nvSpPr>
          <p:cNvPr id="16" name="Shape 14"/>
          <p:cNvSpPr/>
          <p:nvPr/>
        </p:nvSpPr>
        <p:spPr>
          <a:xfrm>
            <a:off x="6492240" y="2167128"/>
            <a:ext cx="5029200" cy="548640"/>
          </a:xfrm>
          <a:prstGeom prst="rect">
            <a:avLst/>
          </a:prstGeom>
          <a:solidFill>
            <a:srgbClr val="FFFFFF"/>
          </a:solidFill>
          <a:ln w="9525">
            <a:solidFill>
              <a:srgbClr val="E3EBF0"/>
            </a:solidFill>
            <a:prstDash val="solid"/>
          </a:ln>
        </p:spPr>
        <p:txBody>
          <a:bodyPr/>
          <a:lstStyle/>
          <a:p>
            <a:endParaRPr lang="en-US"/>
          </a:p>
        </p:txBody>
      </p:sp>
      <p:sp>
        <p:nvSpPr>
          <p:cNvPr id="17" name="Text 15"/>
          <p:cNvSpPr/>
          <p:nvPr/>
        </p:nvSpPr>
        <p:spPr>
          <a:xfrm>
            <a:off x="6601968" y="2167128"/>
            <a:ext cx="480974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usual planning figure</a:t>
            </a:r>
            <a:endParaRPr lang="en-US" sz="1050" dirty="0"/>
          </a:p>
        </p:txBody>
      </p:sp>
      <p:sp>
        <p:nvSpPr>
          <p:cNvPr id="18" name="Shape 16"/>
          <p:cNvSpPr/>
          <p:nvPr/>
        </p:nvSpPr>
        <p:spPr>
          <a:xfrm>
            <a:off x="640080" y="2715768"/>
            <a:ext cx="3474720" cy="548640"/>
          </a:xfrm>
          <a:prstGeom prst="rect">
            <a:avLst/>
          </a:prstGeom>
          <a:solidFill>
            <a:srgbClr val="F5F9FB"/>
          </a:solidFill>
          <a:ln w="9525">
            <a:solidFill>
              <a:srgbClr val="E3EBF0"/>
            </a:solidFill>
            <a:prstDash val="solid"/>
          </a:ln>
        </p:spPr>
        <p:txBody>
          <a:bodyPr/>
          <a:lstStyle/>
          <a:p>
            <a:endParaRPr lang="en-US"/>
          </a:p>
        </p:txBody>
      </p:sp>
      <p:sp>
        <p:nvSpPr>
          <p:cNvPr id="19" name="Text 17"/>
          <p:cNvSpPr/>
          <p:nvPr/>
        </p:nvSpPr>
        <p:spPr>
          <a:xfrm>
            <a:off x="749808" y="2715768"/>
            <a:ext cx="325526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One page of a technical manual with tables</a:t>
            </a:r>
            <a:endParaRPr lang="en-US" sz="1050" dirty="0"/>
          </a:p>
        </p:txBody>
      </p:sp>
      <p:sp>
        <p:nvSpPr>
          <p:cNvPr id="20" name="Shape 18"/>
          <p:cNvSpPr/>
          <p:nvPr/>
        </p:nvSpPr>
        <p:spPr>
          <a:xfrm>
            <a:off x="4114800" y="2715768"/>
            <a:ext cx="2377440" cy="548640"/>
          </a:xfrm>
          <a:prstGeom prst="rect">
            <a:avLst/>
          </a:prstGeom>
          <a:solidFill>
            <a:srgbClr val="F5F9FB"/>
          </a:solidFill>
          <a:ln w="9525">
            <a:solidFill>
              <a:srgbClr val="E3EBF0"/>
            </a:solidFill>
            <a:prstDash val="solid"/>
          </a:ln>
        </p:spPr>
        <p:txBody>
          <a:bodyPr/>
          <a:lstStyle/>
          <a:p>
            <a:endParaRPr lang="en-US"/>
          </a:p>
        </p:txBody>
      </p:sp>
      <p:sp>
        <p:nvSpPr>
          <p:cNvPr id="21" name="Text 19"/>
          <p:cNvSpPr/>
          <p:nvPr/>
        </p:nvSpPr>
        <p:spPr>
          <a:xfrm>
            <a:off x="4224528" y="2715768"/>
            <a:ext cx="215798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900 – 1,400</a:t>
            </a:r>
            <a:endParaRPr lang="en-US" sz="1050" dirty="0"/>
          </a:p>
        </p:txBody>
      </p:sp>
      <p:sp>
        <p:nvSpPr>
          <p:cNvPr id="22" name="Shape 20"/>
          <p:cNvSpPr/>
          <p:nvPr/>
        </p:nvSpPr>
        <p:spPr>
          <a:xfrm>
            <a:off x="6492240" y="2715768"/>
            <a:ext cx="5029200" cy="548640"/>
          </a:xfrm>
          <a:prstGeom prst="rect">
            <a:avLst/>
          </a:prstGeom>
          <a:solidFill>
            <a:srgbClr val="F5F9FB"/>
          </a:solidFill>
          <a:ln w="9525">
            <a:solidFill>
              <a:srgbClr val="E3EBF0"/>
            </a:solidFill>
            <a:prstDash val="solid"/>
          </a:ln>
        </p:spPr>
        <p:txBody>
          <a:bodyPr/>
          <a:lstStyle/>
          <a:p>
            <a:endParaRPr lang="en-US"/>
          </a:p>
        </p:txBody>
      </p:sp>
      <p:sp>
        <p:nvSpPr>
          <p:cNvPr id="23" name="Text 21"/>
          <p:cNvSpPr/>
          <p:nvPr/>
        </p:nvSpPr>
        <p:spPr>
          <a:xfrm>
            <a:off x="6601968" y="2715768"/>
            <a:ext cx="480974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Tables and part numbers tokenise poorly</a:t>
            </a:r>
            <a:endParaRPr lang="en-US" sz="1050" dirty="0"/>
          </a:p>
        </p:txBody>
      </p:sp>
      <p:sp>
        <p:nvSpPr>
          <p:cNvPr id="24" name="Shape 22"/>
          <p:cNvSpPr/>
          <p:nvPr/>
        </p:nvSpPr>
        <p:spPr>
          <a:xfrm>
            <a:off x="640080" y="3264408"/>
            <a:ext cx="3474720" cy="548640"/>
          </a:xfrm>
          <a:prstGeom prst="rect">
            <a:avLst/>
          </a:prstGeom>
          <a:solidFill>
            <a:srgbClr val="FFFFFF"/>
          </a:solidFill>
          <a:ln w="9525">
            <a:solidFill>
              <a:srgbClr val="E3EBF0"/>
            </a:solidFill>
            <a:prstDash val="solid"/>
          </a:ln>
        </p:spPr>
        <p:txBody>
          <a:bodyPr/>
          <a:lstStyle/>
          <a:p>
            <a:endParaRPr lang="en-US"/>
          </a:p>
        </p:txBody>
      </p:sp>
      <p:sp>
        <p:nvSpPr>
          <p:cNvPr id="25" name="Text 23"/>
          <p:cNvSpPr/>
          <p:nvPr/>
        </p:nvSpPr>
        <p:spPr>
          <a:xfrm>
            <a:off x="749808" y="3264408"/>
            <a:ext cx="325526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A part number such as HX-4471-B</a:t>
            </a:r>
            <a:endParaRPr lang="en-US" sz="1050" dirty="0"/>
          </a:p>
        </p:txBody>
      </p:sp>
      <p:sp>
        <p:nvSpPr>
          <p:cNvPr id="26" name="Shape 24"/>
          <p:cNvSpPr/>
          <p:nvPr/>
        </p:nvSpPr>
        <p:spPr>
          <a:xfrm>
            <a:off x="4114800" y="3264408"/>
            <a:ext cx="2377440" cy="548640"/>
          </a:xfrm>
          <a:prstGeom prst="rect">
            <a:avLst/>
          </a:prstGeom>
          <a:solidFill>
            <a:srgbClr val="FFFFFF"/>
          </a:solidFill>
          <a:ln w="9525">
            <a:solidFill>
              <a:srgbClr val="E3EBF0"/>
            </a:solidFill>
            <a:prstDash val="solid"/>
          </a:ln>
        </p:spPr>
        <p:txBody>
          <a:bodyPr/>
          <a:lstStyle/>
          <a:p>
            <a:endParaRPr lang="en-US"/>
          </a:p>
        </p:txBody>
      </p:sp>
      <p:sp>
        <p:nvSpPr>
          <p:cNvPr id="27" name="Text 25"/>
          <p:cNvSpPr/>
          <p:nvPr/>
        </p:nvSpPr>
        <p:spPr>
          <a:xfrm>
            <a:off x="4224528" y="3264408"/>
            <a:ext cx="215798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6 – 9</a:t>
            </a:r>
            <a:endParaRPr lang="en-US" sz="1050" dirty="0"/>
          </a:p>
        </p:txBody>
      </p:sp>
      <p:sp>
        <p:nvSpPr>
          <p:cNvPr id="28" name="Shape 26"/>
          <p:cNvSpPr/>
          <p:nvPr/>
        </p:nvSpPr>
        <p:spPr>
          <a:xfrm>
            <a:off x="6492240" y="3264408"/>
            <a:ext cx="5029200" cy="548640"/>
          </a:xfrm>
          <a:prstGeom prst="rect">
            <a:avLst/>
          </a:prstGeom>
          <a:solidFill>
            <a:srgbClr val="FFFFFF"/>
          </a:solidFill>
          <a:ln w="9525">
            <a:solidFill>
              <a:srgbClr val="E3EBF0"/>
            </a:solidFill>
            <a:prstDash val="solid"/>
          </a:ln>
        </p:spPr>
        <p:txBody>
          <a:bodyPr/>
          <a:lstStyle/>
          <a:p>
            <a:endParaRPr lang="en-US"/>
          </a:p>
        </p:txBody>
      </p:sp>
      <p:sp>
        <p:nvSpPr>
          <p:cNvPr id="29" name="Text 27"/>
          <p:cNvSpPr/>
          <p:nvPr/>
        </p:nvSpPr>
        <p:spPr>
          <a:xfrm>
            <a:off x="6601968" y="3264408"/>
            <a:ext cx="480974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Alphanumerics fragment heavily</a:t>
            </a:r>
            <a:endParaRPr lang="en-US" sz="1050" dirty="0"/>
          </a:p>
        </p:txBody>
      </p:sp>
      <p:sp>
        <p:nvSpPr>
          <p:cNvPr id="30" name="Shape 28"/>
          <p:cNvSpPr/>
          <p:nvPr/>
        </p:nvSpPr>
        <p:spPr>
          <a:xfrm>
            <a:off x="640080" y="3813048"/>
            <a:ext cx="3474720" cy="548640"/>
          </a:xfrm>
          <a:prstGeom prst="rect">
            <a:avLst/>
          </a:prstGeom>
          <a:solidFill>
            <a:srgbClr val="F5F9FB"/>
          </a:solidFill>
          <a:ln w="9525">
            <a:solidFill>
              <a:srgbClr val="E3EBF0"/>
            </a:solidFill>
            <a:prstDash val="solid"/>
          </a:ln>
        </p:spPr>
        <p:txBody>
          <a:bodyPr/>
          <a:lstStyle/>
          <a:p>
            <a:endParaRPr lang="en-US"/>
          </a:p>
        </p:txBody>
      </p:sp>
      <p:sp>
        <p:nvSpPr>
          <p:cNvPr id="31" name="Text 29"/>
          <p:cNvSpPr/>
          <p:nvPr/>
        </p:nvSpPr>
        <p:spPr>
          <a:xfrm>
            <a:off x="749808" y="3813048"/>
            <a:ext cx="325526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A tool schema definition</a:t>
            </a:r>
            <a:endParaRPr lang="en-US" sz="1050" dirty="0"/>
          </a:p>
        </p:txBody>
      </p:sp>
      <p:sp>
        <p:nvSpPr>
          <p:cNvPr id="32" name="Shape 30"/>
          <p:cNvSpPr/>
          <p:nvPr/>
        </p:nvSpPr>
        <p:spPr>
          <a:xfrm>
            <a:off x="4114800" y="3813048"/>
            <a:ext cx="2377440" cy="548640"/>
          </a:xfrm>
          <a:prstGeom prst="rect">
            <a:avLst/>
          </a:prstGeom>
          <a:solidFill>
            <a:srgbClr val="F5F9FB"/>
          </a:solidFill>
          <a:ln w="9525">
            <a:solidFill>
              <a:srgbClr val="E3EBF0"/>
            </a:solidFill>
            <a:prstDash val="solid"/>
          </a:ln>
        </p:spPr>
        <p:txBody>
          <a:bodyPr/>
          <a:lstStyle/>
          <a:p>
            <a:endParaRPr lang="en-US"/>
          </a:p>
        </p:txBody>
      </p:sp>
      <p:sp>
        <p:nvSpPr>
          <p:cNvPr id="33" name="Text 31"/>
          <p:cNvSpPr/>
          <p:nvPr/>
        </p:nvSpPr>
        <p:spPr>
          <a:xfrm>
            <a:off x="4224528" y="3813048"/>
            <a:ext cx="215798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150 – 400 each</a:t>
            </a:r>
            <a:endParaRPr lang="en-US" sz="1050" dirty="0"/>
          </a:p>
        </p:txBody>
      </p:sp>
      <p:sp>
        <p:nvSpPr>
          <p:cNvPr id="34" name="Shape 32"/>
          <p:cNvSpPr/>
          <p:nvPr/>
        </p:nvSpPr>
        <p:spPr>
          <a:xfrm>
            <a:off x="6492240" y="3813048"/>
            <a:ext cx="5029200" cy="548640"/>
          </a:xfrm>
          <a:prstGeom prst="rect">
            <a:avLst/>
          </a:prstGeom>
          <a:solidFill>
            <a:srgbClr val="F5F9FB"/>
          </a:solidFill>
          <a:ln w="9525">
            <a:solidFill>
              <a:srgbClr val="E3EBF0"/>
            </a:solidFill>
            <a:prstDash val="solid"/>
          </a:ln>
        </p:spPr>
        <p:txBody>
          <a:bodyPr/>
          <a:lstStyle/>
          <a:p>
            <a:endParaRPr lang="en-US"/>
          </a:p>
        </p:txBody>
      </p:sp>
      <p:sp>
        <p:nvSpPr>
          <p:cNvPr id="35" name="Text 33"/>
          <p:cNvSpPr/>
          <p:nvPr/>
        </p:nvSpPr>
        <p:spPr>
          <a:xfrm>
            <a:off x="6601968" y="3813048"/>
            <a:ext cx="480974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Charged on every request that offers the tool</a:t>
            </a:r>
            <a:endParaRPr lang="en-US" sz="1050" dirty="0"/>
          </a:p>
        </p:txBody>
      </p:sp>
      <p:sp>
        <p:nvSpPr>
          <p:cNvPr id="36" name="Shape 34"/>
          <p:cNvSpPr/>
          <p:nvPr/>
        </p:nvSpPr>
        <p:spPr>
          <a:xfrm>
            <a:off x="640080" y="4361688"/>
            <a:ext cx="3474720" cy="548640"/>
          </a:xfrm>
          <a:prstGeom prst="rect">
            <a:avLst/>
          </a:prstGeom>
          <a:solidFill>
            <a:srgbClr val="FFFFFF"/>
          </a:solidFill>
          <a:ln w="9525">
            <a:solidFill>
              <a:srgbClr val="E3EBF0"/>
            </a:solidFill>
            <a:prstDash val="solid"/>
          </a:ln>
        </p:spPr>
        <p:txBody>
          <a:bodyPr/>
          <a:lstStyle/>
          <a:p>
            <a:endParaRPr lang="en-US"/>
          </a:p>
        </p:txBody>
      </p:sp>
      <p:sp>
        <p:nvSpPr>
          <p:cNvPr id="37" name="Text 35"/>
          <p:cNvSpPr/>
          <p:nvPr/>
        </p:nvSpPr>
        <p:spPr>
          <a:xfrm>
            <a:off x="749808" y="4361688"/>
            <a:ext cx="325526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An image</a:t>
            </a:r>
            <a:endParaRPr lang="en-US" sz="1050" dirty="0"/>
          </a:p>
        </p:txBody>
      </p:sp>
      <p:sp>
        <p:nvSpPr>
          <p:cNvPr id="38" name="Shape 36"/>
          <p:cNvSpPr/>
          <p:nvPr/>
        </p:nvSpPr>
        <p:spPr>
          <a:xfrm>
            <a:off x="4114800" y="4361688"/>
            <a:ext cx="2377440" cy="548640"/>
          </a:xfrm>
          <a:prstGeom prst="rect">
            <a:avLst/>
          </a:prstGeom>
          <a:solidFill>
            <a:srgbClr val="FFFFFF"/>
          </a:solidFill>
          <a:ln w="9525">
            <a:solidFill>
              <a:srgbClr val="E3EBF0"/>
            </a:solidFill>
            <a:prstDash val="solid"/>
          </a:ln>
        </p:spPr>
        <p:txBody>
          <a:bodyPr/>
          <a:lstStyle/>
          <a:p>
            <a:endParaRPr lang="en-US"/>
          </a:p>
        </p:txBody>
      </p:sp>
      <p:sp>
        <p:nvSpPr>
          <p:cNvPr id="39" name="Text 37"/>
          <p:cNvSpPr/>
          <p:nvPr/>
        </p:nvSpPr>
        <p:spPr>
          <a:xfrm>
            <a:off x="4224528" y="4361688"/>
            <a:ext cx="215798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Hundreds to low thousands</a:t>
            </a:r>
            <a:endParaRPr lang="en-US" sz="1050" dirty="0"/>
          </a:p>
        </p:txBody>
      </p:sp>
      <p:sp>
        <p:nvSpPr>
          <p:cNvPr id="40" name="Shape 38"/>
          <p:cNvSpPr/>
          <p:nvPr/>
        </p:nvSpPr>
        <p:spPr>
          <a:xfrm>
            <a:off x="6492240" y="4361688"/>
            <a:ext cx="5029200" cy="548640"/>
          </a:xfrm>
          <a:prstGeom prst="rect">
            <a:avLst/>
          </a:prstGeom>
          <a:solidFill>
            <a:srgbClr val="FFFFFF"/>
          </a:solidFill>
          <a:ln w="9525">
            <a:solidFill>
              <a:srgbClr val="E3EBF0"/>
            </a:solidFill>
            <a:prstDash val="solid"/>
          </a:ln>
        </p:spPr>
        <p:txBody>
          <a:bodyPr/>
          <a:lstStyle/>
          <a:p>
            <a:endParaRPr lang="en-US"/>
          </a:p>
        </p:txBody>
      </p:sp>
      <p:sp>
        <p:nvSpPr>
          <p:cNvPr id="41" name="Text 39"/>
          <p:cNvSpPr/>
          <p:nvPr/>
        </p:nvSpPr>
        <p:spPr>
          <a:xfrm>
            <a:off x="6601968" y="4361688"/>
            <a:ext cx="480974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Depends on resolution and model</a:t>
            </a:r>
            <a:endParaRPr lang="en-US" sz="1050" dirty="0"/>
          </a:p>
        </p:txBody>
      </p:sp>
      <p:sp>
        <p:nvSpPr>
          <p:cNvPr id="42" name="Shape 40"/>
          <p:cNvSpPr/>
          <p:nvPr/>
        </p:nvSpPr>
        <p:spPr>
          <a:xfrm>
            <a:off x="640080" y="4910328"/>
            <a:ext cx="3474720" cy="548640"/>
          </a:xfrm>
          <a:prstGeom prst="rect">
            <a:avLst/>
          </a:prstGeom>
          <a:solidFill>
            <a:srgbClr val="F5F9FB"/>
          </a:solidFill>
          <a:ln w="9525">
            <a:solidFill>
              <a:srgbClr val="E3EBF0"/>
            </a:solidFill>
            <a:prstDash val="solid"/>
          </a:ln>
        </p:spPr>
        <p:txBody>
          <a:bodyPr/>
          <a:lstStyle/>
          <a:p>
            <a:endParaRPr lang="en-US"/>
          </a:p>
        </p:txBody>
      </p:sp>
      <p:sp>
        <p:nvSpPr>
          <p:cNvPr id="43" name="Text 41"/>
          <p:cNvSpPr/>
          <p:nvPr/>
        </p:nvSpPr>
        <p:spPr>
          <a:xfrm>
            <a:off x="749808" y="4910328"/>
            <a:ext cx="325526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A typical RAG request with 8 passages</a:t>
            </a:r>
            <a:endParaRPr lang="en-US" sz="1050" dirty="0"/>
          </a:p>
        </p:txBody>
      </p:sp>
      <p:sp>
        <p:nvSpPr>
          <p:cNvPr id="44" name="Shape 42"/>
          <p:cNvSpPr/>
          <p:nvPr/>
        </p:nvSpPr>
        <p:spPr>
          <a:xfrm>
            <a:off x="4114800" y="4910328"/>
            <a:ext cx="2377440" cy="548640"/>
          </a:xfrm>
          <a:prstGeom prst="rect">
            <a:avLst/>
          </a:prstGeom>
          <a:solidFill>
            <a:srgbClr val="F5F9FB"/>
          </a:solidFill>
          <a:ln w="9525">
            <a:solidFill>
              <a:srgbClr val="E3EBF0"/>
            </a:solidFill>
            <a:prstDash val="solid"/>
          </a:ln>
        </p:spPr>
        <p:txBody>
          <a:bodyPr/>
          <a:lstStyle/>
          <a:p>
            <a:endParaRPr lang="en-US"/>
          </a:p>
        </p:txBody>
      </p:sp>
      <p:sp>
        <p:nvSpPr>
          <p:cNvPr id="45" name="Text 43"/>
          <p:cNvSpPr/>
          <p:nvPr/>
        </p:nvSpPr>
        <p:spPr>
          <a:xfrm>
            <a:off x="4224528" y="4910328"/>
            <a:ext cx="215798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6,000 – 12,000</a:t>
            </a:r>
            <a:endParaRPr lang="en-US" sz="1050" dirty="0"/>
          </a:p>
        </p:txBody>
      </p:sp>
      <p:sp>
        <p:nvSpPr>
          <p:cNvPr id="46" name="Shape 44"/>
          <p:cNvSpPr/>
          <p:nvPr/>
        </p:nvSpPr>
        <p:spPr>
          <a:xfrm>
            <a:off x="6492240" y="4910328"/>
            <a:ext cx="5029200" cy="548640"/>
          </a:xfrm>
          <a:prstGeom prst="rect">
            <a:avLst/>
          </a:prstGeom>
          <a:solidFill>
            <a:srgbClr val="F5F9FB"/>
          </a:solidFill>
          <a:ln w="9525">
            <a:solidFill>
              <a:srgbClr val="E3EBF0"/>
            </a:solidFill>
            <a:prstDash val="solid"/>
          </a:ln>
        </p:spPr>
        <p:txBody>
          <a:bodyPr/>
          <a:lstStyle/>
          <a:p>
            <a:endParaRPr lang="en-US"/>
          </a:p>
        </p:txBody>
      </p:sp>
      <p:sp>
        <p:nvSpPr>
          <p:cNvPr id="47" name="Text 45"/>
          <p:cNvSpPr/>
          <p:nvPr/>
        </p:nvSpPr>
        <p:spPr>
          <a:xfrm>
            <a:off x="6601968" y="4910328"/>
            <a:ext cx="480974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Retrieved context dominates the bill</a:t>
            </a:r>
            <a:endParaRPr lang="en-US" sz="1050" dirty="0"/>
          </a:p>
        </p:txBody>
      </p:sp>
      <p:sp>
        <p:nvSpPr>
          <p:cNvPr id="48" name="Shape 46"/>
          <p:cNvSpPr/>
          <p:nvPr/>
        </p:nvSpPr>
        <p:spPr>
          <a:xfrm>
            <a:off x="640080" y="5074920"/>
            <a:ext cx="10881360" cy="960120"/>
          </a:xfrm>
          <a:prstGeom prst="roundRect">
            <a:avLst>
              <a:gd name="adj" fmla="val 5714"/>
            </a:avLst>
          </a:prstGeom>
          <a:solidFill>
            <a:srgbClr val="E4EEF4"/>
          </a:solidFill>
          <a:ln w="12700">
            <a:solidFill>
              <a:srgbClr val="C9DCE7"/>
            </a:solidFill>
            <a:prstDash val="solid"/>
          </a:ln>
        </p:spPr>
        <p:txBody>
          <a:bodyPr/>
          <a:lstStyle/>
          <a:p>
            <a:endParaRPr lang="en-US"/>
          </a:p>
        </p:txBody>
      </p:sp>
      <p:sp>
        <p:nvSpPr>
          <p:cNvPr id="49" name="Text 47"/>
          <p:cNvSpPr/>
          <p:nvPr/>
        </p:nvSpPr>
        <p:spPr>
          <a:xfrm>
            <a:off x="914400" y="5239512"/>
            <a:ext cx="10332720" cy="658368"/>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Two commercial consequences. Retrieved context, not the user's question, is what you pay for — so retrieval precision is a cost control as well as a quality control. And every tool schema you attach is charged on every request, whether the tool is used or not.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1 · 1.2</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The context window is not free space</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5</a:t>
            </a:r>
            <a:endParaRPr lang="en-US" sz="1000" dirty="0"/>
          </a:p>
        </p:txBody>
      </p:sp>
      <p:sp>
        <p:nvSpPr>
          <p:cNvPr id="5" name="Shape 3"/>
          <p:cNvSpPr/>
          <p:nvPr/>
        </p:nvSpPr>
        <p:spPr>
          <a:xfrm>
            <a:off x="640080" y="1280160"/>
            <a:ext cx="5303520" cy="2286000"/>
          </a:xfrm>
          <a:prstGeom prst="roundRect">
            <a:avLst>
              <a:gd name="adj" fmla="val 2400"/>
            </a:avLst>
          </a:prstGeom>
          <a:solidFill>
            <a:srgbClr val="FBEEE8"/>
          </a:solidFill>
          <a:ln w="12700">
            <a:solidFill>
              <a:srgbClr val="D8E4EC"/>
            </a:solidFill>
            <a:prstDash val="solid"/>
          </a:ln>
        </p:spPr>
        <p:txBody>
          <a:bodyPr/>
          <a:lstStyle/>
          <a:p>
            <a:endParaRPr lang="en-US"/>
          </a:p>
        </p:txBody>
      </p:sp>
      <p:sp>
        <p:nvSpPr>
          <p:cNvPr id="6" name="Text 4"/>
          <p:cNvSpPr/>
          <p:nvPr/>
        </p:nvSpPr>
        <p:spPr>
          <a:xfrm>
            <a:off x="841248" y="1417320"/>
            <a:ext cx="4901184" cy="347472"/>
          </a:xfrm>
          <a:prstGeom prst="rect">
            <a:avLst/>
          </a:prstGeom>
          <a:noFill/>
          <a:ln/>
        </p:spPr>
        <p:txBody>
          <a:bodyPr wrap="square" lIns="0" tIns="0" rIns="0" bIns="0" rtlCol="0" anchor="ctr"/>
          <a:lstStyle/>
          <a:p>
            <a:pPr marL="0" indent="0">
              <a:buNone/>
            </a:pPr>
            <a:r>
              <a:rPr lang="en-US" sz="1400" b="1" dirty="0">
                <a:solidFill>
                  <a:srgbClr val="C1440E"/>
                </a:solidFill>
                <a:latin typeface="Calibri" pitchFamily="34" charset="0"/>
                <a:ea typeface="Calibri" pitchFamily="34" charset="-122"/>
                <a:cs typeface="Calibri" pitchFamily="34" charset="-120"/>
              </a:rPr>
              <a:t>What teams assume</a:t>
            </a:r>
            <a:endParaRPr lang="en-US" sz="1400" dirty="0"/>
          </a:p>
        </p:txBody>
      </p:sp>
      <p:sp>
        <p:nvSpPr>
          <p:cNvPr id="7" name="Text 5"/>
          <p:cNvSpPr/>
          <p:nvPr/>
        </p:nvSpPr>
        <p:spPr>
          <a:xfrm>
            <a:off x="841248" y="1783080"/>
            <a:ext cx="4901184" cy="162763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A large context window means you can put everything in and let the model sort it out.</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"We have 200,000 tokens available, so we will pass the whole manual."</a:t>
            </a:r>
            <a:endParaRPr lang="en-US" sz="1150" dirty="0"/>
          </a:p>
        </p:txBody>
      </p:sp>
      <p:sp>
        <p:nvSpPr>
          <p:cNvPr id="8" name="Shape 6"/>
          <p:cNvSpPr/>
          <p:nvPr/>
        </p:nvSpPr>
        <p:spPr>
          <a:xfrm>
            <a:off x="6263640" y="1280160"/>
            <a:ext cx="5257800" cy="2286000"/>
          </a:xfrm>
          <a:prstGeom prst="roundRect">
            <a:avLst>
              <a:gd name="adj" fmla="val 2400"/>
            </a:avLst>
          </a:prstGeom>
          <a:solidFill>
            <a:srgbClr val="EDF5EE"/>
          </a:solidFill>
          <a:ln w="12700">
            <a:solidFill>
              <a:srgbClr val="D8E4EC"/>
            </a:solidFill>
            <a:prstDash val="solid"/>
          </a:ln>
        </p:spPr>
        <p:txBody>
          <a:bodyPr/>
          <a:lstStyle/>
          <a:p>
            <a:endParaRPr lang="en-US"/>
          </a:p>
        </p:txBody>
      </p:sp>
      <p:sp>
        <p:nvSpPr>
          <p:cNvPr id="9" name="Text 7"/>
          <p:cNvSpPr/>
          <p:nvPr/>
        </p:nvSpPr>
        <p:spPr>
          <a:xfrm>
            <a:off x="6464808" y="1417320"/>
            <a:ext cx="4855464" cy="347472"/>
          </a:xfrm>
          <a:prstGeom prst="rect">
            <a:avLst/>
          </a:prstGeom>
          <a:noFill/>
          <a:ln/>
        </p:spPr>
        <p:txBody>
          <a:bodyPr wrap="square" lIns="0" tIns="0" rIns="0" bIns="0" rtlCol="0" anchor="ctr"/>
          <a:lstStyle/>
          <a:p>
            <a:pPr marL="0" indent="0">
              <a:buNone/>
            </a:pPr>
            <a:r>
              <a:rPr lang="en-US" sz="1400" b="1" dirty="0">
                <a:solidFill>
                  <a:srgbClr val="1E7A3C"/>
                </a:solidFill>
                <a:latin typeface="Calibri" pitchFamily="34" charset="0"/>
                <a:ea typeface="Calibri" pitchFamily="34" charset="-122"/>
                <a:cs typeface="Calibri" pitchFamily="34" charset="-120"/>
              </a:rPr>
              <a:t>What actually happens</a:t>
            </a:r>
            <a:endParaRPr lang="en-US" sz="1400" dirty="0"/>
          </a:p>
        </p:txBody>
      </p:sp>
      <p:sp>
        <p:nvSpPr>
          <p:cNvPr id="10" name="Text 8"/>
          <p:cNvSpPr/>
          <p:nvPr/>
        </p:nvSpPr>
        <p:spPr>
          <a:xfrm>
            <a:off x="6464808" y="1783080"/>
            <a:ext cx="4855464" cy="162763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Accuracy degrades as irrelevant context grows. The model attends less reliably to material buried in a large context, latency rises roughly with input length, and cost rises directly.</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More context is not more knowledge — it is more noise to be filtered.</a:t>
            </a:r>
            <a:endParaRPr lang="en-US" sz="1150" dirty="0"/>
          </a:p>
        </p:txBody>
      </p:sp>
      <p:sp>
        <p:nvSpPr>
          <p:cNvPr id="11" name="Shape 9"/>
          <p:cNvSpPr/>
          <p:nvPr/>
        </p:nvSpPr>
        <p:spPr>
          <a:xfrm>
            <a:off x="640080" y="3794760"/>
            <a:ext cx="10881360" cy="1554480"/>
          </a:xfrm>
          <a:prstGeom prst="roundRect">
            <a:avLst>
              <a:gd name="adj" fmla="val 3529"/>
            </a:avLst>
          </a:prstGeom>
          <a:solidFill>
            <a:srgbClr val="FDF1E3"/>
          </a:solidFill>
          <a:ln w="12700">
            <a:solidFill>
              <a:srgbClr val="EBD3BB"/>
            </a:solidFill>
            <a:prstDash val="solid"/>
          </a:ln>
        </p:spPr>
        <p:txBody>
          <a:bodyPr/>
          <a:lstStyle/>
          <a:p>
            <a:endParaRPr lang="en-US"/>
          </a:p>
        </p:txBody>
      </p:sp>
      <p:sp>
        <p:nvSpPr>
          <p:cNvPr id="12" name="Text 10"/>
          <p:cNvSpPr/>
          <p:nvPr/>
        </p:nvSpPr>
        <p:spPr>
          <a:xfrm>
            <a:off x="914400" y="3959352"/>
            <a:ext cx="10332720" cy="320040"/>
          </a:xfrm>
          <a:prstGeom prst="rect">
            <a:avLst/>
          </a:prstGeom>
          <a:noFill/>
          <a:ln/>
        </p:spPr>
        <p:txBody>
          <a:bodyPr wrap="square" lIns="0" tIns="0" rIns="0" bIns="0" rtlCol="0" anchor="ctr"/>
          <a:lstStyle/>
          <a:p>
            <a:pPr marL="0" indent="0">
              <a:buNone/>
            </a:pPr>
            <a:r>
              <a:rPr lang="en-US" sz="1350" b="1" dirty="0">
                <a:solidFill>
                  <a:srgbClr val="C1440E"/>
                </a:solidFill>
                <a:latin typeface="Calibri" pitchFamily="34" charset="0"/>
                <a:ea typeface="Calibri" pitchFamily="34" charset="-122"/>
                <a:cs typeface="Calibri" pitchFamily="34" charset="-120"/>
              </a:rPr>
              <a:t>The lost-in-the-middle effect</a:t>
            </a:r>
            <a:endParaRPr lang="en-US" sz="1350" dirty="0"/>
          </a:p>
        </p:txBody>
      </p:sp>
      <p:sp>
        <p:nvSpPr>
          <p:cNvPr id="13" name="Text 11"/>
          <p:cNvSpPr/>
          <p:nvPr/>
        </p:nvSpPr>
        <p:spPr>
          <a:xfrm>
            <a:off x="914400" y="4297680"/>
            <a:ext cx="10332720" cy="91440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Across many models, information placed at the beginning or end of a long context is recalled substantially more reliably than information in the middle. Practical consequences: put the most important retrieved passage first, not fifth; order retrieved chunks by relevance rather than by document order; and keep the number of passages small enough that ordering matters less. Passing twenty passages instead of five frequently reduces answer quality while tripling the cost.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1 · 1.3</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Chunking — the decision with the largest quality impact</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6</a:t>
            </a:r>
            <a:endParaRPr lang="en-US" sz="1000" dirty="0"/>
          </a:p>
        </p:txBody>
      </p:sp>
      <p:sp>
        <p:nvSpPr>
          <p:cNvPr id="5" name="Shape 3"/>
          <p:cNvSpPr/>
          <p:nvPr/>
        </p:nvSpPr>
        <p:spPr>
          <a:xfrm>
            <a:off x="640080" y="1234440"/>
            <a:ext cx="2011680" cy="384048"/>
          </a:xfrm>
          <a:prstGeom prst="rect">
            <a:avLst/>
          </a:prstGeom>
          <a:solidFill>
            <a:srgbClr val="21295C"/>
          </a:solidFill>
          <a:ln/>
        </p:spPr>
        <p:txBody>
          <a:bodyPr/>
          <a:lstStyle/>
          <a:p>
            <a:endParaRPr lang="en-US"/>
          </a:p>
        </p:txBody>
      </p:sp>
      <p:sp>
        <p:nvSpPr>
          <p:cNvPr id="6" name="Text 4"/>
          <p:cNvSpPr/>
          <p:nvPr/>
        </p:nvSpPr>
        <p:spPr>
          <a:xfrm>
            <a:off x="749808" y="1234440"/>
            <a:ext cx="17922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Strategy</a:t>
            </a:r>
            <a:endParaRPr lang="en-US" sz="1100" dirty="0"/>
          </a:p>
        </p:txBody>
      </p:sp>
      <p:sp>
        <p:nvSpPr>
          <p:cNvPr id="7" name="Shape 5"/>
          <p:cNvSpPr/>
          <p:nvPr/>
        </p:nvSpPr>
        <p:spPr>
          <a:xfrm>
            <a:off x="2651760" y="1234440"/>
            <a:ext cx="3108960" cy="384048"/>
          </a:xfrm>
          <a:prstGeom prst="rect">
            <a:avLst/>
          </a:prstGeom>
          <a:solidFill>
            <a:srgbClr val="21295C"/>
          </a:solidFill>
          <a:ln/>
        </p:spPr>
        <p:txBody>
          <a:bodyPr/>
          <a:lstStyle/>
          <a:p>
            <a:endParaRPr lang="en-US"/>
          </a:p>
        </p:txBody>
      </p:sp>
      <p:sp>
        <p:nvSpPr>
          <p:cNvPr id="8" name="Text 6"/>
          <p:cNvSpPr/>
          <p:nvPr/>
        </p:nvSpPr>
        <p:spPr>
          <a:xfrm>
            <a:off x="2761488" y="1234440"/>
            <a:ext cx="28895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How it works</a:t>
            </a:r>
            <a:endParaRPr lang="en-US" sz="1100" dirty="0"/>
          </a:p>
        </p:txBody>
      </p:sp>
      <p:sp>
        <p:nvSpPr>
          <p:cNvPr id="9" name="Shape 7"/>
          <p:cNvSpPr/>
          <p:nvPr/>
        </p:nvSpPr>
        <p:spPr>
          <a:xfrm>
            <a:off x="5760720" y="1234440"/>
            <a:ext cx="2834640" cy="384048"/>
          </a:xfrm>
          <a:prstGeom prst="rect">
            <a:avLst/>
          </a:prstGeom>
          <a:solidFill>
            <a:srgbClr val="21295C"/>
          </a:solidFill>
          <a:ln/>
        </p:spPr>
        <p:txBody>
          <a:bodyPr/>
          <a:lstStyle/>
          <a:p>
            <a:endParaRPr lang="en-US"/>
          </a:p>
        </p:txBody>
      </p:sp>
      <p:sp>
        <p:nvSpPr>
          <p:cNvPr id="10" name="Text 8"/>
          <p:cNvSpPr/>
          <p:nvPr/>
        </p:nvSpPr>
        <p:spPr>
          <a:xfrm>
            <a:off x="5870448" y="1234440"/>
            <a:ext cx="26151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Good for</a:t>
            </a:r>
            <a:endParaRPr lang="en-US" sz="1100" dirty="0"/>
          </a:p>
        </p:txBody>
      </p:sp>
      <p:sp>
        <p:nvSpPr>
          <p:cNvPr id="11" name="Shape 9"/>
          <p:cNvSpPr/>
          <p:nvPr/>
        </p:nvSpPr>
        <p:spPr>
          <a:xfrm>
            <a:off x="8595360" y="1234440"/>
            <a:ext cx="2926080" cy="384048"/>
          </a:xfrm>
          <a:prstGeom prst="rect">
            <a:avLst/>
          </a:prstGeom>
          <a:solidFill>
            <a:srgbClr val="21295C"/>
          </a:solidFill>
          <a:ln/>
        </p:spPr>
        <p:txBody>
          <a:bodyPr/>
          <a:lstStyle/>
          <a:p>
            <a:endParaRPr lang="en-US"/>
          </a:p>
        </p:txBody>
      </p:sp>
      <p:sp>
        <p:nvSpPr>
          <p:cNvPr id="12" name="Text 10"/>
          <p:cNvSpPr/>
          <p:nvPr/>
        </p:nvSpPr>
        <p:spPr>
          <a:xfrm>
            <a:off x="8705088" y="1234440"/>
            <a:ext cx="27066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Weakness</a:t>
            </a:r>
            <a:endParaRPr lang="en-US" sz="1100" dirty="0"/>
          </a:p>
        </p:txBody>
      </p:sp>
      <p:sp>
        <p:nvSpPr>
          <p:cNvPr id="13" name="Shape 11"/>
          <p:cNvSpPr/>
          <p:nvPr/>
        </p:nvSpPr>
        <p:spPr>
          <a:xfrm>
            <a:off x="640080" y="1618488"/>
            <a:ext cx="2011680" cy="502920"/>
          </a:xfrm>
          <a:prstGeom prst="rect">
            <a:avLst/>
          </a:prstGeom>
          <a:solidFill>
            <a:srgbClr val="FFFFFF"/>
          </a:solidFill>
          <a:ln w="9525">
            <a:solidFill>
              <a:srgbClr val="E3EBF0"/>
            </a:solidFill>
            <a:prstDash val="solid"/>
          </a:ln>
        </p:spPr>
        <p:txBody>
          <a:bodyPr/>
          <a:lstStyle/>
          <a:p>
            <a:endParaRPr lang="en-US"/>
          </a:p>
        </p:txBody>
      </p:sp>
      <p:sp>
        <p:nvSpPr>
          <p:cNvPr id="14" name="Text 12"/>
          <p:cNvSpPr/>
          <p:nvPr/>
        </p:nvSpPr>
        <p:spPr>
          <a:xfrm>
            <a:off x="749808" y="1618488"/>
            <a:ext cx="179222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Fixed size</a:t>
            </a:r>
            <a:endParaRPr lang="en-US" sz="1050" dirty="0"/>
          </a:p>
        </p:txBody>
      </p:sp>
      <p:sp>
        <p:nvSpPr>
          <p:cNvPr id="15" name="Shape 13"/>
          <p:cNvSpPr/>
          <p:nvPr/>
        </p:nvSpPr>
        <p:spPr>
          <a:xfrm>
            <a:off x="2651760" y="1618488"/>
            <a:ext cx="3108960" cy="502920"/>
          </a:xfrm>
          <a:prstGeom prst="rect">
            <a:avLst/>
          </a:prstGeom>
          <a:solidFill>
            <a:srgbClr val="FFFFFF"/>
          </a:solidFill>
          <a:ln w="9525">
            <a:solidFill>
              <a:srgbClr val="E3EBF0"/>
            </a:solidFill>
            <a:prstDash val="solid"/>
          </a:ln>
        </p:spPr>
        <p:txBody>
          <a:bodyPr/>
          <a:lstStyle/>
          <a:p>
            <a:endParaRPr lang="en-US"/>
          </a:p>
        </p:txBody>
      </p:sp>
      <p:sp>
        <p:nvSpPr>
          <p:cNvPr id="16" name="Text 14"/>
          <p:cNvSpPr/>
          <p:nvPr/>
        </p:nvSpPr>
        <p:spPr>
          <a:xfrm>
            <a:off x="2761488" y="1618488"/>
            <a:ext cx="28895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N tokens with overlap</a:t>
            </a:r>
            <a:endParaRPr lang="en-US" sz="1050" dirty="0"/>
          </a:p>
        </p:txBody>
      </p:sp>
      <p:sp>
        <p:nvSpPr>
          <p:cNvPr id="17" name="Shape 15"/>
          <p:cNvSpPr/>
          <p:nvPr/>
        </p:nvSpPr>
        <p:spPr>
          <a:xfrm>
            <a:off x="5760720" y="1618488"/>
            <a:ext cx="2834640" cy="502920"/>
          </a:xfrm>
          <a:prstGeom prst="rect">
            <a:avLst/>
          </a:prstGeom>
          <a:solidFill>
            <a:srgbClr val="FFFFFF"/>
          </a:solidFill>
          <a:ln w="9525">
            <a:solidFill>
              <a:srgbClr val="E3EBF0"/>
            </a:solidFill>
            <a:prstDash val="solid"/>
          </a:ln>
        </p:spPr>
        <p:txBody>
          <a:bodyPr/>
          <a:lstStyle/>
          <a:p>
            <a:endParaRPr lang="en-US"/>
          </a:p>
        </p:txBody>
      </p:sp>
      <p:sp>
        <p:nvSpPr>
          <p:cNvPr id="18" name="Text 16"/>
          <p:cNvSpPr/>
          <p:nvPr/>
        </p:nvSpPr>
        <p:spPr>
          <a:xfrm>
            <a:off x="5870448" y="1618488"/>
            <a:ext cx="261518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Uniform prose</a:t>
            </a:r>
            <a:endParaRPr lang="en-US" sz="1050" dirty="0"/>
          </a:p>
        </p:txBody>
      </p:sp>
      <p:sp>
        <p:nvSpPr>
          <p:cNvPr id="19" name="Shape 17"/>
          <p:cNvSpPr/>
          <p:nvPr/>
        </p:nvSpPr>
        <p:spPr>
          <a:xfrm>
            <a:off x="8595360" y="1618488"/>
            <a:ext cx="2926080" cy="502920"/>
          </a:xfrm>
          <a:prstGeom prst="rect">
            <a:avLst/>
          </a:prstGeom>
          <a:solidFill>
            <a:srgbClr val="FFFFFF"/>
          </a:solidFill>
          <a:ln w="9525">
            <a:solidFill>
              <a:srgbClr val="E3EBF0"/>
            </a:solidFill>
            <a:prstDash val="solid"/>
          </a:ln>
        </p:spPr>
        <p:txBody>
          <a:bodyPr/>
          <a:lstStyle/>
          <a:p>
            <a:endParaRPr lang="en-US"/>
          </a:p>
        </p:txBody>
      </p:sp>
      <p:sp>
        <p:nvSpPr>
          <p:cNvPr id="20" name="Text 18"/>
          <p:cNvSpPr/>
          <p:nvPr/>
        </p:nvSpPr>
        <p:spPr>
          <a:xfrm>
            <a:off x="8705088" y="1618488"/>
            <a:ext cx="27066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Cuts tables and procedures mid-structure</a:t>
            </a:r>
            <a:endParaRPr lang="en-US" sz="1050" dirty="0"/>
          </a:p>
        </p:txBody>
      </p:sp>
      <p:sp>
        <p:nvSpPr>
          <p:cNvPr id="21" name="Shape 19"/>
          <p:cNvSpPr/>
          <p:nvPr/>
        </p:nvSpPr>
        <p:spPr>
          <a:xfrm>
            <a:off x="640080" y="2121408"/>
            <a:ext cx="2011680" cy="502920"/>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749808" y="2121408"/>
            <a:ext cx="179222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Sentence-aware</a:t>
            </a:r>
            <a:endParaRPr lang="en-US" sz="1050" dirty="0"/>
          </a:p>
        </p:txBody>
      </p:sp>
      <p:sp>
        <p:nvSpPr>
          <p:cNvPr id="23" name="Shape 21"/>
          <p:cNvSpPr/>
          <p:nvPr/>
        </p:nvSpPr>
        <p:spPr>
          <a:xfrm>
            <a:off x="2651760" y="2121408"/>
            <a:ext cx="3108960" cy="502920"/>
          </a:xfrm>
          <a:prstGeom prst="rect">
            <a:avLst/>
          </a:prstGeom>
          <a:solidFill>
            <a:srgbClr val="F5F9FB"/>
          </a:solidFill>
          <a:ln w="9525">
            <a:solidFill>
              <a:srgbClr val="E3EBF0"/>
            </a:solidFill>
            <a:prstDash val="solid"/>
          </a:ln>
        </p:spPr>
        <p:txBody>
          <a:bodyPr/>
          <a:lstStyle/>
          <a:p>
            <a:endParaRPr lang="en-US"/>
          </a:p>
        </p:txBody>
      </p:sp>
      <p:sp>
        <p:nvSpPr>
          <p:cNvPr id="24" name="Text 22"/>
          <p:cNvSpPr/>
          <p:nvPr/>
        </p:nvSpPr>
        <p:spPr>
          <a:xfrm>
            <a:off x="2761488" y="2121408"/>
            <a:ext cx="28895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Breaks on sentence boundaries</a:t>
            </a:r>
            <a:endParaRPr lang="en-US" sz="1050" dirty="0"/>
          </a:p>
        </p:txBody>
      </p:sp>
      <p:sp>
        <p:nvSpPr>
          <p:cNvPr id="25" name="Shape 23"/>
          <p:cNvSpPr/>
          <p:nvPr/>
        </p:nvSpPr>
        <p:spPr>
          <a:xfrm>
            <a:off x="5760720" y="2121408"/>
            <a:ext cx="2834640" cy="502920"/>
          </a:xfrm>
          <a:prstGeom prst="rect">
            <a:avLst/>
          </a:prstGeom>
          <a:solidFill>
            <a:srgbClr val="F5F9FB"/>
          </a:solidFill>
          <a:ln w="9525">
            <a:solidFill>
              <a:srgbClr val="E3EBF0"/>
            </a:solidFill>
            <a:prstDash val="solid"/>
          </a:ln>
        </p:spPr>
        <p:txBody>
          <a:bodyPr/>
          <a:lstStyle/>
          <a:p>
            <a:endParaRPr lang="en-US"/>
          </a:p>
        </p:txBody>
      </p:sp>
      <p:sp>
        <p:nvSpPr>
          <p:cNvPr id="26" name="Text 24"/>
          <p:cNvSpPr/>
          <p:nvPr/>
        </p:nvSpPr>
        <p:spPr>
          <a:xfrm>
            <a:off x="5870448" y="2121408"/>
            <a:ext cx="261518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General documents</a:t>
            </a:r>
            <a:endParaRPr lang="en-US" sz="1050" dirty="0"/>
          </a:p>
        </p:txBody>
      </p:sp>
      <p:sp>
        <p:nvSpPr>
          <p:cNvPr id="27" name="Shape 25"/>
          <p:cNvSpPr/>
          <p:nvPr/>
        </p:nvSpPr>
        <p:spPr>
          <a:xfrm>
            <a:off x="8595360" y="2121408"/>
            <a:ext cx="2926080" cy="502920"/>
          </a:xfrm>
          <a:prstGeom prst="rect">
            <a:avLst/>
          </a:prstGeom>
          <a:solidFill>
            <a:srgbClr val="F5F9FB"/>
          </a:solidFill>
          <a:ln w="9525">
            <a:solidFill>
              <a:srgbClr val="E3EBF0"/>
            </a:solidFill>
            <a:prstDash val="solid"/>
          </a:ln>
        </p:spPr>
        <p:txBody>
          <a:bodyPr/>
          <a:lstStyle/>
          <a:p>
            <a:endParaRPr lang="en-US"/>
          </a:p>
        </p:txBody>
      </p:sp>
      <p:sp>
        <p:nvSpPr>
          <p:cNvPr id="28" name="Text 26"/>
          <p:cNvSpPr/>
          <p:nvPr/>
        </p:nvSpPr>
        <p:spPr>
          <a:xfrm>
            <a:off x="8705088" y="2121408"/>
            <a:ext cx="27066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Ignores document structure entirely</a:t>
            </a:r>
            <a:endParaRPr lang="en-US" sz="1050" dirty="0"/>
          </a:p>
        </p:txBody>
      </p:sp>
      <p:sp>
        <p:nvSpPr>
          <p:cNvPr id="29" name="Shape 27"/>
          <p:cNvSpPr/>
          <p:nvPr/>
        </p:nvSpPr>
        <p:spPr>
          <a:xfrm>
            <a:off x="640080" y="2624328"/>
            <a:ext cx="2011680" cy="502920"/>
          </a:xfrm>
          <a:prstGeom prst="rect">
            <a:avLst/>
          </a:prstGeom>
          <a:solidFill>
            <a:srgbClr val="FFFFFF"/>
          </a:solidFill>
          <a:ln w="9525">
            <a:solidFill>
              <a:srgbClr val="E3EBF0"/>
            </a:solidFill>
            <a:prstDash val="solid"/>
          </a:ln>
        </p:spPr>
        <p:txBody>
          <a:bodyPr/>
          <a:lstStyle/>
          <a:p>
            <a:endParaRPr lang="en-US"/>
          </a:p>
        </p:txBody>
      </p:sp>
      <p:sp>
        <p:nvSpPr>
          <p:cNvPr id="30" name="Text 28"/>
          <p:cNvSpPr/>
          <p:nvPr/>
        </p:nvSpPr>
        <p:spPr>
          <a:xfrm>
            <a:off x="749808" y="2624328"/>
            <a:ext cx="179222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Paragraph</a:t>
            </a:r>
            <a:endParaRPr lang="en-US" sz="1050" dirty="0"/>
          </a:p>
        </p:txBody>
      </p:sp>
      <p:sp>
        <p:nvSpPr>
          <p:cNvPr id="31" name="Shape 29"/>
          <p:cNvSpPr/>
          <p:nvPr/>
        </p:nvSpPr>
        <p:spPr>
          <a:xfrm>
            <a:off x="2651760" y="2624328"/>
            <a:ext cx="3108960" cy="502920"/>
          </a:xfrm>
          <a:prstGeom prst="rect">
            <a:avLst/>
          </a:prstGeom>
          <a:solidFill>
            <a:srgbClr val="FFFFFF"/>
          </a:solidFill>
          <a:ln w="9525">
            <a:solidFill>
              <a:srgbClr val="E3EBF0"/>
            </a:solidFill>
            <a:prstDash val="solid"/>
          </a:ln>
        </p:spPr>
        <p:txBody>
          <a:bodyPr/>
          <a:lstStyle/>
          <a:p>
            <a:endParaRPr lang="en-US"/>
          </a:p>
        </p:txBody>
      </p:sp>
      <p:sp>
        <p:nvSpPr>
          <p:cNvPr id="32" name="Text 30"/>
          <p:cNvSpPr/>
          <p:nvPr/>
        </p:nvSpPr>
        <p:spPr>
          <a:xfrm>
            <a:off x="2761488" y="2624328"/>
            <a:ext cx="28895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Breaks on paragraph boundaries</a:t>
            </a:r>
            <a:endParaRPr lang="en-US" sz="1050" dirty="0"/>
          </a:p>
        </p:txBody>
      </p:sp>
      <p:sp>
        <p:nvSpPr>
          <p:cNvPr id="33" name="Shape 31"/>
          <p:cNvSpPr/>
          <p:nvPr/>
        </p:nvSpPr>
        <p:spPr>
          <a:xfrm>
            <a:off x="5760720" y="2624328"/>
            <a:ext cx="2834640" cy="502920"/>
          </a:xfrm>
          <a:prstGeom prst="rect">
            <a:avLst/>
          </a:prstGeom>
          <a:solidFill>
            <a:srgbClr val="FFFFFF"/>
          </a:solidFill>
          <a:ln w="9525">
            <a:solidFill>
              <a:srgbClr val="E3EBF0"/>
            </a:solidFill>
            <a:prstDash val="solid"/>
          </a:ln>
        </p:spPr>
        <p:txBody>
          <a:bodyPr/>
          <a:lstStyle/>
          <a:p>
            <a:endParaRPr lang="en-US"/>
          </a:p>
        </p:txBody>
      </p:sp>
      <p:sp>
        <p:nvSpPr>
          <p:cNvPr id="34" name="Text 32"/>
          <p:cNvSpPr/>
          <p:nvPr/>
        </p:nvSpPr>
        <p:spPr>
          <a:xfrm>
            <a:off x="5870448" y="2624328"/>
            <a:ext cx="261518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Well-structured text</a:t>
            </a:r>
            <a:endParaRPr lang="en-US" sz="1050" dirty="0"/>
          </a:p>
        </p:txBody>
      </p:sp>
      <p:sp>
        <p:nvSpPr>
          <p:cNvPr id="35" name="Shape 33"/>
          <p:cNvSpPr/>
          <p:nvPr/>
        </p:nvSpPr>
        <p:spPr>
          <a:xfrm>
            <a:off x="8595360" y="2624328"/>
            <a:ext cx="2926080" cy="502920"/>
          </a:xfrm>
          <a:prstGeom prst="rect">
            <a:avLst/>
          </a:prstGeom>
          <a:solidFill>
            <a:srgbClr val="FFFFFF"/>
          </a:solidFill>
          <a:ln w="9525">
            <a:solidFill>
              <a:srgbClr val="E3EBF0"/>
            </a:solidFill>
            <a:prstDash val="solid"/>
          </a:ln>
        </p:spPr>
        <p:txBody>
          <a:bodyPr/>
          <a:lstStyle/>
          <a:p>
            <a:endParaRPr lang="en-US"/>
          </a:p>
        </p:txBody>
      </p:sp>
      <p:sp>
        <p:nvSpPr>
          <p:cNvPr id="36" name="Text 34"/>
          <p:cNvSpPr/>
          <p:nvPr/>
        </p:nvSpPr>
        <p:spPr>
          <a:xfrm>
            <a:off x="8705088" y="2624328"/>
            <a:ext cx="27066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Highly variable chunk sizes</a:t>
            </a:r>
            <a:endParaRPr lang="en-US" sz="1050" dirty="0"/>
          </a:p>
        </p:txBody>
      </p:sp>
      <p:sp>
        <p:nvSpPr>
          <p:cNvPr id="37" name="Shape 35"/>
          <p:cNvSpPr/>
          <p:nvPr/>
        </p:nvSpPr>
        <p:spPr>
          <a:xfrm>
            <a:off x="640080" y="3127248"/>
            <a:ext cx="2011680" cy="502920"/>
          </a:xfrm>
          <a:prstGeom prst="rect">
            <a:avLst/>
          </a:prstGeom>
          <a:solidFill>
            <a:srgbClr val="F5F9FB"/>
          </a:solidFill>
          <a:ln w="9525">
            <a:solidFill>
              <a:srgbClr val="E3EBF0"/>
            </a:solidFill>
            <a:prstDash val="solid"/>
          </a:ln>
        </p:spPr>
        <p:txBody>
          <a:bodyPr/>
          <a:lstStyle/>
          <a:p>
            <a:endParaRPr lang="en-US"/>
          </a:p>
        </p:txBody>
      </p:sp>
      <p:sp>
        <p:nvSpPr>
          <p:cNvPr id="38" name="Text 36"/>
          <p:cNvSpPr/>
          <p:nvPr/>
        </p:nvSpPr>
        <p:spPr>
          <a:xfrm>
            <a:off x="749808" y="3127248"/>
            <a:ext cx="179222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Section-aware</a:t>
            </a:r>
            <a:endParaRPr lang="en-US" sz="1050" dirty="0"/>
          </a:p>
        </p:txBody>
      </p:sp>
      <p:sp>
        <p:nvSpPr>
          <p:cNvPr id="39" name="Shape 37"/>
          <p:cNvSpPr/>
          <p:nvPr/>
        </p:nvSpPr>
        <p:spPr>
          <a:xfrm>
            <a:off x="2651760" y="3127248"/>
            <a:ext cx="3108960" cy="502920"/>
          </a:xfrm>
          <a:prstGeom prst="rect">
            <a:avLst/>
          </a:prstGeom>
          <a:solidFill>
            <a:srgbClr val="F5F9FB"/>
          </a:solidFill>
          <a:ln w="9525">
            <a:solidFill>
              <a:srgbClr val="E3EBF0"/>
            </a:solidFill>
            <a:prstDash val="solid"/>
          </a:ln>
        </p:spPr>
        <p:txBody>
          <a:bodyPr/>
          <a:lstStyle/>
          <a:p>
            <a:endParaRPr lang="en-US"/>
          </a:p>
        </p:txBody>
      </p:sp>
      <p:sp>
        <p:nvSpPr>
          <p:cNvPr id="40" name="Text 38"/>
          <p:cNvSpPr/>
          <p:nvPr/>
        </p:nvSpPr>
        <p:spPr>
          <a:xfrm>
            <a:off x="2761488" y="3127248"/>
            <a:ext cx="28895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Breaks on headings and hierarchy</a:t>
            </a:r>
            <a:endParaRPr lang="en-US" sz="1050" dirty="0"/>
          </a:p>
        </p:txBody>
      </p:sp>
      <p:sp>
        <p:nvSpPr>
          <p:cNvPr id="41" name="Shape 39"/>
          <p:cNvSpPr/>
          <p:nvPr/>
        </p:nvSpPr>
        <p:spPr>
          <a:xfrm>
            <a:off x="5760720" y="3127248"/>
            <a:ext cx="2834640" cy="502920"/>
          </a:xfrm>
          <a:prstGeom prst="rect">
            <a:avLst/>
          </a:prstGeom>
          <a:solidFill>
            <a:srgbClr val="F5F9FB"/>
          </a:solidFill>
          <a:ln w="9525">
            <a:solidFill>
              <a:srgbClr val="E3EBF0"/>
            </a:solidFill>
            <a:prstDash val="solid"/>
          </a:ln>
        </p:spPr>
        <p:txBody>
          <a:bodyPr/>
          <a:lstStyle/>
          <a:p>
            <a:endParaRPr lang="en-US"/>
          </a:p>
        </p:txBody>
      </p:sp>
      <p:sp>
        <p:nvSpPr>
          <p:cNvPr id="42" name="Text 40"/>
          <p:cNvSpPr/>
          <p:nvPr/>
        </p:nvSpPr>
        <p:spPr>
          <a:xfrm>
            <a:off x="5870448" y="3127248"/>
            <a:ext cx="261518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Technical manuals</a:t>
            </a:r>
            <a:endParaRPr lang="en-US" sz="1050" dirty="0"/>
          </a:p>
        </p:txBody>
      </p:sp>
      <p:sp>
        <p:nvSpPr>
          <p:cNvPr id="43" name="Shape 41"/>
          <p:cNvSpPr/>
          <p:nvPr/>
        </p:nvSpPr>
        <p:spPr>
          <a:xfrm>
            <a:off x="8595360" y="3127248"/>
            <a:ext cx="2926080" cy="502920"/>
          </a:xfrm>
          <a:prstGeom prst="rect">
            <a:avLst/>
          </a:prstGeom>
          <a:solidFill>
            <a:srgbClr val="F5F9FB"/>
          </a:solidFill>
          <a:ln w="9525">
            <a:solidFill>
              <a:srgbClr val="E3EBF0"/>
            </a:solidFill>
            <a:prstDash val="solid"/>
          </a:ln>
        </p:spPr>
        <p:txBody>
          <a:bodyPr/>
          <a:lstStyle/>
          <a:p>
            <a:endParaRPr lang="en-US"/>
          </a:p>
        </p:txBody>
      </p:sp>
      <p:sp>
        <p:nvSpPr>
          <p:cNvPr id="44" name="Text 42"/>
          <p:cNvSpPr/>
          <p:nvPr/>
        </p:nvSpPr>
        <p:spPr>
          <a:xfrm>
            <a:off x="8705088" y="3127248"/>
            <a:ext cx="27066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Requires reliable structure extraction</a:t>
            </a:r>
            <a:endParaRPr lang="en-US" sz="1050" dirty="0"/>
          </a:p>
        </p:txBody>
      </p:sp>
      <p:sp>
        <p:nvSpPr>
          <p:cNvPr id="45" name="Shape 43"/>
          <p:cNvSpPr/>
          <p:nvPr/>
        </p:nvSpPr>
        <p:spPr>
          <a:xfrm>
            <a:off x="640080" y="3630168"/>
            <a:ext cx="2011680" cy="502920"/>
          </a:xfrm>
          <a:prstGeom prst="rect">
            <a:avLst/>
          </a:prstGeom>
          <a:solidFill>
            <a:srgbClr val="FFFFFF"/>
          </a:solidFill>
          <a:ln w="9525">
            <a:solidFill>
              <a:srgbClr val="E3EBF0"/>
            </a:solidFill>
            <a:prstDash val="solid"/>
          </a:ln>
        </p:spPr>
        <p:txBody>
          <a:bodyPr/>
          <a:lstStyle/>
          <a:p>
            <a:endParaRPr lang="en-US"/>
          </a:p>
        </p:txBody>
      </p:sp>
      <p:sp>
        <p:nvSpPr>
          <p:cNvPr id="46" name="Text 44"/>
          <p:cNvSpPr/>
          <p:nvPr/>
        </p:nvSpPr>
        <p:spPr>
          <a:xfrm>
            <a:off x="749808" y="3630168"/>
            <a:ext cx="179222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Layout-aware</a:t>
            </a:r>
            <a:endParaRPr lang="en-US" sz="1050" dirty="0"/>
          </a:p>
        </p:txBody>
      </p:sp>
      <p:sp>
        <p:nvSpPr>
          <p:cNvPr id="47" name="Shape 45"/>
          <p:cNvSpPr/>
          <p:nvPr/>
        </p:nvSpPr>
        <p:spPr>
          <a:xfrm>
            <a:off x="2651760" y="3630168"/>
            <a:ext cx="3108960" cy="502920"/>
          </a:xfrm>
          <a:prstGeom prst="rect">
            <a:avLst/>
          </a:prstGeom>
          <a:solidFill>
            <a:srgbClr val="FFFFFF"/>
          </a:solidFill>
          <a:ln w="9525">
            <a:solidFill>
              <a:srgbClr val="E3EBF0"/>
            </a:solidFill>
            <a:prstDash val="solid"/>
          </a:ln>
        </p:spPr>
        <p:txBody>
          <a:bodyPr/>
          <a:lstStyle/>
          <a:p>
            <a:endParaRPr lang="en-US"/>
          </a:p>
        </p:txBody>
      </p:sp>
      <p:sp>
        <p:nvSpPr>
          <p:cNvPr id="48" name="Text 46"/>
          <p:cNvSpPr/>
          <p:nvPr/>
        </p:nvSpPr>
        <p:spPr>
          <a:xfrm>
            <a:off x="2761488" y="3630168"/>
            <a:ext cx="28895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Respects tables, figures, columns</a:t>
            </a:r>
            <a:endParaRPr lang="en-US" sz="1050" dirty="0"/>
          </a:p>
        </p:txBody>
      </p:sp>
      <p:sp>
        <p:nvSpPr>
          <p:cNvPr id="49" name="Shape 47"/>
          <p:cNvSpPr/>
          <p:nvPr/>
        </p:nvSpPr>
        <p:spPr>
          <a:xfrm>
            <a:off x="5760720" y="3630168"/>
            <a:ext cx="2834640" cy="502920"/>
          </a:xfrm>
          <a:prstGeom prst="rect">
            <a:avLst/>
          </a:prstGeom>
          <a:solidFill>
            <a:srgbClr val="FFFFFF"/>
          </a:solidFill>
          <a:ln w="9525">
            <a:solidFill>
              <a:srgbClr val="E3EBF0"/>
            </a:solidFill>
            <a:prstDash val="solid"/>
          </a:ln>
        </p:spPr>
        <p:txBody>
          <a:bodyPr/>
          <a:lstStyle/>
          <a:p>
            <a:endParaRPr lang="en-US"/>
          </a:p>
        </p:txBody>
      </p:sp>
      <p:sp>
        <p:nvSpPr>
          <p:cNvPr id="50" name="Text 48"/>
          <p:cNvSpPr/>
          <p:nvPr/>
        </p:nvSpPr>
        <p:spPr>
          <a:xfrm>
            <a:off x="5870448" y="3630168"/>
            <a:ext cx="261518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Industrial documentation</a:t>
            </a:r>
            <a:endParaRPr lang="en-US" sz="1050" dirty="0"/>
          </a:p>
        </p:txBody>
      </p:sp>
      <p:sp>
        <p:nvSpPr>
          <p:cNvPr id="51" name="Shape 49"/>
          <p:cNvSpPr/>
          <p:nvPr/>
        </p:nvSpPr>
        <p:spPr>
          <a:xfrm>
            <a:off x="8595360" y="3630168"/>
            <a:ext cx="2926080" cy="502920"/>
          </a:xfrm>
          <a:prstGeom prst="rect">
            <a:avLst/>
          </a:prstGeom>
          <a:solidFill>
            <a:srgbClr val="FFFFFF"/>
          </a:solidFill>
          <a:ln w="9525">
            <a:solidFill>
              <a:srgbClr val="E3EBF0"/>
            </a:solidFill>
            <a:prstDash val="solid"/>
          </a:ln>
        </p:spPr>
        <p:txBody>
          <a:bodyPr/>
          <a:lstStyle/>
          <a:p>
            <a:endParaRPr lang="en-US"/>
          </a:p>
        </p:txBody>
      </p:sp>
      <p:sp>
        <p:nvSpPr>
          <p:cNvPr id="52" name="Text 50"/>
          <p:cNvSpPr/>
          <p:nvPr/>
        </p:nvSpPr>
        <p:spPr>
          <a:xfrm>
            <a:off x="8705088" y="3630168"/>
            <a:ext cx="27066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Needs a capable parser</a:t>
            </a:r>
            <a:endParaRPr lang="en-US" sz="1050" dirty="0"/>
          </a:p>
        </p:txBody>
      </p:sp>
      <p:sp>
        <p:nvSpPr>
          <p:cNvPr id="53" name="Shape 51"/>
          <p:cNvSpPr/>
          <p:nvPr/>
        </p:nvSpPr>
        <p:spPr>
          <a:xfrm>
            <a:off x="640080" y="4133088"/>
            <a:ext cx="2011680" cy="502920"/>
          </a:xfrm>
          <a:prstGeom prst="rect">
            <a:avLst/>
          </a:prstGeom>
          <a:solidFill>
            <a:srgbClr val="F5F9FB"/>
          </a:solidFill>
          <a:ln w="9525">
            <a:solidFill>
              <a:srgbClr val="E3EBF0"/>
            </a:solidFill>
            <a:prstDash val="solid"/>
          </a:ln>
        </p:spPr>
        <p:txBody>
          <a:bodyPr/>
          <a:lstStyle/>
          <a:p>
            <a:endParaRPr lang="en-US"/>
          </a:p>
        </p:txBody>
      </p:sp>
      <p:sp>
        <p:nvSpPr>
          <p:cNvPr id="54" name="Text 52"/>
          <p:cNvSpPr/>
          <p:nvPr/>
        </p:nvSpPr>
        <p:spPr>
          <a:xfrm>
            <a:off x="749808" y="4133088"/>
            <a:ext cx="179222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Parent-child</a:t>
            </a:r>
            <a:endParaRPr lang="en-US" sz="1050" dirty="0"/>
          </a:p>
        </p:txBody>
      </p:sp>
      <p:sp>
        <p:nvSpPr>
          <p:cNvPr id="55" name="Shape 53"/>
          <p:cNvSpPr/>
          <p:nvPr/>
        </p:nvSpPr>
        <p:spPr>
          <a:xfrm>
            <a:off x="2651760" y="4133088"/>
            <a:ext cx="3108960" cy="502920"/>
          </a:xfrm>
          <a:prstGeom prst="rect">
            <a:avLst/>
          </a:prstGeom>
          <a:solidFill>
            <a:srgbClr val="F5F9FB"/>
          </a:solidFill>
          <a:ln w="9525">
            <a:solidFill>
              <a:srgbClr val="E3EBF0"/>
            </a:solidFill>
            <a:prstDash val="solid"/>
          </a:ln>
        </p:spPr>
        <p:txBody>
          <a:bodyPr/>
          <a:lstStyle/>
          <a:p>
            <a:endParaRPr lang="en-US"/>
          </a:p>
        </p:txBody>
      </p:sp>
      <p:sp>
        <p:nvSpPr>
          <p:cNvPr id="56" name="Text 54"/>
          <p:cNvSpPr/>
          <p:nvPr/>
        </p:nvSpPr>
        <p:spPr>
          <a:xfrm>
            <a:off x="2761488" y="4133088"/>
            <a:ext cx="28895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Small chunks for search, large for context</a:t>
            </a:r>
            <a:endParaRPr lang="en-US" sz="1050" dirty="0"/>
          </a:p>
        </p:txBody>
      </p:sp>
      <p:sp>
        <p:nvSpPr>
          <p:cNvPr id="57" name="Shape 55"/>
          <p:cNvSpPr/>
          <p:nvPr/>
        </p:nvSpPr>
        <p:spPr>
          <a:xfrm>
            <a:off x="5760720" y="4133088"/>
            <a:ext cx="2834640" cy="502920"/>
          </a:xfrm>
          <a:prstGeom prst="rect">
            <a:avLst/>
          </a:prstGeom>
          <a:solidFill>
            <a:srgbClr val="F5F9FB"/>
          </a:solidFill>
          <a:ln w="9525">
            <a:solidFill>
              <a:srgbClr val="E3EBF0"/>
            </a:solidFill>
            <a:prstDash val="solid"/>
          </a:ln>
        </p:spPr>
        <p:txBody>
          <a:bodyPr/>
          <a:lstStyle/>
          <a:p>
            <a:endParaRPr lang="en-US"/>
          </a:p>
        </p:txBody>
      </p:sp>
      <p:sp>
        <p:nvSpPr>
          <p:cNvPr id="58" name="Text 56"/>
          <p:cNvSpPr/>
          <p:nvPr/>
        </p:nvSpPr>
        <p:spPr>
          <a:xfrm>
            <a:off x="5870448" y="4133088"/>
            <a:ext cx="261518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Precision plus completeness</a:t>
            </a:r>
            <a:endParaRPr lang="en-US" sz="1050" dirty="0"/>
          </a:p>
        </p:txBody>
      </p:sp>
      <p:sp>
        <p:nvSpPr>
          <p:cNvPr id="59" name="Shape 57"/>
          <p:cNvSpPr/>
          <p:nvPr/>
        </p:nvSpPr>
        <p:spPr>
          <a:xfrm>
            <a:off x="8595360" y="4133088"/>
            <a:ext cx="2926080" cy="502920"/>
          </a:xfrm>
          <a:prstGeom prst="rect">
            <a:avLst/>
          </a:prstGeom>
          <a:solidFill>
            <a:srgbClr val="F5F9FB"/>
          </a:solidFill>
          <a:ln w="9525">
            <a:solidFill>
              <a:srgbClr val="E3EBF0"/>
            </a:solidFill>
            <a:prstDash val="solid"/>
          </a:ln>
        </p:spPr>
        <p:txBody>
          <a:bodyPr/>
          <a:lstStyle/>
          <a:p>
            <a:endParaRPr lang="en-US"/>
          </a:p>
        </p:txBody>
      </p:sp>
      <p:sp>
        <p:nvSpPr>
          <p:cNvPr id="60" name="Text 58"/>
          <p:cNvSpPr/>
          <p:nvPr/>
        </p:nvSpPr>
        <p:spPr>
          <a:xfrm>
            <a:off x="8705088" y="4133088"/>
            <a:ext cx="27066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More complex index and retrieval logic</a:t>
            </a:r>
            <a:endParaRPr lang="en-US" sz="1050" dirty="0"/>
          </a:p>
        </p:txBody>
      </p:sp>
      <p:sp>
        <p:nvSpPr>
          <p:cNvPr id="61" name="Shape 59"/>
          <p:cNvSpPr/>
          <p:nvPr/>
        </p:nvSpPr>
        <p:spPr>
          <a:xfrm>
            <a:off x="640080" y="4636008"/>
            <a:ext cx="2011680" cy="502920"/>
          </a:xfrm>
          <a:prstGeom prst="rect">
            <a:avLst/>
          </a:prstGeom>
          <a:solidFill>
            <a:srgbClr val="FFFFFF"/>
          </a:solidFill>
          <a:ln w="9525">
            <a:solidFill>
              <a:srgbClr val="E3EBF0"/>
            </a:solidFill>
            <a:prstDash val="solid"/>
          </a:ln>
        </p:spPr>
        <p:txBody>
          <a:bodyPr/>
          <a:lstStyle/>
          <a:p>
            <a:endParaRPr lang="en-US"/>
          </a:p>
        </p:txBody>
      </p:sp>
      <p:sp>
        <p:nvSpPr>
          <p:cNvPr id="62" name="Text 60"/>
          <p:cNvSpPr/>
          <p:nvPr/>
        </p:nvSpPr>
        <p:spPr>
          <a:xfrm>
            <a:off x="749808" y="4636008"/>
            <a:ext cx="179222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Semantic</a:t>
            </a:r>
            <a:endParaRPr lang="en-US" sz="1050" dirty="0"/>
          </a:p>
        </p:txBody>
      </p:sp>
      <p:sp>
        <p:nvSpPr>
          <p:cNvPr id="63" name="Shape 61"/>
          <p:cNvSpPr/>
          <p:nvPr/>
        </p:nvSpPr>
        <p:spPr>
          <a:xfrm>
            <a:off x="2651760" y="4636008"/>
            <a:ext cx="3108960" cy="502920"/>
          </a:xfrm>
          <a:prstGeom prst="rect">
            <a:avLst/>
          </a:prstGeom>
          <a:solidFill>
            <a:srgbClr val="FFFFFF"/>
          </a:solidFill>
          <a:ln w="9525">
            <a:solidFill>
              <a:srgbClr val="E3EBF0"/>
            </a:solidFill>
            <a:prstDash val="solid"/>
          </a:ln>
        </p:spPr>
        <p:txBody>
          <a:bodyPr/>
          <a:lstStyle/>
          <a:p>
            <a:endParaRPr lang="en-US"/>
          </a:p>
        </p:txBody>
      </p:sp>
      <p:sp>
        <p:nvSpPr>
          <p:cNvPr id="64" name="Text 62"/>
          <p:cNvSpPr/>
          <p:nvPr/>
        </p:nvSpPr>
        <p:spPr>
          <a:xfrm>
            <a:off x="2761488" y="4636008"/>
            <a:ext cx="28895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Breaks where meaning shifts</a:t>
            </a:r>
            <a:endParaRPr lang="en-US" sz="1050" dirty="0"/>
          </a:p>
        </p:txBody>
      </p:sp>
      <p:sp>
        <p:nvSpPr>
          <p:cNvPr id="65" name="Shape 63"/>
          <p:cNvSpPr/>
          <p:nvPr/>
        </p:nvSpPr>
        <p:spPr>
          <a:xfrm>
            <a:off x="5760720" y="4636008"/>
            <a:ext cx="2834640" cy="502920"/>
          </a:xfrm>
          <a:prstGeom prst="rect">
            <a:avLst/>
          </a:prstGeom>
          <a:solidFill>
            <a:srgbClr val="FFFFFF"/>
          </a:solidFill>
          <a:ln w="9525">
            <a:solidFill>
              <a:srgbClr val="E3EBF0"/>
            </a:solidFill>
            <a:prstDash val="solid"/>
          </a:ln>
        </p:spPr>
        <p:txBody>
          <a:bodyPr/>
          <a:lstStyle/>
          <a:p>
            <a:endParaRPr lang="en-US"/>
          </a:p>
        </p:txBody>
      </p:sp>
      <p:sp>
        <p:nvSpPr>
          <p:cNvPr id="66" name="Text 64"/>
          <p:cNvSpPr/>
          <p:nvPr/>
        </p:nvSpPr>
        <p:spPr>
          <a:xfrm>
            <a:off x="5870448" y="4636008"/>
            <a:ext cx="261518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Mixed content</a:t>
            </a:r>
            <a:endParaRPr lang="en-US" sz="1050" dirty="0"/>
          </a:p>
        </p:txBody>
      </p:sp>
      <p:sp>
        <p:nvSpPr>
          <p:cNvPr id="67" name="Shape 65"/>
          <p:cNvSpPr/>
          <p:nvPr/>
        </p:nvSpPr>
        <p:spPr>
          <a:xfrm>
            <a:off x="8595360" y="4636008"/>
            <a:ext cx="2926080" cy="502920"/>
          </a:xfrm>
          <a:prstGeom prst="rect">
            <a:avLst/>
          </a:prstGeom>
          <a:solidFill>
            <a:srgbClr val="FFFFFF"/>
          </a:solidFill>
          <a:ln w="9525">
            <a:solidFill>
              <a:srgbClr val="E3EBF0"/>
            </a:solidFill>
            <a:prstDash val="solid"/>
          </a:ln>
        </p:spPr>
        <p:txBody>
          <a:bodyPr/>
          <a:lstStyle/>
          <a:p>
            <a:endParaRPr lang="en-US"/>
          </a:p>
        </p:txBody>
      </p:sp>
      <p:sp>
        <p:nvSpPr>
          <p:cNvPr id="68" name="Text 66"/>
          <p:cNvSpPr/>
          <p:nvPr/>
        </p:nvSpPr>
        <p:spPr>
          <a:xfrm>
            <a:off x="8705088" y="4636008"/>
            <a:ext cx="27066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Slow to compute, harder to reason about</a:t>
            </a:r>
            <a:endParaRPr lang="en-US" sz="1050" dirty="0"/>
          </a:p>
        </p:txBody>
      </p:sp>
      <p:sp>
        <p:nvSpPr>
          <p:cNvPr id="69" name="Text 67"/>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A2430"/>
                </a:solidFill>
                <a:latin typeface="Calibri" pitchFamily="34" charset="0"/>
                <a:ea typeface="Calibri" pitchFamily="34" charset="-122"/>
                <a:cs typeface="Calibri" pitchFamily="34" charset="-120"/>
              </a:rPr>
              <a:t>For service manuals and maintenance procedures, section-aware or parent-child almost always beats fixed size — and it is a one-day change.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1 · 1.4</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Overlap, and the procedure that got cut in half</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7</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450" dirty="0">
                <a:solidFill>
                  <a:srgbClr val="5A6B7C"/>
                </a:solidFill>
                <a:latin typeface="Calibri" pitchFamily="34" charset="0"/>
                <a:ea typeface="Calibri" pitchFamily="34" charset="-122"/>
                <a:cs typeface="Calibri" pitchFamily="34" charset="-120"/>
              </a:rPr>
              <a:t>Overlap exists so that a passage split across a chunk boundary is still retrievable. It is insurance, and it is not free.</a:t>
            </a:r>
            <a:endParaRPr lang="en-US" sz="1450" dirty="0"/>
          </a:p>
        </p:txBody>
      </p:sp>
      <p:sp>
        <p:nvSpPr>
          <p:cNvPr id="6" name="Shape 4"/>
          <p:cNvSpPr/>
          <p:nvPr/>
        </p:nvSpPr>
        <p:spPr>
          <a:xfrm>
            <a:off x="640080" y="1783080"/>
            <a:ext cx="1645920" cy="384048"/>
          </a:xfrm>
          <a:prstGeom prst="rect">
            <a:avLst/>
          </a:prstGeom>
          <a:solidFill>
            <a:srgbClr val="21295C"/>
          </a:solidFill>
          <a:ln/>
        </p:spPr>
        <p:txBody>
          <a:bodyPr/>
          <a:lstStyle/>
          <a:p>
            <a:endParaRPr lang="en-US"/>
          </a:p>
        </p:txBody>
      </p:sp>
      <p:sp>
        <p:nvSpPr>
          <p:cNvPr id="7" name="Text 5"/>
          <p:cNvSpPr/>
          <p:nvPr/>
        </p:nvSpPr>
        <p:spPr>
          <a:xfrm>
            <a:off x="749808" y="1783080"/>
            <a:ext cx="142646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Overlap</a:t>
            </a:r>
            <a:endParaRPr lang="en-US" sz="1100" dirty="0"/>
          </a:p>
        </p:txBody>
      </p:sp>
      <p:sp>
        <p:nvSpPr>
          <p:cNvPr id="8" name="Shape 6"/>
          <p:cNvSpPr/>
          <p:nvPr/>
        </p:nvSpPr>
        <p:spPr>
          <a:xfrm>
            <a:off x="2286000" y="1783080"/>
            <a:ext cx="5029200" cy="384048"/>
          </a:xfrm>
          <a:prstGeom prst="rect">
            <a:avLst/>
          </a:prstGeom>
          <a:solidFill>
            <a:srgbClr val="21295C"/>
          </a:solidFill>
          <a:ln/>
        </p:spPr>
        <p:txBody>
          <a:bodyPr/>
          <a:lstStyle/>
          <a:p>
            <a:endParaRPr lang="en-US"/>
          </a:p>
        </p:txBody>
      </p:sp>
      <p:sp>
        <p:nvSpPr>
          <p:cNvPr id="9" name="Text 7"/>
          <p:cNvSpPr/>
          <p:nvPr/>
        </p:nvSpPr>
        <p:spPr>
          <a:xfrm>
            <a:off x="2395728" y="1783080"/>
            <a:ext cx="48097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Effect</a:t>
            </a:r>
            <a:endParaRPr lang="en-US" sz="1100" dirty="0"/>
          </a:p>
        </p:txBody>
      </p:sp>
      <p:sp>
        <p:nvSpPr>
          <p:cNvPr id="10" name="Shape 8"/>
          <p:cNvSpPr/>
          <p:nvPr/>
        </p:nvSpPr>
        <p:spPr>
          <a:xfrm>
            <a:off x="7315200" y="1783080"/>
            <a:ext cx="4206240" cy="384048"/>
          </a:xfrm>
          <a:prstGeom prst="rect">
            <a:avLst/>
          </a:prstGeom>
          <a:solidFill>
            <a:srgbClr val="21295C"/>
          </a:solidFill>
          <a:ln/>
        </p:spPr>
        <p:txBody>
          <a:bodyPr/>
          <a:lstStyle/>
          <a:p>
            <a:endParaRPr lang="en-US"/>
          </a:p>
        </p:txBody>
      </p:sp>
      <p:sp>
        <p:nvSpPr>
          <p:cNvPr id="11" name="Text 9"/>
          <p:cNvSpPr/>
          <p:nvPr/>
        </p:nvSpPr>
        <p:spPr>
          <a:xfrm>
            <a:off x="7424928" y="1783080"/>
            <a:ext cx="39867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When appropriate</a:t>
            </a:r>
            <a:endParaRPr lang="en-US" sz="1100" dirty="0"/>
          </a:p>
        </p:txBody>
      </p:sp>
      <p:sp>
        <p:nvSpPr>
          <p:cNvPr id="12" name="Shape 10"/>
          <p:cNvSpPr/>
          <p:nvPr/>
        </p:nvSpPr>
        <p:spPr>
          <a:xfrm>
            <a:off x="640080" y="2167128"/>
            <a:ext cx="1645920" cy="658368"/>
          </a:xfrm>
          <a:prstGeom prst="rect">
            <a:avLst/>
          </a:prstGeom>
          <a:solidFill>
            <a:srgbClr val="FFFFFF"/>
          </a:solidFill>
          <a:ln w="9525">
            <a:solidFill>
              <a:srgbClr val="E3EBF0"/>
            </a:solidFill>
            <a:prstDash val="solid"/>
          </a:ln>
        </p:spPr>
        <p:txBody>
          <a:bodyPr/>
          <a:lstStyle/>
          <a:p>
            <a:endParaRPr lang="en-US"/>
          </a:p>
        </p:txBody>
      </p:sp>
      <p:sp>
        <p:nvSpPr>
          <p:cNvPr id="13" name="Text 11"/>
          <p:cNvSpPr/>
          <p:nvPr/>
        </p:nvSpPr>
        <p:spPr>
          <a:xfrm>
            <a:off x="749808" y="2167128"/>
            <a:ext cx="1426464" cy="65836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None</a:t>
            </a:r>
            <a:endParaRPr lang="en-US" sz="1050" dirty="0"/>
          </a:p>
        </p:txBody>
      </p:sp>
      <p:sp>
        <p:nvSpPr>
          <p:cNvPr id="14" name="Shape 12"/>
          <p:cNvSpPr/>
          <p:nvPr/>
        </p:nvSpPr>
        <p:spPr>
          <a:xfrm>
            <a:off x="2286000" y="2167128"/>
            <a:ext cx="5029200" cy="658368"/>
          </a:xfrm>
          <a:prstGeom prst="rect">
            <a:avLst/>
          </a:prstGeom>
          <a:solidFill>
            <a:srgbClr val="FFFFFF"/>
          </a:solidFill>
          <a:ln w="9525">
            <a:solidFill>
              <a:srgbClr val="E3EBF0"/>
            </a:solidFill>
            <a:prstDash val="solid"/>
          </a:ln>
        </p:spPr>
        <p:txBody>
          <a:bodyPr/>
          <a:lstStyle/>
          <a:p>
            <a:endParaRPr lang="en-US"/>
          </a:p>
        </p:txBody>
      </p:sp>
      <p:sp>
        <p:nvSpPr>
          <p:cNvPr id="15" name="Text 13"/>
          <p:cNvSpPr/>
          <p:nvPr/>
        </p:nvSpPr>
        <p:spPr>
          <a:xfrm>
            <a:off x="2395728" y="2167128"/>
            <a:ext cx="480974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Smallest index, cheapest. Content at boundaries becomes unretrievable</a:t>
            </a:r>
            <a:endParaRPr lang="en-US" sz="1050" dirty="0"/>
          </a:p>
        </p:txBody>
      </p:sp>
      <p:sp>
        <p:nvSpPr>
          <p:cNvPr id="16" name="Shape 14"/>
          <p:cNvSpPr/>
          <p:nvPr/>
        </p:nvSpPr>
        <p:spPr>
          <a:xfrm>
            <a:off x="7315200" y="2167128"/>
            <a:ext cx="4206240" cy="658368"/>
          </a:xfrm>
          <a:prstGeom prst="rect">
            <a:avLst/>
          </a:prstGeom>
          <a:solidFill>
            <a:srgbClr val="FFFFFF"/>
          </a:solidFill>
          <a:ln w="9525">
            <a:solidFill>
              <a:srgbClr val="E3EBF0"/>
            </a:solidFill>
            <a:prstDash val="solid"/>
          </a:ln>
        </p:spPr>
        <p:txBody>
          <a:bodyPr/>
          <a:lstStyle/>
          <a:p>
            <a:endParaRPr lang="en-US"/>
          </a:p>
        </p:txBody>
      </p:sp>
      <p:sp>
        <p:nvSpPr>
          <p:cNvPr id="17" name="Text 15"/>
          <p:cNvSpPr/>
          <p:nvPr/>
        </p:nvSpPr>
        <p:spPr>
          <a:xfrm>
            <a:off x="7424928" y="2167128"/>
            <a:ext cx="398678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Highly structured content with reliable section breaks</a:t>
            </a:r>
            <a:endParaRPr lang="en-US" sz="1050" dirty="0"/>
          </a:p>
        </p:txBody>
      </p:sp>
      <p:sp>
        <p:nvSpPr>
          <p:cNvPr id="18" name="Shape 16"/>
          <p:cNvSpPr/>
          <p:nvPr/>
        </p:nvSpPr>
        <p:spPr>
          <a:xfrm>
            <a:off x="640080" y="2825496"/>
            <a:ext cx="1645920" cy="658368"/>
          </a:xfrm>
          <a:prstGeom prst="rect">
            <a:avLst/>
          </a:prstGeom>
          <a:solidFill>
            <a:srgbClr val="F5F9FB"/>
          </a:solidFill>
          <a:ln w="9525">
            <a:solidFill>
              <a:srgbClr val="E3EBF0"/>
            </a:solidFill>
            <a:prstDash val="solid"/>
          </a:ln>
        </p:spPr>
        <p:txBody>
          <a:bodyPr/>
          <a:lstStyle/>
          <a:p>
            <a:endParaRPr lang="en-US"/>
          </a:p>
        </p:txBody>
      </p:sp>
      <p:sp>
        <p:nvSpPr>
          <p:cNvPr id="19" name="Text 17"/>
          <p:cNvSpPr/>
          <p:nvPr/>
        </p:nvSpPr>
        <p:spPr>
          <a:xfrm>
            <a:off x="749808" y="2825496"/>
            <a:ext cx="1426464" cy="65836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10 – 15%</a:t>
            </a:r>
            <a:endParaRPr lang="en-US" sz="1050" dirty="0"/>
          </a:p>
        </p:txBody>
      </p:sp>
      <p:sp>
        <p:nvSpPr>
          <p:cNvPr id="20" name="Shape 18"/>
          <p:cNvSpPr/>
          <p:nvPr/>
        </p:nvSpPr>
        <p:spPr>
          <a:xfrm>
            <a:off x="2286000" y="2825496"/>
            <a:ext cx="5029200" cy="658368"/>
          </a:xfrm>
          <a:prstGeom prst="rect">
            <a:avLst/>
          </a:prstGeom>
          <a:solidFill>
            <a:srgbClr val="F5F9FB"/>
          </a:solidFill>
          <a:ln w="9525">
            <a:solidFill>
              <a:srgbClr val="E3EBF0"/>
            </a:solidFill>
            <a:prstDash val="solid"/>
          </a:ln>
        </p:spPr>
        <p:txBody>
          <a:bodyPr/>
          <a:lstStyle/>
          <a:p>
            <a:endParaRPr lang="en-US"/>
          </a:p>
        </p:txBody>
      </p:sp>
      <p:sp>
        <p:nvSpPr>
          <p:cNvPr id="21" name="Text 19"/>
          <p:cNvSpPr/>
          <p:nvPr/>
        </p:nvSpPr>
        <p:spPr>
          <a:xfrm>
            <a:off x="2395728" y="2825496"/>
            <a:ext cx="480974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usual default. Modest index growth, good boundary coverage</a:t>
            </a:r>
            <a:endParaRPr lang="en-US" sz="1050" dirty="0"/>
          </a:p>
        </p:txBody>
      </p:sp>
      <p:sp>
        <p:nvSpPr>
          <p:cNvPr id="22" name="Shape 20"/>
          <p:cNvSpPr/>
          <p:nvPr/>
        </p:nvSpPr>
        <p:spPr>
          <a:xfrm>
            <a:off x="7315200" y="2825496"/>
            <a:ext cx="4206240" cy="658368"/>
          </a:xfrm>
          <a:prstGeom prst="rect">
            <a:avLst/>
          </a:prstGeom>
          <a:solidFill>
            <a:srgbClr val="F5F9FB"/>
          </a:solidFill>
          <a:ln w="9525">
            <a:solidFill>
              <a:srgbClr val="E3EBF0"/>
            </a:solidFill>
            <a:prstDash val="solid"/>
          </a:ln>
        </p:spPr>
        <p:txBody>
          <a:bodyPr/>
          <a:lstStyle/>
          <a:p>
            <a:endParaRPr lang="en-US"/>
          </a:p>
        </p:txBody>
      </p:sp>
      <p:sp>
        <p:nvSpPr>
          <p:cNvPr id="23" name="Text 21"/>
          <p:cNvSpPr/>
          <p:nvPr/>
        </p:nvSpPr>
        <p:spPr>
          <a:xfrm>
            <a:off x="7424928" y="2825496"/>
            <a:ext cx="398678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General technical documentation</a:t>
            </a:r>
            <a:endParaRPr lang="en-US" sz="1050" dirty="0"/>
          </a:p>
        </p:txBody>
      </p:sp>
      <p:sp>
        <p:nvSpPr>
          <p:cNvPr id="24" name="Shape 22"/>
          <p:cNvSpPr/>
          <p:nvPr/>
        </p:nvSpPr>
        <p:spPr>
          <a:xfrm>
            <a:off x="640080" y="3483864"/>
            <a:ext cx="1645920" cy="658368"/>
          </a:xfrm>
          <a:prstGeom prst="rect">
            <a:avLst/>
          </a:prstGeom>
          <a:solidFill>
            <a:srgbClr val="FFFFFF"/>
          </a:solidFill>
          <a:ln w="9525">
            <a:solidFill>
              <a:srgbClr val="E3EBF0"/>
            </a:solidFill>
            <a:prstDash val="solid"/>
          </a:ln>
        </p:spPr>
        <p:txBody>
          <a:bodyPr/>
          <a:lstStyle/>
          <a:p>
            <a:endParaRPr lang="en-US"/>
          </a:p>
        </p:txBody>
      </p:sp>
      <p:sp>
        <p:nvSpPr>
          <p:cNvPr id="25" name="Text 23"/>
          <p:cNvSpPr/>
          <p:nvPr/>
        </p:nvSpPr>
        <p:spPr>
          <a:xfrm>
            <a:off x="749808" y="3483864"/>
            <a:ext cx="1426464" cy="65836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25%+</a:t>
            </a:r>
            <a:endParaRPr lang="en-US" sz="1050" dirty="0"/>
          </a:p>
        </p:txBody>
      </p:sp>
      <p:sp>
        <p:nvSpPr>
          <p:cNvPr id="26" name="Shape 24"/>
          <p:cNvSpPr/>
          <p:nvPr/>
        </p:nvSpPr>
        <p:spPr>
          <a:xfrm>
            <a:off x="2286000" y="3483864"/>
            <a:ext cx="5029200" cy="658368"/>
          </a:xfrm>
          <a:prstGeom prst="rect">
            <a:avLst/>
          </a:prstGeom>
          <a:solidFill>
            <a:srgbClr val="FFFFFF"/>
          </a:solidFill>
          <a:ln w="9525">
            <a:solidFill>
              <a:srgbClr val="E3EBF0"/>
            </a:solidFill>
            <a:prstDash val="solid"/>
          </a:ln>
        </p:spPr>
        <p:txBody>
          <a:bodyPr/>
          <a:lstStyle/>
          <a:p>
            <a:endParaRPr lang="en-US"/>
          </a:p>
        </p:txBody>
      </p:sp>
      <p:sp>
        <p:nvSpPr>
          <p:cNvPr id="27" name="Text 25"/>
          <p:cNvSpPr/>
          <p:nvPr/>
        </p:nvSpPr>
        <p:spPr>
          <a:xfrm>
            <a:off x="2395728" y="3483864"/>
            <a:ext cx="480974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Strong boundary coverage, index grows substantially, duplicate results common</a:t>
            </a:r>
            <a:endParaRPr lang="en-US" sz="1050" dirty="0"/>
          </a:p>
        </p:txBody>
      </p:sp>
      <p:sp>
        <p:nvSpPr>
          <p:cNvPr id="28" name="Shape 26"/>
          <p:cNvSpPr/>
          <p:nvPr/>
        </p:nvSpPr>
        <p:spPr>
          <a:xfrm>
            <a:off x="7315200" y="3483864"/>
            <a:ext cx="4206240" cy="658368"/>
          </a:xfrm>
          <a:prstGeom prst="rect">
            <a:avLst/>
          </a:prstGeom>
          <a:solidFill>
            <a:srgbClr val="FFFFFF"/>
          </a:solidFill>
          <a:ln w="9525">
            <a:solidFill>
              <a:srgbClr val="E3EBF0"/>
            </a:solidFill>
            <a:prstDash val="solid"/>
          </a:ln>
        </p:spPr>
        <p:txBody>
          <a:bodyPr/>
          <a:lstStyle/>
          <a:p>
            <a:endParaRPr lang="en-US"/>
          </a:p>
        </p:txBody>
      </p:sp>
      <p:sp>
        <p:nvSpPr>
          <p:cNvPr id="29" name="Text 27"/>
          <p:cNvSpPr/>
          <p:nvPr/>
        </p:nvSpPr>
        <p:spPr>
          <a:xfrm>
            <a:off x="7424928" y="3483864"/>
            <a:ext cx="398678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Dense reference material with no clean structure</a:t>
            </a:r>
            <a:endParaRPr lang="en-US" sz="1050" dirty="0"/>
          </a:p>
        </p:txBody>
      </p:sp>
      <p:sp>
        <p:nvSpPr>
          <p:cNvPr id="30" name="Shape 28"/>
          <p:cNvSpPr/>
          <p:nvPr/>
        </p:nvSpPr>
        <p:spPr>
          <a:xfrm>
            <a:off x="640080" y="4206240"/>
            <a:ext cx="10881360" cy="1508760"/>
          </a:xfrm>
          <a:prstGeom prst="roundRect">
            <a:avLst>
              <a:gd name="adj" fmla="val 3636"/>
            </a:avLst>
          </a:prstGeom>
          <a:solidFill>
            <a:srgbClr val="FBEEE8"/>
          </a:solidFill>
          <a:ln w="12700">
            <a:solidFill>
              <a:srgbClr val="EBCFC2"/>
            </a:solidFill>
            <a:prstDash val="solid"/>
          </a:ln>
        </p:spPr>
        <p:txBody>
          <a:bodyPr/>
          <a:lstStyle/>
          <a:p>
            <a:endParaRPr lang="en-US"/>
          </a:p>
        </p:txBody>
      </p:sp>
      <p:sp>
        <p:nvSpPr>
          <p:cNvPr id="31" name="Text 29"/>
          <p:cNvSpPr/>
          <p:nvPr/>
        </p:nvSpPr>
        <p:spPr>
          <a:xfrm>
            <a:off x="914400" y="4370832"/>
            <a:ext cx="10332720" cy="320040"/>
          </a:xfrm>
          <a:prstGeom prst="rect">
            <a:avLst/>
          </a:prstGeom>
          <a:noFill/>
          <a:ln/>
        </p:spPr>
        <p:txBody>
          <a:bodyPr wrap="square" lIns="0" tIns="0" rIns="0" bIns="0" rtlCol="0" anchor="ctr"/>
          <a:lstStyle/>
          <a:p>
            <a:pPr marL="0" indent="0">
              <a:buNone/>
            </a:pPr>
            <a:r>
              <a:rPr lang="en-US" sz="1350" b="1" dirty="0">
                <a:solidFill>
                  <a:srgbClr val="C1440E"/>
                </a:solidFill>
                <a:latin typeface="Calibri" pitchFamily="34" charset="0"/>
                <a:ea typeface="Calibri" pitchFamily="34" charset="-122"/>
                <a:cs typeface="Calibri" pitchFamily="34" charset="-120"/>
              </a:rPr>
              <a:t>The failure this prevents — worth describing concretely</a:t>
            </a:r>
            <a:endParaRPr lang="en-US" sz="1350" dirty="0"/>
          </a:p>
        </p:txBody>
      </p:sp>
      <p:sp>
        <p:nvSpPr>
          <p:cNvPr id="32" name="Text 30"/>
          <p:cNvSpPr/>
          <p:nvPr/>
        </p:nvSpPr>
        <p:spPr>
          <a:xfrm>
            <a:off x="914400" y="4709160"/>
            <a:ext cx="10332720" cy="86868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A safety procedure reads: "1. Isolate the supply. 2. Verify zero energy. 3. Apply the lock. 4. Attach the tag." A fixed 400-token chunk boundary falls between steps 2 and 3. A query about locking out the machine retrieves the second chunk, which begins at step 3. The answer omits isolation and verification entirely — and it is fluent, confident and dangerous. Section-aware chunking prevents this; overlap mitigates it.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1 · 1.5</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Token budgeting — designing what the model sees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8</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500" b="1" i="1" dirty="0">
                <a:solidFill>
                  <a:srgbClr val="1C7293"/>
                </a:solidFill>
                <a:latin typeface="Calibri" pitchFamily="34" charset="0"/>
                <a:ea typeface="Calibri" pitchFamily="34" charset="-122"/>
                <a:cs typeface="Calibri" pitchFamily="34" charset="-120"/>
              </a:rPr>
              <a:t>Every request has a fixed budget. Spending it deliberately is an engineering decision, not an accident of what the retriever returned.</a:t>
            </a:r>
            <a:endParaRPr lang="en-US" sz="1500" dirty="0"/>
          </a:p>
        </p:txBody>
      </p:sp>
      <p:sp>
        <p:nvSpPr>
          <p:cNvPr id="6" name="Shape 4"/>
          <p:cNvSpPr/>
          <p:nvPr/>
        </p:nvSpPr>
        <p:spPr>
          <a:xfrm>
            <a:off x="640080" y="1783080"/>
            <a:ext cx="3108960" cy="384048"/>
          </a:xfrm>
          <a:prstGeom prst="rect">
            <a:avLst/>
          </a:prstGeom>
          <a:solidFill>
            <a:srgbClr val="21295C"/>
          </a:solidFill>
          <a:ln/>
        </p:spPr>
        <p:txBody>
          <a:bodyPr/>
          <a:lstStyle/>
          <a:p>
            <a:endParaRPr lang="en-US"/>
          </a:p>
        </p:txBody>
      </p:sp>
      <p:sp>
        <p:nvSpPr>
          <p:cNvPr id="7" name="Text 5"/>
          <p:cNvSpPr/>
          <p:nvPr/>
        </p:nvSpPr>
        <p:spPr>
          <a:xfrm>
            <a:off x="749808" y="1783080"/>
            <a:ext cx="28895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p>
        </p:txBody>
      </p:sp>
      <p:sp>
        <p:nvSpPr>
          <p:cNvPr id="8" name="Shape 6"/>
          <p:cNvSpPr/>
          <p:nvPr/>
        </p:nvSpPr>
        <p:spPr>
          <a:xfrm>
            <a:off x="3749040" y="1783080"/>
            <a:ext cx="2011680" cy="384048"/>
          </a:xfrm>
          <a:prstGeom prst="rect">
            <a:avLst/>
          </a:prstGeom>
          <a:solidFill>
            <a:srgbClr val="21295C"/>
          </a:solidFill>
          <a:ln/>
        </p:spPr>
        <p:txBody>
          <a:bodyPr/>
          <a:lstStyle/>
          <a:p>
            <a:endParaRPr lang="en-US"/>
          </a:p>
        </p:txBody>
      </p:sp>
      <p:sp>
        <p:nvSpPr>
          <p:cNvPr id="9" name="Text 7"/>
          <p:cNvSpPr/>
          <p:nvPr/>
        </p:nvSpPr>
        <p:spPr>
          <a:xfrm>
            <a:off x="3858768" y="1783080"/>
            <a:ext cx="17922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Typical share</a:t>
            </a:r>
            <a:endParaRPr lang="en-US" sz="1100" dirty="0"/>
          </a:p>
        </p:txBody>
      </p:sp>
      <p:sp>
        <p:nvSpPr>
          <p:cNvPr id="10" name="Shape 8"/>
          <p:cNvSpPr/>
          <p:nvPr/>
        </p:nvSpPr>
        <p:spPr>
          <a:xfrm>
            <a:off x="5760720" y="1783080"/>
            <a:ext cx="5760720" cy="384048"/>
          </a:xfrm>
          <a:prstGeom prst="rect">
            <a:avLst/>
          </a:prstGeom>
          <a:solidFill>
            <a:srgbClr val="21295C"/>
          </a:solidFill>
          <a:ln/>
        </p:spPr>
        <p:txBody>
          <a:bodyPr/>
          <a:lstStyle/>
          <a:p>
            <a:endParaRPr lang="en-US"/>
          </a:p>
        </p:txBody>
      </p:sp>
      <p:sp>
        <p:nvSpPr>
          <p:cNvPr id="11" name="Text 9"/>
          <p:cNvSpPr/>
          <p:nvPr/>
        </p:nvSpPr>
        <p:spPr>
          <a:xfrm>
            <a:off x="5870448" y="1783080"/>
            <a:ext cx="554126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How to control it</a:t>
            </a:r>
            <a:endParaRPr lang="en-US" sz="1100" dirty="0"/>
          </a:p>
        </p:txBody>
      </p:sp>
      <p:sp>
        <p:nvSpPr>
          <p:cNvPr id="12" name="Shape 10"/>
          <p:cNvSpPr/>
          <p:nvPr/>
        </p:nvSpPr>
        <p:spPr>
          <a:xfrm>
            <a:off x="640080" y="2167128"/>
            <a:ext cx="3108960" cy="548640"/>
          </a:xfrm>
          <a:prstGeom prst="rect">
            <a:avLst/>
          </a:prstGeom>
          <a:solidFill>
            <a:srgbClr val="FFFFFF"/>
          </a:solidFill>
          <a:ln w="9525">
            <a:solidFill>
              <a:srgbClr val="E3EBF0"/>
            </a:solidFill>
            <a:prstDash val="solid"/>
          </a:ln>
        </p:spPr>
        <p:txBody>
          <a:bodyPr/>
          <a:lstStyle/>
          <a:p>
            <a:endParaRPr lang="en-US"/>
          </a:p>
        </p:txBody>
      </p:sp>
      <p:sp>
        <p:nvSpPr>
          <p:cNvPr id="13" name="Text 11"/>
          <p:cNvSpPr/>
          <p:nvPr/>
        </p:nvSpPr>
        <p:spPr>
          <a:xfrm>
            <a:off x="749808" y="2167128"/>
            <a:ext cx="288950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System prompt and instructions</a:t>
            </a:r>
            <a:endParaRPr lang="en-US" sz="1050" dirty="0"/>
          </a:p>
        </p:txBody>
      </p:sp>
      <p:sp>
        <p:nvSpPr>
          <p:cNvPr id="14" name="Shape 12"/>
          <p:cNvSpPr/>
          <p:nvPr/>
        </p:nvSpPr>
        <p:spPr>
          <a:xfrm>
            <a:off x="3749040" y="2167128"/>
            <a:ext cx="2011680" cy="548640"/>
          </a:xfrm>
          <a:prstGeom prst="rect">
            <a:avLst/>
          </a:prstGeom>
          <a:solidFill>
            <a:srgbClr val="FFFFFF"/>
          </a:solidFill>
          <a:ln w="9525">
            <a:solidFill>
              <a:srgbClr val="E3EBF0"/>
            </a:solidFill>
            <a:prstDash val="solid"/>
          </a:ln>
        </p:spPr>
        <p:txBody>
          <a:bodyPr/>
          <a:lstStyle/>
          <a:p>
            <a:endParaRPr lang="en-US"/>
          </a:p>
        </p:txBody>
      </p:sp>
      <p:sp>
        <p:nvSpPr>
          <p:cNvPr id="15" name="Text 13"/>
          <p:cNvSpPr/>
          <p:nvPr/>
        </p:nvSpPr>
        <p:spPr>
          <a:xfrm>
            <a:off x="3858768" y="2167128"/>
            <a:ext cx="179222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300 – 1,000</a:t>
            </a:r>
            <a:endParaRPr lang="en-US" sz="1050" dirty="0"/>
          </a:p>
        </p:txBody>
      </p:sp>
      <p:sp>
        <p:nvSpPr>
          <p:cNvPr id="16" name="Shape 14"/>
          <p:cNvSpPr/>
          <p:nvPr/>
        </p:nvSpPr>
        <p:spPr>
          <a:xfrm>
            <a:off x="5760720" y="2167128"/>
            <a:ext cx="5760720" cy="548640"/>
          </a:xfrm>
          <a:prstGeom prst="rect">
            <a:avLst/>
          </a:prstGeom>
          <a:solidFill>
            <a:srgbClr val="FFFFFF"/>
          </a:solidFill>
          <a:ln w="9525">
            <a:solidFill>
              <a:srgbClr val="E3EBF0"/>
            </a:solidFill>
            <a:prstDash val="solid"/>
          </a:ln>
        </p:spPr>
        <p:txBody>
          <a:bodyPr/>
          <a:lstStyle/>
          <a:p>
            <a:endParaRPr lang="en-US"/>
          </a:p>
        </p:txBody>
      </p:sp>
      <p:sp>
        <p:nvSpPr>
          <p:cNvPr id="17" name="Text 15"/>
          <p:cNvSpPr/>
          <p:nvPr/>
        </p:nvSpPr>
        <p:spPr>
          <a:xfrm>
            <a:off x="5870448" y="2167128"/>
            <a:ext cx="554126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Written once, reviewed, versioned. Rarely the problem</a:t>
            </a:r>
            <a:endParaRPr lang="en-US" sz="1050" dirty="0"/>
          </a:p>
        </p:txBody>
      </p:sp>
      <p:sp>
        <p:nvSpPr>
          <p:cNvPr id="18" name="Shape 16"/>
          <p:cNvSpPr/>
          <p:nvPr/>
        </p:nvSpPr>
        <p:spPr>
          <a:xfrm>
            <a:off x="640080" y="2715768"/>
            <a:ext cx="3108960" cy="548640"/>
          </a:xfrm>
          <a:prstGeom prst="rect">
            <a:avLst/>
          </a:prstGeom>
          <a:solidFill>
            <a:srgbClr val="F5F9FB"/>
          </a:solidFill>
          <a:ln w="9525">
            <a:solidFill>
              <a:srgbClr val="E3EBF0"/>
            </a:solidFill>
            <a:prstDash val="solid"/>
          </a:ln>
        </p:spPr>
        <p:txBody>
          <a:bodyPr/>
          <a:lstStyle/>
          <a:p>
            <a:endParaRPr lang="en-US"/>
          </a:p>
        </p:txBody>
      </p:sp>
      <p:sp>
        <p:nvSpPr>
          <p:cNvPr id="19" name="Text 17"/>
          <p:cNvSpPr/>
          <p:nvPr/>
        </p:nvSpPr>
        <p:spPr>
          <a:xfrm>
            <a:off x="749808" y="2715768"/>
            <a:ext cx="288950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Tool and MCP schemas</a:t>
            </a:r>
            <a:endParaRPr lang="en-US" sz="1050" dirty="0"/>
          </a:p>
        </p:txBody>
      </p:sp>
      <p:sp>
        <p:nvSpPr>
          <p:cNvPr id="20" name="Shape 18"/>
          <p:cNvSpPr/>
          <p:nvPr/>
        </p:nvSpPr>
        <p:spPr>
          <a:xfrm>
            <a:off x="3749040" y="2715768"/>
            <a:ext cx="2011680" cy="548640"/>
          </a:xfrm>
          <a:prstGeom prst="rect">
            <a:avLst/>
          </a:prstGeom>
          <a:solidFill>
            <a:srgbClr val="F5F9FB"/>
          </a:solidFill>
          <a:ln w="9525">
            <a:solidFill>
              <a:srgbClr val="E3EBF0"/>
            </a:solidFill>
            <a:prstDash val="solid"/>
          </a:ln>
        </p:spPr>
        <p:txBody>
          <a:bodyPr/>
          <a:lstStyle/>
          <a:p>
            <a:endParaRPr lang="en-US"/>
          </a:p>
        </p:txBody>
      </p:sp>
      <p:sp>
        <p:nvSpPr>
          <p:cNvPr id="21" name="Text 19"/>
          <p:cNvSpPr/>
          <p:nvPr/>
        </p:nvSpPr>
        <p:spPr>
          <a:xfrm>
            <a:off x="3858768" y="2715768"/>
            <a:ext cx="179222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0 – 4,000</a:t>
            </a:r>
            <a:endParaRPr lang="en-US" sz="1050" dirty="0"/>
          </a:p>
        </p:txBody>
      </p:sp>
      <p:sp>
        <p:nvSpPr>
          <p:cNvPr id="22" name="Shape 20"/>
          <p:cNvSpPr/>
          <p:nvPr/>
        </p:nvSpPr>
        <p:spPr>
          <a:xfrm>
            <a:off x="5760720" y="2715768"/>
            <a:ext cx="5760720" cy="548640"/>
          </a:xfrm>
          <a:prstGeom prst="rect">
            <a:avLst/>
          </a:prstGeom>
          <a:solidFill>
            <a:srgbClr val="F5F9FB"/>
          </a:solidFill>
          <a:ln w="9525">
            <a:solidFill>
              <a:srgbClr val="E3EBF0"/>
            </a:solidFill>
            <a:prstDash val="solid"/>
          </a:ln>
        </p:spPr>
        <p:txBody>
          <a:bodyPr/>
          <a:lstStyle/>
          <a:p>
            <a:endParaRPr lang="en-US"/>
          </a:p>
        </p:txBody>
      </p:sp>
      <p:sp>
        <p:nvSpPr>
          <p:cNvPr id="23" name="Text 21"/>
          <p:cNvSpPr/>
          <p:nvPr/>
        </p:nvSpPr>
        <p:spPr>
          <a:xfrm>
            <a:off x="5870448" y="2715768"/>
            <a:ext cx="554126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Attach only tools relevant to this request; do not offer all twenty</a:t>
            </a:r>
            <a:endParaRPr lang="en-US" sz="1050" dirty="0"/>
          </a:p>
        </p:txBody>
      </p:sp>
      <p:sp>
        <p:nvSpPr>
          <p:cNvPr id="24" name="Shape 22"/>
          <p:cNvSpPr/>
          <p:nvPr/>
        </p:nvSpPr>
        <p:spPr>
          <a:xfrm>
            <a:off x="640080" y="3264408"/>
            <a:ext cx="3108960" cy="548640"/>
          </a:xfrm>
          <a:prstGeom prst="rect">
            <a:avLst/>
          </a:prstGeom>
          <a:solidFill>
            <a:srgbClr val="FFFFFF"/>
          </a:solidFill>
          <a:ln w="9525">
            <a:solidFill>
              <a:srgbClr val="E3EBF0"/>
            </a:solidFill>
            <a:prstDash val="solid"/>
          </a:ln>
        </p:spPr>
        <p:txBody>
          <a:bodyPr/>
          <a:lstStyle/>
          <a:p>
            <a:endParaRPr lang="en-US"/>
          </a:p>
        </p:txBody>
      </p:sp>
      <p:sp>
        <p:nvSpPr>
          <p:cNvPr id="25" name="Text 23"/>
          <p:cNvSpPr/>
          <p:nvPr/>
        </p:nvSpPr>
        <p:spPr>
          <a:xfrm>
            <a:off x="749808" y="3264408"/>
            <a:ext cx="288950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Retrieved passages</a:t>
            </a:r>
            <a:endParaRPr lang="en-US" sz="1050" dirty="0"/>
          </a:p>
        </p:txBody>
      </p:sp>
      <p:sp>
        <p:nvSpPr>
          <p:cNvPr id="26" name="Shape 24"/>
          <p:cNvSpPr/>
          <p:nvPr/>
        </p:nvSpPr>
        <p:spPr>
          <a:xfrm>
            <a:off x="3749040" y="3264408"/>
            <a:ext cx="2011680" cy="548640"/>
          </a:xfrm>
          <a:prstGeom prst="rect">
            <a:avLst/>
          </a:prstGeom>
          <a:solidFill>
            <a:srgbClr val="FFFFFF"/>
          </a:solidFill>
          <a:ln w="9525">
            <a:solidFill>
              <a:srgbClr val="E3EBF0"/>
            </a:solidFill>
            <a:prstDash val="solid"/>
          </a:ln>
        </p:spPr>
        <p:txBody>
          <a:bodyPr/>
          <a:lstStyle/>
          <a:p>
            <a:endParaRPr lang="en-US"/>
          </a:p>
        </p:txBody>
      </p:sp>
      <p:sp>
        <p:nvSpPr>
          <p:cNvPr id="27" name="Text 25"/>
          <p:cNvSpPr/>
          <p:nvPr/>
        </p:nvSpPr>
        <p:spPr>
          <a:xfrm>
            <a:off x="3858768" y="3264408"/>
            <a:ext cx="179222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2,000 – 10,000</a:t>
            </a:r>
            <a:endParaRPr lang="en-US" sz="1050" dirty="0"/>
          </a:p>
        </p:txBody>
      </p:sp>
      <p:sp>
        <p:nvSpPr>
          <p:cNvPr id="28" name="Shape 26"/>
          <p:cNvSpPr/>
          <p:nvPr/>
        </p:nvSpPr>
        <p:spPr>
          <a:xfrm>
            <a:off x="5760720" y="3264408"/>
            <a:ext cx="5760720" cy="548640"/>
          </a:xfrm>
          <a:prstGeom prst="rect">
            <a:avLst/>
          </a:prstGeom>
          <a:solidFill>
            <a:srgbClr val="FFFFFF"/>
          </a:solidFill>
          <a:ln w="9525">
            <a:solidFill>
              <a:srgbClr val="E3EBF0"/>
            </a:solidFill>
            <a:prstDash val="solid"/>
          </a:ln>
        </p:spPr>
        <p:txBody>
          <a:bodyPr/>
          <a:lstStyle/>
          <a:p>
            <a:endParaRPr lang="en-US"/>
          </a:p>
        </p:txBody>
      </p:sp>
      <p:sp>
        <p:nvSpPr>
          <p:cNvPr id="29" name="Text 27"/>
          <p:cNvSpPr/>
          <p:nvPr/>
        </p:nvSpPr>
        <p:spPr>
          <a:xfrm>
            <a:off x="5870448" y="3264408"/>
            <a:ext cx="554126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main lever. Rerank, then cut to the top three to five</a:t>
            </a:r>
            <a:endParaRPr lang="en-US" sz="1050" dirty="0"/>
          </a:p>
        </p:txBody>
      </p:sp>
      <p:sp>
        <p:nvSpPr>
          <p:cNvPr id="30" name="Shape 28"/>
          <p:cNvSpPr/>
          <p:nvPr/>
        </p:nvSpPr>
        <p:spPr>
          <a:xfrm>
            <a:off x="640080" y="3813048"/>
            <a:ext cx="3108960" cy="548640"/>
          </a:xfrm>
          <a:prstGeom prst="rect">
            <a:avLst/>
          </a:prstGeom>
          <a:solidFill>
            <a:srgbClr val="F5F9FB"/>
          </a:solidFill>
          <a:ln w="9525">
            <a:solidFill>
              <a:srgbClr val="E3EBF0"/>
            </a:solidFill>
            <a:prstDash val="solid"/>
          </a:ln>
        </p:spPr>
        <p:txBody>
          <a:bodyPr/>
          <a:lstStyle/>
          <a:p>
            <a:endParaRPr lang="en-US"/>
          </a:p>
        </p:txBody>
      </p:sp>
      <p:sp>
        <p:nvSpPr>
          <p:cNvPr id="31" name="Text 29"/>
          <p:cNvSpPr/>
          <p:nvPr/>
        </p:nvSpPr>
        <p:spPr>
          <a:xfrm>
            <a:off x="749808" y="3813048"/>
            <a:ext cx="288950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Conversation history</a:t>
            </a:r>
            <a:endParaRPr lang="en-US" sz="1050" dirty="0"/>
          </a:p>
        </p:txBody>
      </p:sp>
      <p:sp>
        <p:nvSpPr>
          <p:cNvPr id="32" name="Shape 30"/>
          <p:cNvSpPr/>
          <p:nvPr/>
        </p:nvSpPr>
        <p:spPr>
          <a:xfrm>
            <a:off x="3749040" y="3813048"/>
            <a:ext cx="2011680" cy="548640"/>
          </a:xfrm>
          <a:prstGeom prst="rect">
            <a:avLst/>
          </a:prstGeom>
          <a:solidFill>
            <a:srgbClr val="F5F9FB"/>
          </a:solidFill>
          <a:ln w="9525">
            <a:solidFill>
              <a:srgbClr val="E3EBF0"/>
            </a:solidFill>
            <a:prstDash val="solid"/>
          </a:ln>
        </p:spPr>
        <p:txBody>
          <a:bodyPr/>
          <a:lstStyle/>
          <a:p>
            <a:endParaRPr lang="en-US"/>
          </a:p>
        </p:txBody>
      </p:sp>
      <p:sp>
        <p:nvSpPr>
          <p:cNvPr id="33" name="Text 31"/>
          <p:cNvSpPr/>
          <p:nvPr/>
        </p:nvSpPr>
        <p:spPr>
          <a:xfrm>
            <a:off x="3858768" y="3813048"/>
            <a:ext cx="179222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0 – 5,000</a:t>
            </a:r>
            <a:endParaRPr lang="en-US" sz="1050" dirty="0"/>
          </a:p>
        </p:txBody>
      </p:sp>
      <p:sp>
        <p:nvSpPr>
          <p:cNvPr id="34" name="Shape 32"/>
          <p:cNvSpPr/>
          <p:nvPr/>
        </p:nvSpPr>
        <p:spPr>
          <a:xfrm>
            <a:off x="5760720" y="3813048"/>
            <a:ext cx="5760720" cy="548640"/>
          </a:xfrm>
          <a:prstGeom prst="rect">
            <a:avLst/>
          </a:prstGeom>
          <a:solidFill>
            <a:srgbClr val="F5F9FB"/>
          </a:solidFill>
          <a:ln w="9525">
            <a:solidFill>
              <a:srgbClr val="E3EBF0"/>
            </a:solidFill>
            <a:prstDash val="solid"/>
          </a:ln>
        </p:spPr>
        <p:txBody>
          <a:bodyPr/>
          <a:lstStyle/>
          <a:p>
            <a:endParaRPr lang="en-US"/>
          </a:p>
        </p:txBody>
      </p:sp>
      <p:sp>
        <p:nvSpPr>
          <p:cNvPr id="35" name="Text 33"/>
          <p:cNvSpPr/>
          <p:nvPr/>
        </p:nvSpPr>
        <p:spPr>
          <a:xfrm>
            <a:off x="5870448" y="3813048"/>
            <a:ext cx="554126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Summarise older turns rather than carrying them verbatim</a:t>
            </a:r>
            <a:endParaRPr lang="en-US" sz="1050" dirty="0"/>
          </a:p>
        </p:txBody>
      </p:sp>
      <p:sp>
        <p:nvSpPr>
          <p:cNvPr id="36" name="Shape 34"/>
          <p:cNvSpPr/>
          <p:nvPr/>
        </p:nvSpPr>
        <p:spPr>
          <a:xfrm>
            <a:off x="640080" y="4361688"/>
            <a:ext cx="3108960" cy="548640"/>
          </a:xfrm>
          <a:prstGeom prst="rect">
            <a:avLst/>
          </a:prstGeom>
          <a:solidFill>
            <a:srgbClr val="FFFFFF"/>
          </a:solidFill>
          <a:ln w="9525">
            <a:solidFill>
              <a:srgbClr val="E3EBF0"/>
            </a:solidFill>
            <a:prstDash val="solid"/>
          </a:ln>
        </p:spPr>
        <p:txBody>
          <a:bodyPr/>
          <a:lstStyle/>
          <a:p>
            <a:endParaRPr lang="en-US"/>
          </a:p>
        </p:txBody>
      </p:sp>
      <p:sp>
        <p:nvSpPr>
          <p:cNvPr id="37" name="Text 35"/>
          <p:cNvSpPr/>
          <p:nvPr/>
        </p:nvSpPr>
        <p:spPr>
          <a:xfrm>
            <a:off x="749808" y="4361688"/>
            <a:ext cx="288950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User question</a:t>
            </a:r>
            <a:endParaRPr lang="en-US" sz="1050" dirty="0"/>
          </a:p>
        </p:txBody>
      </p:sp>
      <p:sp>
        <p:nvSpPr>
          <p:cNvPr id="38" name="Shape 36"/>
          <p:cNvSpPr/>
          <p:nvPr/>
        </p:nvSpPr>
        <p:spPr>
          <a:xfrm>
            <a:off x="3749040" y="4361688"/>
            <a:ext cx="2011680" cy="548640"/>
          </a:xfrm>
          <a:prstGeom prst="rect">
            <a:avLst/>
          </a:prstGeom>
          <a:solidFill>
            <a:srgbClr val="FFFFFF"/>
          </a:solidFill>
          <a:ln w="9525">
            <a:solidFill>
              <a:srgbClr val="E3EBF0"/>
            </a:solidFill>
            <a:prstDash val="solid"/>
          </a:ln>
        </p:spPr>
        <p:txBody>
          <a:bodyPr/>
          <a:lstStyle/>
          <a:p>
            <a:endParaRPr lang="en-US"/>
          </a:p>
        </p:txBody>
      </p:sp>
      <p:sp>
        <p:nvSpPr>
          <p:cNvPr id="39" name="Text 37"/>
          <p:cNvSpPr/>
          <p:nvPr/>
        </p:nvSpPr>
        <p:spPr>
          <a:xfrm>
            <a:off x="3858768" y="4361688"/>
            <a:ext cx="179222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20 – 200</a:t>
            </a:r>
            <a:endParaRPr lang="en-US" sz="1050" dirty="0"/>
          </a:p>
        </p:txBody>
      </p:sp>
      <p:sp>
        <p:nvSpPr>
          <p:cNvPr id="40" name="Shape 38"/>
          <p:cNvSpPr/>
          <p:nvPr/>
        </p:nvSpPr>
        <p:spPr>
          <a:xfrm>
            <a:off x="5760720" y="4361688"/>
            <a:ext cx="5760720" cy="548640"/>
          </a:xfrm>
          <a:prstGeom prst="rect">
            <a:avLst/>
          </a:prstGeom>
          <a:solidFill>
            <a:srgbClr val="FFFFFF"/>
          </a:solidFill>
          <a:ln w="9525">
            <a:solidFill>
              <a:srgbClr val="E3EBF0"/>
            </a:solidFill>
            <a:prstDash val="solid"/>
          </a:ln>
        </p:spPr>
        <p:txBody>
          <a:bodyPr/>
          <a:lstStyle/>
          <a:p>
            <a:endParaRPr lang="en-US"/>
          </a:p>
        </p:txBody>
      </p:sp>
      <p:sp>
        <p:nvSpPr>
          <p:cNvPr id="41" name="Text 39"/>
          <p:cNvSpPr/>
          <p:nvPr/>
        </p:nvSpPr>
        <p:spPr>
          <a:xfrm>
            <a:off x="5870448" y="4361688"/>
            <a:ext cx="554126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Negligible</a:t>
            </a:r>
            <a:endParaRPr lang="en-US" sz="1050" dirty="0"/>
          </a:p>
        </p:txBody>
      </p:sp>
      <p:sp>
        <p:nvSpPr>
          <p:cNvPr id="42" name="Shape 40"/>
          <p:cNvSpPr/>
          <p:nvPr/>
        </p:nvSpPr>
        <p:spPr>
          <a:xfrm>
            <a:off x="640080" y="4910328"/>
            <a:ext cx="3108960" cy="548640"/>
          </a:xfrm>
          <a:prstGeom prst="rect">
            <a:avLst/>
          </a:prstGeom>
          <a:solidFill>
            <a:srgbClr val="F5F9FB"/>
          </a:solidFill>
          <a:ln w="9525">
            <a:solidFill>
              <a:srgbClr val="E3EBF0"/>
            </a:solidFill>
            <a:prstDash val="solid"/>
          </a:ln>
        </p:spPr>
        <p:txBody>
          <a:bodyPr/>
          <a:lstStyle/>
          <a:p>
            <a:endParaRPr lang="en-US"/>
          </a:p>
        </p:txBody>
      </p:sp>
      <p:sp>
        <p:nvSpPr>
          <p:cNvPr id="43" name="Text 41"/>
          <p:cNvSpPr/>
          <p:nvPr/>
        </p:nvSpPr>
        <p:spPr>
          <a:xfrm>
            <a:off x="749808" y="4910328"/>
            <a:ext cx="288950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Reserved for the answer</a:t>
            </a:r>
            <a:endParaRPr lang="en-US" sz="1050" dirty="0"/>
          </a:p>
        </p:txBody>
      </p:sp>
      <p:sp>
        <p:nvSpPr>
          <p:cNvPr id="44" name="Shape 42"/>
          <p:cNvSpPr/>
          <p:nvPr/>
        </p:nvSpPr>
        <p:spPr>
          <a:xfrm>
            <a:off x="3749040" y="4910328"/>
            <a:ext cx="2011680" cy="548640"/>
          </a:xfrm>
          <a:prstGeom prst="rect">
            <a:avLst/>
          </a:prstGeom>
          <a:solidFill>
            <a:srgbClr val="F5F9FB"/>
          </a:solidFill>
          <a:ln w="9525">
            <a:solidFill>
              <a:srgbClr val="E3EBF0"/>
            </a:solidFill>
            <a:prstDash val="solid"/>
          </a:ln>
        </p:spPr>
        <p:txBody>
          <a:bodyPr/>
          <a:lstStyle/>
          <a:p>
            <a:endParaRPr lang="en-US"/>
          </a:p>
        </p:txBody>
      </p:sp>
      <p:sp>
        <p:nvSpPr>
          <p:cNvPr id="45" name="Text 43"/>
          <p:cNvSpPr/>
          <p:nvPr/>
        </p:nvSpPr>
        <p:spPr>
          <a:xfrm>
            <a:off x="3858768" y="4910328"/>
            <a:ext cx="179222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500 – 2,000</a:t>
            </a:r>
            <a:endParaRPr lang="en-US" sz="1050" dirty="0"/>
          </a:p>
        </p:txBody>
      </p:sp>
      <p:sp>
        <p:nvSpPr>
          <p:cNvPr id="46" name="Shape 44"/>
          <p:cNvSpPr/>
          <p:nvPr/>
        </p:nvSpPr>
        <p:spPr>
          <a:xfrm>
            <a:off x="5760720" y="4910328"/>
            <a:ext cx="5760720" cy="548640"/>
          </a:xfrm>
          <a:prstGeom prst="rect">
            <a:avLst/>
          </a:prstGeom>
          <a:solidFill>
            <a:srgbClr val="F5F9FB"/>
          </a:solidFill>
          <a:ln w="9525">
            <a:solidFill>
              <a:srgbClr val="E3EBF0"/>
            </a:solidFill>
            <a:prstDash val="solid"/>
          </a:ln>
        </p:spPr>
        <p:txBody>
          <a:bodyPr/>
          <a:lstStyle/>
          <a:p>
            <a:endParaRPr lang="en-US"/>
          </a:p>
        </p:txBody>
      </p:sp>
      <p:sp>
        <p:nvSpPr>
          <p:cNvPr id="47" name="Text 45"/>
          <p:cNvSpPr/>
          <p:nvPr/>
        </p:nvSpPr>
        <p:spPr>
          <a:xfrm>
            <a:off x="5870448" y="4910328"/>
            <a:ext cx="554126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Must be reserved explicitly or generation truncates</a:t>
            </a:r>
            <a:endParaRPr lang="en-US" sz="1050" dirty="0"/>
          </a:p>
        </p:txBody>
      </p:sp>
      <p:sp>
        <p:nvSpPr>
          <p:cNvPr id="48" name="Shape 46"/>
          <p:cNvSpPr/>
          <p:nvPr/>
        </p:nvSpPr>
        <p:spPr>
          <a:xfrm>
            <a:off x="640080" y="5074920"/>
            <a:ext cx="10881360" cy="960120"/>
          </a:xfrm>
          <a:prstGeom prst="roundRect">
            <a:avLst>
              <a:gd name="adj" fmla="val 5714"/>
            </a:avLst>
          </a:prstGeom>
          <a:solidFill>
            <a:srgbClr val="EDF5EE"/>
          </a:solidFill>
          <a:ln w="12700">
            <a:solidFill>
              <a:srgbClr val="C2DCC8"/>
            </a:solidFill>
            <a:prstDash val="solid"/>
          </a:ln>
        </p:spPr>
        <p:txBody>
          <a:bodyPr/>
          <a:lstStyle/>
          <a:p>
            <a:endParaRPr lang="en-US"/>
          </a:p>
        </p:txBody>
      </p:sp>
      <p:sp>
        <p:nvSpPr>
          <p:cNvPr id="49" name="Text 47"/>
          <p:cNvSpPr/>
          <p:nvPr/>
        </p:nvSpPr>
        <p:spPr>
          <a:xfrm>
            <a:off x="914400" y="5239512"/>
            <a:ext cx="10332720" cy="658368"/>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The most common budgeting mistake is passing every retrieved passage. Retrieve twenty, rerank, pass four. That is cheaper, faster and measurably more accurate — three improvements from one change.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HANDS-ON · 45 MINUTES</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Lab 1 — Chunking, prompts and schemas measured</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9</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500" dirty="0">
                <a:solidFill>
                  <a:srgbClr val="1A2430"/>
                </a:solidFill>
                <a:latin typeface="Calibri" pitchFamily="34" charset="0"/>
                <a:ea typeface="Calibri" pitchFamily="34" charset="-122"/>
                <a:cs typeface="Calibri" pitchFamily="34" charset="-120"/>
              </a:rPr>
              <a:t>Take one technical document and one set of questions. Vary three things and measure cost, latency and answer quality for each.</a:t>
            </a:r>
            <a:endParaRPr lang="en-US" sz="1500" dirty="0"/>
          </a:p>
        </p:txBody>
      </p:sp>
      <p:sp>
        <p:nvSpPr>
          <p:cNvPr id="6" name="Shape 4"/>
          <p:cNvSpPr/>
          <p:nvPr/>
        </p:nvSpPr>
        <p:spPr>
          <a:xfrm>
            <a:off x="640080" y="1783080"/>
            <a:ext cx="2194560" cy="384048"/>
          </a:xfrm>
          <a:prstGeom prst="rect">
            <a:avLst/>
          </a:prstGeom>
          <a:solidFill>
            <a:srgbClr val="21295C"/>
          </a:solidFill>
          <a:ln/>
        </p:spPr>
        <p:txBody>
          <a:bodyPr/>
          <a:lstStyle/>
          <a:p>
            <a:endParaRPr lang="en-US"/>
          </a:p>
        </p:txBody>
      </p:sp>
      <p:sp>
        <p:nvSpPr>
          <p:cNvPr id="7" name="Text 5"/>
          <p:cNvSpPr/>
          <p:nvPr/>
        </p:nvSpPr>
        <p:spPr>
          <a:xfrm>
            <a:off x="749808" y="1783080"/>
            <a:ext cx="19751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Variable</a:t>
            </a:r>
            <a:endParaRPr lang="en-US" sz="1100" dirty="0"/>
          </a:p>
        </p:txBody>
      </p:sp>
      <p:sp>
        <p:nvSpPr>
          <p:cNvPr id="8" name="Shape 6"/>
          <p:cNvSpPr/>
          <p:nvPr/>
        </p:nvSpPr>
        <p:spPr>
          <a:xfrm>
            <a:off x="2834640" y="1783080"/>
            <a:ext cx="3291840" cy="384048"/>
          </a:xfrm>
          <a:prstGeom prst="rect">
            <a:avLst/>
          </a:prstGeom>
          <a:solidFill>
            <a:srgbClr val="21295C"/>
          </a:solidFill>
          <a:ln/>
        </p:spPr>
        <p:txBody>
          <a:bodyPr/>
          <a:lstStyle/>
          <a:p>
            <a:endParaRPr lang="en-US"/>
          </a:p>
        </p:txBody>
      </p:sp>
      <p:sp>
        <p:nvSpPr>
          <p:cNvPr id="9" name="Text 7"/>
          <p:cNvSpPr/>
          <p:nvPr/>
        </p:nvSpPr>
        <p:spPr>
          <a:xfrm>
            <a:off x="2944368" y="1783080"/>
            <a:ext cx="30723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Settings to compare</a:t>
            </a:r>
            <a:endParaRPr lang="en-US" sz="1100" dirty="0"/>
          </a:p>
        </p:txBody>
      </p:sp>
      <p:sp>
        <p:nvSpPr>
          <p:cNvPr id="10" name="Shape 8"/>
          <p:cNvSpPr/>
          <p:nvPr/>
        </p:nvSpPr>
        <p:spPr>
          <a:xfrm>
            <a:off x="6126480" y="1783080"/>
            <a:ext cx="5394960" cy="384048"/>
          </a:xfrm>
          <a:prstGeom prst="rect">
            <a:avLst/>
          </a:prstGeom>
          <a:solidFill>
            <a:srgbClr val="21295C"/>
          </a:solidFill>
          <a:ln/>
        </p:spPr>
        <p:txBody>
          <a:bodyPr/>
          <a:lstStyle/>
          <a:p>
            <a:endParaRPr lang="en-US"/>
          </a:p>
        </p:txBody>
      </p:sp>
      <p:sp>
        <p:nvSpPr>
          <p:cNvPr id="11" name="Text 9"/>
          <p:cNvSpPr/>
          <p:nvPr/>
        </p:nvSpPr>
        <p:spPr>
          <a:xfrm>
            <a:off x="6236208" y="1783080"/>
            <a:ext cx="51755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to record</a:t>
            </a:r>
            <a:endParaRPr lang="en-US" sz="1100" dirty="0"/>
          </a:p>
        </p:txBody>
      </p:sp>
      <p:sp>
        <p:nvSpPr>
          <p:cNvPr id="12" name="Shape 10"/>
          <p:cNvSpPr/>
          <p:nvPr/>
        </p:nvSpPr>
        <p:spPr>
          <a:xfrm>
            <a:off x="640080" y="2167128"/>
            <a:ext cx="2194560" cy="658368"/>
          </a:xfrm>
          <a:prstGeom prst="rect">
            <a:avLst/>
          </a:prstGeom>
          <a:solidFill>
            <a:srgbClr val="FFFFFF"/>
          </a:solidFill>
          <a:ln w="9525">
            <a:solidFill>
              <a:srgbClr val="E3EBF0"/>
            </a:solidFill>
            <a:prstDash val="solid"/>
          </a:ln>
        </p:spPr>
        <p:txBody>
          <a:bodyPr/>
          <a:lstStyle/>
          <a:p>
            <a:endParaRPr lang="en-US"/>
          </a:p>
        </p:txBody>
      </p:sp>
      <p:sp>
        <p:nvSpPr>
          <p:cNvPr id="13" name="Text 11"/>
          <p:cNvSpPr/>
          <p:nvPr/>
        </p:nvSpPr>
        <p:spPr>
          <a:xfrm>
            <a:off x="749808" y="2167128"/>
            <a:ext cx="1975104" cy="65836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Chunk size</a:t>
            </a:r>
            <a:endParaRPr lang="en-US" sz="1050" dirty="0"/>
          </a:p>
        </p:txBody>
      </p:sp>
      <p:sp>
        <p:nvSpPr>
          <p:cNvPr id="14" name="Shape 12"/>
          <p:cNvSpPr/>
          <p:nvPr/>
        </p:nvSpPr>
        <p:spPr>
          <a:xfrm>
            <a:off x="2834640" y="2167128"/>
            <a:ext cx="3291840" cy="658368"/>
          </a:xfrm>
          <a:prstGeom prst="rect">
            <a:avLst/>
          </a:prstGeom>
          <a:solidFill>
            <a:srgbClr val="FFFFFF"/>
          </a:solidFill>
          <a:ln w="9525">
            <a:solidFill>
              <a:srgbClr val="E3EBF0"/>
            </a:solidFill>
            <a:prstDash val="solid"/>
          </a:ln>
        </p:spPr>
        <p:txBody>
          <a:bodyPr/>
          <a:lstStyle/>
          <a:p>
            <a:endParaRPr lang="en-US"/>
          </a:p>
        </p:txBody>
      </p:sp>
      <p:sp>
        <p:nvSpPr>
          <p:cNvPr id="15" name="Text 13"/>
          <p:cNvSpPr/>
          <p:nvPr/>
        </p:nvSpPr>
        <p:spPr>
          <a:xfrm>
            <a:off x="2944368" y="2167128"/>
            <a:ext cx="307238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256, 512, 1024 tokens</a:t>
            </a:r>
            <a:endParaRPr lang="en-US" sz="1050" dirty="0"/>
          </a:p>
        </p:txBody>
      </p:sp>
      <p:sp>
        <p:nvSpPr>
          <p:cNvPr id="16" name="Shape 14"/>
          <p:cNvSpPr/>
          <p:nvPr/>
        </p:nvSpPr>
        <p:spPr>
          <a:xfrm>
            <a:off x="6126480" y="2167128"/>
            <a:ext cx="5394960" cy="658368"/>
          </a:xfrm>
          <a:prstGeom prst="rect">
            <a:avLst/>
          </a:prstGeom>
          <a:solidFill>
            <a:srgbClr val="FFFFFF"/>
          </a:solidFill>
          <a:ln w="9525">
            <a:solidFill>
              <a:srgbClr val="E3EBF0"/>
            </a:solidFill>
            <a:prstDash val="solid"/>
          </a:ln>
        </p:spPr>
        <p:txBody>
          <a:bodyPr/>
          <a:lstStyle/>
          <a:p>
            <a:endParaRPr lang="en-US"/>
          </a:p>
        </p:txBody>
      </p:sp>
      <p:sp>
        <p:nvSpPr>
          <p:cNvPr id="17" name="Text 15"/>
          <p:cNvSpPr/>
          <p:nvPr/>
        </p:nvSpPr>
        <p:spPr>
          <a:xfrm>
            <a:off x="6236208" y="2167128"/>
            <a:ext cx="517550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Retrieval hit rate, answer correctness, tokens per request</a:t>
            </a:r>
            <a:endParaRPr lang="en-US" sz="1050" dirty="0"/>
          </a:p>
        </p:txBody>
      </p:sp>
      <p:sp>
        <p:nvSpPr>
          <p:cNvPr id="18" name="Shape 16"/>
          <p:cNvSpPr/>
          <p:nvPr/>
        </p:nvSpPr>
        <p:spPr>
          <a:xfrm>
            <a:off x="640080" y="2825496"/>
            <a:ext cx="2194560" cy="658368"/>
          </a:xfrm>
          <a:prstGeom prst="rect">
            <a:avLst/>
          </a:prstGeom>
          <a:solidFill>
            <a:srgbClr val="F5F9FB"/>
          </a:solidFill>
          <a:ln w="9525">
            <a:solidFill>
              <a:srgbClr val="E3EBF0"/>
            </a:solidFill>
            <a:prstDash val="solid"/>
          </a:ln>
        </p:spPr>
        <p:txBody>
          <a:bodyPr/>
          <a:lstStyle/>
          <a:p>
            <a:endParaRPr lang="en-US"/>
          </a:p>
        </p:txBody>
      </p:sp>
      <p:sp>
        <p:nvSpPr>
          <p:cNvPr id="19" name="Text 17"/>
          <p:cNvSpPr/>
          <p:nvPr/>
        </p:nvSpPr>
        <p:spPr>
          <a:xfrm>
            <a:off x="749808" y="2825496"/>
            <a:ext cx="1975104" cy="65836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Chunk strategy</a:t>
            </a:r>
            <a:endParaRPr lang="en-US" sz="1050" dirty="0"/>
          </a:p>
        </p:txBody>
      </p:sp>
      <p:sp>
        <p:nvSpPr>
          <p:cNvPr id="20" name="Shape 18"/>
          <p:cNvSpPr/>
          <p:nvPr/>
        </p:nvSpPr>
        <p:spPr>
          <a:xfrm>
            <a:off x="2834640" y="2825496"/>
            <a:ext cx="3291840" cy="658368"/>
          </a:xfrm>
          <a:prstGeom prst="rect">
            <a:avLst/>
          </a:prstGeom>
          <a:solidFill>
            <a:srgbClr val="F5F9FB"/>
          </a:solidFill>
          <a:ln w="9525">
            <a:solidFill>
              <a:srgbClr val="E3EBF0"/>
            </a:solidFill>
            <a:prstDash val="solid"/>
          </a:ln>
        </p:spPr>
        <p:txBody>
          <a:bodyPr/>
          <a:lstStyle/>
          <a:p>
            <a:endParaRPr lang="en-US"/>
          </a:p>
        </p:txBody>
      </p:sp>
      <p:sp>
        <p:nvSpPr>
          <p:cNvPr id="21" name="Text 19"/>
          <p:cNvSpPr/>
          <p:nvPr/>
        </p:nvSpPr>
        <p:spPr>
          <a:xfrm>
            <a:off x="2944368" y="2825496"/>
            <a:ext cx="307238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Fixed size versus section-aware</a:t>
            </a:r>
            <a:endParaRPr lang="en-US" sz="1050" dirty="0"/>
          </a:p>
        </p:txBody>
      </p:sp>
      <p:sp>
        <p:nvSpPr>
          <p:cNvPr id="22" name="Shape 20"/>
          <p:cNvSpPr/>
          <p:nvPr/>
        </p:nvSpPr>
        <p:spPr>
          <a:xfrm>
            <a:off x="6126480" y="2825496"/>
            <a:ext cx="5394960" cy="658368"/>
          </a:xfrm>
          <a:prstGeom prst="rect">
            <a:avLst/>
          </a:prstGeom>
          <a:solidFill>
            <a:srgbClr val="F5F9FB"/>
          </a:solidFill>
          <a:ln w="9525">
            <a:solidFill>
              <a:srgbClr val="E3EBF0"/>
            </a:solidFill>
            <a:prstDash val="solid"/>
          </a:ln>
        </p:spPr>
        <p:txBody>
          <a:bodyPr/>
          <a:lstStyle/>
          <a:p>
            <a:endParaRPr lang="en-US"/>
          </a:p>
        </p:txBody>
      </p:sp>
      <p:sp>
        <p:nvSpPr>
          <p:cNvPr id="23" name="Text 21"/>
          <p:cNvSpPr/>
          <p:nvPr/>
        </p:nvSpPr>
        <p:spPr>
          <a:xfrm>
            <a:off x="6236208" y="2825496"/>
            <a:ext cx="517550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Whether procedures survive intact</a:t>
            </a:r>
            <a:endParaRPr lang="en-US" sz="1050" dirty="0"/>
          </a:p>
        </p:txBody>
      </p:sp>
      <p:sp>
        <p:nvSpPr>
          <p:cNvPr id="24" name="Shape 22"/>
          <p:cNvSpPr/>
          <p:nvPr/>
        </p:nvSpPr>
        <p:spPr>
          <a:xfrm>
            <a:off x="640080" y="3483864"/>
            <a:ext cx="2194560" cy="658368"/>
          </a:xfrm>
          <a:prstGeom prst="rect">
            <a:avLst/>
          </a:prstGeom>
          <a:solidFill>
            <a:srgbClr val="FFFFFF"/>
          </a:solidFill>
          <a:ln w="9525">
            <a:solidFill>
              <a:srgbClr val="E3EBF0"/>
            </a:solidFill>
            <a:prstDash val="solid"/>
          </a:ln>
        </p:spPr>
        <p:txBody>
          <a:bodyPr/>
          <a:lstStyle/>
          <a:p>
            <a:endParaRPr lang="en-US"/>
          </a:p>
        </p:txBody>
      </p:sp>
      <p:sp>
        <p:nvSpPr>
          <p:cNvPr id="25" name="Text 23"/>
          <p:cNvSpPr/>
          <p:nvPr/>
        </p:nvSpPr>
        <p:spPr>
          <a:xfrm>
            <a:off x="749808" y="3483864"/>
            <a:ext cx="1975104" cy="65836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Passage count</a:t>
            </a:r>
            <a:endParaRPr lang="en-US" sz="1050" dirty="0"/>
          </a:p>
        </p:txBody>
      </p:sp>
      <p:sp>
        <p:nvSpPr>
          <p:cNvPr id="26" name="Shape 24"/>
          <p:cNvSpPr/>
          <p:nvPr/>
        </p:nvSpPr>
        <p:spPr>
          <a:xfrm>
            <a:off x="2834640" y="3483864"/>
            <a:ext cx="3291840" cy="658368"/>
          </a:xfrm>
          <a:prstGeom prst="rect">
            <a:avLst/>
          </a:prstGeom>
          <a:solidFill>
            <a:srgbClr val="FFFFFF"/>
          </a:solidFill>
          <a:ln w="9525">
            <a:solidFill>
              <a:srgbClr val="E3EBF0"/>
            </a:solidFill>
            <a:prstDash val="solid"/>
          </a:ln>
        </p:spPr>
        <p:txBody>
          <a:bodyPr/>
          <a:lstStyle/>
          <a:p>
            <a:endParaRPr lang="en-US"/>
          </a:p>
        </p:txBody>
      </p:sp>
      <p:sp>
        <p:nvSpPr>
          <p:cNvPr id="27" name="Text 25"/>
          <p:cNvSpPr/>
          <p:nvPr/>
        </p:nvSpPr>
        <p:spPr>
          <a:xfrm>
            <a:off x="2944368" y="3483864"/>
            <a:ext cx="307238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Top 3, top 8, top 20</a:t>
            </a:r>
            <a:endParaRPr lang="en-US" sz="1050" dirty="0"/>
          </a:p>
        </p:txBody>
      </p:sp>
      <p:sp>
        <p:nvSpPr>
          <p:cNvPr id="28" name="Shape 26"/>
          <p:cNvSpPr/>
          <p:nvPr/>
        </p:nvSpPr>
        <p:spPr>
          <a:xfrm>
            <a:off x="6126480" y="3483864"/>
            <a:ext cx="5394960" cy="658368"/>
          </a:xfrm>
          <a:prstGeom prst="rect">
            <a:avLst/>
          </a:prstGeom>
          <a:solidFill>
            <a:srgbClr val="FFFFFF"/>
          </a:solidFill>
          <a:ln w="9525">
            <a:solidFill>
              <a:srgbClr val="E3EBF0"/>
            </a:solidFill>
            <a:prstDash val="solid"/>
          </a:ln>
        </p:spPr>
        <p:txBody>
          <a:bodyPr/>
          <a:lstStyle/>
          <a:p>
            <a:endParaRPr lang="en-US"/>
          </a:p>
        </p:txBody>
      </p:sp>
      <p:sp>
        <p:nvSpPr>
          <p:cNvPr id="29" name="Text 27"/>
          <p:cNvSpPr/>
          <p:nvPr/>
        </p:nvSpPr>
        <p:spPr>
          <a:xfrm>
            <a:off x="6236208" y="3483864"/>
            <a:ext cx="517550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Answer quality against cost and latency</a:t>
            </a:r>
            <a:endParaRPr lang="en-US" sz="1050" dirty="0"/>
          </a:p>
        </p:txBody>
      </p:sp>
      <p:sp>
        <p:nvSpPr>
          <p:cNvPr id="30" name="Shape 28"/>
          <p:cNvSpPr/>
          <p:nvPr/>
        </p:nvSpPr>
        <p:spPr>
          <a:xfrm>
            <a:off x="640080" y="4142232"/>
            <a:ext cx="2194560" cy="658368"/>
          </a:xfrm>
          <a:prstGeom prst="rect">
            <a:avLst/>
          </a:prstGeom>
          <a:solidFill>
            <a:srgbClr val="F5F9FB"/>
          </a:solidFill>
          <a:ln w="9525">
            <a:solidFill>
              <a:srgbClr val="E3EBF0"/>
            </a:solidFill>
            <a:prstDash val="solid"/>
          </a:ln>
        </p:spPr>
        <p:txBody>
          <a:bodyPr/>
          <a:lstStyle/>
          <a:p>
            <a:endParaRPr lang="en-US"/>
          </a:p>
        </p:txBody>
      </p:sp>
      <p:sp>
        <p:nvSpPr>
          <p:cNvPr id="31" name="Text 29"/>
          <p:cNvSpPr/>
          <p:nvPr/>
        </p:nvSpPr>
        <p:spPr>
          <a:xfrm>
            <a:off x="749808" y="4142232"/>
            <a:ext cx="1975104" cy="65836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Tool schemas</a:t>
            </a:r>
            <a:endParaRPr lang="en-US" sz="1050" dirty="0"/>
          </a:p>
        </p:txBody>
      </p:sp>
      <p:sp>
        <p:nvSpPr>
          <p:cNvPr id="32" name="Shape 30"/>
          <p:cNvSpPr/>
          <p:nvPr/>
        </p:nvSpPr>
        <p:spPr>
          <a:xfrm>
            <a:off x="2834640" y="4142232"/>
            <a:ext cx="3291840" cy="658368"/>
          </a:xfrm>
          <a:prstGeom prst="rect">
            <a:avLst/>
          </a:prstGeom>
          <a:solidFill>
            <a:srgbClr val="F5F9FB"/>
          </a:solidFill>
          <a:ln w="9525">
            <a:solidFill>
              <a:srgbClr val="E3EBF0"/>
            </a:solidFill>
            <a:prstDash val="solid"/>
          </a:ln>
        </p:spPr>
        <p:txBody>
          <a:bodyPr/>
          <a:lstStyle/>
          <a:p>
            <a:endParaRPr lang="en-US"/>
          </a:p>
        </p:txBody>
      </p:sp>
      <p:sp>
        <p:nvSpPr>
          <p:cNvPr id="33" name="Text 31"/>
          <p:cNvSpPr/>
          <p:nvPr/>
        </p:nvSpPr>
        <p:spPr>
          <a:xfrm>
            <a:off x="2944368" y="4142232"/>
            <a:ext cx="307238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None, three tools, twelve tools</a:t>
            </a:r>
            <a:endParaRPr lang="en-US" sz="1050" dirty="0"/>
          </a:p>
        </p:txBody>
      </p:sp>
      <p:sp>
        <p:nvSpPr>
          <p:cNvPr id="34" name="Shape 32"/>
          <p:cNvSpPr/>
          <p:nvPr/>
        </p:nvSpPr>
        <p:spPr>
          <a:xfrm>
            <a:off x="6126480" y="4142232"/>
            <a:ext cx="5394960" cy="658368"/>
          </a:xfrm>
          <a:prstGeom prst="rect">
            <a:avLst/>
          </a:prstGeom>
          <a:solidFill>
            <a:srgbClr val="F5F9FB"/>
          </a:solidFill>
          <a:ln w="9525">
            <a:solidFill>
              <a:srgbClr val="E3EBF0"/>
            </a:solidFill>
            <a:prstDash val="solid"/>
          </a:ln>
        </p:spPr>
        <p:txBody>
          <a:bodyPr/>
          <a:lstStyle/>
          <a:p>
            <a:endParaRPr lang="en-US"/>
          </a:p>
        </p:txBody>
      </p:sp>
      <p:sp>
        <p:nvSpPr>
          <p:cNvPr id="35" name="Text 33"/>
          <p:cNvSpPr/>
          <p:nvPr/>
        </p:nvSpPr>
        <p:spPr>
          <a:xfrm>
            <a:off x="6236208" y="4142232"/>
            <a:ext cx="517550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Token overhead per request before any work is done</a:t>
            </a:r>
            <a:endParaRPr lang="en-US" sz="1050" dirty="0"/>
          </a:p>
        </p:txBody>
      </p:sp>
      <p:sp>
        <p:nvSpPr>
          <p:cNvPr id="36" name="Text 34"/>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C7293"/>
                </a:solidFill>
                <a:latin typeface="Calibri" pitchFamily="34" charset="0"/>
                <a:ea typeface="Calibri" pitchFamily="34" charset="-122"/>
                <a:cs typeface="Calibri" pitchFamily="34" charset="-120"/>
              </a:rPr>
              <a:t>Expected finding: top-20 costs three times top-5 and frequently answers worse. Teams need to see this on their own data to believe it.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22960" y="2194560"/>
            <a:ext cx="10058400" cy="365760"/>
          </a:xfrm>
          <a:prstGeom prst="rect">
            <a:avLst/>
          </a:prstGeom>
          <a:noFill/>
          <a:ln/>
        </p:spPr>
        <p:txBody>
          <a:bodyPr wrap="square" rtlCol="0" anchor="ctr"/>
          <a:lstStyle/>
          <a:p>
            <a:pPr marL="0" indent="0">
              <a:buNone/>
            </a:pPr>
            <a:r>
              <a:rPr lang="en-US" sz="1200" b="1" kern="0" spc="300" dirty="0">
                <a:solidFill>
                  <a:srgbClr val="9FD0E3"/>
                </a:solidFill>
                <a:latin typeface="Calibri" pitchFamily="34" charset="0"/>
                <a:ea typeface="Calibri" pitchFamily="34" charset="-122"/>
                <a:cs typeface="Calibri" pitchFamily="34" charset="-120"/>
              </a:rPr>
              <a:t>MODULE 2</a:t>
            </a:r>
            <a:endParaRPr lang="en-US" sz="1200" dirty="0"/>
          </a:p>
        </p:txBody>
      </p:sp>
      <p:sp>
        <p:nvSpPr>
          <p:cNvPr id="3" name="Text 1"/>
          <p:cNvSpPr/>
          <p:nvPr/>
        </p:nvSpPr>
        <p:spPr>
          <a:xfrm>
            <a:off x="822960" y="2606040"/>
            <a:ext cx="10241280" cy="10972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Document Ingestion for Industrial RAG</a:t>
            </a:r>
            <a:endParaRPr lang="en-US" sz="3400" dirty="0"/>
          </a:p>
        </p:txBody>
      </p:sp>
      <p:sp>
        <p:nvSpPr>
          <p:cNvPr id="4" name="Text 2"/>
          <p:cNvSpPr/>
          <p:nvPr/>
        </p:nvSpPr>
        <p:spPr>
          <a:xfrm>
            <a:off x="822960" y="3794760"/>
            <a:ext cx="9692640" cy="822960"/>
          </a:xfrm>
          <a:prstGeom prst="rect">
            <a:avLst/>
          </a:prstGeom>
          <a:noFill/>
          <a:ln/>
        </p:spPr>
        <p:txBody>
          <a:bodyPr wrap="square" rtlCol="0" anchor="ctr"/>
          <a:lstStyle/>
          <a:p>
            <a:pPr marL="0" indent="0">
              <a:lnSpc>
                <a:spcPts val="2100"/>
              </a:lnSpc>
              <a:buNone/>
            </a:pPr>
            <a:r>
              <a:rPr lang="en-US" sz="1500" dirty="0">
                <a:solidFill>
                  <a:srgbClr val="D5E8F0"/>
                </a:solidFill>
                <a:latin typeface="Calibri" pitchFamily="34" charset="0"/>
                <a:ea typeface="Calibri" pitchFamily="34" charset="-122"/>
                <a:cs typeface="Calibri" pitchFamily="34" charset="-120"/>
              </a:rPr>
              <a:t>Technical documentation is not prose. Getting it in without destroying its structure is where most of the quality is won or lost.</a:t>
            </a:r>
            <a:endParaRPr lang="en-US" sz="1500" dirty="0"/>
          </a:p>
        </p:txBody>
      </p:sp>
      <p:sp>
        <p:nvSpPr>
          <p:cNvPr id="5" name="Text 3"/>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2 · 2.1</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Why industrial documents break naive extraction</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11</a:t>
            </a:r>
            <a:endParaRPr lang="en-US" sz="1000" dirty="0"/>
          </a:p>
        </p:txBody>
      </p:sp>
      <p:sp>
        <p:nvSpPr>
          <p:cNvPr id="5" name="Shape 3"/>
          <p:cNvSpPr/>
          <p:nvPr/>
        </p:nvSpPr>
        <p:spPr>
          <a:xfrm>
            <a:off x="640080" y="1280160"/>
            <a:ext cx="3474720" cy="1965960"/>
          </a:xfrm>
          <a:prstGeom prst="roundRect">
            <a:avLst>
              <a:gd name="adj" fmla="val 2791"/>
            </a:avLst>
          </a:prstGeom>
          <a:solidFill>
            <a:srgbClr val="EEF3F7"/>
          </a:solidFill>
          <a:ln w="12700">
            <a:solidFill>
              <a:srgbClr val="D8E4EC"/>
            </a:solidFill>
            <a:prstDash val="solid"/>
          </a:ln>
        </p:spPr>
        <p:txBody>
          <a:bodyPr/>
          <a:lstStyle/>
          <a:p>
            <a:endParaRPr lang="en-US"/>
          </a:p>
        </p:txBody>
      </p:sp>
      <p:sp>
        <p:nvSpPr>
          <p:cNvPr id="6" name="Text 4"/>
          <p:cNvSpPr/>
          <p:nvPr/>
        </p:nvSpPr>
        <p:spPr>
          <a:xfrm>
            <a:off x="841248" y="1417320"/>
            <a:ext cx="3072384" cy="347472"/>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Tables</a:t>
            </a:r>
            <a:endParaRPr lang="en-US" sz="1400" dirty="0"/>
          </a:p>
        </p:txBody>
      </p:sp>
      <p:sp>
        <p:nvSpPr>
          <p:cNvPr id="7" name="Text 5"/>
          <p:cNvSpPr/>
          <p:nvPr/>
        </p:nvSpPr>
        <p:spPr>
          <a:xfrm>
            <a:off x="841248" y="1783080"/>
            <a:ext cx="3072384" cy="13075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Torque values, part numbers, tolerances, compatibility matrices. Naive extraction returns column text as a run-on sentence, and the row-to-value relationship is destroyed.</a:t>
            </a:r>
            <a:endParaRPr lang="en-US" sz="1150" dirty="0"/>
          </a:p>
        </p:txBody>
      </p:sp>
      <p:sp>
        <p:nvSpPr>
          <p:cNvPr id="8" name="Shape 6"/>
          <p:cNvSpPr/>
          <p:nvPr/>
        </p:nvSpPr>
        <p:spPr>
          <a:xfrm>
            <a:off x="4343400" y="1280160"/>
            <a:ext cx="3474720" cy="1965960"/>
          </a:xfrm>
          <a:prstGeom prst="roundRect">
            <a:avLst>
              <a:gd name="adj" fmla="val 2791"/>
            </a:avLst>
          </a:prstGeom>
          <a:solidFill>
            <a:srgbClr val="EEF3F7"/>
          </a:solidFill>
          <a:ln w="12700">
            <a:solidFill>
              <a:srgbClr val="D8E4EC"/>
            </a:solidFill>
            <a:prstDash val="solid"/>
          </a:ln>
        </p:spPr>
        <p:txBody>
          <a:bodyPr/>
          <a:lstStyle/>
          <a:p>
            <a:endParaRPr lang="en-US"/>
          </a:p>
        </p:txBody>
      </p:sp>
      <p:sp>
        <p:nvSpPr>
          <p:cNvPr id="9" name="Text 7"/>
          <p:cNvSpPr/>
          <p:nvPr/>
        </p:nvSpPr>
        <p:spPr>
          <a:xfrm>
            <a:off x="4544568" y="1417320"/>
            <a:ext cx="3072384" cy="347472"/>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Multi-column layout</a:t>
            </a:r>
            <a:endParaRPr lang="en-US" sz="1400" dirty="0"/>
          </a:p>
        </p:txBody>
      </p:sp>
      <p:sp>
        <p:nvSpPr>
          <p:cNvPr id="10" name="Text 8"/>
          <p:cNvSpPr/>
          <p:nvPr/>
        </p:nvSpPr>
        <p:spPr>
          <a:xfrm>
            <a:off x="4544568" y="1783080"/>
            <a:ext cx="3072384" cy="13075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Text extracted in the wrong reading order interleaves two unrelated columns into one incoherent passage.</a:t>
            </a:r>
            <a:endParaRPr lang="en-US" sz="1150" dirty="0"/>
          </a:p>
        </p:txBody>
      </p:sp>
      <p:sp>
        <p:nvSpPr>
          <p:cNvPr id="11" name="Shape 9"/>
          <p:cNvSpPr/>
          <p:nvPr/>
        </p:nvSpPr>
        <p:spPr>
          <a:xfrm>
            <a:off x="8046720" y="1280160"/>
            <a:ext cx="3474720" cy="1965960"/>
          </a:xfrm>
          <a:prstGeom prst="roundRect">
            <a:avLst>
              <a:gd name="adj" fmla="val 2791"/>
            </a:avLst>
          </a:prstGeom>
          <a:solidFill>
            <a:srgbClr val="EEF3F7"/>
          </a:solidFill>
          <a:ln w="12700">
            <a:solidFill>
              <a:srgbClr val="D8E4EC"/>
            </a:solidFill>
            <a:prstDash val="solid"/>
          </a:ln>
        </p:spPr>
        <p:txBody>
          <a:bodyPr/>
          <a:lstStyle/>
          <a:p>
            <a:endParaRPr lang="en-US"/>
          </a:p>
        </p:txBody>
      </p:sp>
      <p:sp>
        <p:nvSpPr>
          <p:cNvPr id="12" name="Text 10"/>
          <p:cNvSpPr/>
          <p:nvPr/>
        </p:nvSpPr>
        <p:spPr>
          <a:xfrm>
            <a:off x="8247888" y="1417320"/>
            <a:ext cx="3072384" cy="347472"/>
          </a:xfrm>
          <a:prstGeom prst="rect">
            <a:avLst/>
          </a:prstGeom>
          <a:noFill/>
          <a:ln/>
        </p:spPr>
        <p:txBody>
          <a:bodyPr wrap="square" lIns="0" tIns="0" rIns="0" bIns="0"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Figures and diagrams</a:t>
            </a:r>
            <a:endParaRPr lang="en-US" sz="1400" dirty="0"/>
          </a:p>
        </p:txBody>
      </p:sp>
      <p:sp>
        <p:nvSpPr>
          <p:cNvPr id="13" name="Text 11"/>
          <p:cNvSpPr/>
          <p:nvPr/>
        </p:nvSpPr>
        <p:spPr>
          <a:xfrm>
            <a:off x="8247888" y="1783080"/>
            <a:ext cx="3072384" cy="13075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Exploded views, wiring schematics and callout numbers carry meaning that plain text extraction discards entirely.</a:t>
            </a:r>
            <a:endParaRPr lang="en-US" sz="1150" dirty="0"/>
          </a:p>
        </p:txBody>
      </p:sp>
      <p:sp>
        <p:nvSpPr>
          <p:cNvPr id="14" name="Shape 12"/>
          <p:cNvSpPr/>
          <p:nvPr/>
        </p:nvSpPr>
        <p:spPr>
          <a:xfrm>
            <a:off x="640080" y="3520440"/>
            <a:ext cx="3474720" cy="1965960"/>
          </a:xfrm>
          <a:prstGeom prst="roundRect">
            <a:avLst>
              <a:gd name="adj" fmla="val 2791"/>
            </a:avLst>
          </a:prstGeom>
          <a:solidFill>
            <a:srgbClr val="EEF3F7"/>
          </a:solidFill>
          <a:ln w="12700">
            <a:solidFill>
              <a:srgbClr val="D8E4EC"/>
            </a:solidFill>
            <a:prstDash val="solid"/>
          </a:ln>
        </p:spPr>
        <p:txBody>
          <a:bodyPr/>
          <a:lstStyle/>
          <a:p>
            <a:endParaRPr lang="en-US"/>
          </a:p>
        </p:txBody>
      </p:sp>
      <p:sp>
        <p:nvSpPr>
          <p:cNvPr id="15" name="Text 13"/>
          <p:cNvSpPr/>
          <p:nvPr/>
        </p:nvSpPr>
        <p:spPr>
          <a:xfrm>
            <a:off x="841248" y="3657600"/>
            <a:ext cx="3072384" cy="347472"/>
          </a:xfrm>
          <a:prstGeom prst="rect">
            <a:avLst/>
          </a:prstGeom>
          <a:noFill/>
          <a:ln/>
        </p:spPr>
        <p:txBody>
          <a:bodyPr wrap="square" lIns="0" tIns="0" rIns="0" bIns="0" rtlCol="0" anchor="ctr"/>
          <a:lstStyle/>
          <a:p>
            <a:pPr marL="0" indent="0">
              <a:buNone/>
            </a:pPr>
            <a:r>
              <a:rPr lang="en-US" sz="1400" b="1" dirty="0">
                <a:solidFill>
                  <a:srgbClr val="C1440E"/>
                </a:solidFill>
                <a:latin typeface="Calibri" pitchFamily="34" charset="0"/>
                <a:ea typeface="Calibri" pitchFamily="34" charset="-122"/>
                <a:cs typeface="Calibri" pitchFamily="34" charset="-120"/>
              </a:rPr>
              <a:t>Headers and footers</a:t>
            </a:r>
            <a:endParaRPr lang="en-US" sz="1400" dirty="0"/>
          </a:p>
        </p:txBody>
      </p:sp>
      <p:sp>
        <p:nvSpPr>
          <p:cNvPr id="16" name="Text 14"/>
          <p:cNvSpPr/>
          <p:nvPr/>
        </p:nvSpPr>
        <p:spPr>
          <a:xfrm>
            <a:off x="841248" y="4023360"/>
            <a:ext cx="3072384" cy="13075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Repeated on every page. Left in, they pollute every chunk and dilute embeddings with boilerplate.</a:t>
            </a:r>
            <a:endParaRPr lang="en-US" sz="1150" dirty="0"/>
          </a:p>
        </p:txBody>
      </p:sp>
      <p:sp>
        <p:nvSpPr>
          <p:cNvPr id="17" name="Shape 15"/>
          <p:cNvSpPr/>
          <p:nvPr/>
        </p:nvSpPr>
        <p:spPr>
          <a:xfrm>
            <a:off x="4343400" y="3520440"/>
            <a:ext cx="3474720" cy="1965960"/>
          </a:xfrm>
          <a:prstGeom prst="roundRect">
            <a:avLst>
              <a:gd name="adj" fmla="val 2791"/>
            </a:avLst>
          </a:prstGeom>
          <a:solidFill>
            <a:srgbClr val="EEF3F7"/>
          </a:solidFill>
          <a:ln w="12700">
            <a:solidFill>
              <a:srgbClr val="D8E4EC"/>
            </a:solidFill>
            <a:prstDash val="solid"/>
          </a:ln>
        </p:spPr>
        <p:txBody>
          <a:bodyPr/>
          <a:lstStyle/>
          <a:p>
            <a:endParaRPr lang="en-US"/>
          </a:p>
        </p:txBody>
      </p:sp>
      <p:sp>
        <p:nvSpPr>
          <p:cNvPr id="18" name="Text 16"/>
          <p:cNvSpPr/>
          <p:nvPr/>
        </p:nvSpPr>
        <p:spPr>
          <a:xfrm>
            <a:off x="4544568" y="3657600"/>
            <a:ext cx="3072384" cy="347472"/>
          </a:xfrm>
          <a:prstGeom prst="rect">
            <a:avLst/>
          </a:prstGeom>
          <a:noFill/>
          <a:ln/>
        </p:spPr>
        <p:txBody>
          <a:bodyPr wrap="square" lIns="0" tIns="0" rIns="0" bIns="0" rtlCol="0" anchor="ctr"/>
          <a:lstStyle/>
          <a:p>
            <a:pPr marL="0" indent="0">
              <a:buNone/>
            </a:pPr>
            <a:r>
              <a:rPr lang="en-US" sz="1400" b="1" dirty="0">
                <a:solidFill>
                  <a:srgbClr val="6B3A5B"/>
                </a:solidFill>
                <a:latin typeface="Calibri" pitchFamily="34" charset="0"/>
                <a:ea typeface="Calibri" pitchFamily="34" charset="-122"/>
                <a:cs typeface="Calibri" pitchFamily="34" charset="-120"/>
              </a:rPr>
              <a:t>Numbered procedures</a:t>
            </a:r>
            <a:endParaRPr lang="en-US" sz="1400" dirty="0"/>
          </a:p>
        </p:txBody>
      </p:sp>
      <p:sp>
        <p:nvSpPr>
          <p:cNvPr id="19" name="Text 17"/>
          <p:cNvSpPr/>
          <p:nvPr/>
        </p:nvSpPr>
        <p:spPr>
          <a:xfrm>
            <a:off x="4544568" y="4023360"/>
            <a:ext cx="3072384" cy="13075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Step numbering and hierarchy are structural. Flattened, the sequence is lost and steps become independent statements.</a:t>
            </a:r>
            <a:endParaRPr lang="en-US" sz="1150" dirty="0"/>
          </a:p>
        </p:txBody>
      </p:sp>
      <p:sp>
        <p:nvSpPr>
          <p:cNvPr id="20" name="Shape 18"/>
          <p:cNvSpPr/>
          <p:nvPr/>
        </p:nvSpPr>
        <p:spPr>
          <a:xfrm>
            <a:off x="8046720" y="3520440"/>
            <a:ext cx="3474720" cy="1965960"/>
          </a:xfrm>
          <a:prstGeom prst="roundRect">
            <a:avLst>
              <a:gd name="adj" fmla="val 2791"/>
            </a:avLst>
          </a:prstGeom>
          <a:solidFill>
            <a:srgbClr val="EEF3F7"/>
          </a:solidFill>
          <a:ln w="12700">
            <a:solidFill>
              <a:srgbClr val="D8E4EC"/>
            </a:solidFill>
            <a:prstDash val="solid"/>
          </a:ln>
        </p:spPr>
        <p:txBody>
          <a:bodyPr/>
          <a:lstStyle/>
          <a:p>
            <a:endParaRPr lang="en-US"/>
          </a:p>
        </p:txBody>
      </p:sp>
      <p:sp>
        <p:nvSpPr>
          <p:cNvPr id="21" name="Text 19"/>
          <p:cNvSpPr/>
          <p:nvPr/>
        </p:nvSpPr>
        <p:spPr>
          <a:xfrm>
            <a:off x="8247888" y="3657600"/>
            <a:ext cx="3072384" cy="347472"/>
          </a:xfrm>
          <a:prstGeom prst="rect">
            <a:avLst/>
          </a:prstGeom>
          <a:noFill/>
          <a:ln/>
        </p:spPr>
        <p:txBody>
          <a:bodyPr wrap="square" lIns="0" tIns="0" rIns="0" bIns="0" rtlCol="0" anchor="ctr"/>
          <a:lstStyle/>
          <a:p>
            <a:pPr marL="0" indent="0">
              <a:buNone/>
            </a:pPr>
            <a:r>
              <a:rPr lang="en-US" sz="1400" b="1" dirty="0">
                <a:solidFill>
                  <a:srgbClr val="1E7A3C"/>
                </a:solidFill>
                <a:latin typeface="Calibri" pitchFamily="34" charset="0"/>
                <a:ea typeface="Calibri" pitchFamily="34" charset="-122"/>
                <a:cs typeface="Calibri" pitchFamily="34" charset="-120"/>
              </a:rPr>
              <a:t>Scanned pages</a:t>
            </a:r>
            <a:endParaRPr lang="en-US" sz="1400" dirty="0"/>
          </a:p>
        </p:txBody>
      </p:sp>
      <p:sp>
        <p:nvSpPr>
          <p:cNvPr id="22" name="Text 20"/>
          <p:cNvSpPr/>
          <p:nvPr/>
        </p:nvSpPr>
        <p:spPr>
          <a:xfrm>
            <a:off x="8247888" y="4023360"/>
            <a:ext cx="3072384" cy="13075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Older manuals are images. Without OCR they contribute nothing, and their absence is silent — no error is raised.</a:t>
            </a:r>
            <a:endParaRPr lang="en-US" sz="1150" dirty="0"/>
          </a:p>
        </p:txBody>
      </p:sp>
      <p:sp>
        <p:nvSpPr>
          <p:cNvPr id="23" name="Text 21"/>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C1440E"/>
                </a:solidFill>
                <a:latin typeface="Calibri" pitchFamily="34" charset="0"/>
                <a:ea typeface="Calibri" pitchFamily="34" charset="-122"/>
                <a:cs typeface="Calibri" pitchFamily="34" charset="-120"/>
              </a:rPr>
              <a:t>Every one of these produces a chunk that looks fine in a database and answers wrongly in production.</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2 · 2.2</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Four levels of extraction</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12</a:t>
            </a:r>
            <a:endParaRPr lang="en-US" sz="1000" dirty="0"/>
          </a:p>
        </p:txBody>
      </p:sp>
      <p:sp>
        <p:nvSpPr>
          <p:cNvPr id="5" name="Shape 3"/>
          <p:cNvSpPr/>
          <p:nvPr/>
        </p:nvSpPr>
        <p:spPr>
          <a:xfrm>
            <a:off x="640080" y="1234440"/>
            <a:ext cx="2103120" cy="384048"/>
          </a:xfrm>
          <a:prstGeom prst="rect">
            <a:avLst/>
          </a:prstGeom>
          <a:solidFill>
            <a:srgbClr val="21295C"/>
          </a:solidFill>
          <a:ln/>
        </p:spPr>
        <p:txBody>
          <a:bodyPr/>
          <a:lstStyle/>
          <a:p>
            <a:endParaRPr lang="en-US"/>
          </a:p>
        </p:txBody>
      </p:sp>
      <p:sp>
        <p:nvSpPr>
          <p:cNvPr id="6" name="Text 4"/>
          <p:cNvSpPr/>
          <p:nvPr/>
        </p:nvSpPr>
        <p:spPr>
          <a:xfrm>
            <a:off x="749808" y="1234440"/>
            <a:ext cx="188366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Level</a:t>
            </a:r>
            <a:endParaRPr lang="en-US" sz="1100" dirty="0"/>
          </a:p>
        </p:txBody>
      </p:sp>
      <p:sp>
        <p:nvSpPr>
          <p:cNvPr id="7" name="Shape 5"/>
          <p:cNvSpPr/>
          <p:nvPr/>
        </p:nvSpPr>
        <p:spPr>
          <a:xfrm>
            <a:off x="2743200" y="1234440"/>
            <a:ext cx="3291840" cy="384048"/>
          </a:xfrm>
          <a:prstGeom prst="rect">
            <a:avLst/>
          </a:prstGeom>
          <a:solidFill>
            <a:srgbClr val="21295C"/>
          </a:solidFill>
          <a:ln/>
        </p:spPr>
        <p:txBody>
          <a:bodyPr/>
          <a:lstStyle/>
          <a:p>
            <a:endParaRPr lang="en-US"/>
          </a:p>
        </p:txBody>
      </p:sp>
      <p:sp>
        <p:nvSpPr>
          <p:cNvPr id="8" name="Text 6"/>
          <p:cNvSpPr/>
          <p:nvPr/>
        </p:nvSpPr>
        <p:spPr>
          <a:xfrm>
            <a:off x="2852928" y="1234440"/>
            <a:ext cx="30723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Method</a:t>
            </a:r>
            <a:endParaRPr lang="en-US" sz="1100" dirty="0"/>
          </a:p>
        </p:txBody>
      </p:sp>
      <p:sp>
        <p:nvSpPr>
          <p:cNvPr id="9" name="Shape 7"/>
          <p:cNvSpPr/>
          <p:nvPr/>
        </p:nvSpPr>
        <p:spPr>
          <a:xfrm>
            <a:off x="6035040" y="1234440"/>
            <a:ext cx="2926080" cy="384048"/>
          </a:xfrm>
          <a:prstGeom prst="rect">
            <a:avLst/>
          </a:prstGeom>
          <a:solidFill>
            <a:srgbClr val="21295C"/>
          </a:solidFill>
          <a:ln/>
        </p:spPr>
        <p:txBody>
          <a:bodyPr/>
          <a:lstStyle/>
          <a:p>
            <a:endParaRPr lang="en-US"/>
          </a:p>
        </p:txBody>
      </p:sp>
      <p:sp>
        <p:nvSpPr>
          <p:cNvPr id="10" name="Text 8"/>
          <p:cNvSpPr/>
          <p:nvPr/>
        </p:nvSpPr>
        <p:spPr>
          <a:xfrm>
            <a:off x="6144768" y="1234440"/>
            <a:ext cx="27066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Preserves</a:t>
            </a:r>
            <a:endParaRPr lang="en-US" sz="1100" dirty="0"/>
          </a:p>
        </p:txBody>
      </p:sp>
      <p:sp>
        <p:nvSpPr>
          <p:cNvPr id="11" name="Shape 9"/>
          <p:cNvSpPr/>
          <p:nvPr/>
        </p:nvSpPr>
        <p:spPr>
          <a:xfrm>
            <a:off x="8961120" y="1234440"/>
            <a:ext cx="2560320" cy="384048"/>
          </a:xfrm>
          <a:prstGeom prst="rect">
            <a:avLst/>
          </a:prstGeom>
          <a:solidFill>
            <a:srgbClr val="21295C"/>
          </a:solidFill>
          <a:ln/>
        </p:spPr>
        <p:txBody>
          <a:bodyPr/>
          <a:lstStyle/>
          <a:p>
            <a:endParaRPr lang="en-US"/>
          </a:p>
        </p:txBody>
      </p:sp>
      <p:sp>
        <p:nvSpPr>
          <p:cNvPr id="12" name="Text 10"/>
          <p:cNvSpPr/>
          <p:nvPr/>
        </p:nvSpPr>
        <p:spPr>
          <a:xfrm>
            <a:off x="9070848" y="1234440"/>
            <a:ext cx="234086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Fails on</a:t>
            </a:r>
            <a:endParaRPr lang="en-US" sz="1100" dirty="0"/>
          </a:p>
        </p:txBody>
      </p:sp>
      <p:sp>
        <p:nvSpPr>
          <p:cNvPr id="13" name="Shape 11"/>
          <p:cNvSpPr/>
          <p:nvPr/>
        </p:nvSpPr>
        <p:spPr>
          <a:xfrm>
            <a:off x="640080" y="1618488"/>
            <a:ext cx="2103120" cy="713232"/>
          </a:xfrm>
          <a:prstGeom prst="rect">
            <a:avLst/>
          </a:prstGeom>
          <a:solidFill>
            <a:srgbClr val="FFFFFF"/>
          </a:solidFill>
          <a:ln w="9525">
            <a:solidFill>
              <a:srgbClr val="E3EBF0"/>
            </a:solidFill>
            <a:prstDash val="solid"/>
          </a:ln>
        </p:spPr>
        <p:txBody>
          <a:bodyPr/>
          <a:lstStyle/>
          <a:p>
            <a:endParaRPr lang="en-US"/>
          </a:p>
        </p:txBody>
      </p:sp>
      <p:sp>
        <p:nvSpPr>
          <p:cNvPr id="14" name="Text 12"/>
          <p:cNvSpPr/>
          <p:nvPr/>
        </p:nvSpPr>
        <p:spPr>
          <a:xfrm>
            <a:off x="749808" y="1618488"/>
            <a:ext cx="1883664" cy="71323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 — Naive text</a:t>
            </a:r>
            <a:endParaRPr lang="en-US" sz="1050" dirty="0"/>
          </a:p>
        </p:txBody>
      </p:sp>
      <p:sp>
        <p:nvSpPr>
          <p:cNvPr id="15" name="Shape 13"/>
          <p:cNvSpPr/>
          <p:nvPr/>
        </p:nvSpPr>
        <p:spPr>
          <a:xfrm>
            <a:off x="2743200" y="1618488"/>
            <a:ext cx="3291840" cy="713232"/>
          </a:xfrm>
          <a:prstGeom prst="rect">
            <a:avLst/>
          </a:prstGeom>
          <a:solidFill>
            <a:srgbClr val="FFFFFF"/>
          </a:solidFill>
          <a:ln w="9525">
            <a:solidFill>
              <a:srgbClr val="E3EBF0"/>
            </a:solidFill>
            <a:prstDash val="solid"/>
          </a:ln>
        </p:spPr>
        <p:txBody>
          <a:bodyPr/>
          <a:lstStyle/>
          <a:p>
            <a:endParaRPr lang="en-US"/>
          </a:p>
        </p:txBody>
      </p:sp>
      <p:sp>
        <p:nvSpPr>
          <p:cNvPr id="16" name="Text 14"/>
          <p:cNvSpPr/>
          <p:nvPr/>
        </p:nvSpPr>
        <p:spPr>
          <a:xfrm>
            <a:off x="2852928" y="1618488"/>
            <a:ext cx="3072384" cy="7132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Plain text extraction from the PDF</a:t>
            </a:r>
            <a:endParaRPr lang="en-US" sz="1050" dirty="0"/>
          </a:p>
        </p:txBody>
      </p:sp>
      <p:sp>
        <p:nvSpPr>
          <p:cNvPr id="17" name="Shape 15"/>
          <p:cNvSpPr/>
          <p:nvPr/>
        </p:nvSpPr>
        <p:spPr>
          <a:xfrm>
            <a:off x="6035040" y="1618488"/>
            <a:ext cx="2926080" cy="713232"/>
          </a:xfrm>
          <a:prstGeom prst="rect">
            <a:avLst/>
          </a:prstGeom>
          <a:solidFill>
            <a:srgbClr val="FFFFFF"/>
          </a:solidFill>
          <a:ln w="9525">
            <a:solidFill>
              <a:srgbClr val="E3EBF0"/>
            </a:solidFill>
            <a:prstDash val="solid"/>
          </a:ln>
        </p:spPr>
        <p:txBody>
          <a:bodyPr/>
          <a:lstStyle/>
          <a:p>
            <a:endParaRPr lang="en-US"/>
          </a:p>
        </p:txBody>
      </p:sp>
      <p:sp>
        <p:nvSpPr>
          <p:cNvPr id="18" name="Text 16"/>
          <p:cNvSpPr/>
          <p:nvPr/>
        </p:nvSpPr>
        <p:spPr>
          <a:xfrm>
            <a:off x="6144768" y="1618488"/>
            <a:ext cx="2706624" cy="7132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Words, roughly in order</a:t>
            </a:r>
            <a:endParaRPr lang="en-US" sz="1050" dirty="0"/>
          </a:p>
        </p:txBody>
      </p:sp>
      <p:sp>
        <p:nvSpPr>
          <p:cNvPr id="19" name="Shape 17"/>
          <p:cNvSpPr/>
          <p:nvPr/>
        </p:nvSpPr>
        <p:spPr>
          <a:xfrm>
            <a:off x="8961120" y="1618488"/>
            <a:ext cx="2560320" cy="713232"/>
          </a:xfrm>
          <a:prstGeom prst="rect">
            <a:avLst/>
          </a:prstGeom>
          <a:solidFill>
            <a:srgbClr val="FFFFFF"/>
          </a:solidFill>
          <a:ln w="9525">
            <a:solidFill>
              <a:srgbClr val="E3EBF0"/>
            </a:solidFill>
            <a:prstDash val="solid"/>
          </a:ln>
        </p:spPr>
        <p:txBody>
          <a:bodyPr/>
          <a:lstStyle/>
          <a:p>
            <a:endParaRPr lang="en-US"/>
          </a:p>
        </p:txBody>
      </p:sp>
      <p:sp>
        <p:nvSpPr>
          <p:cNvPr id="20" name="Text 18"/>
          <p:cNvSpPr/>
          <p:nvPr/>
        </p:nvSpPr>
        <p:spPr>
          <a:xfrm>
            <a:off x="9070848" y="1618488"/>
            <a:ext cx="2340864" cy="7132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Tables, columns, structure, images</a:t>
            </a:r>
            <a:endParaRPr lang="en-US" sz="1050" dirty="0"/>
          </a:p>
        </p:txBody>
      </p:sp>
      <p:sp>
        <p:nvSpPr>
          <p:cNvPr id="21" name="Shape 19"/>
          <p:cNvSpPr/>
          <p:nvPr/>
        </p:nvSpPr>
        <p:spPr>
          <a:xfrm>
            <a:off x="640080" y="2331720"/>
            <a:ext cx="2103120" cy="713232"/>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749808" y="2331720"/>
            <a:ext cx="1883664" cy="71323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2 — Layout-aware</a:t>
            </a:r>
            <a:endParaRPr lang="en-US" sz="1050" dirty="0"/>
          </a:p>
        </p:txBody>
      </p:sp>
      <p:sp>
        <p:nvSpPr>
          <p:cNvPr id="23" name="Shape 21"/>
          <p:cNvSpPr/>
          <p:nvPr/>
        </p:nvSpPr>
        <p:spPr>
          <a:xfrm>
            <a:off x="2743200" y="2331720"/>
            <a:ext cx="3291840" cy="713232"/>
          </a:xfrm>
          <a:prstGeom prst="rect">
            <a:avLst/>
          </a:prstGeom>
          <a:solidFill>
            <a:srgbClr val="F5F9FB"/>
          </a:solidFill>
          <a:ln w="9525">
            <a:solidFill>
              <a:srgbClr val="E3EBF0"/>
            </a:solidFill>
            <a:prstDash val="solid"/>
          </a:ln>
        </p:spPr>
        <p:txBody>
          <a:bodyPr/>
          <a:lstStyle/>
          <a:p>
            <a:endParaRPr lang="en-US"/>
          </a:p>
        </p:txBody>
      </p:sp>
      <p:sp>
        <p:nvSpPr>
          <p:cNvPr id="24" name="Text 22"/>
          <p:cNvSpPr/>
          <p:nvPr/>
        </p:nvSpPr>
        <p:spPr>
          <a:xfrm>
            <a:off x="2852928" y="2331720"/>
            <a:ext cx="3072384" cy="7132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Detects reading order, columns, blocks</a:t>
            </a:r>
            <a:endParaRPr lang="en-US" sz="1050" dirty="0"/>
          </a:p>
        </p:txBody>
      </p:sp>
      <p:sp>
        <p:nvSpPr>
          <p:cNvPr id="25" name="Shape 23"/>
          <p:cNvSpPr/>
          <p:nvPr/>
        </p:nvSpPr>
        <p:spPr>
          <a:xfrm>
            <a:off x="6035040" y="2331720"/>
            <a:ext cx="2926080" cy="713232"/>
          </a:xfrm>
          <a:prstGeom prst="rect">
            <a:avLst/>
          </a:prstGeom>
          <a:solidFill>
            <a:srgbClr val="F5F9FB"/>
          </a:solidFill>
          <a:ln w="9525">
            <a:solidFill>
              <a:srgbClr val="E3EBF0"/>
            </a:solidFill>
            <a:prstDash val="solid"/>
          </a:ln>
        </p:spPr>
        <p:txBody>
          <a:bodyPr/>
          <a:lstStyle/>
          <a:p>
            <a:endParaRPr lang="en-US"/>
          </a:p>
        </p:txBody>
      </p:sp>
      <p:sp>
        <p:nvSpPr>
          <p:cNvPr id="26" name="Text 24"/>
          <p:cNvSpPr/>
          <p:nvPr/>
        </p:nvSpPr>
        <p:spPr>
          <a:xfrm>
            <a:off x="6144768" y="2331720"/>
            <a:ext cx="2706624" cy="7132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Reading order, paragraph structure</a:t>
            </a:r>
            <a:endParaRPr lang="en-US" sz="1050" dirty="0"/>
          </a:p>
        </p:txBody>
      </p:sp>
      <p:sp>
        <p:nvSpPr>
          <p:cNvPr id="27" name="Shape 25"/>
          <p:cNvSpPr/>
          <p:nvPr/>
        </p:nvSpPr>
        <p:spPr>
          <a:xfrm>
            <a:off x="8961120" y="2331720"/>
            <a:ext cx="2560320" cy="713232"/>
          </a:xfrm>
          <a:prstGeom prst="rect">
            <a:avLst/>
          </a:prstGeom>
          <a:solidFill>
            <a:srgbClr val="F5F9FB"/>
          </a:solidFill>
          <a:ln w="9525">
            <a:solidFill>
              <a:srgbClr val="E3EBF0"/>
            </a:solidFill>
            <a:prstDash val="solid"/>
          </a:ln>
        </p:spPr>
        <p:txBody>
          <a:bodyPr/>
          <a:lstStyle/>
          <a:p>
            <a:endParaRPr lang="en-US"/>
          </a:p>
        </p:txBody>
      </p:sp>
      <p:sp>
        <p:nvSpPr>
          <p:cNvPr id="28" name="Text 26"/>
          <p:cNvSpPr/>
          <p:nvPr/>
        </p:nvSpPr>
        <p:spPr>
          <a:xfrm>
            <a:off x="9070848" y="2331720"/>
            <a:ext cx="2340864" cy="7132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Table semantics, figures</a:t>
            </a:r>
            <a:endParaRPr lang="en-US" sz="1050" dirty="0"/>
          </a:p>
        </p:txBody>
      </p:sp>
      <p:sp>
        <p:nvSpPr>
          <p:cNvPr id="29" name="Shape 27"/>
          <p:cNvSpPr/>
          <p:nvPr/>
        </p:nvSpPr>
        <p:spPr>
          <a:xfrm>
            <a:off x="640080" y="3044952"/>
            <a:ext cx="2103120" cy="713232"/>
          </a:xfrm>
          <a:prstGeom prst="rect">
            <a:avLst/>
          </a:prstGeom>
          <a:solidFill>
            <a:srgbClr val="FFFFFF"/>
          </a:solidFill>
          <a:ln w="9525">
            <a:solidFill>
              <a:srgbClr val="E3EBF0"/>
            </a:solidFill>
            <a:prstDash val="solid"/>
          </a:ln>
        </p:spPr>
        <p:txBody>
          <a:bodyPr/>
          <a:lstStyle/>
          <a:p>
            <a:endParaRPr lang="en-US"/>
          </a:p>
        </p:txBody>
      </p:sp>
      <p:sp>
        <p:nvSpPr>
          <p:cNvPr id="30" name="Text 28"/>
          <p:cNvSpPr/>
          <p:nvPr/>
        </p:nvSpPr>
        <p:spPr>
          <a:xfrm>
            <a:off x="749808" y="3044952"/>
            <a:ext cx="1883664" cy="71323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3 — Table-preserving</a:t>
            </a:r>
            <a:endParaRPr lang="en-US" sz="1050" dirty="0"/>
          </a:p>
        </p:txBody>
      </p:sp>
      <p:sp>
        <p:nvSpPr>
          <p:cNvPr id="31" name="Shape 29"/>
          <p:cNvSpPr/>
          <p:nvPr/>
        </p:nvSpPr>
        <p:spPr>
          <a:xfrm>
            <a:off x="2743200" y="3044952"/>
            <a:ext cx="3291840" cy="713232"/>
          </a:xfrm>
          <a:prstGeom prst="rect">
            <a:avLst/>
          </a:prstGeom>
          <a:solidFill>
            <a:srgbClr val="FFFFFF"/>
          </a:solidFill>
          <a:ln w="9525">
            <a:solidFill>
              <a:srgbClr val="E3EBF0"/>
            </a:solidFill>
            <a:prstDash val="solid"/>
          </a:ln>
        </p:spPr>
        <p:txBody>
          <a:bodyPr/>
          <a:lstStyle/>
          <a:p>
            <a:endParaRPr lang="en-US"/>
          </a:p>
        </p:txBody>
      </p:sp>
      <p:sp>
        <p:nvSpPr>
          <p:cNvPr id="32" name="Text 30"/>
          <p:cNvSpPr/>
          <p:nvPr/>
        </p:nvSpPr>
        <p:spPr>
          <a:xfrm>
            <a:off x="2852928" y="3044952"/>
            <a:ext cx="3072384" cy="7132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Extracts tables as structured rows</a:t>
            </a:r>
            <a:endParaRPr lang="en-US" sz="1050" dirty="0"/>
          </a:p>
        </p:txBody>
      </p:sp>
      <p:sp>
        <p:nvSpPr>
          <p:cNvPr id="33" name="Shape 31"/>
          <p:cNvSpPr/>
          <p:nvPr/>
        </p:nvSpPr>
        <p:spPr>
          <a:xfrm>
            <a:off x="6035040" y="3044952"/>
            <a:ext cx="2926080" cy="713232"/>
          </a:xfrm>
          <a:prstGeom prst="rect">
            <a:avLst/>
          </a:prstGeom>
          <a:solidFill>
            <a:srgbClr val="FFFFFF"/>
          </a:solidFill>
          <a:ln w="9525">
            <a:solidFill>
              <a:srgbClr val="E3EBF0"/>
            </a:solidFill>
            <a:prstDash val="solid"/>
          </a:ln>
        </p:spPr>
        <p:txBody>
          <a:bodyPr/>
          <a:lstStyle/>
          <a:p>
            <a:endParaRPr lang="en-US"/>
          </a:p>
        </p:txBody>
      </p:sp>
      <p:sp>
        <p:nvSpPr>
          <p:cNvPr id="34" name="Text 32"/>
          <p:cNvSpPr/>
          <p:nvPr/>
        </p:nvSpPr>
        <p:spPr>
          <a:xfrm>
            <a:off x="6144768" y="3044952"/>
            <a:ext cx="2706624" cy="7132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Row-to-value relationships</a:t>
            </a:r>
            <a:endParaRPr lang="en-US" sz="1050" dirty="0"/>
          </a:p>
        </p:txBody>
      </p:sp>
      <p:sp>
        <p:nvSpPr>
          <p:cNvPr id="35" name="Shape 33"/>
          <p:cNvSpPr/>
          <p:nvPr/>
        </p:nvSpPr>
        <p:spPr>
          <a:xfrm>
            <a:off x="8961120" y="3044952"/>
            <a:ext cx="2560320" cy="713232"/>
          </a:xfrm>
          <a:prstGeom prst="rect">
            <a:avLst/>
          </a:prstGeom>
          <a:solidFill>
            <a:srgbClr val="FFFFFF"/>
          </a:solidFill>
          <a:ln w="9525">
            <a:solidFill>
              <a:srgbClr val="E3EBF0"/>
            </a:solidFill>
            <a:prstDash val="solid"/>
          </a:ln>
        </p:spPr>
        <p:txBody>
          <a:bodyPr/>
          <a:lstStyle/>
          <a:p>
            <a:endParaRPr lang="en-US"/>
          </a:p>
        </p:txBody>
      </p:sp>
      <p:sp>
        <p:nvSpPr>
          <p:cNvPr id="36" name="Text 34"/>
          <p:cNvSpPr/>
          <p:nvPr/>
        </p:nvSpPr>
        <p:spPr>
          <a:xfrm>
            <a:off x="9070848" y="3044952"/>
            <a:ext cx="2340864" cy="7132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Diagrams, implicit references</a:t>
            </a:r>
            <a:endParaRPr lang="en-US" sz="1050" dirty="0"/>
          </a:p>
        </p:txBody>
      </p:sp>
      <p:sp>
        <p:nvSpPr>
          <p:cNvPr id="37" name="Shape 35"/>
          <p:cNvSpPr/>
          <p:nvPr/>
        </p:nvSpPr>
        <p:spPr>
          <a:xfrm>
            <a:off x="640080" y="3758184"/>
            <a:ext cx="2103120" cy="713232"/>
          </a:xfrm>
          <a:prstGeom prst="rect">
            <a:avLst/>
          </a:prstGeom>
          <a:solidFill>
            <a:srgbClr val="F5F9FB"/>
          </a:solidFill>
          <a:ln w="9525">
            <a:solidFill>
              <a:srgbClr val="E3EBF0"/>
            </a:solidFill>
            <a:prstDash val="solid"/>
          </a:ln>
        </p:spPr>
        <p:txBody>
          <a:bodyPr/>
          <a:lstStyle/>
          <a:p>
            <a:endParaRPr lang="en-US"/>
          </a:p>
        </p:txBody>
      </p:sp>
      <p:sp>
        <p:nvSpPr>
          <p:cNvPr id="38" name="Text 36"/>
          <p:cNvSpPr/>
          <p:nvPr/>
        </p:nvSpPr>
        <p:spPr>
          <a:xfrm>
            <a:off x="749808" y="3758184"/>
            <a:ext cx="1883664" cy="71323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4 — Metadata-rich</a:t>
            </a:r>
            <a:endParaRPr lang="en-US" sz="1050" dirty="0"/>
          </a:p>
        </p:txBody>
      </p:sp>
      <p:sp>
        <p:nvSpPr>
          <p:cNvPr id="39" name="Shape 37"/>
          <p:cNvSpPr/>
          <p:nvPr/>
        </p:nvSpPr>
        <p:spPr>
          <a:xfrm>
            <a:off x="2743200" y="3758184"/>
            <a:ext cx="3291840" cy="713232"/>
          </a:xfrm>
          <a:prstGeom prst="rect">
            <a:avLst/>
          </a:prstGeom>
          <a:solidFill>
            <a:srgbClr val="F5F9FB"/>
          </a:solidFill>
          <a:ln w="9525">
            <a:solidFill>
              <a:srgbClr val="E3EBF0"/>
            </a:solidFill>
            <a:prstDash val="solid"/>
          </a:ln>
        </p:spPr>
        <p:txBody>
          <a:bodyPr/>
          <a:lstStyle/>
          <a:p>
            <a:endParaRPr lang="en-US"/>
          </a:p>
        </p:txBody>
      </p:sp>
      <p:sp>
        <p:nvSpPr>
          <p:cNvPr id="40" name="Text 38"/>
          <p:cNvSpPr/>
          <p:nvPr/>
        </p:nvSpPr>
        <p:spPr>
          <a:xfrm>
            <a:off x="2852928" y="3758184"/>
            <a:ext cx="3072384" cy="7132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Adds section hierarchy, product family, version, access level</a:t>
            </a:r>
            <a:endParaRPr lang="en-US" sz="1050" dirty="0"/>
          </a:p>
        </p:txBody>
      </p:sp>
      <p:sp>
        <p:nvSpPr>
          <p:cNvPr id="41" name="Shape 39"/>
          <p:cNvSpPr/>
          <p:nvPr/>
        </p:nvSpPr>
        <p:spPr>
          <a:xfrm>
            <a:off x="6035040" y="3758184"/>
            <a:ext cx="2926080" cy="713232"/>
          </a:xfrm>
          <a:prstGeom prst="rect">
            <a:avLst/>
          </a:prstGeom>
          <a:solidFill>
            <a:srgbClr val="F5F9FB"/>
          </a:solidFill>
          <a:ln w="9525">
            <a:solidFill>
              <a:srgbClr val="E3EBF0"/>
            </a:solidFill>
            <a:prstDash val="solid"/>
          </a:ln>
        </p:spPr>
        <p:txBody>
          <a:bodyPr/>
          <a:lstStyle/>
          <a:p>
            <a:endParaRPr lang="en-US"/>
          </a:p>
        </p:txBody>
      </p:sp>
      <p:sp>
        <p:nvSpPr>
          <p:cNvPr id="42" name="Text 40"/>
          <p:cNvSpPr/>
          <p:nvPr/>
        </p:nvSpPr>
        <p:spPr>
          <a:xfrm>
            <a:off x="6144768" y="3758184"/>
            <a:ext cx="2706624" cy="7132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Everything above plus filterability</a:t>
            </a:r>
            <a:endParaRPr lang="en-US" sz="1050" dirty="0"/>
          </a:p>
        </p:txBody>
      </p:sp>
      <p:sp>
        <p:nvSpPr>
          <p:cNvPr id="43" name="Shape 41"/>
          <p:cNvSpPr/>
          <p:nvPr/>
        </p:nvSpPr>
        <p:spPr>
          <a:xfrm>
            <a:off x="8961120" y="3758184"/>
            <a:ext cx="2560320" cy="713232"/>
          </a:xfrm>
          <a:prstGeom prst="rect">
            <a:avLst/>
          </a:prstGeom>
          <a:solidFill>
            <a:srgbClr val="F5F9FB"/>
          </a:solidFill>
          <a:ln w="9525">
            <a:solidFill>
              <a:srgbClr val="E3EBF0"/>
            </a:solidFill>
            <a:prstDash val="solid"/>
          </a:ln>
        </p:spPr>
        <p:txBody>
          <a:bodyPr/>
          <a:lstStyle/>
          <a:p>
            <a:endParaRPr lang="en-US"/>
          </a:p>
        </p:txBody>
      </p:sp>
      <p:sp>
        <p:nvSpPr>
          <p:cNvPr id="44" name="Text 42"/>
          <p:cNvSpPr/>
          <p:nvPr/>
        </p:nvSpPr>
        <p:spPr>
          <a:xfrm>
            <a:off x="9070848" y="3758184"/>
            <a:ext cx="2340864" cy="71323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Nothing significant, but costs more to build</a:t>
            </a:r>
            <a:endParaRPr lang="en-US" sz="1050" dirty="0"/>
          </a:p>
        </p:txBody>
      </p:sp>
      <p:sp>
        <p:nvSpPr>
          <p:cNvPr id="45" name="Shape 43"/>
          <p:cNvSpPr/>
          <p:nvPr/>
        </p:nvSpPr>
        <p:spPr>
          <a:xfrm>
            <a:off x="640080" y="4434840"/>
            <a:ext cx="10881360" cy="1280160"/>
          </a:xfrm>
          <a:prstGeom prst="roundRect">
            <a:avLst>
              <a:gd name="adj" fmla="val 4286"/>
            </a:avLst>
          </a:prstGeom>
          <a:solidFill>
            <a:srgbClr val="EDF5EE"/>
          </a:solidFill>
          <a:ln w="12700">
            <a:solidFill>
              <a:srgbClr val="C2DCC8"/>
            </a:solidFill>
            <a:prstDash val="solid"/>
          </a:ln>
        </p:spPr>
        <p:txBody>
          <a:bodyPr/>
          <a:lstStyle/>
          <a:p>
            <a:endParaRPr lang="en-US"/>
          </a:p>
        </p:txBody>
      </p:sp>
      <p:sp>
        <p:nvSpPr>
          <p:cNvPr id="46" name="Text 44"/>
          <p:cNvSpPr/>
          <p:nvPr/>
        </p:nvSpPr>
        <p:spPr>
          <a:xfrm>
            <a:off x="914400" y="4599432"/>
            <a:ext cx="10332720" cy="320040"/>
          </a:xfrm>
          <a:prstGeom prst="rect">
            <a:avLst/>
          </a:prstGeom>
          <a:noFill/>
          <a:ln/>
        </p:spPr>
        <p:txBody>
          <a:bodyPr wrap="square" lIns="0" tIns="0" rIns="0" bIns="0" rtlCol="0" anchor="ctr"/>
          <a:lstStyle/>
          <a:p>
            <a:pPr marL="0" indent="0">
              <a:buNone/>
            </a:pPr>
            <a:r>
              <a:rPr lang="en-US" sz="1350" b="1" dirty="0">
                <a:solidFill>
                  <a:srgbClr val="1E7A3C"/>
                </a:solidFill>
                <a:latin typeface="Calibri" pitchFamily="34" charset="0"/>
                <a:ea typeface="Calibri" pitchFamily="34" charset="-122"/>
                <a:cs typeface="Calibri" pitchFamily="34" charset="-120"/>
              </a:rPr>
              <a:t>The finding teams reach in the lab</a:t>
            </a:r>
            <a:endParaRPr lang="en-US" sz="1350" dirty="0"/>
          </a:p>
        </p:txBody>
      </p:sp>
      <p:sp>
        <p:nvSpPr>
          <p:cNvPr id="47" name="Text 45"/>
          <p:cNvSpPr/>
          <p:nvPr/>
        </p:nvSpPr>
        <p:spPr>
          <a:xfrm>
            <a:off x="914400" y="4937760"/>
            <a:ext cx="10332720" cy="64008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Moving from level 1 to level 3 typically produces a larger accuracy improvement than any change to the model, the prompt or the embedding. It is unglamorous work and it is where the return is. Level 4 is what makes access-filtered retrieval and version-aware answers possible at all — without indexed metadata, neither can be implemented later without re-indexing everything.</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2 · 2.3</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The metadata that earns its place</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13</a:t>
            </a:r>
            <a:endParaRPr lang="en-US" sz="1000" dirty="0"/>
          </a:p>
        </p:txBody>
      </p:sp>
      <p:sp>
        <p:nvSpPr>
          <p:cNvPr id="5" name="Shape 3"/>
          <p:cNvSpPr/>
          <p:nvPr/>
        </p:nvSpPr>
        <p:spPr>
          <a:xfrm>
            <a:off x="640080" y="1234440"/>
            <a:ext cx="2560320" cy="384048"/>
          </a:xfrm>
          <a:prstGeom prst="rect">
            <a:avLst/>
          </a:prstGeom>
          <a:solidFill>
            <a:srgbClr val="21295C"/>
          </a:solidFill>
          <a:ln/>
        </p:spPr>
        <p:txBody>
          <a:bodyPr/>
          <a:lstStyle/>
          <a:p>
            <a:endParaRPr lang="en-US"/>
          </a:p>
        </p:txBody>
      </p:sp>
      <p:sp>
        <p:nvSpPr>
          <p:cNvPr id="6" name="Text 4"/>
          <p:cNvSpPr/>
          <p:nvPr/>
        </p:nvSpPr>
        <p:spPr>
          <a:xfrm>
            <a:off x="749808" y="1234440"/>
            <a:ext cx="234086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Field</a:t>
            </a:r>
            <a:endParaRPr lang="en-US" sz="1100" dirty="0"/>
          </a:p>
        </p:txBody>
      </p:sp>
      <p:sp>
        <p:nvSpPr>
          <p:cNvPr id="7" name="Shape 5"/>
          <p:cNvSpPr/>
          <p:nvPr/>
        </p:nvSpPr>
        <p:spPr>
          <a:xfrm>
            <a:off x="3200400" y="1234440"/>
            <a:ext cx="3657600" cy="384048"/>
          </a:xfrm>
          <a:prstGeom prst="rect">
            <a:avLst/>
          </a:prstGeom>
          <a:solidFill>
            <a:srgbClr val="21295C"/>
          </a:solidFill>
          <a:ln/>
        </p:spPr>
        <p:txBody>
          <a:bodyPr/>
          <a:lstStyle/>
          <a:p>
            <a:endParaRPr lang="en-US"/>
          </a:p>
        </p:txBody>
      </p:sp>
      <p:sp>
        <p:nvSpPr>
          <p:cNvPr id="8" name="Text 6"/>
          <p:cNvSpPr/>
          <p:nvPr/>
        </p:nvSpPr>
        <p:spPr>
          <a:xfrm>
            <a:off x="3310128" y="1234440"/>
            <a:ext cx="34381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Enables</a:t>
            </a:r>
            <a:endParaRPr lang="en-US" sz="1100" dirty="0"/>
          </a:p>
        </p:txBody>
      </p:sp>
      <p:sp>
        <p:nvSpPr>
          <p:cNvPr id="9" name="Shape 7"/>
          <p:cNvSpPr/>
          <p:nvPr/>
        </p:nvSpPr>
        <p:spPr>
          <a:xfrm>
            <a:off x="6858000" y="1234440"/>
            <a:ext cx="4663440" cy="384048"/>
          </a:xfrm>
          <a:prstGeom prst="rect">
            <a:avLst/>
          </a:prstGeom>
          <a:solidFill>
            <a:srgbClr val="21295C"/>
          </a:solidFill>
          <a:ln/>
        </p:spPr>
        <p:txBody>
          <a:bodyPr/>
          <a:lstStyle/>
          <a:p>
            <a:endParaRPr lang="en-US"/>
          </a:p>
        </p:txBody>
      </p:sp>
      <p:sp>
        <p:nvSpPr>
          <p:cNvPr id="10" name="Text 8"/>
          <p:cNvSpPr/>
          <p:nvPr/>
        </p:nvSpPr>
        <p:spPr>
          <a:xfrm>
            <a:off x="6967728" y="1234440"/>
            <a:ext cx="44439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Consequence of omitting it</a:t>
            </a:r>
            <a:endParaRPr lang="en-US" sz="1100" dirty="0"/>
          </a:p>
        </p:txBody>
      </p:sp>
      <p:sp>
        <p:nvSpPr>
          <p:cNvPr id="11" name="Shape 9"/>
          <p:cNvSpPr/>
          <p:nvPr/>
        </p:nvSpPr>
        <p:spPr>
          <a:xfrm>
            <a:off x="640080" y="1618488"/>
            <a:ext cx="2560320" cy="502920"/>
          </a:xfrm>
          <a:prstGeom prst="rect">
            <a:avLst/>
          </a:prstGeom>
          <a:solidFill>
            <a:srgbClr val="FFFFFF"/>
          </a:solidFill>
          <a:ln w="9525">
            <a:solidFill>
              <a:srgbClr val="E3EBF0"/>
            </a:solidFill>
            <a:prstDash val="solid"/>
          </a:ln>
        </p:spPr>
        <p:txBody>
          <a:bodyPr/>
          <a:lstStyle/>
          <a:p>
            <a:endParaRPr lang="en-US"/>
          </a:p>
        </p:txBody>
      </p:sp>
      <p:sp>
        <p:nvSpPr>
          <p:cNvPr id="12" name="Text 10"/>
          <p:cNvSpPr/>
          <p:nvPr/>
        </p:nvSpPr>
        <p:spPr>
          <a:xfrm>
            <a:off x="749808" y="1618488"/>
            <a:ext cx="23408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Source document and page</a:t>
            </a:r>
            <a:endParaRPr lang="en-US" sz="1050" dirty="0"/>
          </a:p>
        </p:txBody>
      </p:sp>
      <p:sp>
        <p:nvSpPr>
          <p:cNvPr id="13" name="Shape 11"/>
          <p:cNvSpPr/>
          <p:nvPr/>
        </p:nvSpPr>
        <p:spPr>
          <a:xfrm>
            <a:off x="3200400" y="1618488"/>
            <a:ext cx="3657600" cy="502920"/>
          </a:xfrm>
          <a:prstGeom prst="rect">
            <a:avLst/>
          </a:prstGeom>
          <a:solidFill>
            <a:srgbClr val="FFFFFF"/>
          </a:solidFill>
          <a:ln w="9525">
            <a:solidFill>
              <a:srgbClr val="E3EBF0"/>
            </a:solidFill>
            <a:prstDash val="solid"/>
          </a:ln>
        </p:spPr>
        <p:txBody>
          <a:bodyPr/>
          <a:lstStyle/>
          <a:p>
            <a:endParaRPr lang="en-US"/>
          </a:p>
        </p:txBody>
      </p:sp>
      <p:sp>
        <p:nvSpPr>
          <p:cNvPr id="14" name="Text 12"/>
          <p:cNvSpPr/>
          <p:nvPr/>
        </p:nvSpPr>
        <p:spPr>
          <a:xfrm>
            <a:off x="3310128" y="1618488"/>
            <a:ext cx="343814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Citation, verification, user trust</a:t>
            </a:r>
            <a:endParaRPr lang="en-US" sz="1050" dirty="0"/>
          </a:p>
        </p:txBody>
      </p:sp>
      <p:sp>
        <p:nvSpPr>
          <p:cNvPr id="15" name="Shape 13"/>
          <p:cNvSpPr/>
          <p:nvPr/>
        </p:nvSpPr>
        <p:spPr>
          <a:xfrm>
            <a:off x="6858000" y="1618488"/>
            <a:ext cx="4663440" cy="502920"/>
          </a:xfrm>
          <a:prstGeom prst="rect">
            <a:avLst/>
          </a:prstGeom>
          <a:solidFill>
            <a:srgbClr val="FFFFFF"/>
          </a:solidFill>
          <a:ln w="9525">
            <a:solidFill>
              <a:srgbClr val="E3EBF0"/>
            </a:solidFill>
            <a:prstDash val="solid"/>
          </a:ln>
        </p:spPr>
        <p:txBody>
          <a:bodyPr/>
          <a:lstStyle/>
          <a:p>
            <a:endParaRPr lang="en-US"/>
          </a:p>
        </p:txBody>
      </p:sp>
      <p:sp>
        <p:nvSpPr>
          <p:cNvPr id="16" name="Text 14"/>
          <p:cNvSpPr/>
          <p:nvPr/>
        </p:nvSpPr>
        <p:spPr>
          <a:xfrm>
            <a:off x="6967728" y="1618488"/>
            <a:ext cx="444398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Answers cannot be checked, so they will not be trusted</a:t>
            </a:r>
            <a:endParaRPr lang="en-US" sz="1050" dirty="0"/>
          </a:p>
        </p:txBody>
      </p:sp>
      <p:sp>
        <p:nvSpPr>
          <p:cNvPr id="17" name="Shape 15"/>
          <p:cNvSpPr/>
          <p:nvPr/>
        </p:nvSpPr>
        <p:spPr>
          <a:xfrm>
            <a:off x="640080" y="2121408"/>
            <a:ext cx="2560320" cy="502920"/>
          </a:xfrm>
          <a:prstGeom prst="rect">
            <a:avLst/>
          </a:prstGeom>
          <a:solidFill>
            <a:srgbClr val="F5F9FB"/>
          </a:solidFill>
          <a:ln w="9525">
            <a:solidFill>
              <a:srgbClr val="E3EBF0"/>
            </a:solidFill>
            <a:prstDash val="solid"/>
          </a:ln>
        </p:spPr>
        <p:txBody>
          <a:bodyPr/>
          <a:lstStyle/>
          <a:p>
            <a:endParaRPr lang="en-US"/>
          </a:p>
        </p:txBody>
      </p:sp>
      <p:sp>
        <p:nvSpPr>
          <p:cNvPr id="18" name="Text 16"/>
          <p:cNvSpPr/>
          <p:nvPr/>
        </p:nvSpPr>
        <p:spPr>
          <a:xfrm>
            <a:off x="749808" y="2121408"/>
            <a:ext cx="23408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Section hierarchy</a:t>
            </a:r>
            <a:endParaRPr lang="en-US" sz="1050" dirty="0"/>
          </a:p>
        </p:txBody>
      </p:sp>
      <p:sp>
        <p:nvSpPr>
          <p:cNvPr id="19" name="Shape 17"/>
          <p:cNvSpPr/>
          <p:nvPr/>
        </p:nvSpPr>
        <p:spPr>
          <a:xfrm>
            <a:off x="3200400" y="2121408"/>
            <a:ext cx="3657600" cy="502920"/>
          </a:xfrm>
          <a:prstGeom prst="rect">
            <a:avLst/>
          </a:prstGeom>
          <a:solidFill>
            <a:srgbClr val="F5F9FB"/>
          </a:solidFill>
          <a:ln w="9525">
            <a:solidFill>
              <a:srgbClr val="E3EBF0"/>
            </a:solidFill>
            <a:prstDash val="solid"/>
          </a:ln>
        </p:spPr>
        <p:txBody>
          <a:bodyPr/>
          <a:lstStyle/>
          <a:p>
            <a:endParaRPr lang="en-US"/>
          </a:p>
        </p:txBody>
      </p:sp>
      <p:sp>
        <p:nvSpPr>
          <p:cNvPr id="20" name="Text 18"/>
          <p:cNvSpPr/>
          <p:nvPr/>
        </p:nvSpPr>
        <p:spPr>
          <a:xfrm>
            <a:off x="3310128" y="2121408"/>
            <a:ext cx="343814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Parent-child retrieval, context expansion</a:t>
            </a:r>
            <a:endParaRPr lang="en-US" sz="1050" dirty="0"/>
          </a:p>
        </p:txBody>
      </p:sp>
      <p:sp>
        <p:nvSpPr>
          <p:cNvPr id="21" name="Shape 19"/>
          <p:cNvSpPr/>
          <p:nvPr/>
        </p:nvSpPr>
        <p:spPr>
          <a:xfrm>
            <a:off x="6858000" y="2121408"/>
            <a:ext cx="4663440" cy="502920"/>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6967728" y="2121408"/>
            <a:ext cx="444398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Chunks arrive without the heading that gives them meaning</a:t>
            </a:r>
            <a:endParaRPr lang="en-US" sz="1050" dirty="0"/>
          </a:p>
        </p:txBody>
      </p:sp>
      <p:sp>
        <p:nvSpPr>
          <p:cNvPr id="23" name="Shape 21"/>
          <p:cNvSpPr/>
          <p:nvPr/>
        </p:nvSpPr>
        <p:spPr>
          <a:xfrm>
            <a:off x="640080" y="2624328"/>
            <a:ext cx="2560320" cy="502920"/>
          </a:xfrm>
          <a:prstGeom prst="rect">
            <a:avLst/>
          </a:prstGeom>
          <a:solidFill>
            <a:srgbClr val="FFFFFF"/>
          </a:solidFill>
          <a:ln w="9525">
            <a:solidFill>
              <a:srgbClr val="E3EBF0"/>
            </a:solidFill>
            <a:prstDash val="solid"/>
          </a:ln>
        </p:spPr>
        <p:txBody>
          <a:bodyPr/>
          <a:lstStyle/>
          <a:p>
            <a:endParaRPr lang="en-US"/>
          </a:p>
        </p:txBody>
      </p:sp>
      <p:sp>
        <p:nvSpPr>
          <p:cNvPr id="24" name="Text 22"/>
          <p:cNvSpPr/>
          <p:nvPr/>
        </p:nvSpPr>
        <p:spPr>
          <a:xfrm>
            <a:off x="749808" y="2624328"/>
            <a:ext cx="23408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Product family or model</a:t>
            </a:r>
            <a:endParaRPr lang="en-US" sz="1050" dirty="0"/>
          </a:p>
        </p:txBody>
      </p:sp>
      <p:sp>
        <p:nvSpPr>
          <p:cNvPr id="25" name="Shape 23"/>
          <p:cNvSpPr/>
          <p:nvPr/>
        </p:nvSpPr>
        <p:spPr>
          <a:xfrm>
            <a:off x="3200400" y="2624328"/>
            <a:ext cx="3657600" cy="502920"/>
          </a:xfrm>
          <a:prstGeom prst="rect">
            <a:avLst/>
          </a:prstGeom>
          <a:solidFill>
            <a:srgbClr val="FFFFFF"/>
          </a:solidFill>
          <a:ln w="9525">
            <a:solidFill>
              <a:srgbClr val="E3EBF0"/>
            </a:solidFill>
            <a:prstDash val="solid"/>
          </a:ln>
        </p:spPr>
        <p:txBody>
          <a:bodyPr/>
          <a:lstStyle/>
          <a:p>
            <a:endParaRPr lang="en-US"/>
          </a:p>
        </p:txBody>
      </p:sp>
      <p:sp>
        <p:nvSpPr>
          <p:cNvPr id="26" name="Text 24"/>
          <p:cNvSpPr/>
          <p:nvPr/>
        </p:nvSpPr>
        <p:spPr>
          <a:xfrm>
            <a:off x="3310128" y="2624328"/>
            <a:ext cx="343814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Filtered retrieval</a:t>
            </a:r>
            <a:endParaRPr lang="en-US" sz="1050" dirty="0"/>
          </a:p>
        </p:txBody>
      </p:sp>
      <p:sp>
        <p:nvSpPr>
          <p:cNvPr id="27" name="Shape 25"/>
          <p:cNvSpPr/>
          <p:nvPr/>
        </p:nvSpPr>
        <p:spPr>
          <a:xfrm>
            <a:off x="6858000" y="2624328"/>
            <a:ext cx="4663440" cy="502920"/>
          </a:xfrm>
          <a:prstGeom prst="rect">
            <a:avLst/>
          </a:prstGeom>
          <a:solidFill>
            <a:srgbClr val="FFFFFF"/>
          </a:solidFill>
          <a:ln w="9525">
            <a:solidFill>
              <a:srgbClr val="E3EBF0"/>
            </a:solidFill>
            <a:prstDash val="solid"/>
          </a:ln>
        </p:spPr>
        <p:txBody>
          <a:bodyPr/>
          <a:lstStyle/>
          <a:p>
            <a:endParaRPr lang="en-US"/>
          </a:p>
        </p:txBody>
      </p:sp>
      <p:sp>
        <p:nvSpPr>
          <p:cNvPr id="28" name="Text 26"/>
          <p:cNvSpPr/>
          <p:nvPr/>
        </p:nvSpPr>
        <p:spPr>
          <a:xfrm>
            <a:off x="6967728" y="2624328"/>
            <a:ext cx="444398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Procedures from the wrong machine variant are returned confidently</a:t>
            </a:r>
            <a:endParaRPr lang="en-US" sz="1050" dirty="0"/>
          </a:p>
        </p:txBody>
      </p:sp>
      <p:sp>
        <p:nvSpPr>
          <p:cNvPr id="29" name="Shape 27"/>
          <p:cNvSpPr/>
          <p:nvPr/>
        </p:nvSpPr>
        <p:spPr>
          <a:xfrm>
            <a:off x="640080" y="3127248"/>
            <a:ext cx="2560320" cy="502920"/>
          </a:xfrm>
          <a:prstGeom prst="rect">
            <a:avLst/>
          </a:prstGeom>
          <a:solidFill>
            <a:srgbClr val="F5F9FB"/>
          </a:solidFill>
          <a:ln w="9525">
            <a:solidFill>
              <a:srgbClr val="E3EBF0"/>
            </a:solidFill>
            <a:prstDash val="solid"/>
          </a:ln>
        </p:spPr>
        <p:txBody>
          <a:bodyPr/>
          <a:lstStyle/>
          <a:p>
            <a:endParaRPr lang="en-US"/>
          </a:p>
        </p:txBody>
      </p:sp>
      <p:sp>
        <p:nvSpPr>
          <p:cNvPr id="30" name="Text 28"/>
          <p:cNvSpPr/>
          <p:nvPr/>
        </p:nvSpPr>
        <p:spPr>
          <a:xfrm>
            <a:off x="749808" y="3127248"/>
            <a:ext cx="23408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Document version and status</a:t>
            </a:r>
            <a:endParaRPr lang="en-US" sz="1050" dirty="0"/>
          </a:p>
        </p:txBody>
      </p:sp>
      <p:sp>
        <p:nvSpPr>
          <p:cNvPr id="31" name="Shape 29"/>
          <p:cNvSpPr/>
          <p:nvPr/>
        </p:nvSpPr>
        <p:spPr>
          <a:xfrm>
            <a:off x="3200400" y="3127248"/>
            <a:ext cx="3657600" cy="502920"/>
          </a:xfrm>
          <a:prstGeom prst="rect">
            <a:avLst/>
          </a:prstGeom>
          <a:solidFill>
            <a:srgbClr val="F5F9FB"/>
          </a:solidFill>
          <a:ln w="9525">
            <a:solidFill>
              <a:srgbClr val="E3EBF0"/>
            </a:solidFill>
            <a:prstDash val="solid"/>
          </a:ln>
        </p:spPr>
        <p:txBody>
          <a:bodyPr/>
          <a:lstStyle/>
          <a:p>
            <a:endParaRPr lang="en-US"/>
          </a:p>
        </p:txBody>
      </p:sp>
      <p:sp>
        <p:nvSpPr>
          <p:cNvPr id="32" name="Text 30"/>
          <p:cNvSpPr/>
          <p:nvPr/>
        </p:nvSpPr>
        <p:spPr>
          <a:xfrm>
            <a:off x="3310128" y="3127248"/>
            <a:ext cx="343814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Superseded-content suppression</a:t>
            </a:r>
            <a:endParaRPr lang="en-US" sz="1050" dirty="0"/>
          </a:p>
        </p:txBody>
      </p:sp>
      <p:sp>
        <p:nvSpPr>
          <p:cNvPr id="33" name="Shape 31"/>
          <p:cNvSpPr/>
          <p:nvPr/>
        </p:nvSpPr>
        <p:spPr>
          <a:xfrm>
            <a:off x="6858000" y="3127248"/>
            <a:ext cx="4663440" cy="502920"/>
          </a:xfrm>
          <a:prstGeom prst="rect">
            <a:avLst/>
          </a:prstGeom>
          <a:solidFill>
            <a:srgbClr val="F5F9FB"/>
          </a:solidFill>
          <a:ln w="9525">
            <a:solidFill>
              <a:srgbClr val="E3EBF0"/>
            </a:solidFill>
            <a:prstDash val="solid"/>
          </a:ln>
        </p:spPr>
        <p:txBody>
          <a:bodyPr/>
          <a:lstStyle/>
          <a:p>
            <a:endParaRPr lang="en-US"/>
          </a:p>
        </p:txBody>
      </p:sp>
      <p:sp>
        <p:nvSpPr>
          <p:cNvPr id="34" name="Text 32"/>
          <p:cNvSpPr/>
          <p:nvPr/>
        </p:nvSpPr>
        <p:spPr>
          <a:xfrm>
            <a:off x="6967728" y="3127248"/>
            <a:ext cx="444398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system cites a withdrawn procedure</a:t>
            </a:r>
            <a:endParaRPr lang="en-US" sz="1050" dirty="0"/>
          </a:p>
        </p:txBody>
      </p:sp>
      <p:sp>
        <p:nvSpPr>
          <p:cNvPr id="35" name="Shape 33"/>
          <p:cNvSpPr/>
          <p:nvPr/>
        </p:nvSpPr>
        <p:spPr>
          <a:xfrm>
            <a:off x="640080" y="3630168"/>
            <a:ext cx="2560320" cy="502920"/>
          </a:xfrm>
          <a:prstGeom prst="rect">
            <a:avLst/>
          </a:prstGeom>
          <a:solidFill>
            <a:srgbClr val="FFFFFF"/>
          </a:solidFill>
          <a:ln w="9525">
            <a:solidFill>
              <a:srgbClr val="E3EBF0"/>
            </a:solidFill>
            <a:prstDash val="solid"/>
          </a:ln>
        </p:spPr>
        <p:txBody>
          <a:bodyPr/>
          <a:lstStyle/>
          <a:p>
            <a:endParaRPr lang="en-US"/>
          </a:p>
        </p:txBody>
      </p:sp>
      <p:sp>
        <p:nvSpPr>
          <p:cNvPr id="36" name="Text 34"/>
          <p:cNvSpPr/>
          <p:nvPr/>
        </p:nvSpPr>
        <p:spPr>
          <a:xfrm>
            <a:off x="749808" y="3630168"/>
            <a:ext cx="23408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Effective and expiry dates</a:t>
            </a:r>
            <a:endParaRPr lang="en-US" sz="1050" dirty="0"/>
          </a:p>
        </p:txBody>
      </p:sp>
      <p:sp>
        <p:nvSpPr>
          <p:cNvPr id="37" name="Shape 35"/>
          <p:cNvSpPr/>
          <p:nvPr/>
        </p:nvSpPr>
        <p:spPr>
          <a:xfrm>
            <a:off x="3200400" y="3630168"/>
            <a:ext cx="3657600" cy="502920"/>
          </a:xfrm>
          <a:prstGeom prst="rect">
            <a:avLst/>
          </a:prstGeom>
          <a:solidFill>
            <a:srgbClr val="FFFFFF"/>
          </a:solidFill>
          <a:ln w="9525">
            <a:solidFill>
              <a:srgbClr val="E3EBF0"/>
            </a:solidFill>
            <a:prstDash val="solid"/>
          </a:ln>
        </p:spPr>
        <p:txBody>
          <a:bodyPr/>
          <a:lstStyle/>
          <a:p>
            <a:endParaRPr lang="en-US"/>
          </a:p>
        </p:txBody>
      </p:sp>
      <p:sp>
        <p:nvSpPr>
          <p:cNvPr id="38" name="Text 36"/>
          <p:cNvSpPr/>
          <p:nvPr/>
        </p:nvSpPr>
        <p:spPr>
          <a:xfrm>
            <a:off x="3310128" y="3630168"/>
            <a:ext cx="343814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Time-correct answers</a:t>
            </a:r>
            <a:endParaRPr lang="en-US" sz="1050" dirty="0"/>
          </a:p>
        </p:txBody>
      </p:sp>
      <p:sp>
        <p:nvSpPr>
          <p:cNvPr id="39" name="Shape 37"/>
          <p:cNvSpPr/>
          <p:nvPr/>
        </p:nvSpPr>
        <p:spPr>
          <a:xfrm>
            <a:off x="6858000" y="3630168"/>
            <a:ext cx="4663440" cy="502920"/>
          </a:xfrm>
          <a:prstGeom prst="rect">
            <a:avLst/>
          </a:prstGeom>
          <a:solidFill>
            <a:srgbClr val="FFFFFF"/>
          </a:solidFill>
          <a:ln w="9525">
            <a:solidFill>
              <a:srgbClr val="E3EBF0"/>
            </a:solidFill>
            <a:prstDash val="solid"/>
          </a:ln>
        </p:spPr>
        <p:txBody>
          <a:bodyPr/>
          <a:lstStyle/>
          <a:p>
            <a:endParaRPr lang="en-US"/>
          </a:p>
        </p:txBody>
      </p:sp>
      <p:sp>
        <p:nvSpPr>
          <p:cNvPr id="40" name="Text 38"/>
          <p:cNvSpPr/>
          <p:nvPr/>
        </p:nvSpPr>
        <p:spPr>
          <a:xfrm>
            <a:off x="6967728" y="3630168"/>
            <a:ext cx="444398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Obsolete guidance presented as current</a:t>
            </a:r>
            <a:endParaRPr lang="en-US" sz="1050" dirty="0"/>
          </a:p>
        </p:txBody>
      </p:sp>
      <p:sp>
        <p:nvSpPr>
          <p:cNvPr id="41" name="Shape 39"/>
          <p:cNvSpPr/>
          <p:nvPr/>
        </p:nvSpPr>
        <p:spPr>
          <a:xfrm>
            <a:off x="640080" y="4133088"/>
            <a:ext cx="2560320" cy="502920"/>
          </a:xfrm>
          <a:prstGeom prst="rect">
            <a:avLst/>
          </a:prstGeom>
          <a:solidFill>
            <a:srgbClr val="F5F9FB"/>
          </a:solidFill>
          <a:ln w="9525">
            <a:solidFill>
              <a:srgbClr val="E3EBF0"/>
            </a:solidFill>
            <a:prstDash val="solid"/>
          </a:ln>
        </p:spPr>
        <p:txBody>
          <a:bodyPr/>
          <a:lstStyle/>
          <a:p>
            <a:endParaRPr lang="en-US"/>
          </a:p>
        </p:txBody>
      </p:sp>
      <p:sp>
        <p:nvSpPr>
          <p:cNvPr id="42" name="Text 40"/>
          <p:cNvSpPr/>
          <p:nvPr/>
        </p:nvSpPr>
        <p:spPr>
          <a:xfrm>
            <a:off x="749808" y="4133088"/>
            <a:ext cx="23408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Access level</a:t>
            </a:r>
            <a:endParaRPr lang="en-US" sz="1050" dirty="0"/>
          </a:p>
        </p:txBody>
      </p:sp>
      <p:sp>
        <p:nvSpPr>
          <p:cNvPr id="43" name="Shape 41"/>
          <p:cNvSpPr/>
          <p:nvPr/>
        </p:nvSpPr>
        <p:spPr>
          <a:xfrm>
            <a:off x="3200400" y="4133088"/>
            <a:ext cx="3657600" cy="502920"/>
          </a:xfrm>
          <a:prstGeom prst="rect">
            <a:avLst/>
          </a:prstGeom>
          <a:solidFill>
            <a:srgbClr val="F5F9FB"/>
          </a:solidFill>
          <a:ln w="9525">
            <a:solidFill>
              <a:srgbClr val="E3EBF0"/>
            </a:solidFill>
            <a:prstDash val="solid"/>
          </a:ln>
        </p:spPr>
        <p:txBody>
          <a:bodyPr/>
          <a:lstStyle/>
          <a:p>
            <a:endParaRPr lang="en-US"/>
          </a:p>
        </p:txBody>
      </p:sp>
      <p:sp>
        <p:nvSpPr>
          <p:cNvPr id="44" name="Text 42"/>
          <p:cNvSpPr/>
          <p:nvPr/>
        </p:nvSpPr>
        <p:spPr>
          <a:xfrm>
            <a:off x="3310128" y="4133088"/>
            <a:ext cx="343814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Role-filtered retrieval</a:t>
            </a:r>
            <a:endParaRPr lang="en-US" sz="1050" dirty="0"/>
          </a:p>
        </p:txBody>
      </p:sp>
      <p:sp>
        <p:nvSpPr>
          <p:cNvPr id="45" name="Shape 43"/>
          <p:cNvSpPr/>
          <p:nvPr/>
        </p:nvSpPr>
        <p:spPr>
          <a:xfrm>
            <a:off x="6858000" y="4133088"/>
            <a:ext cx="4663440" cy="502920"/>
          </a:xfrm>
          <a:prstGeom prst="rect">
            <a:avLst/>
          </a:prstGeom>
          <a:solidFill>
            <a:srgbClr val="F5F9FB"/>
          </a:solidFill>
          <a:ln w="9525">
            <a:solidFill>
              <a:srgbClr val="E3EBF0"/>
            </a:solidFill>
            <a:prstDash val="solid"/>
          </a:ln>
        </p:spPr>
        <p:txBody>
          <a:bodyPr/>
          <a:lstStyle/>
          <a:p>
            <a:endParaRPr lang="en-US"/>
          </a:p>
        </p:txBody>
      </p:sp>
      <p:sp>
        <p:nvSpPr>
          <p:cNvPr id="46" name="Text 44"/>
          <p:cNvSpPr/>
          <p:nvPr/>
        </p:nvSpPr>
        <p:spPr>
          <a:xfrm>
            <a:off x="6967728" y="4133088"/>
            <a:ext cx="444398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Day 2's security model cannot be implemented</a:t>
            </a:r>
            <a:endParaRPr lang="en-US" sz="1050" dirty="0"/>
          </a:p>
        </p:txBody>
      </p:sp>
      <p:sp>
        <p:nvSpPr>
          <p:cNvPr id="47" name="Shape 45"/>
          <p:cNvSpPr/>
          <p:nvPr/>
        </p:nvSpPr>
        <p:spPr>
          <a:xfrm>
            <a:off x="640080" y="4636008"/>
            <a:ext cx="2560320" cy="502920"/>
          </a:xfrm>
          <a:prstGeom prst="rect">
            <a:avLst/>
          </a:prstGeom>
          <a:solidFill>
            <a:srgbClr val="FFFFFF"/>
          </a:solidFill>
          <a:ln w="9525">
            <a:solidFill>
              <a:srgbClr val="E3EBF0"/>
            </a:solidFill>
            <a:prstDash val="solid"/>
          </a:ln>
        </p:spPr>
        <p:txBody>
          <a:bodyPr/>
          <a:lstStyle/>
          <a:p>
            <a:endParaRPr lang="en-US"/>
          </a:p>
        </p:txBody>
      </p:sp>
      <p:sp>
        <p:nvSpPr>
          <p:cNvPr id="48" name="Text 46"/>
          <p:cNvSpPr/>
          <p:nvPr/>
        </p:nvSpPr>
        <p:spPr>
          <a:xfrm>
            <a:off x="749808" y="4636008"/>
            <a:ext cx="23408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Language</a:t>
            </a:r>
            <a:endParaRPr lang="en-US" sz="1050" dirty="0"/>
          </a:p>
        </p:txBody>
      </p:sp>
      <p:sp>
        <p:nvSpPr>
          <p:cNvPr id="49" name="Shape 47"/>
          <p:cNvSpPr/>
          <p:nvPr/>
        </p:nvSpPr>
        <p:spPr>
          <a:xfrm>
            <a:off x="3200400" y="4636008"/>
            <a:ext cx="3657600" cy="502920"/>
          </a:xfrm>
          <a:prstGeom prst="rect">
            <a:avLst/>
          </a:prstGeom>
          <a:solidFill>
            <a:srgbClr val="FFFFFF"/>
          </a:solidFill>
          <a:ln w="9525">
            <a:solidFill>
              <a:srgbClr val="E3EBF0"/>
            </a:solidFill>
            <a:prstDash val="solid"/>
          </a:ln>
        </p:spPr>
        <p:txBody>
          <a:bodyPr/>
          <a:lstStyle/>
          <a:p>
            <a:endParaRPr lang="en-US"/>
          </a:p>
        </p:txBody>
      </p:sp>
      <p:sp>
        <p:nvSpPr>
          <p:cNvPr id="50" name="Text 48"/>
          <p:cNvSpPr/>
          <p:nvPr/>
        </p:nvSpPr>
        <p:spPr>
          <a:xfrm>
            <a:off x="3310128" y="4636008"/>
            <a:ext cx="343814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Correct-language retrieval</a:t>
            </a:r>
            <a:endParaRPr lang="en-US" sz="1050" dirty="0"/>
          </a:p>
        </p:txBody>
      </p:sp>
      <p:sp>
        <p:nvSpPr>
          <p:cNvPr id="51" name="Shape 49"/>
          <p:cNvSpPr/>
          <p:nvPr/>
        </p:nvSpPr>
        <p:spPr>
          <a:xfrm>
            <a:off x="6858000" y="4636008"/>
            <a:ext cx="4663440" cy="502920"/>
          </a:xfrm>
          <a:prstGeom prst="rect">
            <a:avLst/>
          </a:prstGeom>
          <a:solidFill>
            <a:srgbClr val="FFFFFF"/>
          </a:solidFill>
          <a:ln w="9525">
            <a:solidFill>
              <a:srgbClr val="E3EBF0"/>
            </a:solidFill>
            <a:prstDash val="solid"/>
          </a:ln>
        </p:spPr>
        <p:txBody>
          <a:bodyPr/>
          <a:lstStyle/>
          <a:p>
            <a:endParaRPr lang="en-US"/>
          </a:p>
        </p:txBody>
      </p:sp>
      <p:sp>
        <p:nvSpPr>
          <p:cNvPr id="52" name="Text 50"/>
          <p:cNvSpPr/>
          <p:nvPr/>
        </p:nvSpPr>
        <p:spPr>
          <a:xfrm>
            <a:off x="6967728" y="4636008"/>
            <a:ext cx="444398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Mixed-language results confuse both retrieval and generation</a:t>
            </a:r>
            <a:endParaRPr lang="en-US" sz="1050" dirty="0"/>
          </a:p>
        </p:txBody>
      </p:sp>
      <p:sp>
        <p:nvSpPr>
          <p:cNvPr id="53" name="Shape 51"/>
          <p:cNvSpPr/>
          <p:nvPr/>
        </p:nvSpPr>
        <p:spPr>
          <a:xfrm>
            <a:off x="640080" y="5138928"/>
            <a:ext cx="2560320" cy="502920"/>
          </a:xfrm>
          <a:prstGeom prst="rect">
            <a:avLst/>
          </a:prstGeom>
          <a:solidFill>
            <a:srgbClr val="F5F9FB"/>
          </a:solidFill>
          <a:ln w="9525">
            <a:solidFill>
              <a:srgbClr val="E3EBF0"/>
            </a:solidFill>
            <a:prstDash val="solid"/>
          </a:ln>
        </p:spPr>
        <p:txBody>
          <a:bodyPr/>
          <a:lstStyle/>
          <a:p>
            <a:endParaRPr lang="en-US"/>
          </a:p>
        </p:txBody>
      </p:sp>
      <p:sp>
        <p:nvSpPr>
          <p:cNvPr id="54" name="Text 52"/>
          <p:cNvSpPr/>
          <p:nvPr/>
        </p:nvSpPr>
        <p:spPr>
          <a:xfrm>
            <a:off x="749808" y="5138928"/>
            <a:ext cx="23408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Content type</a:t>
            </a:r>
            <a:endParaRPr lang="en-US" sz="1050" dirty="0"/>
          </a:p>
        </p:txBody>
      </p:sp>
      <p:sp>
        <p:nvSpPr>
          <p:cNvPr id="55" name="Shape 53"/>
          <p:cNvSpPr/>
          <p:nvPr/>
        </p:nvSpPr>
        <p:spPr>
          <a:xfrm>
            <a:off x="3200400" y="5138928"/>
            <a:ext cx="3657600" cy="502920"/>
          </a:xfrm>
          <a:prstGeom prst="rect">
            <a:avLst/>
          </a:prstGeom>
          <a:solidFill>
            <a:srgbClr val="F5F9FB"/>
          </a:solidFill>
          <a:ln w="9525">
            <a:solidFill>
              <a:srgbClr val="E3EBF0"/>
            </a:solidFill>
            <a:prstDash val="solid"/>
          </a:ln>
        </p:spPr>
        <p:txBody>
          <a:bodyPr/>
          <a:lstStyle/>
          <a:p>
            <a:endParaRPr lang="en-US"/>
          </a:p>
        </p:txBody>
      </p:sp>
      <p:sp>
        <p:nvSpPr>
          <p:cNvPr id="56" name="Text 54"/>
          <p:cNvSpPr/>
          <p:nvPr/>
        </p:nvSpPr>
        <p:spPr>
          <a:xfrm>
            <a:off x="3310128" y="5138928"/>
            <a:ext cx="343814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Tuning retrieval by type</a:t>
            </a:r>
            <a:endParaRPr lang="en-US" sz="1050" dirty="0"/>
          </a:p>
        </p:txBody>
      </p:sp>
      <p:sp>
        <p:nvSpPr>
          <p:cNvPr id="57" name="Shape 55"/>
          <p:cNvSpPr/>
          <p:nvPr/>
        </p:nvSpPr>
        <p:spPr>
          <a:xfrm>
            <a:off x="6858000" y="5138928"/>
            <a:ext cx="4663440" cy="502920"/>
          </a:xfrm>
          <a:prstGeom prst="rect">
            <a:avLst/>
          </a:prstGeom>
          <a:solidFill>
            <a:srgbClr val="F5F9FB"/>
          </a:solidFill>
          <a:ln w="9525">
            <a:solidFill>
              <a:srgbClr val="E3EBF0"/>
            </a:solidFill>
            <a:prstDash val="solid"/>
          </a:ln>
        </p:spPr>
        <p:txBody>
          <a:bodyPr/>
          <a:lstStyle/>
          <a:p>
            <a:endParaRPr lang="en-US"/>
          </a:p>
        </p:txBody>
      </p:sp>
      <p:sp>
        <p:nvSpPr>
          <p:cNvPr id="58" name="Text 56"/>
          <p:cNvSpPr/>
          <p:nvPr/>
        </p:nvSpPr>
        <p:spPr>
          <a:xfrm>
            <a:off x="6967728" y="5138928"/>
            <a:ext cx="444398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Tables and prose are treated identically and ranked identically</a:t>
            </a:r>
            <a:endParaRPr lang="en-US" sz="1050" dirty="0"/>
          </a:p>
        </p:txBody>
      </p:sp>
      <p:sp>
        <p:nvSpPr>
          <p:cNvPr id="59" name="Text 57"/>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A2430"/>
                </a:solidFill>
                <a:latin typeface="Calibri" pitchFamily="34" charset="0"/>
                <a:ea typeface="Calibri" pitchFamily="34" charset="-122"/>
                <a:cs typeface="Calibri" pitchFamily="34" charset="-120"/>
              </a:rPr>
              <a:t>Metadata must be attached at ingestion. Adding it later means re-indexing the entire corpus — budget it as a migration.</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2 · 2.4</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Document versioning and supersession</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14</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500" b="1" i="1" dirty="0">
                <a:solidFill>
                  <a:srgbClr val="1C7293"/>
                </a:solidFill>
                <a:latin typeface="Calibri" pitchFamily="34" charset="0"/>
                <a:ea typeface="Calibri" pitchFamily="34" charset="-122"/>
                <a:cs typeface="Calibri" pitchFamily="34" charset="-120"/>
              </a:rPr>
              <a:t>In an industrial context this is a safety concern, not a housekeeping preference.</a:t>
            </a:r>
            <a:endParaRPr lang="en-US" sz="1500" dirty="0"/>
          </a:p>
        </p:txBody>
      </p:sp>
      <p:sp>
        <p:nvSpPr>
          <p:cNvPr id="6" name="Shape 4"/>
          <p:cNvSpPr/>
          <p:nvPr/>
        </p:nvSpPr>
        <p:spPr>
          <a:xfrm>
            <a:off x="640080" y="1965960"/>
            <a:ext cx="365760" cy="365760"/>
          </a:xfrm>
          <a:prstGeom prst="ellipse">
            <a:avLst/>
          </a:prstGeom>
          <a:solidFill>
            <a:srgbClr val="065A82"/>
          </a:solidFill>
          <a:ln/>
        </p:spPr>
        <p:txBody>
          <a:bodyPr/>
          <a:lstStyle/>
          <a:p>
            <a:endParaRPr lang="en-US"/>
          </a:p>
        </p:txBody>
      </p:sp>
      <p:sp>
        <p:nvSpPr>
          <p:cNvPr id="7" name="Text 5"/>
          <p:cNvSpPr/>
          <p:nvPr/>
        </p:nvSpPr>
        <p:spPr>
          <a:xfrm>
            <a:off x="640080" y="19659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188720" y="1783080"/>
            <a:ext cx="3474720" cy="640080"/>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Version every document</a:t>
            </a:r>
            <a:endParaRPr lang="en-US" sz="1300" dirty="0"/>
          </a:p>
        </p:txBody>
      </p:sp>
      <p:sp>
        <p:nvSpPr>
          <p:cNvPr id="9" name="Text 7"/>
          <p:cNvSpPr/>
          <p:nvPr/>
        </p:nvSpPr>
        <p:spPr>
          <a:xfrm>
            <a:off x="4983480" y="1783080"/>
            <a:ext cx="6537960" cy="64008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Each revision is a distinct indexed object with its own effective date, not an overwrite.</a:t>
            </a:r>
            <a:endParaRPr lang="en-US" sz="1150" dirty="0"/>
          </a:p>
        </p:txBody>
      </p:sp>
      <p:sp>
        <p:nvSpPr>
          <p:cNvPr id="10" name="Shape 8"/>
          <p:cNvSpPr/>
          <p:nvPr/>
        </p:nvSpPr>
        <p:spPr>
          <a:xfrm>
            <a:off x="640080" y="2697480"/>
            <a:ext cx="365760" cy="365760"/>
          </a:xfrm>
          <a:prstGeom prst="ellipse">
            <a:avLst/>
          </a:prstGeom>
          <a:solidFill>
            <a:srgbClr val="065A82"/>
          </a:solidFill>
          <a:ln/>
        </p:spPr>
        <p:txBody>
          <a:bodyPr/>
          <a:lstStyle/>
          <a:p>
            <a:endParaRPr lang="en-US"/>
          </a:p>
        </p:txBody>
      </p:sp>
      <p:sp>
        <p:nvSpPr>
          <p:cNvPr id="11" name="Text 9"/>
          <p:cNvSpPr/>
          <p:nvPr/>
        </p:nvSpPr>
        <p:spPr>
          <a:xfrm>
            <a:off x="640080" y="269748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188720" y="2514600"/>
            <a:ext cx="3474720" cy="640080"/>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Mark superseded content explicitly</a:t>
            </a:r>
            <a:endParaRPr lang="en-US" sz="1300" dirty="0"/>
          </a:p>
        </p:txBody>
      </p:sp>
      <p:sp>
        <p:nvSpPr>
          <p:cNvPr id="13" name="Text 11"/>
          <p:cNvSpPr/>
          <p:nvPr/>
        </p:nvSpPr>
        <p:spPr>
          <a:xfrm>
            <a:off x="4983480" y="2514600"/>
            <a:ext cx="6537960" cy="64008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Do not silently delete. Mark it superseded and record what replaced it, so a query about an older machine can still be answered correctly.</a:t>
            </a:r>
            <a:endParaRPr lang="en-US" sz="1150" dirty="0"/>
          </a:p>
        </p:txBody>
      </p:sp>
      <p:sp>
        <p:nvSpPr>
          <p:cNvPr id="14" name="Shape 12"/>
          <p:cNvSpPr/>
          <p:nvPr/>
        </p:nvSpPr>
        <p:spPr>
          <a:xfrm>
            <a:off x="640080" y="3429000"/>
            <a:ext cx="365760" cy="365760"/>
          </a:xfrm>
          <a:prstGeom prst="ellipse">
            <a:avLst/>
          </a:prstGeom>
          <a:solidFill>
            <a:srgbClr val="065A82"/>
          </a:solidFill>
          <a:ln/>
        </p:spPr>
        <p:txBody>
          <a:bodyPr/>
          <a:lstStyle/>
          <a:p>
            <a:endParaRPr lang="en-US"/>
          </a:p>
        </p:txBody>
      </p:sp>
      <p:sp>
        <p:nvSpPr>
          <p:cNvPr id="15" name="Text 13"/>
          <p:cNvSpPr/>
          <p:nvPr/>
        </p:nvSpPr>
        <p:spPr>
          <a:xfrm>
            <a:off x="640080" y="342900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88720" y="3246120"/>
            <a:ext cx="3474720" cy="640080"/>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Filter by default, allow override</a:t>
            </a:r>
            <a:endParaRPr lang="en-US" sz="1300" dirty="0"/>
          </a:p>
        </p:txBody>
      </p:sp>
      <p:sp>
        <p:nvSpPr>
          <p:cNvPr id="17" name="Text 15"/>
          <p:cNvSpPr/>
          <p:nvPr/>
        </p:nvSpPr>
        <p:spPr>
          <a:xfrm>
            <a:off x="4983480" y="3246120"/>
            <a:ext cx="6537960" cy="64008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Retrieval returns current content unless the user explicitly asks about a historical revision.</a:t>
            </a:r>
            <a:endParaRPr lang="en-US" sz="1150" dirty="0"/>
          </a:p>
        </p:txBody>
      </p:sp>
      <p:sp>
        <p:nvSpPr>
          <p:cNvPr id="18" name="Shape 16"/>
          <p:cNvSpPr/>
          <p:nvPr/>
        </p:nvSpPr>
        <p:spPr>
          <a:xfrm>
            <a:off x="640080" y="4160520"/>
            <a:ext cx="365760" cy="365760"/>
          </a:xfrm>
          <a:prstGeom prst="ellipse">
            <a:avLst/>
          </a:prstGeom>
          <a:solidFill>
            <a:srgbClr val="065A82"/>
          </a:solidFill>
          <a:ln/>
        </p:spPr>
        <p:txBody>
          <a:bodyPr/>
          <a:lstStyle/>
          <a:p>
            <a:endParaRPr lang="en-US"/>
          </a:p>
        </p:txBody>
      </p:sp>
      <p:sp>
        <p:nvSpPr>
          <p:cNvPr id="19" name="Text 17"/>
          <p:cNvSpPr/>
          <p:nvPr/>
        </p:nvSpPr>
        <p:spPr>
          <a:xfrm>
            <a:off x="640080" y="416052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1188720" y="3977640"/>
            <a:ext cx="3474720" cy="640080"/>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Make status visible in the answer</a:t>
            </a:r>
            <a:endParaRPr lang="en-US" sz="1300" dirty="0"/>
          </a:p>
        </p:txBody>
      </p:sp>
      <p:sp>
        <p:nvSpPr>
          <p:cNvPr id="21" name="Text 19"/>
          <p:cNvSpPr/>
          <p:nvPr/>
        </p:nvSpPr>
        <p:spPr>
          <a:xfrm>
            <a:off x="4983480" y="3977640"/>
            <a:ext cx="6537960" cy="64008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The citation states the version and its status. A user reading a procedure needs to know it is current.</a:t>
            </a:r>
            <a:endParaRPr lang="en-US" sz="1150" dirty="0"/>
          </a:p>
        </p:txBody>
      </p:sp>
      <p:sp>
        <p:nvSpPr>
          <p:cNvPr id="22" name="Shape 20"/>
          <p:cNvSpPr/>
          <p:nvPr/>
        </p:nvSpPr>
        <p:spPr>
          <a:xfrm>
            <a:off x="640080" y="4892040"/>
            <a:ext cx="365760" cy="365760"/>
          </a:xfrm>
          <a:prstGeom prst="ellipse">
            <a:avLst/>
          </a:prstGeom>
          <a:solidFill>
            <a:srgbClr val="065A82"/>
          </a:solidFill>
          <a:ln/>
        </p:spPr>
        <p:txBody>
          <a:bodyPr/>
          <a:lstStyle/>
          <a:p>
            <a:endParaRPr lang="en-US"/>
          </a:p>
        </p:txBody>
      </p:sp>
      <p:sp>
        <p:nvSpPr>
          <p:cNvPr id="23" name="Text 21"/>
          <p:cNvSpPr/>
          <p:nvPr/>
        </p:nvSpPr>
        <p:spPr>
          <a:xfrm>
            <a:off x="640080" y="48920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p:nvPr/>
        </p:nvSpPr>
        <p:spPr>
          <a:xfrm>
            <a:off x="1188720" y="4709160"/>
            <a:ext cx="3474720" cy="640080"/>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Trigger re-indexing on publication</a:t>
            </a:r>
            <a:endParaRPr lang="en-US" sz="1300" dirty="0"/>
          </a:p>
        </p:txBody>
      </p:sp>
      <p:sp>
        <p:nvSpPr>
          <p:cNvPr id="25" name="Text 23"/>
          <p:cNvSpPr/>
          <p:nvPr/>
        </p:nvSpPr>
        <p:spPr>
          <a:xfrm>
            <a:off x="4983480" y="4709160"/>
            <a:ext cx="6537960" cy="64008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Event-driven ingestion, not a nightly batch, when a safety notice supersedes a procedure.</a:t>
            </a:r>
            <a:endParaRPr lang="en-US" sz="1150" dirty="0"/>
          </a:p>
        </p:txBody>
      </p:sp>
      <p:sp>
        <p:nvSpPr>
          <p:cNvPr id="26" name="Shape 24"/>
          <p:cNvSpPr/>
          <p:nvPr/>
        </p:nvSpPr>
        <p:spPr>
          <a:xfrm>
            <a:off x="640080" y="5623560"/>
            <a:ext cx="365760" cy="365760"/>
          </a:xfrm>
          <a:prstGeom prst="ellipse">
            <a:avLst/>
          </a:prstGeom>
          <a:solidFill>
            <a:srgbClr val="065A82"/>
          </a:solidFill>
          <a:ln/>
        </p:spPr>
        <p:txBody>
          <a:bodyPr/>
          <a:lstStyle/>
          <a:p>
            <a:endParaRPr lang="en-US"/>
          </a:p>
        </p:txBody>
      </p:sp>
      <p:sp>
        <p:nvSpPr>
          <p:cNvPr id="27" name="Text 25"/>
          <p:cNvSpPr/>
          <p:nvPr/>
        </p:nvSpPr>
        <p:spPr>
          <a:xfrm>
            <a:off x="640080" y="56235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p:nvPr/>
        </p:nvSpPr>
        <p:spPr>
          <a:xfrm>
            <a:off x="1188720" y="5440680"/>
            <a:ext cx="3474720" cy="640080"/>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Retain superseded content</a:t>
            </a:r>
            <a:endParaRPr lang="en-US" sz="1300" dirty="0"/>
          </a:p>
        </p:txBody>
      </p:sp>
      <p:sp>
        <p:nvSpPr>
          <p:cNvPr id="29" name="Text 27"/>
          <p:cNvSpPr/>
          <p:nvPr/>
        </p:nvSpPr>
        <p:spPr>
          <a:xfrm>
            <a:off x="4983480" y="5440680"/>
            <a:ext cx="6537960" cy="64008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Required for audit, and for supporting equipment still in the field running the older revision.</a:t>
            </a:r>
            <a:endParaRPr lang="en-US" sz="1150" dirty="0"/>
          </a:p>
        </p:txBody>
      </p:sp>
      <p:sp>
        <p:nvSpPr>
          <p:cNvPr id="30" name="Text 28"/>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C1440E"/>
                </a:solidFill>
                <a:latin typeface="Calibri" pitchFamily="34" charset="0"/>
                <a:ea typeface="Calibri" pitchFamily="34" charset="-122"/>
                <a:cs typeface="Calibri" pitchFamily="34" charset="-120"/>
              </a:rPr>
              <a:t>A retrieval system that confidently cites a withdrawn safety procedure is worse than one that finds nothing.</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HANDS-ON · 45 MINUTES</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Lab 2 — Compare four extraction methods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15</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500" dirty="0">
                <a:solidFill>
                  <a:srgbClr val="1A2430"/>
                </a:solidFill>
                <a:latin typeface="Calibri" pitchFamily="34" charset="0"/>
                <a:ea typeface="Calibri" pitchFamily="34" charset="-122"/>
                <a:cs typeface="Calibri" pitchFamily="34" charset="-120"/>
              </a:rPr>
              <a:t>Ingest the same technical manual four ways. Ask the same ten questions. Record what each method preserves and where each fails.</a:t>
            </a:r>
            <a:endParaRPr lang="en-US" sz="1500" dirty="0"/>
          </a:p>
        </p:txBody>
      </p:sp>
      <p:sp>
        <p:nvSpPr>
          <p:cNvPr id="6" name="Shape 4"/>
          <p:cNvSpPr/>
          <p:nvPr/>
        </p:nvSpPr>
        <p:spPr>
          <a:xfrm>
            <a:off x="640080" y="1783080"/>
            <a:ext cx="3108960" cy="384048"/>
          </a:xfrm>
          <a:prstGeom prst="rect">
            <a:avLst/>
          </a:prstGeom>
          <a:solidFill>
            <a:srgbClr val="21295C"/>
          </a:solidFill>
          <a:ln/>
        </p:spPr>
        <p:txBody>
          <a:bodyPr/>
          <a:lstStyle/>
          <a:p>
            <a:endParaRPr lang="en-US"/>
          </a:p>
        </p:txBody>
      </p:sp>
      <p:sp>
        <p:nvSpPr>
          <p:cNvPr id="7" name="Text 5"/>
          <p:cNvSpPr/>
          <p:nvPr/>
        </p:nvSpPr>
        <p:spPr>
          <a:xfrm>
            <a:off x="749808" y="1783080"/>
            <a:ext cx="28895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Method</a:t>
            </a:r>
            <a:endParaRPr lang="en-US" sz="1100" dirty="0"/>
          </a:p>
        </p:txBody>
      </p:sp>
      <p:sp>
        <p:nvSpPr>
          <p:cNvPr id="8" name="Shape 6"/>
          <p:cNvSpPr/>
          <p:nvPr/>
        </p:nvSpPr>
        <p:spPr>
          <a:xfrm>
            <a:off x="3749040" y="1783080"/>
            <a:ext cx="7772400" cy="384048"/>
          </a:xfrm>
          <a:prstGeom prst="rect">
            <a:avLst/>
          </a:prstGeom>
          <a:solidFill>
            <a:srgbClr val="21295C"/>
          </a:solidFill>
          <a:ln/>
        </p:spPr>
        <p:txBody>
          <a:bodyPr/>
          <a:lstStyle/>
          <a:p>
            <a:endParaRPr lang="en-US"/>
          </a:p>
        </p:txBody>
      </p:sp>
      <p:sp>
        <p:nvSpPr>
          <p:cNvPr id="9" name="Text 7"/>
          <p:cNvSpPr/>
          <p:nvPr/>
        </p:nvSpPr>
        <p:spPr>
          <a:xfrm>
            <a:off x="3858768" y="1783080"/>
            <a:ext cx="75529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Specifically check</a:t>
            </a:r>
            <a:endParaRPr lang="en-US" sz="1100" dirty="0"/>
          </a:p>
        </p:txBody>
      </p:sp>
      <p:sp>
        <p:nvSpPr>
          <p:cNvPr id="10" name="Shape 8"/>
          <p:cNvSpPr/>
          <p:nvPr/>
        </p:nvSpPr>
        <p:spPr>
          <a:xfrm>
            <a:off x="640080" y="2167128"/>
            <a:ext cx="3108960" cy="777240"/>
          </a:xfrm>
          <a:prstGeom prst="rect">
            <a:avLst/>
          </a:prstGeom>
          <a:solidFill>
            <a:srgbClr val="FFFFFF"/>
          </a:solidFill>
          <a:ln w="9525">
            <a:solidFill>
              <a:srgbClr val="E3EBF0"/>
            </a:solidFill>
            <a:prstDash val="solid"/>
          </a:ln>
        </p:spPr>
        <p:txBody>
          <a:bodyPr/>
          <a:lstStyle/>
          <a:p>
            <a:endParaRPr lang="en-US"/>
          </a:p>
        </p:txBody>
      </p:sp>
      <p:sp>
        <p:nvSpPr>
          <p:cNvPr id="11" name="Text 9"/>
          <p:cNvSpPr/>
          <p:nvPr/>
        </p:nvSpPr>
        <p:spPr>
          <a:xfrm>
            <a:off x="749808" y="2167128"/>
            <a:ext cx="2889504" cy="7772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Naive text extraction</a:t>
            </a:r>
            <a:endParaRPr lang="en-US" sz="1050" dirty="0"/>
          </a:p>
        </p:txBody>
      </p:sp>
      <p:sp>
        <p:nvSpPr>
          <p:cNvPr id="12" name="Shape 10"/>
          <p:cNvSpPr/>
          <p:nvPr/>
        </p:nvSpPr>
        <p:spPr>
          <a:xfrm>
            <a:off x="3749040" y="2167128"/>
            <a:ext cx="7772400" cy="777240"/>
          </a:xfrm>
          <a:prstGeom prst="rect">
            <a:avLst/>
          </a:prstGeom>
          <a:solidFill>
            <a:srgbClr val="FFFFFF"/>
          </a:solidFill>
          <a:ln w="9525">
            <a:solidFill>
              <a:srgbClr val="E3EBF0"/>
            </a:solidFill>
            <a:prstDash val="solid"/>
          </a:ln>
        </p:spPr>
        <p:txBody>
          <a:bodyPr/>
          <a:lstStyle/>
          <a:p>
            <a:endParaRPr lang="en-US"/>
          </a:p>
        </p:txBody>
      </p:sp>
      <p:sp>
        <p:nvSpPr>
          <p:cNvPr id="13" name="Text 11"/>
          <p:cNvSpPr/>
          <p:nvPr/>
        </p:nvSpPr>
        <p:spPr>
          <a:xfrm>
            <a:off x="3858768" y="2167128"/>
            <a:ext cx="7552944" cy="7772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Is the torque table readable? Is column order correct? Are procedures intact?</a:t>
            </a:r>
            <a:endParaRPr lang="en-US" sz="1050" dirty="0"/>
          </a:p>
        </p:txBody>
      </p:sp>
      <p:sp>
        <p:nvSpPr>
          <p:cNvPr id="14" name="Shape 12"/>
          <p:cNvSpPr/>
          <p:nvPr/>
        </p:nvSpPr>
        <p:spPr>
          <a:xfrm>
            <a:off x="640080" y="2944368"/>
            <a:ext cx="3108960" cy="777240"/>
          </a:xfrm>
          <a:prstGeom prst="rect">
            <a:avLst/>
          </a:prstGeom>
          <a:solidFill>
            <a:srgbClr val="F5F9FB"/>
          </a:solidFill>
          <a:ln w="9525">
            <a:solidFill>
              <a:srgbClr val="E3EBF0"/>
            </a:solidFill>
            <a:prstDash val="solid"/>
          </a:ln>
        </p:spPr>
        <p:txBody>
          <a:bodyPr/>
          <a:lstStyle/>
          <a:p>
            <a:endParaRPr lang="en-US"/>
          </a:p>
        </p:txBody>
      </p:sp>
      <p:sp>
        <p:nvSpPr>
          <p:cNvPr id="15" name="Text 13"/>
          <p:cNvSpPr/>
          <p:nvPr/>
        </p:nvSpPr>
        <p:spPr>
          <a:xfrm>
            <a:off x="749808" y="2944368"/>
            <a:ext cx="2889504" cy="7772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Layout-aware extraction</a:t>
            </a:r>
            <a:endParaRPr lang="en-US" sz="1050" dirty="0"/>
          </a:p>
        </p:txBody>
      </p:sp>
      <p:sp>
        <p:nvSpPr>
          <p:cNvPr id="16" name="Shape 14"/>
          <p:cNvSpPr/>
          <p:nvPr/>
        </p:nvSpPr>
        <p:spPr>
          <a:xfrm>
            <a:off x="3749040" y="2944368"/>
            <a:ext cx="7772400" cy="777240"/>
          </a:xfrm>
          <a:prstGeom prst="rect">
            <a:avLst/>
          </a:prstGeom>
          <a:solidFill>
            <a:srgbClr val="F5F9FB"/>
          </a:solidFill>
          <a:ln w="9525">
            <a:solidFill>
              <a:srgbClr val="E3EBF0"/>
            </a:solidFill>
            <a:prstDash val="solid"/>
          </a:ln>
        </p:spPr>
        <p:txBody>
          <a:bodyPr/>
          <a:lstStyle/>
          <a:p>
            <a:endParaRPr lang="en-US"/>
          </a:p>
        </p:txBody>
      </p:sp>
      <p:sp>
        <p:nvSpPr>
          <p:cNvPr id="17" name="Text 15"/>
          <p:cNvSpPr/>
          <p:nvPr/>
        </p:nvSpPr>
        <p:spPr>
          <a:xfrm>
            <a:off x="3858768" y="2944368"/>
            <a:ext cx="7552944" cy="7772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Does reading order match the printed page? Are headers and footers excluded?</a:t>
            </a:r>
            <a:endParaRPr lang="en-US" sz="1050" dirty="0"/>
          </a:p>
        </p:txBody>
      </p:sp>
      <p:sp>
        <p:nvSpPr>
          <p:cNvPr id="18" name="Shape 16"/>
          <p:cNvSpPr/>
          <p:nvPr/>
        </p:nvSpPr>
        <p:spPr>
          <a:xfrm>
            <a:off x="640080" y="3721608"/>
            <a:ext cx="3108960" cy="777240"/>
          </a:xfrm>
          <a:prstGeom prst="rect">
            <a:avLst/>
          </a:prstGeom>
          <a:solidFill>
            <a:srgbClr val="FFFFFF"/>
          </a:solidFill>
          <a:ln w="9525">
            <a:solidFill>
              <a:srgbClr val="E3EBF0"/>
            </a:solidFill>
            <a:prstDash val="solid"/>
          </a:ln>
        </p:spPr>
        <p:txBody>
          <a:bodyPr/>
          <a:lstStyle/>
          <a:p>
            <a:endParaRPr lang="en-US"/>
          </a:p>
        </p:txBody>
      </p:sp>
      <p:sp>
        <p:nvSpPr>
          <p:cNvPr id="19" name="Text 17"/>
          <p:cNvSpPr/>
          <p:nvPr/>
        </p:nvSpPr>
        <p:spPr>
          <a:xfrm>
            <a:off x="749808" y="3721608"/>
            <a:ext cx="2889504" cy="7772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Table-preserving extraction</a:t>
            </a:r>
            <a:endParaRPr lang="en-US" sz="1050" dirty="0"/>
          </a:p>
        </p:txBody>
      </p:sp>
      <p:sp>
        <p:nvSpPr>
          <p:cNvPr id="20" name="Shape 18"/>
          <p:cNvSpPr/>
          <p:nvPr/>
        </p:nvSpPr>
        <p:spPr>
          <a:xfrm>
            <a:off x="3749040" y="3721608"/>
            <a:ext cx="7772400" cy="777240"/>
          </a:xfrm>
          <a:prstGeom prst="rect">
            <a:avLst/>
          </a:prstGeom>
          <a:solidFill>
            <a:srgbClr val="FFFFFF"/>
          </a:solidFill>
          <a:ln w="9525">
            <a:solidFill>
              <a:srgbClr val="E3EBF0"/>
            </a:solidFill>
            <a:prstDash val="solid"/>
          </a:ln>
        </p:spPr>
        <p:txBody>
          <a:bodyPr/>
          <a:lstStyle/>
          <a:p>
            <a:endParaRPr lang="en-US"/>
          </a:p>
        </p:txBody>
      </p:sp>
      <p:sp>
        <p:nvSpPr>
          <p:cNvPr id="21" name="Text 19"/>
          <p:cNvSpPr/>
          <p:nvPr/>
        </p:nvSpPr>
        <p:spPr>
          <a:xfrm>
            <a:off x="3858768" y="3721608"/>
            <a:ext cx="7552944" cy="7772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Can the system answer "what is the torque for part X on variant Y" correctly?</a:t>
            </a:r>
            <a:endParaRPr lang="en-US" sz="1050" dirty="0"/>
          </a:p>
        </p:txBody>
      </p:sp>
      <p:sp>
        <p:nvSpPr>
          <p:cNvPr id="22" name="Shape 20"/>
          <p:cNvSpPr/>
          <p:nvPr/>
        </p:nvSpPr>
        <p:spPr>
          <a:xfrm>
            <a:off x="640080" y="4498848"/>
            <a:ext cx="3108960" cy="777240"/>
          </a:xfrm>
          <a:prstGeom prst="rect">
            <a:avLst/>
          </a:prstGeom>
          <a:solidFill>
            <a:srgbClr val="F5F9FB"/>
          </a:solidFill>
          <a:ln w="9525">
            <a:solidFill>
              <a:srgbClr val="E3EBF0"/>
            </a:solidFill>
            <a:prstDash val="solid"/>
          </a:ln>
        </p:spPr>
        <p:txBody>
          <a:bodyPr/>
          <a:lstStyle/>
          <a:p>
            <a:endParaRPr lang="en-US"/>
          </a:p>
        </p:txBody>
      </p:sp>
      <p:sp>
        <p:nvSpPr>
          <p:cNvPr id="23" name="Text 21"/>
          <p:cNvSpPr/>
          <p:nvPr/>
        </p:nvSpPr>
        <p:spPr>
          <a:xfrm>
            <a:off x="749808" y="4498848"/>
            <a:ext cx="2889504" cy="7772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Metadata-rich extraction</a:t>
            </a:r>
            <a:endParaRPr lang="en-US" sz="1050" dirty="0"/>
          </a:p>
        </p:txBody>
      </p:sp>
      <p:sp>
        <p:nvSpPr>
          <p:cNvPr id="24" name="Shape 22"/>
          <p:cNvSpPr/>
          <p:nvPr/>
        </p:nvSpPr>
        <p:spPr>
          <a:xfrm>
            <a:off x="3749040" y="4498848"/>
            <a:ext cx="7772400" cy="777240"/>
          </a:xfrm>
          <a:prstGeom prst="rect">
            <a:avLst/>
          </a:prstGeom>
          <a:solidFill>
            <a:srgbClr val="F5F9FB"/>
          </a:solidFill>
          <a:ln w="9525">
            <a:solidFill>
              <a:srgbClr val="E3EBF0"/>
            </a:solidFill>
            <a:prstDash val="solid"/>
          </a:ln>
        </p:spPr>
        <p:txBody>
          <a:bodyPr/>
          <a:lstStyle/>
          <a:p>
            <a:endParaRPr lang="en-US"/>
          </a:p>
        </p:txBody>
      </p:sp>
      <p:sp>
        <p:nvSpPr>
          <p:cNvPr id="25" name="Text 23"/>
          <p:cNvSpPr/>
          <p:nvPr/>
        </p:nvSpPr>
        <p:spPr>
          <a:xfrm>
            <a:off x="3858768" y="4498848"/>
            <a:ext cx="7552944" cy="7772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Can you filter to one product family? Can you exclude superseded revisions?</a:t>
            </a:r>
            <a:endParaRPr lang="en-US" sz="1050" dirty="0"/>
          </a:p>
        </p:txBody>
      </p:sp>
      <p:sp>
        <p:nvSpPr>
          <p:cNvPr id="26" name="Shape 24"/>
          <p:cNvSpPr/>
          <p:nvPr/>
        </p:nvSpPr>
        <p:spPr>
          <a:xfrm>
            <a:off x="640080" y="5120640"/>
            <a:ext cx="10881360" cy="868680"/>
          </a:xfrm>
          <a:prstGeom prst="roundRect">
            <a:avLst>
              <a:gd name="adj" fmla="val 6316"/>
            </a:avLst>
          </a:prstGeom>
          <a:solidFill>
            <a:srgbClr val="E4EEF4"/>
          </a:solidFill>
          <a:ln w="12700">
            <a:solidFill>
              <a:srgbClr val="C9DCE7"/>
            </a:solidFill>
            <a:prstDash val="solid"/>
          </a:ln>
        </p:spPr>
        <p:txBody>
          <a:bodyPr/>
          <a:lstStyle/>
          <a:p>
            <a:endParaRPr lang="en-US"/>
          </a:p>
        </p:txBody>
      </p:sp>
      <p:sp>
        <p:nvSpPr>
          <p:cNvPr id="27" name="Text 25"/>
          <p:cNvSpPr/>
          <p:nvPr/>
        </p:nvSpPr>
        <p:spPr>
          <a:xfrm>
            <a:off x="914400" y="5285232"/>
            <a:ext cx="10332720" cy="566928"/>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Deliverable: a four-by-ten grid of which questions each method answers correctly, plus one example of a specific extraction failure and the wrong answer it caused.</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22960" y="2194560"/>
            <a:ext cx="10058400" cy="365760"/>
          </a:xfrm>
          <a:prstGeom prst="rect">
            <a:avLst/>
          </a:prstGeom>
          <a:noFill/>
          <a:ln/>
        </p:spPr>
        <p:txBody>
          <a:bodyPr wrap="square" rtlCol="0" anchor="ctr"/>
          <a:lstStyle/>
          <a:p>
            <a:pPr marL="0" indent="0">
              <a:buNone/>
            </a:pPr>
            <a:r>
              <a:rPr lang="en-US" sz="1200" b="1" kern="0" spc="300" dirty="0">
                <a:solidFill>
                  <a:srgbClr val="9FD0E3"/>
                </a:solidFill>
                <a:latin typeface="Calibri" pitchFamily="34" charset="0"/>
                <a:ea typeface="Calibri" pitchFamily="34" charset="-122"/>
                <a:cs typeface="Calibri" pitchFamily="34" charset="-120"/>
              </a:rPr>
              <a:t>MODULE 3</a:t>
            </a:r>
            <a:endParaRPr lang="en-US" sz="1200" dirty="0"/>
          </a:p>
        </p:txBody>
      </p:sp>
      <p:sp>
        <p:nvSpPr>
          <p:cNvPr id="3" name="Text 1"/>
          <p:cNvSpPr/>
          <p:nvPr/>
        </p:nvSpPr>
        <p:spPr>
          <a:xfrm>
            <a:off x="822960" y="2606040"/>
            <a:ext cx="10241280" cy="10972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Retrieval Architecture</a:t>
            </a:r>
            <a:endParaRPr lang="en-US" sz="3400" dirty="0"/>
          </a:p>
        </p:txBody>
      </p:sp>
      <p:sp>
        <p:nvSpPr>
          <p:cNvPr id="4" name="Text 2"/>
          <p:cNvSpPr/>
          <p:nvPr/>
        </p:nvSpPr>
        <p:spPr>
          <a:xfrm>
            <a:off x="822960" y="3794760"/>
            <a:ext cx="9692640" cy="822960"/>
          </a:xfrm>
          <a:prstGeom prst="rect">
            <a:avLst/>
          </a:prstGeom>
          <a:noFill/>
          <a:ln/>
        </p:spPr>
        <p:txBody>
          <a:bodyPr wrap="square" rtlCol="0" anchor="ctr"/>
          <a:lstStyle/>
          <a:p>
            <a:pPr marL="0" indent="0">
              <a:lnSpc>
                <a:spcPts val="2100"/>
              </a:lnSpc>
              <a:buNone/>
            </a:pPr>
            <a:r>
              <a:rPr lang="en-US" sz="1500" dirty="0">
                <a:solidFill>
                  <a:srgbClr val="D5E8F0"/>
                </a:solidFill>
                <a:latin typeface="Calibri" pitchFamily="34" charset="0"/>
                <a:ea typeface="Calibri" pitchFamily="34" charset="-122"/>
                <a:cs typeface="Calibri" pitchFamily="34" charset="-120"/>
              </a:rPr>
              <a:t>Finding the passage that answers the question — not merely one that resembles it.</a:t>
            </a:r>
            <a:endParaRPr lang="en-US" sz="1500" dirty="0"/>
          </a:p>
        </p:txBody>
      </p:sp>
      <p:sp>
        <p:nvSpPr>
          <p:cNvPr id="5" name="Text 3"/>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3 · 3.1</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Dense, sparse and hybrid retrieval</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17</a:t>
            </a:r>
            <a:endParaRPr lang="en-US" sz="1000" dirty="0"/>
          </a:p>
        </p:txBody>
      </p:sp>
      <p:sp>
        <p:nvSpPr>
          <p:cNvPr id="5" name="Shape 3"/>
          <p:cNvSpPr/>
          <p:nvPr/>
        </p:nvSpPr>
        <p:spPr>
          <a:xfrm>
            <a:off x="640080" y="1280160"/>
            <a:ext cx="3474720" cy="2651760"/>
          </a:xfrm>
          <a:prstGeom prst="roundRect">
            <a:avLst>
              <a:gd name="adj" fmla="val 2069"/>
            </a:avLst>
          </a:prstGeom>
          <a:solidFill>
            <a:srgbClr val="EEF3F7"/>
          </a:solidFill>
          <a:ln w="12700">
            <a:solidFill>
              <a:srgbClr val="D8E4EC"/>
            </a:solidFill>
            <a:prstDash val="solid"/>
          </a:ln>
        </p:spPr>
        <p:txBody>
          <a:bodyPr/>
          <a:lstStyle/>
          <a:p>
            <a:endParaRPr lang="en-US"/>
          </a:p>
        </p:txBody>
      </p:sp>
      <p:sp>
        <p:nvSpPr>
          <p:cNvPr id="6" name="Text 4"/>
          <p:cNvSpPr/>
          <p:nvPr/>
        </p:nvSpPr>
        <p:spPr>
          <a:xfrm>
            <a:off x="841248" y="1417320"/>
            <a:ext cx="3072384" cy="347472"/>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Dense (vector)</a:t>
            </a:r>
            <a:endParaRPr lang="en-US" sz="1400" dirty="0"/>
          </a:p>
        </p:txBody>
      </p:sp>
      <p:sp>
        <p:nvSpPr>
          <p:cNvPr id="7" name="Text 5"/>
          <p:cNvSpPr/>
          <p:nvPr/>
        </p:nvSpPr>
        <p:spPr>
          <a:xfrm>
            <a:off x="841248" y="1783080"/>
            <a:ext cx="3072384" cy="19933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Embeds query and content; retrieves by semantic similarity.</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Strong: paraphrase, synonyms, conceptual questions.</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Weak: exact identifiers. A search for part HX-4471-B may return a similar-looking part number, confidently.</a:t>
            </a:r>
            <a:endParaRPr lang="en-US" sz="1150" dirty="0"/>
          </a:p>
        </p:txBody>
      </p:sp>
      <p:sp>
        <p:nvSpPr>
          <p:cNvPr id="8" name="Shape 6"/>
          <p:cNvSpPr/>
          <p:nvPr/>
        </p:nvSpPr>
        <p:spPr>
          <a:xfrm>
            <a:off x="4343400" y="1280160"/>
            <a:ext cx="3474720" cy="2651760"/>
          </a:xfrm>
          <a:prstGeom prst="roundRect">
            <a:avLst>
              <a:gd name="adj" fmla="val 2069"/>
            </a:avLst>
          </a:prstGeom>
          <a:solidFill>
            <a:srgbClr val="EEF3F7"/>
          </a:solidFill>
          <a:ln w="12700">
            <a:solidFill>
              <a:srgbClr val="D8E4EC"/>
            </a:solidFill>
            <a:prstDash val="solid"/>
          </a:ln>
        </p:spPr>
        <p:txBody>
          <a:bodyPr/>
          <a:lstStyle/>
          <a:p>
            <a:endParaRPr lang="en-US"/>
          </a:p>
        </p:txBody>
      </p:sp>
      <p:sp>
        <p:nvSpPr>
          <p:cNvPr id="9" name="Text 7"/>
          <p:cNvSpPr/>
          <p:nvPr/>
        </p:nvSpPr>
        <p:spPr>
          <a:xfrm>
            <a:off x="4544568" y="1417320"/>
            <a:ext cx="3072384" cy="347472"/>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Sparse (keyword, BM25)</a:t>
            </a:r>
            <a:endParaRPr lang="en-US" sz="1400" dirty="0"/>
          </a:p>
        </p:txBody>
      </p:sp>
      <p:sp>
        <p:nvSpPr>
          <p:cNvPr id="10" name="Text 8"/>
          <p:cNvSpPr/>
          <p:nvPr/>
        </p:nvSpPr>
        <p:spPr>
          <a:xfrm>
            <a:off x="4544568" y="1783080"/>
            <a:ext cx="3072384" cy="19933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Matches terms, weighted by rarity.</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Strong: exact identifiers, error codes, part numbers, acronyms.</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Weak: paraphrase. A question phrased differently from the document finds nothing.</a:t>
            </a:r>
            <a:endParaRPr lang="en-US" sz="1150" dirty="0"/>
          </a:p>
        </p:txBody>
      </p:sp>
      <p:sp>
        <p:nvSpPr>
          <p:cNvPr id="11" name="Shape 9"/>
          <p:cNvSpPr/>
          <p:nvPr/>
        </p:nvSpPr>
        <p:spPr>
          <a:xfrm>
            <a:off x="8046720" y="1280160"/>
            <a:ext cx="3474720" cy="2651760"/>
          </a:xfrm>
          <a:prstGeom prst="roundRect">
            <a:avLst>
              <a:gd name="adj" fmla="val 2069"/>
            </a:avLst>
          </a:prstGeom>
          <a:solidFill>
            <a:srgbClr val="EDF5EE"/>
          </a:solidFill>
          <a:ln w="12700">
            <a:solidFill>
              <a:srgbClr val="D8E4EC"/>
            </a:solidFill>
            <a:prstDash val="solid"/>
          </a:ln>
        </p:spPr>
        <p:txBody>
          <a:bodyPr/>
          <a:lstStyle/>
          <a:p>
            <a:endParaRPr lang="en-US"/>
          </a:p>
        </p:txBody>
      </p:sp>
      <p:sp>
        <p:nvSpPr>
          <p:cNvPr id="12" name="Text 10"/>
          <p:cNvSpPr/>
          <p:nvPr/>
        </p:nvSpPr>
        <p:spPr>
          <a:xfrm>
            <a:off x="8247888" y="1417320"/>
            <a:ext cx="3072384" cy="347472"/>
          </a:xfrm>
          <a:prstGeom prst="rect">
            <a:avLst/>
          </a:prstGeom>
          <a:noFill/>
          <a:ln/>
        </p:spPr>
        <p:txBody>
          <a:bodyPr wrap="square" lIns="0" tIns="0" rIns="0" bIns="0" rtlCol="0" anchor="ctr"/>
          <a:lstStyle/>
          <a:p>
            <a:pPr marL="0" indent="0">
              <a:buNone/>
            </a:pPr>
            <a:r>
              <a:rPr lang="en-US" sz="1400" b="1" dirty="0">
                <a:solidFill>
                  <a:srgbClr val="1E7A3C"/>
                </a:solidFill>
                <a:latin typeface="Calibri" pitchFamily="34" charset="0"/>
                <a:ea typeface="Calibri" pitchFamily="34" charset="-122"/>
                <a:cs typeface="Calibri" pitchFamily="34" charset="-120"/>
              </a:rPr>
              <a:t>Hybrid</a:t>
            </a:r>
            <a:endParaRPr lang="en-US" sz="1400" dirty="0"/>
          </a:p>
        </p:txBody>
      </p:sp>
      <p:sp>
        <p:nvSpPr>
          <p:cNvPr id="13" name="Text 11"/>
          <p:cNvSpPr/>
          <p:nvPr/>
        </p:nvSpPr>
        <p:spPr>
          <a:xfrm>
            <a:off x="8247888" y="1783080"/>
            <a:ext cx="3072384" cy="199339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Runs both, fuses the ranked results.</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Strong: both of the above. In industrial documentation, where part numbers and prose coexist, this is close to mandatory.</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Cost: two indexes and a fusion step.</a:t>
            </a:r>
            <a:endParaRPr lang="en-US" sz="1150" dirty="0"/>
          </a:p>
        </p:txBody>
      </p:sp>
      <p:sp>
        <p:nvSpPr>
          <p:cNvPr id="14" name="Shape 12"/>
          <p:cNvSpPr/>
          <p:nvPr/>
        </p:nvSpPr>
        <p:spPr>
          <a:xfrm>
            <a:off x="640080" y="4160520"/>
            <a:ext cx="10881360" cy="1463040"/>
          </a:xfrm>
          <a:prstGeom prst="roundRect">
            <a:avLst>
              <a:gd name="adj" fmla="val 3750"/>
            </a:avLst>
          </a:prstGeom>
          <a:solidFill>
            <a:srgbClr val="EDF5EE"/>
          </a:solidFill>
          <a:ln w="12700">
            <a:solidFill>
              <a:srgbClr val="C2DCC8"/>
            </a:solidFill>
            <a:prstDash val="solid"/>
          </a:ln>
        </p:spPr>
        <p:txBody>
          <a:bodyPr/>
          <a:lstStyle/>
          <a:p>
            <a:endParaRPr lang="en-US"/>
          </a:p>
        </p:txBody>
      </p:sp>
      <p:sp>
        <p:nvSpPr>
          <p:cNvPr id="15" name="Text 13"/>
          <p:cNvSpPr/>
          <p:nvPr/>
        </p:nvSpPr>
        <p:spPr>
          <a:xfrm>
            <a:off x="914400" y="4325112"/>
            <a:ext cx="10332720" cy="320040"/>
          </a:xfrm>
          <a:prstGeom prst="rect">
            <a:avLst/>
          </a:prstGeom>
          <a:noFill/>
          <a:ln/>
        </p:spPr>
        <p:txBody>
          <a:bodyPr wrap="square" lIns="0" tIns="0" rIns="0" bIns="0" rtlCol="0" anchor="ctr"/>
          <a:lstStyle/>
          <a:p>
            <a:pPr marL="0" indent="0">
              <a:buNone/>
            </a:pPr>
            <a:r>
              <a:rPr lang="en-US" sz="1350" b="1" dirty="0">
                <a:solidFill>
                  <a:srgbClr val="1E7A3C"/>
                </a:solidFill>
                <a:latin typeface="Calibri" pitchFamily="34" charset="0"/>
                <a:ea typeface="Calibri" pitchFamily="34" charset="-122"/>
                <a:cs typeface="Calibri" pitchFamily="34" charset="-120"/>
              </a:rPr>
              <a:t>Why hybrid is the default for industrial content</a:t>
            </a:r>
            <a:endParaRPr lang="en-US" sz="1350" dirty="0"/>
          </a:p>
        </p:txBody>
      </p:sp>
      <p:sp>
        <p:nvSpPr>
          <p:cNvPr id="16" name="Text 14"/>
          <p:cNvSpPr/>
          <p:nvPr/>
        </p:nvSpPr>
        <p:spPr>
          <a:xfrm>
            <a:off x="914400" y="4663440"/>
            <a:ext cx="10332720" cy="82296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Your queries mix natural language and exact identifiers in the same sentence: "what is the torque spec for the mounting bolts on HX-4471-B". Dense retrieval handles the first half and can quietly fail on the second. Sparse handles the second and fails on the first. Nothing about the failure is visible — you get a plausible passage about a different part. Hybrid is typically the single largest retrieval improvement available on technical corpora.</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3 · 3.2</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Reranking — the highest-return addition</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18</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450" dirty="0">
                <a:solidFill>
                  <a:srgbClr val="5A6B7C"/>
                </a:solidFill>
                <a:latin typeface="Calibri" pitchFamily="34" charset="0"/>
                <a:ea typeface="Calibri" pitchFamily="34" charset="-122"/>
                <a:cs typeface="Calibri" pitchFamily="34" charset="-120"/>
              </a:rPr>
              <a:t>Retrieve broadly, then reorder precisely. Two stages with different cost profiles and different strengths.</a:t>
            </a:r>
            <a:endParaRPr lang="en-US" sz="1450" dirty="0"/>
          </a:p>
        </p:txBody>
      </p:sp>
      <p:sp>
        <p:nvSpPr>
          <p:cNvPr id="6" name="Shape 4"/>
          <p:cNvSpPr/>
          <p:nvPr/>
        </p:nvSpPr>
        <p:spPr>
          <a:xfrm>
            <a:off x="640080" y="1828800"/>
            <a:ext cx="2610612" cy="2194560"/>
          </a:xfrm>
          <a:prstGeom prst="roundRect">
            <a:avLst>
              <a:gd name="adj" fmla="val 2500"/>
            </a:avLst>
          </a:prstGeom>
          <a:solidFill>
            <a:srgbClr val="E4EEF4"/>
          </a:solidFill>
          <a:ln w="12700">
            <a:solidFill>
              <a:srgbClr val="D3E1EA"/>
            </a:solidFill>
            <a:prstDash val="solid"/>
          </a:ln>
        </p:spPr>
        <p:txBody>
          <a:bodyPr/>
          <a:lstStyle/>
          <a:p>
            <a:endParaRPr lang="en-US"/>
          </a:p>
        </p:txBody>
      </p:sp>
      <p:sp>
        <p:nvSpPr>
          <p:cNvPr id="7" name="Shape 5"/>
          <p:cNvSpPr/>
          <p:nvPr/>
        </p:nvSpPr>
        <p:spPr>
          <a:xfrm>
            <a:off x="1762506" y="2029968"/>
            <a:ext cx="365760" cy="365760"/>
          </a:xfrm>
          <a:prstGeom prst="ellipse">
            <a:avLst/>
          </a:prstGeom>
          <a:solidFill>
            <a:srgbClr val="065A82"/>
          </a:solidFill>
          <a:ln/>
        </p:spPr>
        <p:txBody>
          <a:bodyPr/>
          <a:lstStyle/>
          <a:p>
            <a:endParaRPr lang="en-US"/>
          </a:p>
        </p:txBody>
      </p:sp>
      <p:sp>
        <p:nvSpPr>
          <p:cNvPr id="8" name="Text 6"/>
          <p:cNvSpPr/>
          <p:nvPr/>
        </p:nvSpPr>
        <p:spPr>
          <a:xfrm>
            <a:off x="1762506" y="202996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731520" y="2542032"/>
            <a:ext cx="2427732" cy="320040"/>
          </a:xfrm>
          <a:prstGeom prst="rect">
            <a:avLst/>
          </a:prstGeom>
          <a:noFill/>
          <a:ln/>
        </p:spPr>
        <p:txBody>
          <a:bodyPr wrap="square" lIns="0" tIns="0" rIns="0" bIns="0" rtlCol="0" anchor="ctr"/>
          <a:lstStyle/>
          <a:p>
            <a:pPr marL="0" indent="0" algn="ctr">
              <a:buNone/>
            </a:pPr>
            <a:r>
              <a:rPr lang="en-US" sz="1300" b="1" dirty="0">
                <a:solidFill>
                  <a:srgbClr val="1A2430"/>
                </a:solidFill>
                <a:latin typeface="Cambria" pitchFamily="34" charset="0"/>
                <a:ea typeface="Cambria" pitchFamily="34" charset="-122"/>
                <a:cs typeface="Cambria" pitchFamily="34" charset="-120"/>
              </a:rPr>
              <a:t>Retrieve</a:t>
            </a:r>
            <a:endParaRPr lang="en-US" sz="1300" dirty="0"/>
          </a:p>
        </p:txBody>
      </p:sp>
      <p:sp>
        <p:nvSpPr>
          <p:cNvPr id="10" name="Text 8"/>
          <p:cNvSpPr/>
          <p:nvPr/>
        </p:nvSpPr>
        <p:spPr>
          <a:xfrm>
            <a:off x="731520" y="2889504"/>
            <a:ext cx="2427732" cy="1005840"/>
          </a:xfrm>
          <a:prstGeom prst="rect">
            <a:avLst/>
          </a:prstGeom>
          <a:noFill/>
          <a:ln/>
        </p:spPr>
        <p:txBody>
          <a:bodyPr wrap="square" lIns="0" tIns="0" rIns="0" bIns="0" rtlCol="0" anchor="ctr"/>
          <a:lstStyle/>
          <a:p>
            <a:pPr marL="0" indent="0" algn="ctr">
              <a:lnSpc>
                <a:spcPts val="1300"/>
              </a:lnSpc>
              <a:buNone/>
            </a:pPr>
            <a:r>
              <a:rPr lang="en-US" sz="1050" dirty="0">
                <a:solidFill>
                  <a:srgbClr val="5A6B7C"/>
                </a:solidFill>
                <a:latin typeface="Calibri" pitchFamily="34" charset="0"/>
                <a:ea typeface="Calibri" pitchFamily="34" charset="-122"/>
                <a:cs typeface="Calibri" pitchFamily="34" charset="-120"/>
              </a:rPr>
              <a:t>Fetch 30 to 50 candidates by hybrid search. Fast, cheap, high recall</a:t>
            </a:r>
            <a:endParaRPr lang="en-US" sz="1050" dirty="0"/>
          </a:p>
        </p:txBody>
      </p:sp>
      <p:sp>
        <p:nvSpPr>
          <p:cNvPr id="11" name="Shape 9"/>
          <p:cNvSpPr/>
          <p:nvPr/>
        </p:nvSpPr>
        <p:spPr>
          <a:xfrm>
            <a:off x="3396996" y="1828800"/>
            <a:ext cx="2610612" cy="2194560"/>
          </a:xfrm>
          <a:prstGeom prst="roundRect">
            <a:avLst>
              <a:gd name="adj" fmla="val 2500"/>
            </a:avLst>
          </a:prstGeom>
          <a:solidFill>
            <a:srgbClr val="EEF3F7"/>
          </a:solidFill>
          <a:ln w="12700">
            <a:solidFill>
              <a:srgbClr val="D3E1EA"/>
            </a:solidFill>
            <a:prstDash val="solid"/>
          </a:ln>
        </p:spPr>
        <p:txBody>
          <a:bodyPr/>
          <a:lstStyle/>
          <a:p>
            <a:endParaRPr lang="en-US"/>
          </a:p>
        </p:txBody>
      </p:sp>
      <p:sp>
        <p:nvSpPr>
          <p:cNvPr id="12" name="Shape 10"/>
          <p:cNvSpPr/>
          <p:nvPr/>
        </p:nvSpPr>
        <p:spPr>
          <a:xfrm>
            <a:off x="4519422" y="2029968"/>
            <a:ext cx="365760" cy="365760"/>
          </a:xfrm>
          <a:prstGeom prst="ellipse">
            <a:avLst/>
          </a:prstGeom>
          <a:solidFill>
            <a:srgbClr val="065A82"/>
          </a:solidFill>
          <a:ln/>
        </p:spPr>
        <p:txBody>
          <a:bodyPr/>
          <a:lstStyle/>
          <a:p>
            <a:endParaRPr lang="en-US"/>
          </a:p>
        </p:txBody>
      </p:sp>
      <p:sp>
        <p:nvSpPr>
          <p:cNvPr id="13" name="Text 11"/>
          <p:cNvSpPr/>
          <p:nvPr/>
        </p:nvSpPr>
        <p:spPr>
          <a:xfrm>
            <a:off x="4519422" y="202996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3488436" y="2542032"/>
            <a:ext cx="2427732" cy="320040"/>
          </a:xfrm>
          <a:prstGeom prst="rect">
            <a:avLst/>
          </a:prstGeom>
          <a:noFill/>
          <a:ln/>
        </p:spPr>
        <p:txBody>
          <a:bodyPr wrap="square" lIns="0" tIns="0" rIns="0" bIns="0" rtlCol="0" anchor="ctr"/>
          <a:lstStyle/>
          <a:p>
            <a:pPr marL="0" indent="0" algn="ctr">
              <a:buNone/>
            </a:pPr>
            <a:r>
              <a:rPr lang="en-US" sz="1300" b="1" dirty="0">
                <a:solidFill>
                  <a:srgbClr val="1A2430"/>
                </a:solidFill>
                <a:latin typeface="Cambria" pitchFamily="34" charset="0"/>
                <a:ea typeface="Cambria" pitchFamily="34" charset="-122"/>
                <a:cs typeface="Cambria" pitchFamily="34" charset="-120"/>
              </a:rPr>
              <a:t>Rerank</a:t>
            </a:r>
            <a:endParaRPr lang="en-US" sz="1300" dirty="0"/>
          </a:p>
        </p:txBody>
      </p:sp>
      <p:sp>
        <p:nvSpPr>
          <p:cNvPr id="15" name="Text 13"/>
          <p:cNvSpPr/>
          <p:nvPr/>
        </p:nvSpPr>
        <p:spPr>
          <a:xfrm>
            <a:off x="3488436" y="2889504"/>
            <a:ext cx="2427732" cy="1005840"/>
          </a:xfrm>
          <a:prstGeom prst="rect">
            <a:avLst/>
          </a:prstGeom>
          <a:noFill/>
          <a:ln/>
        </p:spPr>
        <p:txBody>
          <a:bodyPr wrap="square" lIns="0" tIns="0" rIns="0" bIns="0" rtlCol="0" anchor="ctr"/>
          <a:lstStyle/>
          <a:p>
            <a:pPr marL="0" indent="0" algn="ctr">
              <a:lnSpc>
                <a:spcPts val="1300"/>
              </a:lnSpc>
              <a:buNone/>
            </a:pPr>
            <a:r>
              <a:rPr lang="en-US" sz="1050" dirty="0">
                <a:solidFill>
                  <a:srgbClr val="5A6B7C"/>
                </a:solidFill>
                <a:latin typeface="Calibri" pitchFamily="34" charset="0"/>
                <a:ea typeface="Calibri" pitchFamily="34" charset="-122"/>
                <a:cs typeface="Calibri" pitchFamily="34" charset="-120"/>
              </a:rPr>
              <a:t>A cross-encoder scores each candidate against the query directly. Slower per item, far more accurate</a:t>
            </a:r>
            <a:endParaRPr lang="en-US" sz="1050" dirty="0"/>
          </a:p>
        </p:txBody>
      </p:sp>
      <p:sp>
        <p:nvSpPr>
          <p:cNvPr id="16" name="Shape 14"/>
          <p:cNvSpPr/>
          <p:nvPr/>
        </p:nvSpPr>
        <p:spPr>
          <a:xfrm>
            <a:off x="6153912" y="1828800"/>
            <a:ext cx="2610612" cy="2194560"/>
          </a:xfrm>
          <a:prstGeom prst="roundRect">
            <a:avLst>
              <a:gd name="adj" fmla="val 2500"/>
            </a:avLst>
          </a:prstGeom>
          <a:solidFill>
            <a:srgbClr val="E4EEF4"/>
          </a:solidFill>
          <a:ln w="12700">
            <a:solidFill>
              <a:srgbClr val="D3E1EA"/>
            </a:solidFill>
            <a:prstDash val="solid"/>
          </a:ln>
        </p:spPr>
        <p:txBody>
          <a:bodyPr/>
          <a:lstStyle/>
          <a:p>
            <a:endParaRPr lang="en-US"/>
          </a:p>
        </p:txBody>
      </p:sp>
      <p:sp>
        <p:nvSpPr>
          <p:cNvPr id="17" name="Shape 15"/>
          <p:cNvSpPr/>
          <p:nvPr/>
        </p:nvSpPr>
        <p:spPr>
          <a:xfrm>
            <a:off x="7276338" y="2029968"/>
            <a:ext cx="365760" cy="365760"/>
          </a:xfrm>
          <a:prstGeom prst="ellipse">
            <a:avLst/>
          </a:prstGeom>
          <a:solidFill>
            <a:srgbClr val="065A82"/>
          </a:solidFill>
          <a:ln/>
        </p:spPr>
        <p:txBody>
          <a:bodyPr/>
          <a:lstStyle/>
          <a:p>
            <a:endParaRPr lang="en-US"/>
          </a:p>
        </p:txBody>
      </p:sp>
      <p:sp>
        <p:nvSpPr>
          <p:cNvPr id="18" name="Text 16"/>
          <p:cNvSpPr/>
          <p:nvPr/>
        </p:nvSpPr>
        <p:spPr>
          <a:xfrm>
            <a:off x="7276338" y="202996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6245352" y="2542032"/>
            <a:ext cx="2427732" cy="320040"/>
          </a:xfrm>
          <a:prstGeom prst="rect">
            <a:avLst/>
          </a:prstGeom>
          <a:noFill/>
          <a:ln/>
        </p:spPr>
        <p:txBody>
          <a:bodyPr wrap="square" lIns="0" tIns="0" rIns="0" bIns="0" rtlCol="0" anchor="ctr"/>
          <a:lstStyle/>
          <a:p>
            <a:pPr marL="0" indent="0" algn="ctr">
              <a:buNone/>
            </a:pPr>
            <a:r>
              <a:rPr lang="en-US" sz="1300" b="1" dirty="0">
                <a:solidFill>
                  <a:srgbClr val="1A2430"/>
                </a:solidFill>
                <a:latin typeface="Cambria" pitchFamily="34" charset="0"/>
                <a:ea typeface="Cambria" pitchFamily="34" charset="-122"/>
                <a:cs typeface="Cambria" pitchFamily="34" charset="-120"/>
              </a:rPr>
              <a:t>Cut</a:t>
            </a:r>
            <a:endParaRPr lang="en-US" sz="1300" dirty="0"/>
          </a:p>
        </p:txBody>
      </p:sp>
      <p:sp>
        <p:nvSpPr>
          <p:cNvPr id="20" name="Text 18"/>
          <p:cNvSpPr/>
          <p:nvPr/>
        </p:nvSpPr>
        <p:spPr>
          <a:xfrm>
            <a:off x="6245352" y="2889504"/>
            <a:ext cx="2427732" cy="1005840"/>
          </a:xfrm>
          <a:prstGeom prst="rect">
            <a:avLst/>
          </a:prstGeom>
          <a:noFill/>
          <a:ln/>
        </p:spPr>
        <p:txBody>
          <a:bodyPr wrap="square" lIns="0" tIns="0" rIns="0" bIns="0" rtlCol="0" anchor="ctr"/>
          <a:lstStyle/>
          <a:p>
            <a:pPr marL="0" indent="0" algn="ctr">
              <a:lnSpc>
                <a:spcPts val="1300"/>
              </a:lnSpc>
              <a:buNone/>
            </a:pPr>
            <a:r>
              <a:rPr lang="en-US" sz="1050" dirty="0">
                <a:solidFill>
                  <a:srgbClr val="5A6B7C"/>
                </a:solidFill>
                <a:latin typeface="Calibri" pitchFamily="34" charset="0"/>
                <a:ea typeface="Calibri" pitchFamily="34" charset="-122"/>
                <a:cs typeface="Calibri" pitchFamily="34" charset="-120"/>
              </a:rPr>
              <a:t>Keep the top three to five. This is what the model actually sees</a:t>
            </a:r>
            <a:endParaRPr lang="en-US" sz="1050" dirty="0"/>
          </a:p>
        </p:txBody>
      </p:sp>
      <p:sp>
        <p:nvSpPr>
          <p:cNvPr id="21" name="Shape 19"/>
          <p:cNvSpPr/>
          <p:nvPr/>
        </p:nvSpPr>
        <p:spPr>
          <a:xfrm>
            <a:off x="8910828" y="1828800"/>
            <a:ext cx="2610612" cy="2194560"/>
          </a:xfrm>
          <a:prstGeom prst="roundRect">
            <a:avLst>
              <a:gd name="adj" fmla="val 2500"/>
            </a:avLst>
          </a:prstGeom>
          <a:solidFill>
            <a:srgbClr val="EEF3F7"/>
          </a:solidFill>
          <a:ln w="12700">
            <a:solidFill>
              <a:srgbClr val="D3E1EA"/>
            </a:solidFill>
            <a:prstDash val="solid"/>
          </a:ln>
        </p:spPr>
        <p:txBody>
          <a:bodyPr/>
          <a:lstStyle/>
          <a:p>
            <a:endParaRPr lang="en-US"/>
          </a:p>
        </p:txBody>
      </p:sp>
      <p:sp>
        <p:nvSpPr>
          <p:cNvPr id="22" name="Shape 20"/>
          <p:cNvSpPr/>
          <p:nvPr/>
        </p:nvSpPr>
        <p:spPr>
          <a:xfrm>
            <a:off x="10033254" y="2029968"/>
            <a:ext cx="365760" cy="365760"/>
          </a:xfrm>
          <a:prstGeom prst="ellipse">
            <a:avLst/>
          </a:prstGeom>
          <a:solidFill>
            <a:srgbClr val="065A82"/>
          </a:solidFill>
          <a:ln/>
        </p:spPr>
        <p:txBody>
          <a:bodyPr/>
          <a:lstStyle/>
          <a:p>
            <a:endParaRPr lang="en-US"/>
          </a:p>
        </p:txBody>
      </p:sp>
      <p:sp>
        <p:nvSpPr>
          <p:cNvPr id="23" name="Text 21"/>
          <p:cNvSpPr/>
          <p:nvPr/>
        </p:nvSpPr>
        <p:spPr>
          <a:xfrm>
            <a:off x="10033254" y="202996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9002268" y="2542032"/>
            <a:ext cx="2427732" cy="320040"/>
          </a:xfrm>
          <a:prstGeom prst="rect">
            <a:avLst/>
          </a:prstGeom>
          <a:noFill/>
          <a:ln/>
        </p:spPr>
        <p:txBody>
          <a:bodyPr wrap="square" lIns="0" tIns="0" rIns="0" bIns="0" rtlCol="0" anchor="ctr"/>
          <a:lstStyle/>
          <a:p>
            <a:pPr marL="0" indent="0" algn="ctr">
              <a:buNone/>
            </a:pPr>
            <a:r>
              <a:rPr lang="en-US" sz="1300" b="1" dirty="0">
                <a:solidFill>
                  <a:srgbClr val="1A2430"/>
                </a:solidFill>
                <a:latin typeface="Cambria" pitchFamily="34" charset="0"/>
                <a:ea typeface="Cambria" pitchFamily="34" charset="-122"/>
                <a:cs typeface="Cambria" pitchFamily="34" charset="-120"/>
              </a:rPr>
              <a:t>Generate</a:t>
            </a:r>
            <a:endParaRPr lang="en-US" sz="1300" dirty="0"/>
          </a:p>
        </p:txBody>
      </p:sp>
      <p:sp>
        <p:nvSpPr>
          <p:cNvPr id="25" name="Text 23"/>
          <p:cNvSpPr/>
          <p:nvPr/>
        </p:nvSpPr>
        <p:spPr>
          <a:xfrm>
            <a:off x="9002268" y="2889504"/>
            <a:ext cx="2427732" cy="1005840"/>
          </a:xfrm>
          <a:prstGeom prst="rect">
            <a:avLst/>
          </a:prstGeom>
          <a:noFill/>
          <a:ln/>
        </p:spPr>
        <p:txBody>
          <a:bodyPr wrap="square" lIns="0" tIns="0" rIns="0" bIns="0" rtlCol="0" anchor="ctr"/>
          <a:lstStyle/>
          <a:p>
            <a:pPr marL="0" indent="0" algn="ctr">
              <a:lnSpc>
                <a:spcPts val="1300"/>
              </a:lnSpc>
              <a:buNone/>
            </a:pPr>
            <a:r>
              <a:rPr lang="en-US" sz="1050" dirty="0">
                <a:solidFill>
                  <a:srgbClr val="5A6B7C"/>
                </a:solidFill>
                <a:latin typeface="Calibri" pitchFamily="34" charset="0"/>
                <a:ea typeface="Calibri" pitchFamily="34" charset="-122"/>
                <a:cs typeface="Calibri" pitchFamily="34" charset="-120"/>
              </a:rPr>
              <a:t>Answer from a small, highly relevant context</a:t>
            </a:r>
            <a:endParaRPr lang="en-US" sz="1050" dirty="0"/>
          </a:p>
        </p:txBody>
      </p:sp>
      <p:sp>
        <p:nvSpPr>
          <p:cNvPr id="26" name="Shape 24"/>
          <p:cNvSpPr/>
          <p:nvPr/>
        </p:nvSpPr>
        <p:spPr>
          <a:xfrm>
            <a:off x="640080" y="4343400"/>
            <a:ext cx="10881360" cy="1371600"/>
          </a:xfrm>
          <a:prstGeom prst="roundRect">
            <a:avLst>
              <a:gd name="adj" fmla="val 4000"/>
            </a:avLst>
          </a:prstGeom>
          <a:solidFill>
            <a:srgbClr val="E4EEF4"/>
          </a:solidFill>
          <a:ln w="12700">
            <a:solidFill>
              <a:srgbClr val="C9DCE7"/>
            </a:solidFill>
            <a:prstDash val="solid"/>
          </a:ln>
        </p:spPr>
        <p:txBody>
          <a:bodyPr/>
          <a:lstStyle/>
          <a:p>
            <a:endParaRPr lang="en-US"/>
          </a:p>
        </p:txBody>
      </p:sp>
      <p:sp>
        <p:nvSpPr>
          <p:cNvPr id="27" name="Text 25"/>
          <p:cNvSpPr/>
          <p:nvPr/>
        </p:nvSpPr>
        <p:spPr>
          <a:xfrm>
            <a:off x="914400" y="4507992"/>
            <a:ext cx="10332720" cy="320040"/>
          </a:xfrm>
          <a:prstGeom prst="rect">
            <a:avLst/>
          </a:prstGeom>
          <a:noFill/>
          <a:ln/>
        </p:spPr>
        <p:txBody>
          <a:bodyPr wrap="square" lIns="0" tIns="0" rIns="0" bIns="0" rtlCol="0" anchor="ctr"/>
          <a:lstStyle/>
          <a:p>
            <a:pPr marL="0" indent="0">
              <a:buNone/>
            </a:pPr>
            <a:r>
              <a:rPr lang="en-US" sz="1350" b="1" dirty="0">
                <a:solidFill>
                  <a:srgbClr val="065A82"/>
                </a:solidFill>
                <a:latin typeface="Calibri" pitchFamily="34" charset="0"/>
                <a:ea typeface="Calibri" pitchFamily="34" charset="-122"/>
                <a:cs typeface="Calibri" pitchFamily="34" charset="-120"/>
              </a:rPr>
              <a:t>Why this works, and why it is the first thing to add</a:t>
            </a:r>
            <a:endParaRPr lang="en-US" sz="1350" dirty="0"/>
          </a:p>
        </p:txBody>
      </p:sp>
      <p:sp>
        <p:nvSpPr>
          <p:cNvPr id="28" name="Text 26"/>
          <p:cNvSpPr/>
          <p:nvPr/>
        </p:nvSpPr>
        <p:spPr>
          <a:xfrm>
            <a:off x="914400" y="4846320"/>
            <a:ext cx="10332720" cy="73152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A bi-encoder embeds query and document separately, so it can never model their interaction — it is fast because of that limitation. A cross-encoder processes the pair together and models the interaction directly, which is far more accurate and far too slow to run over a whole corpus. Using each where it is strong gives you the recall of one and the precision of the other. It also reduces cost, because you pass four passages instead of twenty.</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3 · 3.3</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Metadata filtering, query rewriting and expansion</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19</a:t>
            </a:r>
            <a:endParaRPr lang="en-US" sz="1000" dirty="0"/>
          </a:p>
        </p:txBody>
      </p:sp>
      <p:sp>
        <p:nvSpPr>
          <p:cNvPr id="5" name="Shape 3"/>
          <p:cNvSpPr/>
          <p:nvPr/>
        </p:nvSpPr>
        <p:spPr>
          <a:xfrm>
            <a:off x="640080" y="1371600"/>
            <a:ext cx="2651760" cy="1280160"/>
          </a:xfrm>
          <a:prstGeom prst="roundRect">
            <a:avLst>
              <a:gd name="adj" fmla="val 3571"/>
            </a:avLst>
          </a:prstGeom>
          <a:solidFill>
            <a:srgbClr val="065A82"/>
          </a:solidFill>
          <a:ln/>
        </p:spPr>
        <p:txBody>
          <a:bodyPr/>
          <a:lstStyle/>
          <a:p>
            <a:endParaRPr lang="en-US"/>
          </a:p>
        </p:txBody>
      </p:sp>
      <p:sp>
        <p:nvSpPr>
          <p:cNvPr id="6" name="Text 4"/>
          <p:cNvSpPr/>
          <p:nvPr/>
        </p:nvSpPr>
        <p:spPr>
          <a:xfrm>
            <a:off x="731520" y="1371600"/>
            <a:ext cx="2468880" cy="128016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Metadata filtering</a:t>
            </a:r>
            <a:endParaRPr lang="en-US" sz="1350" dirty="0"/>
          </a:p>
        </p:txBody>
      </p:sp>
      <p:sp>
        <p:nvSpPr>
          <p:cNvPr id="7" name="Text 5"/>
          <p:cNvSpPr/>
          <p:nvPr/>
        </p:nvSpPr>
        <p:spPr>
          <a:xfrm>
            <a:off x="3520440" y="1417320"/>
            <a:ext cx="3931920" cy="1188720"/>
          </a:xfrm>
          <a:prstGeom prst="rect">
            <a:avLst/>
          </a:prstGeom>
          <a:noFill/>
          <a:ln/>
        </p:spPr>
        <p:txBody>
          <a:bodyPr wrap="square" lIns="0" tIns="0" rIns="0" bIns="0" rtlCol="0" anchor="ctr"/>
          <a:lstStyle/>
          <a:p>
            <a:pPr marL="0" indent="0">
              <a:lnSpc>
                <a:spcPts val="1600"/>
              </a:lnSpc>
              <a:buNone/>
            </a:pPr>
            <a:r>
              <a:rPr lang="en-US" sz="1200" b="1" dirty="0">
                <a:solidFill>
                  <a:srgbClr val="1A2430"/>
                </a:solidFill>
                <a:latin typeface="Calibri" pitchFamily="34" charset="0"/>
                <a:ea typeface="Calibri" pitchFamily="34" charset="-122"/>
                <a:cs typeface="Calibri" pitchFamily="34" charset="-120"/>
              </a:rPr>
              <a:t>Restrict the candidate set before search</a:t>
            </a:r>
            <a:endParaRPr lang="en-US" sz="1200" dirty="0"/>
          </a:p>
        </p:txBody>
      </p:sp>
      <p:sp>
        <p:nvSpPr>
          <p:cNvPr id="8" name="Text 6"/>
          <p:cNvSpPr/>
          <p:nvPr/>
        </p:nvSpPr>
        <p:spPr>
          <a:xfrm>
            <a:off x="7635240" y="1417320"/>
            <a:ext cx="3886200" cy="118872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Product family, document version, access level, date. Turns an impossible ranking problem into an easy one by removing what should never have been a candidate.</a:t>
            </a:r>
            <a:endParaRPr lang="en-US" sz="1150" dirty="0"/>
          </a:p>
        </p:txBody>
      </p:sp>
      <p:sp>
        <p:nvSpPr>
          <p:cNvPr id="9" name="Shape 7"/>
          <p:cNvSpPr/>
          <p:nvPr/>
        </p:nvSpPr>
        <p:spPr>
          <a:xfrm>
            <a:off x="640080" y="2834640"/>
            <a:ext cx="2651760" cy="1280160"/>
          </a:xfrm>
          <a:prstGeom prst="roundRect">
            <a:avLst>
              <a:gd name="adj" fmla="val 3571"/>
            </a:avLst>
          </a:prstGeom>
          <a:solidFill>
            <a:srgbClr val="1C7293"/>
          </a:solidFill>
          <a:ln/>
        </p:spPr>
        <p:txBody>
          <a:bodyPr/>
          <a:lstStyle/>
          <a:p>
            <a:endParaRPr lang="en-US"/>
          </a:p>
        </p:txBody>
      </p:sp>
      <p:sp>
        <p:nvSpPr>
          <p:cNvPr id="10" name="Text 8"/>
          <p:cNvSpPr/>
          <p:nvPr/>
        </p:nvSpPr>
        <p:spPr>
          <a:xfrm>
            <a:off x="731520" y="2834640"/>
            <a:ext cx="2468880" cy="128016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Query rewriting</a:t>
            </a:r>
            <a:endParaRPr lang="en-US" sz="1350" dirty="0"/>
          </a:p>
        </p:txBody>
      </p:sp>
      <p:sp>
        <p:nvSpPr>
          <p:cNvPr id="11" name="Text 9"/>
          <p:cNvSpPr/>
          <p:nvPr/>
        </p:nvSpPr>
        <p:spPr>
          <a:xfrm>
            <a:off x="3520440" y="2880360"/>
            <a:ext cx="3931920" cy="1188720"/>
          </a:xfrm>
          <a:prstGeom prst="rect">
            <a:avLst/>
          </a:prstGeom>
          <a:noFill/>
          <a:ln/>
        </p:spPr>
        <p:txBody>
          <a:bodyPr wrap="square" lIns="0" tIns="0" rIns="0" bIns="0" rtlCol="0" anchor="ctr"/>
          <a:lstStyle/>
          <a:p>
            <a:pPr marL="0" indent="0">
              <a:lnSpc>
                <a:spcPts val="1600"/>
              </a:lnSpc>
              <a:buNone/>
            </a:pPr>
            <a:r>
              <a:rPr lang="en-US" sz="1200" b="1" dirty="0">
                <a:solidFill>
                  <a:srgbClr val="1A2430"/>
                </a:solidFill>
                <a:latin typeface="Calibri" pitchFamily="34" charset="0"/>
                <a:ea typeface="Calibri" pitchFamily="34" charset="-122"/>
                <a:cs typeface="Calibri" pitchFamily="34" charset="-120"/>
              </a:rPr>
              <a:t>Reformulate the question before searching</a:t>
            </a:r>
            <a:endParaRPr lang="en-US" sz="1200" dirty="0"/>
          </a:p>
        </p:txBody>
      </p:sp>
      <p:sp>
        <p:nvSpPr>
          <p:cNvPr id="12" name="Text 10"/>
          <p:cNvSpPr/>
          <p:nvPr/>
        </p:nvSpPr>
        <p:spPr>
          <a:xfrm>
            <a:off x="7635240" y="2880360"/>
            <a:ext cx="3886200" cy="118872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Resolves pronouns and conversational references, expands abbreviations, and separates a compound question into parts. Measure it — it does not always help.</a:t>
            </a:r>
            <a:endParaRPr lang="en-US" sz="1150" dirty="0"/>
          </a:p>
        </p:txBody>
      </p:sp>
      <p:sp>
        <p:nvSpPr>
          <p:cNvPr id="13" name="Shape 11"/>
          <p:cNvSpPr/>
          <p:nvPr/>
        </p:nvSpPr>
        <p:spPr>
          <a:xfrm>
            <a:off x="640080" y="4297680"/>
            <a:ext cx="2651760" cy="1280160"/>
          </a:xfrm>
          <a:prstGeom prst="roundRect">
            <a:avLst>
              <a:gd name="adj" fmla="val 3571"/>
            </a:avLst>
          </a:prstGeom>
          <a:solidFill>
            <a:srgbClr val="21295C"/>
          </a:solidFill>
          <a:ln/>
        </p:spPr>
        <p:txBody>
          <a:bodyPr/>
          <a:lstStyle/>
          <a:p>
            <a:endParaRPr lang="en-US"/>
          </a:p>
        </p:txBody>
      </p:sp>
      <p:sp>
        <p:nvSpPr>
          <p:cNvPr id="14" name="Text 12"/>
          <p:cNvSpPr/>
          <p:nvPr/>
        </p:nvSpPr>
        <p:spPr>
          <a:xfrm>
            <a:off x="731520" y="4297680"/>
            <a:ext cx="2468880" cy="128016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Query expansion</a:t>
            </a:r>
            <a:endParaRPr lang="en-US" sz="1350" dirty="0"/>
          </a:p>
        </p:txBody>
      </p:sp>
      <p:sp>
        <p:nvSpPr>
          <p:cNvPr id="15" name="Text 13"/>
          <p:cNvSpPr/>
          <p:nvPr/>
        </p:nvSpPr>
        <p:spPr>
          <a:xfrm>
            <a:off x="3520440" y="4343400"/>
            <a:ext cx="3931920" cy="1188720"/>
          </a:xfrm>
          <a:prstGeom prst="rect">
            <a:avLst/>
          </a:prstGeom>
          <a:noFill/>
          <a:ln/>
        </p:spPr>
        <p:txBody>
          <a:bodyPr wrap="square" lIns="0" tIns="0" rIns="0" bIns="0" rtlCol="0" anchor="ctr"/>
          <a:lstStyle/>
          <a:p>
            <a:pPr marL="0" indent="0">
              <a:lnSpc>
                <a:spcPts val="1600"/>
              </a:lnSpc>
              <a:buNone/>
            </a:pPr>
            <a:r>
              <a:rPr lang="en-US" sz="1200" b="1" dirty="0">
                <a:solidFill>
                  <a:srgbClr val="1A2430"/>
                </a:solidFill>
                <a:latin typeface="Calibri" pitchFamily="34" charset="0"/>
                <a:ea typeface="Calibri" pitchFamily="34" charset="-122"/>
                <a:cs typeface="Calibri" pitchFamily="34" charset="-120"/>
              </a:rPr>
              <a:t>Add synonyms and domain terms</a:t>
            </a:r>
            <a:endParaRPr lang="en-US" sz="1200" dirty="0"/>
          </a:p>
        </p:txBody>
      </p:sp>
      <p:sp>
        <p:nvSpPr>
          <p:cNvPr id="16" name="Text 14"/>
          <p:cNvSpPr/>
          <p:nvPr/>
        </p:nvSpPr>
        <p:spPr>
          <a:xfrm>
            <a:off x="7635240" y="4343400"/>
            <a:ext cx="3886200" cy="1188720"/>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Valuable where users and documents use different vocabulary — field terminology versus engineering terminology. A domain glossary drives it.</a:t>
            </a:r>
            <a:endParaRPr lang="en-US" sz="1150" dirty="0"/>
          </a:p>
        </p:txBody>
      </p:sp>
      <p:sp>
        <p:nvSpPr>
          <p:cNvPr id="17" name="Shape 15"/>
          <p:cNvSpPr/>
          <p:nvPr/>
        </p:nvSpPr>
        <p:spPr>
          <a:xfrm>
            <a:off x="640080" y="5029200"/>
            <a:ext cx="10881360" cy="868680"/>
          </a:xfrm>
          <a:prstGeom prst="roundRect">
            <a:avLst>
              <a:gd name="adj" fmla="val 6316"/>
            </a:avLst>
          </a:prstGeom>
          <a:solidFill>
            <a:srgbClr val="EDF5EE"/>
          </a:solidFill>
          <a:ln w="12700">
            <a:solidFill>
              <a:srgbClr val="C2DCC8"/>
            </a:solidFill>
            <a:prstDash val="solid"/>
          </a:ln>
        </p:spPr>
        <p:txBody>
          <a:bodyPr/>
          <a:lstStyle/>
          <a:p>
            <a:endParaRPr lang="en-US"/>
          </a:p>
        </p:txBody>
      </p:sp>
      <p:sp>
        <p:nvSpPr>
          <p:cNvPr id="18" name="Text 16"/>
          <p:cNvSpPr/>
          <p:nvPr/>
        </p:nvSpPr>
        <p:spPr>
          <a:xfrm>
            <a:off x="914400" y="5193792"/>
            <a:ext cx="10332720" cy="566928"/>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Metadata filtering is frequently the largest single improvement and is almost always underused, because it requires metadata that was not captured at ingestion. That is why Module 2 comes first.</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3 · 3.4</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Structural retrieval patterns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20</a:t>
            </a:r>
            <a:endParaRPr lang="en-US" sz="1000" dirty="0"/>
          </a:p>
        </p:txBody>
      </p:sp>
      <p:sp>
        <p:nvSpPr>
          <p:cNvPr id="5" name="Shape 3"/>
          <p:cNvSpPr/>
          <p:nvPr/>
        </p:nvSpPr>
        <p:spPr>
          <a:xfrm>
            <a:off x="640080" y="1234440"/>
            <a:ext cx="2468880" cy="384048"/>
          </a:xfrm>
          <a:prstGeom prst="rect">
            <a:avLst/>
          </a:prstGeom>
          <a:solidFill>
            <a:srgbClr val="21295C"/>
          </a:solidFill>
          <a:ln/>
        </p:spPr>
        <p:txBody>
          <a:bodyPr/>
          <a:lstStyle/>
          <a:p>
            <a:endParaRPr lang="en-US"/>
          </a:p>
        </p:txBody>
      </p:sp>
      <p:sp>
        <p:nvSpPr>
          <p:cNvPr id="6" name="Text 4"/>
          <p:cNvSpPr/>
          <p:nvPr/>
        </p:nvSpPr>
        <p:spPr>
          <a:xfrm>
            <a:off x="749808" y="1234440"/>
            <a:ext cx="22494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Pattern</a:t>
            </a:r>
            <a:endParaRPr lang="en-US" sz="1100" dirty="0"/>
          </a:p>
        </p:txBody>
      </p:sp>
      <p:sp>
        <p:nvSpPr>
          <p:cNvPr id="7" name="Shape 5"/>
          <p:cNvSpPr/>
          <p:nvPr/>
        </p:nvSpPr>
        <p:spPr>
          <a:xfrm>
            <a:off x="3108960" y="1234440"/>
            <a:ext cx="4206240" cy="384048"/>
          </a:xfrm>
          <a:prstGeom prst="rect">
            <a:avLst/>
          </a:prstGeom>
          <a:solidFill>
            <a:srgbClr val="21295C"/>
          </a:solidFill>
          <a:ln/>
        </p:spPr>
        <p:txBody>
          <a:bodyPr/>
          <a:lstStyle/>
          <a:p>
            <a:endParaRPr lang="en-US"/>
          </a:p>
        </p:txBody>
      </p:sp>
      <p:sp>
        <p:nvSpPr>
          <p:cNvPr id="8" name="Text 6"/>
          <p:cNvSpPr/>
          <p:nvPr/>
        </p:nvSpPr>
        <p:spPr>
          <a:xfrm>
            <a:off x="3218688" y="1234440"/>
            <a:ext cx="39867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How it works</a:t>
            </a:r>
            <a:endParaRPr lang="en-US" sz="1100" dirty="0"/>
          </a:p>
        </p:txBody>
      </p:sp>
      <p:sp>
        <p:nvSpPr>
          <p:cNvPr id="9" name="Shape 7"/>
          <p:cNvSpPr/>
          <p:nvPr/>
        </p:nvSpPr>
        <p:spPr>
          <a:xfrm>
            <a:off x="7315200" y="1234440"/>
            <a:ext cx="4206240" cy="384048"/>
          </a:xfrm>
          <a:prstGeom prst="rect">
            <a:avLst/>
          </a:prstGeom>
          <a:solidFill>
            <a:srgbClr val="21295C"/>
          </a:solidFill>
          <a:ln/>
        </p:spPr>
        <p:txBody>
          <a:bodyPr/>
          <a:lstStyle/>
          <a:p>
            <a:endParaRPr lang="en-US"/>
          </a:p>
        </p:txBody>
      </p:sp>
      <p:sp>
        <p:nvSpPr>
          <p:cNvPr id="10" name="Text 8"/>
          <p:cNvSpPr/>
          <p:nvPr/>
        </p:nvSpPr>
        <p:spPr>
          <a:xfrm>
            <a:off x="7424928" y="1234440"/>
            <a:ext cx="39867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Use when</a:t>
            </a:r>
            <a:endParaRPr lang="en-US" sz="1100" dirty="0"/>
          </a:p>
        </p:txBody>
      </p:sp>
      <p:sp>
        <p:nvSpPr>
          <p:cNvPr id="11" name="Shape 9"/>
          <p:cNvSpPr/>
          <p:nvPr/>
        </p:nvSpPr>
        <p:spPr>
          <a:xfrm>
            <a:off x="640080" y="1618488"/>
            <a:ext cx="2468880" cy="530352"/>
          </a:xfrm>
          <a:prstGeom prst="rect">
            <a:avLst/>
          </a:prstGeom>
          <a:solidFill>
            <a:srgbClr val="FFFFFF"/>
          </a:solidFill>
          <a:ln w="9525">
            <a:solidFill>
              <a:srgbClr val="E3EBF0"/>
            </a:solidFill>
            <a:prstDash val="solid"/>
          </a:ln>
        </p:spPr>
        <p:txBody>
          <a:bodyPr/>
          <a:lstStyle/>
          <a:p>
            <a:endParaRPr lang="en-US"/>
          </a:p>
        </p:txBody>
      </p:sp>
      <p:sp>
        <p:nvSpPr>
          <p:cNvPr id="12" name="Text 10"/>
          <p:cNvSpPr/>
          <p:nvPr/>
        </p:nvSpPr>
        <p:spPr>
          <a:xfrm>
            <a:off x="749808" y="1618488"/>
            <a:ext cx="2249424" cy="53035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Parent-child chunking</a:t>
            </a:r>
            <a:endParaRPr lang="en-US" sz="1050" dirty="0"/>
          </a:p>
        </p:txBody>
      </p:sp>
      <p:sp>
        <p:nvSpPr>
          <p:cNvPr id="13" name="Shape 11"/>
          <p:cNvSpPr/>
          <p:nvPr/>
        </p:nvSpPr>
        <p:spPr>
          <a:xfrm>
            <a:off x="3108960" y="1618488"/>
            <a:ext cx="4206240" cy="530352"/>
          </a:xfrm>
          <a:prstGeom prst="rect">
            <a:avLst/>
          </a:prstGeom>
          <a:solidFill>
            <a:srgbClr val="FFFFFF"/>
          </a:solidFill>
          <a:ln w="9525">
            <a:solidFill>
              <a:srgbClr val="E3EBF0"/>
            </a:solidFill>
            <a:prstDash val="solid"/>
          </a:ln>
        </p:spPr>
        <p:txBody>
          <a:bodyPr/>
          <a:lstStyle/>
          <a:p>
            <a:endParaRPr lang="en-US"/>
          </a:p>
        </p:txBody>
      </p:sp>
      <p:sp>
        <p:nvSpPr>
          <p:cNvPr id="14" name="Text 12"/>
          <p:cNvSpPr/>
          <p:nvPr/>
        </p:nvSpPr>
        <p:spPr>
          <a:xfrm>
            <a:off x="3218688" y="1618488"/>
            <a:ext cx="3986784" cy="53035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Search small precise chunks; return the larger parent section for context</a:t>
            </a:r>
            <a:endParaRPr lang="en-US" sz="1050" dirty="0"/>
          </a:p>
        </p:txBody>
      </p:sp>
      <p:sp>
        <p:nvSpPr>
          <p:cNvPr id="15" name="Shape 13"/>
          <p:cNvSpPr/>
          <p:nvPr/>
        </p:nvSpPr>
        <p:spPr>
          <a:xfrm>
            <a:off x="7315200" y="1618488"/>
            <a:ext cx="4206240" cy="530352"/>
          </a:xfrm>
          <a:prstGeom prst="rect">
            <a:avLst/>
          </a:prstGeom>
          <a:solidFill>
            <a:srgbClr val="FFFFFF"/>
          </a:solidFill>
          <a:ln w="9525">
            <a:solidFill>
              <a:srgbClr val="E3EBF0"/>
            </a:solidFill>
            <a:prstDash val="solid"/>
          </a:ln>
        </p:spPr>
        <p:txBody>
          <a:bodyPr/>
          <a:lstStyle/>
          <a:p>
            <a:endParaRPr lang="en-US"/>
          </a:p>
        </p:txBody>
      </p:sp>
      <p:sp>
        <p:nvSpPr>
          <p:cNvPr id="16" name="Text 14"/>
          <p:cNvSpPr/>
          <p:nvPr/>
        </p:nvSpPr>
        <p:spPr>
          <a:xfrm>
            <a:off x="7424928" y="1618488"/>
            <a:ext cx="3986784" cy="53035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Precision in search, completeness in the answer — the best general default</a:t>
            </a:r>
            <a:endParaRPr lang="en-US" sz="1050" dirty="0"/>
          </a:p>
        </p:txBody>
      </p:sp>
      <p:sp>
        <p:nvSpPr>
          <p:cNvPr id="17" name="Shape 15"/>
          <p:cNvSpPr/>
          <p:nvPr/>
        </p:nvSpPr>
        <p:spPr>
          <a:xfrm>
            <a:off x="640080" y="2148840"/>
            <a:ext cx="2468880" cy="530352"/>
          </a:xfrm>
          <a:prstGeom prst="rect">
            <a:avLst/>
          </a:prstGeom>
          <a:solidFill>
            <a:srgbClr val="F5F9FB"/>
          </a:solidFill>
          <a:ln w="9525">
            <a:solidFill>
              <a:srgbClr val="E3EBF0"/>
            </a:solidFill>
            <a:prstDash val="solid"/>
          </a:ln>
        </p:spPr>
        <p:txBody>
          <a:bodyPr/>
          <a:lstStyle/>
          <a:p>
            <a:endParaRPr lang="en-US"/>
          </a:p>
        </p:txBody>
      </p:sp>
      <p:sp>
        <p:nvSpPr>
          <p:cNvPr id="18" name="Text 16"/>
          <p:cNvSpPr/>
          <p:nvPr/>
        </p:nvSpPr>
        <p:spPr>
          <a:xfrm>
            <a:off x="749808" y="2148840"/>
            <a:ext cx="2249424" cy="53035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Hierarchical retrieval</a:t>
            </a:r>
            <a:endParaRPr lang="en-US" sz="1050" dirty="0"/>
          </a:p>
        </p:txBody>
      </p:sp>
      <p:sp>
        <p:nvSpPr>
          <p:cNvPr id="19" name="Shape 17"/>
          <p:cNvSpPr/>
          <p:nvPr/>
        </p:nvSpPr>
        <p:spPr>
          <a:xfrm>
            <a:off x="3108960" y="2148840"/>
            <a:ext cx="4206240" cy="530352"/>
          </a:xfrm>
          <a:prstGeom prst="rect">
            <a:avLst/>
          </a:prstGeom>
          <a:solidFill>
            <a:srgbClr val="F5F9FB"/>
          </a:solidFill>
          <a:ln w="9525">
            <a:solidFill>
              <a:srgbClr val="E3EBF0"/>
            </a:solidFill>
            <a:prstDash val="solid"/>
          </a:ln>
        </p:spPr>
        <p:txBody>
          <a:bodyPr/>
          <a:lstStyle/>
          <a:p>
            <a:endParaRPr lang="en-US"/>
          </a:p>
        </p:txBody>
      </p:sp>
      <p:sp>
        <p:nvSpPr>
          <p:cNvPr id="20" name="Text 18"/>
          <p:cNvSpPr/>
          <p:nvPr/>
        </p:nvSpPr>
        <p:spPr>
          <a:xfrm>
            <a:off x="3218688" y="2148840"/>
            <a:ext cx="3986784" cy="53035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Retrieve the section first, then within it</a:t>
            </a:r>
            <a:endParaRPr lang="en-US" sz="1050" dirty="0"/>
          </a:p>
        </p:txBody>
      </p:sp>
      <p:sp>
        <p:nvSpPr>
          <p:cNvPr id="21" name="Shape 19"/>
          <p:cNvSpPr/>
          <p:nvPr/>
        </p:nvSpPr>
        <p:spPr>
          <a:xfrm>
            <a:off x="7315200" y="2148840"/>
            <a:ext cx="4206240" cy="530352"/>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7424928" y="2148840"/>
            <a:ext cx="3986784" cy="53035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Large structured documents where the section narrows the search usefully</a:t>
            </a:r>
            <a:endParaRPr lang="en-US" sz="1050" dirty="0"/>
          </a:p>
        </p:txBody>
      </p:sp>
      <p:sp>
        <p:nvSpPr>
          <p:cNvPr id="23" name="Shape 21"/>
          <p:cNvSpPr/>
          <p:nvPr/>
        </p:nvSpPr>
        <p:spPr>
          <a:xfrm>
            <a:off x="640080" y="2679192"/>
            <a:ext cx="2468880" cy="530352"/>
          </a:xfrm>
          <a:prstGeom prst="rect">
            <a:avLst/>
          </a:prstGeom>
          <a:solidFill>
            <a:srgbClr val="FFFFFF"/>
          </a:solidFill>
          <a:ln w="9525">
            <a:solidFill>
              <a:srgbClr val="E3EBF0"/>
            </a:solidFill>
            <a:prstDash val="solid"/>
          </a:ln>
        </p:spPr>
        <p:txBody>
          <a:bodyPr/>
          <a:lstStyle/>
          <a:p>
            <a:endParaRPr lang="en-US"/>
          </a:p>
        </p:txBody>
      </p:sp>
      <p:sp>
        <p:nvSpPr>
          <p:cNvPr id="24" name="Text 22"/>
          <p:cNvSpPr/>
          <p:nvPr/>
        </p:nvSpPr>
        <p:spPr>
          <a:xfrm>
            <a:off x="749808" y="2679192"/>
            <a:ext cx="2249424" cy="53035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Multi-hop retrieval</a:t>
            </a:r>
            <a:endParaRPr lang="en-US" sz="1050" dirty="0"/>
          </a:p>
        </p:txBody>
      </p:sp>
      <p:sp>
        <p:nvSpPr>
          <p:cNvPr id="25" name="Shape 23"/>
          <p:cNvSpPr/>
          <p:nvPr/>
        </p:nvSpPr>
        <p:spPr>
          <a:xfrm>
            <a:off x="3108960" y="2679192"/>
            <a:ext cx="4206240" cy="530352"/>
          </a:xfrm>
          <a:prstGeom prst="rect">
            <a:avLst/>
          </a:prstGeom>
          <a:solidFill>
            <a:srgbClr val="FFFFFF"/>
          </a:solidFill>
          <a:ln w="9525">
            <a:solidFill>
              <a:srgbClr val="E3EBF0"/>
            </a:solidFill>
            <a:prstDash val="solid"/>
          </a:ln>
        </p:spPr>
        <p:txBody>
          <a:bodyPr/>
          <a:lstStyle/>
          <a:p>
            <a:endParaRPr lang="en-US"/>
          </a:p>
        </p:txBody>
      </p:sp>
      <p:sp>
        <p:nvSpPr>
          <p:cNvPr id="26" name="Text 24"/>
          <p:cNvSpPr/>
          <p:nvPr/>
        </p:nvSpPr>
        <p:spPr>
          <a:xfrm>
            <a:off x="3218688" y="2679192"/>
            <a:ext cx="3986784" cy="53035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One retrieval informs the next query</a:t>
            </a:r>
            <a:endParaRPr lang="en-US" sz="1050" dirty="0"/>
          </a:p>
        </p:txBody>
      </p:sp>
      <p:sp>
        <p:nvSpPr>
          <p:cNvPr id="27" name="Shape 25"/>
          <p:cNvSpPr/>
          <p:nvPr/>
        </p:nvSpPr>
        <p:spPr>
          <a:xfrm>
            <a:off x="7315200" y="2679192"/>
            <a:ext cx="4206240" cy="530352"/>
          </a:xfrm>
          <a:prstGeom prst="rect">
            <a:avLst/>
          </a:prstGeom>
          <a:solidFill>
            <a:srgbClr val="FFFFFF"/>
          </a:solidFill>
          <a:ln w="9525">
            <a:solidFill>
              <a:srgbClr val="E3EBF0"/>
            </a:solidFill>
            <a:prstDash val="solid"/>
          </a:ln>
        </p:spPr>
        <p:txBody>
          <a:bodyPr/>
          <a:lstStyle/>
          <a:p>
            <a:endParaRPr lang="en-US"/>
          </a:p>
        </p:txBody>
      </p:sp>
      <p:sp>
        <p:nvSpPr>
          <p:cNvPr id="28" name="Text 26"/>
          <p:cNvSpPr/>
          <p:nvPr/>
        </p:nvSpPr>
        <p:spPr>
          <a:xfrm>
            <a:off x="7424928" y="2679192"/>
            <a:ext cx="3986784" cy="53035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Questions needing facts from two documents joined together</a:t>
            </a:r>
            <a:endParaRPr lang="en-US" sz="1050" dirty="0"/>
          </a:p>
        </p:txBody>
      </p:sp>
      <p:sp>
        <p:nvSpPr>
          <p:cNvPr id="29" name="Shape 27"/>
          <p:cNvSpPr/>
          <p:nvPr/>
        </p:nvSpPr>
        <p:spPr>
          <a:xfrm>
            <a:off x="640080" y="3209544"/>
            <a:ext cx="2468880" cy="530352"/>
          </a:xfrm>
          <a:prstGeom prst="rect">
            <a:avLst/>
          </a:prstGeom>
          <a:solidFill>
            <a:srgbClr val="F5F9FB"/>
          </a:solidFill>
          <a:ln w="9525">
            <a:solidFill>
              <a:srgbClr val="E3EBF0"/>
            </a:solidFill>
            <a:prstDash val="solid"/>
          </a:ln>
        </p:spPr>
        <p:txBody>
          <a:bodyPr/>
          <a:lstStyle/>
          <a:p>
            <a:endParaRPr lang="en-US"/>
          </a:p>
        </p:txBody>
      </p:sp>
      <p:sp>
        <p:nvSpPr>
          <p:cNvPr id="30" name="Text 28"/>
          <p:cNvSpPr/>
          <p:nvPr/>
        </p:nvSpPr>
        <p:spPr>
          <a:xfrm>
            <a:off x="749808" y="3209544"/>
            <a:ext cx="2249424" cy="53035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Graph RAG</a:t>
            </a:r>
            <a:endParaRPr lang="en-US" sz="1050" dirty="0"/>
          </a:p>
        </p:txBody>
      </p:sp>
      <p:sp>
        <p:nvSpPr>
          <p:cNvPr id="31" name="Shape 29"/>
          <p:cNvSpPr/>
          <p:nvPr/>
        </p:nvSpPr>
        <p:spPr>
          <a:xfrm>
            <a:off x="3108960" y="3209544"/>
            <a:ext cx="4206240" cy="530352"/>
          </a:xfrm>
          <a:prstGeom prst="rect">
            <a:avLst/>
          </a:prstGeom>
          <a:solidFill>
            <a:srgbClr val="F5F9FB"/>
          </a:solidFill>
          <a:ln w="9525">
            <a:solidFill>
              <a:srgbClr val="E3EBF0"/>
            </a:solidFill>
            <a:prstDash val="solid"/>
          </a:ln>
        </p:spPr>
        <p:txBody>
          <a:bodyPr/>
          <a:lstStyle/>
          <a:p>
            <a:endParaRPr lang="en-US"/>
          </a:p>
        </p:txBody>
      </p:sp>
      <p:sp>
        <p:nvSpPr>
          <p:cNvPr id="32" name="Text 30"/>
          <p:cNvSpPr/>
          <p:nvPr/>
        </p:nvSpPr>
        <p:spPr>
          <a:xfrm>
            <a:off x="3218688" y="3209544"/>
            <a:ext cx="3986784" cy="53035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Traverse entity relationships rather than similarity alone</a:t>
            </a:r>
            <a:endParaRPr lang="en-US" sz="1050" dirty="0"/>
          </a:p>
        </p:txBody>
      </p:sp>
      <p:sp>
        <p:nvSpPr>
          <p:cNvPr id="33" name="Shape 31"/>
          <p:cNvSpPr/>
          <p:nvPr/>
        </p:nvSpPr>
        <p:spPr>
          <a:xfrm>
            <a:off x="7315200" y="3209544"/>
            <a:ext cx="4206240" cy="530352"/>
          </a:xfrm>
          <a:prstGeom prst="rect">
            <a:avLst/>
          </a:prstGeom>
          <a:solidFill>
            <a:srgbClr val="F5F9FB"/>
          </a:solidFill>
          <a:ln w="9525">
            <a:solidFill>
              <a:srgbClr val="E3EBF0"/>
            </a:solidFill>
            <a:prstDash val="solid"/>
          </a:ln>
        </p:spPr>
        <p:txBody>
          <a:bodyPr/>
          <a:lstStyle/>
          <a:p>
            <a:endParaRPr lang="en-US"/>
          </a:p>
        </p:txBody>
      </p:sp>
      <p:sp>
        <p:nvSpPr>
          <p:cNvPr id="34" name="Text 32"/>
          <p:cNvSpPr/>
          <p:nvPr/>
        </p:nvSpPr>
        <p:spPr>
          <a:xfrm>
            <a:off x="7424928" y="3209544"/>
            <a:ext cx="3986784" cy="53035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Questions about how components, assets or faults relate to each other</a:t>
            </a:r>
            <a:endParaRPr lang="en-US" sz="1050" dirty="0"/>
          </a:p>
        </p:txBody>
      </p:sp>
      <p:sp>
        <p:nvSpPr>
          <p:cNvPr id="35" name="Shape 33"/>
          <p:cNvSpPr/>
          <p:nvPr/>
        </p:nvSpPr>
        <p:spPr>
          <a:xfrm>
            <a:off x="640080" y="3739896"/>
            <a:ext cx="2468880" cy="530352"/>
          </a:xfrm>
          <a:prstGeom prst="rect">
            <a:avLst/>
          </a:prstGeom>
          <a:solidFill>
            <a:srgbClr val="FFFFFF"/>
          </a:solidFill>
          <a:ln w="9525">
            <a:solidFill>
              <a:srgbClr val="E3EBF0"/>
            </a:solidFill>
            <a:prstDash val="solid"/>
          </a:ln>
        </p:spPr>
        <p:txBody>
          <a:bodyPr/>
          <a:lstStyle/>
          <a:p>
            <a:endParaRPr lang="en-US"/>
          </a:p>
        </p:txBody>
      </p:sp>
      <p:sp>
        <p:nvSpPr>
          <p:cNvPr id="36" name="Text 34"/>
          <p:cNvSpPr/>
          <p:nvPr/>
        </p:nvSpPr>
        <p:spPr>
          <a:xfrm>
            <a:off x="749808" y="3739896"/>
            <a:ext cx="2249424" cy="53035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Self-checking RAG</a:t>
            </a:r>
            <a:endParaRPr lang="en-US" sz="1050" dirty="0"/>
          </a:p>
        </p:txBody>
      </p:sp>
      <p:sp>
        <p:nvSpPr>
          <p:cNvPr id="37" name="Shape 35"/>
          <p:cNvSpPr/>
          <p:nvPr/>
        </p:nvSpPr>
        <p:spPr>
          <a:xfrm>
            <a:off x="3108960" y="3739896"/>
            <a:ext cx="4206240" cy="530352"/>
          </a:xfrm>
          <a:prstGeom prst="rect">
            <a:avLst/>
          </a:prstGeom>
          <a:solidFill>
            <a:srgbClr val="FFFFFF"/>
          </a:solidFill>
          <a:ln w="9525">
            <a:solidFill>
              <a:srgbClr val="E3EBF0"/>
            </a:solidFill>
            <a:prstDash val="solid"/>
          </a:ln>
        </p:spPr>
        <p:txBody>
          <a:bodyPr/>
          <a:lstStyle/>
          <a:p>
            <a:endParaRPr lang="en-US"/>
          </a:p>
        </p:txBody>
      </p:sp>
      <p:sp>
        <p:nvSpPr>
          <p:cNvPr id="38" name="Text 36"/>
          <p:cNvSpPr/>
          <p:nvPr/>
        </p:nvSpPr>
        <p:spPr>
          <a:xfrm>
            <a:off x="3218688" y="3739896"/>
            <a:ext cx="3986784" cy="53035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system verifies its answer against retrieved passages before responding</a:t>
            </a:r>
            <a:endParaRPr lang="en-US" sz="1050" dirty="0"/>
          </a:p>
        </p:txBody>
      </p:sp>
      <p:sp>
        <p:nvSpPr>
          <p:cNvPr id="39" name="Shape 37"/>
          <p:cNvSpPr/>
          <p:nvPr/>
        </p:nvSpPr>
        <p:spPr>
          <a:xfrm>
            <a:off x="7315200" y="3739896"/>
            <a:ext cx="4206240" cy="530352"/>
          </a:xfrm>
          <a:prstGeom prst="rect">
            <a:avLst/>
          </a:prstGeom>
          <a:solidFill>
            <a:srgbClr val="FFFFFF"/>
          </a:solidFill>
          <a:ln w="9525">
            <a:solidFill>
              <a:srgbClr val="E3EBF0"/>
            </a:solidFill>
            <a:prstDash val="solid"/>
          </a:ln>
        </p:spPr>
        <p:txBody>
          <a:bodyPr/>
          <a:lstStyle/>
          <a:p>
            <a:endParaRPr lang="en-US"/>
          </a:p>
        </p:txBody>
      </p:sp>
      <p:sp>
        <p:nvSpPr>
          <p:cNvPr id="40" name="Text 38"/>
          <p:cNvSpPr/>
          <p:nvPr/>
        </p:nvSpPr>
        <p:spPr>
          <a:xfrm>
            <a:off x="7424928" y="3739896"/>
            <a:ext cx="3986784" cy="53035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High-stakes answers where an unsupported claim is unacceptable</a:t>
            </a:r>
            <a:endParaRPr lang="en-US" sz="1050" dirty="0"/>
          </a:p>
        </p:txBody>
      </p:sp>
      <p:sp>
        <p:nvSpPr>
          <p:cNvPr id="41" name="Shape 39"/>
          <p:cNvSpPr/>
          <p:nvPr/>
        </p:nvSpPr>
        <p:spPr>
          <a:xfrm>
            <a:off x="640080" y="4270248"/>
            <a:ext cx="2468880" cy="530352"/>
          </a:xfrm>
          <a:prstGeom prst="rect">
            <a:avLst/>
          </a:prstGeom>
          <a:solidFill>
            <a:srgbClr val="F5F9FB"/>
          </a:solidFill>
          <a:ln w="9525">
            <a:solidFill>
              <a:srgbClr val="E3EBF0"/>
            </a:solidFill>
            <a:prstDash val="solid"/>
          </a:ln>
        </p:spPr>
        <p:txBody>
          <a:bodyPr/>
          <a:lstStyle/>
          <a:p>
            <a:endParaRPr lang="en-US"/>
          </a:p>
        </p:txBody>
      </p:sp>
      <p:sp>
        <p:nvSpPr>
          <p:cNvPr id="42" name="Text 40"/>
          <p:cNvSpPr/>
          <p:nvPr/>
        </p:nvSpPr>
        <p:spPr>
          <a:xfrm>
            <a:off x="749808" y="4270248"/>
            <a:ext cx="2249424" cy="53035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Retrieval fallback</a:t>
            </a:r>
            <a:endParaRPr lang="en-US" sz="1050" dirty="0"/>
          </a:p>
        </p:txBody>
      </p:sp>
      <p:sp>
        <p:nvSpPr>
          <p:cNvPr id="43" name="Shape 41"/>
          <p:cNvSpPr/>
          <p:nvPr/>
        </p:nvSpPr>
        <p:spPr>
          <a:xfrm>
            <a:off x="3108960" y="4270248"/>
            <a:ext cx="4206240" cy="530352"/>
          </a:xfrm>
          <a:prstGeom prst="rect">
            <a:avLst/>
          </a:prstGeom>
          <a:solidFill>
            <a:srgbClr val="F5F9FB"/>
          </a:solidFill>
          <a:ln w="9525">
            <a:solidFill>
              <a:srgbClr val="E3EBF0"/>
            </a:solidFill>
            <a:prstDash val="solid"/>
          </a:ln>
        </p:spPr>
        <p:txBody>
          <a:bodyPr/>
          <a:lstStyle/>
          <a:p>
            <a:endParaRPr lang="en-US"/>
          </a:p>
        </p:txBody>
      </p:sp>
      <p:sp>
        <p:nvSpPr>
          <p:cNvPr id="44" name="Text 42"/>
          <p:cNvSpPr/>
          <p:nvPr/>
        </p:nvSpPr>
        <p:spPr>
          <a:xfrm>
            <a:off x="3218688" y="4270248"/>
            <a:ext cx="3986784" cy="53035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 second strategy runs when the first returns weak scores</a:t>
            </a:r>
            <a:endParaRPr lang="en-US" sz="1050" dirty="0"/>
          </a:p>
        </p:txBody>
      </p:sp>
      <p:sp>
        <p:nvSpPr>
          <p:cNvPr id="45" name="Shape 43"/>
          <p:cNvSpPr/>
          <p:nvPr/>
        </p:nvSpPr>
        <p:spPr>
          <a:xfrm>
            <a:off x="7315200" y="4270248"/>
            <a:ext cx="4206240" cy="530352"/>
          </a:xfrm>
          <a:prstGeom prst="rect">
            <a:avLst/>
          </a:prstGeom>
          <a:solidFill>
            <a:srgbClr val="F5F9FB"/>
          </a:solidFill>
          <a:ln w="9525">
            <a:solidFill>
              <a:srgbClr val="E3EBF0"/>
            </a:solidFill>
            <a:prstDash val="solid"/>
          </a:ln>
        </p:spPr>
        <p:txBody>
          <a:bodyPr/>
          <a:lstStyle/>
          <a:p>
            <a:endParaRPr lang="en-US"/>
          </a:p>
        </p:txBody>
      </p:sp>
      <p:sp>
        <p:nvSpPr>
          <p:cNvPr id="46" name="Text 44"/>
          <p:cNvSpPr/>
          <p:nvPr/>
        </p:nvSpPr>
        <p:spPr>
          <a:xfrm>
            <a:off x="7424928" y="4270248"/>
            <a:ext cx="3986784" cy="53035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Robustness — a keyword pass when semantic search finds nothing</a:t>
            </a:r>
            <a:endParaRPr lang="en-US" sz="1050" dirty="0"/>
          </a:p>
        </p:txBody>
      </p:sp>
      <p:sp>
        <p:nvSpPr>
          <p:cNvPr id="47" name="Shape 45"/>
          <p:cNvSpPr/>
          <p:nvPr/>
        </p:nvSpPr>
        <p:spPr>
          <a:xfrm>
            <a:off x="640080" y="4800600"/>
            <a:ext cx="2468880" cy="530352"/>
          </a:xfrm>
          <a:prstGeom prst="rect">
            <a:avLst/>
          </a:prstGeom>
          <a:solidFill>
            <a:srgbClr val="FFFFFF"/>
          </a:solidFill>
          <a:ln w="9525">
            <a:solidFill>
              <a:srgbClr val="E3EBF0"/>
            </a:solidFill>
            <a:prstDash val="solid"/>
          </a:ln>
        </p:spPr>
        <p:txBody>
          <a:bodyPr/>
          <a:lstStyle/>
          <a:p>
            <a:endParaRPr lang="en-US"/>
          </a:p>
        </p:txBody>
      </p:sp>
      <p:sp>
        <p:nvSpPr>
          <p:cNvPr id="48" name="Text 46"/>
          <p:cNvSpPr/>
          <p:nvPr/>
        </p:nvSpPr>
        <p:spPr>
          <a:xfrm>
            <a:off x="749808" y="4800600"/>
            <a:ext cx="2249424" cy="53035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No-answer detection</a:t>
            </a:r>
            <a:endParaRPr lang="en-US" sz="1050" dirty="0"/>
          </a:p>
        </p:txBody>
      </p:sp>
      <p:sp>
        <p:nvSpPr>
          <p:cNvPr id="49" name="Shape 47"/>
          <p:cNvSpPr/>
          <p:nvPr/>
        </p:nvSpPr>
        <p:spPr>
          <a:xfrm>
            <a:off x="3108960" y="4800600"/>
            <a:ext cx="4206240" cy="530352"/>
          </a:xfrm>
          <a:prstGeom prst="rect">
            <a:avLst/>
          </a:prstGeom>
          <a:solidFill>
            <a:srgbClr val="FFFFFF"/>
          </a:solidFill>
          <a:ln w="9525">
            <a:solidFill>
              <a:srgbClr val="E3EBF0"/>
            </a:solidFill>
            <a:prstDash val="solid"/>
          </a:ln>
        </p:spPr>
        <p:txBody>
          <a:bodyPr/>
          <a:lstStyle/>
          <a:p>
            <a:endParaRPr lang="en-US"/>
          </a:p>
        </p:txBody>
      </p:sp>
      <p:sp>
        <p:nvSpPr>
          <p:cNvPr id="50" name="Text 48"/>
          <p:cNvSpPr/>
          <p:nvPr/>
        </p:nvSpPr>
        <p:spPr>
          <a:xfrm>
            <a:off x="3218688" y="4800600"/>
            <a:ext cx="3986784" cy="53035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Explicitly return that the corpus does not cover this</a:t>
            </a:r>
            <a:endParaRPr lang="en-US" sz="1050" dirty="0"/>
          </a:p>
        </p:txBody>
      </p:sp>
      <p:sp>
        <p:nvSpPr>
          <p:cNvPr id="51" name="Shape 49"/>
          <p:cNvSpPr/>
          <p:nvPr/>
        </p:nvSpPr>
        <p:spPr>
          <a:xfrm>
            <a:off x="7315200" y="4800600"/>
            <a:ext cx="4206240" cy="530352"/>
          </a:xfrm>
          <a:prstGeom prst="rect">
            <a:avLst/>
          </a:prstGeom>
          <a:solidFill>
            <a:srgbClr val="FFFFFF"/>
          </a:solidFill>
          <a:ln w="9525">
            <a:solidFill>
              <a:srgbClr val="E3EBF0"/>
            </a:solidFill>
            <a:prstDash val="solid"/>
          </a:ln>
        </p:spPr>
        <p:txBody>
          <a:bodyPr/>
          <a:lstStyle/>
          <a:p>
            <a:endParaRPr lang="en-US"/>
          </a:p>
        </p:txBody>
      </p:sp>
      <p:sp>
        <p:nvSpPr>
          <p:cNvPr id="52" name="Text 50"/>
          <p:cNvSpPr/>
          <p:nvPr/>
        </p:nvSpPr>
        <p:spPr>
          <a:xfrm>
            <a:off x="7424928" y="4800600"/>
            <a:ext cx="3986784" cy="53035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Always. The most underrated feature in enterprise RAG</a:t>
            </a:r>
            <a:endParaRPr lang="en-US" sz="1050" dirty="0"/>
          </a:p>
        </p:txBody>
      </p:sp>
      <p:sp>
        <p:nvSpPr>
          <p:cNvPr id="53" name="Text 51"/>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A2430"/>
                </a:solidFill>
                <a:latin typeface="Calibri" pitchFamily="34" charset="0"/>
                <a:ea typeface="Calibri" pitchFamily="34" charset="-122"/>
                <a:cs typeface="Calibri" pitchFamily="34" charset="-120"/>
              </a:rPr>
              <a:t>Parent-child and no-answer detection are the two most teams should add first. Graph RAG is genuinely powerful and frequently premature.</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3 · 3.5</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No-answer detection — the most underrated feature</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21</a:t>
            </a:r>
            <a:endParaRPr lang="en-US" sz="1000" dirty="0"/>
          </a:p>
        </p:txBody>
      </p:sp>
      <p:sp>
        <p:nvSpPr>
          <p:cNvPr id="5" name="Shape 3"/>
          <p:cNvSpPr/>
          <p:nvPr/>
        </p:nvSpPr>
        <p:spPr>
          <a:xfrm>
            <a:off x="640080" y="1280160"/>
            <a:ext cx="5303520" cy="2286000"/>
          </a:xfrm>
          <a:prstGeom prst="roundRect">
            <a:avLst>
              <a:gd name="adj" fmla="val 2400"/>
            </a:avLst>
          </a:prstGeom>
          <a:solidFill>
            <a:srgbClr val="FBEEE8"/>
          </a:solidFill>
          <a:ln w="12700">
            <a:solidFill>
              <a:srgbClr val="D8E4EC"/>
            </a:solidFill>
            <a:prstDash val="solid"/>
          </a:ln>
        </p:spPr>
        <p:txBody>
          <a:bodyPr/>
          <a:lstStyle/>
          <a:p>
            <a:endParaRPr lang="en-US"/>
          </a:p>
        </p:txBody>
      </p:sp>
      <p:sp>
        <p:nvSpPr>
          <p:cNvPr id="6" name="Text 4"/>
          <p:cNvSpPr/>
          <p:nvPr/>
        </p:nvSpPr>
        <p:spPr>
          <a:xfrm>
            <a:off x="841248" y="1417320"/>
            <a:ext cx="4901184" cy="347472"/>
          </a:xfrm>
          <a:prstGeom prst="rect">
            <a:avLst/>
          </a:prstGeom>
          <a:noFill/>
          <a:ln/>
        </p:spPr>
        <p:txBody>
          <a:bodyPr wrap="square" lIns="0" tIns="0" rIns="0" bIns="0" rtlCol="0" anchor="ctr"/>
          <a:lstStyle/>
          <a:p>
            <a:pPr marL="0" indent="0">
              <a:buNone/>
            </a:pPr>
            <a:r>
              <a:rPr lang="en-US" sz="1400" b="1" dirty="0">
                <a:solidFill>
                  <a:srgbClr val="C1440E"/>
                </a:solidFill>
                <a:latin typeface="Calibri" pitchFamily="34" charset="0"/>
                <a:ea typeface="Calibri" pitchFamily="34" charset="-122"/>
                <a:cs typeface="Calibri" pitchFamily="34" charset="-120"/>
              </a:rPr>
              <a:t>Without it</a:t>
            </a:r>
            <a:endParaRPr lang="en-US" sz="1400" dirty="0"/>
          </a:p>
        </p:txBody>
      </p:sp>
      <p:sp>
        <p:nvSpPr>
          <p:cNvPr id="7" name="Text 5"/>
          <p:cNvSpPr/>
          <p:nvPr/>
        </p:nvSpPr>
        <p:spPr>
          <a:xfrm>
            <a:off x="841248" y="1783080"/>
            <a:ext cx="4901184" cy="162763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Retrieval always returns its top matches, however weak. The model receives irrelevant passages and answers anyway, because that is what it does.</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The user gets a fluent, confident, wrong answer — with a citation to a document that does not support it, which makes it worse.</a:t>
            </a:r>
            <a:endParaRPr lang="en-US" sz="1150" dirty="0"/>
          </a:p>
        </p:txBody>
      </p:sp>
      <p:sp>
        <p:nvSpPr>
          <p:cNvPr id="8" name="Shape 6"/>
          <p:cNvSpPr/>
          <p:nvPr/>
        </p:nvSpPr>
        <p:spPr>
          <a:xfrm>
            <a:off x="6263640" y="1280160"/>
            <a:ext cx="5257800" cy="2286000"/>
          </a:xfrm>
          <a:prstGeom prst="roundRect">
            <a:avLst>
              <a:gd name="adj" fmla="val 2400"/>
            </a:avLst>
          </a:prstGeom>
          <a:solidFill>
            <a:srgbClr val="EDF5EE"/>
          </a:solidFill>
          <a:ln w="12700">
            <a:solidFill>
              <a:srgbClr val="D8E4EC"/>
            </a:solidFill>
            <a:prstDash val="solid"/>
          </a:ln>
        </p:spPr>
        <p:txBody>
          <a:bodyPr/>
          <a:lstStyle/>
          <a:p>
            <a:endParaRPr lang="en-US"/>
          </a:p>
        </p:txBody>
      </p:sp>
      <p:sp>
        <p:nvSpPr>
          <p:cNvPr id="9" name="Text 7"/>
          <p:cNvSpPr/>
          <p:nvPr/>
        </p:nvSpPr>
        <p:spPr>
          <a:xfrm>
            <a:off x="6464808" y="1417320"/>
            <a:ext cx="4855464" cy="347472"/>
          </a:xfrm>
          <a:prstGeom prst="rect">
            <a:avLst/>
          </a:prstGeom>
          <a:noFill/>
          <a:ln/>
        </p:spPr>
        <p:txBody>
          <a:bodyPr wrap="square" lIns="0" tIns="0" rIns="0" bIns="0" rtlCol="0" anchor="ctr"/>
          <a:lstStyle/>
          <a:p>
            <a:pPr marL="0" indent="0">
              <a:buNone/>
            </a:pPr>
            <a:r>
              <a:rPr lang="en-US" sz="1400" b="1" dirty="0">
                <a:solidFill>
                  <a:srgbClr val="1E7A3C"/>
                </a:solidFill>
                <a:latin typeface="Calibri" pitchFamily="34" charset="0"/>
                <a:ea typeface="Calibri" pitchFamily="34" charset="-122"/>
                <a:cs typeface="Calibri" pitchFamily="34" charset="-120"/>
              </a:rPr>
              <a:t>With it</a:t>
            </a:r>
            <a:endParaRPr lang="en-US" sz="1400" dirty="0"/>
          </a:p>
        </p:txBody>
      </p:sp>
      <p:sp>
        <p:nvSpPr>
          <p:cNvPr id="10" name="Text 8"/>
          <p:cNvSpPr/>
          <p:nvPr/>
        </p:nvSpPr>
        <p:spPr>
          <a:xfrm>
            <a:off x="6464808" y="1783080"/>
            <a:ext cx="4855464" cy="162763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When retrieval scores fall below a threshold, or the reranker finds no passage sufficiently relevant, the system states that the documentation does not cover this.</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The user goes to a colleague, which is the correct outcome and takes thirty seconds.</a:t>
            </a:r>
            <a:endParaRPr lang="en-US" sz="1150" dirty="0"/>
          </a:p>
        </p:txBody>
      </p:sp>
      <p:sp>
        <p:nvSpPr>
          <p:cNvPr id="11" name="Shape 9"/>
          <p:cNvSpPr/>
          <p:nvPr/>
        </p:nvSpPr>
        <p:spPr>
          <a:xfrm>
            <a:off x="640080" y="3794760"/>
            <a:ext cx="10881360" cy="1600200"/>
          </a:xfrm>
          <a:prstGeom prst="roundRect">
            <a:avLst>
              <a:gd name="adj" fmla="val 3429"/>
            </a:avLst>
          </a:prstGeom>
          <a:solidFill>
            <a:srgbClr val="FDF1E3"/>
          </a:solidFill>
          <a:ln w="12700">
            <a:solidFill>
              <a:srgbClr val="EBD3BB"/>
            </a:solidFill>
            <a:prstDash val="solid"/>
          </a:ln>
        </p:spPr>
        <p:txBody>
          <a:bodyPr/>
          <a:lstStyle/>
          <a:p>
            <a:endParaRPr lang="en-US"/>
          </a:p>
        </p:txBody>
      </p:sp>
      <p:sp>
        <p:nvSpPr>
          <p:cNvPr id="12" name="Text 10"/>
          <p:cNvSpPr/>
          <p:nvPr/>
        </p:nvSpPr>
        <p:spPr>
          <a:xfrm>
            <a:off x="914400" y="3959352"/>
            <a:ext cx="10332720" cy="320040"/>
          </a:xfrm>
          <a:prstGeom prst="rect">
            <a:avLst/>
          </a:prstGeom>
          <a:noFill/>
          <a:ln/>
        </p:spPr>
        <p:txBody>
          <a:bodyPr wrap="square" lIns="0" tIns="0" rIns="0" bIns="0" rtlCol="0" anchor="ctr"/>
          <a:lstStyle/>
          <a:p>
            <a:pPr marL="0" indent="0">
              <a:buNone/>
            </a:pPr>
            <a:r>
              <a:rPr lang="en-US" sz="1350" b="1" dirty="0">
                <a:solidFill>
                  <a:srgbClr val="C1440E"/>
                </a:solidFill>
                <a:latin typeface="Calibri" pitchFamily="34" charset="0"/>
                <a:ea typeface="Calibri" pitchFamily="34" charset="-122"/>
                <a:cs typeface="Calibri" pitchFamily="34" charset="-120"/>
              </a:rPr>
              <a:t>How to implement and measure it</a:t>
            </a:r>
            <a:endParaRPr lang="en-US" sz="1350" dirty="0"/>
          </a:p>
        </p:txBody>
      </p:sp>
      <p:sp>
        <p:nvSpPr>
          <p:cNvPr id="13" name="Text 11"/>
          <p:cNvSpPr/>
          <p:nvPr/>
        </p:nvSpPr>
        <p:spPr>
          <a:xfrm>
            <a:off x="914400" y="4297680"/>
            <a:ext cx="10332720" cy="96012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Implementation: threshold on the reranker score, plus an explicit instruction that the model must answer only from the provided passages and must say so when they are insufficient. Measurement: build a set of questions your corpus genuinely does not cover, and measure how often the system correctly declines. That metric is no-answer accuracy, and teams that do not measure it invariably discover their system never declines anything — including questions about equipment they do not make.</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HANDS-ON · 60 MINUTES</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Lab 3 — Compare retrieval strategies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22</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500" dirty="0">
                <a:solidFill>
                  <a:srgbClr val="1A2430"/>
                </a:solidFill>
                <a:latin typeface="Calibri" pitchFamily="34" charset="0"/>
                <a:ea typeface="Calibri" pitchFamily="34" charset="-122"/>
                <a:cs typeface="Calibri" pitchFamily="34" charset="-120"/>
              </a:rPr>
              <a:t>One corpus. One set of questions with known correct passages. Four strategies. One comparison table.</a:t>
            </a:r>
            <a:endParaRPr lang="en-US" sz="1500" dirty="0"/>
          </a:p>
        </p:txBody>
      </p:sp>
      <p:sp>
        <p:nvSpPr>
          <p:cNvPr id="6" name="Shape 4"/>
          <p:cNvSpPr/>
          <p:nvPr/>
        </p:nvSpPr>
        <p:spPr>
          <a:xfrm>
            <a:off x="640080" y="1783080"/>
            <a:ext cx="3840480" cy="384048"/>
          </a:xfrm>
          <a:prstGeom prst="rect">
            <a:avLst/>
          </a:prstGeom>
          <a:solidFill>
            <a:srgbClr val="21295C"/>
          </a:solidFill>
          <a:ln/>
        </p:spPr>
        <p:txBody>
          <a:bodyPr/>
          <a:lstStyle/>
          <a:p>
            <a:endParaRPr lang="en-US"/>
          </a:p>
        </p:txBody>
      </p:sp>
      <p:sp>
        <p:nvSpPr>
          <p:cNvPr id="7" name="Text 5"/>
          <p:cNvSpPr/>
          <p:nvPr/>
        </p:nvSpPr>
        <p:spPr>
          <a:xfrm>
            <a:off x="749808" y="1783080"/>
            <a:ext cx="36210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Strategy</a:t>
            </a:r>
            <a:endParaRPr lang="en-US" sz="1100" dirty="0"/>
          </a:p>
        </p:txBody>
      </p:sp>
      <p:sp>
        <p:nvSpPr>
          <p:cNvPr id="8" name="Shape 6"/>
          <p:cNvSpPr/>
          <p:nvPr/>
        </p:nvSpPr>
        <p:spPr>
          <a:xfrm>
            <a:off x="4480560" y="1783080"/>
            <a:ext cx="7040880" cy="384048"/>
          </a:xfrm>
          <a:prstGeom prst="rect">
            <a:avLst/>
          </a:prstGeom>
          <a:solidFill>
            <a:srgbClr val="21295C"/>
          </a:solidFill>
          <a:ln/>
        </p:spPr>
        <p:txBody>
          <a:bodyPr/>
          <a:lstStyle/>
          <a:p>
            <a:endParaRPr lang="en-US"/>
          </a:p>
        </p:txBody>
      </p:sp>
      <p:sp>
        <p:nvSpPr>
          <p:cNvPr id="9" name="Text 7"/>
          <p:cNvSpPr/>
          <p:nvPr/>
        </p:nvSpPr>
        <p:spPr>
          <a:xfrm>
            <a:off x="4590288" y="1783080"/>
            <a:ext cx="68214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Expect to see</a:t>
            </a:r>
            <a:endParaRPr lang="en-US" sz="1100" dirty="0"/>
          </a:p>
        </p:txBody>
      </p:sp>
      <p:sp>
        <p:nvSpPr>
          <p:cNvPr id="10" name="Shape 8"/>
          <p:cNvSpPr/>
          <p:nvPr/>
        </p:nvSpPr>
        <p:spPr>
          <a:xfrm>
            <a:off x="640080" y="2167128"/>
            <a:ext cx="3840480" cy="621792"/>
          </a:xfrm>
          <a:prstGeom prst="rect">
            <a:avLst/>
          </a:prstGeom>
          <a:solidFill>
            <a:srgbClr val="FFFFFF"/>
          </a:solidFill>
          <a:ln w="9525">
            <a:solidFill>
              <a:srgbClr val="E3EBF0"/>
            </a:solidFill>
            <a:prstDash val="solid"/>
          </a:ln>
        </p:spPr>
        <p:txBody>
          <a:bodyPr/>
          <a:lstStyle/>
          <a:p>
            <a:endParaRPr lang="en-US"/>
          </a:p>
        </p:txBody>
      </p:sp>
      <p:sp>
        <p:nvSpPr>
          <p:cNvPr id="11" name="Text 9"/>
          <p:cNvSpPr/>
          <p:nvPr/>
        </p:nvSpPr>
        <p:spPr>
          <a:xfrm>
            <a:off x="749808" y="2167128"/>
            <a:ext cx="3621024" cy="62179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Dense only (baseline)</a:t>
            </a:r>
            <a:endParaRPr lang="en-US" sz="1050" dirty="0"/>
          </a:p>
        </p:txBody>
      </p:sp>
      <p:sp>
        <p:nvSpPr>
          <p:cNvPr id="12" name="Shape 10"/>
          <p:cNvSpPr/>
          <p:nvPr/>
        </p:nvSpPr>
        <p:spPr>
          <a:xfrm>
            <a:off x="4480560" y="2167128"/>
            <a:ext cx="7040880" cy="621792"/>
          </a:xfrm>
          <a:prstGeom prst="rect">
            <a:avLst/>
          </a:prstGeom>
          <a:solidFill>
            <a:srgbClr val="FFFFFF"/>
          </a:solidFill>
          <a:ln w="9525">
            <a:solidFill>
              <a:srgbClr val="E3EBF0"/>
            </a:solidFill>
            <a:prstDash val="solid"/>
          </a:ln>
        </p:spPr>
        <p:txBody>
          <a:bodyPr/>
          <a:lstStyle/>
          <a:p>
            <a:endParaRPr lang="en-US"/>
          </a:p>
        </p:txBody>
      </p:sp>
      <p:sp>
        <p:nvSpPr>
          <p:cNvPr id="13" name="Text 11"/>
          <p:cNvSpPr/>
          <p:nvPr/>
        </p:nvSpPr>
        <p:spPr>
          <a:xfrm>
            <a:off x="4590288" y="2167128"/>
            <a:ext cx="6821424" cy="62179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Good on conceptual questions; fails on part numbers and error codes</a:t>
            </a:r>
            <a:endParaRPr lang="en-US" sz="1050" dirty="0"/>
          </a:p>
        </p:txBody>
      </p:sp>
      <p:sp>
        <p:nvSpPr>
          <p:cNvPr id="14" name="Shape 12"/>
          <p:cNvSpPr/>
          <p:nvPr/>
        </p:nvSpPr>
        <p:spPr>
          <a:xfrm>
            <a:off x="640080" y="2788920"/>
            <a:ext cx="3840480" cy="621792"/>
          </a:xfrm>
          <a:prstGeom prst="rect">
            <a:avLst/>
          </a:prstGeom>
          <a:solidFill>
            <a:srgbClr val="F5F9FB"/>
          </a:solidFill>
          <a:ln w="9525">
            <a:solidFill>
              <a:srgbClr val="E3EBF0"/>
            </a:solidFill>
            <a:prstDash val="solid"/>
          </a:ln>
        </p:spPr>
        <p:txBody>
          <a:bodyPr/>
          <a:lstStyle/>
          <a:p>
            <a:endParaRPr lang="en-US"/>
          </a:p>
        </p:txBody>
      </p:sp>
      <p:sp>
        <p:nvSpPr>
          <p:cNvPr id="15" name="Text 13"/>
          <p:cNvSpPr/>
          <p:nvPr/>
        </p:nvSpPr>
        <p:spPr>
          <a:xfrm>
            <a:off x="749808" y="2788920"/>
            <a:ext cx="3621024" cy="62179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Sparse only (BM25)</a:t>
            </a:r>
            <a:endParaRPr lang="en-US" sz="1050" dirty="0"/>
          </a:p>
        </p:txBody>
      </p:sp>
      <p:sp>
        <p:nvSpPr>
          <p:cNvPr id="16" name="Shape 14"/>
          <p:cNvSpPr/>
          <p:nvPr/>
        </p:nvSpPr>
        <p:spPr>
          <a:xfrm>
            <a:off x="4480560" y="2788920"/>
            <a:ext cx="7040880" cy="621792"/>
          </a:xfrm>
          <a:prstGeom prst="rect">
            <a:avLst/>
          </a:prstGeom>
          <a:solidFill>
            <a:srgbClr val="F5F9FB"/>
          </a:solidFill>
          <a:ln w="9525">
            <a:solidFill>
              <a:srgbClr val="E3EBF0"/>
            </a:solidFill>
            <a:prstDash val="solid"/>
          </a:ln>
        </p:spPr>
        <p:txBody>
          <a:bodyPr/>
          <a:lstStyle/>
          <a:p>
            <a:endParaRPr lang="en-US"/>
          </a:p>
        </p:txBody>
      </p:sp>
      <p:sp>
        <p:nvSpPr>
          <p:cNvPr id="17" name="Text 15"/>
          <p:cNvSpPr/>
          <p:nvPr/>
        </p:nvSpPr>
        <p:spPr>
          <a:xfrm>
            <a:off x="4590288" y="2788920"/>
            <a:ext cx="6821424" cy="62179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Good on identifiers; fails when the question is phrased differently from the document</a:t>
            </a:r>
            <a:endParaRPr lang="en-US" sz="1050" dirty="0"/>
          </a:p>
        </p:txBody>
      </p:sp>
      <p:sp>
        <p:nvSpPr>
          <p:cNvPr id="18" name="Shape 16"/>
          <p:cNvSpPr/>
          <p:nvPr/>
        </p:nvSpPr>
        <p:spPr>
          <a:xfrm>
            <a:off x="640080" y="3410712"/>
            <a:ext cx="3840480" cy="621792"/>
          </a:xfrm>
          <a:prstGeom prst="rect">
            <a:avLst/>
          </a:prstGeom>
          <a:solidFill>
            <a:srgbClr val="FFFFFF"/>
          </a:solidFill>
          <a:ln w="9525">
            <a:solidFill>
              <a:srgbClr val="E3EBF0"/>
            </a:solidFill>
            <a:prstDash val="solid"/>
          </a:ln>
        </p:spPr>
        <p:txBody>
          <a:bodyPr/>
          <a:lstStyle/>
          <a:p>
            <a:endParaRPr lang="en-US"/>
          </a:p>
        </p:txBody>
      </p:sp>
      <p:sp>
        <p:nvSpPr>
          <p:cNvPr id="19" name="Text 17"/>
          <p:cNvSpPr/>
          <p:nvPr/>
        </p:nvSpPr>
        <p:spPr>
          <a:xfrm>
            <a:off x="749808" y="3410712"/>
            <a:ext cx="3621024" cy="62179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Hybrid</a:t>
            </a:r>
            <a:endParaRPr lang="en-US" sz="1050" dirty="0"/>
          </a:p>
        </p:txBody>
      </p:sp>
      <p:sp>
        <p:nvSpPr>
          <p:cNvPr id="20" name="Shape 18"/>
          <p:cNvSpPr/>
          <p:nvPr/>
        </p:nvSpPr>
        <p:spPr>
          <a:xfrm>
            <a:off x="4480560" y="3410712"/>
            <a:ext cx="7040880" cy="621792"/>
          </a:xfrm>
          <a:prstGeom prst="rect">
            <a:avLst/>
          </a:prstGeom>
          <a:solidFill>
            <a:srgbClr val="FFFFFF"/>
          </a:solidFill>
          <a:ln w="9525">
            <a:solidFill>
              <a:srgbClr val="E3EBF0"/>
            </a:solidFill>
            <a:prstDash val="solid"/>
          </a:ln>
        </p:spPr>
        <p:txBody>
          <a:bodyPr/>
          <a:lstStyle/>
          <a:p>
            <a:endParaRPr lang="en-US"/>
          </a:p>
        </p:txBody>
      </p:sp>
      <p:sp>
        <p:nvSpPr>
          <p:cNvPr id="21" name="Text 19"/>
          <p:cNvSpPr/>
          <p:nvPr/>
        </p:nvSpPr>
        <p:spPr>
          <a:xfrm>
            <a:off x="4590288" y="3410712"/>
            <a:ext cx="6821424" cy="62179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Better than either alone on a mixed query set — usually clearly so</a:t>
            </a:r>
            <a:endParaRPr lang="en-US" sz="1050" dirty="0"/>
          </a:p>
        </p:txBody>
      </p:sp>
      <p:sp>
        <p:nvSpPr>
          <p:cNvPr id="22" name="Shape 20"/>
          <p:cNvSpPr/>
          <p:nvPr/>
        </p:nvSpPr>
        <p:spPr>
          <a:xfrm>
            <a:off x="640080" y="4032504"/>
            <a:ext cx="3840480" cy="621792"/>
          </a:xfrm>
          <a:prstGeom prst="rect">
            <a:avLst/>
          </a:prstGeom>
          <a:solidFill>
            <a:srgbClr val="F5F9FB"/>
          </a:solidFill>
          <a:ln w="9525">
            <a:solidFill>
              <a:srgbClr val="E3EBF0"/>
            </a:solidFill>
            <a:prstDash val="solid"/>
          </a:ln>
        </p:spPr>
        <p:txBody>
          <a:bodyPr/>
          <a:lstStyle/>
          <a:p>
            <a:endParaRPr lang="en-US"/>
          </a:p>
        </p:txBody>
      </p:sp>
      <p:sp>
        <p:nvSpPr>
          <p:cNvPr id="23" name="Text 21"/>
          <p:cNvSpPr/>
          <p:nvPr/>
        </p:nvSpPr>
        <p:spPr>
          <a:xfrm>
            <a:off x="749808" y="4032504"/>
            <a:ext cx="3621024" cy="62179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Hybrid + reranking</a:t>
            </a:r>
            <a:endParaRPr lang="en-US" sz="1050" dirty="0"/>
          </a:p>
        </p:txBody>
      </p:sp>
      <p:sp>
        <p:nvSpPr>
          <p:cNvPr id="24" name="Shape 22"/>
          <p:cNvSpPr/>
          <p:nvPr/>
        </p:nvSpPr>
        <p:spPr>
          <a:xfrm>
            <a:off x="4480560" y="4032504"/>
            <a:ext cx="7040880" cy="621792"/>
          </a:xfrm>
          <a:prstGeom prst="rect">
            <a:avLst/>
          </a:prstGeom>
          <a:solidFill>
            <a:srgbClr val="F5F9FB"/>
          </a:solidFill>
          <a:ln w="9525">
            <a:solidFill>
              <a:srgbClr val="E3EBF0"/>
            </a:solidFill>
            <a:prstDash val="solid"/>
          </a:ln>
        </p:spPr>
        <p:txBody>
          <a:bodyPr/>
          <a:lstStyle/>
          <a:p>
            <a:endParaRPr lang="en-US"/>
          </a:p>
        </p:txBody>
      </p:sp>
      <p:sp>
        <p:nvSpPr>
          <p:cNvPr id="25" name="Text 23"/>
          <p:cNvSpPr/>
          <p:nvPr/>
        </p:nvSpPr>
        <p:spPr>
          <a:xfrm>
            <a:off x="4590288" y="4032504"/>
            <a:ext cx="6821424" cy="62179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best precision, at additional latency. Measure both</a:t>
            </a:r>
            <a:endParaRPr lang="en-US" sz="1050" dirty="0"/>
          </a:p>
        </p:txBody>
      </p:sp>
      <p:sp>
        <p:nvSpPr>
          <p:cNvPr id="26" name="Shape 24"/>
          <p:cNvSpPr/>
          <p:nvPr/>
        </p:nvSpPr>
        <p:spPr>
          <a:xfrm>
            <a:off x="640080" y="4654296"/>
            <a:ext cx="3840480" cy="621792"/>
          </a:xfrm>
          <a:prstGeom prst="rect">
            <a:avLst/>
          </a:prstGeom>
          <a:solidFill>
            <a:srgbClr val="FFFFFF"/>
          </a:solidFill>
          <a:ln w="9525">
            <a:solidFill>
              <a:srgbClr val="E3EBF0"/>
            </a:solidFill>
            <a:prstDash val="solid"/>
          </a:ln>
        </p:spPr>
        <p:txBody>
          <a:bodyPr/>
          <a:lstStyle/>
          <a:p>
            <a:endParaRPr lang="en-US"/>
          </a:p>
        </p:txBody>
      </p:sp>
      <p:sp>
        <p:nvSpPr>
          <p:cNvPr id="27" name="Text 25"/>
          <p:cNvSpPr/>
          <p:nvPr/>
        </p:nvSpPr>
        <p:spPr>
          <a:xfrm>
            <a:off x="749808" y="4654296"/>
            <a:ext cx="3621024" cy="62179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Hybrid + reranking + metadata filter</a:t>
            </a:r>
            <a:endParaRPr lang="en-US" sz="1050" dirty="0"/>
          </a:p>
        </p:txBody>
      </p:sp>
      <p:sp>
        <p:nvSpPr>
          <p:cNvPr id="28" name="Shape 26"/>
          <p:cNvSpPr/>
          <p:nvPr/>
        </p:nvSpPr>
        <p:spPr>
          <a:xfrm>
            <a:off x="4480560" y="4654296"/>
            <a:ext cx="7040880" cy="621792"/>
          </a:xfrm>
          <a:prstGeom prst="rect">
            <a:avLst/>
          </a:prstGeom>
          <a:solidFill>
            <a:srgbClr val="FFFFFF"/>
          </a:solidFill>
          <a:ln w="9525">
            <a:solidFill>
              <a:srgbClr val="E3EBF0"/>
            </a:solidFill>
            <a:prstDash val="solid"/>
          </a:ln>
        </p:spPr>
        <p:txBody>
          <a:bodyPr/>
          <a:lstStyle/>
          <a:p>
            <a:endParaRPr lang="en-US"/>
          </a:p>
        </p:txBody>
      </p:sp>
      <p:sp>
        <p:nvSpPr>
          <p:cNvPr id="29" name="Text 27"/>
          <p:cNvSpPr/>
          <p:nvPr/>
        </p:nvSpPr>
        <p:spPr>
          <a:xfrm>
            <a:off x="4590288" y="4654296"/>
            <a:ext cx="6821424" cy="62179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Typically the best result overall, if your metadata is good enough to filter on</a:t>
            </a:r>
            <a:endParaRPr lang="en-US" sz="1050" dirty="0"/>
          </a:p>
        </p:txBody>
      </p:sp>
      <p:sp>
        <p:nvSpPr>
          <p:cNvPr id="30" name="Shape 28"/>
          <p:cNvSpPr/>
          <p:nvPr/>
        </p:nvSpPr>
        <p:spPr>
          <a:xfrm>
            <a:off x="640080" y="5029200"/>
            <a:ext cx="10881360" cy="868680"/>
          </a:xfrm>
          <a:prstGeom prst="roundRect">
            <a:avLst>
              <a:gd name="adj" fmla="val 6316"/>
            </a:avLst>
          </a:prstGeom>
          <a:solidFill>
            <a:srgbClr val="E4EEF4"/>
          </a:solidFill>
          <a:ln w="12700">
            <a:solidFill>
              <a:srgbClr val="C9DCE7"/>
            </a:solidFill>
            <a:prstDash val="solid"/>
          </a:ln>
        </p:spPr>
        <p:txBody>
          <a:bodyPr/>
          <a:lstStyle/>
          <a:p>
            <a:endParaRPr lang="en-US"/>
          </a:p>
        </p:txBody>
      </p:sp>
      <p:sp>
        <p:nvSpPr>
          <p:cNvPr id="31" name="Text 29"/>
          <p:cNvSpPr/>
          <p:nvPr/>
        </p:nvSpPr>
        <p:spPr>
          <a:xfrm>
            <a:off x="914400" y="5193792"/>
            <a:ext cx="10332720" cy="566928"/>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Record for each: context recall, context precision, answer correctness, latency and cost per query. The purpose is a table you can show your management, not a preference.</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22960" y="2194560"/>
            <a:ext cx="10058400" cy="365760"/>
          </a:xfrm>
          <a:prstGeom prst="rect">
            <a:avLst/>
          </a:prstGeom>
          <a:noFill/>
          <a:ln/>
        </p:spPr>
        <p:txBody>
          <a:bodyPr wrap="square" rtlCol="0" anchor="ctr"/>
          <a:lstStyle/>
          <a:p>
            <a:pPr marL="0" indent="0">
              <a:buNone/>
            </a:pPr>
            <a:r>
              <a:rPr lang="en-US" sz="1200" b="1" kern="0" spc="300" dirty="0">
                <a:solidFill>
                  <a:srgbClr val="9FD0E3"/>
                </a:solidFill>
                <a:latin typeface="Calibri" pitchFamily="34" charset="0"/>
                <a:ea typeface="Calibri" pitchFamily="34" charset="-122"/>
                <a:cs typeface="Calibri" pitchFamily="34" charset="-120"/>
              </a:rPr>
              <a:t>MODULE 4</a:t>
            </a:r>
            <a:endParaRPr lang="en-US" sz="1200" dirty="0"/>
          </a:p>
        </p:txBody>
      </p:sp>
      <p:sp>
        <p:nvSpPr>
          <p:cNvPr id="3" name="Text 1"/>
          <p:cNvSpPr/>
          <p:nvPr/>
        </p:nvSpPr>
        <p:spPr>
          <a:xfrm>
            <a:off x="822960" y="2606040"/>
            <a:ext cx="10241280" cy="10972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MCP for Tool and Data Integration</a:t>
            </a:r>
            <a:endParaRPr lang="en-US" sz="3400" dirty="0"/>
          </a:p>
        </p:txBody>
      </p:sp>
      <p:sp>
        <p:nvSpPr>
          <p:cNvPr id="4" name="Text 2"/>
          <p:cNvSpPr/>
          <p:nvPr/>
        </p:nvSpPr>
        <p:spPr>
          <a:xfrm>
            <a:off x="822960" y="3794760"/>
            <a:ext cx="9692640" cy="822960"/>
          </a:xfrm>
          <a:prstGeom prst="rect">
            <a:avLst/>
          </a:prstGeom>
          <a:noFill/>
          <a:ln/>
        </p:spPr>
        <p:txBody>
          <a:bodyPr wrap="square" rtlCol="0" anchor="ctr"/>
          <a:lstStyle/>
          <a:p>
            <a:pPr marL="0" indent="0">
              <a:lnSpc>
                <a:spcPts val="2100"/>
              </a:lnSpc>
              <a:buNone/>
            </a:pPr>
            <a:r>
              <a:rPr lang="en-US" sz="1500" dirty="0">
                <a:solidFill>
                  <a:srgbClr val="D5E8F0"/>
                </a:solidFill>
                <a:latin typeface="Calibri" pitchFamily="34" charset="0"/>
                <a:ea typeface="Calibri" pitchFamily="34" charset="-122"/>
                <a:cs typeface="Calibri" pitchFamily="34" charset="-120"/>
              </a:rPr>
              <a:t>A standard way to give a model access to systems — with contracts, boundaries and an audit trail.</a:t>
            </a:r>
            <a:endParaRPr lang="en-US" sz="1500" dirty="0"/>
          </a:p>
        </p:txBody>
      </p:sp>
      <p:sp>
        <p:nvSpPr>
          <p:cNvPr id="5" name="Text 3"/>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4 · 4.1</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Why MCP matters for enterprise AI</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24</a:t>
            </a:r>
            <a:endParaRPr lang="en-US" sz="1000" dirty="0"/>
          </a:p>
        </p:txBody>
      </p:sp>
      <p:sp>
        <p:nvSpPr>
          <p:cNvPr id="5" name="Shape 3"/>
          <p:cNvSpPr/>
          <p:nvPr/>
        </p:nvSpPr>
        <p:spPr>
          <a:xfrm>
            <a:off x="640080" y="1280160"/>
            <a:ext cx="5303520" cy="2468880"/>
          </a:xfrm>
          <a:prstGeom prst="roundRect">
            <a:avLst>
              <a:gd name="adj" fmla="val 2222"/>
            </a:avLst>
          </a:prstGeom>
          <a:solidFill>
            <a:srgbClr val="FBEEE8"/>
          </a:solidFill>
          <a:ln w="12700">
            <a:solidFill>
              <a:srgbClr val="D8E4EC"/>
            </a:solidFill>
            <a:prstDash val="solid"/>
          </a:ln>
        </p:spPr>
        <p:txBody>
          <a:bodyPr/>
          <a:lstStyle/>
          <a:p>
            <a:endParaRPr lang="en-US"/>
          </a:p>
        </p:txBody>
      </p:sp>
      <p:sp>
        <p:nvSpPr>
          <p:cNvPr id="6" name="Text 4"/>
          <p:cNvSpPr/>
          <p:nvPr/>
        </p:nvSpPr>
        <p:spPr>
          <a:xfrm>
            <a:off x="841248" y="1417320"/>
            <a:ext cx="4901184" cy="347472"/>
          </a:xfrm>
          <a:prstGeom prst="rect">
            <a:avLst/>
          </a:prstGeom>
          <a:noFill/>
          <a:ln/>
        </p:spPr>
        <p:txBody>
          <a:bodyPr wrap="square" lIns="0" tIns="0" rIns="0" bIns="0" rtlCol="0" anchor="ctr"/>
          <a:lstStyle/>
          <a:p>
            <a:pPr marL="0" indent="0">
              <a:buNone/>
            </a:pPr>
            <a:r>
              <a:rPr lang="en-US" sz="1400" b="1" dirty="0">
                <a:solidFill>
                  <a:srgbClr val="C1440E"/>
                </a:solidFill>
                <a:latin typeface="Calibri" pitchFamily="34" charset="0"/>
                <a:ea typeface="Calibri" pitchFamily="34" charset="-122"/>
                <a:cs typeface="Calibri" pitchFamily="34" charset="-120"/>
              </a:rPr>
              <a:t>The problem it addresses</a:t>
            </a:r>
            <a:endParaRPr lang="en-US" sz="1400" dirty="0"/>
          </a:p>
        </p:txBody>
      </p:sp>
      <p:sp>
        <p:nvSpPr>
          <p:cNvPr id="7" name="Text 5"/>
          <p:cNvSpPr/>
          <p:nvPr/>
        </p:nvSpPr>
        <p:spPr>
          <a:xfrm>
            <a:off x="841248" y="1783080"/>
            <a:ext cx="4901184" cy="181051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Every AI application integrates with the same enterprise systems, and each writes its own bespoke integration.</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Five applications × eight systems = forty integrations, each with its own auth handling, error semantics, versioning and security review.</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Nothing is reusable and nothing is consistently governed.</a:t>
            </a:r>
            <a:endParaRPr lang="en-US" sz="1150" dirty="0"/>
          </a:p>
        </p:txBody>
      </p:sp>
      <p:sp>
        <p:nvSpPr>
          <p:cNvPr id="8" name="Shape 6"/>
          <p:cNvSpPr/>
          <p:nvPr/>
        </p:nvSpPr>
        <p:spPr>
          <a:xfrm>
            <a:off x="6263640" y="1280160"/>
            <a:ext cx="5257800" cy="2468880"/>
          </a:xfrm>
          <a:prstGeom prst="roundRect">
            <a:avLst>
              <a:gd name="adj" fmla="val 2222"/>
            </a:avLst>
          </a:prstGeom>
          <a:solidFill>
            <a:srgbClr val="EDF5EE"/>
          </a:solidFill>
          <a:ln w="12700">
            <a:solidFill>
              <a:srgbClr val="D8E4EC"/>
            </a:solidFill>
            <a:prstDash val="solid"/>
          </a:ln>
        </p:spPr>
        <p:txBody>
          <a:bodyPr/>
          <a:lstStyle/>
          <a:p>
            <a:endParaRPr lang="en-US"/>
          </a:p>
        </p:txBody>
      </p:sp>
      <p:sp>
        <p:nvSpPr>
          <p:cNvPr id="9" name="Text 7"/>
          <p:cNvSpPr/>
          <p:nvPr/>
        </p:nvSpPr>
        <p:spPr>
          <a:xfrm>
            <a:off x="6464808" y="1417320"/>
            <a:ext cx="4855464" cy="347472"/>
          </a:xfrm>
          <a:prstGeom prst="rect">
            <a:avLst/>
          </a:prstGeom>
          <a:noFill/>
          <a:ln/>
        </p:spPr>
        <p:txBody>
          <a:bodyPr wrap="square" lIns="0" tIns="0" rIns="0" bIns="0" rtlCol="0" anchor="ctr"/>
          <a:lstStyle/>
          <a:p>
            <a:pPr marL="0" indent="0">
              <a:buNone/>
            </a:pPr>
            <a:r>
              <a:rPr lang="en-US" sz="1400" b="1" dirty="0">
                <a:solidFill>
                  <a:srgbClr val="1E7A3C"/>
                </a:solidFill>
                <a:latin typeface="Calibri" pitchFamily="34" charset="0"/>
                <a:ea typeface="Calibri" pitchFamily="34" charset="-122"/>
                <a:cs typeface="Calibri" pitchFamily="34" charset="-120"/>
              </a:rPr>
              <a:t>What MCP provides</a:t>
            </a:r>
            <a:endParaRPr lang="en-US" sz="1400" dirty="0"/>
          </a:p>
        </p:txBody>
      </p:sp>
      <p:sp>
        <p:nvSpPr>
          <p:cNvPr id="10" name="Text 8"/>
          <p:cNvSpPr/>
          <p:nvPr/>
        </p:nvSpPr>
        <p:spPr>
          <a:xfrm>
            <a:off x="6464808" y="1783080"/>
            <a:ext cx="4855464" cy="181051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A standard protocol between an AI application (client) and a capability provider (server).</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Eight servers, each built and reviewed once, consumed by any client.</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Consistent contracts, consistent auth handling, consistent logging, one security review per server rather than per integration.</a:t>
            </a:r>
            <a:endParaRPr lang="en-US" sz="1150" dirty="0"/>
          </a:p>
        </p:txBody>
      </p:sp>
      <p:sp>
        <p:nvSpPr>
          <p:cNvPr id="11" name="Shape 9"/>
          <p:cNvSpPr/>
          <p:nvPr/>
        </p:nvSpPr>
        <p:spPr>
          <a:xfrm>
            <a:off x="640080" y="3977640"/>
            <a:ext cx="10881360" cy="1371600"/>
          </a:xfrm>
          <a:prstGeom prst="roundRect">
            <a:avLst>
              <a:gd name="adj" fmla="val 4000"/>
            </a:avLst>
          </a:prstGeom>
          <a:solidFill>
            <a:srgbClr val="E4EEF4"/>
          </a:solidFill>
          <a:ln w="12700">
            <a:solidFill>
              <a:srgbClr val="C9DCE7"/>
            </a:solidFill>
            <a:prstDash val="solid"/>
          </a:ln>
        </p:spPr>
        <p:txBody>
          <a:bodyPr/>
          <a:lstStyle/>
          <a:p>
            <a:endParaRPr lang="en-US"/>
          </a:p>
        </p:txBody>
      </p:sp>
      <p:sp>
        <p:nvSpPr>
          <p:cNvPr id="12" name="Text 10"/>
          <p:cNvSpPr/>
          <p:nvPr/>
        </p:nvSpPr>
        <p:spPr>
          <a:xfrm>
            <a:off x="914400" y="4142232"/>
            <a:ext cx="10332720" cy="320040"/>
          </a:xfrm>
          <a:prstGeom prst="rect">
            <a:avLst/>
          </a:prstGeom>
          <a:noFill/>
          <a:ln/>
        </p:spPr>
        <p:txBody>
          <a:bodyPr wrap="square" lIns="0" tIns="0" rIns="0" bIns="0" rtlCol="0" anchor="ctr"/>
          <a:lstStyle/>
          <a:p>
            <a:pPr marL="0" indent="0">
              <a:buNone/>
            </a:pPr>
            <a:r>
              <a:rPr lang="en-US" sz="1350" b="1" dirty="0">
                <a:solidFill>
                  <a:srgbClr val="065A82"/>
                </a:solidFill>
                <a:latin typeface="Calibri" pitchFamily="34" charset="0"/>
                <a:ea typeface="Calibri" pitchFamily="34" charset="-122"/>
                <a:cs typeface="Calibri" pitchFamily="34" charset="-120"/>
              </a:rPr>
              <a:t>The organisational argument, which is stronger than the technical one</a:t>
            </a:r>
            <a:endParaRPr lang="en-US" sz="1350" dirty="0"/>
          </a:p>
        </p:txBody>
      </p:sp>
      <p:sp>
        <p:nvSpPr>
          <p:cNvPr id="13" name="Text 11"/>
          <p:cNvSpPr/>
          <p:nvPr/>
        </p:nvSpPr>
        <p:spPr>
          <a:xfrm>
            <a:off x="914400" y="4480560"/>
            <a:ext cx="10332720" cy="73152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MCP's real value in an enterprise is that it turns integration from an application concern into a platform concern. The team that owns the service-ticket system builds and governs one server; every AI application consumes it under the same contract. That is the difference between eight well-governed integrations and forty of varying quality — and it is why the standardisation matters more than any individual feature of the protocol.</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4 · 4.2</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Client and server roles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25</a:t>
            </a:r>
            <a:endParaRPr lang="en-US" sz="1000" dirty="0"/>
          </a:p>
        </p:txBody>
      </p:sp>
      <p:sp>
        <p:nvSpPr>
          <p:cNvPr id="5" name="Shape 3"/>
          <p:cNvSpPr/>
          <p:nvPr/>
        </p:nvSpPr>
        <p:spPr>
          <a:xfrm>
            <a:off x="640080" y="1234440"/>
            <a:ext cx="2011680" cy="384048"/>
          </a:xfrm>
          <a:prstGeom prst="rect">
            <a:avLst/>
          </a:prstGeom>
          <a:solidFill>
            <a:srgbClr val="21295C"/>
          </a:solidFill>
          <a:ln/>
        </p:spPr>
        <p:txBody>
          <a:bodyPr/>
          <a:lstStyle/>
          <a:p>
            <a:endParaRPr lang="en-US"/>
          </a:p>
        </p:txBody>
      </p:sp>
      <p:sp>
        <p:nvSpPr>
          <p:cNvPr id="6" name="Text 4"/>
          <p:cNvSpPr/>
          <p:nvPr/>
        </p:nvSpPr>
        <p:spPr>
          <a:xfrm>
            <a:off x="749808" y="1234440"/>
            <a:ext cx="1792224" cy="384048"/>
          </a:xfrm>
          <a:prstGeom prst="rect">
            <a:avLst/>
          </a:prstGeom>
          <a:noFill/>
          <a:ln/>
        </p:spPr>
        <p:txBody>
          <a:bodyPr wrap="square" lIns="0" tIns="0" rIns="0" bIns="0" rtlCol="0" anchor="ctr"/>
          <a:lstStyle/>
          <a:p>
            <a:pPr marL="0" indent="0">
              <a:buNone/>
            </a:pPr>
            <a:endParaRPr lang="en-US" sz="1100" dirty="0"/>
          </a:p>
        </p:txBody>
      </p:sp>
      <p:sp>
        <p:nvSpPr>
          <p:cNvPr id="7" name="Shape 5"/>
          <p:cNvSpPr/>
          <p:nvPr/>
        </p:nvSpPr>
        <p:spPr>
          <a:xfrm>
            <a:off x="2651760" y="1234440"/>
            <a:ext cx="4023360" cy="384048"/>
          </a:xfrm>
          <a:prstGeom prst="rect">
            <a:avLst/>
          </a:prstGeom>
          <a:solidFill>
            <a:srgbClr val="21295C"/>
          </a:solidFill>
          <a:ln/>
        </p:spPr>
        <p:txBody>
          <a:bodyPr/>
          <a:lstStyle/>
          <a:p>
            <a:endParaRPr lang="en-US"/>
          </a:p>
        </p:txBody>
      </p:sp>
      <p:sp>
        <p:nvSpPr>
          <p:cNvPr id="8" name="Text 6"/>
          <p:cNvSpPr/>
          <p:nvPr/>
        </p:nvSpPr>
        <p:spPr>
          <a:xfrm>
            <a:off x="2761488" y="1234440"/>
            <a:ext cx="38039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MCP client</a:t>
            </a:r>
            <a:endParaRPr lang="en-US" sz="1100" dirty="0"/>
          </a:p>
        </p:txBody>
      </p:sp>
      <p:sp>
        <p:nvSpPr>
          <p:cNvPr id="9" name="Shape 7"/>
          <p:cNvSpPr/>
          <p:nvPr/>
        </p:nvSpPr>
        <p:spPr>
          <a:xfrm>
            <a:off x="6675120" y="1234440"/>
            <a:ext cx="4846320" cy="384048"/>
          </a:xfrm>
          <a:prstGeom prst="rect">
            <a:avLst/>
          </a:prstGeom>
          <a:solidFill>
            <a:srgbClr val="21295C"/>
          </a:solidFill>
          <a:ln/>
        </p:spPr>
        <p:txBody>
          <a:bodyPr/>
          <a:lstStyle/>
          <a:p>
            <a:endParaRPr lang="en-US"/>
          </a:p>
        </p:txBody>
      </p:sp>
      <p:sp>
        <p:nvSpPr>
          <p:cNvPr id="10" name="Text 8"/>
          <p:cNvSpPr/>
          <p:nvPr/>
        </p:nvSpPr>
        <p:spPr>
          <a:xfrm>
            <a:off x="6784848" y="1234440"/>
            <a:ext cx="462686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MCP server</a:t>
            </a:r>
            <a:endParaRPr lang="en-US" sz="1100" dirty="0"/>
          </a:p>
        </p:txBody>
      </p:sp>
      <p:sp>
        <p:nvSpPr>
          <p:cNvPr id="11" name="Shape 9"/>
          <p:cNvSpPr/>
          <p:nvPr/>
        </p:nvSpPr>
        <p:spPr>
          <a:xfrm>
            <a:off x="640080" y="1618488"/>
            <a:ext cx="2011680" cy="658368"/>
          </a:xfrm>
          <a:prstGeom prst="rect">
            <a:avLst/>
          </a:prstGeom>
          <a:solidFill>
            <a:srgbClr val="FFFFFF"/>
          </a:solidFill>
          <a:ln w="9525">
            <a:solidFill>
              <a:srgbClr val="E3EBF0"/>
            </a:solidFill>
            <a:prstDash val="solid"/>
          </a:ln>
        </p:spPr>
        <p:txBody>
          <a:bodyPr/>
          <a:lstStyle/>
          <a:p>
            <a:endParaRPr lang="en-US"/>
          </a:p>
        </p:txBody>
      </p:sp>
      <p:sp>
        <p:nvSpPr>
          <p:cNvPr id="12" name="Text 10"/>
          <p:cNvSpPr/>
          <p:nvPr/>
        </p:nvSpPr>
        <p:spPr>
          <a:xfrm>
            <a:off x="749808" y="1618488"/>
            <a:ext cx="1792224" cy="65836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Is</a:t>
            </a:r>
            <a:endParaRPr lang="en-US" sz="1050" dirty="0"/>
          </a:p>
        </p:txBody>
      </p:sp>
      <p:sp>
        <p:nvSpPr>
          <p:cNvPr id="13" name="Shape 11"/>
          <p:cNvSpPr/>
          <p:nvPr/>
        </p:nvSpPr>
        <p:spPr>
          <a:xfrm>
            <a:off x="2651760" y="1618488"/>
            <a:ext cx="4023360" cy="658368"/>
          </a:xfrm>
          <a:prstGeom prst="rect">
            <a:avLst/>
          </a:prstGeom>
          <a:solidFill>
            <a:srgbClr val="FFFFFF"/>
          </a:solidFill>
          <a:ln w="9525">
            <a:solidFill>
              <a:srgbClr val="E3EBF0"/>
            </a:solidFill>
            <a:prstDash val="solid"/>
          </a:ln>
        </p:spPr>
        <p:txBody>
          <a:bodyPr/>
          <a:lstStyle/>
          <a:p>
            <a:endParaRPr lang="en-US"/>
          </a:p>
        </p:txBody>
      </p:sp>
      <p:sp>
        <p:nvSpPr>
          <p:cNvPr id="14" name="Text 12"/>
          <p:cNvSpPr/>
          <p:nvPr/>
        </p:nvSpPr>
        <p:spPr>
          <a:xfrm>
            <a:off x="2761488" y="1618488"/>
            <a:ext cx="380390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AI application — assistant, agent, IDE</a:t>
            </a:r>
            <a:endParaRPr lang="en-US" sz="1050" dirty="0"/>
          </a:p>
        </p:txBody>
      </p:sp>
      <p:sp>
        <p:nvSpPr>
          <p:cNvPr id="15" name="Shape 13"/>
          <p:cNvSpPr/>
          <p:nvPr/>
        </p:nvSpPr>
        <p:spPr>
          <a:xfrm>
            <a:off x="6675120" y="1618488"/>
            <a:ext cx="4846320" cy="658368"/>
          </a:xfrm>
          <a:prstGeom prst="rect">
            <a:avLst/>
          </a:prstGeom>
          <a:solidFill>
            <a:srgbClr val="FFFFFF"/>
          </a:solidFill>
          <a:ln w="9525">
            <a:solidFill>
              <a:srgbClr val="E3EBF0"/>
            </a:solidFill>
            <a:prstDash val="solid"/>
          </a:ln>
        </p:spPr>
        <p:txBody>
          <a:bodyPr/>
          <a:lstStyle/>
          <a:p>
            <a:endParaRPr lang="en-US"/>
          </a:p>
        </p:txBody>
      </p:sp>
      <p:sp>
        <p:nvSpPr>
          <p:cNvPr id="16" name="Text 14"/>
          <p:cNvSpPr/>
          <p:nvPr/>
        </p:nvSpPr>
        <p:spPr>
          <a:xfrm>
            <a:off x="6784848" y="1618488"/>
            <a:ext cx="462686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 capability provider wrapping a system or data source</a:t>
            </a:r>
            <a:endParaRPr lang="en-US" sz="1050" dirty="0"/>
          </a:p>
        </p:txBody>
      </p:sp>
      <p:sp>
        <p:nvSpPr>
          <p:cNvPr id="17" name="Shape 15"/>
          <p:cNvSpPr/>
          <p:nvPr/>
        </p:nvSpPr>
        <p:spPr>
          <a:xfrm>
            <a:off x="640080" y="2276856"/>
            <a:ext cx="2011680" cy="658368"/>
          </a:xfrm>
          <a:prstGeom prst="rect">
            <a:avLst/>
          </a:prstGeom>
          <a:solidFill>
            <a:srgbClr val="F5F9FB"/>
          </a:solidFill>
          <a:ln w="9525">
            <a:solidFill>
              <a:srgbClr val="E3EBF0"/>
            </a:solidFill>
            <a:prstDash val="solid"/>
          </a:ln>
        </p:spPr>
        <p:txBody>
          <a:bodyPr/>
          <a:lstStyle/>
          <a:p>
            <a:endParaRPr lang="en-US"/>
          </a:p>
        </p:txBody>
      </p:sp>
      <p:sp>
        <p:nvSpPr>
          <p:cNvPr id="18" name="Text 16"/>
          <p:cNvSpPr/>
          <p:nvPr/>
        </p:nvSpPr>
        <p:spPr>
          <a:xfrm>
            <a:off x="749808" y="2276856"/>
            <a:ext cx="1792224" cy="65836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Owned by</a:t>
            </a:r>
            <a:endParaRPr lang="en-US" sz="1050" dirty="0"/>
          </a:p>
        </p:txBody>
      </p:sp>
      <p:sp>
        <p:nvSpPr>
          <p:cNvPr id="19" name="Shape 17"/>
          <p:cNvSpPr/>
          <p:nvPr/>
        </p:nvSpPr>
        <p:spPr>
          <a:xfrm>
            <a:off x="2651760" y="2276856"/>
            <a:ext cx="4023360" cy="658368"/>
          </a:xfrm>
          <a:prstGeom prst="rect">
            <a:avLst/>
          </a:prstGeom>
          <a:solidFill>
            <a:srgbClr val="F5F9FB"/>
          </a:solidFill>
          <a:ln w="9525">
            <a:solidFill>
              <a:srgbClr val="E3EBF0"/>
            </a:solidFill>
            <a:prstDash val="solid"/>
          </a:ln>
        </p:spPr>
        <p:txBody>
          <a:bodyPr/>
          <a:lstStyle/>
          <a:p>
            <a:endParaRPr lang="en-US"/>
          </a:p>
        </p:txBody>
      </p:sp>
      <p:sp>
        <p:nvSpPr>
          <p:cNvPr id="20" name="Text 18"/>
          <p:cNvSpPr/>
          <p:nvPr/>
        </p:nvSpPr>
        <p:spPr>
          <a:xfrm>
            <a:off x="2761488" y="2276856"/>
            <a:ext cx="380390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application team</a:t>
            </a:r>
            <a:endParaRPr lang="en-US" sz="1050" dirty="0"/>
          </a:p>
        </p:txBody>
      </p:sp>
      <p:sp>
        <p:nvSpPr>
          <p:cNvPr id="21" name="Shape 19"/>
          <p:cNvSpPr/>
          <p:nvPr/>
        </p:nvSpPr>
        <p:spPr>
          <a:xfrm>
            <a:off x="6675120" y="2276856"/>
            <a:ext cx="4846320" cy="658368"/>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6784848" y="2276856"/>
            <a:ext cx="462686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team that owns the underlying system</a:t>
            </a:r>
            <a:endParaRPr lang="en-US" sz="1050" dirty="0"/>
          </a:p>
        </p:txBody>
      </p:sp>
      <p:sp>
        <p:nvSpPr>
          <p:cNvPr id="23" name="Shape 21"/>
          <p:cNvSpPr/>
          <p:nvPr/>
        </p:nvSpPr>
        <p:spPr>
          <a:xfrm>
            <a:off x="640080" y="2935224"/>
            <a:ext cx="2011680" cy="658368"/>
          </a:xfrm>
          <a:prstGeom prst="rect">
            <a:avLst/>
          </a:prstGeom>
          <a:solidFill>
            <a:srgbClr val="FFFFFF"/>
          </a:solidFill>
          <a:ln w="9525">
            <a:solidFill>
              <a:srgbClr val="E3EBF0"/>
            </a:solidFill>
            <a:prstDash val="solid"/>
          </a:ln>
        </p:spPr>
        <p:txBody>
          <a:bodyPr/>
          <a:lstStyle/>
          <a:p>
            <a:endParaRPr lang="en-US"/>
          </a:p>
        </p:txBody>
      </p:sp>
      <p:sp>
        <p:nvSpPr>
          <p:cNvPr id="24" name="Text 22"/>
          <p:cNvSpPr/>
          <p:nvPr/>
        </p:nvSpPr>
        <p:spPr>
          <a:xfrm>
            <a:off x="749808" y="2935224"/>
            <a:ext cx="1792224" cy="65836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Responsible for</a:t>
            </a:r>
            <a:endParaRPr lang="en-US" sz="1050" dirty="0"/>
          </a:p>
        </p:txBody>
      </p:sp>
      <p:sp>
        <p:nvSpPr>
          <p:cNvPr id="25" name="Shape 23"/>
          <p:cNvSpPr/>
          <p:nvPr/>
        </p:nvSpPr>
        <p:spPr>
          <a:xfrm>
            <a:off x="2651760" y="2935224"/>
            <a:ext cx="4023360" cy="658368"/>
          </a:xfrm>
          <a:prstGeom prst="rect">
            <a:avLst/>
          </a:prstGeom>
          <a:solidFill>
            <a:srgbClr val="FFFFFF"/>
          </a:solidFill>
          <a:ln w="9525">
            <a:solidFill>
              <a:srgbClr val="E3EBF0"/>
            </a:solidFill>
            <a:prstDash val="solid"/>
          </a:ln>
        </p:spPr>
        <p:txBody>
          <a:bodyPr/>
          <a:lstStyle/>
          <a:p>
            <a:endParaRPr lang="en-US"/>
          </a:p>
        </p:txBody>
      </p:sp>
      <p:sp>
        <p:nvSpPr>
          <p:cNvPr id="26" name="Text 24"/>
          <p:cNvSpPr/>
          <p:nvPr/>
        </p:nvSpPr>
        <p:spPr>
          <a:xfrm>
            <a:off x="2761488" y="2935224"/>
            <a:ext cx="380390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Deciding when to call, handling results, enforcing user identity</a:t>
            </a:r>
            <a:endParaRPr lang="en-US" sz="1050" dirty="0"/>
          </a:p>
        </p:txBody>
      </p:sp>
      <p:sp>
        <p:nvSpPr>
          <p:cNvPr id="27" name="Shape 25"/>
          <p:cNvSpPr/>
          <p:nvPr/>
        </p:nvSpPr>
        <p:spPr>
          <a:xfrm>
            <a:off x="6675120" y="2935224"/>
            <a:ext cx="4846320" cy="658368"/>
          </a:xfrm>
          <a:prstGeom prst="rect">
            <a:avLst/>
          </a:prstGeom>
          <a:solidFill>
            <a:srgbClr val="FFFFFF"/>
          </a:solidFill>
          <a:ln w="9525">
            <a:solidFill>
              <a:srgbClr val="E3EBF0"/>
            </a:solidFill>
            <a:prstDash val="solid"/>
          </a:ln>
        </p:spPr>
        <p:txBody>
          <a:bodyPr/>
          <a:lstStyle/>
          <a:p>
            <a:endParaRPr lang="en-US"/>
          </a:p>
        </p:txBody>
      </p:sp>
      <p:sp>
        <p:nvSpPr>
          <p:cNvPr id="28" name="Text 26"/>
          <p:cNvSpPr/>
          <p:nvPr/>
        </p:nvSpPr>
        <p:spPr>
          <a:xfrm>
            <a:off x="6784848" y="2935224"/>
            <a:ext cx="462686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Exposing capabilities, validating inputs, enforcing its own access rules</a:t>
            </a:r>
            <a:endParaRPr lang="en-US" sz="1050" dirty="0"/>
          </a:p>
        </p:txBody>
      </p:sp>
      <p:sp>
        <p:nvSpPr>
          <p:cNvPr id="29" name="Shape 27"/>
          <p:cNvSpPr/>
          <p:nvPr/>
        </p:nvSpPr>
        <p:spPr>
          <a:xfrm>
            <a:off x="640080" y="3593592"/>
            <a:ext cx="2011680" cy="658368"/>
          </a:xfrm>
          <a:prstGeom prst="rect">
            <a:avLst/>
          </a:prstGeom>
          <a:solidFill>
            <a:srgbClr val="F5F9FB"/>
          </a:solidFill>
          <a:ln w="9525">
            <a:solidFill>
              <a:srgbClr val="E3EBF0"/>
            </a:solidFill>
            <a:prstDash val="solid"/>
          </a:ln>
        </p:spPr>
        <p:txBody>
          <a:bodyPr/>
          <a:lstStyle/>
          <a:p>
            <a:endParaRPr lang="en-US"/>
          </a:p>
        </p:txBody>
      </p:sp>
      <p:sp>
        <p:nvSpPr>
          <p:cNvPr id="30" name="Text 28"/>
          <p:cNvSpPr/>
          <p:nvPr/>
        </p:nvSpPr>
        <p:spPr>
          <a:xfrm>
            <a:off x="749808" y="3593592"/>
            <a:ext cx="1792224" cy="65836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Knows about</a:t>
            </a:r>
            <a:endParaRPr lang="en-US" sz="1050" dirty="0"/>
          </a:p>
        </p:txBody>
      </p:sp>
      <p:sp>
        <p:nvSpPr>
          <p:cNvPr id="31" name="Shape 29"/>
          <p:cNvSpPr/>
          <p:nvPr/>
        </p:nvSpPr>
        <p:spPr>
          <a:xfrm>
            <a:off x="2651760" y="3593592"/>
            <a:ext cx="4023360" cy="658368"/>
          </a:xfrm>
          <a:prstGeom prst="rect">
            <a:avLst/>
          </a:prstGeom>
          <a:solidFill>
            <a:srgbClr val="F5F9FB"/>
          </a:solidFill>
          <a:ln w="9525">
            <a:solidFill>
              <a:srgbClr val="E3EBF0"/>
            </a:solidFill>
            <a:prstDash val="solid"/>
          </a:ln>
        </p:spPr>
        <p:txBody>
          <a:bodyPr/>
          <a:lstStyle/>
          <a:p>
            <a:endParaRPr lang="en-US"/>
          </a:p>
        </p:txBody>
      </p:sp>
      <p:sp>
        <p:nvSpPr>
          <p:cNvPr id="32" name="Text 30"/>
          <p:cNvSpPr/>
          <p:nvPr/>
        </p:nvSpPr>
        <p:spPr>
          <a:xfrm>
            <a:off x="2761488" y="3593592"/>
            <a:ext cx="380390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Which servers it is configured to use</a:t>
            </a:r>
            <a:endParaRPr lang="en-US" sz="1050" dirty="0"/>
          </a:p>
        </p:txBody>
      </p:sp>
      <p:sp>
        <p:nvSpPr>
          <p:cNvPr id="33" name="Shape 31"/>
          <p:cNvSpPr/>
          <p:nvPr/>
        </p:nvSpPr>
        <p:spPr>
          <a:xfrm>
            <a:off x="6675120" y="3593592"/>
            <a:ext cx="4846320" cy="658368"/>
          </a:xfrm>
          <a:prstGeom prst="rect">
            <a:avLst/>
          </a:prstGeom>
          <a:solidFill>
            <a:srgbClr val="F5F9FB"/>
          </a:solidFill>
          <a:ln w="9525">
            <a:solidFill>
              <a:srgbClr val="E3EBF0"/>
            </a:solidFill>
            <a:prstDash val="solid"/>
          </a:ln>
        </p:spPr>
        <p:txBody>
          <a:bodyPr/>
          <a:lstStyle/>
          <a:p>
            <a:endParaRPr lang="en-US"/>
          </a:p>
        </p:txBody>
      </p:sp>
      <p:sp>
        <p:nvSpPr>
          <p:cNvPr id="34" name="Text 32"/>
          <p:cNvSpPr/>
          <p:nvPr/>
        </p:nvSpPr>
        <p:spPr>
          <a:xfrm>
            <a:off x="6784848" y="3593592"/>
            <a:ext cx="462686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Nothing about which client is calling, beyond identity</a:t>
            </a:r>
            <a:endParaRPr lang="en-US" sz="1050" dirty="0"/>
          </a:p>
        </p:txBody>
      </p:sp>
      <p:sp>
        <p:nvSpPr>
          <p:cNvPr id="35" name="Shape 33"/>
          <p:cNvSpPr/>
          <p:nvPr/>
        </p:nvSpPr>
        <p:spPr>
          <a:xfrm>
            <a:off x="640080" y="4251960"/>
            <a:ext cx="2011680" cy="658368"/>
          </a:xfrm>
          <a:prstGeom prst="rect">
            <a:avLst/>
          </a:prstGeom>
          <a:solidFill>
            <a:srgbClr val="FFFFFF"/>
          </a:solidFill>
          <a:ln w="9525">
            <a:solidFill>
              <a:srgbClr val="E3EBF0"/>
            </a:solidFill>
            <a:prstDash val="solid"/>
          </a:ln>
        </p:spPr>
        <p:txBody>
          <a:bodyPr/>
          <a:lstStyle/>
          <a:p>
            <a:endParaRPr lang="en-US"/>
          </a:p>
        </p:txBody>
      </p:sp>
      <p:sp>
        <p:nvSpPr>
          <p:cNvPr id="36" name="Text 34"/>
          <p:cNvSpPr/>
          <p:nvPr/>
        </p:nvSpPr>
        <p:spPr>
          <a:xfrm>
            <a:off x="749808" y="4251960"/>
            <a:ext cx="1792224" cy="658368"/>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Examples</a:t>
            </a:r>
            <a:endParaRPr lang="en-US" sz="1050" dirty="0"/>
          </a:p>
        </p:txBody>
      </p:sp>
      <p:sp>
        <p:nvSpPr>
          <p:cNvPr id="37" name="Shape 35"/>
          <p:cNvSpPr/>
          <p:nvPr/>
        </p:nvSpPr>
        <p:spPr>
          <a:xfrm>
            <a:off x="2651760" y="4251960"/>
            <a:ext cx="4023360" cy="658368"/>
          </a:xfrm>
          <a:prstGeom prst="rect">
            <a:avLst/>
          </a:prstGeom>
          <a:solidFill>
            <a:srgbClr val="FFFFFF"/>
          </a:solidFill>
          <a:ln w="9525">
            <a:solidFill>
              <a:srgbClr val="E3EBF0"/>
            </a:solidFill>
            <a:prstDash val="solid"/>
          </a:ln>
        </p:spPr>
        <p:txBody>
          <a:bodyPr/>
          <a:lstStyle/>
          <a:p>
            <a:endParaRPr lang="en-US"/>
          </a:p>
        </p:txBody>
      </p:sp>
      <p:sp>
        <p:nvSpPr>
          <p:cNvPr id="38" name="Text 36"/>
          <p:cNvSpPr/>
          <p:nvPr/>
        </p:nvSpPr>
        <p:spPr>
          <a:xfrm>
            <a:off x="2761488" y="4251960"/>
            <a:ext cx="380390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 knowledge assistant; a diagnostic agent</a:t>
            </a:r>
            <a:endParaRPr lang="en-US" sz="1050" dirty="0"/>
          </a:p>
        </p:txBody>
      </p:sp>
      <p:sp>
        <p:nvSpPr>
          <p:cNvPr id="39" name="Shape 37"/>
          <p:cNvSpPr/>
          <p:nvPr/>
        </p:nvSpPr>
        <p:spPr>
          <a:xfrm>
            <a:off x="6675120" y="4251960"/>
            <a:ext cx="4846320" cy="658368"/>
          </a:xfrm>
          <a:prstGeom prst="rect">
            <a:avLst/>
          </a:prstGeom>
          <a:solidFill>
            <a:srgbClr val="FFFFFF"/>
          </a:solidFill>
          <a:ln w="9525">
            <a:solidFill>
              <a:srgbClr val="E3EBF0"/>
            </a:solidFill>
            <a:prstDash val="solid"/>
          </a:ln>
        </p:spPr>
        <p:txBody>
          <a:bodyPr/>
          <a:lstStyle/>
          <a:p>
            <a:endParaRPr lang="en-US"/>
          </a:p>
        </p:txBody>
      </p:sp>
      <p:sp>
        <p:nvSpPr>
          <p:cNvPr id="40" name="Text 38"/>
          <p:cNvSpPr/>
          <p:nvPr/>
        </p:nvSpPr>
        <p:spPr>
          <a:xfrm>
            <a:off x="6784848" y="4251960"/>
            <a:ext cx="4626864" cy="658368"/>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Service-ticket lookup; document search; parts catalogue; telemetry query</a:t>
            </a:r>
            <a:endParaRPr lang="en-US" sz="1050" dirty="0"/>
          </a:p>
        </p:txBody>
      </p:sp>
      <p:sp>
        <p:nvSpPr>
          <p:cNvPr id="41" name="Shape 39"/>
          <p:cNvSpPr/>
          <p:nvPr/>
        </p:nvSpPr>
        <p:spPr>
          <a:xfrm>
            <a:off x="640080" y="4663440"/>
            <a:ext cx="10881360" cy="1051560"/>
          </a:xfrm>
          <a:prstGeom prst="roundRect">
            <a:avLst>
              <a:gd name="adj" fmla="val 5217"/>
            </a:avLst>
          </a:prstGeom>
          <a:solidFill>
            <a:srgbClr val="E4EEF4"/>
          </a:solidFill>
          <a:ln w="12700">
            <a:solidFill>
              <a:srgbClr val="C9DCE7"/>
            </a:solidFill>
            <a:prstDash val="solid"/>
          </a:ln>
        </p:spPr>
        <p:txBody>
          <a:bodyPr/>
          <a:lstStyle/>
          <a:p>
            <a:endParaRPr lang="en-US"/>
          </a:p>
        </p:txBody>
      </p:sp>
      <p:sp>
        <p:nvSpPr>
          <p:cNvPr id="42" name="Text 40"/>
          <p:cNvSpPr/>
          <p:nvPr/>
        </p:nvSpPr>
        <p:spPr>
          <a:xfrm>
            <a:off x="914400" y="4828032"/>
            <a:ext cx="10332720" cy="320040"/>
          </a:xfrm>
          <a:prstGeom prst="rect">
            <a:avLst/>
          </a:prstGeom>
          <a:noFill/>
          <a:ln/>
        </p:spPr>
        <p:txBody>
          <a:bodyPr wrap="square" lIns="0" tIns="0" rIns="0" bIns="0" rtlCol="0" anchor="ctr"/>
          <a:lstStyle/>
          <a:p>
            <a:pPr marL="0" indent="0">
              <a:buNone/>
            </a:pPr>
            <a:r>
              <a:rPr lang="en-US" sz="1350" b="1" dirty="0">
                <a:solidFill>
                  <a:srgbClr val="065A82"/>
                </a:solidFill>
                <a:latin typeface="Calibri" pitchFamily="34" charset="0"/>
                <a:ea typeface="Calibri" pitchFamily="34" charset="-122"/>
                <a:cs typeface="Calibri" pitchFamily="34" charset="-120"/>
              </a:rPr>
              <a:t>Three primitives a server can expose</a:t>
            </a:r>
            <a:endParaRPr lang="en-US" sz="1350" dirty="0"/>
          </a:p>
        </p:txBody>
      </p:sp>
      <p:sp>
        <p:nvSpPr>
          <p:cNvPr id="43" name="Text 41"/>
          <p:cNvSpPr/>
          <p:nvPr/>
        </p:nvSpPr>
        <p:spPr>
          <a:xfrm>
            <a:off x="914400" y="5166360"/>
            <a:ext cx="10332720" cy="41148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Tools — actions the model may invoke, with typed inputs and outputs. Resources — data the client may read. Prompts — reusable templates the server provides. Support varies by client: some host applications implement tools only, so design your servers so that the tool interface alone is sufficient and treat resources and prompts as enhancements rather than requirements.</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4 · 4.3</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When to use MCP, and when not to</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26</a:t>
            </a:r>
            <a:endParaRPr lang="en-US" sz="1000" dirty="0"/>
          </a:p>
        </p:txBody>
      </p:sp>
      <p:sp>
        <p:nvSpPr>
          <p:cNvPr id="5" name="Shape 3"/>
          <p:cNvSpPr/>
          <p:nvPr/>
        </p:nvSpPr>
        <p:spPr>
          <a:xfrm>
            <a:off x="640080" y="1234440"/>
            <a:ext cx="5486400" cy="384048"/>
          </a:xfrm>
          <a:prstGeom prst="rect">
            <a:avLst/>
          </a:prstGeom>
          <a:solidFill>
            <a:srgbClr val="21295C"/>
          </a:solidFill>
          <a:ln/>
        </p:spPr>
        <p:txBody>
          <a:bodyPr/>
          <a:lstStyle/>
          <a:p>
            <a:endParaRPr lang="en-US"/>
          </a:p>
        </p:txBody>
      </p:sp>
      <p:sp>
        <p:nvSpPr>
          <p:cNvPr id="6" name="Text 4"/>
          <p:cNvSpPr/>
          <p:nvPr/>
        </p:nvSpPr>
        <p:spPr>
          <a:xfrm>
            <a:off x="749808" y="1234440"/>
            <a:ext cx="52669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Use MCP when</a:t>
            </a:r>
            <a:endParaRPr lang="en-US" sz="1100" dirty="0"/>
          </a:p>
        </p:txBody>
      </p:sp>
      <p:sp>
        <p:nvSpPr>
          <p:cNvPr id="7" name="Shape 5"/>
          <p:cNvSpPr/>
          <p:nvPr/>
        </p:nvSpPr>
        <p:spPr>
          <a:xfrm>
            <a:off x="6126480" y="1234440"/>
            <a:ext cx="5394960" cy="384048"/>
          </a:xfrm>
          <a:prstGeom prst="rect">
            <a:avLst/>
          </a:prstGeom>
          <a:solidFill>
            <a:srgbClr val="21295C"/>
          </a:solidFill>
          <a:ln/>
        </p:spPr>
        <p:txBody>
          <a:bodyPr/>
          <a:lstStyle/>
          <a:p>
            <a:endParaRPr lang="en-US"/>
          </a:p>
        </p:txBody>
      </p:sp>
      <p:sp>
        <p:nvSpPr>
          <p:cNvPr id="8" name="Text 6"/>
          <p:cNvSpPr/>
          <p:nvPr/>
        </p:nvSpPr>
        <p:spPr>
          <a:xfrm>
            <a:off x="6236208" y="1234440"/>
            <a:ext cx="51755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Use a direct API call when</a:t>
            </a:r>
            <a:endParaRPr lang="en-US" sz="1100" dirty="0"/>
          </a:p>
        </p:txBody>
      </p:sp>
      <p:sp>
        <p:nvSpPr>
          <p:cNvPr id="9" name="Shape 7"/>
          <p:cNvSpPr/>
          <p:nvPr/>
        </p:nvSpPr>
        <p:spPr>
          <a:xfrm>
            <a:off x="640080" y="1618488"/>
            <a:ext cx="5486400" cy="603504"/>
          </a:xfrm>
          <a:prstGeom prst="rect">
            <a:avLst/>
          </a:prstGeom>
          <a:solidFill>
            <a:srgbClr val="FFFFFF"/>
          </a:solidFill>
          <a:ln w="9525">
            <a:solidFill>
              <a:srgbClr val="E3EBF0"/>
            </a:solidFill>
            <a:prstDash val="solid"/>
          </a:ln>
        </p:spPr>
        <p:txBody>
          <a:bodyPr/>
          <a:lstStyle/>
          <a:p>
            <a:endParaRPr lang="en-US"/>
          </a:p>
        </p:txBody>
      </p:sp>
      <p:sp>
        <p:nvSpPr>
          <p:cNvPr id="10" name="Text 8"/>
          <p:cNvSpPr/>
          <p:nvPr/>
        </p:nvSpPr>
        <p:spPr>
          <a:xfrm>
            <a:off x="749808" y="1618488"/>
            <a:ext cx="5266944" cy="603504"/>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The model decides at runtime whether the capability is needed</a:t>
            </a:r>
            <a:endParaRPr lang="en-US" sz="1050" dirty="0"/>
          </a:p>
        </p:txBody>
      </p:sp>
      <p:sp>
        <p:nvSpPr>
          <p:cNvPr id="11" name="Shape 9"/>
          <p:cNvSpPr/>
          <p:nvPr/>
        </p:nvSpPr>
        <p:spPr>
          <a:xfrm>
            <a:off x="6126480" y="1618488"/>
            <a:ext cx="5394960" cy="603504"/>
          </a:xfrm>
          <a:prstGeom prst="rect">
            <a:avLst/>
          </a:prstGeom>
          <a:solidFill>
            <a:srgbClr val="FFFFFF"/>
          </a:solidFill>
          <a:ln w="9525">
            <a:solidFill>
              <a:srgbClr val="E3EBF0"/>
            </a:solidFill>
            <a:prstDash val="solid"/>
          </a:ln>
        </p:spPr>
        <p:txBody>
          <a:bodyPr/>
          <a:lstStyle/>
          <a:p>
            <a:endParaRPr lang="en-US"/>
          </a:p>
        </p:txBody>
      </p:sp>
      <p:sp>
        <p:nvSpPr>
          <p:cNvPr id="12" name="Text 10"/>
          <p:cNvSpPr/>
          <p:nvPr/>
        </p:nvSpPr>
        <p:spPr>
          <a:xfrm>
            <a:off x="6236208" y="1618488"/>
            <a:ext cx="517550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step always happens in a fixed pipeline</a:t>
            </a:r>
            <a:endParaRPr lang="en-US" sz="1050" dirty="0"/>
          </a:p>
        </p:txBody>
      </p:sp>
      <p:sp>
        <p:nvSpPr>
          <p:cNvPr id="13" name="Shape 11"/>
          <p:cNvSpPr/>
          <p:nvPr/>
        </p:nvSpPr>
        <p:spPr>
          <a:xfrm>
            <a:off x="640080" y="2221992"/>
            <a:ext cx="5486400" cy="603504"/>
          </a:xfrm>
          <a:prstGeom prst="rect">
            <a:avLst/>
          </a:prstGeom>
          <a:solidFill>
            <a:srgbClr val="F5F9FB"/>
          </a:solidFill>
          <a:ln w="9525">
            <a:solidFill>
              <a:srgbClr val="E3EBF0"/>
            </a:solidFill>
            <a:prstDash val="solid"/>
          </a:ln>
        </p:spPr>
        <p:txBody>
          <a:bodyPr/>
          <a:lstStyle/>
          <a:p>
            <a:endParaRPr lang="en-US"/>
          </a:p>
        </p:txBody>
      </p:sp>
      <p:sp>
        <p:nvSpPr>
          <p:cNvPr id="14" name="Text 12"/>
          <p:cNvSpPr/>
          <p:nvPr/>
        </p:nvSpPr>
        <p:spPr>
          <a:xfrm>
            <a:off x="749808" y="2221992"/>
            <a:ext cx="5266944" cy="603504"/>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Several AI applications need the same capability</a:t>
            </a:r>
            <a:endParaRPr lang="en-US" sz="1050" dirty="0"/>
          </a:p>
        </p:txBody>
      </p:sp>
      <p:sp>
        <p:nvSpPr>
          <p:cNvPr id="15" name="Shape 13"/>
          <p:cNvSpPr/>
          <p:nvPr/>
        </p:nvSpPr>
        <p:spPr>
          <a:xfrm>
            <a:off x="6126480" y="2221992"/>
            <a:ext cx="5394960" cy="603504"/>
          </a:xfrm>
          <a:prstGeom prst="rect">
            <a:avLst/>
          </a:prstGeom>
          <a:solidFill>
            <a:srgbClr val="F5F9FB"/>
          </a:solidFill>
          <a:ln w="9525">
            <a:solidFill>
              <a:srgbClr val="E3EBF0"/>
            </a:solidFill>
            <a:prstDash val="solid"/>
          </a:ln>
        </p:spPr>
        <p:txBody>
          <a:bodyPr/>
          <a:lstStyle/>
          <a:p>
            <a:endParaRPr lang="en-US"/>
          </a:p>
        </p:txBody>
      </p:sp>
      <p:sp>
        <p:nvSpPr>
          <p:cNvPr id="16" name="Text 14"/>
          <p:cNvSpPr/>
          <p:nvPr/>
        </p:nvSpPr>
        <p:spPr>
          <a:xfrm>
            <a:off x="6236208" y="2221992"/>
            <a:ext cx="517550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One application needs it, and always in the same way</a:t>
            </a:r>
            <a:endParaRPr lang="en-US" sz="1050" dirty="0"/>
          </a:p>
        </p:txBody>
      </p:sp>
      <p:sp>
        <p:nvSpPr>
          <p:cNvPr id="17" name="Shape 15"/>
          <p:cNvSpPr/>
          <p:nvPr/>
        </p:nvSpPr>
        <p:spPr>
          <a:xfrm>
            <a:off x="640080" y="2825496"/>
            <a:ext cx="5486400" cy="603504"/>
          </a:xfrm>
          <a:prstGeom prst="rect">
            <a:avLst/>
          </a:prstGeom>
          <a:solidFill>
            <a:srgbClr val="FFFFFF"/>
          </a:solidFill>
          <a:ln w="9525">
            <a:solidFill>
              <a:srgbClr val="E3EBF0"/>
            </a:solidFill>
            <a:prstDash val="solid"/>
          </a:ln>
        </p:spPr>
        <p:txBody>
          <a:bodyPr/>
          <a:lstStyle/>
          <a:p>
            <a:endParaRPr lang="en-US"/>
          </a:p>
        </p:txBody>
      </p:sp>
      <p:sp>
        <p:nvSpPr>
          <p:cNvPr id="18" name="Text 16"/>
          <p:cNvSpPr/>
          <p:nvPr/>
        </p:nvSpPr>
        <p:spPr>
          <a:xfrm>
            <a:off x="749808" y="2825496"/>
            <a:ext cx="5266944" cy="603504"/>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The capability is owned by another team</a:t>
            </a:r>
            <a:endParaRPr lang="en-US" sz="1050" dirty="0"/>
          </a:p>
        </p:txBody>
      </p:sp>
      <p:sp>
        <p:nvSpPr>
          <p:cNvPr id="19" name="Shape 17"/>
          <p:cNvSpPr/>
          <p:nvPr/>
        </p:nvSpPr>
        <p:spPr>
          <a:xfrm>
            <a:off x="6126480" y="2825496"/>
            <a:ext cx="5394960" cy="603504"/>
          </a:xfrm>
          <a:prstGeom prst="rect">
            <a:avLst/>
          </a:prstGeom>
          <a:solidFill>
            <a:srgbClr val="FFFFFF"/>
          </a:solidFill>
          <a:ln w="9525">
            <a:solidFill>
              <a:srgbClr val="E3EBF0"/>
            </a:solidFill>
            <a:prstDash val="solid"/>
          </a:ln>
        </p:spPr>
        <p:txBody>
          <a:bodyPr/>
          <a:lstStyle/>
          <a:p>
            <a:endParaRPr lang="en-US"/>
          </a:p>
        </p:txBody>
      </p:sp>
      <p:sp>
        <p:nvSpPr>
          <p:cNvPr id="20" name="Text 18"/>
          <p:cNvSpPr/>
          <p:nvPr/>
        </p:nvSpPr>
        <p:spPr>
          <a:xfrm>
            <a:off x="6236208" y="2825496"/>
            <a:ext cx="517550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You own both sides and the contract is stable</a:t>
            </a:r>
            <a:endParaRPr lang="en-US" sz="1050" dirty="0"/>
          </a:p>
        </p:txBody>
      </p:sp>
      <p:sp>
        <p:nvSpPr>
          <p:cNvPr id="21" name="Shape 19"/>
          <p:cNvSpPr/>
          <p:nvPr/>
        </p:nvSpPr>
        <p:spPr>
          <a:xfrm>
            <a:off x="640080" y="3429000"/>
            <a:ext cx="5486400" cy="603504"/>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749808" y="3429000"/>
            <a:ext cx="5266944" cy="603504"/>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You want consistent tool-call logging and governance</a:t>
            </a:r>
            <a:endParaRPr lang="en-US" sz="1050" dirty="0"/>
          </a:p>
        </p:txBody>
      </p:sp>
      <p:sp>
        <p:nvSpPr>
          <p:cNvPr id="23" name="Shape 21"/>
          <p:cNvSpPr/>
          <p:nvPr/>
        </p:nvSpPr>
        <p:spPr>
          <a:xfrm>
            <a:off x="6126480" y="3429000"/>
            <a:ext cx="5394960" cy="603504"/>
          </a:xfrm>
          <a:prstGeom prst="rect">
            <a:avLst/>
          </a:prstGeom>
          <a:solidFill>
            <a:srgbClr val="F5F9FB"/>
          </a:solidFill>
          <a:ln w="9525">
            <a:solidFill>
              <a:srgbClr val="E3EBF0"/>
            </a:solidFill>
            <a:prstDash val="solid"/>
          </a:ln>
        </p:spPr>
        <p:txBody>
          <a:bodyPr/>
          <a:lstStyle/>
          <a:p>
            <a:endParaRPr lang="en-US"/>
          </a:p>
        </p:txBody>
      </p:sp>
      <p:sp>
        <p:nvSpPr>
          <p:cNvPr id="24" name="Text 22"/>
          <p:cNvSpPr/>
          <p:nvPr/>
        </p:nvSpPr>
        <p:spPr>
          <a:xfrm>
            <a:off x="6236208" y="3429000"/>
            <a:ext cx="517550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call is already inside a governed service</a:t>
            </a:r>
            <a:endParaRPr lang="en-US" sz="1050" dirty="0"/>
          </a:p>
        </p:txBody>
      </p:sp>
      <p:sp>
        <p:nvSpPr>
          <p:cNvPr id="25" name="Shape 23"/>
          <p:cNvSpPr/>
          <p:nvPr/>
        </p:nvSpPr>
        <p:spPr>
          <a:xfrm>
            <a:off x="640080" y="4032504"/>
            <a:ext cx="5486400" cy="603504"/>
          </a:xfrm>
          <a:prstGeom prst="rect">
            <a:avLst/>
          </a:prstGeom>
          <a:solidFill>
            <a:srgbClr val="FFFFFF"/>
          </a:solidFill>
          <a:ln w="9525">
            <a:solidFill>
              <a:srgbClr val="E3EBF0"/>
            </a:solidFill>
            <a:prstDash val="solid"/>
          </a:ln>
        </p:spPr>
        <p:txBody>
          <a:bodyPr/>
          <a:lstStyle/>
          <a:p>
            <a:endParaRPr lang="en-US"/>
          </a:p>
        </p:txBody>
      </p:sp>
      <p:sp>
        <p:nvSpPr>
          <p:cNvPr id="26" name="Text 24"/>
          <p:cNvSpPr/>
          <p:nvPr/>
        </p:nvSpPr>
        <p:spPr>
          <a:xfrm>
            <a:off x="749808" y="4032504"/>
            <a:ext cx="5266944" cy="603504"/>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The set of capabilities changes without redeploying the client</a:t>
            </a:r>
            <a:endParaRPr lang="en-US" sz="1050" dirty="0"/>
          </a:p>
        </p:txBody>
      </p:sp>
      <p:sp>
        <p:nvSpPr>
          <p:cNvPr id="27" name="Shape 25"/>
          <p:cNvSpPr/>
          <p:nvPr/>
        </p:nvSpPr>
        <p:spPr>
          <a:xfrm>
            <a:off x="6126480" y="4032504"/>
            <a:ext cx="5394960" cy="603504"/>
          </a:xfrm>
          <a:prstGeom prst="rect">
            <a:avLst/>
          </a:prstGeom>
          <a:solidFill>
            <a:srgbClr val="FFFFFF"/>
          </a:solidFill>
          <a:ln w="9525">
            <a:solidFill>
              <a:srgbClr val="E3EBF0"/>
            </a:solidFill>
            <a:prstDash val="solid"/>
          </a:ln>
        </p:spPr>
        <p:txBody>
          <a:bodyPr/>
          <a:lstStyle/>
          <a:p>
            <a:endParaRPr lang="en-US"/>
          </a:p>
        </p:txBody>
      </p:sp>
      <p:sp>
        <p:nvSpPr>
          <p:cNvPr id="28" name="Text 26"/>
          <p:cNvSpPr/>
          <p:nvPr/>
        </p:nvSpPr>
        <p:spPr>
          <a:xfrm>
            <a:off x="6236208" y="4032504"/>
            <a:ext cx="5175504" cy="603504"/>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integration is fixed and rarely changes</a:t>
            </a:r>
            <a:endParaRPr lang="en-US" sz="1050" dirty="0"/>
          </a:p>
        </p:txBody>
      </p:sp>
      <p:sp>
        <p:nvSpPr>
          <p:cNvPr id="29" name="Shape 27"/>
          <p:cNvSpPr/>
          <p:nvPr/>
        </p:nvSpPr>
        <p:spPr>
          <a:xfrm>
            <a:off x="530352" y="4894703"/>
            <a:ext cx="10881360" cy="1280160"/>
          </a:xfrm>
          <a:prstGeom prst="roundRect">
            <a:avLst>
              <a:gd name="adj" fmla="val 4286"/>
            </a:avLst>
          </a:prstGeom>
          <a:solidFill>
            <a:srgbClr val="EDF5EE"/>
          </a:solidFill>
          <a:ln w="12700">
            <a:solidFill>
              <a:srgbClr val="C2DCC8"/>
            </a:solidFill>
            <a:prstDash val="solid"/>
          </a:ln>
        </p:spPr>
        <p:txBody>
          <a:bodyPr/>
          <a:lstStyle/>
          <a:p>
            <a:endParaRPr lang="en-US"/>
          </a:p>
        </p:txBody>
      </p:sp>
      <p:sp>
        <p:nvSpPr>
          <p:cNvPr id="30" name="Text 28"/>
          <p:cNvSpPr/>
          <p:nvPr/>
        </p:nvSpPr>
        <p:spPr>
          <a:xfrm>
            <a:off x="749808" y="5050151"/>
            <a:ext cx="10332720" cy="320040"/>
          </a:xfrm>
          <a:prstGeom prst="rect">
            <a:avLst/>
          </a:prstGeom>
          <a:noFill/>
          <a:ln/>
        </p:spPr>
        <p:txBody>
          <a:bodyPr wrap="square" lIns="0" tIns="0" rIns="0" bIns="0" rtlCol="0" anchor="ctr"/>
          <a:lstStyle/>
          <a:p>
            <a:pPr marL="0" indent="0">
              <a:buNone/>
            </a:pPr>
            <a:r>
              <a:rPr lang="en-US" sz="1350" b="1" dirty="0">
                <a:solidFill>
                  <a:srgbClr val="1E7A3C"/>
                </a:solidFill>
                <a:latin typeface="Calibri" pitchFamily="34" charset="0"/>
                <a:ea typeface="Calibri" pitchFamily="34" charset="-122"/>
                <a:cs typeface="Calibri" pitchFamily="34" charset="-120"/>
              </a:rPr>
              <a:t>The distinction worth stating clearly</a:t>
            </a:r>
            <a:endParaRPr lang="en-US" sz="1350" dirty="0"/>
          </a:p>
        </p:txBody>
      </p:sp>
      <p:sp>
        <p:nvSpPr>
          <p:cNvPr id="31" name="Text 29"/>
          <p:cNvSpPr/>
          <p:nvPr/>
        </p:nvSpPr>
        <p:spPr>
          <a:xfrm>
            <a:off x="749808" y="5370191"/>
            <a:ext cx="10332720" cy="64008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MCP is for capabilities the model chooses to use. A retrieval step that always runs before generation is not a tool call — it is a pipeline stage, and wrapping it in MCP adds latency and indirection for nothing. A parts-availability lookup that happens only when the conversation turns to spares is a tool. Ask: does the model decide whether this happens? If not, it is not a tool.</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4 · 4.4</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Tool contracts — the part that determines whether it works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27</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500" b="1" i="1" dirty="0">
                <a:solidFill>
                  <a:srgbClr val="1C7293"/>
                </a:solidFill>
                <a:latin typeface="Calibri" pitchFamily="34" charset="0"/>
                <a:ea typeface="Calibri" pitchFamily="34" charset="-122"/>
                <a:cs typeface="Calibri" pitchFamily="34" charset="-120"/>
              </a:rPr>
              <a:t>The model chooses tools by reading their descriptions. A badly described tool is not called, or is called wrongly — and neither failure is obvious.</a:t>
            </a:r>
            <a:endParaRPr lang="en-US" sz="1500" dirty="0"/>
          </a:p>
        </p:txBody>
      </p:sp>
      <p:sp>
        <p:nvSpPr>
          <p:cNvPr id="6" name="Shape 4"/>
          <p:cNvSpPr/>
          <p:nvPr/>
        </p:nvSpPr>
        <p:spPr>
          <a:xfrm>
            <a:off x="640080" y="1783080"/>
            <a:ext cx="2011680" cy="384048"/>
          </a:xfrm>
          <a:prstGeom prst="rect">
            <a:avLst/>
          </a:prstGeom>
          <a:solidFill>
            <a:srgbClr val="21295C"/>
          </a:solidFill>
          <a:ln/>
        </p:spPr>
        <p:txBody>
          <a:bodyPr/>
          <a:lstStyle/>
          <a:p>
            <a:endParaRPr lang="en-US"/>
          </a:p>
        </p:txBody>
      </p:sp>
      <p:sp>
        <p:nvSpPr>
          <p:cNvPr id="7" name="Text 5"/>
          <p:cNvSpPr/>
          <p:nvPr/>
        </p:nvSpPr>
        <p:spPr>
          <a:xfrm>
            <a:off x="749808" y="1783080"/>
            <a:ext cx="17922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Element</a:t>
            </a:r>
            <a:endParaRPr lang="en-US" sz="1100" dirty="0"/>
          </a:p>
        </p:txBody>
      </p:sp>
      <p:sp>
        <p:nvSpPr>
          <p:cNvPr id="8" name="Shape 6"/>
          <p:cNvSpPr/>
          <p:nvPr/>
        </p:nvSpPr>
        <p:spPr>
          <a:xfrm>
            <a:off x="2651760" y="1783080"/>
            <a:ext cx="4206240" cy="384048"/>
          </a:xfrm>
          <a:prstGeom prst="rect">
            <a:avLst/>
          </a:prstGeom>
          <a:solidFill>
            <a:srgbClr val="21295C"/>
          </a:solidFill>
          <a:ln/>
        </p:spPr>
        <p:txBody>
          <a:bodyPr/>
          <a:lstStyle/>
          <a:p>
            <a:endParaRPr lang="en-US"/>
          </a:p>
        </p:txBody>
      </p:sp>
      <p:sp>
        <p:nvSpPr>
          <p:cNvPr id="9" name="Text 7"/>
          <p:cNvSpPr/>
          <p:nvPr/>
        </p:nvSpPr>
        <p:spPr>
          <a:xfrm>
            <a:off x="2761488" y="1783080"/>
            <a:ext cx="39867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Requirement</a:t>
            </a:r>
            <a:endParaRPr lang="en-US" sz="1100" dirty="0"/>
          </a:p>
        </p:txBody>
      </p:sp>
      <p:sp>
        <p:nvSpPr>
          <p:cNvPr id="10" name="Shape 8"/>
          <p:cNvSpPr/>
          <p:nvPr/>
        </p:nvSpPr>
        <p:spPr>
          <a:xfrm>
            <a:off x="6858000" y="1783080"/>
            <a:ext cx="4663440" cy="384048"/>
          </a:xfrm>
          <a:prstGeom prst="rect">
            <a:avLst/>
          </a:prstGeom>
          <a:solidFill>
            <a:srgbClr val="21295C"/>
          </a:solidFill>
          <a:ln/>
        </p:spPr>
        <p:txBody>
          <a:bodyPr/>
          <a:lstStyle/>
          <a:p>
            <a:endParaRPr lang="en-US"/>
          </a:p>
        </p:txBody>
      </p:sp>
      <p:sp>
        <p:nvSpPr>
          <p:cNvPr id="11" name="Text 9"/>
          <p:cNvSpPr/>
          <p:nvPr/>
        </p:nvSpPr>
        <p:spPr>
          <a:xfrm>
            <a:off x="6967728" y="1783080"/>
            <a:ext cx="44439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Common failure</a:t>
            </a:r>
            <a:endParaRPr lang="en-US" sz="1100" dirty="0"/>
          </a:p>
        </p:txBody>
      </p:sp>
      <p:sp>
        <p:nvSpPr>
          <p:cNvPr id="12" name="Shape 10"/>
          <p:cNvSpPr/>
          <p:nvPr/>
        </p:nvSpPr>
        <p:spPr>
          <a:xfrm>
            <a:off x="640080" y="2167128"/>
            <a:ext cx="2011680" cy="548640"/>
          </a:xfrm>
          <a:prstGeom prst="rect">
            <a:avLst/>
          </a:prstGeom>
          <a:solidFill>
            <a:srgbClr val="FFFFFF"/>
          </a:solidFill>
          <a:ln w="9525">
            <a:solidFill>
              <a:srgbClr val="E3EBF0"/>
            </a:solidFill>
            <a:prstDash val="solid"/>
          </a:ln>
        </p:spPr>
        <p:txBody>
          <a:bodyPr/>
          <a:lstStyle/>
          <a:p>
            <a:endParaRPr lang="en-US"/>
          </a:p>
        </p:txBody>
      </p:sp>
      <p:sp>
        <p:nvSpPr>
          <p:cNvPr id="13" name="Text 11"/>
          <p:cNvSpPr/>
          <p:nvPr/>
        </p:nvSpPr>
        <p:spPr>
          <a:xfrm>
            <a:off x="749808" y="2167128"/>
            <a:ext cx="179222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Name</a:t>
            </a:r>
            <a:endParaRPr lang="en-US" sz="1050" dirty="0"/>
          </a:p>
        </p:txBody>
      </p:sp>
      <p:sp>
        <p:nvSpPr>
          <p:cNvPr id="14" name="Shape 12"/>
          <p:cNvSpPr/>
          <p:nvPr/>
        </p:nvSpPr>
        <p:spPr>
          <a:xfrm>
            <a:off x="2651760" y="2167128"/>
            <a:ext cx="4206240" cy="548640"/>
          </a:xfrm>
          <a:prstGeom prst="rect">
            <a:avLst/>
          </a:prstGeom>
          <a:solidFill>
            <a:srgbClr val="FFFFFF"/>
          </a:solidFill>
          <a:ln w="9525">
            <a:solidFill>
              <a:srgbClr val="E3EBF0"/>
            </a:solidFill>
            <a:prstDash val="solid"/>
          </a:ln>
        </p:spPr>
        <p:txBody>
          <a:bodyPr/>
          <a:lstStyle/>
          <a:p>
            <a:endParaRPr lang="en-US"/>
          </a:p>
        </p:txBody>
      </p:sp>
      <p:sp>
        <p:nvSpPr>
          <p:cNvPr id="15" name="Text 13"/>
          <p:cNvSpPr/>
          <p:nvPr/>
        </p:nvSpPr>
        <p:spPr>
          <a:xfrm>
            <a:off x="2761488" y="2167128"/>
            <a:ext cx="398678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Unambiguous and specific</a:t>
            </a:r>
            <a:endParaRPr lang="en-US" sz="1050" dirty="0"/>
          </a:p>
        </p:txBody>
      </p:sp>
      <p:sp>
        <p:nvSpPr>
          <p:cNvPr id="16" name="Shape 14"/>
          <p:cNvSpPr/>
          <p:nvPr/>
        </p:nvSpPr>
        <p:spPr>
          <a:xfrm>
            <a:off x="6858000" y="2167128"/>
            <a:ext cx="4663440" cy="548640"/>
          </a:xfrm>
          <a:prstGeom prst="rect">
            <a:avLst/>
          </a:prstGeom>
          <a:solidFill>
            <a:srgbClr val="FFFFFF"/>
          </a:solidFill>
          <a:ln w="9525">
            <a:solidFill>
              <a:srgbClr val="E3EBF0"/>
            </a:solidFill>
            <a:prstDash val="solid"/>
          </a:ln>
        </p:spPr>
        <p:txBody>
          <a:bodyPr/>
          <a:lstStyle/>
          <a:p>
            <a:endParaRPr lang="en-US"/>
          </a:p>
        </p:txBody>
      </p:sp>
      <p:sp>
        <p:nvSpPr>
          <p:cNvPr id="17" name="Text 15"/>
          <p:cNvSpPr/>
          <p:nvPr/>
        </p:nvSpPr>
        <p:spPr>
          <a:xfrm>
            <a:off x="6967728" y="2167128"/>
            <a:ext cx="444398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Two tools whose names could each plausibly apply</a:t>
            </a:r>
            <a:endParaRPr lang="en-US" sz="1050" dirty="0"/>
          </a:p>
        </p:txBody>
      </p:sp>
      <p:sp>
        <p:nvSpPr>
          <p:cNvPr id="18" name="Shape 16"/>
          <p:cNvSpPr/>
          <p:nvPr/>
        </p:nvSpPr>
        <p:spPr>
          <a:xfrm>
            <a:off x="640080" y="2715768"/>
            <a:ext cx="2011680" cy="548640"/>
          </a:xfrm>
          <a:prstGeom prst="rect">
            <a:avLst/>
          </a:prstGeom>
          <a:solidFill>
            <a:srgbClr val="F5F9FB"/>
          </a:solidFill>
          <a:ln w="9525">
            <a:solidFill>
              <a:srgbClr val="E3EBF0"/>
            </a:solidFill>
            <a:prstDash val="solid"/>
          </a:ln>
        </p:spPr>
        <p:txBody>
          <a:bodyPr/>
          <a:lstStyle/>
          <a:p>
            <a:endParaRPr lang="en-US"/>
          </a:p>
        </p:txBody>
      </p:sp>
      <p:sp>
        <p:nvSpPr>
          <p:cNvPr id="19" name="Text 17"/>
          <p:cNvSpPr/>
          <p:nvPr/>
        </p:nvSpPr>
        <p:spPr>
          <a:xfrm>
            <a:off x="749808" y="2715768"/>
            <a:ext cx="179222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Description</a:t>
            </a:r>
            <a:endParaRPr lang="en-US" sz="1050" dirty="0"/>
          </a:p>
        </p:txBody>
      </p:sp>
      <p:sp>
        <p:nvSpPr>
          <p:cNvPr id="20" name="Shape 18"/>
          <p:cNvSpPr/>
          <p:nvPr/>
        </p:nvSpPr>
        <p:spPr>
          <a:xfrm>
            <a:off x="2651760" y="2715768"/>
            <a:ext cx="4206240" cy="548640"/>
          </a:xfrm>
          <a:prstGeom prst="rect">
            <a:avLst/>
          </a:prstGeom>
          <a:solidFill>
            <a:srgbClr val="F5F9FB"/>
          </a:solidFill>
          <a:ln w="9525">
            <a:solidFill>
              <a:srgbClr val="E3EBF0"/>
            </a:solidFill>
            <a:prstDash val="solid"/>
          </a:ln>
        </p:spPr>
        <p:txBody>
          <a:bodyPr/>
          <a:lstStyle/>
          <a:p>
            <a:endParaRPr lang="en-US"/>
          </a:p>
        </p:txBody>
      </p:sp>
      <p:sp>
        <p:nvSpPr>
          <p:cNvPr id="21" name="Text 19"/>
          <p:cNvSpPr/>
          <p:nvPr/>
        </p:nvSpPr>
        <p:spPr>
          <a:xfrm>
            <a:off x="2761488" y="2715768"/>
            <a:ext cx="398678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States what it does, when to use it, and when not to</a:t>
            </a:r>
            <a:endParaRPr lang="en-US" sz="1050" dirty="0"/>
          </a:p>
        </p:txBody>
      </p:sp>
      <p:sp>
        <p:nvSpPr>
          <p:cNvPr id="22" name="Shape 20"/>
          <p:cNvSpPr/>
          <p:nvPr/>
        </p:nvSpPr>
        <p:spPr>
          <a:xfrm>
            <a:off x="6858000" y="2715768"/>
            <a:ext cx="4663440" cy="548640"/>
          </a:xfrm>
          <a:prstGeom prst="rect">
            <a:avLst/>
          </a:prstGeom>
          <a:solidFill>
            <a:srgbClr val="F5F9FB"/>
          </a:solidFill>
          <a:ln w="9525">
            <a:solidFill>
              <a:srgbClr val="E3EBF0"/>
            </a:solidFill>
            <a:prstDash val="solid"/>
          </a:ln>
        </p:spPr>
        <p:txBody>
          <a:bodyPr/>
          <a:lstStyle/>
          <a:p>
            <a:endParaRPr lang="en-US"/>
          </a:p>
        </p:txBody>
      </p:sp>
      <p:sp>
        <p:nvSpPr>
          <p:cNvPr id="23" name="Text 21"/>
          <p:cNvSpPr/>
          <p:nvPr/>
        </p:nvSpPr>
        <p:spPr>
          <a:xfrm>
            <a:off x="6967728" y="2715768"/>
            <a:ext cx="444398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Describes the implementation instead of the purpose</a:t>
            </a:r>
            <a:endParaRPr lang="en-US" sz="1050" dirty="0"/>
          </a:p>
        </p:txBody>
      </p:sp>
      <p:sp>
        <p:nvSpPr>
          <p:cNvPr id="24" name="Shape 22"/>
          <p:cNvSpPr/>
          <p:nvPr/>
        </p:nvSpPr>
        <p:spPr>
          <a:xfrm>
            <a:off x="640080" y="3264408"/>
            <a:ext cx="2011680" cy="548640"/>
          </a:xfrm>
          <a:prstGeom prst="rect">
            <a:avLst/>
          </a:prstGeom>
          <a:solidFill>
            <a:srgbClr val="FFFFFF"/>
          </a:solidFill>
          <a:ln w="9525">
            <a:solidFill>
              <a:srgbClr val="E3EBF0"/>
            </a:solidFill>
            <a:prstDash val="solid"/>
          </a:ln>
        </p:spPr>
        <p:txBody>
          <a:bodyPr/>
          <a:lstStyle/>
          <a:p>
            <a:endParaRPr lang="en-US"/>
          </a:p>
        </p:txBody>
      </p:sp>
      <p:sp>
        <p:nvSpPr>
          <p:cNvPr id="25" name="Text 23"/>
          <p:cNvSpPr/>
          <p:nvPr/>
        </p:nvSpPr>
        <p:spPr>
          <a:xfrm>
            <a:off x="749808" y="3264408"/>
            <a:ext cx="179222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Input schema</a:t>
            </a:r>
            <a:endParaRPr lang="en-US" sz="1050" dirty="0"/>
          </a:p>
        </p:txBody>
      </p:sp>
      <p:sp>
        <p:nvSpPr>
          <p:cNvPr id="26" name="Shape 24"/>
          <p:cNvSpPr/>
          <p:nvPr/>
        </p:nvSpPr>
        <p:spPr>
          <a:xfrm>
            <a:off x="2651760" y="3264408"/>
            <a:ext cx="4206240" cy="548640"/>
          </a:xfrm>
          <a:prstGeom prst="rect">
            <a:avLst/>
          </a:prstGeom>
          <a:solidFill>
            <a:srgbClr val="FFFFFF"/>
          </a:solidFill>
          <a:ln w="9525">
            <a:solidFill>
              <a:srgbClr val="E3EBF0"/>
            </a:solidFill>
            <a:prstDash val="solid"/>
          </a:ln>
        </p:spPr>
        <p:txBody>
          <a:bodyPr/>
          <a:lstStyle/>
          <a:p>
            <a:endParaRPr lang="en-US"/>
          </a:p>
        </p:txBody>
      </p:sp>
      <p:sp>
        <p:nvSpPr>
          <p:cNvPr id="27" name="Text 25"/>
          <p:cNvSpPr/>
          <p:nvPr/>
        </p:nvSpPr>
        <p:spPr>
          <a:xfrm>
            <a:off x="2761488" y="3264408"/>
            <a:ext cx="398678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Typed, with each parameter described and constrained</a:t>
            </a:r>
            <a:endParaRPr lang="en-US" sz="1050" dirty="0"/>
          </a:p>
        </p:txBody>
      </p:sp>
      <p:sp>
        <p:nvSpPr>
          <p:cNvPr id="28" name="Shape 26"/>
          <p:cNvSpPr/>
          <p:nvPr/>
        </p:nvSpPr>
        <p:spPr>
          <a:xfrm>
            <a:off x="6858000" y="3264408"/>
            <a:ext cx="4663440" cy="548640"/>
          </a:xfrm>
          <a:prstGeom prst="rect">
            <a:avLst/>
          </a:prstGeom>
          <a:solidFill>
            <a:srgbClr val="FFFFFF"/>
          </a:solidFill>
          <a:ln w="9525">
            <a:solidFill>
              <a:srgbClr val="E3EBF0"/>
            </a:solidFill>
            <a:prstDash val="solid"/>
          </a:ln>
        </p:spPr>
        <p:txBody>
          <a:bodyPr/>
          <a:lstStyle/>
          <a:p>
            <a:endParaRPr lang="en-US"/>
          </a:p>
        </p:txBody>
      </p:sp>
      <p:sp>
        <p:nvSpPr>
          <p:cNvPr id="29" name="Text 27"/>
          <p:cNvSpPr/>
          <p:nvPr/>
        </p:nvSpPr>
        <p:spPr>
          <a:xfrm>
            <a:off x="6967728" y="3264408"/>
            <a:ext cx="444398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Free-text parameters the model fills inconsistently</a:t>
            </a:r>
            <a:endParaRPr lang="en-US" sz="1050" dirty="0"/>
          </a:p>
        </p:txBody>
      </p:sp>
      <p:sp>
        <p:nvSpPr>
          <p:cNvPr id="30" name="Shape 28"/>
          <p:cNvSpPr/>
          <p:nvPr/>
        </p:nvSpPr>
        <p:spPr>
          <a:xfrm>
            <a:off x="640080" y="3813048"/>
            <a:ext cx="2011680" cy="548640"/>
          </a:xfrm>
          <a:prstGeom prst="rect">
            <a:avLst/>
          </a:prstGeom>
          <a:solidFill>
            <a:srgbClr val="F5F9FB"/>
          </a:solidFill>
          <a:ln w="9525">
            <a:solidFill>
              <a:srgbClr val="E3EBF0"/>
            </a:solidFill>
            <a:prstDash val="solid"/>
          </a:ln>
        </p:spPr>
        <p:txBody>
          <a:bodyPr/>
          <a:lstStyle/>
          <a:p>
            <a:endParaRPr lang="en-US"/>
          </a:p>
        </p:txBody>
      </p:sp>
      <p:sp>
        <p:nvSpPr>
          <p:cNvPr id="31" name="Text 29"/>
          <p:cNvSpPr/>
          <p:nvPr/>
        </p:nvSpPr>
        <p:spPr>
          <a:xfrm>
            <a:off x="749808" y="3813048"/>
            <a:ext cx="179222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Output schema</a:t>
            </a:r>
            <a:endParaRPr lang="en-US" sz="1050" dirty="0"/>
          </a:p>
        </p:txBody>
      </p:sp>
      <p:sp>
        <p:nvSpPr>
          <p:cNvPr id="32" name="Shape 30"/>
          <p:cNvSpPr/>
          <p:nvPr/>
        </p:nvSpPr>
        <p:spPr>
          <a:xfrm>
            <a:off x="2651760" y="3813048"/>
            <a:ext cx="4206240" cy="548640"/>
          </a:xfrm>
          <a:prstGeom prst="rect">
            <a:avLst/>
          </a:prstGeom>
          <a:solidFill>
            <a:srgbClr val="F5F9FB"/>
          </a:solidFill>
          <a:ln w="9525">
            <a:solidFill>
              <a:srgbClr val="E3EBF0"/>
            </a:solidFill>
            <a:prstDash val="solid"/>
          </a:ln>
        </p:spPr>
        <p:txBody>
          <a:bodyPr/>
          <a:lstStyle/>
          <a:p>
            <a:endParaRPr lang="en-US"/>
          </a:p>
        </p:txBody>
      </p:sp>
      <p:sp>
        <p:nvSpPr>
          <p:cNvPr id="33" name="Text 31"/>
          <p:cNvSpPr/>
          <p:nvPr/>
        </p:nvSpPr>
        <p:spPr>
          <a:xfrm>
            <a:off x="2761488" y="3813048"/>
            <a:ext cx="398678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Predictable structure the model can rely on</a:t>
            </a:r>
            <a:endParaRPr lang="en-US" sz="1050" dirty="0"/>
          </a:p>
        </p:txBody>
      </p:sp>
      <p:sp>
        <p:nvSpPr>
          <p:cNvPr id="34" name="Shape 32"/>
          <p:cNvSpPr/>
          <p:nvPr/>
        </p:nvSpPr>
        <p:spPr>
          <a:xfrm>
            <a:off x="6858000" y="3813048"/>
            <a:ext cx="4663440" cy="548640"/>
          </a:xfrm>
          <a:prstGeom prst="rect">
            <a:avLst/>
          </a:prstGeom>
          <a:solidFill>
            <a:srgbClr val="F5F9FB"/>
          </a:solidFill>
          <a:ln w="9525">
            <a:solidFill>
              <a:srgbClr val="E3EBF0"/>
            </a:solidFill>
            <a:prstDash val="solid"/>
          </a:ln>
        </p:spPr>
        <p:txBody>
          <a:bodyPr/>
          <a:lstStyle/>
          <a:p>
            <a:endParaRPr lang="en-US"/>
          </a:p>
        </p:txBody>
      </p:sp>
      <p:sp>
        <p:nvSpPr>
          <p:cNvPr id="35" name="Text 33"/>
          <p:cNvSpPr/>
          <p:nvPr/>
        </p:nvSpPr>
        <p:spPr>
          <a:xfrm>
            <a:off x="6967728" y="3813048"/>
            <a:ext cx="444398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Raw system responses with inconsistent shape</a:t>
            </a:r>
            <a:endParaRPr lang="en-US" sz="1050" dirty="0"/>
          </a:p>
        </p:txBody>
      </p:sp>
      <p:sp>
        <p:nvSpPr>
          <p:cNvPr id="36" name="Shape 34"/>
          <p:cNvSpPr/>
          <p:nvPr/>
        </p:nvSpPr>
        <p:spPr>
          <a:xfrm>
            <a:off x="640080" y="4361688"/>
            <a:ext cx="2011680" cy="548640"/>
          </a:xfrm>
          <a:prstGeom prst="rect">
            <a:avLst/>
          </a:prstGeom>
          <a:solidFill>
            <a:srgbClr val="FFFFFF"/>
          </a:solidFill>
          <a:ln w="9525">
            <a:solidFill>
              <a:srgbClr val="E3EBF0"/>
            </a:solidFill>
            <a:prstDash val="solid"/>
          </a:ln>
        </p:spPr>
        <p:txBody>
          <a:bodyPr/>
          <a:lstStyle/>
          <a:p>
            <a:endParaRPr lang="en-US"/>
          </a:p>
        </p:txBody>
      </p:sp>
      <p:sp>
        <p:nvSpPr>
          <p:cNvPr id="37" name="Text 35"/>
          <p:cNvSpPr/>
          <p:nvPr/>
        </p:nvSpPr>
        <p:spPr>
          <a:xfrm>
            <a:off x="749808" y="4361688"/>
            <a:ext cx="179222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Error semantics</a:t>
            </a:r>
            <a:endParaRPr lang="en-US" sz="1050" dirty="0"/>
          </a:p>
        </p:txBody>
      </p:sp>
      <p:sp>
        <p:nvSpPr>
          <p:cNvPr id="38" name="Shape 36"/>
          <p:cNvSpPr/>
          <p:nvPr/>
        </p:nvSpPr>
        <p:spPr>
          <a:xfrm>
            <a:off x="2651760" y="4361688"/>
            <a:ext cx="4206240" cy="548640"/>
          </a:xfrm>
          <a:prstGeom prst="rect">
            <a:avLst/>
          </a:prstGeom>
          <a:solidFill>
            <a:srgbClr val="FFFFFF"/>
          </a:solidFill>
          <a:ln w="9525">
            <a:solidFill>
              <a:srgbClr val="E3EBF0"/>
            </a:solidFill>
            <a:prstDash val="solid"/>
          </a:ln>
        </p:spPr>
        <p:txBody>
          <a:bodyPr/>
          <a:lstStyle/>
          <a:p>
            <a:endParaRPr lang="en-US"/>
          </a:p>
        </p:txBody>
      </p:sp>
      <p:sp>
        <p:nvSpPr>
          <p:cNvPr id="39" name="Text 37"/>
          <p:cNvSpPr/>
          <p:nvPr/>
        </p:nvSpPr>
        <p:spPr>
          <a:xfrm>
            <a:off x="2761488" y="4361688"/>
            <a:ext cx="398678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 defined response for not-found, unauthorised, unavailable</a:t>
            </a:r>
            <a:endParaRPr lang="en-US" sz="1050" dirty="0"/>
          </a:p>
        </p:txBody>
      </p:sp>
      <p:sp>
        <p:nvSpPr>
          <p:cNvPr id="40" name="Shape 38"/>
          <p:cNvSpPr/>
          <p:nvPr/>
        </p:nvSpPr>
        <p:spPr>
          <a:xfrm>
            <a:off x="6858000" y="4361688"/>
            <a:ext cx="4663440" cy="548640"/>
          </a:xfrm>
          <a:prstGeom prst="rect">
            <a:avLst/>
          </a:prstGeom>
          <a:solidFill>
            <a:srgbClr val="FFFFFF"/>
          </a:solidFill>
          <a:ln w="9525">
            <a:solidFill>
              <a:srgbClr val="E3EBF0"/>
            </a:solidFill>
            <a:prstDash val="solid"/>
          </a:ln>
        </p:spPr>
        <p:txBody>
          <a:bodyPr/>
          <a:lstStyle/>
          <a:p>
            <a:endParaRPr lang="en-US"/>
          </a:p>
        </p:txBody>
      </p:sp>
      <p:sp>
        <p:nvSpPr>
          <p:cNvPr id="41" name="Text 39"/>
          <p:cNvSpPr/>
          <p:nvPr/>
        </p:nvSpPr>
        <p:spPr>
          <a:xfrm>
            <a:off x="6967728" y="4361688"/>
            <a:ext cx="444398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Exceptions that leave the model with no usable information</a:t>
            </a:r>
            <a:endParaRPr lang="en-US" sz="1050" dirty="0"/>
          </a:p>
        </p:txBody>
      </p:sp>
      <p:sp>
        <p:nvSpPr>
          <p:cNvPr id="42" name="Shape 40"/>
          <p:cNvSpPr/>
          <p:nvPr/>
        </p:nvSpPr>
        <p:spPr>
          <a:xfrm>
            <a:off x="640080" y="4910328"/>
            <a:ext cx="2011680" cy="548640"/>
          </a:xfrm>
          <a:prstGeom prst="rect">
            <a:avLst/>
          </a:prstGeom>
          <a:solidFill>
            <a:srgbClr val="F5F9FB"/>
          </a:solidFill>
          <a:ln w="9525">
            <a:solidFill>
              <a:srgbClr val="E3EBF0"/>
            </a:solidFill>
            <a:prstDash val="solid"/>
          </a:ln>
        </p:spPr>
        <p:txBody>
          <a:bodyPr/>
          <a:lstStyle/>
          <a:p>
            <a:endParaRPr lang="en-US"/>
          </a:p>
        </p:txBody>
      </p:sp>
      <p:sp>
        <p:nvSpPr>
          <p:cNvPr id="43" name="Text 41"/>
          <p:cNvSpPr/>
          <p:nvPr/>
        </p:nvSpPr>
        <p:spPr>
          <a:xfrm>
            <a:off x="749808" y="4910328"/>
            <a:ext cx="179222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Examples</a:t>
            </a:r>
            <a:endParaRPr lang="en-US" sz="1050" dirty="0"/>
          </a:p>
        </p:txBody>
      </p:sp>
      <p:sp>
        <p:nvSpPr>
          <p:cNvPr id="44" name="Shape 42"/>
          <p:cNvSpPr/>
          <p:nvPr/>
        </p:nvSpPr>
        <p:spPr>
          <a:xfrm>
            <a:off x="2651760" y="4910328"/>
            <a:ext cx="4206240" cy="548640"/>
          </a:xfrm>
          <a:prstGeom prst="rect">
            <a:avLst/>
          </a:prstGeom>
          <a:solidFill>
            <a:srgbClr val="F5F9FB"/>
          </a:solidFill>
          <a:ln w="9525">
            <a:solidFill>
              <a:srgbClr val="E3EBF0"/>
            </a:solidFill>
            <a:prstDash val="solid"/>
          </a:ln>
        </p:spPr>
        <p:txBody>
          <a:bodyPr/>
          <a:lstStyle/>
          <a:p>
            <a:endParaRPr lang="en-US"/>
          </a:p>
        </p:txBody>
      </p:sp>
      <p:sp>
        <p:nvSpPr>
          <p:cNvPr id="45" name="Text 43"/>
          <p:cNvSpPr/>
          <p:nvPr/>
        </p:nvSpPr>
        <p:spPr>
          <a:xfrm>
            <a:off x="2761488" y="4910328"/>
            <a:ext cx="398678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One or two representative invocations</a:t>
            </a:r>
            <a:endParaRPr lang="en-US" sz="1050" dirty="0"/>
          </a:p>
        </p:txBody>
      </p:sp>
      <p:sp>
        <p:nvSpPr>
          <p:cNvPr id="46" name="Shape 44"/>
          <p:cNvSpPr/>
          <p:nvPr/>
        </p:nvSpPr>
        <p:spPr>
          <a:xfrm>
            <a:off x="6858000" y="4910328"/>
            <a:ext cx="4663440" cy="548640"/>
          </a:xfrm>
          <a:prstGeom prst="rect">
            <a:avLst/>
          </a:prstGeom>
          <a:solidFill>
            <a:srgbClr val="F5F9FB"/>
          </a:solidFill>
          <a:ln w="9525">
            <a:solidFill>
              <a:srgbClr val="E3EBF0"/>
            </a:solidFill>
            <a:prstDash val="solid"/>
          </a:ln>
        </p:spPr>
        <p:txBody>
          <a:bodyPr/>
          <a:lstStyle/>
          <a:p>
            <a:endParaRPr lang="en-US"/>
          </a:p>
        </p:txBody>
      </p:sp>
      <p:sp>
        <p:nvSpPr>
          <p:cNvPr id="47" name="Text 45"/>
          <p:cNvSpPr/>
          <p:nvPr/>
        </p:nvSpPr>
        <p:spPr>
          <a:xfrm>
            <a:off x="6967728" y="4910328"/>
            <a:ext cx="444398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None, leaving the model to infer usage from the name alone</a:t>
            </a:r>
            <a:endParaRPr lang="en-US" sz="1050" dirty="0"/>
          </a:p>
        </p:txBody>
      </p:sp>
      <p:sp>
        <p:nvSpPr>
          <p:cNvPr id="48" name="Text 46"/>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C7293"/>
                </a:solidFill>
                <a:latin typeface="Calibri" pitchFamily="34" charset="0"/>
                <a:ea typeface="Calibri" pitchFamily="34" charset="-122"/>
                <a:cs typeface="Calibri" pitchFamily="34" charset="-120"/>
              </a:rPr>
              <a:t>Write tool descriptions for a competent new colleague who has never seen the system. That is precisely the reader you have.</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4 · 4.5</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Identity, authorisation and audit for tool access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28</a:t>
            </a:r>
            <a:endParaRPr lang="en-US" sz="1000" dirty="0"/>
          </a:p>
        </p:txBody>
      </p:sp>
      <p:sp>
        <p:nvSpPr>
          <p:cNvPr id="5" name="Shape 3"/>
          <p:cNvSpPr/>
          <p:nvPr/>
        </p:nvSpPr>
        <p:spPr>
          <a:xfrm>
            <a:off x="640080" y="1527048"/>
            <a:ext cx="365760" cy="365760"/>
          </a:xfrm>
          <a:prstGeom prst="ellipse">
            <a:avLst/>
          </a:prstGeom>
          <a:solidFill>
            <a:srgbClr val="065A82"/>
          </a:solidFill>
          <a:ln/>
        </p:spPr>
        <p:txBody>
          <a:bodyPr/>
          <a:lstStyle/>
          <a:p>
            <a:endParaRPr lang="en-US"/>
          </a:p>
        </p:txBody>
      </p:sp>
      <p:sp>
        <p:nvSpPr>
          <p:cNvPr id="6" name="Text 4"/>
          <p:cNvSpPr/>
          <p:nvPr/>
        </p:nvSpPr>
        <p:spPr>
          <a:xfrm>
            <a:off x="640080" y="152704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88720" y="1371600"/>
            <a:ext cx="3474720" cy="585216"/>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Propagate the caller's identity</a:t>
            </a:r>
            <a:endParaRPr lang="en-US" sz="1300" dirty="0"/>
          </a:p>
        </p:txBody>
      </p:sp>
      <p:sp>
        <p:nvSpPr>
          <p:cNvPr id="8" name="Text 6"/>
          <p:cNvSpPr/>
          <p:nvPr/>
        </p:nvSpPr>
        <p:spPr>
          <a:xfrm>
            <a:off x="4983480" y="1371600"/>
            <a:ext cx="6537960" cy="585216"/>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The user's identity reaches the server, not a shared service account. Otherwise every action is attributed to "the AI system" and the audit trail is worthless.</a:t>
            </a:r>
            <a:endParaRPr lang="en-US" sz="1150" dirty="0"/>
          </a:p>
        </p:txBody>
      </p:sp>
      <p:sp>
        <p:nvSpPr>
          <p:cNvPr id="9" name="Shape 7"/>
          <p:cNvSpPr/>
          <p:nvPr/>
        </p:nvSpPr>
        <p:spPr>
          <a:xfrm>
            <a:off x="640080" y="2203704"/>
            <a:ext cx="365760" cy="365760"/>
          </a:xfrm>
          <a:prstGeom prst="ellipse">
            <a:avLst/>
          </a:prstGeom>
          <a:solidFill>
            <a:srgbClr val="065A82"/>
          </a:solidFill>
          <a:ln/>
        </p:spPr>
        <p:txBody>
          <a:bodyPr/>
          <a:lstStyle/>
          <a:p>
            <a:endParaRPr lang="en-US"/>
          </a:p>
        </p:txBody>
      </p:sp>
      <p:sp>
        <p:nvSpPr>
          <p:cNvPr id="10" name="Text 8"/>
          <p:cNvSpPr/>
          <p:nvPr/>
        </p:nvSpPr>
        <p:spPr>
          <a:xfrm>
            <a:off x="640080" y="220370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88720" y="2048256"/>
            <a:ext cx="3474720" cy="585216"/>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Enforce authorisation at the server</a:t>
            </a:r>
            <a:endParaRPr lang="en-US" sz="1300" dirty="0"/>
          </a:p>
        </p:txBody>
      </p:sp>
      <p:sp>
        <p:nvSpPr>
          <p:cNvPr id="12" name="Text 10"/>
          <p:cNvSpPr/>
          <p:nvPr/>
        </p:nvSpPr>
        <p:spPr>
          <a:xfrm>
            <a:off x="4983480" y="2048256"/>
            <a:ext cx="6537960" cy="585216"/>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The server checks what this caller may do, independently. Never rely on the client to have filtered correctly.</a:t>
            </a:r>
            <a:endParaRPr lang="en-US" sz="1150" dirty="0"/>
          </a:p>
        </p:txBody>
      </p:sp>
      <p:sp>
        <p:nvSpPr>
          <p:cNvPr id="13" name="Shape 11"/>
          <p:cNvSpPr/>
          <p:nvPr/>
        </p:nvSpPr>
        <p:spPr>
          <a:xfrm>
            <a:off x="640080" y="2880360"/>
            <a:ext cx="365760" cy="365760"/>
          </a:xfrm>
          <a:prstGeom prst="ellipse">
            <a:avLst/>
          </a:prstGeom>
          <a:solidFill>
            <a:srgbClr val="065A82"/>
          </a:solidFill>
          <a:ln/>
        </p:spPr>
        <p:txBody>
          <a:bodyPr/>
          <a:lstStyle/>
          <a:p>
            <a:endParaRPr lang="en-US"/>
          </a:p>
        </p:txBody>
      </p:sp>
      <p:sp>
        <p:nvSpPr>
          <p:cNvPr id="14" name="Text 12"/>
          <p:cNvSpPr/>
          <p:nvPr/>
        </p:nvSpPr>
        <p:spPr>
          <a:xfrm>
            <a:off x="640080" y="28803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188720" y="2724912"/>
            <a:ext cx="3474720" cy="585216"/>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Allow-list tools per role</a:t>
            </a:r>
            <a:endParaRPr lang="en-US" sz="1300" dirty="0"/>
          </a:p>
        </p:txBody>
      </p:sp>
      <p:sp>
        <p:nvSpPr>
          <p:cNvPr id="16" name="Text 14"/>
          <p:cNvSpPr/>
          <p:nvPr/>
        </p:nvSpPr>
        <p:spPr>
          <a:xfrm>
            <a:off x="4983480" y="2724912"/>
            <a:ext cx="6537960" cy="585216"/>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Which roles may invoke which tools, enforced outside the model. The model must never be the thing deciding what it may do.</a:t>
            </a:r>
            <a:endParaRPr lang="en-US" sz="1150" dirty="0"/>
          </a:p>
        </p:txBody>
      </p:sp>
      <p:sp>
        <p:nvSpPr>
          <p:cNvPr id="17" name="Shape 15"/>
          <p:cNvSpPr/>
          <p:nvPr/>
        </p:nvSpPr>
        <p:spPr>
          <a:xfrm>
            <a:off x="640080" y="3557016"/>
            <a:ext cx="365760" cy="365760"/>
          </a:xfrm>
          <a:prstGeom prst="ellipse">
            <a:avLst/>
          </a:prstGeom>
          <a:solidFill>
            <a:srgbClr val="065A82"/>
          </a:solidFill>
          <a:ln/>
        </p:spPr>
        <p:txBody>
          <a:bodyPr/>
          <a:lstStyle/>
          <a:p>
            <a:endParaRPr lang="en-US"/>
          </a:p>
        </p:txBody>
      </p:sp>
      <p:sp>
        <p:nvSpPr>
          <p:cNvPr id="18" name="Text 16"/>
          <p:cNvSpPr/>
          <p:nvPr/>
        </p:nvSpPr>
        <p:spPr>
          <a:xfrm>
            <a:off x="640080" y="355701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188720" y="3401568"/>
            <a:ext cx="3474720" cy="585216"/>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Log every invocation</a:t>
            </a:r>
            <a:endParaRPr lang="en-US" sz="1300" dirty="0"/>
          </a:p>
        </p:txBody>
      </p:sp>
      <p:sp>
        <p:nvSpPr>
          <p:cNvPr id="20" name="Text 18"/>
          <p:cNvSpPr/>
          <p:nvPr/>
        </p:nvSpPr>
        <p:spPr>
          <a:xfrm>
            <a:off x="4983480" y="3401568"/>
            <a:ext cx="6537960" cy="585216"/>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Caller, arguments, result, timing, outcome. This is the only record of what the system actually did.</a:t>
            </a:r>
            <a:endParaRPr lang="en-US" sz="1150" dirty="0"/>
          </a:p>
        </p:txBody>
      </p:sp>
      <p:sp>
        <p:nvSpPr>
          <p:cNvPr id="21" name="Shape 19"/>
          <p:cNvSpPr/>
          <p:nvPr/>
        </p:nvSpPr>
        <p:spPr>
          <a:xfrm>
            <a:off x="640080" y="4233672"/>
            <a:ext cx="365760" cy="365760"/>
          </a:xfrm>
          <a:prstGeom prst="ellipse">
            <a:avLst/>
          </a:prstGeom>
          <a:solidFill>
            <a:srgbClr val="065A82"/>
          </a:solidFill>
          <a:ln/>
        </p:spPr>
        <p:txBody>
          <a:bodyPr/>
          <a:lstStyle/>
          <a:p>
            <a:endParaRPr lang="en-US"/>
          </a:p>
        </p:txBody>
      </p:sp>
      <p:sp>
        <p:nvSpPr>
          <p:cNvPr id="22" name="Text 20"/>
          <p:cNvSpPr/>
          <p:nvPr/>
        </p:nvSpPr>
        <p:spPr>
          <a:xfrm>
            <a:off x="640080" y="423367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188720" y="4078224"/>
            <a:ext cx="3474720" cy="585216"/>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Make state-changing calls idempotent</a:t>
            </a:r>
            <a:endParaRPr lang="en-US" sz="1300" dirty="0"/>
          </a:p>
        </p:txBody>
      </p:sp>
      <p:sp>
        <p:nvSpPr>
          <p:cNvPr id="24" name="Text 22"/>
          <p:cNvSpPr/>
          <p:nvPr/>
        </p:nvSpPr>
        <p:spPr>
          <a:xfrm>
            <a:off x="4983480" y="4078224"/>
            <a:ext cx="6537960" cy="585216"/>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Retries are normal at scale. A duplicated parts order is not.</a:t>
            </a:r>
            <a:endParaRPr lang="en-US" sz="1150" dirty="0"/>
          </a:p>
        </p:txBody>
      </p:sp>
      <p:sp>
        <p:nvSpPr>
          <p:cNvPr id="25" name="Shape 23"/>
          <p:cNvSpPr/>
          <p:nvPr/>
        </p:nvSpPr>
        <p:spPr>
          <a:xfrm>
            <a:off x="640080" y="4910328"/>
            <a:ext cx="365760" cy="365760"/>
          </a:xfrm>
          <a:prstGeom prst="ellipse">
            <a:avLst/>
          </a:prstGeom>
          <a:solidFill>
            <a:srgbClr val="065A82"/>
          </a:solidFill>
          <a:ln/>
        </p:spPr>
        <p:txBody>
          <a:bodyPr/>
          <a:lstStyle/>
          <a:p>
            <a:endParaRPr lang="en-US"/>
          </a:p>
        </p:txBody>
      </p:sp>
      <p:sp>
        <p:nvSpPr>
          <p:cNvPr id="26" name="Text 24"/>
          <p:cNvSpPr/>
          <p:nvPr/>
        </p:nvSpPr>
        <p:spPr>
          <a:xfrm>
            <a:off x="640080" y="491032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1188720" y="4754880"/>
            <a:ext cx="3474720" cy="585216"/>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Gate irreversible actions on human approval</a:t>
            </a:r>
            <a:endParaRPr lang="en-US" sz="1300" dirty="0"/>
          </a:p>
        </p:txBody>
      </p:sp>
      <p:sp>
        <p:nvSpPr>
          <p:cNvPr id="28" name="Text 26"/>
          <p:cNvSpPr/>
          <p:nvPr/>
        </p:nvSpPr>
        <p:spPr>
          <a:xfrm>
            <a:off x="4983480" y="4754880"/>
            <a:ext cx="6537960" cy="585216"/>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Threshold set by cost and reversibility — not by the model's confidence, which is not a safety property.</a:t>
            </a:r>
            <a:endParaRPr lang="en-US" sz="1150" dirty="0"/>
          </a:p>
        </p:txBody>
      </p:sp>
      <p:sp>
        <p:nvSpPr>
          <p:cNvPr id="29" name="Shape 27"/>
          <p:cNvSpPr/>
          <p:nvPr/>
        </p:nvSpPr>
        <p:spPr>
          <a:xfrm>
            <a:off x="640080" y="5486400"/>
            <a:ext cx="10881360" cy="731520"/>
          </a:xfrm>
          <a:prstGeom prst="roundRect">
            <a:avLst>
              <a:gd name="adj" fmla="val 7500"/>
            </a:avLst>
          </a:prstGeom>
          <a:solidFill>
            <a:srgbClr val="FBEEE8"/>
          </a:solidFill>
          <a:ln w="12700">
            <a:solidFill>
              <a:srgbClr val="EBCFC2"/>
            </a:solidFill>
            <a:prstDash val="solid"/>
          </a:ln>
        </p:spPr>
        <p:txBody>
          <a:bodyPr/>
          <a:lstStyle/>
          <a:p>
            <a:endParaRPr lang="en-US"/>
          </a:p>
        </p:txBody>
      </p:sp>
      <p:sp>
        <p:nvSpPr>
          <p:cNvPr id="30" name="Text 28"/>
          <p:cNvSpPr/>
          <p:nvPr/>
        </p:nvSpPr>
        <p:spPr>
          <a:xfrm>
            <a:off x="914400" y="5650992"/>
            <a:ext cx="10332720" cy="429768"/>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Treat every tool argument as untrusted input. It was generated by a model that may have read attacker-controlled content.</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4 · 4.6</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MCP security risks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29</a:t>
            </a:r>
            <a:endParaRPr lang="en-US" sz="1000" dirty="0"/>
          </a:p>
        </p:txBody>
      </p:sp>
      <p:sp>
        <p:nvSpPr>
          <p:cNvPr id="5" name="Shape 3"/>
          <p:cNvSpPr/>
          <p:nvPr/>
        </p:nvSpPr>
        <p:spPr>
          <a:xfrm>
            <a:off x="640080" y="1234440"/>
            <a:ext cx="2286000" cy="384048"/>
          </a:xfrm>
          <a:prstGeom prst="rect">
            <a:avLst/>
          </a:prstGeom>
          <a:solidFill>
            <a:srgbClr val="21295C"/>
          </a:solidFill>
          <a:ln/>
        </p:spPr>
        <p:txBody>
          <a:bodyPr/>
          <a:lstStyle/>
          <a:p>
            <a:endParaRPr lang="en-US"/>
          </a:p>
        </p:txBody>
      </p:sp>
      <p:sp>
        <p:nvSpPr>
          <p:cNvPr id="6" name="Text 4"/>
          <p:cNvSpPr/>
          <p:nvPr/>
        </p:nvSpPr>
        <p:spPr>
          <a:xfrm>
            <a:off x="749808" y="1234440"/>
            <a:ext cx="20665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Risk</a:t>
            </a:r>
            <a:endParaRPr lang="en-US" sz="1100" dirty="0"/>
          </a:p>
        </p:txBody>
      </p:sp>
      <p:sp>
        <p:nvSpPr>
          <p:cNvPr id="7" name="Shape 5"/>
          <p:cNvSpPr/>
          <p:nvPr/>
        </p:nvSpPr>
        <p:spPr>
          <a:xfrm>
            <a:off x="2926080" y="1234440"/>
            <a:ext cx="4114800" cy="384048"/>
          </a:xfrm>
          <a:prstGeom prst="rect">
            <a:avLst/>
          </a:prstGeom>
          <a:solidFill>
            <a:srgbClr val="21295C"/>
          </a:solidFill>
          <a:ln/>
        </p:spPr>
        <p:txBody>
          <a:bodyPr/>
          <a:lstStyle/>
          <a:p>
            <a:endParaRPr lang="en-US"/>
          </a:p>
        </p:txBody>
      </p:sp>
      <p:sp>
        <p:nvSpPr>
          <p:cNvPr id="8" name="Text 6"/>
          <p:cNvSpPr/>
          <p:nvPr/>
        </p:nvSpPr>
        <p:spPr>
          <a:xfrm>
            <a:off x="3035808" y="1234440"/>
            <a:ext cx="38953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How it manifests</a:t>
            </a:r>
            <a:endParaRPr lang="en-US" sz="1100" dirty="0"/>
          </a:p>
        </p:txBody>
      </p:sp>
      <p:sp>
        <p:nvSpPr>
          <p:cNvPr id="9" name="Shape 7"/>
          <p:cNvSpPr/>
          <p:nvPr/>
        </p:nvSpPr>
        <p:spPr>
          <a:xfrm>
            <a:off x="7040880" y="1234440"/>
            <a:ext cx="4480560" cy="384048"/>
          </a:xfrm>
          <a:prstGeom prst="rect">
            <a:avLst/>
          </a:prstGeom>
          <a:solidFill>
            <a:srgbClr val="21295C"/>
          </a:solidFill>
          <a:ln/>
        </p:spPr>
        <p:txBody>
          <a:bodyPr/>
          <a:lstStyle/>
          <a:p>
            <a:endParaRPr lang="en-US"/>
          </a:p>
        </p:txBody>
      </p:sp>
      <p:sp>
        <p:nvSpPr>
          <p:cNvPr id="10" name="Text 8"/>
          <p:cNvSpPr/>
          <p:nvPr/>
        </p:nvSpPr>
        <p:spPr>
          <a:xfrm>
            <a:off x="7150608" y="1234440"/>
            <a:ext cx="42611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Mitigation</a:t>
            </a:r>
            <a:endParaRPr lang="en-US" sz="1100" dirty="0"/>
          </a:p>
        </p:txBody>
      </p:sp>
      <p:sp>
        <p:nvSpPr>
          <p:cNvPr id="11" name="Shape 9"/>
          <p:cNvSpPr/>
          <p:nvPr/>
        </p:nvSpPr>
        <p:spPr>
          <a:xfrm>
            <a:off x="640080" y="1618488"/>
            <a:ext cx="2286000" cy="548640"/>
          </a:xfrm>
          <a:prstGeom prst="rect">
            <a:avLst/>
          </a:prstGeom>
          <a:solidFill>
            <a:srgbClr val="FFFFFF"/>
          </a:solidFill>
          <a:ln w="9525">
            <a:solidFill>
              <a:srgbClr val="E3EBF0"/>
            </a:solidFill>
            <a:prstDash val="solid"/>
          </a:ln>
        </p:spPr>
        <p:txBody>
          <a:bodyPr/>
          <a:lstStyle/>
          <a:p>
            <a:endParaRPr lang="en-US"/>
          </a:p>
        </p:txBody>
      </p:sp>
      <p:sp>
        <p:nvSpPr>
          <p:cNvPr id="12" name="Text 10"/>
          <p:cNvSpPr/>
          <p:nvPr/>
        </p:nvSpPr>
        <p:spPr>
          <a:xfrm>
            <a:off x="749808" y="1618488"/>
            <a:ext cx="206654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Over-broad tool scope</a:t>
            </a:r>
            <a:endParaRPr lang="en-US" sz="1050" dirty="0"/>
          </a:p>
        </p:txBody>
      </p:sp>
      <p:sp>
        <p:nvSpPr>
          <p:cNvPr id="13" name="Shape 11"/>
          <p:cNvSpPr/>
          <p:nvPr/>
        </p:nvSpPr>
        <p:spPr>
          <a:xfrm>
            <a:off x="2926080" y="1618488"/>
            <a:ext cx="4114800" cy="548640"/>
          </a:xfrm>
          <a:prstGeom prst="rect">
            <a:avLst/>
          </a:prstGeom>
          <a:solidFill>
            <a:srgbClr val="FFFFFF"/>
          </a:solidFill>
          <a:ln w="9525">
            <a:solidFill>
              <a:srgbClr val="E3EBF0"/>
            </a:solidFill>
            <a:prstDash val="solid"/>
          </a:ln>
        </p:spPr>
        <p:txBody>
          <a:bodyPr/>
          <a:lstStyle/>
          <a:p>
            <a:endParaRPr lang="en-US"/>
          </a:p>
        </p:txBody>
      </p:sp>
      <p:sp>
        <p:nvSpPr>
          <p:cNvPr id="14" name="Text 12"/>
          <p:cNvSpPr/>
          <p:nvPr/>
        </p:nvSpPr>
        <p:spPr>
          <a:xfrm>
            <a:off x="3035808" y="1618488"/>
            <a:ext cx="389534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 tool that can read anything is invoked on behalf of a user who may see little</a:t>
            </a:r>
            <a:endParaRPr lang="en-US" sz="1050" dirty="0"/>
          </a:p>
        </p:txBody>
      </p:sp>
      <p:sp>
        <p:nvSpPr>
          <p:cNvPr id="15" name="Shape 13"/>
          <p:cNvSpPr/>
          <p:nvPr/>
        </p:nvSpPr>
        <p:spPr>
          <a:xfrm>
            <a:off x="7040880" y="1618488"/>
            <a:ext cx="4480560" cy="548640"/>
          </a:xfrm>
          <a:prstGeom prst="rect">
            <a:avLst/>
          </a:prstGeom>
          <a:solidFill>
            <a:srgbClr val="FFFFFF"/>
          </a:solidFill>
          <a:ln w="9525">
            <a:solidFill>
              <a:srgbClr val="E3EBF0"/>
            </a:solidFill>
            <a:prstDash val="solid"/>
          </a:ln>
        </p:spPr>
        <p:txBody>
          <a:bodyPr/>
          <a:lstStyle/>
          <a:p>
            <a:endParaRPr lang="en-US"/>
          </a:p>
        </p:txBody>
      </p:sp>
      <p:sp>
        <p:nvSpPr>
          <p:cNvPr id="16" name="Text 14"/>
          <p:cNvSpPr/>
          <p:nvPr/>
        </p:nvSpPr>
        <p:spPr>
          <a:xfrm>
            <a:off x="7150608" y="1618488"/>
            <a:ext cx="426110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Least privilege per tool; server-side authorisation per caller</a:t>
            </a:r>
            <a:endParaRPr lang="en-US" sz="1050" dirty="0"/>
          </a:p>
        </p:txBody>
      </p:sp>
      <p:sp>
        <p:nvSpPr>
          <p:cNvPr id="17" name="Shape 15"/>
          <p:cNvSpPr/>
          <p:nvPr/>
        </p:nvSpPr>
        <p:spPr>
          <a:xfrm>
            <a:off x="640080" y="2167128"/>
            <a:ext cx="2286000" cy="548640"/>
          </a:xfrm>
          <a:prstGeom prst="rect">
            <a:avLst/>
          </a:prstGeom>
          <a:solidFill>
            <a:srgbClr val="F5F9FB"/>
          </a:solidFill>
          <a:ln w="9525">
            <a:solidFill>
              <a:srgbClr val="E3EBF0"/>
            </a:solidFill>
            <a:prstDash val="solid"/>
          </a:ln>
        </p:spPr>
        <p:txBody>
          <a:bodyPr/>
          <a:lstStyle/>
          <a:p>
            <a:endParaRPr lang="en-US"/>
          </a:p>
        </p:txBody>
      </p:sp>
      <p:sp>
        <p:nvSpPr>
          <p:cNvPr id="18" name="Text 16"/>
          <p:cNvSpPr/>
          <p:nvPr/>
        </p:nvSpPr>
        <p:spPr>
          <a:xfrm>
            <a:off x="749808" y="2167128"/>
            <a:ext cx="206654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Confused deputy</a:t>
            </a:r>
            <a:endParaRPr lang="en-US" sz="1050" dirty="0"/>
          </a:p>
        </p:txBody>
      </p:sp>
      <p:sp>
        <p:nvSpPr>
          <p:cNvPr id="19" name="Shape 17"/>
          <p:cNvSpPr/>
          <p:nvPr/>
        </p:nvSpPr>
        <p:spPr>
          <a:xfrm>
            <a:off x="2926080" y="2167128"/>
            <a:ext cx="4114800" cy="548640"/>
          </a:xfrm>
          <a:prstGeom prst="rect">
            <a:avLst/>
          </a:prstGeom>
          <a:solidFill>
            <a:srgbClr val="F5F9FB"/>
          </a:solidFill>
          <a:ln w="9525">
            <a:solidFill>
              <a:srgbClr val="E3EBF0"/>
            </a:solidFill>
            <a:prstDash val="solid"/>
          </a:ln>
        </p:spPr>
        <p:txBody>
          <a:bodyPr/>
          <a:lstStyle/>
          <a:p>
            <a:endParaRPr lang="en-US"/>
          </a:p>
        </p:txBody>
      </p:sp>
      <p:sp>
        <p:nvSpPr>
          <p:cNvPr id="20" name="Text 18"/>
          <p:cNvSpPr/>
          <p:nvPr/>
        </p:nvSpPr>
        <p:spPr>
          <a:xfrm>
            <a:off x="3035808" y="2167128"/>
            <a:ext cx="389534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server acts with its own high privilege on behalf of a low-privilege user</a:t>
            </a:r>
            <a:endParaRPr lang="en-US" sz="1050" dirty="0"/>
          </a:p>
        </p:txBody>
      </p:sp>
      <p:sp>
        <p:nvSpPr>
          <p:cNvPr id="21" name="Shape 19"/>
          <p:cNvSpPr/>
          <p:nvPr/>
        </p:nvSpPr>
        <p:spPr>
          <a:xfrm>
            <a:off x="7040880" y="2167128"/>
            <a:ext cx="4480560" cy="548640"/>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7150608" y="2167128"/>
            <a:ext cx="426110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Propagate caller identity; never act on a shared service account</a:t>
            </a:r>
            <a:endParaRPr lang="en-US" sz="1050" dirty="0"/>
          </a:p>
        </p:txBody>
      </p:sp>
      <p:sp>
        <p:nvSpPr>
          <p:cNvPr id="23" name="Shape 21"/>
          <p:cNvSpPr/>
          <p:nvPr/>
        </p:nvSpPr>
        <p:spPr>
          <a:xfrm>
            <a:off x="640080" y="2715768"/>
            <a:ext cx="2286000" cy="548640"/>
          </a:xfrm>
          <a:prstGeom prst="rect">
            <a:avLst/>
          </a:prstGeom>
          <a:solidFill>
            <a:srgbClr val="FFFFFF"/>
          </a:solidFill>
          <a:ln w="9525">
            <a:solidFill>
              <a:srgbClr val="E3EBF0"/>
            </a:solidFill>
            <a:prstDash val="solid"/>
          </a:ln>
        </p:spPr>
        <p:txBody>
          <a:bodyPr/>
          <a:lstStyle/>
          <a:p>
            <a:endParaRPr lang="en-US"/>
          </a:p>
        </p:txBody>
      </p:sp>
      <p:sp>
        <p:nvSpPr>
          <p:cNvPr id="24" name="Text 22"/>
          <p:cNvSpPr/>
          <p:nvPr/>
        </p:nvSpPr>
        <p:spPr>
          <a:xfrm>
            <a:off x="749808" y="2715768"/>
            <a:ext cx="206654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Injected tool invocation</a:t>
            </a:r>
            <a:endParaRPr lang="en-US" sz="1050" dirty="0"/>
          </a:p>
        </p:txBody>
      </p:sp>
      <p:sp>
        <p:nvSpPr>
          <p:cNvPr id="25" name="Shape 23"/>
          <p:cNvSpPr/>
          <p:nvPr/>
        </p:nvSpPr>
        <p:spPr>
          <a:xfrm>
            <a:off x="2926080" y="2715768"/>
            <a:ext cx="4114800" cy="548640"/>
          </a:xfrm>
          <a:prstGeom prst="rect">
            <a:avLst/>
          </a:prstGeom>
          <a:solidFill>
            <a:srgbClr val="FFFFFF"/>
          </a:solidFill>
          <a:ln w="9525">
            <a:solidFill>
              <a:srgbClr val="E3EBF0"/>
            </a:solidFill>
            <a:prstDash val="solid"/>
          </a:ln>
        </p:spPr>
        <p:txBody>
          <a:bodyPr/>
          <a:lstStyle/>
          <a:p>
            <a:endParaRPr lang="en-US"/>
          </a:p>
        </p:txBody>
      </p:sp>
      <p:sp>
        <p:nvSpPr>
          <p:cNvPr id="26" name="Text 24"/>
          <p:cNvSpPr/>
          <p:nvPr/>
        </p:nvSpPr>
        <p:spPr>
          <a:xfrm>
            <a:off x="3035808" y="2715768"/>
            <a:ext cx="389534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Retrieved content contains text that induces a tool call</a:t>
            </a:r>
            <a:endParaRPr lang="en-US" sz="1050" dirty="0"/>
          </a:p>
        </p:txBody>
      </p:sp>
      <p:sp>
        <p:nvSpPr>
          <p:cNvPr id="27" name="Shape 25"/>
          <p:cNvSpPr/>
          <p:nvPr/>
        </p:nvSpPr>
        <p:spPr>
          <a:xfrm>
            <a:off x="7040880" y="2715768"/>
            <a:ext cx="4480560" cy="548640"/>
          </a:xfrm>
          <a:prstGeom prst="rect">
            <a:avLst/>
          </a:prstGeom>
          <a:solidFill>
            <a:srgbClr val="FFFFFF"/>
          </a:solidFill>
          <a:ln w="9525">
            <a:solidFill>
              <a:srgbClr val="E3EBF0"/>
            </a:solidFill>
            <a:prstDash val="solid"/>
          </a:ln>
        </p:spPr>
        <p:txBody>
          <a:bodyPr/>
          <a:lstStyle/>
          <a:p>
            <a:endParaRPr lang="en-US"/>
          </a:p>
        </p:txBody>
      </p:sp>
      <p:sp>
        <p:nvSpPr>
          <p:cNvPr id="28" name="Text 26"/>
          <p:cNvSpPr/>
          <p:nvPr/>
        </p:nvSpPr>
        <p:spPr>
          <a:xfrm>
            <a:off x="7150608" y="2715768"/>
            <a:ext cx="426110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Tool authorisation never derives from content; only from caller identity</a:t>
            </a:r>
            <a:endParaRPr lang="en-US" sz="1050" dirty="0"/>
          </a:p>
        </p:txBody>
      </p:sp>
      <p:sp>
        <p:nvSpPr>
          <p:cNvPr id="29" name="Shape 27"/>
          <p:cNvSpPr/>
          <p:nvPr/>
        </p:nvSpPr>
        <p:spPr>
          <a:xfrm>
            <a:off x="640080" y="3264408"/>
            <a:ext cx="2286000" cy="548640"/>
          </a:xfrm>
          <a:prstGeom prst="rect">
            <a:avLst/>
          </a:prstGeom>
          <a:solidFill>
            <a:srgbClr val="F5F9FB"/>
          </a:solidFill>
          <a:ln w="9525">
            <a:solidFill>
              <a:srgbClr val="E3EBF0"/>
            </a:solidFill>
            <a:prstDash val="solid"/>
          </a:ln>
        </p:spPr>
        <p:txBody>
          <a:bodyPr/>
          <a:lstStyle/>
          <a:p>
            <a:endParaRPr lang="en-US"/>
          </a:p>
        </p:txBody>
      </p:sp>
      <p:sp>
        <p:nvSpPr>
          <p:cNvPr id="30" name="Text 28"/>
          <p:cNvSpPr/>
          <p:nvPr/>
        </p:nvSpPr>
        <p:spPr>
          <a:xfrm>
            <a:off x="749808" y="3264408"/>
            <a:ext cx="206654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Untrusted server</a:t>
            </a:r>
            <a:endParaRPr lang="en-US" sz="1050" dirty="0"/>
          </a:p>
        </p:txBody>
      </p:sp>
      <p:sp>
        <p:nvSpPr>
          <p:cNvPr id="31" name="Shape 29"/>
          <p:cNvSpPr/>
          <p:nvPr/>
        </p:nvSpPr>
        <p:spPr>
          <a:xfrm>
            <a:off x="2926080" y="3264408"/>
            <a:ext cx="4114800" cy="548640"/>
          </a:xfrm>
          <a:prstGeom prst="rect">
            <a:avLst/>
          </a:prstGeom>
          <a:solidFill>
            <a:srgbClr val="F5F9FB"/>
          </a:solidFill>
          <a:ln w="9525">
            <a:solidFill>
              <a:srgbClr val="E3EBF0"/>
            </a:solidFill>
            <a:prstDash val="solid"/>
          </a:ln>
        </p:spPr>
        <p:txBody>
          <a:bodyPr/>
          <a:lstStyle/>
          <a:p>
            <a:endParaRPr lang="en-US"/>
          </a:p>
        </p:txBody>
      </p:sp>
      <p:sp>
        <p:nvSpPr>
          <p:cNvPr id="32" name="Text 30"/>
          <p:cNvSpPr/>
          <p:nvPr/>
        </p:nvSpPr>
        <p:spPr>
          <a:xfrm>
            <a:off x="3035808" y="3264408"/>
            <a:ext cx="389534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 server is added without review and receives sensitive arguments</a:t>
            </a:r>
            <a:endParaRPr lang="en-US" sz="1050" dirty="0"/>
          </a:p>
        </p:txBody>
      </p:sp>
      <p:sp>
        <p:nvSpPr>
          <p:cNvPr id="33" name="Shape 31"/>
          <p:cNvSpPr/>
          <p:nvPr/>
        </p:nvSpPr>
        <p:spPr>
          <a:xfrm>
            <a:off x="7040880" y="3264408"/>
            <a:ext cx="4480560" cy="548640"/>
          </a:xfrm>
          <a:prstGeom prst="rect">
            <a:avLst/>
          </a:prstGeom>
          <a:solidFill>
            <a:srgbClr val="F5F9FB"/>
          </a:solidFill>
          <a:ln w="9525">
            <a:solidFill>
              <a:srgbClr val="E3EBF0"/>
            </a:solidFill>
            <a:prstDash val="solid"/>
          </a:ln>
        </p:spPr>
        <p:txBody>
          <a:bodyPr/>
          <a:lstStyle/>
          <a:p>
            <a:endParaRPr lang="en-US"/>
          </a:p>
        </p:txBody>
      </p:sp>
      <p:sp>
        <p:nvSpPr>
          <p:cNvPr id="34" name="Text 32"/>
          <p:cNvSpPr/>
          <p:nvPr/>
        </p:nvSpPr>
        <p:spPr>
          <a:xfrm>
            <a:off x="7150608" y="3264408"/>
            <a:ext cx="426110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Registry of approved servers; review before connection; no arbitrary endpoints</a:t>
            </a:r>
            <a:endParaRPr lang="en-US" sz="1050" dirty="0"/>
          </a:p>
        </p:txBody>
      </p:sp>
      <p:sp>
        <p:nvSpPr>
          <p:cNvPr id="35" name="Shape 33"/>
          <p:cNvSpPr/>
          <p:nvPr/>
        </p:nvSpPr>
        <p:spPr>
          <a:xfrm>
            <a:off x="640080" y="3813048"/>
            <a:ext cx="2286000" cy="548640"/>
          </a:xfrm>
          <a:prstGeom prst="rect">
            <a:avLst/>
          </a:prstGeom>
          <a:solidFill>
            <a:srgbClr val="FFFFFF"/>
          </a:solidFill>
          <a:ln w="9525">
            <a:solidFill>
              <a:srgbClr val="E3EBF0"/>
            </a:solidFill>
            <a:prstDash val="solid"/>
          </a:ln>
        </p:spPr>
        <p:txBody>
          <a:bodyPr/>
          <a:lstStyle/>
          <a:p>
            <a:endParaRPr lang="en-US"/>
          </a:p>
        </p:txBody>
      </p:sp>
      <p:sp>
        <p:nvSpPr>
          <p:cNvPr id="36" name="Text 34"/>
          <p:cNvSpPr/>
          <p:nvPr/>
        </p:nvSpPr>
        <p:spPr>
          <a:xfrm>
            <a:off x="749808" y="3813048"/>
            <a:ext cx="206654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Argument injection</a:t>
            </a:r>
            <a:endParaRPr lang="en-US" sz="1050" dirty="0"/>
          </a:p>
        </p:txBody>
      </p:sp>
      <p:sp>
        <p:nvSpPr>
          <p:cNvPr id="37" name="Shape 35"/>
          <p:cNvSpPr/>
          <p:nvPr/>
        </p:nvSpPr>
        <p:spPr>
          <a:xfrm>
            <a:off x="2926080" y="3813048"/>
            <a:ext cx="4114800" cy="548640"/>
          </a:xfrm>
          <a:prstGeom prst="rect">
            <a:avLst/>
          </a:prstGeom>
          <a:solidFill>
            <a:srgbClr val="FFFFFF"/>
          </a:solidFill>
          <a:ln w="9525">
            <a:solidFill>
              <a:srgbClr val="E3EBF0"/>
            </a:solidFill>
            <a:prstDash val="solid"/>
          </a:ln>
        </p:spPr>
        <p:txBody>
          <a:bodyPr/>
          <a:lstStyle/>
          <a:p>
            <a:endParaRPr lang="en-US"/>
          </a:p>
        </p:txBody>
      </p:sp>
      <p:sp>
        <p:nvSpPr>
          <p:cNvPr id="38" name="Text 36"/>
          <p:cNvSpPr/>
          <p:nvPr/>
        </p:nvSpPr>
        <p:spPr>
          <a:xfrm>
            <a:off x="3035808" y="3813048"/>
            <a:ext cx="389534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Model-generated arguments used unsanitised in a downstream query</a:t>
            </a:r>
            <a:endParaRPr lang="en-US" sz="1050" dirty="0"/>
          </a:p>
        </p:txBody>
      </p:sp>
      <p:sp>
        <p:nvSpPr>
          <p:cNvPr id="39" name="Shape 37"/>
          <p:cNvSpPr/>
          <p:nvPr/>
        </p:nvSpPr>
        <p:spPr>
          <a:xfrm>
            <a:off x="7040880" y="3813048"/>
            <a:ext cx="4480560" cy="548640"/>
          </a:xfrm>
          <a:prstGeom prst="rect">
            <a:avLst/>
          </a:prstGeom>
          <a:solidFill>
            <a:srgbClr val="FFFFFF"/>
          </a:solidFill>
          <a:ln w="9525">
            <a:solidFill>
              <a:srgbClr val="E3EBF0"/>
            </a:solidFill>
            <a:prstDash val="solid"/>
          </a:ln>
        </p:spPr>
        <p:txBody>
          <a:bodyPr/>
          <a:lstStyle/>
          <a:p>
            <a:endParaRPr lang="en-US"/>
          </a:p>
        </p:txBody>
      </p:sp>
      <p:sp>
        <p:nvSpPr>
          <p:cNvPr id="40" name="Text 38"/>
          <p:cNvSpPr/>
          <p:nvPr/>
        </p:nvSpPr>
        <p:spPr>
          <a:xfrm>
            <a:off x="7150608" y="3813048"/>
            <a:ext cx="426110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server validates and parameterises its own inputs</a:t>
            </a:r>
            <a:endParaRPr lang="en-US" sz="1050" dirty="0"/>
          </a:p>
        </p:txBody>
      </p:sp>
      <p:sp>
        <p:nvSpPr>
          <p:cNvPr id="41" name="Shape 39"/>
          <p:cNvSpPr/>
          <p:nvPr/>
        </p:nvSpPr>
        <p:spPr>
          <a:xfrm>
            <a:off x="640080" y="4361688"/>
            <a:ext cx="2286000" cy="548640"/>
          </a:xfrm>
          <a:prstGeom prst="rect">
            <a:avLst/>
          </a:prstGeom>
          <a:solidFill>
            <a:srgbClr val="F5F9FB"/>
          </a:solidFill>
          <a:ln w="9525">
            <a:solidFill>
              <a:srgbClr val="E3EBF0"/>
            </a:solidFill>
            <a:prstDash val="solid"/>
          </a:ln>
        </p:spPr>
        <p:txBody>
          <a:bodyPr/>
          <a:lstStyle/>
          <a:p>
            <a:endParaRPr lang="en-US"/>
          </a:p>
        </p:txBody>
      </p:sp>
      <p:sp>
        <p:nvSpPr>
          <p:cNvPr id="42" name="Text 40"/>
          <p:cNvSpPr/>
          <p:nvPr/>
        </p:nvSpPr>
        <p:spPr>
          <a:xfrm>
            <a:off x="749808" y="4361688"/>
            <a:ext cx="206654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Silent data egress</a:t>
            </a:r>
            <a:endParaRPr lang="en-US" sz="1050" dirty="0"/>
          </a:p>
        </p:txBody>
      </p:sp>
      <p:sp>
        <p:nvSpPr>
          <p:cNvPr id="43" name="Shape 41"/>
          <p:cNvSpPr/>
          <p:nvPr/>
        </p:nvSpPr>
        <p:spPr>
          <a:xfrm>
            <a:off x="2926080" y="4361688"/>
            <a:ext cx="4114800" cy="548640"/>
          </a:xfrm>
          <a:prstGeom prst="rect">
            <a:avLst/>
          </a:prstGeom>
          <a:solidFill>
            <a:srgbClr val="F5F9FB"/>
          </a:solidFill>
          <a:ln w="9525">
            <a:solidFill>
              <a:srgbClr val="E3EBF0"/>
            </a:solidFill>
            <a:prstDash val="solid"/>
          </a:ln>
        </p:spPr>
        <p:txBody>
          <a:bodyPr/>
          <a:lstStyle/>
          <a:p>
            <a:endParaRPr lang="en-US"/>
          </a:p>
        </p:txBody>
      </p:sp>
      <p:sp>
        <p:nvSpPr>
          <p:cNvPr id="44" name="Text 42"/>
          <p:cNvSpPr/>
          <p:nvPr/>
        </p:nvSpPr>
        <p:spPr>
          <a:xfrm>
            <a:off x="3035808" y="4361688"/>
            <a:ext cx="389534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 tool sends internal content to an external service</a:t>
            </a:r>
            <a:endParaRPr lang="en-US" sz="1050" dirty="0"/>
          </a:p>
        </p:txBody>
      </p:sp>
      <p:sp>
        <p:nvSpPr>
          <p:cNvPr id="45" name="Shape 43"/>
          <p:cNvSpPr/>
          <p:nvPr/>
        </p:nvSpPr>
        <p:spPr>
          <a:xfrm>
            <a:off x="7040880" y="4361688"/>
            <a:ext cx="4480560" cy="548640"/>
          </a:xfrm>
          <a:prstGeom prst="rect">
            <a:avLst/>
          </a:prstGeom>
          <a:solidFill>
            <a:srgbClr val="F5F9FB"/>
          </a:solidFill>
          <a:ln w="9525">
            <a:solidFill>
              <a:srgbClr val="E3EBF0"/>
            </a:solidFill>
            <a:prstDash val="solid"/>
          </a:ln>
        </p:spPr>
        <p:txBody>
          <a:bodyPr/>
          <a:lstStyle/>
          <a:p>
            <a:endParaRPr lang="en-US"/>
          </a:p>
        </p:txBody>
      </p:sp>
      <p:sp>
        <p:nvSpPr>
          <p:cNvPr id="46" name="Text 44"/>
          <p:cNvSpPr/>
          <p:nvPr/>
        </p:nvSpPr>
        <p:spPr>
          <a:xfrm>
            <a:off x="7150608" y="4361688"/>
            <a:ext cx="426110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Explicit egress review per tool; network controls; logging of outbound calls</a:t>
            </a:r>
            <a:endParaRPr lang="en-US" sz="1050" dirty="0"/>
          </a:p>
        </p:txBody>
      </p:sp>
      <p:sp>
        <p:nvSpPr>
          <p:cNvPr id="47" name="Text 45"/>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C1440E"/>
                </a:solidFill>
                <a:latin typeface="Calibri" pitchFamily="34" charset="0"/>
                <a:ea typeface="Calibri" pitchFamily="34" charset="-122"/>
                <a:cs typeface="Calibri" pitchFamily="34" charset="-120"/>
              </a:rPr>
              <a:t>The confused deputy problem is the one most easily introduced and hardest to notice. Identity must flow end to end.</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HANDS-ON · 45 MINUTES</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Lab 4 — Design an MCP integration plan</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30</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500" dirty="0">
                <a:solidFill>
                  <a:srgbClr val="1A2430"/>
                </a:solidFill>
                <a:latin typeface="Calibri" pitchFamily="34" charset="0"/>
                <a:ea typeface="Calibri" pitchFamily="34" charset="-122"/>
                <a:cs typeface="Calibri" pitchFamily="34" charset="-120"/>
              </a:rPr>
              <a:t>A knowledge assistant that retrieves technical documents, queries a service-ticket store and calls a diagnostic lookup. Define the contracts and boundaries.</a:t>
            </a:r>
            <a:endParaRPr lang="en-US" sz="1500" dirty="0"/>
          </a:p>
        </p:txBody>
      </p:sp>
      <p:sp>
        <p:nvSpPr>
          <p:cNvPr id="6" name="Shape 4"/>
          <p:cNvSpPr/>
          <p:nvPr/>
        </p:nvSpPr>
        <p:spPr>
          <a:xfrm>
            <a:off x="640080" y="1783080"/>
            <a:ext cx="3474720" cy="384048"/>
          </a:xfrm>
          <a:prstGeom prst="rect">
            <a:avLst/>
          </a:prstGeom>
          <a:solidFill>
            <a:srgbClr val="21295C"/>
          </a:solidFill>
          <a:ln/>
        </p:spPr>
        <p:txBody>
          <a:bodyPr/>
          <a:lstStyle/>
          <a:p>
            <a:endParaRPr lang="en-US"/>
          </a:p>
        </p:txBody>
      </p:sp>
      <p:sp>
        <p:nvSpPr>
          <p:cNvPr id="7" name="Text 5"/>
          <p:cNvSpPr/>
          <p:nvPr/>
        </p:nvSpPr>
        <p:spPr>
          <a:xfrm>
            <a:off x="749808" y="1783080"/>
            <a:ext cx="325526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For each of the three capabilities</a:t>
            </a:r>
            <a:endParaRPr lang="en-US" sz="1100" dirty="0"/>
          </a:p>
        </p:txBody>
      </p:sp>
      <p:sp>
        <p:nvSpPr>
          <p:cNvPr id="8" name="Shape 6"/>
          <p:cNvSpPr/>
          <p:nvPr/>
        </p:nvSpPr>
        <p:spPr>
          <a:xfrm>
            <a:off x="4114800" y="1783080"/>
            <a:ext cx="7406640" cy="384048"/>
          </a:xfrm>
          <a:prstGeom prst="rect">
            <a:avLst/>
          </a:prstGeom>
          <a:solidFill>
            <a:srgbClr val="21295C"/>
          </a:solidFill>
          <a:ln/>
        </p:spPr>
        <p:txBody>
          <a:bodyPr/>
          <a:lstStyle/>
          <a:p>
            <a:endParaRPr lang="en-US"/>
          </a:p>
        </p:txBody>
      </p:sp>
      <p:sp>
        <p:nvSpPr>
          <p:cNvPr id="9" name="Text 7"/>
          <p:cNvSpPr/>
          <p:nvPr/>
        </p:nvSpPr>
        <p:spPr>
          <a:xfrm>
            <a:off x="4224528" y="1783080"/>
            <a:ext cx="71871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Define</a:t>
            </a:r>
            <a:endParaRPr lang="en-US" sz="1100" dirty="0"/>
          </a:p>
        </p:txBody>
      </p:sp>
      <p:sp>
        <p:nvSpPr>
          <p:cNvPr id="10" name="Shape 8"/>
          <p:cNvSpPr/>
          <p:nvPr/>
        </p:nvSpPr>
        <p:spPr>
          <a:xfrm>
            <a:off x="640080" y="2167128"/>
            <a:ext cx="3474720" cy="621792"/>
          </a:xfrm>
          <a:prstGeom prst="rect">
            <a:avLst/>
          </a:prstGeom>
          <a:solidFill>
            <a:srgbClr val="FFFFFF"/>
          </a:solidFill>
          <a:ln w="9525">
            <a:solidFill>
              <a:srgbClr val="E3EBF0"/>
            </a:solidFill>
            <a:prstDash val="solid"/>
          </a:ln>
        </p:spPr>
        <p:txBody>
          <a:bodyPr/>
          <a:lstStyle/>
          <a:p>
            <a:endParaRPr lang="en-US"/>
          </a:p>
        </p:txBody>
      </p:sp>
      <p:sp>
        <p:nvSpPr>
          <p:cNvPr id="11" name="Text 9"/>
          <p:cNvSpPr/>
          <p:nvPr/>
        </p:nvSpPr>
        <p:spPr>
          <a:xfrm>
            <a:off x="749808" y="2167128"/>
            <a:ext cx="3255264" cy="62179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Tool contract</a:t>
            </a:r>
            <a:endParaRPr lang="en-US" sz="1050" dirty="0"/>
          </a:p>
        </p:txBody>
      </p:sp>
      <p:sp>
        <p:nvSpPr>
          <p:cNvPr id="12" name="Shape 10"/>
          <p:cNvSpPr/>
          <p:nvPr/>
        </p:nvSpPr>
        <p:spPr>
          <a:xfrm>
            <a:off x="4114800" y="2167128"/>
            <a:ext cx="7406640" cy="621792"/>
          </a:xfrm>
          <a:prstGeom prst="rect">
            <a:avLst/>
          </a:prstGeom>
          <a:solidFill>
            <a:srgbClr val="FFFFFF"/>
          </a:solidFill>
          <a:ln w="9525">
            <a:solidFill>
              <a:srgbClr val="E3EBF0"/>
            </a:solidFill>
            <a:prstDash val="solid"/>
          </a:ln>
        </p:spPr>
        <p:txBody>
          <a:bodyPr/>
          <a:lstStyle/>
          <a:p>
            <a:endParaRPr lang="en-US"/>
          </a:p>
        </p:txBody>
      </p:sp>
      <p:sp>
        <p:nvSpPr>
          <p:cNvPr id="13" name="Text 11"/>
          <p:cNvSpPr/>
          <p:nvPr/>
        </p:nvSpPr>
        <p:spPr>
          <a:xfrm>
            <a:off x="4224528" y="2167128"/>
            <a:ext cx="7187184" cy="62179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Name, description, input schema with constraints, output schema, error semantics, two examples</a:t>
            </a:r>
            <a:endParaRPr lang="en-US" sz="1050" dirty="0"/>
          </a:p>
        </p:txBody>
      </p:sp>
      <p:sp>
        <p:nvSpPr>
          <p:cNvPr id="14" name="Shape 12"/>
          <p:cNvSpPr/>
          <p:nvPr/>
        </p:nvSpPr>
        <p:spPr>
          <a:xfrm>
            <a:off x="640080" y="2788920"/>
            <a:ext cx="3474720" cy="621792"/>
          </a:xfrm>
          <a:prstGeom prst="rect">
            <a:avLst/>
          </a:prstGeom>
          <a:solidFill>
            <a:srgbClr val="F5F9FB"/>
          </a:solidFill>
          <a:ln w="9525">
            <a:solidFill>
              <a:srgbClr val="E3EBF0"/>
            </a:solidFill>
            <a:prstDash val="solid"/>
          </a:ln>
        </p:spPr>
        <p:txBody>
          <a:bodyPr/>
          <a:lstStyle/>
          <a:p>
            <a:endParaRPr lang="en-US"/>
          </a:p>
        </p:txBody>
      </p:sp>
      <p:sp>
        <p:nvSpPr>
          <p:cNvPr id="15" name="Text 13"/>
          <p:cNvSpPr/>
          <p:nvPr/>
        </p:nvSpPr>
        <p:spPr>
          <a:xfrm>
            <a:off x="749808" y="2788920"/>
            <a:ext cx="3255264" cy="62179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Authorisation boundary</a:t>
            </a:r>
            <a:endParaRPr lang="en-US" sz="1050" dirty="0"/>
          </a:p>
        </p:txBody>
      </p:sp>
      <p:sp>
        <p:nvSpPr>
          <p:cNvPr id="16" name="Shape 14"/>
          <p:cNvSpPr/>
          <p:nvPr/>
        </p:nvSpPr>
        <p:spPr>
          <a:xfrm>
            <a:off x="4114800" y="2788920"/>
            <a:ext cx="7406640" cy="621792"/>
          </a:xfrm>
          <a:prstGeom prst="rect">
            <a:avLst/>
          </a:prstGeom>
          <a:solidFill>
            <a:srgbClr val="F5F9FB"/>
          </a:solidFill>
          <a:ln w="9525">
            <a:solidFill>
              <a:srgbClr val="E3EBF0"/>
            </a:solidFill>
            <a:prstDash val="solid"/>
          </a:ln>
        </p:spPr>
        <p:txBody>
          <a:bodyPr/>
          <a:lstStyle/>
          <a:p>
            <a:endParaRPr lang="en-US"/>
          </a:p>
        </p:txBody>
      </p:sp>
      <p:sp>
        <p:nvSpPr>
          <p:cNvPr id="17" name="Text 15"/>
          <p:cNvSpPr/>
          <p:nvPr/>
        </p:nvSpPr>
        <p:spPr>
          <a:xfrm>
            <a:off x="4224528" y="2788920"/>
            <a:ext cx="7187184" cy="62179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Which roles may invoke it; what the server checks independently of the client</a:t>
            </a:r>
            <a:endParaRPr lang="en-US" sz="1050" dirty="0"/>
          </a:p>
        </p:txBody>
      </p:sp>
      <p:sp>
        <p:nvSpPr>
          <p:cNvPr id="18" name="Shape 16"/>
          <p:cNvSpPr/>
          <p:nvPr/>
        </p:nvSpPr>
        <p:spPr>
          <a:xfrm>
            <a:off x="640080" y="3410712"/>
            <a:ext cx="3474720" cy="621792"/>
          </a:xfrm>
          <a:prstGeom prst="rect">
            <a:avLst/>
          </a:prstGeom>
          <a:solidFill>
            <a:srgbClr val="FFFFFF"/>
          </a:solidFill>
          <a:ln w="9525">
            <a:solidFill>
              <a:srgbClr val="E3EBF0"/>
            </a:solidFill>
            <a:prstDash val="solid"/>
          </a:ln>
        </p:spPr>
        <p:txBody>
          <a:bodyPr/>
          <a:lstStyle/>
          <a:p>
            <a:endParaRPr lang="en-US"/>
          </a:p>
        </p:txBody>
      </p:sp>
      <p:sp>
        <p:nvSpPr>
          <p:cNvPr id="19" name="Text 17"/>
          <p:cNvSpPr/>
          <p:nvPr/>
        </p:nvSpPr>
        <p:spPr>
          <a:xfrm>
            <a:off x="749808" y="3410712"/>
            <a:ext cx="3255264" cy="62179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Failure behaviour</a:t>
            </a:r>
            <a:endParaRPr lang="en-US" sz="1050" dirty="0"/>
          </a:p>
        </p:txBody>
      </p:sp>
      <p:sp>
        <p:nvSpPr>
          <p:cNvPr id="20" name="Shape 18"/>
          <p:cNvSpPr/>
          <p:nvPr/>
        </p:nvSpPr>
        <p:spPr>
          <a:xfrm>
            <a:off x="4114800" y="3410712"/>
            <a:ext cx="7406640" cy="621792"/>
          </a:xfrm>
          <a:prstGeom prst="rect">
            <a:avLst/>
          </a:prstGeom>
          <a:solidFill>
            <a:srgbClr val="FFFFFF"/>
          </a:solidFill>
          <a:ln w="9525">
            <a:solidFill>
              <a:srgbClr val="E3EBF0"/>
            </a:solidFill>
            <a:prstDash val="solid"/>
          </a:ln>
        </p:spPr>
        <p:txBody>
          <a:bodyPr/>
          <a:lstStyle/>
          <a:p>
            <a:endParaRPr lang="en-US"/>
          </a:p>
        </p:txBody>
      </p:sp>
      <p:sp>
        <p:nvSpPr>
          <p:cNvPr id="21" name="Text 19"/>
          <p:cNvSpPr/>
          <p:nvPr/>
        </p:nvSpPr>
        <p:spPr>
          <a:xfrm>
            <a:off x="4224528" y="3410712"/>
            <a:ext cx="7187184" cy="62179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is returned on not-found, unauthorised, timeout and downstream unavailability</a:t>
            </a:r>
            <a:endParaRPr lang="en-US" sz="1050" dirty="0"/>
          </a:p>
        </p:txBody>
      </p:sp>
      <p:sp>
        <p:nvSpPr>
          <p:cNvPr id="22" name="Shape 20"/>
          <p:cNvSpPr/>
          <p:nvPr/>
        </p:nvSpPr>
        <p:spPr>
          <a:xfrm>
            <a:off x="640080" y="4032504"/>
            <a:ext cx="3474720" cy="621792"/>
          </a:xfrm>
          <a:prstGeom prst="rect">
            <a:avLst/>
          </a:prstGeom>
          <a:solidFill>
            <a:srgbClr val="F5F9FB"/>
          </a:solidFill>
          <a:ln w="9525">
            <a:solidFill>
              <a:srgbClr val="E3EBF0"/>
            </a:solidFill>
            <a:prstDash val="solid"/>
          </a:ln>
        </p:spPr>
        <p:txBody>
          <a:bodyPr/>
          <a:lstStyle/>
          <a:p>
            <a:endParaRPr lang="en-US"/>
          </a:p>
        </p:txBody>
      </p:sp>
      <p:sp>
        <p:nvSpPr>
          <p:cNvPr id="23" name="Text 21"/>
          <p:cNvSpPr/>
          <p:nvPr/>
        </p:nvSpPr>
        <p:spPr>
          <a:xfrm>
            <a:off x="749808" y="4032504"/>
            <a:ext cx="3255264" cy="62179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Logging</a:t>
            </a:r>
            <a:endParaRPr lang="en-US" sz="1050" dirty="0"/>
          </a:p>
        </p:txBody>
      </p:sp>
      <p:sp>
        <p:nvSpPr>
          <p:cNvPr id="24" name="Shape 22"/>
          <p:cNvSpPr/>
          <p:nvPr/>
        </p:nvSpPr>
        <p:spPr>
          <a:xfrm>
            <a:off x="4114800" y="4032504"/>
            <a:ext cx="7406640" cy="621792"/>
          </a:xfrm>
          <a:prstGeom prst="rect">
            <a:avLst/>
          </a:prstGeom>
          <a:solidFill>
            <a:srgbClr val="F5F9FB"/>
          </a:solidFill>
          <a:ln w="9525">
            <a:solidFill>
              <a:srgbClr val="E3EBF0"/>
            </a:solidFill>
            <a:prstDash val="solid"/>
          </a:ln>
        </p:spPr>
        <p:txBody>
          <a:bodyPr/>
          <a:lstStyle/>
          <a:p>
            <a:endParaRPr lang="en-US"/>
          </a:p>
        </p:txBody>
      </p:sp>
      <p:sp>
        <p:nvSpPr>
          <p:cNvPr id="25" name="Text 23"/>
          <p:cNvSpPr/>
          <p:nvPr/>
        </p:nvSpPr>
        <p:spPr>
          <a:xfrm>
            <a:off x="4224528" y="4032504"/>
            <a:ext cx="7187184" cy="62179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is recorded per invocation, where it goes, and how long it is retained</a:t>
            </a:r>
            <a:endParaRPr lang="en-US" sz="1050" dirty="0"/>
          </a:p>
        </p:txBody>
      </p:sp>
      <p:sp>
        <p:nvSpPr>
          <p:cNvPr id="26" name="Shape 24"/>
          <p:cNvSpPr/>
          <p:nvPr/>
        </p:nvSpPr>
        <p:spPr>
          <a:xfrm>
            <a:off x="640080" y="4654296"/>
            <a:ext cx="3474720" cy="621792"/>
          </a:xfrm>
          <a:prstGeom prst="rect">
            <a:avLst/>
          </a:prstGeom>
          <a:solidFill>
            <a:srgbClr val="FFFFFF"/>
          </a:solidFill>
          <a:ln w="9525">
            <a:solidFill>
              <a:srgbClr val="E3EBF0"/>
            </a:solidFill>
            <a:prstDash val="solid"/>
          </a:ln>
        </p:spPr>
        <p:txBody>
          <a:bodyPr/>
          <a:lstStyle/>
          <a:p>
            <a:endParaRPr lang="en-US"/>
          </a:p>
        </p:txBody>
      </p:sp>
      <p:sp>
        <p:nvSpPr>
          <p:cNvPr id="27" name="Text 25"/>
          <p:cNvSpPr/>
          <p:nvPr/>
        </p:nvSpPr>
        <p:spPr>
          <a:xfrm>
            <a:off x="749808" y="4654296"/>
            <a:ext cx="3255264" cy="62179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Egress review</a:t>
            </a:r>
            <a:endParaRPr lang="en-US" sz="1050" dirty="0"/>
          </a:p>
        </p:txBody>
      </p:sp>
      <p:sp>
        <p:nvSpPr>
          <p:cNvPr id="28" name="Shape 26"/>
          <p:cNvSpPr/>
          <p:nvPr/>
        </p:nvSpPr>
        <p:spPr>
          <a:xfrm>
            <a:off x="4114800" y="4654296"/>
            <a:ext cx="7406640" cy="621792"/>
          </a:xfrm>
          <a:prstGeom prst="rect">
            <a:avLst/>
          </a:prstGeom>
          <a:solidFill>
            <a:srgbClr val="FFFFFF"/>
          </a:solidFill>
          <a:ln w="9525">
            <a:solidFill>
              <a:srgbClr val="E3EBF0"/>
            </a:solidFill>
            <a:prstDash val="solid"/>
          </a:ln>
        </p:spPr>
        <p:txBody>
          <a:bodyPr/>
          <a:lstStyle/>
          <a:p>
            <a:endParaRPr lang="en-US"/>
          </a:p>
        </p:txBody>
      </p:sp>
      <p:sp>
        <p:nvSpPr>
          <p:cNvPr id="29" name="Text 27"/>
          <p:cNvSpPr/>
          <p:nvPr/>
        </p:nvSpPr>
        <p:spPr>
          <a:xfrm>
            <a:off x="4224528" y="4654296"/>
            <a:ext cx="7187184" cy="62179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data leaves your boundary when this tool is called, and to where</a:t>
            </a:r>
            <a:endParaRPr lang="en-US" sz="1050" dirty="0"/>
          </a:p>
        </p:txBody>
      </p:sp>
      <p:sp>
        <p:nvSpPr>
          <p:cNvPr id="30" name="Text 28"/>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C7293"/>
                </a:solidFill>
                <a:latin typeface="Calibri" pitchFamily="34" charset="0"/>
                <a:ea typeface="Calibri" pitchFamily="34" charset="-122"/>
                <a:cs typeface="Calibri" pitchFamily="34" charset="-120"/>
              </a:rPr>
              <a:t>Deliverable: three tool contracts precise enough that another team could implement the server from them without asking questions.</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22960" y="2194560"/>
            <a:ext cx="10058400" cy="365760"/>
          </a:xfrm>
          <a:prstGeom prst="rect">
            <a:avLst/>
          </a:prstGeom>
          <a:noFill/>
          <a:ln/>
        </p:spPr>
        <p:txBody>
          <a:bodyPr wrap="square" rtlCol="0" anchor="ctr"/>
          <a:lstStyle/>
          <a:p>
            <a:pPr marL="0" indent="0">
              <a:buNone/>
            </a:pPr>
            <a:r>
              <a:rPr lang="en-US" sz="1200" b="1" kern="0" spc="300" dirty="0">
                <a:solidFill>
                  <a:srgbClr val="9FD0E3"/>
                </a:solidFill>
                <a:latin typeface="Calibri" pitchFamily="34" charset="0"/>
                <a:ea typeface="Calibri" pitchFamily="34" charset="-122"/>
                <a:cs typeface="Calibri" pitchFamily="34" charset="-120"/>
              </a:rPr>
              <a:t>MODULE 5</a:t>
            </a:r>
            <a:endParaRPr lang="en-US" sz="1200" dirty="0"/>
          </a:p>
        </p:txBody>
      </p:sp>
      <p:sp>
        <p:nvSpPr>
          <p:cNvPr id="3" name="Text 1"/>
          <p:cNvSpPr/>
          <p:nvPr/>
        </p:nvSpPr>
        <p:spPr>
          <a:xfrm>
            <a:off x="822960" y="2606040"/>
            <a:ext cx="10241280" cy="10972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RAG Evaluation and Observability</a:t>
            </a:r>
            <a:endParaRPr lang="en-US" sz="3400" dirty="0"/>
          </a:p>
        </p:txBody>
      </p:sp>
      <p:sp>
        <p:nvSpPr>
          <p:cNvPr id="4" name="Text 2"/>
          <p:cNvSpPr/>
          <p:nvPr/>
        </p:nvSpPr>
        <p:spPr>
          <a:xfrm>
            <a:off x="822960" y="3794760"/>
            <a:ext cx="9692640" cy="822960"/>
          </a:xfrm>
          <a:prstGeom prst="rect">
            <a:avLst/>
          </a:prstGeom>
          <a:noFill/>
          <a:ln/>
        </p:spPr>
        <p:txBody>
          <a:bodyPr wrap="square" rtlCol="0" anchor="ctr"/>
          <a:lstStyle/>
          <a:p>
            <a:pPr marL="0" indent="0">
              <a:lnSpc>
                <a:spcPts val="2100"/>
              </a:lnSpc>
              <a:buNone/>
            </a:pPr>
            <a:r>
              <a:rPr lang="en-US" sz="1500" dirty="0">
                <a:solidFill>
                  <a:srgbClr val="D5E8F0"/>
                </a:solidFill>
                <a:latin typeface="Calibri" pitchFamily="34" charset="0"/>
                <a:ea typeface="Calibri" pitchFamily="34" charset="-122"/>
                <a:cs typeface="Calibri" pitchFamily="34" charset="-120"/>
              </a:rPr>
              <a:t>Measuring retrieval and generation separately — and seeing what the system did, not just what it returned.</a:t>
            </a:r>
            <a:endParaRPr lang="en-US" sz="1500" dirty="0"/>
          </a:p>
        </p:txBody>
      </p:sp>
      <p:sp>
        <p:nvSpPr>
          <p:cNvPr id="5" name="Text 3"/>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5 · 5.1</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The eight RAG metrics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32</a:t>
            </a:r>
            <a:endParaRPr lang="en-US" sz="1000" dirty="0"/>
          </a:p>
        </p:txBody>
      </p:sp>
      <p:sp>
        <p:nvSpPr>
          <p:cNvPr id="5" name="Shape 3"/>
          <p:cNvSpPr/>
          <p:nvPr/>
        </p:nvSpPr>
        <p:spPr>
          <a:xfrm>
            <a:off x="640080" y="1234440"/>
            <a:ext cx="2377440" cy="384048"/>
          </a:xfrm>
          <a:prstGeom prst="rect">
            <a:avLst/>
          </a:prstGeom>
          <a:solidFill>
            <a:srgbClr val="21295C"/>
          </a:solidFill>
          <a:ln/>
        </p:spPr>
        <p:txBody>
          <a:bodyPr/>
          <a:lstStyle/>
          <a:p>
            <a:endParaRPr lang="en-US"/>
          </a:p>
        </p:txBody>
      </p:sp>
      <p:sp>
        <p:nvSpPr>
          <p:cNvPr id="6" name="Text 4"/>
          <p:cNvSpPr/>
          <p:nvPr/>
        </p:nvSpPr>
        <p:spPr>
          <a:xfrm>
            <a:off x="749808" y="1234440"/>
            <a:ext cx="21579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p>
        </p:txBody>
      </p:sp>
      <p:sp>
        <p:nvSpPr>
          <p:cNvPr id="7" name="Shape 5"/>
          <p:cNvSpPr/>
          <p:nvPr/>
        </p:nvSpPr>
        <p:spPr>
          <a:xfrm>
            <a:off x="3017520" y="1234440"/>
            <a:ext cx="4480560" cy="384048"/>
          </a:xfrm>
          <a:prstGeom prst="rect">
            <a:avLst/>
          </a:prstGeom>
          <a:solidFill>
            <a:srgbClr val="21295C"/>
          </a:solidFill>
          <a:ln/>
        </p:spPr>
        <p:txBody>
          <a:bodyPr/>
          <a:lstStyle/>
          <a:p>
            <a:endParaRPr lang="en-US"/>
          </a:p>
        </p:txBody>
      </p:sp>
      <p:sp>
        <p:nvSpPr>
          <p:cNvPr id="8" name="Text 6"/>
          <p:cNvSpPr/>
          <p:nvPr/>
        </p:nvSpPr>
        <p:spPr>
          <a:xfrm>
            <a:off x="3127248" y="1234440"/>
            <a:ext cx="42611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Question it answers</a:t>
            </a:r>
            <a:endParaRPr lang="en-US" sz="1100" dirty="0"/>
          </a:p>
        </p:txBody>
      </p:sp>
      <p:sp>
        <p:nvSpPr>
          <p:cNvPr id="9" name="Shape 7"/>
          <p:cNvSpPr/>
          <p:nvPr/>
        </p:nvSpPr>
        <p:spPr>
          <a:xfrm>
            <a:off x="7498080" y="1234440"/>
            <a:ext cx="4023360" cy="384048"/>
          </a:xfrm>
          <a:prstGeom prst="rect">
            <a:avLst/>
          </a:prstGeom>
          <a:solidFill>
            <a:srgbClr val="21295C"/>
          </a:solidFill>
          <a:ln/>
        </p:spPr>
        <p:txBody>
          <a:bodyPr/>
          <a:lstStyle/>
          <a:p>
            <a:endParaRPr lang="en-US"/>
          </a:p>
        </p:txBody>
      </p:sp>
      <p:sp>
        <p:nvSpPr>
          <p:cNvPr id="10" name="Text 8"/>
          <p:cNvSpPr/>
          <p:nvPr/>
        </p:nvSpPr>
        <p:spPr>
          <a:xfrm>
            <a:off x="7607808" y="1234440"/>
            <a:ext cx="38039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Which stage it diagnoses</a:t>
            </a:r>
            <a:endParaRPr lang="en-US" sz="1100" dirty="0"/>
          </a:p>
        </p:txBody>
      </p:sp>
      <p:sp>
        <p:nvSpPr>
          <p:cNvPr id="11" name="Shape 9"/>
          <p:cNvSpPr/>
          <p:nvPr/>
        </p:nvSpPr>
        <p:spPr>
          <a:xfrm>
            <a:off x="640080" y="1618488"/>
            <a:ext cx="2377440" cy="502920"/>
          </a:xfrm>
          <a:prstGeom prst="rect">
            <a:avLst/>
          </a:prstGeom>
          <a:solidFill>
            <a:srgbClr val="FFFFFF"/>
          </a:solidFill>
          <a:ln w="9525">
            <a:solidFill>
              <a:srgbClr val="E3EBF0"/>
            </a:solidFill>
            <a:prstDash val="solid"/>
          </a:ln>
        </p:spPr>
        <p:txBody>
          <a:bodyPr/>
          <a:lstStyle/>
          <a:p>
            <a:endParaRPr lang="en-US"/>
          </a:p>
        </p:txBody>
      </p:sp>
      <p:sp>
        <p:nvSpPr>
          <p:cNvPr id="12" name="Text 10"/>
          <p:cNvSpPr/>
          <p:nvPr/>
        </p:nvSpPr>
        <p:spPr>
          <a:xfrm>
            <a:off x="749808" y="1618488"/>
            <a:ext cx="215798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Context recall</a:t>
            </a:r>
            <a:endParaRPr lang="en-US" sz="1050" dirty="0"/>
          </a:p>
        </p:txBody>
      </p:sp>
      <p:sp>
        <p:nvSpPr>
          <p:cNvPr id="13" name="Shape 11"/>
          <p:cNvSpPr/>
          <p:nvPr/>
        </p:nvSpPr>
        <p:spPr>
          <a:xfrm>
            <a:off x="3017520" y="1618488"/>
            <a:ext cx="4480560" cy="502920"/>
          </a:xfrm>
          <a:prstGeom prst="rect">
            <a:avLst/>
          </a:prstGeom>
          <a:solidFill>
            <a:srgbClr val="FFFFFF"/>
          </a:solidFill>
          <a:ln w="9525">
            <a:solidFill>
              <a:srgbClr val="E3EBF0"/>
            </a:solidFill>
            <a:prstDash val="solid"/>
          </a:ln>
        </p:spPr>
        <p:txBody>
          <a:bodyPr/>
          <a:lstStyle/>
          <a:p>
            <a:endParaRPr lang="en-US"/>
          </a:p>
        </p:txBody>
      </p:sp>
      <p:sp>
        <p:nvSpPr>
          <p:cNvPr id="14" name="Text 12"/>
          <p:cNvSpPr/>
          <p:nvPr/>
        </p:nvSpPr>
        <p:spPr>
          <a:xfrm>
            <a:off x="3127248" y="1618488"/>
            <a:ext cx="42611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Did retrieval find the passages needed to answer?</a:t>
            </a:r>
            <a:endParaRPr lang="en-US" sz="1050" dirty="0"/>
          </a:p>
        </p:txBody>
      </p:sp>
      <p:sp>
        <p:nvSpPr>
          <p:cNvPr id="15" name="Shape 13"/>
          <p:cNvSpPr/>
          <p:nvPr/>
        </p:nvSpPr>
        <p:spPr>
          <a:xfrm>
            <a:off x="7498080" y="1618488"/>
            <a:ext cx="4023360" cy="502920"/>
          </a:xfrm>
          <a:prstGeom prst="rect">
            <a:avLst/>
          </a:prstGeom>
          <a:solidFill>
            <a:srgbClr val="FFFFFF"/>
          </a:solidFill>
          <a:ln w="9525">
            <a:solidFill>
              <a:srgbClr val="E3EBF0"/>
            </a:solidFill>
            <a:prstDash val="solid"/>
          </a:ln>
        </p:spPr>
        <p:txBody>
          <a:bodyPr/>
          <a:lstStyle/>
          <a:p>
            <a:endParaRPr lang="en-US"/>
          </a:p>
        </p:txBody>
      </p:sp>
      <p:sp>
        <p:nvSpPr>
          <p:cNvPr id="16" name="Text 14"/>
          <p:cNvSpPr/>
          <p:nvPr/>
        </p:nvSpPr>
        <p:spPr>
          <a:xfrm>
            <a:off x="7607808" y="1618488"/>
            <a:ext cx="38039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Retrieval — the usual culprit</a:t>
            </a:r>
            <a:endParaRPr lang="en-US" sz="1050" dirty="0"/>
          </a:p>
        </p:txBody>
      </p:sp>
      <p:sp>
        <p:nvSpPr>
          <p:cNvPr id="17" name="Shape 15"/>
          <p:cNvSpPr/>
          <p:nvPr/>
        </p:nvSpPr>
        <p:spPr>
          <a:xfrm>
            <a:off x="640080" y="2121408"/>
            <a:ext cx="2377440" cy="502920"/>
          </a:xfrm>
          <a:prstGeom prst="rect">
            <a:avLst/>
          </a:prstGeom>
          <a:solidFill>
            <a:srgbClr val="F5F9FB"/>
          </a:solidFill>
          <a:ln w="9525">
            <a:solidFill>
              <a:srgbClr val="E3EBF0"/>
            </a:solidFill>
            <a:prstDash val="solid"/>
          </a:ln>
        </p:spPr>
        <p:txBody>
          <a:bodyPr/>
          <a:lstStyle/>
          <a:p>
            <a:endParaRPr lang="en-US"/>
          </a:p>
        </p:txBody>
      </p:sp>
      <p:sp>
        <p:nvSpPr>
          <p:cNvPr id="18" name="Text 16"/>
          <p:cNvSpPr/>
          <p:nvPr/>
        </p:nvSpPr>
        <p:spPr>
          <a:xfrm>
            <a:off x="749808" y="2121408"/>
            <a:ext cx="215798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Context precision</a:t>
            </a:r>
            <a:endParaRPr lang="en-US" sz="1050" dirty="0"/>
          </a:p>
        </p:txBody>
      </p:sp>
      <p:sp>
        <p:nvSpPr>
          <p:cNvPr id="19" name="Shape 17"/>
          <p:cNvSpPr/>
          <p:nvPr/>
        </p:nvSpPr>
        <p:spPr>
          <a:xfrm>
            <a:off x="3017520" y="2121408"/>
            <a:ext cx="4480560" cy="502920"/>
          </a:xfrm>
          <a:prstGeom prst="rect">
            <a:avLst/>
          </a:prstGeom>
          <a:solidFill>
            <a:srgbClr val="F5F9FB"/>
          </a:solidFill>
          <a:ln w="9525">
            <a:solidFill>
              <a:srgbClr val="E3EBF0"/>
            </a:solidFill>
            <a:prstDash val="solid"/>
          </a:ln>
        </p:spPr>
        <p:txBody>
          <a:bodyPr/>
          <a:lstStyle/>
          <a:p>
            <a:endParaRPr lang="en-US"/>
          </a:p>
        </p:txBody>
      </p:sp>
      <p:sp>
        <p:nvSpPr>
          <p:cNvPr id="20" name="Text 18"/>
          <p:cNvSpPr/>
          <p:nvPr/>
        </p:nvSpPr>
        <p:spPr>
          <a:xfrm>
            <a:off x="3127248" y="2121408"/>
            <a:ext cx="42611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Of what was retrieved, how much was relevant?</a:t>
            </a:r>
            <a:endParaRPr lang="en-US" sz="1050" dirty="0"/>
          </a:p>
        </p:txBody>
      </p:sp>
      <p:sp>
        <p:nvSpPr>
          <p:cNvPr id="21" name="Shape 19"/>
          <p:cNvSpPr/>
          <p:nvPr/>
        </p:nvSpPr>
        <p:spPr>
          <a:xfrm>
            <a:off x="7498080" y="2121408"/>
            <a:ext cx="4023360" cy="502920"/>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7607808" y="2121408"/>
            <a:ext cx="38039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Retrieval — drives cost and lost-in-the-middle</a:t>
            </a:r>
            <a:endParaRPr lang="en-US" sz="1050" dirty="0"/>
          </a:p>
        </p:txBody>
      </p:sp>
      <p:sp>
        <p:nvSpPr>
          <p:cNvPr id="23" name="Shape 21"/>
          <p:cNvSpPr/>
          <p:nvPr/>
        </p:nvSpPr>
        <p:spPr>
          <a:xfrm>
            <a:off x="640080" y="2624328"/>
            <a:ext cx="2377440" cy="502920"/>
          </a:xfrm>
          <a:prstGeom prst="rect">
            <a:avLst/>
          </a:prstGeom>
          <a:solidFill>
            <a:srgbClr val="FFFFFF"/>
          </a:solidFill>
          <a:ln w="9525">
            <a:solidFill>
              <a:srgbClr val="E3EBF0"/>
            </a:solidFill>
            <a:prstDash val="solid"/>
          </a:ln>
        </p:spPr>
        <p:txBody>
          <a:bodyPr/>
          <a:lstStyle/>
          <a:p>
            <a:endParaRPr lang="en-US"/>
          </a:p>
        </p:txBody>
      </p:sp>
      <p:sp>
        <p:nvSpPr>
          <p:cNvPr id="24" name="Text 22"/>
          <p:cNvSpPr/>
          <p:nvPr/>
        </p:nvSpPr>
        <p:spPr>
          <a:xfrm>
            <a:off x="749808" y="2624328"/>
            <a:ext cx="215798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Faithfulness</a:t>
            </a:r>
            <a:endParaRPr lang="en-US" sz="1050" dirty="0"/>
          </a:p>
        </p:txBody>
      </p:sp>
      <p:sp>
        <p:nvSpPr>
          <p:cNvPr id="25" name="Shape 23"/>
          <p:cNvSpPr/>
          <p:nvPr/>
        </p:nvSpPr>
        <p:spPr>
          <a:xfrm>
            <a:off x="3017520" y="2624328"/>
            <a:ext cx="4480560" cy="502920"/>
          </a:xfrm>
          <a:prstGeom prst="rect">
            <a:avLst/>
          </a:prstGeom>
          <a:solidFill>
            <a:srgbClr val="FFFFFF"/>
          </a:solidFill>
          <a:ln w="9525">
            <a:solidFill>
              <a:srgbClr val="E3EBF0"/>
            </a:solidFill>
            <a:prstDash val="solid"/>
          </a:ln>
        </p:spPr>
        <p:txBody>
          <a:bodyPr/>
          <a:lstStyle/>
          <a:p>
            <a:endParaRPr lang="en-US"/>
          </a:p>
        </p:txBody>
      </p:sp>
      <p:sp>
        <p:nvSpPr>
          <p:cNvPr id="26" name="Text 24"/>
          <p:cNvSpPr/>
          <p:nvPr/>
        </p:nvSpPr>
        <p:spPr>
          <a:xfrm>
            <a:off x="3127248" y="2624328"/>
            <a:ext cx="42611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Is the answer supported by the retrieved passages?</a:t>
            </a:r>
            <a:endParaRPr lang="en-US" sz="1050" dirty="0"/>
          </a:p>
        </p:txBody>
      </p:sp>
      <p:sp>
        <p:nvSpPr>
          <p:cNvPr id="27" name="Shape 25"/>
          <p:cNvSpPr/>
          <p:nvPr/>
        </p:nvSpPr>
        <p:spPr>
          <a:xfrm>
            <a:off x="7498080" y="2624328"/>
            <a:ext cx="4023360" cy="502920"/>
          </a:xfrm>
          <a:prstGeom prst="rect">
            <a:avLst/>
          </a:prstGeom>
          <a:solidFill>
            <a:srgbClr val="FFFFFF"/>
          </a:solidFill>
          <a:ln w="9525">
            <a:solidFill>
              <a:srgbClr val="E3EBF0"/>
            </a:solidFill>
            <a:prstDash val="solid"/>
          </a:ln>
        </p:spPr>
        <p:txBody>
          <a:bodyPr/>
          <a:lstStyle/>
          <a:p>
            <a:endParaRPr lang="en-US"/>
          </a:p>
        </p:txBody>
      </p:sp>
      <p:sp>
        <p:nvSpPr>
          <p:cNvPr id="28" name="Text 26"/>
          <p:cNvSpPr/>
          <p:nvPr/>
        </p:nvSpPr>
        <p:spPr>
          <a:xfrm>
            <a:off x="7607808" y="2624328"/>
            <a:ext cx="38039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Generation — hallucination detection</a:t>
            </a:r>
            <a:endParaRPr lang="en-US" sz="1050" dirty="0"/>
          </a:p>
        </p:txBody>
      </p:sp>
      <p:sp>
        <p:nvSpPr>
          <p:cNvPr id="29" name="Shape 27"/>
          <p:cNvSpPr/>
          <p:nvPr/>
        </p:nvSpPr>
        <p:spPr>
          <a:xfrm>
            <a:off x="640080" y="3127248"/>
            <a:ext cx="2377440" cy="502920"/>
          </a:xfrm>
          <a:prstGeom prst="rect">
            <a:avLst/>
          </a:prstGeom>
          <a:solidFill>
            <a:srgbClr val="F5F9FB"/>
          </a:solidFill>
          <a:ln w="9525">
            <a:solidFill>
              <a:srgbClr val="E3EBF0"/>
            </a:solidFill>
            <a:prstDash val="solid"/>
          </a:ln>
        </p:spPr>
        <p:txBody>
          <a:bodyPr/>
          <a:lstStyle/>
          <a:p>
            <a:endParaRPr lang="en-US"/>
          </a:p>
        </p:txBody>
      </p:sp>
      <p:sp>
        <p:nvSpPr>
          <p:cNvPr id="30" name="Text 28"/>
          <p:cNvSpPr/>
          <p:nvPr/>
        </p:nvSpPr>
        <p:spPr>
          <a:xfrm>
            <a:off x="749808" y="3127248"/>
            <a:ext cx="215798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Answer relevance</a:t>
            </a:r>
            <a:endParaRPr lang="en-US" sz="1050" dirty="0"/>
          </a:p>
        </p:txBody>
      </p:sp>
      <p:sp>
        <p:nvSpPr>
          <p:cNvPr id="31" name="Shape 29"/>
          <p:cNvSpPr/>
          <p:nvPr/>
        </p:nvSpPr>
        <p:spPr>
          <a:xfrm>
            <a:off x="3017520" y="3127248"/>
            <a:ext cx="4480560" cy="502920"/>
          </a:xfrm>
          <a:prstGeom prst="rect">
            <a:avLst/>
          </a:prstGeom>
          <a:solidFill>
            <a:srgbClr val="F5F9FB"/>
          </a:solidFill>
          <a:ln w="9525">
            <a:solidFill>
              <a:srgbClr val="E3EBF0"/>
            </a:solidFill>
            <a:prstDash val="solid"/>
          </a:ln>
        </p:spPr>
        <p:txBody>
          <a:bodyPr/>
          <a:lstStyle/>
          <a:p>
            <a:endParaRPr lang="en-US"/>
          </a:p>
        </p:txBody>
      </p:sp>
      <p:sp>
        <p:nvSpPr>
          <p:cNvPr id="32" name="Text 30"/>
          <p:cNvSpPr/>
          <p:nvPr/>
        </p:nvSpPr>
        <p:spPr>
          <a:xfrm>
            <a:off x="3127248" y="3127248"/>
            <a:ext cx="42611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Does the answer address the question asked?</a:t>
            </a:r>
            <a:endParaRPr lang="en-US" sz="1050" dirty="0"/>
          </a:p>
        </p:txBody>
      </p:sp>
      <p:sp>
        <p:nvSpPr>
          <p:cNvPr id="33" name="Shape 31"/>
          <p:cNvSpPr/>
          <p:nvPr/>
        </p:nvSpPr>
        <p:spPr>
          <a:xfrm>
            <a:off x="7498080" y="3127248"/>
            <a:ext cx="4023360" cy="502920"/>
          </a:xfrm>
          <a:prstGeom prst="rect">
            <a:avLst/>
          </a:prstGeom>
          <a:solidFill>
            <a:srgbClr val="F5F9FB"/>
          </a:solidFill>
          <a:ln w="9525">
            <a:solidFill>
              <a:srgbClr val="E3EBF0"/>
            </a:solidFill>
            <a:prstDash val="solid"/>
          </a:ln>
        </p:spPr>
        <p:txBody>
          <a:bodyPr/>
          <a:lstStyle/>
          <a:p>
            <a:endParaRPr lang="en-US"/>
          </a:p>
        </p:txBody>
      </p:sp>
      <p:sp>
        <p:nvSpPr>
          <p:cNvPr id="34" name="Text 32"/>
          <p:cNvSpPr/>
          <p:nvPr/>
        </p:nvSpPr>
        <p:spPr>
          <a:xfrm>
            <a:off x="7607808" y="3127248"/>
            <a:ext cx="38039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Generation — drift and evasion</a:t>
            </a:r>
            <a:endParaRPr lang="en-US" sz="1050" dirty="0"/>
          </a:p>
        </p:txBody>
      </p:sp>
      <p:sp>
        <p:nvSpPr>
          <p:cNvPr id="35" name="Shape 33"/>
          <p:cNvSpPr/>
          <p:nvPr/>
        </p:nvSpPr>
        <p:spPr>
          <a:xfrm>
            <a:off x="640080" y="3630168"/>
            <a:ext cx="2377440" cy="502920"/>
          </a:xfrm>
          <a:prstGeom prst="rect">
            <a:avLst/>
          </a:prstGeom>
          <a:solidFill>
            <a:srgbClr val="FFFFFF"/>
          </a:solidFill>
          <a:ln w="9525">
            <a:solidFill>
              <a:srgbClr val="E3EBF0"/>
            </a:solidFill>
            <a:prstDash val="solid"/>
          </a:ln>
        </p:spPr>
        <p:txBody>
          <a:bodyPr/>
          <a:lstStyle/>
          <a:p>
            <a:endParaRPr lang="en-US"/>
          </a:p>
        </p:txBody>
      </p:sp>
      <p:sp>
        <p:nvSpPr>
          <p:cNvPr id="36" name="Text 34"/>
          <p:cNvSpPr/>
          <p:nvPr/>
        </p:nvSpPr>
        <p:spPr>
          <a:xfrm>
            <a:off x="749808" y="3630168"/>
            <a:ext cx="215798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Citation accuracy</a:t>
            </a:r>
            <a:endParaRPr lang="en-US" sz="1050" dirty="0"/>
          </a:p>
        </p:txBody>
      </p:sp>
      <p:sp>
        <p:nvSpPr>
          <p:cNvPr id="37" name="Shape 35"/>
          <p:cNvSpPr/>
          <p:nvPr/>
        </p:nvSpPr>
        <p:spPr>
          <a:xfrm>
            <a:off x="3017520" y="3630168"/>
            <a:ext cx="4480560" cy="502920"/>
          </a:xfrm>
          <a:prstGeom prst="rect">
            <a:avLst/>
          </a:prstGeom>
          <a:solidFill>
            <a:srgbClr val="FFFFFF"/>
          </a:solidFill>
          <a:ln w="9525">
            <a:solidFill>
              <a:srgbClr val="E3EBF0"/>
            </a:solidFill>
            <a:prstDash val="solid"/>
          </a:ln>
        </p:spPr>
        <p:txBody>
          <a:bodyPr/>
          <a:lstStyle/>
          <a:p>
            <a:endParaRPr lang="en-US"/>
          </a:p>
        </p:txBody>
      </p:sp>
      <p:sp>
        <p:nvSpPr>
          <p:cNvPr id="38" name="Text 36"/>
          <p:cNvSpPr/>
          <p:nvPr/>
        </p:nvSpPr>
        <p:spPr>
          <a:xfrm>
            <a:off x="3127248" y="3630168"/>
            <a:ext cx="42611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Do the citations actually support the claims?</a:t>
            </a:r>
            <a:endParaRPr lang="en-US" sz="1050" dirty="0"/>
          </a:p>
        </p:txBody>
      </p:sp>
      <p:sp>
        <p:nvSpPr>
          <p:cNvPr id="39" name="Shape 37"/>
          <p:cNvSpPr/>
          <p:nvPr/>
        </p:nvSpPr>
        <p:spPr>
          <a:xfrm>
            <a:off x="7498080" y="3630168"/>
            <a:ext cx="4023360" cy="502920"/>
          </a:xfrm>
          <a:prstGeom prst="rect">
            <a:avLst/>
          </a:prstGeom>
          <a:solidFill>
            <a:srgbClr val="FFFFFF"/>
          </a:solidFill>
          <a:ln w="9525">
            <a:solidFill>
              <a:srgbClr val="E3EBF0"/>
            </a:solidFill>
            <a:prstDash val="solid"/>
          </a:ln>
        </p:spPr>
        <p:txBody>
          <a:bodyPr/>
          <a:lstStyle/>
          <a:p>
            <a:endParaRPr lang="en-US"/>
          </a:p>
        </p:txBody>
      </p:sp>
      <p:sp>
        <p:nvSpPr>
          <p:cNvPr id="40" name="Text 38"/>
          <p:cNvSpPr/>
          <p:nvPr/>
        </p:nvSpPr>
        <p:spPr>
          <a:xfrm>
            <a:off x="7607808" y="3630168"/>
            <a:ext cx="38039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Generation — the trust signal users check</a:t>
            </a:r>
            <a:endParaRPr lang="en-US" sz="1050" dirty="0"/>
          </a:p>
        </p:txBody>
      </p:sp>
      <p:sp>
        <p:nvSpPr>
          <p:cNvPr id="41" name="Shape 39"/>
          <p:cNvSpPr/>
          <p:nvPr/>
        </p:nvSpPr>
        <p:spPr>
          <a:xfrm>
            <a:off x="640080" y="4133088"/>
            <a:ext cx="2377440" cy="502920"/>
          </a:xfrm>
          <a:prstGeom prst="rect">
            <a:avLst/>
          </a:prstGeom>
          <a:solidFill>
            <a:srgbClr val="F5F9FB"/>
          </a:solidFill>
          <a:ln w="9525">
            <a:solidFill>
              <a:srgbClr val="E3EBF0"/>
            </a:solidFill>
            <a:prstDash val="solid"/>
          </a:ln>
        </p:spPr>
        <p:txBody>
          <a:bodyPr/>
          <a:lstStyle/>
          <a:p>
            <a:endParaRPr lang="en-US"/>
          </a:p>
        </p:txBody>
      </p:sp>
      <p:sp>
        <p:nvSpPr>
          <p:cNvPr id="42" name="Text 40"/>
          <p:cNvSpPr/>
          <p:nvPr/>
        </p:nvSpPr>
        <p:spPr>
          <a:xfrm>
            <a:off x="749808" y="4133088"/>
            <a:ext cx="215798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Hallucination rate</a:t>
            </a:r>
            <a:endParaRPr lang="en-US" sz="1050" dirty="0"/>
          </a:p>
        </p:txBody>
      </p:sp>
      <p:sp>
        <p:nvSpPr>
          <p:cNvPr id="43" name="Shape 41"/>
          <p:cNvSpPr/>
          <p:nvPr/>
        </p:nvSpPr>
        <p:spPr>
          <a:xfrm>
            <a:off x="3017520" y="4133088"/>
            <a:ext cx="4480560" cy="502920"/>
          </a:xfrm>
          <a:prstGeom prst="rect">
            <a:avLst/>
          </a:prstGeom>
          <a:solidFill>
            <a:srgbClr val="F5F9FB"/>
          </a:solidFill>
          <a:ln w="9525">
            <a:solidFill>
              <a:srgbClr val="E3EBF0"/>
            </a:solidFill>
            <a:prstDash val="solid"/>
          </a:ln>
        </p:spPr>
        <p:txBody>
          <a:bodyPr/>
          <a:lstStyle/>
          <a:p>
            <a:endParaRPr lang="en-US"/>
          </a:p>
        </p:txBody>
      </p:sp>
      <p:sp>
        <p:nvSpPr>
          <p:cNvPr id="44" name="Text 42"/>
          <p:cNvSpPr/>
          <p:nvPr/>
        </p:nvSpPr>
        <p:spPr>
          <a:xfrm>
            <a:off x="3127248" y="4133088"/>
            <a:ext cx="42611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How often are unsupported claims made?</a:t>
            </a:r>
            <a:endParaRPr lang="en-US" sz="1050" dirty="0"/>
          </a:p>
        </p:txBody>
      </p:sp>
      <p:sp>
        <p:nvSpPr>
          <p:cNvPr id="45" name="Shape 43"/>
          <p:cNvSpPr/>
          <p:nvPr/>
        </p:nvSpPr>
        <p:spPr>
          <a:xfrm>
            <a:off x="7498080" y="4133088"/>
            <a:ext cx="4023360" cy="502920"/>
          </a:xfrm>
          <a:prstGeom prst="rect">
            <a:avLst/>
          </a:prstGeom>
          <a:solidFill>
            <a:srgbClr val="F5F9FB"/>
          </a:solidFill>
          <a:ln w="9525">
            <a:solidFill>
              <a:srgbClr val="E3EBF0"/>
            </a:solidFill>
            <a:prstDash val="solid"/>
          </a:ln>
        </p:spPr>
        <p:txBody>
          <a:bodyPr/>
          <a:lstStyle/>
          <a:p>
            <a:endParaRPr lang="en-US"/>
          </a:p>
        </p:txBody>
      </p:sp>
      <p:sp>
        <p:nvSpPr>
          <p:cNvPr id="46" name="Text 44"/>
          <p:cNvSpPr/>
          <p:nvPr/>
        </p:nvSpPr>
        <p:spPr>
          <a:xfrm>
            <a:off x="7607808" y="4133088"/>
            <a:ext cx="38039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Generation — the metric management asks about</a:t>
            </a:r>
            <a:endParaRPr lang="en-US" sz="1050" dirty="0"/>
          </a:p>
        </p:txBody>
      </p:sp>
      <p:sp>
        <p:nvSpPr>
          <p:cNvPr id="47" name="Shape 45"/>
          <p:cNvSpPr/>
          <p:nvPr/>
        </p:nvSpPr>
        <p:spPr>
          <a:xfrm>
            <a:off x="640080" y="4636008"/>
            <a:ext cx="2377440" cy="502920"/>
          </a:xfrm>
          <a:prstGeom prst="rect">
            <a:avLst/>
          </a:prstGeom>
          <a:solidFill>
            <a:srgbClr val="FFFFFF"/>
          </a:solidFill>
          <a:ln w="9525">
            <a:solidFill>
              <a:srgbClr val="E3EBF0"/>
            </a:solidFill>
            <a:prstDash val="solid"/>
          </a:ln>
        </p:spPr>
        <p:txBody>
          <a:bodyPr/>
          <a:lstStyle/>
          <a:p>
            <a:endParaRPr lang="en-US"/>
          </a:p>
        </p:txBody>
      </p:sp>
      <p:sp>
        <p:nvSpPr>
          <p:cNvPr id="48" name="Text 46"/>
          <p:cNvSpPr/>
          <p:nvPr/>
        </p:nvSpPr>
        <p:spPr>
          <a:xfrm>
            <a:off x="749808" y="4636008"/>
            <a:ext cx="215798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No-answer accuracy</a:t>
            </a:r>
            <a:endParaRPr lang="en-US" sz="1050" dirty="0"/>
          </a:p>
        </p:txBody>
      </p:sp>
      <p:sp>
        <p:nvSpPr>
          <p:cNvPr id="49" name="Shape 47"/>
          <p:cNvSpPr/>
          <p:nvPr/>
        </p:nvSpPr>
        <p:spPr>
          <a:xfrm>
            <a:off x="3017520" y="4636008"/>
            <a:ext cx="4480560" cy="502920"/>
          </a:xfrm>
          <a:prstGeom prst="rect">
            <a:avLst/>
          </a:prstGeom>
          <a:solidFill>
            <a:srgbClr val="FFFFFF"/>
          </a:solidFill>
          <a:ln w="9525">
            <a:solidFill>
              <a:srgbClr val="E3EBF0"/>
            </a:solidFill>
            <a:prstDash val="solid"/>
          </a:ln>
        </p:spPr>
        <p:txBody>
          <a:bodyPr/>
          <a:lstStyle/>
          <a:p>
            <a:endParaRPr lang="en-US"/>
          </a:p>
        </p:txBody>
      </p:sp>
      <p:sp>
        <p:nvSpPr>
          <p:cNvPr id="50" name="Text 48"/>
          <p:cNvSpPr/>
          <p:nvPr/>
        </p:nvSpPr>
        <p:spPr>
          <a:xfrm>
            <a:off x="3127248" y="4636008"/>
            <a:ext cx="42611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Does it decline correctly when the corpus lacks coverage?</a:t>
            </a:r>
            <a:endParaRPr lang="en-US" sz="1050" dirty="0"/>
          </a:p>
        </p:txBody>
      </p:sp>
      <p:sp>
        <p:nvSpPr>
          <p:cNvPr id="51" name="Shape 49"/>
          <p:cNvSpPr/>
          <p:nvPr/>
        </p:nvSpPr>
        <p:spPr>
          <a:xfrm>
            <a:off x="7498080" y="4636008"/>
            <a:ext cx="4023360" cy="502920"/>
          </a:xfrm>
          <a:prstGeom prst="rect">
            <a:avLst/>
          </a:prstGeom>
          <a:solidFill>
            <a:srgbClr val="FFFFFF"/>
          </a:solidFill>
          <a:ln w="9525">
            <a:solidFill>
              <a:srgbClr val="E3EBF0"/>
            </a:solidFill>
            <a:prstDash val="solid"/>
          </a:ln>
        </p:spPr>
        <p:txBody>
          <a:bodyPr/>
          <a:lstStyle/>
          <a:p>
            <a:endParaRPr lang="en-US"/>
          </a:p>
        </p:txBody>
      </p:sp>
      <p:sp>
        <p:nvSpPr>
          <p:cNvPr id="52" name="Text 50"/>
          <p:cNvSpPr/>
          <p:nvPr/>
        </p:nvSpPr>
        <p:spPr>
          <a:xfrm>
            <a:off x="7607808" y="4636008"/>
            <a:ext cx="38039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System — almost never measured</a:t>
            </a:r>
            <a:endParaRPr lang="en-US" sz="1050" dirty="0"/>
          </a:p>
        </p:txBody>
      </p:sp>
      <p:sp>
        <p:nvSpPr>
          <p:cNvPr id="53" name="Shape 51"/>
          <p:cNvSpPr/>
          <p:nvPr/>
        </p:nvSpPr>
        <p:spPr>
          <a:xfrm>
            <a:off x="640080" y="5138928"/>
            <a:ext cx="2377440" cy="502920"/>
          </a:xfrm>
          <a:prstGeom prst="rect">
            <a:avLst/>
          </a:prstGeom>
          <a:solidFill>
            <a:srgbClr val="F5F9FB"/>
          </a:solidFill>
          <a:ln w="9525">
            <a:solidFill>
              <a:srgbClr val="E3EBF0"/>
            </a:solidFill>
            <a:prstDash val="solid"/>
          </a:ln>
        </p:spPr>
        <p:txBody>
          <a:bodyPr/>
          <a:lstStyle/>
          <a:p>
            <a:endParaRPr lang="en-US"/>
          </a:p>
        </p:txBody>
      </p:sp>
      <p:sp>
        <p:nvSpPr>
          <p:cNvPr id="54" name="Text 52"/>
          <p:cNvSpPr/>
          <p:nvPr/>
        </p:nvSpPr>
        <p:spPr>
          <a:xfrm>
            <a:off x="749808" y="5138928"/>
            <a:ext cx="215798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Groundedness</a:t>
            </a:r>
            <a:endParaRPr lang="en-US" sz="1050" dirty="0"/>
          </a:p>
        </p:txBody>
      </p:sp>
      <p:sp>
        <p:nvSpPr>
          <p:cNvPr id="55" name="Shape 53"/>
          <p:cNvSpPr/>
          <p:nvPr/>
        </p:nvSpPr>
        <p:spPr>
          <a:xfrm>
            <a:off x="3017520" y="5138928"/>
            <a:ext cx="4480560" cy="502920"/>
          </a:xfrm>
          <a:prstGeom prst="rect">
            <a:avLst/>
          </a:prstGeom>
          <a:solidFill>
            <a:srgbClr val="F5F9FB"/>
          </a:solidFill>
          <a:ln w="9525">
            <a:solidFill>
              <a:srgbClr val="E3EBF0"/>
            </a:solidFill>
            <a:prstDash val="solid"/>
          </a:ln>
        </p:spPr>
        <p:txBody>
          <a:bodyPr/>
          <a:lstStyle/>
          <a:p>
            <a:endParaRPr lang="en-US"/>
          </a:p>
        </p:txBody>
      </p:sp>
      <p:sp>
        <p:nvSpPr>
          <p:cNvPr id="56" name="Text 54"/>
          <p:cNvSpPr/>
          <p:nvPr/>
        </p:nvSpPr>
        <p:spPr>
          <a:xfrm>
            <a:off x="3127248" y="5138928"/>
            <a:ext cx="42611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Every claim traceable to a source passage</a:t>
            </a:r>
            <a:endParaRPr lang="en-US" sz="1050" dirty="0"/>
          </a:p>
        </p:txBody>
      </p:sp>
      <p:sp>
        <p:nvSpPr>
          <p:cNvPr id="57" name="Shape 55"/>
          <p:cNvSpPr/>
          <p:nvPr/>
        </p:nvSpPr>
        <p:spPr>
          <a:xfrm>
            <a:off x="7498080" y="5138928"/>
            <a:ext cx="4023360" cy="502920"/>
          </a:xfrm>
          <a:prstGeom prst="rect">
            <a:avLst/>
          </a:prstGeom>
          <a:solidFill>
            <a:srgbClr val="F5F9FB"/>
          </a:solidFill>
          <a:ln w="9525">
            <a:solidFill>
              <a:srgbClr val="E3EBF0"/>
            </a:solidFill>
            <a:prstDash val="solid"/>
          </a:ln>
        </p:spPr>
        <p:txBody>
          <a:bodyPr/>
          <a:lstStyle/>
          <a:p>
            <a:endParaRPr lang="en-US"/>
          </a:p>
        </p:txBody>
      </p:sp>
      <p:sp>
        <p:nvSpPr>
          <p:cNvPr id="58" name="Text 56"/>
          <p:cNvSpPr/>
          <p:nvPr/>
        </p:nvSpPr>
        <p:spPr>
          <a:xfrm>
            <a:off x="7607808" y="5138928"/>
            <a:ext cx="38039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System — the composite quality signal</a:t>
            </a:r>
            <a:endParaRPr lang="en-US" sz="1050" dirty="0"/>
          </a:p>
        </p:txBody>
      </p:sp>
      <p:sp>
        <p:nvSpPr>
          <p:cNvPr id="59" name="Text 57"/>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A2430"/>
                </a:solidFill>
                <a:latin typeface="Calibri" pitchFamily="34" charset="0"/>
                <a:ea typeface="Calibri" pitchFamily="34" charset="-122"/>
                <a:cs typeface="Calibri" pitchFamily="34" charset="-120"/>
              </a:rPr>
              <a:t>Separate retrieval metrics from generation metrics. A single end-to-end score tells you the system is wrong without telling you which half to fix.</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5 · 5.2</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Diagnosing with the metrics — a decision table</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33</a:t>
            </a:r>
            <a:endParaRPr lang="en-US" sz="1000" dirty="0"/>
          </a:p>
        </p:txBody>
      </p:sp>
      <p:sp>
        <p:nvSpPr>
          <p:cNvPr id="5" name="Shape 3"/>
          <p:cNvSpPr/>
          <p:nvPr/>
        </p:nvSpPr>
        <p:spPr>
          <a:xfrm>
            <a:off x="640080" y="1234440"/>
            <a:ext cx="2011680" cy="384048"/>
          </a:xfrm>
          <a:prstGeom prst="rect">
            <a:avLst/>
          </a:prstGeom>
          <a:solidFill>
            <a:srgbClr val="21295C"/>
          </a:solidFill>
          <a:ln/>
        </p:spPr>
        <p:txBody>
          <a:bodyPr/>
          <a:lstStyle/>
          <a:p>
            <a:endParaRPr lang="en-US"/>
          </a:p>
        </p:txBody>
      </p:sp>
      <p:sp>
        <p:nvSpPr>
          <p:cNvPr id="6" name="Text 4"/>
          <p:cNvSpPr/>
          <p:nvPr/>
        </p:nvSpPr>
        <p:spPr>
          <a:xfrm>
            <a:off x="749808" y="1234440"/>
            <a:ext cx="17922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Context recall</a:t>
            </a:r>
            <a:endParaRPr lang="en-US" sz="1100" dirty="0"/>
          </a:p>
        </p:txBody>
      </p:sp>
      <p:sp>
        <p:nvSpPr>
          <p:cNvPr id="7" name="Shape 5"/>
          <p:cNvSpPr/>
          <p:nvPr/>
        </p:nvSpPr>
        <p:spPr>
          <a:xfrm>
            <a:off x="2651760" y="1234440"/>
            <a:ext cx="2011680" cy="384048"/>
          </a:xfrm>
          <a:prstGeom prst="rect">
            <a:avLst/>
          </a:prstGeom>
          <a:solidFill>
            <a:srgbClr val="21295C"/>
          </a:solidFill>
          <a:ln/>
        </p:spPr>
        <p:txBody>
          <a:bodyPr/>
          <a:lstStyle/>
          <a:p>
            <a:endParaRPr lang="en-US"/>
          </a:p>
        </p:txBody>
      </p:sp>
      <p:sp>
        <p:nvSpPr>
          <p:cNvPr id="8" name="Text 6"/>
          <p:cNvSpPr/>
          <p:nvPr/>
        </p:nvSpPr>
        <p:spPr>
          <a:xfrm>
            <a:off x="2761488" y="1234440"/>
            <a:ext cx="17922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Faithfulness</a:t>
            </a:r>
            <a:endParaRPr lang="en-US" sz="1100" dirty="0"/>
          </a:p>
        </p:txBody>
      </p:sp>
      <p:sp>
        <p:nvSpPr>
          <p:cNvPr id="9" name="Shape 7"/>
          <p:cNvSpPr/>
          <p:nvPr/>
        </p:nvSpPr>
        <p:spPr>
          <a:xfrm>
            <a:off x="4663440" y="1234440"/>
            <a:ext cx="3291840" cy="384048"/>
          </a:xfrm>
          <a:prstGeom prst="rect">
            <a:avLst/>
          </a:prstGeom>
          <a:solidFill>
            <a:srgbClr val="21295C"/>
          </a:solidFill>
          <a:ln/>
        </p:spPr>
        <p:txBody>
          <a:bodyPr/>
          <a:lstStyle/>
          <a:p>
            <a:endParaRPr lang="en-US"/>
          </a:p>
        </p:txBody>
      </p:sp>
      <p:sp>
        <p:nvSpPr>
          <p:cNvPr id="10" name="Text 8"/>
          <p:cNvSpPr/>
          <p:nvPr/>
        </p:nvSpPr>
        <p:spPr>
          <a:xfrm>
            <a:off x="4773168" y="1234440"/>
            <a:ext cx="307238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Diagnosis</a:t>
            </a:r>
            <a:endParaRPr lang="en-US" sz="1100" dirty="0"/>
          </a:p>
        </p:txBody>
      </p:sp>
      <p:sp>
        <p:nvSpPr>
          <p:cNvPr id="11" name="Shape 9"/>
          <p:cNvSpPr/>
          <p:nvPr/>
        </p:nvSpPr>
        <p:spPr>
          <a:xfrm>
            <a:off x="7955280" y="1234440"/>
            <a:ext cx="3657600" cy="384048"/>
          </a:xfrm>
          <a:prstGeom prst="rect">
            <a:avLst/>
          </a:prstGeom>
          <a:solidFill>
            <a:srgbClr val="21295C"/>
          </a:solidFill>
          <a:ln/>
        </p:spPr>
        <p:txBody>
          <a:bodyPr/>
          <a:lstStyle/>
          <a:p>
            <a:endParaRPr lang="en-US"/>
          </a:p>
        </p:txBody>
      </p:sp>
      <p:sp>
        <p:nvSpPr>
          <p:cNvPr id="12" name="Text 10"/>
          <p:cNvSpPr/>
          <p:nvPr/>
        </p:nvSpPr>
        <p:spPr>
          <a:xfrm>
            <a:off x="8065008" y="1234440"/>
            <a:ext cx="34381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to fix</a:t>
            </a:r>
            <a:endParaRPr lang="en-US" sz="1100" dirty="0"/>
          </a:p>
        </p:txBody>
      </p:sp>
      <p:sp>
        <p:nvSpPr>
          <p:cNvPr id="13" name="Shape 11"/>
          <p:cNvSpPr/>
          <p:nvPr/>
        </p:nvSpPr>
        <p:spPr>
          <a:xfrm>
            <a:off x="640080" y="1618488"/>
            <a:ext cx="2011680" cy="777240"/>
          </a:xfrm>
          <a:prstGeom prst="rect">
            <a:avLst/>
          </a:prstGeom>
          <a:solidFill>
            <a:srgbClr val="FFFFFF"/>
          </a:solidFill>
          <a:ln w="9525">
            <a:solidFill>
              <a:srgbClr val="E3EBF0"/>
            </a:solidFill>
            <a:prstDash val="solid"/>
          </a:ln>
        </p:spPr>
        <p:txBody>
          <a:bodyPr/>
          <a:lstStyle/>
          <a:p>
            <a:endParaRPr lang="en-US"/>
          </a:p>
        </p:txBody>
      </p:sp>
      <p:sp>
        <p:nvSpPr>
          <p:cNvPr id="14" name="Text 12"/>
          <p:cNvSpPr/>
          <p:nvPr/>
        </p:nvSpPr>
        <p:spPr>
          <a:xfrm>
            <a:off x="749808" y="1618488"/>
            <a:ext cx="1792224" cy="7772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Low</a:t>
            </a:r>
            <a:endParaRPr lang="en-US" sz="1050" dirty="0"/>
          </a:p>
        </p:txBody>
      </p:sp>
      <p:sp>
        <p:nvSpPr>
          <p:cNvPr id="15" name="Shape 13"/>
          <p:cNvSpPr/>
          <p:nvPr/>
        </p:nvSpPr>
        <p:spPr>
          <a:xfrm>
            <a:off x="2651760" y="1618488"/>
            <a:ext cx="2011680" cy="777240"/>
          </a:xfrm>
          <a:prstGeom prst="rect">
            <a:avLst/>
          </a:prstGeom>
          <a:solidFill>
            <a:srgbClr val="FFFFFF"/>
          </a:solidFill>
          <a:ln w="9525">
            <a:solidFill>
              <a:srgbClr val="E3EBF0"/>
            </a:solidFill>
            <a:prstDash val="solid"/>
          </a:ln>
        </p:spPr>
        <p:txBody>
          <a:bodyPr/>
          <a:lstStyle/>
          <a:p>
            <a:endParaRPr lang="en-US"/>
          </a:p>
        </p:txBody>
      </p:sp>
      <p:sp>
        <p:nvSpPr>
          <p:cNvPr id="16" name="Text 14"/>
          <p:cNvSpPr/>
          <p:nvPr/>
        </p:nvSpPr>
        <p:spPr>
          <a:xfrm>
            <a:off x="2761488" y="1618488"/>
            <a:ext cx="1792224" cy="7772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t>
            </a:r>
            <a:endParaRPr lang="en-US" sz="1050" dirty="0"/>
          </a:p>
        </p:txBody>
      </p:sp>
      <p:sp>
        <p:nvSpPr>
          <p:cNvPr id="17" name="Shape 15"/>
          <p:cNvSpPr/>
          <p:nvPr/>
        </p:nvSpPr>
        <p:spPr>
          <a:xfrm>
            <a:off x="4663440" y="1618488"/>
            <a:ext cx="3291840" cy="777240"/>
          </a:xfrm>
          <a:prstGeom prst="rect">
            <a:avLst/>
          </a:prstGeom>
          <a:solidFill>
            <a:srgbClr val="FFFFFF"/>
          </a:solidFill>
          <a:ln w="9525">
            <a:solidFill>
              <a:srgbClr val="E3EBF0"/>
            </a:solidFill>
            <a:prstDash val="solid"/>
          </a:ln>
        </p:spPr>
        <p:txBody>
          <a:bodyPr/>
          <a:lstStyle/>
          <a:p>
            <a:endParaRPr lang="en-US"/>
          </a:p>
        </p:txBody>
      </p:sp>
      <p:sp>
        <p:nvSpPr>
          <p:cNvPr id="18" name="Text 16"/>
          <p:cNvSpPr/>
          <p:nvPr/>
        </p:nvSpPr>
        <p:spPr>
          <a:xfrm>
            <a:off x="4773168" y="1618488"/>
            <a:ext cx="3072384" cy="7772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Retrieval failed. The answer never had a chance</a:t>
            </a:r>
            <a:endParaRPr lang="en-US" sz="1050" dirty="0"/>
          </a:p>
        </p:txBody>
      </p:sp>
      <p:sp>
        <p:nvSpPr>
          <p:cNvPr id="19" name="Shape 17"/>
          <p:cNvSpPr/>
          <p:nvPr/>
        </p:nvSpPr>
        <p:spPr>
          <a:xfrm>
            <a:off x="7955280" y="1618488"/>
            <a:ext cx="3657600" cy="777240"/>
          </a:xfrm>
          <a:prstGeom prst="rect">
            <a:avLst/>
          </a:prstGeom>
          <a:solidFill>
            <a:srgbClr val="FFFFFF"/>
          </a:solidFill>
          <a:ln w="9525">
            <a:solidFill>
              <a:srgbClr val="E3EBF0"/>
            </a:solidFill>
            <a:prstDash val="solid"/>
          </a:ln>
        </p:spPr>
        <p:txBody>
          <a:bodyPr/>
          <a:lstStyle/>
          <a:p>
            <a:endParaRPr lang="en-US"/>
          </a:p>
        </p:txBody>
      </p:sp>
      <p:sp>
        <p:nvSpPr>
          <p:cNvPr id="20" name="Text 18"/>
          <p:cNvSpPr/>
          <p:nvPr/>
        </p:nvSpPr>
        <p:spPr>
          <a:xfrm>
            <a:off x="8065008" y="1618488"/>
            <a:ext cx="3438144" cy="7772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Chunking, hybrid search, reranking, metadata filtering</a:t>
            </a:r>
            <a:endParaRPr lang="en-US" sz="1050" dirty="0"/>
          </a:p>
        </p:txBody>
      </p:sp>
      <p:sp>
        <p:nvSpPr>
          <p:cNvPr id="21" name="Shape 19"/>
          <p:cNvSpPr/>
          <p:nvPr/>
        </p:nvSpPr>
        <p:spPr>
          <a:xfrm>
            <a:off x="640080" y="2395728"/>
            <a:ext cx="2011680" cy="777240"/>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749808" y="2395728"/>
            <a:ext cx="1792224" cy="7772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High</a:t>
            </a:r>
            <a:endParaRPr lang="en-US" sz="1050" dirty="0"/>
          </a:p>
        </p:txBody>
      </p:sp>
      <p:sp>
        <p:nvSpPr>
          <p:cNvPr id="23" name="Shape 21"/>
          <p:cNvSpPr/>
          <p:nvPr/>
        </p:nvSpPr>
        <p:spPr>
          <a:xfrm>
            <a:off x="2651760" y="2395728"/>
            <a:ext cx="2011680" cy="777240"/>
          </a:xfrm>
          <a:prstGeom prst="rect">
            <a:avLst/>
          </a:prstGeom>
          <a:solidFill>
            <a:srgbClr val="F5F9FB"/>
          </a:solidFill>
          <a:ln w="9525">
            <a:solidFill>
              <a:srgbClr val="E3EBF0"/>
            </a:solidFill>
            <a:prstDash val="solid"/>
          </a:ln>
        </p:spPr>
        <p:txBody>
          <a:bodyPr/>
          <a:lstStyle/>
          <a:p>
            <a:endParaRPr lang="en-US"/>
          </a:p>
        </p:txBody>
      </p:sp>
      <p:sp>
        <p:nvSpPr>
          <p:cNvPr id="24" name="Text 22"/>
          <p:cNvSpPr/>
          <p:nvPr/>
        </p:nvSpPr>
        <p:spPr>
          <a:xfrm>
            <a:off x="2761488" y="2395728"/>
            <a:ext cx="1792224" cy="7772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Low</a:t>
            </a:r>
            <a:endParaRPr lang="en-US" sz="1050" dirty="0"/>
          </a:p>
        </p:txBody>
      </p:sp>
      <p:sp>
        <p:nvSpPr>
          <p:cNvPr id="25" name="Shape 23"/>
          <p:cNvSpPr/>
          <p:nvPr/>
        </p:nvSpPr>
        <p:spPr>
          <a:xfrm>
            <a:off x="4663440" y="2395728"/>
            <a:ext cx="3291840" cy="777240"/>
          </a:xfrm>
          <a:prstGeom prst="rect">
            <a:avLst/>
          </a:prstGeom>
          <a:solidFill>
            <a:srgbClr val="F5F9FB"/>
          </a:solidFill>
          <a:ln w="9525">
            <a:solidFill>
              <a:srgbClr val="E3EBF0"/>
            </a:solidFill>
            <a:prstDash val="solid"/>
          </a:ln>
        </p:spPr>
        <p:txBody>
          <a:bodyPr/>
          <a:lstStyle/>
          <a:p>
            <a:endParaRPr lang="en-US"/>
          </a:p>
        </p:txBody>
      </p:sp>
      <p:sp>
        <p:nvSpPr>
          <p:cNvPr id="26" name="Text 24"/>
          <p:cNvSpPr/>
          <p:nvPr/>
        </p:nvSpPr>
        <p:spPr>
          <a:xfrm>
            <a:off x="4773168" y="2395728"/>
            <a:ext cx="3072384" cy="7772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right passages were found and ignored</a:t>
            </a:r>
            <a:endParaRPr lang="en-US" sz="1050" dirty="0"/>
          </a:p>
        </p:txBody>
      </p:sp>
      <p:sp>
        <p:nvSpPr>
          <p:cNvPr id="27" name="Shape 25"/>
          <p:cNvSpPr/>
          <p:nvPr/>
        </p:nvSpPr>
        <p:spPr>
          <a:xfrm>
            <a:off x="7955280" y="2395728"/>
            <a:ext cx="3657600" cy="777240"/>
          </a:xfrm>
          <a:prstGeom prst="rect">
            <a:avLst/>
          </a:prstGeom>
          <a:solidFill>
            <a:srgbClr val="F5F9FB"/>
          </a:solidFill>
          <a:ln w="9525">
            <a:solidFill>
              <a:srgbClr val="E3EBF0"/>
            </a:solidFill>
            <a:prstDash val="solid"/>
          </a:ln>
        </p:spPr>
        <p:txBody>
          <a:bodyPr/>
          <a:lstStyle/>
          <a:p>
            <a:endParaRPr lang="en-US"/>
          </a:p>
        </p:txBody>
      </p:sp>
      <p:sp>
        <p:nvSpPr>
          <p:cNvPr id="28" name="Text 26"/>
          <p:cNvSpPr/>
          <p:nvPr/>
        </p:nvSpPr>
        <p:spPr>
          <a:xfrm>
            <a:off x="8065008" y="2395728"/>
            <a:ext cx="3438144" cy="7772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Prompt grounding, citation enforcement, answer verification</a:t>
            </a:r>
            <a:endParaRPr lang="en-US" sz="1050" dirty="0"/>
          </a:p>
        </p:txBody>
      </p:sp>
      <p:sp>
        <p:nvSpPr>
          <p:cNvPr id="29" name="Shape 27"/>
          <p:cNvSpPr/>
          <p:nvPr/>
        </p:nvSpPr>
        <p:spPr>
          <a:xfrm>
            <a:off x="640080" y="3172968"/>
            <a:ext cx="2011680" cy="777240"/>
          </a:xfrm>
          <a:prstGeom prst="rect">
            <a:avLst/>
          </a:prstGeom>
          <a:solidFill>
            <a:srgbClr val="FFFFFF"/>
          </a:solidFill>
          <a:ln w="9525">
            <a:solidFill>
              <a:srgbClr val="E3EBF0"/>
            </a:solidFill>
            <a:prstDash val="solid"/>
          </a:ln>
        </p:spPr>
        <p:txBody>
          <a:bodyPr/>
          <a:lstStyle/>
          <a:p>
            <a:endParaRPr lang="en-US"/>
          </a:p>
        </p:txBody>
      </p:sp>
      <p:sp>
        <p:nvSpPr>
          <p:cNvPr id="30" name="Text 28"/>
          <p:cNvSpPr/>
          <p:nvPr/>
        </p:nvSpPr>
        <p:spPr>
          <a:xfrm>
            <a:off x="749808" y="3172968"/>
            <a:ext cx="1792224" cy="7772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High</a:t>
            </a:r>
            <a:endParaRPr lang="en-US" sz="1050" dirty="0"/>
          </a:p>
        </p:txBody>
      </p:sp>
      <p:sp>
        <p:nvSpPr>
          <p:cNvPr id="31" name="Shape 29"/>
          <p:cNvSpPr/>
          <p:nvPr/>
        </p:nvSpPr>
        <p:spPr>
          <a:xfrm>
            <a:off x="2651760" y="3172968"/>
            <a:ext cx="2011680" cy="777240"/>
          </a:xfrm>
          <a:prstGeom prst="rect">
            <a:avLst/>
          </a:prstGeom>
          <a:solidFill>
            <a:srgbClr val="FFFFFF"/>
          </a:solidFill>
          <a:ln w="9525">
            <a:solidFill>
              <a:srgbClr val="E3EBF0"/>
            </a:solidFill>
            <a:prstDash val="solid"/>
          </a:ln>
        </p:spPr>
        <p:txBody>
          <a:bodyPr/>
          <a:lstStyle/>
          <a:p>
            <a:endParaRPr lang="en-US"/>
          </a:p>
        </p:txBody>
      </p:sp>
      <p:sp>
        <p:nvSpPr>
          <p:cNvPr id="32" name="Text 30"/>
          <p:cNvSpPr/>
          <p:nvPr/>
        </p:nvSpPr>
        <p:spPr>
          <a:xfrm>
            <a:off x="2761488" y="3172968"/>
            <a:ext cx="1792224" cy="7772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High, answer still wrong</a:t>
            </a:r>
            <a:endParaRPr lang="en-US" sz="1050" dirty="0"/>
          </a:p>
        </p:txBody>
      </p:sp>
      <p:sp>
        <p:nvSpPr>
          <p:cNvPr id="33" name="Shape 31"/>
          <p:cNvSpPr/>
          <p:nvPr/>
        </p:nvSpPr>
        <p:spPr>
          <a:xfrm>
            <a:off x="4663440" y="3172968"/>
            <a:ext cx="3291840" cy="777240"/>
          </a:xfrm>
          <a:prstGeom prst="rect">
            <a:avLst/>
          </a:prstGeom>
          <a:solidFill>
            <a:srgbClr val="FFFFFF"/>
          </a:solidFill>
          <a:ln w="9525">
            <a:solidFill>
              <a:srgbClr val="E3EBF0"/>
            </a:solidFill>
            <a:prstDash val="solid"/>
          </a:ln>
        </p:spPr>
        <p:txBody>
          <a:bodyPr/>
          <a:lstStyle/>
          <a:p>
            <a:endParaRPr lang="en-US"/>
          </a:p>
        </p:txBody>
      </p:sp>
      <p:sp>
        <p:nvSpPr>
          <p:cNvPr id="34" name="Text 32"/>
          <p:cNvSpPr/>
          <p:nvPr/>
        </p:nvSpPr>
        <p:spPr>
          <a:xfrm>
            <a:off x="4773168" y="3172968"/>
            <a:ext cx="3072384" cy="7772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source document itself is wrong or outdated</a:t>
            </a:r>
            <a:endParaRPr lang="en-US" sz="1050" dirty="0"/>
          </a:p>
        </p:txBody>
      </p:sp>
      <p:sp>
        <p:nvSpPr>
          <p:cNvPr id="35" name="Shape 33"/>
          <p:cNvSpPr/>
          <p:nvPr/>
        </p:nvSpPr>
        <p:spPr>
          <a:xfrm>
            <a:off x="7955280" y="3172968"/>
            <a:ext cx="3657600" cy="777240"/>
          </a:xfrm>
          <a:prstGeom prst="rect">
            <a:avLst/>
          </a:prstGeom>
          <a:solidFill>
            <a:srgbClr val="FFFFFF"/>
          </a:solidFill>
          <a:ln w="9525">
            <a:solidFill>
              <a:srgbClr val="E3EBF0"/>
            </a:solidFill>
            <a:prstDash val="solid"/>
          </a:ln>
        </p:spPr>
        <p:txBody>
          <a:bodyPr/>
          <a:lstStyle/>
          <a:p>
            <a:endParaRPr lang="en-US"/>
          </a:p>
        </p:txBody>
      </p:sp>
      <p:sp>
        <p:nvSpPr>
          <p:cNvPr id="36" name="Text 34"/>
          <p:cNvSpPr/>
          <p:nvPr/>
        </p:nvSpPr>
        <p:spPr>
          <a:xfrm>
            <a:off x="8065008" y="3172968"/>
            <a:ext cx="3438144" cy="7772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Document versioning and supersession — a content problem</a:t>
            </a:r>
            <a:endParaRPr lang="en-US" sz="1050" dirty="0"/>
          </a:p>
        </p:txBody>
      </p:sp>
      <p:sp>
        <p:nvSpPr>
          <p:cNvPr id="37" name="Shape 35"/>
          <p:cNvSpPr/>
          <p:nvPr/>
        </p:nvSpPr>
        <p:spPr>
          <a:xfrm>
            <a:off x="640080" y="3950208"/>
            <a:ext cx="2011680" cy="777240"/>
          </a:xfrm>
          <a:prstGeom prst="rect">
            <a:avLst/>
          </a:prstGeom>
          <a:solidFill>
            <a:srgbClr val="F5F9FB"/>
          </a:solidFill>
          <a:ln w="9525">
            <a:solidFill>
              <a:srgbClr val="E3EBF0"/>
            </a:solidFill>
            <a:prstDash val="solid"/>
          </a:ln>
        </p:spPr>
        <p:txBody>
          <a:bodyPr/>
          <a:lstStyle/>
          <a:p>
            <a:endParaRPr lang="en-US"/>
          </a:p>
        </p:txBody>
      </p:sp>
      <p:sp>
        <p:nvSpPr>
          <p:cNvPr id="38" name="Text 36"/>
          <p:cNvSpPr/>
          <p:nvPr/>
        </p:nvSpPr>
        <p:spPr>
          <a:xfrm>
            <a:off x="749808" y="3950208"/>
            <a:ext cx="1792224" cy="7772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High</a:t>
            </a:r>
            <a:endParaRPr lang="en-US" sz="1050" dirty="0"/>
          </a:p>
        </p:txBody>
      </p:sp>
      <p:sp>
        <p:nvSpPr>
          <p:cNvPr id="39" name="Shape 37"/>
          <p:cNvSpPr/>
          <p:nvPr/>
        </p:nvSpPr>
        <p:spPr>
          <a:xfrm>
            <a:off x="2651760" y="3950208"/>
            <a:ext cx="2011680" cy="777240"/>
          </a:xfrm>
          <a:prstGeom prst="rect">
            <a:avLst/>
          </a:prstGeom>
          <a:solidFill>
            <a:srgbClr val="F5F9FB"/>
          </a:solidFill>
          <a:ln w="9525">
            <a:solidFill>
              <a:srgbClr val="E3EBF0"/>
            </a:solidFill>
            <a:prstDash val="solid"/>
          </a:ln>
        </p:spPr>
        <p:txBody>
          <a:bodyPr/>
          <a:lstStyle/>
          <a:p>
            <a:endParaRPr lang="en-US"/>
          </a:p>
        </p:txBody>
      </p:sp>
      <p:sp>
        <p:nvSpPr>
          <p:cNvPr id="40" name="Text 38"/>
          <p:cNvSpPr/>
          <p:nvPr/>
        </p:nvSpPr>
        <p:spPr>
          <a:xfrm>
            <a:off x="2761488" y="3950208"/>
            <a:ext cx="1792224" cy="7772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High, answer correct</a:t>
            </a:r>
            <a:endParaRPr lang="en-US" sz="1050" dirty="0"/>
          </a:p>
        </p:txBody>
      </p:sp>
      <p:sp>
        <p:nvSpPr>
          <p:cNvPr id="41" name="Shape 39"/>
          <p:cNvSpPr/>
          <p:nvPr/>
        </p:nvSpPr>
        <p:spPr>
          <a:xfrm>
            <a:off x="4663440" y="3950208"/>
            <a:ext cx="3291840" cy="777240"/>
          </a:xfrm>
          <a:prstGeom prst="rect">
            <a:avLst/>
          </a:prstGeom>
          <a:solidFill>
            <a:srgbClr val="F5F9FB"/>
          </a:solidFill>
          <a:ln w="9525">
            <a:solidFill>
              <a:srgbClr val="E3EBF0"/>
            </a:solidFill>
            <a:prstDash val="solid"/>
          </a:ln>
        </p:spPr>
        <p:txBody>
          <a:bodyPr/>
          <a:lstStyle/>
          <a:p>
            <a:endParaRPr lang="en-US"/>
          </a:p>
        </p:txBody>
      </p:sp>
      <p:sp>
        <p:nvSpPr>
          <p:cNvPr id="42" name="Text 40"/>
          <p:cNvSpPr/>
          <p:nvPr/>
        </p:nvSpPr>
        <p:spPr>
          <a:xfrm>
            <a:off x="4773168" y="3950208"/>
            <a:ext cx="3072384" cy="7772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system is working</a:t>
            </a:r>
            <a:endParaRPr lang="en-US" sz="1050" dirty="0"/>
          </a:p>
        </p:txBody>
      </p:sp>
      <p:sp>
        <p:nvSpPr>
          <p:cNvPr id="43" name="Shape 41"/>
          <p:cNvSpPr/>
          <p:nvPr/>
        </p:nvSpPr>
        <p:spPr>
          <a:xfrm>
            <a:off x="7955280" y="3950208"/>
            <a:ext cx="3657600" cy="777240"/>
          </a:xfrm>
          <a:prstGeom prst="rect">
            <a:avLst/>
          </a:prstGeom>
          <a:solidFill>
            <a:srgbClr val="F5F9FB"/>
          </a:solidFill>
          <a:ln w="9525">
            <a:solidFill>
              <a:srgbClr val="E3EBF0"/>
            </a:solidFill>
            <a:prstDash val="solid"/>
          </a:ln>
        </p:spPr>
        <p:txBody>
          <a:bodyPr/>
          <a:lstStyle/>
          <a:p>
            <a:endParaRPr lang="en-US"/>
          </a:p>
        </p:txBody>
      </p:sp>
      <p:sp>
        <p:nvSpPr>
          <p:cNvPr id="44" name="Text 42"/>
          <p:cNvSpPr/>
          <p:nvPr/>
        </p:nvSpPr>
        <p:spPr>
          <a:xfrm>
            <a:off x="8065008" y="3950208"/>
            <a:ext cx="3438144" cy="7772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Measure cost and latency; look at the failing slices</a:t>
            </a:r>
            <a:endParaRPr lang="en-US" sz="1050" dirty="0"/>
          </a:p>
        </p:txBody>
      </p:sp>
      <p:sp>
        <p:nvSpPr>
          <p:cNvPr id="45" name="Shape 43"/>
          <p:cNvSpPr/>
          <p:nvPr/>
        </p:nvSpPr>
        <p:spPr>
          <a:xfrm>
            <a:off x="640080" y="4892040"/>
            <a:ext cx="10881360" cy="960120"/>
          </a:xfrm>
          <a:prstGeom prst="roundRect">
            <a:avLst>
              <a:gd name="adj" fmla="val 5714"/>
            </a:avLst>
          </a:prstGeom>
          <a:solidFill>
            <a:srgbClr val="EDF5EE"/>
          </a:solidFill>
          <a:ln w="12700">
            <a:solidFill>
              <a:srgbClr val="C2DCC8"/>
            </a:solidFill>
            <a:prstDash val="solid"/>
          </a:ln>
        </p:spPr>
        <p:txBody>
          <a:bodyPr/>
          <a:lstStyle/>
          <a:p>
            <a:endParaRPr lang="en-US"/>
          </a:p>
        </p:txBody>
      </p:sp>
      <p:sp>
        <p:nvSpPr>
          <p:cNvPr id="46" name="Text 44"/>
          <p:cNvSpPr/>
          <p:nvPr/>
        </p:nvSpPr>
        <p:spPr>
          <a:xfrm>
            <a:off x="914400" y="5056632"/>
            <a:ext cx="10332720" cy="320040"/>
          </a:xfrm>
          <a:prstGeom prst="rect">
            <a:avLst/>
          </a:prstGeom>
          <a:noFill/>
          <a:ln/>
        </p:spPr>
        <p:txBody>
          <a:bodyPr wrap="square" lIns="0" tIns="0" rIns="0" bIns="0" rtlCol="0" anchor="ctr"/>
          <a:lstStyle/>
          <a:p>
            <a:pPr marL="0" indent="0">
              <a:buNone/>
            </a:pPr>
            <a:r>
              <a:rPr lang="en-US" sz="1350" b="1" dirty="0">
                <a:solidFill>
                  <a:srgbClr val="1E7A3C"/>
                </a:solidFill>
                <a:latin typeface="Calibri" pitchFamily="34" charset="0"/>
                <a:ea typeface="Calibri" pitchFamily="34" charset="-122"/>
                <a:cs typeface="Calibri" pitchFamily="34" charset="-120"/>
              </a:rPr>
              <a:t>Why this table is the most useful thing in Module 5</a:t>
            </a:r>
            <a:endParaRPr lang="en-US" sz="1350" dirty="0"/>
          </a:p>
        </p:txBody>
      </p:sp>
      <p:sp>
        <p:nvSpPr>
          <p:cNvPr id="47" name="Text 45"/>
          <p:cNvSpPr/>
          <p:nvPr/>
        </p:nvSpPr>
        <p:spPr>
          <a:xfrm>
            <a:off x="914400" y="5394960"/>
            <a:ext cx="10332720" cy="32004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It converts "the RAG system gives bad answers" into a specific, actionable diagnosis in one step. The overwhelming majority of cases land in the first row — retrieval failed, and the model was blamed. Teams routinely spend weeks on prompt engineering for a problem that a reranker would have fixed in a day.</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5 · 5.3</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Building the evaluation set for RAG</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34</a:t>
            </a:r>
            <a:endParaRPr lang="en-US" sz="1000" dirty="0"/>
          </a:p>
        </p:txBody>
      </p:sp>
      <p:sp>
        <p:nvSpPr>
          <p:cNvPr id="5" name="Shape 3"/>
          <p:cNvSpPr/>
          <p:nvPr/>
        </p:nvSpPr>
        <p:spPr>
          <a:xfrm>
            <a:off x="640080" y="1527048"/>
            <a:ext cx="365760" cy="365760"/>
          </a:xfrm>
          <a:prstGeom prst="ellipse">
            <a:avLst/>
          </a:prstGeom>
          <a:solidFill>
            <a:srgbClr val="065A82"/>
          </a:solidFill>
          <a:ln/>
        </p:spPr>
        <p:txBody>
          <a:bodyPr/>
          <a:lstStyle/>
          <a:p>
            <a:endParaRPr lang="en-US"/>
          </a:p>
        </p:txBody>
      </p:sp>
      <p:sp>
        <p:nvSpPr>
          <p:cNvPr id="6" name="Text 4"/>
          <p:cNvSpPr/>
          <p:nvPr/>
        </p:nvSpPr>
        <p:spPr>
          <a:xfrm>
            <a:off x="640080" y="152704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88720" y="1371600"/>
            <a:ext cx="3566160" cy="585216"/>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Real questions first</a:t>
            </a:r>
            <a:endParaRPr lang="en-US" sz="1300" dirty="0"/>
          </a:p>
        </p:txBody>
      </p:sp>
      <p:sp>
        <p:nvSpPr>
          <p:cNvPr id="8" name="Text 6"/>
          <p:cNvSpPr/>
          <p:nvPr/>
        </p:nvSpPr>
        <p:spPr>
          <a:xfrm>
            <a:off x="5074920" y="1371600"/>
            <a:ext cx="6446520" cy="585216"/>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Take actual questions from support tickets, engineer queries and search logs. Invented questions are systematically easier than real ones.</a:t>
            </a:r>
            <a:endParaRPr lang="en-US" sz="1150" dirty="0"/>
          </a:p>
        </p:txBody>
      </p:sp>
      <p:sp>
        <p:nvSpPr>
          <p:cNvPr id="9" name="Shape 7"/>
          <p:cNvSpPr/>
          <p:nvPr/>
        </p:nvSpPr>
        <p:spPr>
          <a:xfrm>
            <a:off x="640080" y="2203704"/>
            <a:ext cx="365760" cy="365760"/>
          </a:xfrm>
          <a:prstGeom prst="ellipse">
            <a:avLst/>
          </a:prstGeom>
          <a:solidFill>
            <a:srgbClr val="065A82"/>
          </a:solidFill>
          <a:ln/>
        </p:spPr>
        <p:txBody>
          <a:bodyPr/>
          <a:lstStyle/>
          <a:p>
            <a:endParaRPr lang="en-US"/>
          </a:p>
        </p:txBody>
      </p:sp>
      <p:sp>
        <p:nvSpPr>
          <p:cNvPr id="10" name="Text 8"/>
          <p:cNvSpPr/>
          <p:nvPr/>
        </p:nvSpPr>
        <p:spPr>
          <a:xfrm>
            <a:off x="640080" y="220370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88720" y="2048256"/>
            <a:ext cx="3566160" cy="585216"/>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Record the correct passage, not just the answer</a:t>
            </a:r>
            <a:endParaRPr lang="en-US" sz="1300" dirty="0"/>
          </a:p>
        </p:txBody>
      </p:sp>
      <p:sp>
        <p:nvSpPr>
          <p:cNvPr id="12" name="Text 10"/>
          <p:cNvSpPr/>
          <p:nvPr/>
        </p:nvSpPr>
        <p:spPr>
          <a:xfrm>
            <a:off x="5074920" y="2048256"/>
            <a:ext cx="6446520" cy="585216"/>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This is what makes context recall measurable. It is extra work at build time and it is what separates a usable evaluation set from a vague one.</a:t>
            </a:r>
            <a:endParaRPr lang="en-US" sz="1150" dirty="0"/>
          </a:p>
        </p:txBody>
      </p:sp>
      <p:sp>
        <p:nvSpPr>
          <p:cNvPr id="13" name="Shape 11"/>
          <p:cNvSpPr/>
          <p:nvPr/>
        </p:nvSpPr>
        <p:spPr>
          <a:xfrm>
            <a:off x="640080" y="2880360"/>
            <a:ext cx="365760" cy="365760"/>
          </a:xfrm>
          <a:prstGeom prst="ellipse">
            <a:avLst/>
          </a:prstGeom>
          <a:solidFill>
            <a:srgbClr val="065A82"/>
          </a:solidFill>
          <a:ln/>
        </p:spPr>
        <p:txBody>
          <a:bodyPr/>
          <a:lstStyle/>
          <a:p>
            <a:endParaRPr lang="en-US"/>
          </a:p>
        </p:txBody>
      </p:sp>
      <p:sp>
        <p:nvSpPr>
          <p:cNvPr id="14" name="Text 12"/>
          <p:cNvSpPr/>
          <p:nvPr/>
        </p:nvSpPr>
        <p:spPr>
          <a:xfrm>
            <a:off x="640080" y="28803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188720" y="2724912"/>
            <a:ext cx="3566160" cy="585216"/>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Include out-of-corpus questions</a:t>
            </a:r>
            <a:endParaRPr lang="en-US" sz="1300" dirty="0"/>
          </a:p>
        </p:txBody>
      </p:sp>
      <p:sp>
        <p:nvSpPr>
          <p:cNvPr id="16" name="Text 14"/>
          <p:cNvSpPr/>
          <p:nvPr/>
        </p:nvSpPr>
        <p:spPr>
          <a:xfrm>
            <a:off x="5074920" y="2724912"/>
            <a:ext cx="6446520" cy="585216"/>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Ten to twenty questions the documentation genuinely does not cover, to measure no-answer accuracy.</a:t>
            </a:r>
            <a:endParaRPr lang="en-US" sz="1150" dirty="0"/>
          </a:p>
        </p:txBody>
      </p:sp>
      <p:sp>
        <p:nvSpPr>
          <p:cNvPr id="17" name="Shape 15"/>
          <p:cNvSpPr/>
          <p:nvPr/>
        </p:nvSpPr>
        <p:spPr>
          <a:xfrm>
            <a:off x="640080" y="3557016"/>
            <a:ext cx="365760" cy="365760"/>
          </a:xfrm>
          <a:prstGeom prst="ellipse">
            <a:avLst/>
          </a:prstGeom>
          <a:solidFill>
            <a:srgbClr val="065A82"/>
          </a:solidFill>
          <a:ln/>
        </p:spPr>
        <p:txBody>
          <a:bodyPr/>
          <a:lstStyle/>
          <a:p>
            <a:endParaRPr lang="en-US"/>
          </a:p>
        </p:txBody>
      </p:sp>
      <p:sp>
        <p:nvSpPr>
          <p:cNvPr id="18" name="Text 16"/>
          <p:cNvSpPr/>
          <p:nvPr/>
        </p:nvSpPr>
        <p:spPr>
          <a:xfrm>
            <a:off x="640080" y="355701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188720" y="3401568"/>
            <a:ext cx="3566160" cy="585216"/>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Include per-role variants</a:t>
            </a:r>
            <a:endParaRPr lang="en-US" sz="1300" dirty="0"/>
          </a:p>
        </p:txBody>
      </p:sp>
      <p:sp>
        <p:nvSpPr>
          <p:cNvPr id="20" name="Text 18"/>
          <p:cNvSpPr/>
          <p:nvPr/>
        </p:nvSpPr>
        <p:spPr>
          <a:xfrm>
            <a:off x="5074920" y="3401568"/>
            <a:ext cx="6446520" cy="585216"/>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If retrieval is access-filtered, the correct answer differs by role. Evaluate as each role separately.</a:t>
            </a:r>
            <a:endParaRPr lang="en-US" sz="1150" dirty="0"/>
          </a:p>
        </p:txBody>
      </p:sp>
      <p:sp>
        <p:nvSpPr>
          <p:cNvPr id="21" name="Shape 19"/>
          <p:cNvSpPr/>
          <p:nvPr/>
        </p:nvSpPr>
        <p:spPr>
          <a:xfrm>
            <a:off x="640080" y="4233672"/>
            <a:ext cx="365760" cy="365760"/>
          </a:xfrm>
          <a:prstGeom prst="ellipse">
            <a:avLst/>
          </a:prstGeom>
          <a:solidFill>
            <a:srgbClr val="065A82"/>
          </a:solidFill>
          <a:ln/>
        </p:spPr>
        <p:txBody>
          <a:bodyPr/>
          <a:lstStyle/>
          <a:p>
            <a:endParaRPr lang="en-US"/>
          </a:p>
        </p:txBody>
      </p:sp>
      <p:sp>
        <p:nvSpPr>
          <p:cNvPr id="22" name="Text 20"/>
          <p:cNvSpPr/>
          <p:nvPr/>
        </p:nvSpPr>
        <p:spPr>
          <a:xfrm>
            <a:off x="640080" y="423367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188720" y="4078224"/>
            <a:ext cx="3566160" cy="585216"/>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Include known-hard cases</a:t>
            </a:r>
            <a:endParaRPr lang="en-US" sz="1300" dirty="0"/>
          </a:p>
        </p:txBody>
      </p:sp>
      <p:sp>
        <p:nvSpPr>
          <p:cNvPr id="24" name="Text 22"/>
          <p:cNvSpPr/>
          <p:nvPr/>
        </p:nvSpPr>
        <p:spPr>
          <a:xfrm>
            <a:off x="5074920" y="4078224"/>
            <a:ext cx="6446520" cy="585216"/>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Ambiguous phrasing, questions spanning two documents, questions about superseded content.</a:t>
            </a:r>
            <a:endParaRPr lang="en-US" sz="1150" dirty="0"/>
          </a:p>
        </p:txBody>
      </p:sp>
      <p:sp>
        <p:nvSpPr>
          <p:cNvPr id="25" name="Shape 23"/>
          <p:cNvSpPr/>
          <p:nvPr/>
        </p:nvSpPr>
        <p:spPr>
          <a:xfrm>
            <a:off x="640080" y="4910328"/>
            <a:ext cx="365760" cy="365760"/>
          </a:xfrm>
          <a:prstGeom prst="ellipse">
            <a:avLst/>
          </a:prstGeom>
          <a:solidFill>
            <a:srgbClr val="065A82"/>
          </a:solidFill>
          <a:ln/>
        </p:spPr>
        <p:txBody>
          <a:bodyPr/>
          <a:lstStyle/>
          <a:p>
            <a:endParaRPr lang="en-US"/>
          </a:p>
        </p:txBody>
      </p:sp>
      <p:sp>
        <p:nvSpPr>
          <p:cNvPr id="26" name="Text 24"/>
          <p:cNvSpPr/>
          <p:nvPr/>
        </p:nvSpPr>
        <p:spPr>
          <a:xfrm>
            <a:off x="640080" y="491032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1188720" y="4754880"/>
            <a:ext cx="3566160" cy="585216"/>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Synthetic questions to fill gaps</a:t>
            </a:r>
            <a:endParaRPr lang="en-US" sz="1300" dirty="0"/>
          </a:p>
        </p:txBody>
      </p:sp>
      <p:sp>
        <p:nvSpPr>
          <p:cNvPr id="28" name="Text 26"/>
          <p:cNvSpPr/>
          <p:nvPr/>
        </p:nvSpPr>
        <p:spPr>
          <a:xfrm>
            <a:off x="5074920" y="4754880"/>
            <a:ext cx="6446520" cy="585216"/>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Generate candidates from your documents to reach coverage — but have an expert verify every correct answer.</a:t>
            </a:r>
            <a:endParaRPr lang="en-US" sz="1150" dirty="0"/>
          </a:p>
        </p:txBody>
      </p:sp>
      <p:sp>
        <p:nvSpPr>
          <p:cNvPr id="29" name="Shape 27"/>
          <p:cNvSpPr/>
          <p:nvPr/>
        </p:nvSpPr>
        <p:spPr>
          <a:xfrm>
            <a:off x="640080" y="5486400"/>
            <a:ext cx="10881360" cy="731520"/>
          </a:xfrm>
          <a:prstGeom prst="roundRect">
            <a:avLst>
              <a:gd name="adj" fmla="val 7500"/>
            </a:avLst>
          </a:prstGeom>
          <a:solidFill>
            <a:srgbClr val="E4EEF4"/>
          </a:solidFill>
          <a:ln w="12700">
            <a:solidFill>
              <a:srgbClr val="C9DCE7"/>
            </a:solidFill>
            <a:prstDash val="solid"/>
          </a:ln>
        </p:spPr>
        <p:txBody>
          <a:bodyPr/>
          <a:lstStyle/>
          <a:p>
            <a:endParaRPr lang="en-US"/>
          </a:p>
        </p:txBody>
      </p:sp>
      <p:sp>
        <p:nvSpPr>
          <p:cNvPr id="30" name="Text 28"/>
          <p:cNvSpPr/>
          <p:nvPr/>
        </p:nvSpPr>
        <p:spPr>
          <a:xfrm>
            <a:off x="914400" y="5650992"/>
            <a:ext cx="10332720" cy="429768"/>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Recording the correct passage is the single decision that separates a diagnostic evaluation set from a score you cannot act on.</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5 · 5.4</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Traces and spans — seeing what actually happened</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35</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450" dirty="0">
                <a:solidFill>
                  <a:srgbClr val="5A6B7C"/>
                </a:solidFill>
                <a:latin typeface="Calibri" pitchFamily="34" charset="0"/>
                <a:ea typeface="Calibri" pitchFamily="34" charset="-122"/>
                <a:cs typeface="Calibri" pitchFamily="34" charset="-120"/>
              </a:rPr>
              <a:t>A trace is the full record of one request. A span is one step within it. Without them, debugging a RAG system is guesswork.</a:t>
            </a:r>
            <a:endParaRPr lang="en-US" sz="1450" dirty="0"/>
          </a:p>
        </p:txBody>
      </p:sp>
      <p:sp>
        <p:nvSpPr>
          <p:cNvPr id="6" name="Shape 4"/>
          <p:cNvSpPr/>
          <p:nvPr/>
        </p:nvSpPr>
        <p:spPr>
          <a:xfrm>
            <a:off x="640080" y="1783080"/>
            <a:ext cx="2194560" cy="384048"/>
          </a:xfrm>
          <a:prstGeom prst="rect">
            <a:avLst/>
          </a:prstGeom>
          <a:solidFill>
            <a:srgbClr val="21295C"/>
          </a:solidFill>
          <a:ln/>
        </p:spPr>
        <p:txBody>
          <a:bodyPr/>
          <a:lstStyle/>
          <a:p>
            <a:endParaRPr lang="en-US"/>
          </a:p>
        </p:txBody>
      </p:sp>
      <p:sp>
        <p:nvSpPr>
          <p:cNvPr id="7" name="Text 5"/>
          <p:cNvSpPr/>
          <p:nvPr/>
        </p:nvSpPr>
        <p:spPr>
          <a:xfrm>
            <a:off x="749808" y="1783080"/>
            <a:ext cx="19751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Span</a:t>
            </a:r>
            <a:endParaRPr lang="en-US" sz="1100" dirty="0"/>
          </a:p>
        </p:txBody>
      </p:sp>
      <p:sp>
        <p:nvSpPr>
          <p:cNvPr id="8" name="Shape 6"/>
          <p:cNvSpPr/>
          <p:nvPr/>
        </p:nvSpPr>
        <p:spPr>
          <a:xfrm>
            <a:off x="2834640" y="1783080"/>
            <a:ext cx="4297680" cy="384048"/>
          </a:xfrm>
          <a:prstGeom prst="rect">
            <a:avLst/>
          </a:prstGeom>
          <a:solidFill>
            <a:srgbClr val="21295C"/>
          </a:solidFill>
          <a:ln/>
        </p:spPr>
        <p:txBody>
          <a:bodyPr/>
          <a:lstStyle/>
          <a:p>
            <a:endParaRPr lang="en-US"/>
          </a:p>
        </p:txBody>
      </p:sp>
      <p:sp>
        <p:nvSpPr>
          <p:cNvPr id="9" name="Text 7"/>
          <p:cNvSpPr/>
          <p:nvPr/>
        </p:nvSpPr>
        <p:spPr>
          <a:xfrm>
            <a:off x="2944368" y="1783080"/>
            <a:ext cx="40782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Record</a:t>
            </a:r>
            <a:endParaRPr lang="en-US" sz="1100" dirty="0"/>
          </a:p>
        </p:txBody>
      </p:sp>
      <p:sp>
        <p:nvSpPr>
          <p:cNvPr id="10" name="Shape 8"/>
          <p:cNvSpPr/>
          <p:nvPr/>
        </p:nvSpPr>
        <p:spPr>
          <a:xfrm>
            <a:off x="7132320" y="1783080"/>
            <a:ext cx="4389120" cy="384048"/>
          </a:xfrm>
          <a:prstGeom prst="rect">
            <a:avLst/>
          </a:prstGeom>
          <a:solidFill>
            <a:srgbClr val="21295C"/>
          </a:solidFill>
          <a:ln/>
        </p:spPr>
        <p:txBody>
          <a:bodyPr/>
          <a:lstStyle/>
          <a:p>
            <a:endParaRPr lang="en-US"/>
          </a:p>
        </p:txBody>
      </p:sp>
      <p:sp>
        <p:nvSpPr>
          <p:cNvPr id="11" name="Text 9"/>
          <p:cNvSpPr/>
          <p:nvPr/>
        </p:nvSpPr>
        <p:spPr>
          <a:xfrm>
            <a:off x="7242048" y="1783080"/>
            <a:ext cx="416966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Reveals</a:t>
            </a:r>
            <a:endParaRPr lang="en-US" sz="1100" dirty="0"/>
          </a:p>
        </p:txBody>
      </p:sp>
      <p:sp>
        <p:nvSpPr>
          <p:cNvPr id="12" name="Shape 10"/>
          <p:cNvSpPr/>
          <p:nvPr/>
        </p:nvSpPr>
        <p:spPr>
          <a:xfrm>
            <a:off x="640080" y="2167128"/>
            <a:ext cx="2194560" cy="502920"/>
          </a:xfrm>
          <a:prstGeom prst="rect">
            <a:avLst/>
          </a:prstGeom>
          <a:solidFill>
            <a:srgbClr val="FFFFFF"/>
          </a:solidFill>
          <a:ln w="9525">
            <a:solidFill>
              <a:srgbClr val="E3EBF0"/>
            </a:solidFill>
            <a:prstDash val="solid"/>
          </a:ln>
        </p:spPr>
        <p:txBody>
          <a:bodyPr/>
          <a:lstStyle/>
          <a:p>
            <a:endParaRPr lang="en-US"/>
          </a:p>
        </p:txBody>
      </p:sp>
      <p:sp>
        <p:nvSpPr>
          <p:cNvPr id="13" name="Text 11"/>
          <p:cNvSpPr/>
          <p:nvPr/>
        </p:nvSpPr>
        <p:spPr>
          <a:xfrm>
            <a:off x="749808" y="2167128"/>
            <a:ext cx="197510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Query received</a:t>
            </a:r>
            <a:endParaRPr lang="en-US" sz="1050" dirty="0"/>
          </a:p>
        </p:txBody>
      </p:sp>
      <p:sp>
        <p:nvSpPr>
          <p:cNvPr id="14" name="Shape 12"/>
          <p:cNvSpPr/>
          <p:nvPr/>
        </p:nvSpPr>
        <p:spPr>
          <a:xfrm>
            <a:off x="2834640" y="2167128"/>
            <a:ext cx="4297680" cy="502920"/>
          </a:xfrm>
          <a:prstGeom prst="rect">
            <a:avLst/>
          </a:prstGeom>
          <a:solidFill>
            <a:srgbClr val="FFFFFF"/>
          </a:solidFill>
          <a:ln w="9525">
            <a:solidFill>
              <a:srgbClr val="E3EBF0"/>
            </a:solidFill>
            <a:prstDash val="solid"/>
          </a:ln>
        </p:spPr>
        <p:txBody>
          <a:bodyPr/>
          <a:lstStyle/>
          <a:p>
            <a:endParaRPr lang="en-US"/>
          </a:p>
        </p:txBody>
      </p:sp>
      <p:sp>
        <p:nvSpPr>
          <p:cNvPr id="15" name="Text 13"/>
          <p:cNvSpPr/>
          <p:nvPr/>
        </p:nvSpPr>
        <p:spPr>
          <a:xfrm>
            <a:off x="2944368" y="2167128"/>
            <a:ext cx="40782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Raw question, user, role, session</a:t>
            </a:r>
            <a:endParaRPr lang="en-US" sz="1050" dirty="0"/>
          </a:p>
        </p:txBody>
      </p:sp>
      <p:sp>
        <p:nvSpPr>
          <p:cNvPr id="16" name="Shape 14"/>
          <p:cNvSpPr/>
          <p:nvPr/>
        </p:nvSpPr>
        <p:spPr>
          <a:xfrm>
            <a:off x="7132320" y="2167128"/>
            <a:ext cx="4389120" cy="502920"/>
          </a:xfrm>
          <a:prstGeom prst="rect">
            <a:avLst/>
          </a:prstGeom>
          <a:solidFill>
            <a:srgbClr val="FFFFFF"/>
          </a:solidFill>
          <a:ln w="9525">
            <a:solidFill>
              <a:srgbClr val="E3EBF0"/>
            </a:solidFill>
            <a:prstDash val="solid"/>
          </a:ln>
        </p:spPr>
        <p:txBody>
          <a:bodyPr/>
          <a:lstStyle/>
          <a:p>
            <a:endParaRPr lang="en-US"/>
          </a:p>
        </p:txBody>
      </p:sp>
      <p:sp>
        <p:nvSpPr>
          <p:cNvPr id="17" name="Text 15"/>
          <p:cNvSpPr/>
          <p:nvPr/>
        </p:nvSpPr>
        <p:spPr>
          <a:xfrm>
            <a:off x="7242048" y="2167128"/>
            <a:ext cx="416966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real distribution of what users ask</a:t>
            </a:r>
            <a:endParaRPr lang="en-US" sz="1050" dirty="0"/>
          </a:p>
        </p:txBody>
      </p:sp>
      <p:sp>
        <p:nvSpPr>
          <p:cNvPr id="18" name="Shape 16"/>
          <p:cNvSpPr/>
          <p:nvPr/>
        </p:nvSpPr>
        <p:spPr>
          <a:xfrm>
            <a:off x="640080" y="2670048"/>
            <a:ext cx="2194560" cy="502920"/>
          </a:xfrm>
          <a:prstGeom prst="rect">
            <a:avLst/>
          </a:prstGeom>
          <a:solidFill>
            <a:srgbClr val="F5F9FB"/>
          </a:solidFill>
          <a:ln w="9525">
            <a:solidFill>
              <a:srgbClr val="E3EBF0"/>
            </a:solidFill>
            <a:prstDash val="solid"/>
          </a:ln>
        </p:spPr>
        <p:txBody>
          <a:bodyPr/>
          <a:lstStyle/>
          <a:p>
            <a:endParaRPr lang="en-US"/>
          </a:p>
        </p:txBody>
      </p:sp>
      <p:sp>
        <p:nvSpPr>
          <p:cNvPr id="19" name="Text 17"/>
          <p:cNvSpPr/>
          <p:nvPr/>
        </p:nvSpPr>
        <p:spPr>
          <a:xfrm>
            <a:off x="749808" y="2670048"/>
            <a:ext cx="197510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Query rewrite</a:t>
            </a:r>
            <a:endParaRPr lang="en-US" sz="1050" dirty="0"/>
          </a:p>
        </p:txBody>
      </p:sp>
      <p:sp>
        <p:nvSpPr>
          <p:cNvPr id="20" name="Shape 18"/>
          <p:cNvSpPr/>
          <p:nvPr/>
        </p:nvSpPr>
        <p:spPr>
          <a:xfrm>
            <a:off x="2834640" y="2670048"/>
            <a:ext cx="4297680" cy="502920"/>
          </a:xfrm>
          <a:prstGeom prst="rect">
            <a:avLst/>
          </a:prstGeom>
          <a:solidFill>
            <a:srgbClr val="F5F9FB"/>
          </a:solidFill>
          <a:ln w="9525">
            <a:solidFill>
              <a:srgbClr val="E3EBF0"/>
            </a:solidFill>
            <a:prstDash val="solid"/>
          </a:ln>
        </p:spPr>
        <p:txBody>
          <a:bodyPr/>
          <a:lstStyle/>
          <a:p>
            <a:endParaRPr lang="en-US"/>
          </a:p>
        </p:txBody>
      </p:sp>
      <p:sp>
        <p:nvSpPr>
          <p:cNvPr id="21" name="Text 19"/>
          <p:cNvSpPr/>
          <p:nvPr/>
        </p:nvSpPr>
        <p:spPr>
          <a:xfrm>
            <a:off x="2944368" y="2670048"/>
            <a:ext cx="40782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Original and rewritten query</a:t>
            </a:r>
            <a:endParaRPr lang="en-US" sz="1050" dirty="0"/>
          </a:p>
        </p:txBody>
      </p:sp>
      <p:sp>
        <p:nvSpPr>
          <p:cNvPr id="22" name="Shape 20"/>
          <p:cNvSpPr/>
          <p:nvPr/>
        </p:nvSpPr>
        <p:spPr>
          <a:xfrm>
            <a:off x="7132320" y="2670048"/>
            <a:ext cx="4389120" cy="502920"/>
          </a:xfrm>
          <a:prstGeom prst="rect">
            <a:avLst/>
          </a:prstGeom>
          <a:solidFill>
            <a:srgbClr val="F5F9FB"/>
          </a:solidFill>
          <a:ln w="9525">
            <a:solidFill>
              <a:srgbClr val="E3EBF0"/>
            </a:solidFill>
            <a:prstDash val="solid"/>
          </a:ln>
        </p:spPr>
        <p:txBody>
          <a:bodyPr/>
          <a:lstStyle/>
          <a:p>
            <a:endParaRPr lang="en-US"/>
          </a:p>
        </p:txBody>
      </p:sp>
      <p:sp>
        <p:nvSpPr>
          <p:cNvPr id="23" name="Text 21"/>
          <p:cNvSpPr/>
          <p:nvPr/>
        </p:nvSpPr>
        <p:spPr>
          <a:xfrm>
            <a:off x="7242048" y="2670048"/>
            <a:ext cx="416966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When rewriting helped and when it distorted intent</a:t>
            </a:r>
            <a:endParaRPr lang="en-US" sz="1050" dirty="0"/>
          </a:p>
        </p:txBody>
      </p:sp>
      <p:sp>
        <p:nvSpPr>
          <p:cNvPr id="24" name="Shape 22"/>
          <p:cNvSpPr/>
          <p:nvPr/>
        </p:nvSpPr>
        <p:spPr>
          <a:xfrm>
            <a:off x="640080" y="3172968"/>
            <a:ext cx="2194560" cy="502920"/>
          </a:xfrm>
          <a:prstGeom prst="rect">
            <a:avLst/>
          </a:prstGeom>
          <a:solidFill>
            <a:srgbClr val="FFFFFF"/>
          </a:solidFill>
          <a:ln w="9525">
            <a:solidFill>
              <a:srgbClr val="E3EBF0"/>
            </a:solidFill>
            <a:prstDash val="solid"/>
          </a:ln>
        </p:spPr>
        <p:txBody>
          <a:bodyPr/>
          <a:lstStyle/>
          <a:p>
            <a:endParaRPr lang="en-US"/>
          </a:p>
        </p:txBody>
      </p:sp>
      <p:sp>
        <p:nvSpPr>
          <p:cNvPr id="25" name="Text 23"/>
          <p:cNvSpPr/>
          <p:nvPr/>
        </p:nvSpPr>
        <p:spPr>
          <a:xfrm>
            <a:off x="749808" y="3172968"/>
            <a:ext cx="197510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Retrieval</a:t>
            </a:r>
            <a:endParaRPr lang="en-US" sz="1050" dirty="0"/>
          </a:p>
        </p:txBody>
      </p:sp>
      <p:sp>
        <p:nvSpPr>
          <p:cNvPr id="26" name="Shape 24"/>
          <p:cNvSpPr/>
          <p:nvPr/>
        </p:nvSpPr>
        <p:spPr>
          <a:xfrm>
            <a:off x="2834640" y="3172968"/>
            <a:ext cx="4297680" cy="502920"/>
          </a:xfrm>
          <a:prstGeom prst="rect">
            <a:avLst/>
          </a:prstGeom>
          <a:solidFill>
            <a:srgbClr val="FFFFFF"/>
          </a:solidFill>
          <a:ln w="9525">
            <a:solidFill>
              <a:srgbClr val="E3EBF0"/>
            </a:solidFill>
            <a:prstDash val="solid"/>
          </a:ln>
        </p:spPr>
        <p:txBody>
          <a:bodyPr/>
          <a:lstStyle/>
          <a:p>
            <a:endParaRPr lang="en-US"/>
          </a:p>
        </p:txBody>
      </p:sp>
      <p:sp>
        <p:nvSpPr>
          <p:cNvPr id="27" name="Text 25"/>
          <p:cNvSpPr/>
          <p:nvPr/>
        </p:nvSpPr>
        <p:spPr>
          <a:xfrm>
            <a:off x="2944368" y="3172968"/>
            <a:ext cx="40782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Query, filters applied, candidates with scores</a:t>
            </a:r>
            <a:endParaRPr lang="en-US" sz="1050" dirty="0"/>
          </a:p>
        </p:txBody>
      </p:sp>
      <p:sp>
        <p:nvSpPr>
          <p:cNvPr id="28" name="Shape 26"/>
          <p:cNvSpPr/>
          <p:nvPr/>
        </p:nvSpPr>
        <p:spPr>
          <a:xfrm>
            <a:off x="7132320" y="3172968"/>
            <a:ext cx="4389120" cy="502920"/>
          </a:xfrm>
          <a:prstGeom prst="rect">
            <a:avLst/>
          </a:prstGeom>
          <a:solidFill>
            <a:srgbClr val="FFFFFF"/>
          </a:solidFill>
          <a:ln w="9525">
            <a:solidFill>
              <a:srgbClr val="E3EBF0"/>
            </a:solidFill>
            <a:prstDash val="solid"/>
          </a:ln>
        </p:spPr>
        <p:txBody>
          <a:bodyPr/>
          <a:lstStyle/>
          <a:p>
            <a:endParaRPr lang="en-US"/>
          </a:p>
        </p:txBody>
      </p:sp>
      <p:sp>
        <p:nvSpPr>
          <p:cNvPr id="29" name="Text 27"/>
          <p:cNvSpPr/>
          <p:nvPr/>
        </p:nvSpPr>
        <p:spPr>
          <a:xfrm>
            <a:off x="7242048" y="3172968"/>
            <a:ext cx="416966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Whether the right passage was even a candidate</a:t>
            </a:r>
            <a:endParaRPr lang="en-US" sz="1050" dirty="0"/>
          </a:p>
        </p:txBody>
      </p:sp>
      <p:sp>
        <p:nvSpPr>
          <p:cNvPr id="30" name="Shape 28"/>
          <p:cNvSpPr/>
          <p:nvPr/>
        </p:nvSpPr>
        <p:spPr>
          <a:xfrm>
            <a:off x="640080" y="3675888"/>
            <a:ext cx="2194560" cy="502920"/>
          </a:xfrm>
          <a:prstGeom prst="rect">
            <a:avLst/>
          </a:prstGeom>
          <a:solidFill>
            <a:srgbClr val="F5F9FB"/>
          </a:solidFill>
          <a:ln w="9525">
            <a:solidFill>
              <a:srgbClr val="E3EBF0"/>
            </a:solidFill>
            <a:prstDash val="solid"/>
          </a:ln>
        </p:spPr>
        <p:txBody>
          <a:bodyPr/>
          <a:lstStyle/>
          <a:p>
            <a:endParaRPr lang="en-US"/>
          </a:p>
        </p:txBody>
      </p:sp>
      <p:sp>
        <p:nvSpPr>
          <p:cNvPr id="31" name="Text 29"/>
          <p:cNvSpPr/>
          <p:nvPr/>
        </p:nvSpPr>
        <p:spPr>
          <a:xfrm>
            <a:off x="749808" y="3675888"/>
            <a:ext cx="197510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Reranking</a:t>
            </a:r>
            <a:endParaRPr lang="en-US" sz="1050" dirty="0"/>
          </a:p>
        </p:txBody>
      </p:sp>
      <p:sp>
        <p:nvSpPr>
          <p:cNvPr id="32" name="Shape 30"/>
          <p:cNvSpPr/>
          <p:nvPr/>
        </p:nvSpPr>
        <p:spPr>
          <a:xfrm>
            <a:off x="2834640" y="3675888"/>
            <a:ext cx="4297680" cy="502920"/>
          </a:xfrm>
          <a:prstGeom prst="rect">
            <a:avLst/>
          </a:prstGeom>
          <a:solidFill>
            <a:srgbClr val="F5F9FB"/>
          </a:solidFill>
          <a:ln w="9525">
            <a:solidFill>
              <a:srgbClr val="E3EBF0"/>
            </a:solidFill>
            <a:prstDash val="solid"/>
          </a:ln>
        </p:spPr>
        <p:txBody>
          <a:bodyPr/>
          <a:lstStyle/>
          <a:p>
            <a:endParaRPr lang="en-US"/>
          </a:p>
        </p:txBody>
      </p:sp>
      <p:sp>
        <p:nvSpPr>
          <p:cNvPr id="33" name="Text 31"/>
          <p:cNvSpPr/>
          <p:nvPr/>
        </p:nvSpPr>
        <p:spPr>
          <a:xfrm>
            <a:off x="2944368" y="3675888"/>
            <a:ext cx="40782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Input order and output order with scores</a:t>
            </a:r>
            <a:endParaRPr lang="en-US" sz="1050" dirty="0"/>
          </a:p>
        </p:txBody>
      </p:sp>
      <p:sp>
        <p:nvSpPr>
          <p:cNvPr id="34" name="Shape 32"/>
          <p:cNvSpPr/>
          <p:nvPr/>
        </p:nvSpPr>
        <p:spPr>
          <a:xfrm>
            <a:off x="7132320" y="3675888"/>
            <a:ext cx="4389120" cy="502920"/>
          </a:xfrm>
          <a:prstGeom prst="rect">
            <a:avLst/>
          </a:prstGeom>
          <a:solidFill>
            <a:srgbClr val="F5F9FB"/>
          </a:solidFill>
          <a:ln w="9525">
            <a:solidFill>
              <a:srgbClr val="E3EBF0"/>
            </a:solidFill>
            <a:prstDash val="solid"/>
          </a:ln>
        </p:spPr>
        <p:txBody>
          <a:bodyPr/>
          <a:lstStyle/>
          <a:p>
            <a:endParaRPr lang="en-US"/>
          </a:p>
        </p:txBody>
      </p:sp>
      <p:sp>
        <p:nvSpPr>
          <p:cNvPr id="35" name="Text 33"/>
          <p:cNvSpPr/>
          <p:nvPr/>
        </p:nvSpPr>
        <p:spPr>
          <a:xfrm>
            <a:off x="7242048" y="3675888"/>
            <a:ext cx="416966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Whether reranking is earning its latency</a:t>
            </a:r>
            <a:endParaRPr lang="en-US" sz="1050" dirty="0"/>
          </a:p>
        </p:txBody>
      </p:sp>
      <p:sp>
        <p:nvSpPr>
          <p:cNvPr id="36" name="Shape 34"/>
          <p:cNvSpPr/>
          <p:nvPr/>
        </p:nvSpPr>
        <p:spPr>
          <a:xfrm>
            <a:off x="640080" y="4178808"/>
            <a:ext cx="2194560" cy="502920"/>
          </a:xfrm>
          <a:prstGeom prst="rect">
            <a:avLst/>
          </a:prstGeom>
          <a:solidFill>
            <a:srgbClr val="FFFFFF"/>
          </a:solidFill>
          <a:ln w="9525">
            <a:solidFill>
              <a:srgbClr val="E3EBF0"/>
            </a:solidFill>
            <a:prstDash val="solid"/>
          </a:ln>
        </p:spPr>
        <p:txBody>
          <a:bodyPr/>
          <a:lstStyle/>
          <a:p>
            <a:endParaRPr lang="en-US"/>
          </a:p>
        </p:txBody>
      </p:sp>
      <p:sp>
        <p:nvSpPr>
          <p:cNvPr id="37" name="Text 35"/>
          <p:cNvSpPr/>
          <p:nvPr/>
        </p:nvSpPr>
        <p:spPr>
          <a:xfrm>
            <a:off x="749808" y="4178808"/>
            <a:ext cx="197510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Context assembly</a:t>
            </a:r>
            <a:endParaRPr lang="en-US" sz="1050" dirty="0"/>
          </a:p>
        </p:txBody>
      </p:sp>
      <p:sp>
        <p:nvSpPr>
          <p:cNvPr id="38" name="Shape 36"/>
          <p:cNvSpPr/>
          <p:nvPr/>
        </p:nvSpPr>
        <p:spPr>
          <a:xfrm>
            <a:off x="2834640" y="4178808"/>
            <a:ext cx="4297680" cy="502920"/>
          </a:xfrm>
          <a:prstGeom prst="rect">
            <a:avLst/>
          </a:prstGeom>
          <a:solidFill>
            <a:srgbClr val="FFFFFF"/>
          </a:solidFill>
          <a:ln w="9525">
            <a:solidFill>
              <a:srgbClr val="E3EBF0"/>
            </a:solidFill>
            <a:prstDash val="solid"/>
          </a:ln>
        </p:spPr>
        <p:txBody>
          <a:bodyPr/>
          <a:lstStyle/>
          <a:p>
            <a:endParaRPr lang="en-US"/>
          </a:p>
        </p:txBody>
      </p:sp>
      <p:sp>
        <p:nvSpPr>
          <p:cNvPr id="39" name="Text 37"/>
          <p:cNvSpPr/>
          <p:nvPr/>
        </p:nvSpPr>
        <p:spPr>
          <a:xfrm>
            <a:off x="2944368" y="4178808"/>
            <a:ext cx="40782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Exactly what was passed, with token count</a:t>
            </a:r>
            <a:endParaRPr lang="en-US" sz="1050" dirty="0"/>
          </a:p>
        </p:txBody>
      </p:sp>
      <p:sp>
        <p:nvSpPr>
          <p:cNvPr id="40" name="Shape 38"/>
          <p:cNvSpPr/>
          <p:nvPr/>
        </p:nvSpPr>
        <p:spPr>
          <a:xfrm>
            <a:off x="7132320" y="4178808"/>
            <a:ext cx="4389120" cy="502920"/>
          </a:xfrm>
          <a:prstGeom prst="rect">
            <a:avLst/>
          </a:prstGeom>
          <a:solidFill>
            <a:srgbClr val="FFFFFF"/>
          </a:solidFill>
          <a:ln w="9525">
            <a:solidFill>
              <a:srgbClr val="E3EBF0"/>
            </a:solidFill>
            <a:prstDash val="solid"/>
          </a:ln>
        </p:spPr>
        <p:txBody>
          <a:bodyPr/>
          <a:lstStyle/>
          <a:p>
            <a:endParaRPr lang="en-US"/>
          </a:p>
        </p:txBody>
      </p:sp>
      <p:sp>
        <p:nvSpPr>
          <p:cNvPr id="41" name="Text 39"/>
          <p:cNvSpPr/>
          <p:nvPr/>
        </p:nvSpPr>
        <p:spPr>
          <a:xfrm>
            <a:off x="7242048" y="4178808"/>
            <a:ext cx="416966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The single most useful span for debugging a wrong answer</a:t>
            </a:r>
            <a:endParaRPr lang="en-US" sz="1050" dirty="0"/>
          </a:p>
        </p:txBody>
      </p:sp>
      <p:sp>
        <p:nvSpPr>
          <p:cNvPr id="42" name="Shape 40"/>
          <p:cNvSpPr/>
          <p:nvPr/>
        </p:nvSpPr>
        <p:spPr>
          <a:xfrm>
            <a:off x="640080" y="4681728"/>
            <a:ext cx="2194560" cy="502920"/>
          </a:xfrm>
          <a:prstGeom prst="rect">
            <a:avLst/>
          </a:prstGeom>
          <a:solidFill>
            <a:srgbClr val="F5F9FB"/>
          </a:solidFill>
          <a:ln w="9525">
            <a:solidFill>
              <a:srgbClr val="E3EBF0"/>
            </a:solidFill>
            <a:prstDash val="solid"/>
          </a:ln>
        </p:spPr>
        <p:txBody>
          <a:bodyPr/>
          <a:lstStyle/>
          <a:p>
            <a:endParaRPr lang="en-US"/>
          </a:p>
        </p:txBody>
      </p:sp>
      <p:sp>
        <p:nvSpPr>
          <p:cNvPr id="43" name="Text 41"/>
          <p:cNvSpPr/>
          <p:nvPr/>
        </p:nvSpPr>
        <p:spPr>
          <a:xfrm>
            <a:off x="749808" y="4681728"/>
            <a:ext cx="197510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Tool calls</a:t>
            </a:r>
            <a:endParaRPr lang="en-US" sz="1050" dirty="0"/>
          </a:p>
        </p:txBody>
      </p:sp>
      <p:sp>
        <p:nvSpPr>
          <p:cNvPr id="44" name="Shape 42"/>
          <p:cNvSpPr/>
          <p:nvPr/>
        </p:nvSpPr>
        <p:spPr>
          <a:xfrm>
            <a:off x="2834640" y="4681728"/>
            <a:ext cx="4297680" cy="502920"/>
          </a:xfrm>
          <a:prstGeom prst="rect">
            <a:avLst/>
          </a:prstGeom>
          <a:solidFill>
            <a:srgbClr val="F5F9FB"/>
          </a:solidFill>
          <a:ln w="9525">
            <a:solidFill>
              <a:srgbClr val="E3EBF0"/>
            </a:solidFill>
            <a:prstDash val="solid"/>
          </a:ln>
        </p:spPr>
        <p:txBody>
          <a:bodyPr/>
          <a:lstStyle/>
          <a:p>
            <a:endParaRPr lang="en-US"/>
          </a:p>
        </p:txBody>
      </p:sp>
      <p:sp>
        <p:nvSpPr>
          <p:cNvPr id="45" name="Text 43"/>
          <p:cNvSpPr/>
          <p:nvPr/>
        </p:nvSpPr>
        <p:spPr>
          <a:xfrm>
            <a:off x="2944368" y="4681728"/>
            <a:ext cx="40782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Tool, arguments, result, duration, outcome</a:t>
            </a:r>
            <a:endParaRPr lang="en-US" sz="1050" dirty="0"/>
          </a:p>
        </p:txBody>
      </p:sp>
      <p:sp>
        <p:nvSpPr>
          <p:cNvPr id="46" name="Shape 44"/>
          <p:cNvSpPr/>
          <p:nvPr/>
        </p:nvSpPr>
        <p:spPr>
          <a:xfrm>
            <a:off x="7132320" y="4681728"/>
            <a:ext cx="4389120" cy="502920"/>
          </a:xfrm>
          <a:prstGeom prst="rect">
            <a:avLst/>
          </a:prstGeom>
          <a:solidFill>
            <a:srgbClr val="F5F9FB"/>
          </a:solidFill>
          <a:ln w="9525">
            <a:solidFill>
              <a:srgbClr val="E3EBF0"/>
            </a:solidFill>
            <a:prstDash val="solid"/>
          </a:ln>
        </p:spPr>
        <p:txBody>
          <a:bodyPr/>
          <a:lstStyle/>
          <a:p>
            <a:endParaRPr lang="en-US"/>
          </a:p>
        </p:txBody>
      </p:sp>
      <p:sp>
        <p:nvSpPr>
          <p:cNvPr id="47" name="Text 45"/>
          <p:cNvSpPr/>
          <p:nvPr/>
        </p:nvSpPr>
        <p:spPr>
          <a:xfrm>
            <a:off x="7242048" y="4681728"/>
            <a:ext cx="416966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Failure rate and latency per tool</a:t>
            </a:r>
            <a:endParaRPr lang="en-US" sz="1050" dirty="0"/>
          </a:p>
        </p:txBody>
      </p:sp>
      <p:sp>
        <p:nvSpPr>
          <p:cNvPr id="48" name="Shape 46"/>
          <p:cNvSpPr/>
          <p:nvPr/>
        </p:nvSpPr>
        <p:spPr>
          <a:xfrm>
            <a:off x="640080" y="5184648"/>
            <a:ext cx="2194560" cy="502920"/>
          </a:xfrm>
          <a:prstGeom prst="rect">
            <a:avLst/>
          </a:prstGeom>
          <a:solidFill>
            <a:srgbClr val="FFFFFF"/>
          </a:solidFill>
          <a:ln w="9525">
            <a:solidFill>
              <a:srgbClr val="E3EBF0"/>
            </a:solidFill>
            <a:prstDash val="solid"/>
          </a:ln>
        </p:spPr>
        <p:txBody>
          <a:bodyPr/>
          <a:lstStyle/>
          <a:p>
            <a:endParaRPr lang="en-US"/>
          </a:p>
        </p:txBody>
      </p:sp>
      <p:sp>
        <p:nvSpPr>
          <p:cNvPr id="49" name="Text 47"/>
          <p:cNvSpPr/>
          <p:nvPr/>
        </p:nvSpPr>
        <p:spPr>
          <a:xfrm>
            <a:off x="749808" y="5184648"/>
            <a:ext cx="197510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Generation</a:t>
            </a:r>
            <a:endParaRPr lang="en-US" sz="1050" dirty="0"/>
          </a:p>
        </p:txBody>
      </p:sp>
      <p:sp>
        <p:nvSpPr>
          <p:cNvPr id="50" name="Shape 48"/>
          <p:cNvSpPr/>
          <p:nvPr/>
        </p:nvSpPr>
        <p:spPr>
          <a:xfrm>
            <a:off x="2834640" y="5184648"/>
            <a:ext cx="4297680" cy="502920"/>
          </a:xfrm>
          <a:prstGeom prst="rect">
            <a:avLst/>
          </a:prstGeom>
          <a:solidFill>
            <a:srgbClr val="FFFFFF"/>
          </a:solidFill>
          <a:ln w="9525">
            <a:solidFill>
              <a:srgbClr val="E3EBF0"/>
            </a:solidFill>
            <a:prstDash val="solid"/>
          </a:ln>
        </p:spPr>
        <p:txBody>
          <a:bodyPr/>
          <a:lstStyle/>
          <a:p>
            <a:endParaRPr lang="en-US"/>
          </a:p>
        </p:txBody>
      </p:sp>
      <p:sp>
        <p:nvSpPr>
          <p:cNvPr id="51" name="Text 49"/>
          <p:cNvSpPr/>
          <p:nvPr/>
        </p:nvSpPr>
        <p:spPr>
          <a:xfrm>
            <a:off x="2944368" y="5184648"/>
            <a:ext cx="40782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Model, prompt version, tokens in and out, latency</a:t>
            </a:r>
            <a:endParaRPr lang="en-US" sz="1050" dirty="0"/>
          </a:p>
        </p:txBody>
      </p:sp>
      <p:sp>
        <p:nvSpPr>
          <p:cNvPr id="52" name="Shape 50"/>
          <p:cNvSpPr/>
          <p:nvPr/>
        </p:nvSpPr>
        <p:spPr>
          <a:xfrm>
            <a:off x="7132320" y="5184648"/>
            <a:ext cx="4389120" cy="502920"/>
          </a:xfrm>
          <a:prstGeom prst="rect">
            <a:avLst/>
          </a:prstGeom>
          <a:solidFill>
            <a:srgbClr val="FFFFFF"/>
          </a:solidFill>
          <a:ln w="9525">
            <a:solidFill>
              <a:srgbClr val="E3EBF0"/>
            </a:solidFill>
            <a:prstDash val="solid"/>
          </a:ln>
        </p:spPr>
        <p:txBody>
          <a:bodyPr/>
          <a:lstStyle/>
          <a:p>
            <a:endParaRPr lang="en-US"/>
          </a:p>
        </p:txBody>
      </p:sp>
      <p:sp>
        <p:nvSpPr>
          <p:cNvPr id="53" name="Text 51"/>
          <p:cNvSpPr/>
          <p:nvPr/>
        </p:nvSpPr>
        <p:spPr>
          <a:xfrm>
            <a:off x="7242048" y="5184648"/>
            <a:ext cx="416966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Cost attribution and version comparison</a:t>
            </a:r>
            <a:endParaRPr lang="en-US" sz="1050" dirty="0"/>
          </a:p>
        </p:txBody>
      </p:sp>
      <p:sp>
        <p:nvSpPr>
          <p:cNvPr id="54" name="Shape 52"/>
          <p:cNvSpPr/>
          <p:nvPr/>
        </p:nvSpPr>
        <p:spPr>
          <a:xfrm>
            <a:off x="640080" y="5687568"/>
            <a:ext cx="2194560" cy="502920"/>
          </a:xfrm>
          <a:prstGeom prst="rect">
            <a:avLst/>
          </a:prstGeom>
          <a:solidFill>
            <a:srgbClr val="F5F9FB"/>
          </a:solidFill>
          <a:ln w="9525">
            <a:solidFill>
              <a:srgbClr val="E3EBF0"/>
            </a:solidFill>
            <a:prstDash val="solid"/>
          </a:ln>
        </p:spPr>
        <p:txBody>
          <a:bodyPr/>
          <a:lstStyle/>
          <a:p>
            <a:endParaRPr lang="en-US"/>
          </a:p>
        </p:txBody>
      </p:sp>
      <p:sp>
        <p:nvSpPr>
          <p:cNvPr id="55" name="Text 53"/>
          <p:cNvSpPr/>
          <p:nvPr/>
        </p:nvSpPr>
        <p:spPr>
          <a:xfrm>
            <a:off x="749808" y="5687568"/>
            <a:ext cx="197510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Post-processing</a:t>
            </a:r>
            <a:endParaRPr lang="en-US" sz="1050" dirty="0"/>
          </a:p>
        </p:txBody>
      </p:sp>
      <p:sp>
        <p:nvSpPr>
          <p:cNvPr id="56" name="Shape 54"/>
          <p:cNvSpPr/>
          <p:nvPr/>
        </p:nvSpPr>
        <p:spPr>
          <a:xfrm>
            <a:off x="2834640" y="5687568"/>
            <a:ext cx="4297680" cy="502920"/>
          </a:xfrm>
          <a:prstGeom prst="rect">
            <a:avLst/>
          </a:prstGeom>
          <a:solidFill>
            <a:srgbClr val="F5F9FB"/>
          </a:solidFill>
          <a:ln w="9525">
            <a:solidFill>
              <a:srgbClr val="E3EBF0"/>
            </a:solidFill>
            <a:prstDash val="solid"/>
          </a:ln>
        </p:spPr>
        <p:txBody>
          <a:bodyPr/>
          <a:lstStyle/>
          <a:p>
            <a:endParaRPr lang="en-US"/>
          </a:p>
        </p:txBody>
      </p:sp>
      <p:sp>
        <p:nvSpPr>
          <p:cNvPr id="57" name="Text 55"/>
          <p:cNvSpPr/>
          <p:nvPr/>
        </p:nvSpPr>
        <p:spPr>
          <a:xfrm>
            <a:off x="2944368" y="5687568"/>
            <a:ext cx="40782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Guardrail checks, citation validation, outcome</a:t>
            </a:r>
            <a:endParaRPr lang="en-US" sz="1050" dirty="0"/>
          </a:p>
        </p:txBody>
      </p:sp>
      <p:sp>
        <p:nvSpPr>
          <p:cNvPr id="58" name="Shape 56"/>
          <p:cNvSpPr/>
          <p:nvPr/>
        </p:nvSpPr>
        <p:spPr>
          <a:xfrm>
            <a:off x="7132320" y="5687568"/>
            <a:ext cx="4389120" cy="502920"/>
          </a:xfrm>
          <a:prstGeom prst="rect">
            <a:avLst/>
          </a:prstGeom>
          <a:solidFill>
            <a:srgbClr val="F5F9FB"/>
          </a:solidFill>
          <a:ln w="9525">
            <a:solidFill>
              <a:srgbClr val="E3EBF0"/>
            </a:solidFill>
            <a:prstDash val="solid"/>
          </a:ln>
        </p:spPr>
        <p:txBody>
          <a:bodyPr/>
          <a:lstStyle/>
          <a:p>
            <a:endParaRPr lang="en-US"/>
          </a:p>
        </p:txBody>
      </p:sp>
      <p:sp>
        <p:nvSpPr>
          <p:cNvPr id="59" name="Text 57"/>
          <p:cNvSpPr/>
          <p:nvPr/>
        </p:nvSpPr>
        <p:spPr>
          <a:xfrm>
            <a:off x="7242048" y="5687568"/>
            <a:ext cx="416966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What was blocked and why</a:t>
            </a:r>
            <a:endParaRPr lang="en-US" sz="1050" dirty="0"/>
          </a:p>
        </p:txBody>
      </p:sp>
      <p:sp>
        <p:nvSpPr>
          <p:cNvPr id="60" name="Text 58"/>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A2430"/>
                </a:solidFill>
                <a:latin typeface="Calibri" pitchFamily="34" charset="0"/>
                <a:ea typeface="Calibri" pitchFamily="34" charset="-122"/>
                <a:cs typeface="Calibri" pitchFamily="34" charset="-120"/>
              </a:rPr>
              <a:t>When a user reports a wrong answer, the context-assembly span usually answers the question immediately — and almost no PoC records it.</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5 · 5.5</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The observability dashboard</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36</a:t>
            </a:r>
            <a:endParaRPr lang="en-US" sz="1000" dirty="0"/>
          </a:p>
        </p:txBody>
      </p:sp>
      <p:sp>
        <p:nvSpPr>
          <p:cNvPr id="5" name="Shape 3"/>
          <p:cNvSpPr/>
          <p:nvPr/>
        </p:nvSpPr>
        <p:spPr>
          <a:xfrm>
            <a:off x="640080" y="1234440"/>
            <a:ext cx="2103120" cy="384048"/>
          </a:xfrm>
          <a:prstGeom prst="rect">
            <a:avLst/>
          </a:prstGeom>
          <a:solidFill>
            <a:srgbClr val="21295C"/>
          </a:solidFill>
          <a:ln/>
        </p:spPr>
        <p:txBody>
          <a:bodyPr/>
          <a:lstStyle/>
          <a:p>
            <a:endParaRPr lang="en-US"/>
          </a:p>
        </p:txBody>
      </p:sp>
      <p:sp>
        <p:nvSpPr>
          <p:cNvPr id="6" name="Text 4"/>
          <p:cNvSpPr/>
          <p:nvPr/>
        </p:nvSpPr>
        <p:spPr>
          <a:xfrm>
            <a:off x="749808" y="1234440"/>
            <a:ext cx="188366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Panel</a:t>
            </a:r>
            <a:endParaRPr lang="en-US" sz="1100" dirty="0"/>
          </a:p>
        </p:txBody>
      </p:sp>
      <p:sp>
        <p:nvSpPr>
          <p:cNvPr id="7" name="Shape 5"/>
          <p:cNvSpPr/>
          <p:nvPr/>
        </p:nvSpPr>
        <p:spPr>
          <a:xfrm>
            <a:off x="2743200" y="1234440"/>
            <a:ext cx="4754880" cy="384048"/>
          </a:xfrm>
          <a:prstGeom prst="rect">
            <a:avLst/>
          </a:prstGeom>
          <a:solidFill>
            <a:srgbClr val="21295C"/>
          </a:solidFill>
          <a:ln/>
        </p:spPr>
        <p:txBody>
          <a:bodyPr/>
          <a:lstStyle/>
          <a:p>
            <a:endParaRPr lang="en-US"/>
          </a:p>
        </p:txBody>
      </p:sp>
      <p:sp>
        <p:nvSpPr>
          <p:cNvPr id="8" name="Text 6"/>
          <p:cNvSpPr/>
          <p:nvPr/>
        </p:nvSpPr>
        <p:spPr>
          <a:xfrm>
            <a:off x="2852928" y="1234440"/>
            <a:ext cx="45354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Metrics</a:t>
            </a:r>
            <a:endParaRPr lang="en-US" sz="1100" dirty="0"/>
          </a:p>
        </p:txBody>
      </p:sp>
      <p:sp>
        <p:nvSpPr>
          <p:cNvPr id="9" name="Shape 7"/>
          <p:cNvSpPr/>
          <p:nvPr/>
        </p:nvSpPr>
        <p:spPr>
          <a:xfrm>
            <a:off x="7498080" y="1234440"/>
            <a:ext cx="4023360" cy="384048"/>
          </a:xfrm>
          <a:prstGeom prst="rect">
            <a:avLst/>
          </a:prstGeom>
          <a:solidFill>
            <a:srgbClr val="21295C"/>
          </a:solidFill>
          <a:ln/>
        </p:spPr>
        <p:txBody>
          <a:bodyPr/>
          <a:lstStyle/>
          <a:p>
            <a:endParaRPr lang="en-US"/>
          </a:p>
        </p:txBody>
      </p:sp>
      <p:sp>
        <p:nvSpPr>
          <p:cNvPr id="10" name="Text 8"/>
          <p:cNvSpPr/>
          <p:nvPr/>
        </p:nvSpPr>
        <p:spPr>
          <a:xfrm>
            <a:off x="7607808" y="1234440"/>
            <a:ext cx="38039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Alert on</a:t>
            </a:r>
            <a:endParaRPr lang="en-US" sz="1100" dirty="0"/>
          </a:p>
        </p:txBody>
      </p:sp>
      <p:sp>
        <p:nvSpPr>
          <p:cNvPr id="11" name="Shape 9"/>
          <p:cNvSpPr/>
          <p:nvPr/>
        </p:nvSpPr>
        <p:spPr>
          <a:xfrm>
            <a:off x="640080" y="1618488"/>
            <a:ext cx="2103120" cy="502920"/>
          </a:xfrm>
          <a:prstGeom prst="rect">
            <a:avLst/>
          </a:prstGeom>
          <a:solidFill>
            <a:srgbClr val="FFFFFF"/>
          </a:solidFill>
          <a:ln w="9525">
            <a:solidFill>
              <a:srgbClr val="E3EBF0"/>
            </a:solidFill>
            <a:prstDash val="solid"/>
          </a:ln>
        </p:spPr>
        <p:txBody>
          <a:bodyPr/>
          <a:lstStyle/>
          <a:p>
            <a:endParaRPr lang="en-US"/>
          </a:p>
        </p:txBody>
      </p:sp>
      <p:sp>
        <p:nvSpPr>
          <p:cNvPr id="12" name="Text 10"/>
          <p:cNvSpPr/>
          <p:nvPr/>
        </p:nvSpPr>
        <p:spPr>
          <a:xfrm>
            <a:off x="749808" y="1618488"/>
            <a:ext cx="18836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Quality</a:t>
            </a:r>
            <a:endParaRPr lang="en-US" sz="1050" dirty="0"/>
          </a:p>
        </p:txBody>
      </p:sp>
      <p:sp>
        <p:nvSpPr>
          <p:cNvPr id="13" name="Shape 11"/>
          <p:cNvSpPr/>
          <p:nvPr/>
        </p:nvSpPr>
        <p:spPr>
          <a:xfrm>
            <a:off x="2743200" y="1618488"/>
            <a:ext cx="4754880" cy="502920"/>
          </a:xfrm>
          <a:prstGeom prst="rect">
            <a:avLst/>
          </a:prstGeom>
          <a:solidFill>
            <a:srgbClr val="FFFFFF"/>
          </a:solidFill>
          <a:ln w="9525">
            <a:solidFill>
              <a:srgbClr val="E3EBF0"/>
            </a:solidFill>
            <a:prstDash val="solid"/>
          </a:ln>
        </p:spPr>
        <p:txBody>
          <a:bodyPr/>
          <a:lstStyle/>
          <a:p>
            <a:endParaRPr lang="en-US"/>
          </a:p>
        </p:txBody>
      </p:sp>
      <p:sp>
        <p:nvSpPr>
          <p:cNvPr id="14" name="Text 12"/>
          <p:cNvSpPr/>
          <p:nvPr/>
        </p:nvSpPr>
        <p:spPr>
          <a:xfrm>
            <a:off x="2852928" y="1618488"/>
            <a:ext cx="45354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Context recall and precision, faithfulness, citation accuracy on the scheduled evaluation run</a:t>
            </a:r>
            <a:endParaRPr lang="en-US" sz="1050" dirty="0"/>
          </a:p>
        </p:txBody>
      </p:sp>
      <p:sp>
        <p:nvSpPr>
          <p:cNvPr id="15" name="Shape 13"/>
          <p:cNvSpPr/>
          <p:nvPr/>
        </p:nvSpPr>
        <p:spPr>
          <a:xfrm>
            <a:off x="7498080" y="1618488"/>
            <a:ext cx="4023360" cy="502920"/>
          </a:xfrm>
          <a:prstGeom prst="rect">
            <a:avLst/>
          </a:prstGeom>
          <a:solidFill>
            <a:srgbClr val="FFFFFF"/>
          </a:solidFill>
          <a:ln w="9525">
            <a:solidFill>
              <a:srgbClr val="E3EBF0"/>
            </a:solidFill>
            <a:prstDash val="solid"/>
          </a:ln>
        </p:spPr>
        <p:txBody>
          <a:bodyPr/>
          <a:lstStyle/>
          <a:p>
            <a:endParaRPr lang="en-US"/>
          </a:p>
        </p:txBody>
      </p:sp>
      <p:sp>
        <p:nvSpPr>
          <p:cNvPr id="16" name="Text 14"/>
          <p:cNvSpPr/>
          <p:nvPr/>
        </p:nvSpPr>
        <p:spPr>
          <a:xfrm>
            <a:off x="7607808" y="1618488"/>
            <a:ext cx="38039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Any metric falling below its threshold</a:t>
            </a:r>
            <a:endParaRPr lang="en-US" sz="1050" dirty="0"/>
          </a:p>
        </p:txBody>
      </p:sp>
      <p:sp>
        <p:nvSpPr>
          <p:cNvPr id="17" name="Shape 15"/>
          <p:cNvSpPr/>
          <p:nvPr/>
        </p:nvSpPr>
        <p:spPr>
          <a:xfrm>
            <a:off x="640080" y="2121408"/>
            <a:ext cx="2103120" cy="502920"/>
          </a:xfrm>
          <a:prstGeom prst="rect">
            <a:avLst/>
          </a:prstGeom>
          <a:solidFill>
            <a:srgbClr val="F5F9FB"/>
          </a:solidFill>
          <a:ln w="9525">
            <a:solidFill>
              <a:srgbClr val="E3EBF0"/>
            </a:solidFill>
            <a:prstDash val="solid"/>
          </a:ln>
        </p:spPr>
        <p:txBody>
          <a:bodyPr/>
          <a:lstStyle/>
          <a:p>
            <a:endParaRPr lang="en-US"/>
          </a:p>
        </p:txBody>
      </p:sp>
      <p:sp>
        <p:nvSpPr>
          <p:cNvPr id="18" name="Text 16"/>
          <p:cNvSpPr/>
          <p:nvPr/>
        </p:nvSpPr>
        <p:spPr>
          <a:xfrm>
            <a:off x="749808" y="2121408"/>
            <a:ext cx="18836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No-answer behaviour</a:t>
            </a:r>
            <a:endParaRPr lang="en-US" sz="1050" dirty="0"/>
          </a:p>
        </p:txBody>
      </p:sp>
      <p:sp>
        <p:nvSpPr>
          <p:cNvPr id="19" name="Shape 17"/>
          <p:cNvSpPr/>
          <p:nvPr/>
        </p:nvSpPr>
        <p:spPr>
          <a:xfrm>
            <a:off x="2743200" y="2121408"/>
            <a:ext cx="4754880" cy="502920"/>
          </a:xfrm>
          <a:prstGeom prst="rect">
            <a:avLst/>
          </a:prstGeom>
          <a:solidFill>
            <a:srgbClr val="F5F9FB"/>
          </a:solidFill>
          <a:ln w="9525">
            <a:solidFill>
              <a:srgbClr val="E3EBF0"/>
            </a:solidFill>
            <a:prstDash val="solid"/>
          </a:ln>
        </p:spPr>
        <p:txBody>
          <a:bodyPr/>
          <a:lstStyle/>
          <a:p>
            <a:endParaRPr lang="en-US"/>
          </a:p>
        </p:txBody>
      </p:sp>
      <p:sp>
        <p:nvSpPr>
          <p:cNvPr id="20" name="Text 18"/>
          <p:cNvSpPr/>
          <p:nvPr/>
        </p:nvSpPr>
        <p:spPr>
          <a:xfrm>
            <a:off x="2852928" y="2121408"/>
            <a:ext cx="45354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Decline rate, and correctness of declines</a:t>
            </a:r>
            <a:endParaRPr lang="en-US" sz="1050" dirty="0"/>
          </a:p>
        </p:txBody>
      </p:sp>
      <p:sp>
        <p:nvSpPr>
          <p:cNvPr id="21" name="Shape 19"/>
          <p:cNvSpPr/>
          <p:nvPr/>
        </p:nvSpPr>
        <p:spPr>
          <a:xfrm>
            <a:off x="7498080" y="2121408"/>
            <a:ext cx="4023360" cy="502920"/>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7607808" y="2121408"/>
            <a:ext cx="38039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Decline rate falling toward zero — it means declining stopped working</a:t>
            </a:r>
            <a:endParaRPr lang="en-US" sz="1050" dirty="0"/>
          </a:p>
        </p:txBody>
      </p:sp>
      <p:sp>
        <p:nvSpPr>
          <p:cNvPr id="23" name="Shape 21"/>
          <p:cNvSpPr/>
          <p:nvPr/>
        </p:nvSpPr>
        <p:spPr>
          <a:xfrm>
            <a:off x="640080" y="2624328"/>
            <a:ext cx="2103120" cy="502920"/>
          </a:xfrm>
          <a:prstGeom prst="rect">
            <a:avLst/>
          </a:prstGeom>
          <a:solidFill>
            <a:srgbClr val="FFFFFF"/>
          </a:solidFill>
          <a:ln w="9525">
            <a:solidFill>
              <a:srgbClr val="E3EBF0"/>
            </a:solidFill>
            <a:prstDash val="solid"/>
          </a:ln>
        </p:spPr>
        <p:txBody>
          <a:bodyPr/>
          <a:lstStyle/>
          <a:p>
            <a:endParaRPr lang="en-US"/>
          </a:p>
        </p:txBody>
      </p:sp>
      <p:sp>
        <p:nvSpPr>
          <p:cNvPr id="24" name="Text 22"/>
          <p:cNvSpPr/>
          <p:nvPr/>
        </p:nvSpPr>
        <p:spPr>
          <a:xfrm>
            <a:off x="749808" y="2624328"/>
            <a:ext cx="18836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Retrieval health</a:t>
            </a:r>
            <a:endParaRPr lang="en-US" sz="1050" dirty="0"/>
          </a:p>
        </p:txBody>
      </p:sp>
      <p:sp>
        <p:nvSpPr>
          <p:cNvPr id="25" name="Shape 23"/>
          <p:cNvSpPr/>
          <p:nvPr/>
        </p:nvSpPr>
        <p:spPr>
          <a:xfrm>
            <a:off x="2743200" y="2624328"/>
            <a:ext cx="4754880" cy="502920"/>
          </a:xfrm>
          <a:prstGeom prst="rect">
            <a:avLst/>
          </a:prstGeom>
          <a:solidFill>
            <a:srgbClr val="FFFFFF"/>
          </a:solidFill>
          <a:ln w="9525">
            <a:solidFill>
              <a:srgbClr val="E3EBF0"/>
            </a:solidFill>
            <a:prstDash val="solid"/>
          </a:ln>
        </p:spPr>
        <p:txBody>
          <a:bodyPr/>
          <a:lstStyle/>
          <a:p>
            <a:endParaRPr lang="en-US"/>
          </a:p>
        </p:txBody>
      </p:sp>
      <p:sp>
        <p:nvSpPr>
          <p:cNvPr id="26" name="Text 24"/>
          <p:cNvSpPr/>
          <p:nvPr/>
        </p:nvSpPr>
        <p:spPr>
          <a:xfrm>
            <a:off x="2852928" y="2624328"/>
            <a:ext cx="45354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Score distribution, empty-result rate, filter hit rates</a:t>
            </a:r>
            <a:endParaRPr lang="en-US" sz="1050" dirty="0"/>
          </a:p>
        </p:txBody>
      </p:sp>
      <p:sp>
        <p:nvSpPr>
          <p:cNvPr id="27" name="Shape 25"/>
          <p:cNvSpPr/>
          <p:nvPr/>
        </p:nvSpPr>
        <p:spPr>
          <a:xfrm>
            <a:off x="7498080" y="2624328"/>
            <a:ext cx="4023360" cy="502920"/>
          </a:xfrm>
          <a:prstGeom prst="rect">
            <a:avLst/>
          </a:prstGeom>
          <a:solidFill>
            <a:srgbClr val="FFFFFF"/>
          </a:solidFill>
          <a:ln w="9525">
            <a:solidFill>
              <a:srgbClr val="E3EBF0"/>
            </a:solidFill>
            <a:prstDash val="solid"/>
          </a:ln>
        </p:spPr>
        <p:txBody>
          <a:bodyPr/>
          <a:lstStyle/>
          <a:p>
            <a:endParaRPr lang="en-US"/>
          </a:p>
        </p:txBody>
      </p:sp>
      <p:sp>
        <p:nvSpPr>
          <p:cNvPr id="28" name="Text 26"/>
          <p:cNvSpPr/>
          <p:nvPr/>
        </p:nvSpPr>
        <p:spPr>
          <a:xfrm>
            <a:off x="7607808" y="2624328"/>
            <a:ext cx="38039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Rising empty results; shifting score distribution</a:t>
            </a:r>
            <a:endParaRPr lang="en-US" sz="1050" dirty="0"/>
          </a:p>
        </p:txBody>
      </p:sp>
      <p:sp>
        <p:nvSpPr>
          <p:cNvPr id="29" name="Shape 27"/>
          <p:cNvSpPr/>
          <p:nvPr/>
        </p:nvSpPr>
        <p:spPr>
          <a:xfrm>
            <a:off x="640080" y="3127248"/>
            <a:ext cx="2103120" cy="502920"/>
          </a:xfrm>
          <a:prstGeom prst="rect">
            <a:avLst/>
          </a:prstGeom>
          <a:solidFill>
            <a:srgbClr val="F5F9FB"/>
          </a:solidFill>
          <a:ln w="9525">
            <a:solidFill>
              <a:srgbClr val="E3EBF0"/>
            </a:solidFill>
            <a:prstDash val="solid"/>
          </a:ln>
        </p:spPr>
        <p:txBody>
          <a:bodyPr/>
          <a:lstStyle/>
          <a:p>
            <a:endParaRPr lang="en-US"/>
          </a:p>
        </p:txBody>
      </p:sp>
      <p:sp>
        <p:nvSpPr>
          <p:cNvPr id="30" name="Text 28"/>
          <p:cNvSpPr/>
          <p:nvPr/>
        </p:nvSpPr>
        <p:spPr>
          <a:xfrm>
            <a:off x="749808" y="3127248"/>
            <a:ext cx="18836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Tool calls</a:t>
            </a:r>
            <a:endParaRPr lang="en-US" sz="1050" dirty="0"/>
          </a:p>
        </p:txBody>
      </p:sp>
      <p:sp>
        <p:nvSpPr>
          <p:cNvPr id="31" name="Shape 29"/>
          <p:cNvSpPr/>
          <p:nvPr/>
        </p:nvSpPr>
        <p:spPr>
          <a:xfrm>
            <a:off x="2743200" y="3127248"/>
            <a:ext cx="4754880" cy="502920"/>
          </a:xfrm>
          <a:prstGeom prst="rect">
            <a:avLst/>
          </a:prstGeom>
          <a:solidFill>
            <a:srgbClr val="F5F9FB"/>
          </a:solidFill>
          <a:ln w="9525">
            <a:solidFill>
              <a:srgbClr val="E3EBF0"/>
            </a:solidFill>
            <a:prstDash val="solid"/>
          </a:ln>
        </p:spPr>
        <p:txBody>
          <a:bodyPr/>
          <a:lstStyle/>
          <a:p>
            <a:endParaRPr lang="en-US"/>
          </a:p>
        </p:txBody>
      </p:sp>
      <p:sp>
        <p:nvSpPr>
          <p:cNvPr id="32" name="Text 30"/>
          <p:cNvSpPr/>
          <p:nvPr/>
        </p:nvSpPr>
        <p:spPr>
          <a:xfrm>
            <a:off x="2852928" y="3127248"/>
            <a:ext cx="45354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Invocation rate, failure rate and latency per tool</a:t>
            </a:r>
            <a:endParaRPr lang="en-US" sz="1050" dirty="0"/>
          </a:p>
        </p:txBody>
      </p:sp>
      <p:sp>
        <p:nvSpPr>
          <p:cNvPr id="33" name="Shape 31"/>
          <p:cNvSpPr/>
          <p:nvPr/>
        </p:nvSpPr>
        <p:spPr>
          <a:xfrm>
            <a:off x="7498080" y="3127248"/>
            <a:ext cx="4023360" cy="502920"/>
          </a:xfrm>
          <a:prstGeom prst="rect">
            <a:avLst/>
          </a:prstGeom>
          <a:solidFill>
            <a:srgbClr val="F5F9FB"/>
          </a:solidFill>
          <a:ln w="9525">
            <a:solidFill>
              <a:srgbClr val="E3EBF0"/>
            </a:solidFill>
            <a:prstDash val="solid"/>
          </a:ln>
        </p:spPr>
        <p:txBody>
          <a:bodyPr/>
          <a:lstStyle/>
          <a:p>
            <a:endParaRPr lang="en-US"/>
          </a:p>
        </p:txBody>
      </p:sp>
      <p:sp>
        <p:nvSpPr>
          <p:cNvPr id="34" name="Text 32"/>
          <p:cNvSpPr/>
          <p:nvPr/>
        </p:nvSpPr>
        <p:spPr>
          <a:xfrm>
            <a:off x="7607808" y="3127248"/>
            <a:ext cx="38039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Failure rate above threshold on any tool</a:t>
            </a:r>
            <a:endParaRPr lang="en-US" sz="1050" dirty="0"/>
          </a:p>
        </p:txBody>
      </p:sp>
      <p:sp>
        <p:nvSpPr>
          <p:cNvPr id="35" name="Shape 33"/>
          <p:cNvSpPr/>
          <p:nvPr/>
        </p:nvSpPr>
        <p:spPr>
          <a:xfrm>
            <a:off x="640080" y="3630168"/>
            <a:ext cx="2103120" cy="502920"/>
          </a:xfrm>
          <a:prstGeom prst="rect">
            <a:avLst/>
          </a:prstGeom>
          <a:solidFill>
            <a:srgbClr val="FFFFFF"/>
          </a:solidFill>
          <a:ln w="9525">
            <a:solidFill>
              <a:srgbClr val="E3EBF0"/>
            </a:solidFill>
            <a:prstDash val="solid"/>
          </a:ln>
        </p:spPr>
        <p:txBody>
          <a:bodyPr/>
          <a:lstStyle/>
          <a:p>
            <a:endParaRPr lang="en-US"/>
          </a:p>
        </p:txBody>
      </p:sp>
      <p:sp>
        <p:nvSpPr>
          <p:cNvPr id="36" name="Text 34"/>
          <p:cNvSpPr/>
          <p:nvPr/>
        </p:nvSpPr>
        <p:spPr>
          <a:xfrm>
            <a:off x="749808" y="3630168"/>
            <a:ext cx="18836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Cost</a:t>
            </a:r>
            <a:endParaRPr lang="en-US" sz="1050" dirty="0"/>
          </a:p>
        </p:txBody>
      </p:sp>
      <p:sp>
        <p:nvSpPr>
          <p:cNvPr id="37" name="Shape 35"/>
          <p:cNvSpPr/>
          <p:nvPr/>
        </p:nvSpPr>
        <p:spPr>
          <a:xfrm>
            <a:off x="2743200" y="3630168"/>
            <a:ext cx="4754880" cy="502920"/>
          </a:xfrm>
          <a:prstGeom prst="rect">
            <a:avLst/>
          </a:prstGeom>
          <a:solidFill>
            <a:srgbClr val="FFFFFF"/>
          </a:solidFill>
          <a:ln w="9525">
            <a:solidFill>
              <a:srgbClr val="E3EBF0"/>
            </a:solidFill>
            <a:prstDash val="solid"/>
          </a:ln>
        </p:spPr>
        <p:txBody>
          <a:bodyPr/>
          <a:lstStyle/>
          <a:p>
            <a:endParaRPr lang="en-US"/>
          </a:p>
        </p:txBody>
      </p:sp>
      <p:sp>
        <p:nvSpPr>
          <p:cNvPr id="38" name="Text 36"/>
          <p:cNvSpPr/>
          <p:nvPr/>
        </p:nvSpPr>
        <p:spPr>
          <a:xfrm>
            <a:off x="2852928" y="3630168"/>
            <a:ext cx="45354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Tokens and cost per request, per user, per tool</a:t>
            </a:r>
            <a:endParaRPr lang="en-US" sz="1050" dirty="0"/>
          </a:p>
        </p:txBody>
      </p:sp>
      <p:sp>
        <p:nvSpPr>
          <p:cNvPr id="39" name="Shape 37"/>
          <p:cNvSpPr/>
          <p:nvPr/>
        </p:nvSpPr>
        <p:spPr>
          <a:xfrm>
            <a:off x="7498080" y="3630168"/>
            <a:ext cx="4023360" cy="502920"/>
          </a:xfrm>
          <a:prstGeom prst="rect">
            <a:avLst/>
          </a:prstGeom>
          <a:solidFill>
            <a:srgbClr val="FFFFFF"/>
          </a:solidFill>
          <a:ln w="9525">
            <a:solidFill>
              <a:srgbClr val="E3EBF0"/>
            </a:solidFill>
            <a:prstDash val="solid"/>
          </a:ln>
        </p:spPr>
        <p:txBody>
          <a:bodyPr/>
          <a:lstStyle/>
          <a:p>
            <a:endParaRPr lang="en-US"/>
          </a:p>
        </p:txBody>
      </p:sp>
      <p:sp>
        <p:nvSpPr>
          <p:cNvPr id="40" name="Text 38"/>
          <p:cNvSpPr/>
          <p:nvPr/>
        </p:nvSpPr>
        <p:spPr>
          <a:xfrm>
            <a:off x="7607808" y="3630168"/>
            <a:ext cx="38039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Sudden rise in tokens per request — usually a retrieval regression</a:t>
            </a:r>
            <a:endParaRPr lang="en-US" sz="1050" dirty="0"/>
          </a:p>
        </p:txBody>
      </p:sp>
      <p:sp>
        <p:nvSpPr>
          <p:cNvPr id="41" name="Shape 39"/>
          <p:cNvSpPr/>
          <p:nvPr/>
        </p:nvSpPr>
        <p:spPr>
          <a:xfrm>
            <a:off x="640080" y="4133088"/>
            <a:ext cx="2103120" cy="502920"/>
          </a:xfrm>
          <a:prstGeom prst="rect">
            <a:avLst/>
          </a:prstGeom>
          <a:solidFill>
            <a:srgbClr val="F5F9FB"/>
          </a:solidFill>
          <a:ln w="9525">
            <a:solidFill>
              <a:srgbClr val="E3EBF0"/>
            </a:solidFill>
            <a:prstDash val="solid"/>
          </a:ln>
        </p:spPr>
        <p:txBody>
          <a:bodyPr/>
          <a:lstStyle/>
          <a:p>
            <a:endParaRPr lang="en-US"/>
          </a:p>
        </p:txBody>
      </p:sp>
      <p:sp>
        <p:nvSpPr>
          <p:cNvPr id="42" name="Text 40"/>
          <p:cNvSpPr/>
          <p:nvPr/>
        </p:nvSpPr>
        <p:spPr>
          <a:xfrm>
            <a:off x="749808" y="4133088"/>
            <a:ext cx="18836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Latency</a:t>
            </a:r>
            <a:endParaRPr lang="en-US" sz="1050" dirty="0"/>
          </a:p>
        </p:txBody>
      </p:sp>
      <p:sp>
        <p:nvSpPr>
          <p:cNvPr id="43" name="Shape 41"/>
          <p:cNvSpPr/>
          <p:nvPr/>
        </p:nvSpPr>
        <p:spPr>
          <a:xfrm>
            <a:off x="2743200" y="4133088"/>
            <a:ext cx="4754880" cy="502920"/>
          </a:xfrm>
          <a:prstGeom prst="rect">
            <a:avLst/>
          </a:prstGeom>
          <a:solidFill>
            <a:srgbClr val="F5F9FB"/>
          </a:solidFill>
          <a:ln w="9525">
            <a:solidFill>
              <a:srgbClr val="E3EBF0"/>
            </a:solidFill>
            <a:prstDash val="solid"/>
          </a:ln>
        </p:spPr>
        <p:txBody>
          <a:bodyPr/>
          <a:lstStyle/>
          <a:p>
            <a:endParaRPr lang="en-US"/>
          </a:p>
        </p:txBody>
      </p:sp>
      <p:sp>
        <p:nvSpPr>
          <p:cNvPr id="44" name="Text 42"/>
          <p:cNvSpPr/>
          <p:nvPr/>
        </p:nvSpPr>
        <p:spPr>
          <a:xfrm>
            <a:off x="2852928" y="4133088"/>
            <a:ext cx="45354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p50, p95, p99, broken down by span</a:t>
            </a:r>
            <a:endParaRPr lang="en-US" sz="1050" dirty="0"/>
          </a:p>
        </p:txBody>
      </p:sp>
      <p:sp>
        <p:nvSpPr>
          <p:cNvPr id="45" name="Shape 43"/>
          <p:cNvSpPr/>
          <p:nvPr/>
        </p:nvSpPr>
        <p:spPr>
          <a:xfrm>
            <a:off x="7498080" y="4133088"/>
            <a:ext cx="4023360" cy="502920"/>
          </a:xfrm>
          <a:prstGeom prst="rect">
            <a:avLst/>
          </a:prstGeom>
          <a:solidFill>
            <a:srgbClr val="F5F9FB"/>
          </a:solidFill>
          <a:ln w="9525">
            <a:solidFill>
              <a:srgbClr val="E3EBF0"/>
            </a:solidFill>
            <a:prstDash val="solid"/>
          </a:ln>
        </p:spPr>
        <p:txBody>
          <a:bodyPr/>
          <a:lstStyle/>
          <a:p>
            <a:endParaRPr lang="en-US"/>
          </a:p>
        </p:txBody>
      </p:sp>
      <p:sp>
        <p:nvSpPr>
          <p:cNvPr id="46" name="Text 44"/>
          <p:cNvSpPr/>
          <p:nvPr/>
        </p:nvSpPr>
        <p:spPr>
          <a:xfrm>
            <a:off x="7607808" y="4133088"/>
            <a:ext cx="38039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p95 breaching the service objective</a:t>
            </a:r>
            <a:endParaRPr lang="en-US" sz="1050" dirty="0"/>
          </a:p>
        </p:txBody>
      </p:sp>
      <p:sp>
        <p:nvSpPr>
          <p:cNvPr id="47" name="Shape 45"/>
          <p:cNvSpPr/>
          <p:nvPr/>
        </p:nvSpPr>
        <p:spPr>
          <a:xfrm>
            <a:off x="640080" y="4636008"/>
            <a:ext cx="2103120" cy="502920"/>
          </a:xfrm>
          <a:prstGeom prst="rect">
            <a:avLst/>
          </a:prstGeom>
          <a:solidFill>
            <a:srgbClr val="FFFFFF"/>
          </a:solidFill>
          <a:ln w="9525">
            <a:solidFill>
              <a:srgbClr val="E3EBF0"/>
            </a:solidFill>
            <a:prstDash val="solid"/>
          </a:ln>
        </p:spPr>
        <p:txBody>
          <a:bodyPr/>
          <a:lstStyle/>
          <a:p>
            <a:endParaRPr lang="en-US"/>
          </a:p>
        </p:txBody>
      </p:sp>
      <p:sp>
        <p:nvSpPr>
          <p:cNvPr id="48" name="Text 46"/>
          <p:cNvSpPr/>
          <p:nvPr/>
        </p:nvSpPr>
        <p:spPr>
          <a:xfrm>
            <a:off x="749808" y="4636008"/>
            <a:ext cx="18836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Feedback</a:t>
            </a:r>
            <a:endParaRPr lang="en-US" sz="1050" dirty="0"/>
          </a:p>
        </p:txBody>
      </p:sp>
      <p:sp>
        <p:nvSpPr>
          <p:cNvPr id="49" name="Shape 47"/>
          <p:cNvSpPr/>
          <p:nvPr/>
        </p:nvSpPr>
        <p:spPr>
          <a:xfrm>
            <a:off x="2743200" y="4636008"/>
            <a:ext cx="4754880" cy="502920"/>
          </a:xfrm>
          <a:prstGeom prst="rect">
            <a:avLst/>
          </a:prstGeom>
          <a:solidFill>
            <a:srgbClr val="FFFFFF"/>
          </a:solidFill>
          <a:ln w="9525">
            <a:solidFill>
              <a:srgbClr val="E3EBF0"/>
            </a:solidFill>
            <a:prstDash val="solid"/>
          </a:ln>
        </p:spPr>
        <p:txBody>
          <a:bodyPr/>
          <a:lstStyle/>
          <a:p>
            <a:endParaRPr lang="en-US"/>
          </a:p>
        </p:txBody>
      </p:sp>
      <p:sp>
        <p:nvSpPr>
          <p:cNvPr id="50" name="Text 48"/>
          <p:cNvSpPr/>
          <p:nvPr/>
        </p:nvSpPr>
        <p:spPr>
          <a:xfrm>
            <a:off x="2852928" y="4636008"/>
            <a:ext cx="45354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Thumbs up and down, escalation rate, correction submissions</a:t>
            </a:r>
            <a:endParaRPr lang="en-US" sz="1050" dirty="0"/>
          </a:p>
        </p:txBody>
      </p:sp>
      <p:sp>
        <p:nvSpPr>
          <p:cNvPr id="51" name="Shape 49"/>
          <p:cNvSpPr/>
          <p:nvPr/>
        </p:nvSpPr>
        <p:spPr>
          <a:xfrm>
            <a:off x="7498080" y="4636008"/>
            <a:ext cx="4023360" cy="502920"/>
          </a:xfrm>
          <a:prstGeom prst="rect">
            <a:avLst/>
          </a:prstGeom>
          <a:solidFill>
            <a:srgbClr val="FFFFFF"/>
          </a:solidFill>
          <a:ln w="9525">
            <a:solidFill>
              <a:srgbClr val="E3EBF0"/>
            </a:solidFill>
            <a:prstDash val="solid"/>
          </a:ln>
        </p:spPr>
        <p:txBody>
          <a:bodyPr/>
          <a:lstStyle/>
          <a:p>
            <a:endParaRPr lang="en-US"/>
          </a:p>
        </p:txBody>
      </p:sp>
      <p:sp>
        <p:nvSpPr>
          <p:cNvPr id="52" name="Text 50"/>
          <p:cNvSpPr/>
          <p:nvPr/>
        </p:nvSpPr>
        <p:spPr>
          <a:xfrm>
            <a:off x="7607808" y="4636008"/>
            <a:ext cx="38039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Rising negative feedback or escalation rate</a:t>
            </a:r>
            <a:endParaRPr lang="en-US" sz="1050" dirty="0"/>
          </a:p>
        </p:txBody>
      </p:sp>
      <p:sp>
        <p:nvSpPr>
          <p:cNvPr id="53" name="Shape 51"/>
          <p:cNvSpPr/>
          <p:nvPr/>
        </p:nvSpPr>
        <p:spPr>
          <a:xfrm>
            <a:off x="640080" y="5138928"/>
            <a:ext cx="2103120" cy="502920"/>
          </a:xfrm>
          <a:prstGeom prst="rect">
            <a:avLst/>
          </a:prstGeom>
          <a:solidFill>
            <a:srgbClr val="F5F9FB"/>
          </a:solidFill>
          <a:ln w="9525">
            <a:solidFill>
              <a:srgbClr val="E3EBF0"/>
            </a:solidFill>
            <a:prstDash val="solid"/>
          </a:ln>
        </p:spPr>
        <p:txBody>
          <a:bodyPr/>
          <a:lstStyle/>
          <a:p>
            <a:endParaRPr lang="en-US"/>
          </a:p>
        </p:txBody>
      </p:sp>
      <p:sp>
        <p:nvSpPr>
          <p:cNvPr id="54" name="Text 52"/>
          <p:cNvSpPr/>
          <p:nvPr/>
        </p:nvSpPr>
        <p:spPr>
          <a:xfrm>
            <a:off x="749808" y="5138928"/>
            <a:ext cx="1883664" cy="50292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Error clusters</a:t>
            </a:r>
            <a:endParaRPr lang="en-US" sz="1050" dirty="0"/>
          </a:p>
        </p:txBody>
      </p:sp>
      <p:sp>
        <p:nvSpPr>
          <p:cNvPr id="55" name="Shape 53"/>
          <p:cNvSpPr/>
          <p:nvPr/>
        </p:nvSpPr>
        <p:spPr>
          <a:xfrm>
            <a:off x="2743200" y="5138928"/>
            <a:ext cx="4754880" cy="502920"/>
          </a:xfrm>
          <a:prstGeom prst="rect">
            <a:avLst/>
          </a:prstGeom>
          <a:solidFill>
            <a:srgbClr val="F5F9FB"/>
          </a:solidFill>
          <a:ln w="9525">
            <a:solidFill>
              <a:srgbClr val="E3EBF0"/>
            </a:solidFill>
            <a:prstDash val="solid"/>
          </a:ln>
        </p:spPr>
        <p:txBody>
          <a:bodyPr/>
          <a:lstStyle/>
          <a:p>
            <a:endParaRPr lang="en-US"/>
          </a:p>
        </p:txBody>
      </p:sp>
      <p:sp>
        <p:nvSpPr>
          <p:cNvPr id="56" name="Text 54"/>
          <p:cNvSpPr/>
          <p:nvPr/>
        </p:nvSpPr>
        <p:spPr>
          <a:xfrm>
            <a:off x="2852928" y="5138928"/>
            <a:ext cx="453542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Failures grouped by cause, ranked by frequency × cost</a:t>
            </a:r>
            <a:endParaRPr lang="en-US" sz="1050" dirty="0"/>
          </a:p>
        </p:txBody>
      </p:sp>
      <p:sp>
        <p:nvSpPr>
          <p:cNvPr id="57" name="Shape 55"/>
          <p:cNvSpPr/>
          <p:nvPr/>
        </p:nvSpPr>
        <p:spPr>
          <a:xfrm>
            <a:off x="7498080" y="5138928"/>
            <a:ext cx="4023360" cy="502920"/>
          </a:xfrm>
          <a:prstGeom prst="rect">
            <a:avLst/>
          </a:prstGeom>
          <a:solidFill>
            <a:srgbClr val="F5F9FB"/>
          </a:solidFill>
          <a:ln w="9525">
            <a:solidFill>
              <a:srgbClr val="E3EBF0"/>
            </a:solidFill>
            <a:prstDash val="solid"/>
          </a:ln>
        </p:spPr>
        <p:txBody>
          <a:bodyPr/>
          <a:lstStyle/>
          <a:p>
            <a:endParaRPr lang="en-US"/>
          </a:p>
        </p:txBody>
      </p:sp>
      <p:sp>
        <p:nvSpPr>
          <p:cNvPr id="58" name="Text 56"/>
          <p:cNvSpPr/>
          <p:nvPr/>
        </p:nvSpPr>
        <p:spPr>
          <a:xfrm>
            <a:off x="7607808" y="5138928"/>
            <a:ext cx="3803904" cy="50292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 new cluster appearing</a:t>
            </a:r>
            <a:endParaRPr lang="en-US" sz="1050" dirty="0"/>
          </a:p>
        </p:txBody>
      </p:sp>
      <p:sp>
        <p:nvSpPr>
          <p:cNvPr id="59" name="Text 57"/>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A2430"/>
                </a:solidFill>
                <a:latin typeface="Calibri" pitchFamily="34" charset="0"/>
                <a:ea typeface="Calibri" pitchFamily="34" charset="-122"/>
                <a:cs typeface="Calibri" pitchFamily="34" charset="-120"/>
              </a:rPr>
              <a:t>Rising tokens per request is one of the most useful early warnings you have: it usually means retrieval quality dropped and more passages are being pulled in.</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5 · 5.6</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Regression testing and quality alerts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37</a:t>
            </a:r>
            <a:endParaRPr lang="en-US" sz="1000" dirty="0"/>
          </a:p>
        </p:txBody>
      </p:sp>
      <p:sp>
        <p:nvSpPr>
          <p:cNvPr id="5" name="Shape 3"/>
          <p:cNvSpPr/>
          <p:nvPr/>
        </p:nvSpPr>
        <p:spPr>
          <a:xfrm>
            <a:off x="640080" y="1280160"/>
            <a:ext cx="5303520" cy="2560320"/>
          </a:xfrm>
          <a:prstGeom prst="roundRect">
            <a:avLst>
              <a:gd name="adj" fmla="val 2143"/>
            </a:avLst>
          </a:prstGeom>
          <a:solidFill>
            <a:srgbClr val="EEF3F7"/>
          </a:solidFill>
          <a:ln w="12700">
            <a:solidFill>
              <a:srgbClr val="D8E4EC"/>
            </a:solidFill>
            <a:prstDash val="solid"/>
          </a:ln>
        </p:spPr>
        <p:txBody>
          <a:bodyPr/>
          <a:lstStyle/>
          <a:p>
            <a:endParaRPr lang="en-US"/>
          </a:p>
        </p:txBody>
      </p:sp>
      <p:sp>
        <p:nvSpPr>
          <p:cNvPr id="6" name="Text 4"/>
          <p:cNvSpPr/>
          <p:nvPr/>
        </p:nvSpPr>
        <p:spPr>
          <a:xfrm>
            <a:off x="841248" y="1417320"/>
            <a:ext cx="4901184" cy="347472"/>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What triggers a regression run</a:t>
            </a:r>
            <a:endParaRPr lang="en-US" sz="1400" dirty="0"/>
          </a:p>
        </p:txBody>
      </p:sp>
      <p:sp>
        <p:nvSpPr>
          <p:cNvPr id="7" name="Text 5"/>
          <p:cNvSpPr/>
          <p:nvPr/>
        </p:nvSpPr>
        <p:spPr>
          <a:xfrm>
            <a:off x="841248" y="1783080"/>
            <a:ext cx="4901184" cy="190195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Any prompt change</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Any model or model version change</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Any embedding model change</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Any chunking or ingestion change</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Any retrieval configuration change</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A scheduled weekly run regardless of changes</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The scheduled run catches drift, which by definition happens without anyone changing anything.</a:t>
            </a:r>
            <a:endParaRPr lang="en-US" sz="1150" dirty="0"/>
          </a:p>
        </p:txBody>
      </p:sp>
      <p:sp>
        <p:nvSpPr>
          <p:cNvPr id="8" name="Shape 6"/>
          <p:cNvSpPr/>
          <p:nvPr/>
        </p:nvSpPr>
        <p:spPr>
          <a:xfrm>
            <a:off x="6263640" y="1280160"/>
            <a:ext cx="5257800" cy="2560320"/>
          </a:xfrm>
          <a:prstGeom prst="roundRect">
            <a:avLst>
              <a:gd name="adj" fmla="val 2143"/>
            </a:avLst>
          </a:prstGeom>
          <a:solidFill>
            <a:srgbClr val="EEF3F7"/>
          </a:solidFill>
          <a:ln w="12700">
            <a:solidFill>
              <a:srgbClr val="D8E4EC"/>
            </a:solidFill>
            <a:prstDash val="solid"/>
          </a:ln>
        </p:spPr>
        <p:txBody>
          <a:bodyPr/>
          <a:lstStyle/>
          <a:p>
            <a:endParaRPr lang="en-US"/>
          </a:p>
        </p:txBody>
      </p:sp>
      <p:sp>
        <p:nvSpPr>
          <p:cNvPr id="9" name="Text 7"/>
          <p:cNvSpPr/>
          <p:nvPr/>
        </p:nvSpPr>
        <p:spPr>
          <a:xfrm>
            <a:off x="6464808" y="1417320"/>
            <a:ext cx="4855464" cy="347472"/>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What the suite contains</a:t>
            </a:r>
            <a:endParaRPr lang="en-US" sz="1400" dirty="0"/>
          </a:p>
        </p:txBody>
      </p:sp>
      <p:sp>
        <p:nvSpPr>
          <p:cNvPr id="10" name="Text 8"/>
          <p:cNvSpPr/>
          <p:nvPr/>
        </p:nvSpPr>
        <p:spPr>
          <a:xfrm>
            <a:off x="6464808" y="1783080"/>
            <a:ext cx="4855464" cy="190195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The gold set with known correct passages</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Every past production failure that was fixed</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Out-of-corpus questions for no-answer accuracy</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Per-role variants where retrieval is filtered</a:t>
            </a: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 Known-hard cases: ambiguity, multi-document, superseded content</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It only ever grows.</a:t>
            </a:r>
            <a:endParaRPr lang="en-US" sz="1150" dirty="0"/>
          </a:p>
        </p:txBody>
      </p:sp>
      <p:sp>
        <p:nvSpPr>
          <p:cNvPr id="11" name="Shape 9"/>
          <p:cNvSpPr/>
          <p:nvPr/>
        </p:nvSpPr>
        <p:spPr>
          <a:xfrm>
            <a:off x="640080" y="4069080"/>
            <a:ext cx="10881360" cy="1463040"/>
          </a:xfrm>
          <a:prstGeom prst="roundRect">
            <a:avLst>
              <a:gd name="adj" fmla="val 3750"/>
            </a:avLst>
          </a:prstGeom>
          <a:solidFill>
            <a:srgbClr val="EDF5EE"/>
          </a:solidFill>
          <a:ln w="12700">
            <a:solidFill>
              <a:srgbClr val="C2DCC8"/>
            </a:solidFill>
            <a:prstDash val="solid"/>
          </a:ln>
        </p:spPr>
        <p:txBody>
          <a:bodyPr/>
          <a:lstStyle/>
          <a:p>
            <a:endParaRPr lang="en-US"/>
          </a:p>
        </p:txBody>
      </p:sp>
      <p:sp>
        <p:nvSpPr>
          <p:cNvPr id="12" name="Text 10"/>
          <p:cNvSpPr/>
          <p:nvPr/>
        </p:nvSpPr>
        <p:spPr>
          <a:xfrm>
            <a:off x="914400" y="4233672"/>
            <a:ext cx="10332720" cy="320040"/>
          </a:xfrm>
          <a:prstGeom prst="rect">
            <a:avLst/>
          </a:prstGeom>
          <a:noFill/>
          <a:ln/>
        </p:spPr>
        <p:txBody>
          <a:bodyPr wrap="square" lIns="0" tIns="0" rIns="0" bIns="0" rtlCol="0" anchor="ctr"/>
          <a:lstStyle/>
          <a:p>
            <a:pPr marL="0" indent="0">
              <a:buNone/>
            </a:pPr>
            <a:r>
              <a:rPr lang="en-US" sz="1350" b="1" dirty="0">
                <a:solidFill>
                  <a:srgbClr val="1E7A3C"/>
                </a:solidFill>
                <a:latin typeface="Calibri" pitchFamily="34" charset="0"/>
                <a:ea typeface="Calibri" pitchFamily="34" charset="-122"/>
                <a:cs typeface="Calibri" pitchFamily="34" charset="-120"/>
              </a:rPr>
              <a:t>The discipline that makes this compound</a:t>
            </a:r>
            <a:endParaRPr lang="en-US" sz="1350" dirty="0"/>
          </a:p>
        </p:txBody>
      </p:sp>
      <p:sp>
        <p:nvSpPr>
          <p:cNvPr id="13" name="Text 11"/>
          <p:cNvSpPr/>
          <p:nvPr/>
        </p:nvSpPr>
        <p:spPr>
          <a:xfrm>
            <a:off x="914400" y="4572000"/>
            <a:ext cx="10332720" cy="82296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Every production failure that gets fixed becomes a permanent case in the suite. Within a year the suite encodes everything the system has ever got wrong, and no regression can silently reintroduce a past failure. This is ordinary software engineering practice applied to a system that almost never receives it — and it is the difference between a system that improves and one that oscillates.</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22960" y="2194560"/>
            <a:ext cx="10058400" cy="365760"/>
          </a:xfrm>
          <a:prstGeom prst="rect">
            <a:avLst/>
          </a:prstGeom>
          <a:noFill/>
          <a:ln/>
        </p:spPr>
        <p:txBody>
          <a:bodyPr wrap="square" rtlCol="0" anchor="ctr"/>
          <a:lstStyle/>
          <a:p>
            <a:pPr marL="0" indent="0">
              <a:buNone/>
            </a:pPr>
            <a:r>
              <a:rPr lang="en-US" sz="1200" b="1" kern="0" spc="300" dirty="0">
                <a:solidFill>
                  <a:srgbClr val="9FD0E3"/>
                </a:solidFill>
                <a:latin typeface="Calibri" pitchFamily="34" charset="0"/>
                <a:ea typeface="Calibri" pitchFamily="34" charset="-122"/>
                <a:cs typeface="Calibri" pitchFamily="34" charset="-120"/>
              </a:rPr>
              <a:t>MODULE 6</a:t>
            </a:r>
            <a:endParaRPr lang="en-US" sz="1200" dirty="0"/>
          </a:p>
        </p:txBody>
      </p:sp>
      <p:sp>
        <p:nvSpPr>
          <p:cNvPr id="3" name="Text 1"/>
          <p:cNvSpPr/>
          <p:nvPr/>
        </p:nvSpPr>
        <p:spPr>
          <a:xfrm>
            <a:off x="822960" y="2606040"/>
            <a:ext cx="10241280" cy="10972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RAG Accuracy Improvement Patterns</a:t>
            </a:r>
            <a:endParaRPr lang="en-US" sz="3400" dirty="0"/>
          </a:p>
        </p:txBody>
      </p:sp>
      <p:sp>
        <p:nvSpPr>
          <p:cNvPr id="4" name="Text 2"/>
          <p:cNvSpPr/>
          <p:nvPr/>
        </p:nvSpPr>
        <p:spPr>
          <a:xfrm>
            <a:off x="822960" y="3794760"/>
            <a:ext cx="9692640" cy="822960"/>
          </a:xfrm>
          <a:prstGeom prst="rect">
            <a:avLst/>
          </a:prstGeom>
          <a:noFill/>
          <a:ln/>
        </p:spPr>
        <p:txBody>
          <a:bodyPr wrap="square" rtlCol="0" anchor="ctr"/>
          <a:lstStyle/>
          <a:p>
            <a:pPr marL="0" indent="0">
              <a:lnSpc>
                <a:spcPts val="2100"/>
              </a:lnSpc>
              <a:buNone/>
            </a:pPr>
            <a:r>
              <a:rPr lang="en-US" sz="1500" dirty="0">
                <a:solidFill>
                  <a:srgbClr val="D5E8F0"/>
                </a:solidFill>
                <a:latin typeface="Calibri" pitchFamily="34" charset="0"/>
                <a:ea typeface="Calibri" pitchFamily="34" charset="-122"/>
                <a:cs typeface="Calibri" pitchFamily="34" charset="-120"/>
              </a:rPr>
              <a:t>Thirteen levers, roughly ordered by the return they typically deliver on industrial documentation.</a:t>
            </a:r>
            <a:endParaRPr lang="en-US" sz="1500" dirty="0"/>
          </a:p>
        </p:txBody>
      </p:sp>
      <p:sp>
        <p:nvSpPr>
          <p:cNvPr id="5" name="Text 3"/>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38</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6 · 6.1</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The thirteen levers, ranked by typical return</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39</a:t>
            </a:r>
            <a:endParaRPr lang="en-US" sz="1000" dirty="0"/>
          </a:p>
        </p:txBody>
      </p:sp>
      <p:sp>
        <p:nvSpPr>
          <p:cNvPr id="5" name="Shape 3"/>
          <p:cNvSpPr/>
          <p:nvPr/>
        </p:nvSpPr>
        <p:spPr>
          <a:xfrm>
            <a:off x="640080" y="1234440"/>
            <a:ext cx="2560320" cy="384048"/>
          </a:xfrm>
          <a:prstGeom prst="rect">
            <a:avLst/>
          </a:prstGeom>
          <a:solidFill>
            <a:srgbClr val="21295C"/>
          </a:solidFill>
          <a:ln/>
        </p:spPr>
        <p:txBody>
          <a:bodyPr/>
          <a:lstStyle/>
          <a:p>
            <a:endParaRPr lang="en-US"/>
          </a:p>
        </p:txBody>
      </p:sp>
      <p:sp>
        <p:nvSpPr>
          <p:cNvPr id="6" name="Text 4"/>
          <p:cNvSpPr/>
          <p:nvPr/>
        </p:nvSpPr>
        <p:spPr>
          <a:xfrm>
            <a:off x="749808" y="1234440"/>
            <a:ext cx="234086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Lever</a:t>
            </a:r>
            <a:endParaRPr lang="en-US" sz="1100" dirty="0"/>
          </a:p>
        </p:txBody>
      </p:sp>
      <p:sp>
        <p:nvSpPr>
          <p:cNvPr id="7" name="Shape 5"/>
          <p:cNvSpPr/>
          <p:nvPr/>
        </p:nvSpPr>
        <p:spPr>
          <a:xfrm>
            <a:off x="3200400" y="1234440"/>
            <a:ext cx="1828800" cy="384048"/>
          </a:xfrm>
          <a:prstGeom prst="rect">
            <a:avLst/>
          </a:prstGeom>
          <a:solidFill>
            <a:srgbClr val="21295C"/>
          </a:solidFill>
          <a:ln/>
        </p:spPr>
        <p:txBody>
          <a:bodyPr/>
          <a:lstStyle/>
          <a:p>
            <a:endParaRPr lang="en-US"/>
          </a:p>
        </p:txBody>
      </p:sp>
      <p:sp>
        <p:nvSpPr>
          <p:cNvPr id="8" name="Text 6"/>
          <p:cNvSpPr/>
          <p:nvPr/>
        </p:nvSpPr>
        <p:spPr>
          <a:xfrm>
            <a:off x="3310128" y="1234440"/>
            <a:ext cx="16093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Typical return</a:t>
            </a:r>
            <a:endParaRPr lang="en-US" sz="1100" dirty="0"/>
          </a:p>
        </p:txBody>
      </p:sp>
      <p:sp>
        <p:nvSpPr>
          <p:cNvPr id="9" name="Shape 7"/>
          <p:cNvSpPr/>
          <p:nvPr/>
        </p:nvSpPr>
        <p:spPr>
          <a:xfrm>
            <a:off x="5029200" y="1234440"/>
            <a:ext cx="1554480" cy="384048"/>
          </a:xfrm>
          <a:prstGeom prst="rect">
            <a:avLst/>
          </a:prstGeom>
          <a:solidFill>
            <a:srgbClr val="21295C"/>
          </a:solidFill>
          <a:ln/>
        </p:spPr>
        <p:txBody>
          <a:bodyPr/>
          <a:lstStyle/>
          <a:p>
            <a:endParaRPr lang="en-US"/>
          </a:p>
        </p:txBody>
      </p:sp>
      <p:sp>
        <p:nvSpPr>
          <p:cNvPr id="10" name="Text 8"/>
          <p:cNvSpPr/>
          <p:nvPr/>
        </p:nvSpPr>
        <p:spPr>
          <a:xfrm>
            <a:off x="5138928" y="1234440"/>
            <a:ext cx="133502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Effort</a:t>
            </a:r>
            <a:endParaRPr lang="en-US" sz="1100" dirty="0"/>
          </a:p>
        </p:txBody>
      </p:sp>
      <p:sp>
        <p:nvSpPr>
          <p:cNvPr id="11" name="Shape 9"/>
          <p:cNvSpPr/>
          <p:nvPr/>
        </p:nvSpPr>
        <p:spPr>
          <a:xfrm>
            <a:off x="6583680" y="1234440"/>
            <a:ext cx="4937760" cy="384048"/>
          </a:xfrm>
          <a:prstGeom prst="rect">
            <a:avLst/>
          </a:prstGeom>
          <a:solidFill>
            <a:srgbClr val="21295C"/>
          </a:solidFill>
          <a:ln/>
        </p:spPr>
        <p:txBody>
          <a:bodyPr/>
          <a:lstStyle/>
          <a:p>
            <a:endParaRPr lang="en-US"/>
          </a:p>
        </p:txBody>
      </p:sp>
      <p:sp>
        <p:nvSpPr>
          <p:cNvPr id="12" name="Text 10"/>
          <p:cNvSpPr/>
          <p:nvPr/>
        </p:nvSpPr>
        <p:spPr>
          <a:xfrm>
            <a:off x="6693408" y="1234440"/>
            <a:ext cx="47183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Notes</a:t>
            </a:r>
            <a:endParaRPr lang="en-US" sz="1100" dirty="0"/>
          </a:p>
        </p:txBody>
      </p:sp>
      <p:sp>
        <p:nvSpPr>
          <p:cNvPr id="13" name="Shape 11"/>
          <p:cNvSpPr/>
          <p:nvPr/>
        </p:nvSpPr>
        <p:spPr>
          <a:xfrm>
            <a:off x="640080" y="1618488"/>
            <a:ext cx="2560320" cy="347472"/>
          </a:xfrm>
          <a:prstGeom prst="rect">
            <a:avLst/>
          </a:prstGeom>
          <a:solidFill>
            <a:srgbClr val="FFFFFF"/>
          </a:solidFill>
          <a:ln w="9525">
            <a:solidFill>
              <a:srgbClr val="E3EBF0"/>
            </a:solidFill>
            <a:prstDash val="solid"/>
          </a:ln>
        </p:spPr>
        <p:txBody>
          <a:bodyPr/>
          <a:lstStyle/>
          <a:p>
            <a:endParaRPr lang="en-US"/>
          </a:p>
        </p:txBody>
      </p:sp>
      <p:sp>
        <p:nvSpPr>
          <p:cNvPr id="14" name="Text 12"/>
          <p:cNvSpPr/>
          <p:nvPr/>
        </p:nvSpPr>
        <p:spPr>
          <a:xfrm>
            <a:off x="749808" y="1618488"/>
            <a:ext cx="2340864" cy="34747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Better chunking</a:t>
            </a:r>
            <a:endParaRPr lang="en-US" sz="1050" dirty="0"/>
          </a:p>
        </p:txBody>
      </p:sp>
      <p:sp>
        <p:nvSpPr>
          <p:cNvPr id="15" name="Shape 13"/>
          <p:cNvSpPr/>
          <p:nvPr/>
        </p:nvSpPr>
        <p:spPr>
          <a:xfrm>
            <a:off x="3200400" y="1618488"/>
            <a:ext cx="1828800" cy="347472"/>
          </a:xfrm>
          <a:prstGeom prst="rect">
            <a:avLst/>
          </a:prstGeom>
          <a:solidFill>
            <a:srgbClr val="FFFFFF"/>
          </a:solidFill>
          <a:ln w="9525">
            <a:solidFill>
              <a:srgbClr val="E3EBF0"/>
            </a:solidFill>
            <a:prstDash val="solid"/>
          </a:ln>
        </p:spPr>
        <p:txBody>
          <a:bodyPr/>
          <a:lstStyle/>
          <a:p>
            <a:endParaRPr lang="en-US"/>
          </a:p>
        </p:txBody>
      </p:sp>
      <p:sp>
        <p:nvSpPr>
          <p:cNvPr id="16" name="Text 14"/>
          <p:cNvSpPr/>
          <p:nvPr/>
        </p:nvSpPr>
        <p:spPr>
          <a:xfrm>
            <a:off x="3310128" y="1618488"/>
            <a:ext cx="160934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High</a:t>
            </a:r>
            <a:endParaRPr lang="en-US" sz="1050" dirty="0"/>
          </a:p>
        </p:txBody>
      </p:sp>
      <p:sp>
        <p:nvSpPr>
          <p:cNvPr id="17" name="Shape 15"/>
          <p:cNvSpPr/>
          <p:nvPr/>
        </p:nvSpPr>
        <p:spPr>
          <a:xfrm>
            <a:off x="5029200" y="1618488"/>
            <a:ext cx="1554480" cy="347472"/>
          </a:xfrm>
          <a:prstGeom prst="rect">
            <a:avLst/>
          </a:prstGeom>
          <a:solidFill>
            <a:srgbClr val="FFFFFF"/>
          </a:solidFill>
          <a:ln w="9525">
            <a:solidFill>
              <a:srgbClr val="E3EBF0"/>
            </a:solidFill>
            <a:prstDash val="solid"/>
          </a:ln>
        </p:spPr>
        <p:txBody>
          <a:bodyPr/>
          <a:lstStyle/>
          <a:p>
            <a:endParaRPr lang="en-US"/>
          </a:p>
        </p:txBody>
      </p:sp>
      <p:sp>
        <p:nvSpPr>
          <p:cNvPr id="18" name="Text 16"/>
          <p:cNvSpPr/>
          <p:nvPr/>
        </p:nvSpPr>
        <p:spPr>
          <a:xfrm>
            <a:off x="5138928" y="1618488"/>
            <a:ext cx="133502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Days</a:t>
            </a:r>
            <a:endParaRPr lang="en-US" sz="1050" dirty="0"/>
          </a:p>
        </p:txBody>
      </p:sp>
      <p:sp>
        <p:nvSpPr>
          <p:cNvPr id="19" name="Shape 17"/>
          <p:cNvSpPr/>
          <p:nvPr/>
        </p:nvSpPr>
        <p:spPr>
          <a:xfrm>
            <a:off x="6583680" y="1618488"/>
            <a:ext cx="4937760" cy="347472"/>
          </a:xfrm>
          <a:prstGeom prst="rect">
            <a:avLst/>
          </a:prstGeom>
          <a:solidFill>
            <a:srgbClr val="FFFFFF"/>
          </a:solidFill>
          <a:ln w="9525">
            <a:solidFill>
              <a:srgbClr val="E3EBF0"/>
            </a:solidFill>
            <a:prstDash val="solid"/>
          </a:ln>
        </p:spPr>
        <p:txBody>
          <a:bodyPr/>
          <a:lstStyle/>
          <a:p>
            <a:endParaRPr lang="en-US"/>
          </a:p>
        </p:txBody>
      </p:sp>
      <p:sp>
        <p:nvSpPr>
          <p:cNvPr id="20" name="Text 18"/>
          <p:cNvSpPr/>
          <p:nvPr/>
        </p:nvSpPr>
        <p:spPr>
          <a:xfrm>
            <a:off x="6693408" y="1618488"/>
            <a:ext cx="471830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Section-aware over fixed size. Often the largest single gain</a:t>
            </a:r>
            <a:endParaRPr lang="en-US" sz="1050" dirty="0"/>
          </a:p>
        </p:txBody>
      </p:sp>
      <p:sp>
        <p:nvSpPr>
          <p:cNvPr id="21" name="Shape 19"/>
          <p:cNvSpPr/>
          <p:nvPr/>
        </p:nvSpPr>
        <p:spPr>
          <a:xfrm>
            <a:off x="640080" y="1965960"/>
            <a:ext cx="2560320" cy="347472"/>
          </a:xfrm>
          <a:prstGeom prst="rect">
            <a:avLst/>
          </a:prstGeom>
          <a:solidFill>
            <a:srgbClr val="F5F9FB"/>
          </a:solidFill>
          <a:ln w="9525">
            <a:solidFill>
              <a:srgbClr val="E3EBF0"/>
            </a:solidFill>
            <a:prstDash val="solid"/>
          </a:ln>
        </p:spPr>
        <p:txBody>
          <a:bodyPr/>
          <a:lstStyle/>
          <a:p>
            <a:endParaRPr lang="en-US"/>
          </a:p>
        </p:txBody>
      </p:sp>
      <p:sp>
        <p:nvSpPr>
          <p:cNvPr id="22" name="Text 20"/>
          <p:cNvSpPr/>
          <p:nvPr/>
        </p:nvSpPr>
        <p:spPr>
          <a:xfrm>
            <a:off x="749808" y="1965960"/>
            <a:ext cx="2340864" cy="34747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Better metadata</a:t>
            </a:r>
            <a:endParaRPr lang="en-US" sz="1050" dirty="0"/>
          </a:p>
        </p:txBody>
      </p:sp>
      <p:sp>
        <p:nvSpPr>
          <p:cNvPr id="23" name="Shape 21"/>
          <p:cNvSpPr/>
          <p:nvPr/>
        </p:nvSpPr>
        <p:spPr>
          <a:xfrm>
            <a:off x="3200400" y="1965960"/>
            <a:ext cx="1828800" cy="347472"/>
          </a:xfrm>
          <a:prstGeom prst="rect">
            <a:avLst/>
          </a:prstGeom>
          <a:solidFill>
            <a:srgbClr val="F5F9FB"/>
          </a:solidFill>
          <a:ln w="9525">
            <a:solidFill>
              <a:srgbClr val="E3EBF0"/>
            </a:solidFill>
            <a:prstDash val="solid"/>
          </a:ln>
        </p:spPr>
        <p:txBody>
          <a:bodyPr/>
          <a:lstStyle/>
          <a:p>
            <a:endParaRPr lang="en-US"/>
          </a:p>
        </p:txBody>
      </p:sp>
      <p:sp>
        <p:nvSpPr>
          <p:cNvPr id="24" name="Text 22"/>
          <p:cNvSpPr/>
          <p:nvPr/>
        </p:nvSpPr>
        <p:spPr>
          <a:xfrm>
            <a:off x="3310128" y="1965960"/>
            <a:ext cx="160934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High</a:t>
            </a:r>
            <a:endParaRPr lang="en-US" sz="1050" dirty="0"/>
          </a:p>
        </p:txBody>
      </p:sp>
      <p:sp>
        <p:nvSpPr>
          <p:cNvPr id="25" name="Shape 23"/>
          <p:cNvSpPr/>
          <p:nvPr/>
        </p:nvSpPr>
        <p:spPr>
          <a:xfrm>
            <a:off x="5029200" y="1965960"/>
            <a:ext cx="1554480" cy="347472"/>
          </a:xfrm>
          <a:prstGeom prst="rect">
            <a:avLst/>
          </a:prstGeom>
          <a:solidFill>
            <a:srgbClr val="F5F9FB"/>
          </a:solidFill>
          <a:ln w="9525">
            <a:solidFill>
              <a:srgbClr val="E3EBF0"/>
            </a:solidFill>
            <a:prstDash val="solid"/>
          </a:ln>
        </p:spPr>
        <p:txBody>
          <a:bodyPr/>
          <a:lstStyle/>
          <a:p>
            <a:endParaRPr lang="en-US"/>
          </a:p>
        </p:txBody>
      </p:sp>
      <p:sp>
        <p:nvSpPr>
          <p:cNvPr id="26" name="Text 24"/>
          <p:cNvSpPr/>
          <p:nvPr/>
        </p:nvSpPr>
        <p:spPr>
          <a:xfrm>
            <a:off x="5138928" y="1965960"/>
            <a:ext cx="133502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Days to weeks</a:t>
            </a:r>
            <a:endParaRPr lang="en-US" sz="1050" dirty="0"/>
          </a:p>
        </p:txBody>
      </p:sp>
      <p:sp>
        <p:nvSpPr>
          <p:cNvPr id="27" name="Shape 25"/>
          <p:cNvSpPr/>
          <p:nvPr/>
        </p:nvSpPr>
        <p:spPr>
          <a:xfrm>
            <a:off x="6583680" y="1965960"/>
            <a:ext cx="4937760" cy="347472"/>
          </a:xfrm>
          <a:prstGeom prst="rect">
            <a:avLst/>
          </a:prstGeom>
          <a:solidFill>
            <a:srgbClr val="F5F9FB"/>
          </a:solidFill>
          <a:ln w="9525">
            <a:solidFill>
              <a:srgbClr val="E3EBF0"/>
            </a:solidFill>
            <a:prstDash val="solid"/>
          </a:ln>
        </p:spPr>
        <p:txBody>
          <a:bodyPr/>
          <a:lstStyle/>
          <a:p>
            <a:endParaRPr lang="en-US"/>
          </a:p>
        </p:txBody>
      </p:sp>
      <p:sp>
        <p:nvSpPr>
          <p:cNvPr id="28" name="Text 26"/>
          <p:cNvSpPr/>
          <p:nvPr/>
        </p:nvSpPr>
        <p:spPr>
          <a:xfrm>
            <a:off x="6693408" y="1965960"/>
            <a:ext cx="471830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Enables filtering, which is often the largest gain after chunking</a:t>
            </a:r>
            <a:endParaRPr lang="en-US" sz="1050" dirty="0"/>
          </a:p>
        </p:txBody>
      </p:sp>
      <p:sp>
        <p:nvSpPr>
          <p:cNvPr id="29" name="Shape 27"/>
          <p:cNvSpPr/>
          <p:nvPr/>
        </p:nvSpPr>
        <p:spPr>
          <a:xfrm>
            <a:off x="640080" y="2313432"/>
            <a:ext cx="2560320" cy="347472"/>
          </a:xfrm>
          <a:prstGeom prst="rect">
            <a:avLst/>
          </a:prstGeom>
          <a:solidFill>
            <a:srgbClr val="FFFFFF"/>
          </a:solidFill>
          <a:ln w="9525">
            <a:solidFill>
              <a:srgbClr val="E3EBF0"/>
            </a:solidFill>
            <a:prstDash val="solid"/>
          </a:ln>
        </p:spPr>
        <p:txBody>
          <a:bodyPr/>
          <a:lstStyle/>
          <a:p>
            <a:endParaRPr lang="en-US"/>
          </a:p>
        </p:txBody>
      </p:sp>
      <p:sp>
        <p:nvSpPr>
          <p:cNvPr id="30" name="Text 28"/>
          <p:cNvSpPr/>
          <p:nvPr/>
        </p:nvSpPr>
        <p:spPr>
          <a:xfrm>
            <a:off x="749808" y="2313432"/>
            <a:ext cx="2340864" cy="34747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Hybrid retrieval</a:t>
            </a:r>
            <a:endParaRPr lang="en-US" sz="1050" dirty="0"/>
          </a:p>
        </p:txBody>
      </p:sp>
      <p:sp>
        <p:nvSpPr>
          <p:cNvPr id="31" name="Shape 29"/>
          <p:cNvSpPr/>
          <p:nvPr/>
        </p:nvSpPr>
        <p:spPr>
          <a:xfrm>
            <a:off x="3200400" y="2313432"/>
            <a:ext cx="1828800" cy="347472"/>
          </a:xfrm>
          <a:prstGeom prst="rect">
            <a:avLst/>
          </a:prstGeom>
          <a:solidFill>
            <a:srgbClr val="FFFFFF"/>
          </a:solidFill>
          <a:ln w="9525">
            <a:solidFill>
              <a:srgbClr val="E3EBF0"/>
            </a:solidFill>
            <a:prstDash val="solid"/>
          </a:ln>
        </p:spPr>
        <p:txBody>
          <a:bodyPr/>
          <a:lstStyle/>
          <a:p>
            <a:endParaRPr lang="en-US"/>
          </a:p>
        </p:txBody>
      </p:sp>
      <p:sp>
        <p:nvSpPr>
          <p:cNvPr id="32" name="Text 30"/>
          <p:cNvSpPr/>
          <p:nvPr/>
        </p:nvSpPr>
        <p:spPr>
          <a:xfrm>
            <a:off x="3310128" y="2313432"/>
            <a:ext cx="160934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High</a:t>
            </a:r>
            <a:endParaRPr lang="en-US" sz="1050" dirty="0"/>
          </a:p>
        </p:txBody>
      </p:sp>
      <p:sp>
        <p:nvSpPr>
          <p:cNvPr id="33" name="Shape 31"/>
          <p:cNvSpPr/>
          <p:nvPr/>
        </p:nvSpPr>
        <p:spPr>
          <a:xfrm>
            <a:off x="5029200" y="2313432"/>
            <a:ext cx="1554480" cy="347472"/>
          </a:xfrm>
          <a:prstGeom prst="rect">
            <a:avLst/>
          </a:prstGeom>
          <a:solidFill>
            <a:srgbClr val="FFFFFF"/>
          </a:solidFill>
          <a:ln w="9525">
            <a:solidFill>
              <a:srgbClr val="E3EBF0"/>
            </a:solidFill>
            <a:prstDash val="solid"/>
          </a:ln>
        </p:spPr>
        <p:txBody>
          <a:bodyPr/>
          <a:lstStyle/>
          <a:p>
            <a:endParaRPr lang="en-US"/>
          </a:p>
        </p:txBody>
      </p:sp>
      <p:sp>
        <p:nvSpPr>
          <p:cNvPr id="34" name="Text 32"/>
          <p:cNvSpPr/>
          <p:nvPr/>
        </p:nvSpPr>
        <p:spPr>
          <a:xfrm>
            <a:off x="5138928" y="2313432"/>
            <a:ext cx="133502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Days</a:t>
            </a:r>
            <a:endParaRPr lang="en-US" sz="1050" dirty="0"/>
          </a:p>
        </p:txBody>
      </p:sp>
      <p:sp>
        <p:nvSpPr>
          <p:cNvPr id="35" name="Shape 33"/>
          <p:cNvSpPr/>
          <p:nvPr/>
        </p:nvSpPr>
        <p:spPr>
          <a:xfrm>
            <a:off x="6583680" y="2313432"/>
            <a:ext cx="4937760" cy="347472"/>
          </a:xfrm>
          <a:prstGeom prst="rect">
            <a:avLst/>
          </a:prstGeom>
          <a:solidFill>
            <a:srgbClr val="FFFFFF"/>
          </a:solidFill>
          <a:ln w="9525">
            <a:solidFill>
              <a:srgbClr val="E3EBF0"/>
            </a:solidFill>
            <a:prstDash val="solid"/>
          </a:ln>
        </p:spPr>
        <p:txBody>
          <a:bodyPr/>
          <a:lstStyle/>
          <a:p>
            <a:endParaRPr lang="en-US"/>
          </a:p>
        </p:txBody>
      </p:sp>
      <p:sp>
        <p:nvSpPr>
          <p:cNvPr id="36" name="Text 34"/>
          <p:cNvSpPr/>
          <p:nvPr/>
        </p:nvSpPr>
        <p:spPr>
          <a:xfrm>
            <a:off x="6693408" y="2313432"/>
            <a:ext cx="471830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Close to mandatory for technical content with identifiers</a:t>
            </a:r>
            <a:endParaRPr lang="en-US" sz="1050" dirty="0"/>
          </a:p>
        </p:txBody>
      </p:sp>
      <p:sp>
        <p:nvSpPr>
          <p:cNvPr id="37" name="Shape 35"/>
          <p:cNvSpPr/>
          <p:nvPr/>
        </p:nvSpPr>
        <p:spPr>
          <a:xfrm>
            <a:off x="640080" y="2660904"/>
            <a:ext cx="2560320" cy="347472"/>
          </a:xfrm>
          <a:prstGeom prst="rect">
            <a:avLst/>
          </a:prstGeom>
          <a:solidFill>
            <a:srgbClr val="F5F9FB"/>
          </a:solidFill>
          <a:ln w="9525">
            <a:solidFill>
              <a:srgbClr val="E3EBF0"/>
            </a:solidFill>
            <a:prstDash val="solid"/>
          </a:ln>
        </p:spPr>
        <p:txBody>
          <a:bodyPr/>
          <a:lstStyle/>
          <a:p>
            <a:endParaRPr lang="en-US"/>
          </a:p>
        </p:txBody>
      </p:sp>
      <p:sp>
        <p:nvSpPr>
          <p:cNvPr id="38" name="Text 36"/>
          <p:cNvSpPr/>
          <p:nvPr/>
        </p:nvSpPr>
        <p:spPr>
          <a:xfrm>
            <a:off x="749808" y="2660904"/>
            <a:ext cx="2340864" cy="34747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Reranking</a:t>
            </a:r>
            <a:endParaRPr lang="en-US" sz="1050" dirty="0"/>
          </a:p>
        </p:txBody>
      </p:sp>
      <p:sp>
        <p:nvSpPr>
          <p:cNvPr id="39" name="Shape 37"/>
          <p:cNvSpPr/>
          <p:nvPr/>
        </p:nvSpPr>
        <p:spPr>
          <a:xfrm>
            <a:off x="3200400" y="2660904"/>
            <a:ext cx="1828800" cy="347472"/>
          </a:xfrm>
          <a:prstGeom prst="rect">
            <a:avLst/>
          </a:prstGeom>
          <a:solidFill>
            <a:srgbClr val="F5F9FB"/>
          </a:solidFill>
          <a:ln w="9525">
            <a:solidFill>
              <a:srgbClr val="E3EBF0"/>
            </a:solidFill>
            <a:prstDash val="solid"/>
          </a:ln>
        </p:spPr>
        <p:txBody>
          <a:bodyPr/>
          <a:lstStyle/>
          <a:p>
            <a:endParaRPr lang="en-US"/>
          </a:p>
        </p:txBody>
      </p:sp>
      <p:sp>
        <p:nvSpPr>
          <p:cNvPr id="40" name="Text 38"/>
          <p:cNvSpPr/>
          <p:nvPr/>
        </p:nvSpPr>
        <p:spPr>
          <a:xfrm>
            <a:off x="3310128" y="2660904"/>
            <a:ext cx="160934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High</a:t>
            </a:r>
            <a:endParaRPr lang="en-US" sz="1050" dirty="0"/>
          </a:p>
        </p:txBody>
      </p:sp>
      <p:sp>
        <p:nvSpPr>
          <p:cNvPr id="41" name="Shape 39"/>
          <p:cNvSpPr/>
          <p:nvPr/>
        </p:nvSpPr>
        <p:spPr>
          <a:xfrm>
            <a:off x="5029200" y="2660904"/>
            <a:ext cx="1554480" cy="347472"/>
          </a:xfrm>
          <a:prstGeom prst="rect">
            <a:avLst/>
          </a:prstGeom>
          <a:solidFill>
            <a:srgbClr val="F5F9FB"/>
          </a:solidFill>
          <a:ln w="9525">
            <a:solidFill>
              <a:srgbClr val="E3EBF0"/>
            </a:solidFill>
            <a:prstDash val="solid"/>
          </a:ln>
        </p:spPr>
        <p:txBody>
          <a:bodyPr/>
          <a:lstStyle/>
          <a:p>
            <a:endParaRPr lang="en-US"/>
          </a:p>
        </p:txBody>
      </p:sp>
      <p:sp>
        <p:nvSpPr>
          <p:cNvPr id="42" name="Text 40"/>
          <p:cNvSpPr/>
          <p:nvPr/>
        </p:nvSpPr>
        <p:spPr>
          <a:xfrm>
            <a:off x="5138928" y="2660904"/>
            <a:ext cx="133502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Days</a:t>
            </a:r>
            <a:endParaRPr lang="en-US" sz="1050" dirty="0"/>
          </a:p>
        </p:txBody>
      </p:sp>
      <p:sp>
        <p:nvSpPr>
          <p:cNvPr id="43" name="Shape 41"/>
          <p:cNvSpPr/>
          <p:nvPr/>
        </p:nvSpPr>
        <p:spPr>
          <a:xfrm>
            <a:off x="6583680" y="2660904"/>
            <a:ext cx="4937760" cy="347472"/>
          </a:xfrm>
          <a:prstGeom prst="rect">
            <a:avLst/>
          </a:prstGeom>
          <a:solidFill>
            <a:srgbClr val="F5F9FB"/>
          </a:solidFill>
          <a:ln w="9525">
            <a:solidFill>
              <a:srgbClr val="E3EBF0"/>
            </a:solidFill>
            <a:prstDash val="solid"/>
          </a:ln>
        </p:spPr>
        <p:txBody>
          <a:bodyPr/>
          <a:lstStyle/>
          <a:p>
            <a:endParaRPr lang="en-US"/>
          </a:p>
        </p:txBody>
      </p:sp>
      <p:sp>
        <p:nvSpPr>
          <p:cNvPr id="44" name="Text 42"/>
          <p:cNvSpPr/>
          <p:nvPr/>
        </p:nvSpPr>
        <p:spPr>
          <a:xfrm>
            <a:off x="6693408" y="2660904"/>
            <a:ext cx="471830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Best return per day of work of anything on this list</a:t>
            </a:r>
            <a:endParaRPr lang="en-US" sz="1050" dirty="0"/>
          </a:p>
        </p:txBody>
      </p:sp>
      <p:sp>
        <p:nvSpPr>
          <p:cNvPr id="45" name="Shape 43"/>
          <p:cNvSpPr/>
          <p:nvPr/>
        </p:nvSpPr>
        <p:spPr>
          <a:xfrm>
            <a:off x="640080" y="3008376"/>
            <a:ext cx="2560320" cy="347472"/>
          </a:xfrm>
          <a:prstGeom prst="rect">
            <a:avLst/>
          </a:prstGeom>
          <a:solidFill>
            <a:srgbClr val="FFFFFF"/>
          </a:solidFill>
          <a:ln w="9525">
            <a:solidFill>
              <a:srgbClr val="E3EBF0"/>
            </a:solidFill>
            <a:prstDash val="solid"/>
          </a:ln>
        </p:spPr>
        <p:txBody>
          <a:bodyPr/>
          <a:lstStyle/>
          <a:p>
            <a:endParaRPr lang="en-US"/>
          </a:p>
        </p:txBody>
      </p:sp>
      <p:sp>
        <p:nvSpPr>
          <p:cNvPr id="46" name="Text 44"/>
          <p:cNvSpPr/>
          <p:nvPr/>
        </p:nvSpPr>
        <p:spPr>
          <a:xfrm>
            <a:off x="749808" y="3008376"/>
            <a:ext cx="2340864" cy="34747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Citation enforcement</a:t>
            </a:r>
            <a:endParaRPr lang="en-US" sz="1050" dirty="0"/>
          </a:p>
        </p:txBody>
      </p:sp>
      <p:sp>
        <p:nvSpPr>
          <p:cNvPr id="47" name="Shape 45"/>
          <p:cNvSpPr/>
          <p:nvPr/>
        </p:nvSpPr>
        <p:spPr>
          <a:xfrm>
            <a:off x="3200400" y="3008376"/>
            <a:ext cx="1828800" cy="347472"/>
          </a:xfrm>
          <a:prstGeom prst="rect">
            <a:avLst/>
          </a:prstGeom>
          <a:solidFill>
            <a:srgbClr val="FFFFFF"/>
          </a:solidFill>
          <a:ln w="9525">
            <a:solidFill>
              <a:srgbClr val="E3EBF0"/>
            </a:solidFill>
            <a:prstDash val="solid"/>
          </a:ln>
        </p:spPr>
        <p:txBody>
          <a:bodyPr/>
          <a:lstStyle/>
          <a:p>
            <a:endParaRPr lang="en-US"/>
          </a:p>
        </p:txBody>
      </p:sp>
      <p:sp>
        <p:nvSpPr>
          <p:cNvPr id="48" name="Text 46"/>
          <p:cNvSpPr/>
          <p:nvPr/>
        </p:nvSpPr>
        <p:spPr>
          <a:xfrm>
            <a:off x="3310128" y="3008376"/>
            <a:ext cx="160934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High</a:t>
            </a:r>
            <a:endParaRPr lang="en-US" sz="1050" dirty="0"/>
          </a:p>
        </p:txBody>
      </p:sp>
      <p:sp>
        <p:nvSpPr>
          <p:cNvPr id="49" name="Shape 47"/>
          <p:cNvSpPr/>
          <p:nvPr/>
        </p:nvSpPr>
        <p:spPr>
          <a:xfrm>
            <a:off x="5029200" y="3008376"/>
            <a:ext cx="1554480" cy="347472"/>
          </a:xfrm>
          <a:prstGeom prst="rect">
            <a:avLst/>
          </a:prstGeom>
          <a:solidFill>
            <a:srgbClr val="FFFFFF"/>
          </a:solidFill>
          <a:ln w="9525">
            <a:solidFill>
              <a:srgbClr val="E3EBF0"/>
            </a:solidFill>
            <a:prstDash val="solid"/>
          </a:ln>
        </p:spPr>
        <p:txBody>
          <a:bodyPr/>
          <a:lstStyle/>
          <a:p>
            <a:endParaRPr lang="en-US"/>
          </a:p>
        </p:txBody>
      </p:sp>
      <p:sp>
        <p:nvSpPr>
          <p:cNvPr id="50" name="Text 48"/>
          <p:cNvSpPr/>
          <p:nvPr/>
        </p:nvSpPr>
        <p:spPr>
          <a:xfrm>
            <a:off x="5138928" y="3008376"/>
            <a:ext cx="133502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Days</a:t>
            </a:r>
            <a:endParaRPr lang="en-US" sz="1050" dirty="0"/>
          </a:p>
        </p:txBody>
      </p:sp>
      <p:sp>
        <p:nvSpPr>
          <p:cNvPr id="51" name="Shape 49"/>
          <p:cNvSpPr/>
          <p:nvPr/>
        </p:nvSpPr>
        <p:spPr>
          <a:xfrm>
            <a:off x="6583680" y="3008376"/>
            <a:ext cx="4937760" cy="347472"/>
          </a:xfrm>
          <a:prstGeom prst="rect">
            <a:avLst/>
          </a:prstGeom>
          <a:solidFill>
            <a:srgbClr val="FFFFFF"/>
          </a:solidFill>
          <a:ln w="9525">
            <a:solidFill>
              <a:srgbClr val="E3EBF0"/>
            </a:solidFill>
            <a:prstDash val="solid"/>
          </a:ln>
        </p:spPr>
        <p:txBody>
          <a:bodyPr/>
          <a:lstStyle/>
          <a:p>
            <a:endParaRPr lang="en-US"/>
          </a:p>
        </p:txBody>
      </p:sp>
      <p:sp>
        <p:nvSpPr>
          <p:cNvPr id="52" name="Text 50"/>
          <p:cNvSpPr/>
          <p:nvPr/>
        </p:nvSpPr>
        <p:spPr>
          <a:xfrm>
            <a:off x="6693408" y="3008376"/>
            <a:ext cx="471830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Large trust gain; makes wrong answers checkable</a:t>
            </a:r>
            <a:endParaRPr lang="en-US" sz="1050" dirty="0"/>
          </a:p>
        </p:txBody>
      </p:sp>
      <p:sp>
        <p:nvSpPr>
          <p:cNvPr id="53" name="Shape 51"/>
          <p:cNvSpPr/>
          <p:nvPr/>
        </p:nvSpPr>
        <p:spPr>
          <a:xfrm>
            <a:off x="640080" y="3355848"/>
            <a:ext cx="2560320" cy="347472"/>
          </a:xfrm>
          <a:prstGeom prst="rect">
            <a:avLst/>
          </a:prstGeom>
          <a:solidFill>
            <a:srgbClr val="F5F9FB"/>
          </a:solidFill>
          <a:ln w="9525">
            <a:solidFill>
              <a:srgbClr val="E3EBF0"/>
            </a:solidFill>
            <a:prstDash val="solid"/>
          </a:ln>
        </p:spPr>
        <p:txBody>
          <a:bodyPr/>
          <a:lstStyle/>
          <a:p>
            <a:endParaRPr lang="en-US"/>
          </a:p>
        </p:txBody>
      </p:sp>
      <p:sp>
        <p:nvSpPr>
          <p:cNvPr id="54" name="Text 52"/>
          <p:cNvSpPr/>
          <p:nvPr/>
        </p:nvSpPr>
        <p:spPr>
          <a:xfrm>
            <a:off x="749808" y="3355848"/>
            <a:ext cx="2340864" cy="34747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Prompt grounding</a:t>
            </a:r>
            <a:endParaRPr lang="en-US" sz="1050" dirty="0"/>
          </a:p>
        </p:txBody>
      </p:sp>
      <p:sp>
        <p:nvSpPr>
          <p:cNvPr id="55" name="Shape 53"/>
          <p:cNvSpPr/>
          <p:nvPr/>
        </p:nvSpPr>
        <p:spPr>
          <a:xfrm>
            <a:off x="3200400" y="3355848"/>
            <a:ext cx="1828800" cy="347472"/>
          </a:xfrm>
          <a:prstGeom prst="rect">
            <a:avLst/>
          </a:prstGeom>
          <a:solidFill>
            <a:srgbClr val="F5F9FB"/>
          </a:solidFill>
          <a:ln w="9525">
            <a:solidFill>
              <a:srgbClr val="E3EBF0"/>
            </a:solidFill>
            <a:prstDash val="solid"/>
          </a:ln>
        </p:spPr>
        <p:txBody>
          <a:bodyPr/>
          <a:lstStyle/>
          <a:p>
            <a:endParaRPr lang="en-US"/>
          </a:p>
        </p:txBody>
      </p:sp>
      <p:sp>
        <p:nvSpPr>
          <p:cNvPr id="56" name="Text 54"/>
          <p:cNvSpPr/>
          <p:nvPr/>
        </p:nvSpPr>
        <p:spPr>
          <a:xfrm>
            <a:off x="3310128" y="3355848"/>
            <a:ext cx="160934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Medium-high</a:t>
            </a:r>
            <a:endParaRPr lang="en-US" sz="1050" dirty="0"/>
          </a:p>
        </p:txBody>
      </p:sp>
      <p:sp>
        <p:nvSpPr>
          <p:cNvPr id="57" name="Shape 55"/>
          <p:cNvSpPr/>
          <p:nvPr/>
        </p:nvSpPr>
        <p:spPr>
          <a:xfrm>
            <a:off x="5029200" y="3355848"/>
            <a:ext cx="1554480" cy="347472"/>
          </a:xfrm>
          <a:prstGeom prst="rect">
            <a:avLst/>
          </a:prstGeom>
          <a:solidFill>
            <a:srgbClr val="F5F9FB"/>
          </a:solidFill>
          <a:ln w="9525">
            <a:solidFill>
              <a:srgbClr val="E3EBF0"/>
            </a:solidFill>
            <a:prstDash val="solid"/>
          </a:ln>
        </p:spPr>
        <p:txBody>
          <a:bodyPr/>
          <a:lstStyle/>
          <a:p>
            <a:endParaRPr lang="en-US"/>
          </a:p>
        </p:txBody>
      </p:sp>
      <p:sp>
        <p:nvSpPr>
          <p:cNvPr id="58" name="Text 56"/>
          <p:cNvSpPr/>
          <p:nvPr/>
        </p:nvSpPr>
        <p:spPr>
          <a:xfrm>
            <a:off x="5138928" y="3355848"/>
            <a:ext cx="133502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Hours</a:t>
            </a:r>
            <a:endParaRPr lang="en-US" sz="1050" dirty="0"/>
          </a:p>
        </p:txBody>
      </p:sp>
      <p:sp>
        <p:nvSpPr>
          <p:cNvPr id="59" name="Shape 57"/>
          <p:cNvSpPr/>
          <p:nvPr/>
        </p:nvSpPr>
        <p:spPr>
          <a:xfrm>
            <a:off x="6583680" y="3355848"/>
            <a:ext cx="4937760" cy="347472"/>
          </a:xfrm>
          <a:prstGeom prst="rect">
            <a:avLst/>
          </a:prstGeom>
          <a:solidFill>
            <a:srgbClr val="F5F9FB"/>
          </a:solidFill>
          <a:ln w="9525">
            <a:solidFill>
              <a:srgbClr val="E3EBF0"/>
            </a:solidFill>
            <a:prstDash val="solid"/>
          </a:ln>
        </p:spPr>
        <p:txBody>
          <a:bodyPr/>
          <a:lstStyle/>
          <a:p>
            <a:endParaRPr lang="en-US"/>
          </a:p>
        </p:txBody>
      </p:sp>
      <p:sp>
        <p:nvSpPr>
          <p:cNvPr id="60" name="Text 58"/>
          <p:cNvSpPr/>
          <p:nvPr/>
        </p:nvSpPr>
        <p:spPr>
          <a:xfrm>
            <a:off x="6693408" y="3355848"/>
            <a:ext cx="471830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Answer only from provided passages; say so when insufficient</a:t>
            </a:r>
            <a:endParaRPr lang="en-US" sz="1050" dirty="0"/>
          </a:p>
        </p:txBody>
      </p:sp>
      <p:sp>
        <p:nvSpPr>
          <p:cNvPr id="61" name="Shape 59"/>
          <p:cNvSpPr/>
          <p:nvPr/>
        </p:nvSpPr>
        <p:spPr>
          <a:xfrm>
            <a:off x="640080" y="3703320"/>
            <a:ext cx="2560320" cy="347472"/>
          </a:xfrm>
          <a:prstGeom prst="rect">
            <a:avLst/>
          </a:prstGeom>
          <a:solidFill>
            <a:srgbClr val="FFFFFF"/>
          </a:solidFill>
          <a:ln w="9525">
            <a:solidFill>
              <a:srgbClr val="E3EBF0"/>
            </a:solidFill>
            <a:prstDash val="solid"/>
          </a:ln>
        </p:spPr>
        <p:txBody>
          <a:bodyPr/>
          <a:lstStyle/>
          <a:p>
            <a:endParaRPr lang="en-US"/>
          </a:p>
        </p:txBody>
      </p:sp>
      <p:sp>
        <p:nvSpPr>
          <p:cNvPr id="62" name="Text 60"/>
          <p:cNvSpPr/>
          <p:nvPr/>
        </p:nvSpPr>
        <p:spPr>
          <a:xfrm>
            <a:off x="749808" y="3703320"/>
            <a:ext cx="2340864" cy="34747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Domain glossary</a:t>
            </a:r>
            <a:endParaRPr lang="en-US" sz="1050" dirty="0"/>
          </a:p>
        </p:txBody>
      </p:sp>
      <p:sp>
        <p:nvSpPr>
          <p:cNvPr id="63" name="Shape 61"/>
          <p:cNvSpPr/>
          <p:nvPr/>
        </p:nvSpPr>
        <p:spPr>
          <a:xfrm>
            <a:off x="3200400" y="3703320"/>
            <a:ext cx="1828800" cy="347472"/>
          </a:xfrm>
          <a:prstGeom prst="rect">
            <a:avLst/>
          </a:prstGeom>
          <a:solidFill>
            <a:srgbClr val="FFFFFF"/>
          </a:solidFill>
          <a:ln w="9525">
            <a:solidFill>
              <a:srgbClr val="E3EBF0"/>
            </a:solidFill>
            <a:prstDash val="solid"/>
          </a:ln>
        </p:spPr>
        <p:txBody>
          <a:bodyPr/>
          <a:lstStyle/>
          <a:p>
            <a:endParaRPr lang="en-US"/>
          </a:p>
        </p:txBody>
      </p:sp>
      <p:sp>
        <p:nvSpPr>
          <p:cNvPr id="64" name="Text 62"/>
          <p:cNvSpPr/>
          <p:nvPr/>
        </p:nvSpPr>
        <p:spPr>
          <a:xfrm>
            <a:off x="3310128" y="3703320"/>
            <a:ext cx="160934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Medium-high</a:t>
            </a:r>
            <a:endParaRPr lang="en-US" sz="1050" dirty="0"/>
          </a:p>
        </p:txBody>
      </p:sp>
      <p:sp>
        <p:nvSpPr>
          <p:cNvPr id="65" name="Shape 63"/>
          <p:cNvSpPr/>
          <p:nvPr/>
        </p:nvSpPr>
        <p:spPr>
          <a:xfrm>
            <a:off x="5029200" y="3703320"/>
            <a:ext cx="1554480" cy="347472"/>
          </a:xfrm>
          <a:prstGeom prst="rect">
            <a:avLst/>
          </a:prstGeom>
          <a:solidFill>
            <a:srgbClr val="FFFFFF"/>
          </a:solidFill>
          <a:ln w="9525">
            <a:solidFill>
              <a:srgbClr val="E3EBF0"/>
            </a:solidFill>
            <a:prstDash val="solid"/>
          </a:ln>
        </p:spPr>
        <p:txBody>
          <a:bodyPr/>
          <a:lstStyle/>
          <a:p>
            <a:endParaRPr lang="en-US"/>
          </a:p>
        </p:txBody>
      </p:sp>
      <p:sp>
        <p:nvSpPr>
          <p:cNvPr id="66" name="Text 64"/>
          <p:cNvSpPr/>
          <p:nvPr/>
        </p:nvSpPr>
        <p:spPr>
          <a:xfrm>
            <a:off x="5138928" y="3703320"/>
            <a:ext cx="133502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Days</a:t>
            </a:r>
            <a:endParaRPr lang="en-US" sz="1050" dirty="0"/>
          </a:p>
        </p:txBody>
      </p:sp>
      <p:sp>
        <p:nvSpPr>
          <p:cNvPr id="67" name="Shape 65"/>
          <p:cNvSpPr/>
          <p:nvPr/>
        </p:nvSpPr>
        <p:spPr>
          <a:xfrm>
            <a:off x="6583680" y="3703320"/>
            <a:ext cx="4937760" cy="347472"/>
          </a:xfrm>
          <a:prstGeom prst="rect">
            <a:avLst/>
          </a:prstGeom>
          <a:solidFill>
            <a:srgbClr val="FFFFFF"/>
          </a:solidFill>
          <a:ln w="9525">
            <a:solidFill>
              <a:srgbClr val="E3EBF0"/>
            </a:solidFill>
            <a:prstDash val="solid"/>
          </a:ln>
        </p:spPr>
        <p:txBody>
          <a:bodyPr/>
          <a:lstStyle/>
          <a:p>
            <a:endParaRPr lang="en-US"/>
          </a:p>
        </p:txBody>
      </p:sp>
      <p:sp>
        <p:nvSpPr>
          <p:cNvPr id="68" name="Text 66"/>
          <p:cNvSpPr/>
          <p:nvPr/>
        </p:nvSpPr>
        <p:spPr>
          <a:xfrm>
            <a:off x="6693408" y="3703320"/>
            <a:ext cx="471830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Where field vocabulary differs from documentation vocabulary</a:t>
            </a:r>
            <a:endParaRPr lang="en-US" sz="1050" dirty="0"/>
          </a:p>
        </p:txBody>
      </p:sp>
      <p:sp>
        <p:nvSpPr>
          <p:cNvPr id="69" name="Shape 67"/>
          <p:cNvSpPr/>
          <p:nvPr/>
        </p:nvSpPr>
        <p:spPr>
          <a:xfrm>
            <a:off x="640080" y="4050792"/>
            <a:ext cx="2560320" cy="347472"/>
          </a:xfrm>
          <a:prstGeom prst="rect">
            <a:avLst/>
          </a:prstGeom>
          <a:solidFill>
            <a:srgbClr val="F5F9FB"/>
          </a:solidFill>
          <a:ln w="9525">
            <a:solidFill>
              <a:srgbClr val="E3EBF0"/>
            </a:solidFill>
            <a:prstDash val="solid"/>
          </a:ln>
        </p:spPr>
        <p:txBody>
          <a:bodyPr/>
          <a:lstStyle/>
          <a:p>
            <a:endParaRPr lang="en-US"/>
          </a:p>
        </p:txBody>
      </p:sp>
      <p:sp>
        <p:nvSpPr>
          <p:cNvPr id="70" name="Text 68"/>
          <p:cNvSpPr/>
          <p:nvPr/>
        </p:nvSpPr>
        <p:spPr>
          <a:xfrm>
            <a:off x="749808" y="4050792"/>
            <a:ext cx="2340864" cy="34747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Failure-based tests</a:t>
            </a:r>
            <a:endParaRPr lang="en-US" sz="1050" dirty="0"/>
          </a:p>
        </p:txBody>
      </p:sp>
      <p:sp>
        <p:nvSpPr>
          <p:cNvPr id="71" name="Shape 69"/>
          <p:cNvSpPr/>
          <p:nvPr/>
        </p:nvSpPr>
        <p:spPr>
          <a:xfrm>
            <a:off x="3200400" y="4050792"/>
            <a:ext cx="1828800" cy="347472"/>
          </a:xfrm>
          <a:prstGeom prst="rect">
            <a:avLst/>
          </a:prstGeom>
          <a:solidFill>
            <a:srgbClr val="F5F9FB"/>
          </a:solidFill>
          <a:ln w="9525">
            <a:solidFill>
              <a:srgbClr val="E3EBF0"/>
            </a:solidFill>
            <a:prstDash val="solid"/>
          </a:ln>
        </p:spPr>
        <p:txBody>
          <a:bodyPr/>
          <a:lstStyle/>
          <a:p>
            <a:endParaRPr lang="en-US"/>
          </a:p>
        </p:txBody>
      </p:sp>
      <p:sp>
        <p:nvSpPr>
          <p:cNvPr id="72" name="Text 70"/>
          <p:cNvSpPr/>
          <p:nvPr/>
        </p:nvSpPr>
        <p:spPr>
          <a:xfrm>
            <a:off x="3310128" y="4050792"/>
            <a:ext cx="160934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Medium-high</a:t>
            </a:r>
            <a:endParaRPr lang="en-US" sz="1050" dirty="0"/>
          </a:p>
        </p:txBody>
      </p:sp>
      <p:sp>
        <p:nvSpPr>
          <p:cNvPr id="73" name="Shape 71"/>
          <p:cNvSpPr/>
          <p:nvPr/>
        </p:nvSpPr>
        <p:spPr>
          <a:xfrm>
            <a:off x="5029200" y="4050792"/>
            <a:ext cx="1554480" cy="347472"/>
          </a:xfrm>
          <a:prstGeom prst="rect">
            <a:avLst/>
          </a:prstGeom>
          <a:solidFill>
            <a:srgbClr val="F5F9FB"/>
          </a:solidFill>
          <a:ln w="9525">
            <a:solidFill>
              <a:srgbClr val="E3EBF0"/>
            </a:solidFill>
            <a:prstDash val="solid"/>
          </a:ln>
        </p:spPr>
        <p:txBody>
          <a:bodyPr/>
          <a:lstStyle/>
          <a:p>
            <a:endParaRPr lang="en-US"/>
          </a:p>
        </p:txBody>
      </p:sp>
      <p:sp>
        <p:nvSpPr>
          <p:cNvPr id="74" name="Text 72"/>
          <p:cNvSpPr/>
          <p:nvPr/>
        </p:nvSpPr>
        <p:spPr>
          <a:xfrm>
            <a:off x="5138928" y="4050792"/>
            <a:ext cx="133502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Ongoing</a:t>
            </a:r>
            <a:endParaRPr lang="en-US" sz="1050" dirty="0"/>
          </a:p>
        </p:txBody>
      </p:sp>
      <p:sp>
        <p:nvSpPr>
          <p:cNvPr id="75" name="Shape 73"/>
          <p:cNvSpPr/>
          <p:nvPr/>
        </p:nvSpPr>
        <p:spPr>
          <a:xfrm>
            <a:off x="6583680" y="4050792"/>
            <a:ext cx="4937760" cy="347472"/>
          </a:xfrm>
          <a:prstGeom prst="rect">
            <a:avLst/>
          </a:prstGeom>
          <a:solidFill>
            <a:srgbClr val="F5F9FB"/>
          </a:solidFill>
          <a:ln w="9525">
            <a:solidFill>
              <a:srgbClr val="E3EBF0"/>
            </a:solidFill>
            <a:prstDash val="solid"/>
          </a:ln>
        </p:spPr>
        <p:txBody>
          <a:bodyPr/>
          <a:lstStyle/>
          <a:p>
            <a:endParaRPr lang="en-US"/>
          </a:p>
        </p:txBody>
      </p:sp>
      <p:sp>
        <p:nvSpPr>
          <p:cNvPr id="76" name="Text 74"/>
          <p:cNvSpPr/>
          <p:nvPr/>
        </p:nvSpPr>
        <p:spPr>
          <a:xfrm>
            <a:off x="6693408" y="4050792"/>
            <a:ext cx="471830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Prevents regression rather than improving the current score</a:t>
            </a:r>
            <a:endParaRPr lang="en-US" sz="1050" dirty="0"/>
          </a:p>
        </p:txBody>
      </p:sp>
      <p:sp>
        <p:nvSpPr>
          <p:cNvPr id="77" name="Shape 75"/>
          <p:cNvSpPr/>
          <p:nvPr/>
        </p:nvSpPr>
        <p:spPr>
          <a:xfrm>
            <a:off x="640080" y="4398264"/>
            <a:ext cx="2560320" cy="347472"/>
          </a:xfrm>
          <a:prstGeom prst="rect">
            <a:avLst/>
          </a:prstGeom>
          <a:solidFill>
            <a:srgbClr val="FFFFFF"/>
          </a:solidFill>
          <a:ln w="9525">
            <a:solidFill>
              <a:srgbClr val="E3EBF0"/>
            </a:solidFill>
            <a:prstDash val="solid"/>
          </a:ln>
        </p:spPr>
        <p:txBody>
          <a:bodyPr/>
          <a:lstStyle/>
          <a:p>
            <a:endParaRPr lang="en-US"/>
          </a:p>
        </p:txBody>
      </p:sp>
      <p:sp>
        <p:nvSpPr>
          <p:cNvPr id="78" name="Text 76"/>
          <p:cNvSpPr/>
          <p:nvPr/>
        </p:nvSpPr>
        <p:spPr>
          <a:xfrm>
            <a:off x="749808" y="4398264"/>
            <a:ext cx="2340864" cy="34747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Query decomposition</a:t>
            </a:r>
            <a:endParaRPr lang="en-US" sz="1050" dirty="0"/>
          </a:p>
        </p:txBody>
      </p:sp>
      <p:sp>
        <p:nvSpPr>
          <p:cNvPr id="79" name="Shape 77"/>
          <p:cNvSpPr/>
          <p:nvPr/>
        </p:nvSpPr>
        <p:spPr>
          <a:xfrm>
            <a:off x="3200400" y="4398264"/>
            <a:ext cx="1828800" cy="347472"/>
          </a:xfrm>
          <a:prstGeom prst="rect">
            <a:avLst/>
          </a:prstGeom>
          <a:solidFill>
            <a:srgbClr val="FFFFFF"/>
          </a:solidFill>
          <a:ln w="9525">
            <a:solidFill>
              <a:srgbClr val="E3EBF0"/>
            </a:solidFill>
            <a:prstDash val="solid"/>
          </a:ln>
        </p:spPr>
        <p:txBody>
          <a:bodyPr/>
          <a:lstStyle/>
          <a:p>
            <a:endParaRPr lang="en-US"/>
          </a:p>
        </p:txBody>
      </p:sp>
      <p:sp>
        <p:nvSpPr>
          <p:cNvPr id="80" name="Text 78"/>
          <p:cNvSpPr/>
          <p:nvPr/>
        </p:nvSpPr>
        <p:spPr>
          <a:xfrm>
            <a:off x="3310128" y="4398264"/>
            <a:ext cx="160934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Medium</a:t>
            </a:r>
            <a:endParaRPr lang="en-US" sz="1050" dirty="0"/>
          </a:p>
        </p:txBody>
      </p:sp>
      <p:sp>
        <p:nvSpPr>
          <p:cNvPr id="81" name="Shape 79"/>
          <p:cNvSpPr/>
          <p:nvPr/>
        </p:nvSpPr>
        <p:spPr>
          <a:xfrm>
            <a:off x="5029200" y="4398264"/>
            <a:ext cx="1554480" cy="347472"/>
          </a:xfrm>
          <a:prstGeom prst="rect">
            <a:avLst/>
          </a:prstGeom>
          <a:solidFill>
            <a:srgbClr val="FFFFFF"/>
          </a:solidFill>
          <a:ln w="9525">
            <a:solidFill>
              <a:srgbClr val="E3EBF0"/>
            </a:solidFill>
            <a:prstDash val="solid"/>
          </a:ln>
        </p:spPr>
        <p:txBody>
          <a:bodyPr/>
          <a:lstStyle/>
          <a:p>
            <a:endParaRPr lang="en-US"/>
          </a:p>
        </p:txBody>
      </p:sp>
      <p:sp>
        <p:nvSpPr>
          <p:cNvPr id="82" name="Text 80"/>
          <p:cNvSpPr/>
          <p:nvPr/>
        </p:nvSpPr>
        <p:spPr>
          <a:xfrm>
            <a:off x="5138928" y="4398264"/>
            <a:ext cx="133502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Days</a:t>
            </a:r>
            <a:endParaRPr lang="en-US" sz="1050" dirty="0"/>
          </a:p>
        </p:txBody>
      </p:sp>
      <p:sp>
        <p:nvSpPr>
          <p:cNvPr id="83" name="Shape 81"/>
          <p:cNvSpPr/>
          <p:nvPr/>
        </p:nvSpPr>
        <p:spPr>
          <a:xfrm>
            <a:off x="6583680" y="4398264"/>
            <a:ext cx="4937760" cy="347472"/>
          </a:xfrm>
          <a:prstGeom prst="rect">
            <a:avLst/>
          </a:prstGeom>
          <a:solidFill>
            <a:srgbClr val="FFFFFF"/>
          </a:solidFill>
          <a:ln w="9525">
            <a:solidFill>
              <a:srgbClr val="E3EBF0"/>
            </a:solidFill>
            <a:prstDash val="solid"/>
          </a:ln>
        </p:spPr>
        <p:txBody>
          <a:bodyPr/>
          <a:lstStyle/>
          <a:p>
            <a:endParaRPr lang="en-US"/>
          </a:p>
        </p:txBody>
      </p:sp>
      <p:sp>
        <p:nvSpPr>
          <p:cNvPr id="84" name="Text 82"/>
          <p:cNvSpPr/>
          <p:nvPr/>
        </p:nvSpPr>
        <p:spPr>
          <a:xfrm>
            <a:off x="6693408" y="4398264"/>
            <a:ext cx="471830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Only helps on genuinely compound questions</a:t>
            </a:r>
            <a:endParaRPr lang="en-US" sz="1050" dirty="0"/>
          </a:p>
        </p:txBody>
      </p:sp>
      <p:sp>
        <p:nvSpPr>
          <p:cNvPr id="85" name="Shape 83"/>
          <p:cNvSpPr/>
          <p:nvPr/>
        </p:nvSpPr>
        <p:spPr>
          <a:xfrm>
            <a:off x="640080" y="4745736"/>
            <a:ext cx="2560320" cy="347472"/>
          </a:xfrm>
          <a:prstGeom prst="rect">
            <a:avLst/>
          </a:prstGeom>
          <a:solidFill>
            <a:srgbClr val="F5F9FB"/>
          </a:solidFill>
          <a:ln w="9525">
            <a:solidFill>
              <a:srgbClr val="E3EBF0"/>
            </a:solidFill>
            <a:prstDash val="solid"/>
          </a:ln>
        </p:spPr>
        <p:txBody>
          <a:bodyPr/>
          <a:lstStyle/>
          <a:p>
            <a:endParaRPr lang="en-US"/>
          </a:p>
        </p:txBody>
      </p:sp>
      <p:sp>
        <p:nvSpPr>
          <p:cNvPr id="86" name="Text 84"/>
          <p:cNvSpPr/>
          <p:nvPr/>
        </p:nvSpPr>
        <p:spPr>
          <a:xfrm>
            <a:off x="749808" y="4745736"/>
            <a:ext cx="2340864" cy="34747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Answer verification</a:t>
            </a:r>
            <a:endParaRPr lang="en-US" sz="1050" dirty="0"/>
          </a:p>
        </p:txBody>
      </p:sp>
      <p:sp>
        <p:nvSpPr>
          <p:cNvPr id="87" name="Shape 85"/>
          <p:cNvSpPr/>
          <p:nvPr/>
        </p:nvSpPr>
        <p:spPr>
          <a:xfrm>
            <a:off x="3200400" y="4745736"/>
            <a:ext cx="1828800" cy="347472"/>
          </a:xfrm>
          <a:prstGeom prst="rect">
            <a:avLst/>
          </a:prstGeom>
          <a:solidFill>
            <a:srgbClr val="F5F9FB"/>
          </a:solidFill>
          <a:ln w="9525">
            <a:solidFill>
              <a:srgbClr val="E3EBF0"/>
            </a:solidFill>
            <a:prstDash val="solid"/>
          </a:ln>
        </p:spPr>
        <p:txBody>
          <a:bodyPr/>
          <a:lstStyle/>
          <a:p>
            <a:endParaRPr lang="en-US"/>
          </a:p>
        </p:txBody>
      </p:sp>
      <p:sp>
        <p:nvSpPr>
          <p:cNvPr id="88" name="Text 86"/>
          <p:cNvSpPr/>
          <p:nvPr/>
        </p:nvSpPr>
        <p:spPr>
          <a:xfrm>
            <a:off x="3310128" y="4745736"/>
            <a:ext cx="160934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Medium</a:t>
            </a:r>
            <a:endParaRPr lang="en-US" sz="1050" dirty="0"/>
          </a:p>
        </p:txBody>
      </p:sp>
      <p:sp>
        <p:nvSpPr>
          <p:cNvPr id="89" name="Shape 87"/>
          <p:cNvSpPr/>
          <p:nvPr/>
        </p:nvSpPr>
        <p:spPr>
          <a:xfrm>
            <a:off x="5029200" y="4745736"/>
            <a:ext cx="1554480" cy="347472"/>
          </a:xfrm>
          <a:prstGeom prst="rect">
            <a:avLst/>
          </a:prstGeom>
          <a:solidFill>
            <a:srgbClr val="F5F9FB"/>
          </a:solidFill>
          <a:ln w="9525">
            <a:solidFill>
              <a:srgbClr val="E3EBF0"/>
            </a:solidFill>
            <a:prstDash val="solid"/>
          </a:ln>
        </p:spPr>
        <p:txBody>
          <a:bodyPr/>
          <a:lstStyle/>
          <a:p>
            <a:endParaRPr lang="en-US"/>
          </a:p>
        </p:txBody>
      </p:sp>
      <p:sp>
        <p:nvSpPr>
          <p:cNvPr id="90" name="Text 88"/>
          <p:cNvSpPr/>
          <p:nvPr/>
        </p:nvSpPr>
        <p:spPr>
          <a:xfrm>
            <a:off x="5138928" y="4745736"/>
            <a:ext cx="133502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Days</a:t>
            </a:r>
            <a:endParaRPr lang="en-US" sz="1050" dirty="0"/>
          </a:p>
        </p:txBody>
      </p:sp>
      <p:sp>
        <p:nvSpPr>
          <p:cNvPr id="91" name="Shape 89"/>
          <p:cNvSpPr/>
          <p:nvPr/>
        </p:nvSpPr>
        <p:spPr>
          <a:xfrm>
            <a:off x="6583680" y="4745736"/>
            <a:ext cx="4937760" cy="347472"/>
          </a:xfrm>
          <a:prstGeom prst="rect">
            <a:avLst/>
          </a:prstGeom>
          <a:solidFill>
            <a:srgbClr val="F5F9FB"/>
          </a:solidFill>
          <a:ln w="9525">
            <a:solidFill>
              <a:srgbClr val="E3EBF0"/>
            </a:solidFill>
            <a:prstDash val="solid"/>
          </a:ln>
        </p:spPr>
        <p:txBody>
          <a:bodyPr/>
          <a:lstStyle/>
          <a:p>
            <a:endParaRPr lang="en-US"/>
          </a:p>
        </p:txBody>
      </p:sp>
      <p:sp>
        <p:nvSpPr>
          <p:cNvPr id="92" name="Text 90"/>
          <p:cNvSpPr/>
          <p:nvPr/>
        </p:nvSpPr>
        <p:spPr>
          <a:xfrm>
            <a:off x="6693408" y="4745736"/>
            <a:ext cx="471830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Second pass checking claims against passages. Doubles cost</a:t>
            </a:r>
            <a:endParaRPr lang="en-US" sz="1050" dirty="0"/>
          </a:p>
        </p:txBody>
      </p:sp>
      <p:sp>
        <p:nvSpPr>
          <p:cNvPr id="93" name="Shape 91"/>
          <p:cNvSpPr/>
          <p:nvPr/>
        </p:nvSpPr>
        <p:spPr>
          <a:xfrm>
            <a:off x="640080" y="5093208"/>
            <a:ext cx="2560320" cy="347472"/>
          </a:xfrm>
          <a:prstGeom prst="rect">
            <a:avLst/>
          </a:prstGeom>
          <a:solidFill>
            <a:srgbClr val="FFFFFF"/>
          </a:solidFill>
          <a:ln w="9525">
            <a:solidFill>
              <a:srgbClr val="E3EBF0"/>
            </a:solidFill>
            <a:prstDash val="solid"/>
          </a:ln>
        </p:spPr>
        <p:txBody>
          <a:bodyPr/>
          <a:lstStyle/>
          <a:p>
            <a:endParaRPr lang="en-US"/>
          </a:p>
        </p:txBody>
      </p:sp>
      <p:sp>
        <p:nvSpPr>
          <p:cNvPr id="94" name="Text 92"/>
          <p:cNvSpPr/>
          <p:nvPr/>
        </p:nvSpPr>
        <p:spPr>
          <a:xfrm>
            <a:off x="749808" y="5093208"/>
            <a:ext cx="2340864" cy="34747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Better embeddings</a:t>
            </a:r>
            <a:endParaRPr lang="en-US" sz="1050" dirty="0"/>
          </a:p>
        </p:txBody>
      </p:sp>
      <p:sp>
        <p:nvSpPr>
          <p:cNvPr id="95" name="Shape 93"/>
          <p:cNvSpPr/>
          <p:nvPr/>
        </p:nvSpPr>
        <p:spPr>
          <a:xfrm>
            <a:off x="3200400" y="5093208"/>
            <a:ext cx="1828800" cy="347472"/>
          </a:xfrm>
          <a:prstGeom prst="rect">
            <a:avLst/>
          </a:prstGeom>
          <a:solidFill>
            <a:srgbClr val="FFFFFF"/>
          </a:solidFill>
          <a:ln w="9525">
            <a:solidFill>
              <a:srgbClr val="E3EBF0"/>
            </a:solidFill>
            <a:prstDash val="solid"/>
          </a:ln>
        </p:spPr>
        <p:txBody>
          <a:bodyPr/>
          <a:lstStyle/>
          <a:p>
            <a:endParaRPr lang="en-US"/>
          </a:p>
        </p:txBody>
      </p:sp>
      <p:sp>
        <p:nvSpPr>
          <p:cNvPr id="96" name="Text 94"/>
          <p:cNvSpPr/>
          <p:nvPr/>
        </p:nvSpPr>
        <p:spPr>
          <a:xfrm>
            <a:off x="3310128" y="5093208"/>
            <a:ext cx="160934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Medium</a:t>
            </a:r>
            <a:endParaRPr lang="en-US" sz="1050" dirty="0"/>
          </a:p>
        </p:txBody>
      </p:sp>
      <p:sp>
        <p:nvSpPr>
          <p:cNvPr id="97" name="Shape 95"/>
          <p:cNvSpPr/>
          <p:nvPr/>
        </p:nvSpPr>
        <p:spPr>
          <a:xfrm>
            <a:off x="5029200" y="5093208"/>
            <a:ext cx="1554480" cy="347472"/>
          </a:xfrm>
          <a:prstGeom prst="rect">
            <a:avLst/>
          </a:prstGeom>
          <a:solidFill>
            <a:srgbClr val="FFFFFF"/>
          </a:solidFill>
          <a:ln w="9525">
            <a:solidFill>
              <a:srgbClr val="E3EBF0"/>
            </a:solidFill>
            <a:prstDash val="solid"/>
          </a:ln>
        </p:spPr>
        <p:txBody>
          <a:bodyPr/>
          <a:lstStyle/>
          <a:p>
            <a:endParaRPr lang="en-US"/>
          </a:p>
        </p:txBody>
      </p:sp>
      <p:sp>
        <p:nvSpPr>
          <p:cNvPr id="98" name="Text 96"/>
          <p:cNvSpPr/>
          <p:nvPr/>
        </p:nvSpPr>
        <p:spPr>
          <a:xfrm>
            <a:off x="5138928" y="5093208"/>
            <a:ext cx="133502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Weeks</a:t>
            </a:r>
            <a:endParaRPr lang="en-US" sz="1050" dirty="0"/>
          </a:p>
        </p:txBody>
      </p:sp>
      <p:sp>
        <p:nvSpPr>
          <p:cNvPr id="99" name="Shape 97"/>
          <p:cNvSpPr/>
          <p:nvPr/>
        </p:nvSpPr>
        <p:spPr>
          <a:xfrm>
            <a:off x="6583680" y="5093208"/>
            <a:ext cx="4937760" cy="347472"/>
          </a:xfrm>
          <a:prstGeom prst="rect">
            <a:avLst/>
          </a:prstGeom>
          <a:solidFill>
            <a:srgbClr val="FFFFFF"/>
          </a:solidFill>
          <a:ln w="9525">
            <a:solidFill>
              <a:srgbClr val="E3EBF0"/>
            </a:solidFill>
            <a:prstDash val="solid"/>
          </a:ln>
        </p:spPr>
        <p:txBody>
          <a:bodyPr/>
          <a:lstStyle/>
          <a:p>
            <a:endParaRPr lang="en-US"/>
          </a:p>
        </p:txBody>
      </p:sp>
      <p:sp>
        <p:nvSpPr>
          <p:cNvPr id="100" name="Text 98"/>
          <p:cNvSpPr/>
          <p:nvPr/>
        </p:nvSpPr>
        <p:spPr>
          <a:xfrm>
            <a:off x="6693408" y="5093208"/>
            <a:ext cx="471830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Requires full re-index. Measure before committing</a:t>
            </a:r>
            <a:endParaRPr lang="en-US" sz="1050" dirty="0"/>
          </a:p>
        </p:txBody>
      </p:sp>
      <p:sp>
        <p:nvSpPr>
          <p:cNvPr id="101" name="Shape 99"/>
          <p:cNvSpPr/>
          <p:nvPr/>
        </p:nvSpPr>
        <p:spPr>
          <a:xfrm>
            <a:off x="640080" y="5440680"/>
            <a:ext cx="2560320" cy="347472"/>
          </a:xfrm>
          <a:prstGeom prst="rect">
            <a:avLst/>
          </a:prstGeom>
          <a:solidFill>
            <a:srgbClr val="F5F9FB"/>
          </a:solidFill>
          <a:ln w="9525">
            <a:solidFill>
              <a:srgbClr val="E3EBF0"/>
            </a:solidFill>
            <a:prstDash val="solid"/>
          </a:ln>
        </p:spPr>
        <p:txBody>
          <a:bodyPr/>
          <a:lstStyle/>
          <a:p>
            <a:endParaRPr lang="en-US"/>
          </a:p>
        </p:txBody>
      </p:sp>
      <p:sp>
        <p:nvSpPr>
          <p:cNvPr id="102" name="Text 100"/>
          <p:cNvSpPr/>
          <p:nvPr/>
        </p:nvSpPr>
        <p:spPr>
          <a:xfrm>
            <a:off x="749808" y="5440680"/>
            <a:ext cx="2340864" cy="34747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Human feedback loop</a:t>
            </a:r>
            <a:endParaRPr lang="en-US" sz="1050" dirty="0"/>
          </a:p>
        </p:txBody>
      </p:sp>
      <p:sp>
        <p:nvSpPr>
          <p:cNvPr id="103" name="Shape 101"/>
          <p:cNvSpPr/>
          <p:nvPr/>
        </p:nvSpPr>
        <p:spPr>
          <a:xfrm>
            <a:off x="3200400" y="5440680"/>
            <a:ext cx="1828800" cy="347472"/>
          </a:xfrm>
          <a:prstGeom prst="rect">
            <a:avLst/>
          </a:prstGeom>
          <a:solidFill>
            <a:srgbClr val="F5F9FB"/>
          </a:solidFill>
          <a:ln w="9525">
            <a:solidFill>
              <a:srgbClr val="E3EBF0"/>
            </a:solidFill>
            <a:prstDash val="solid"/>
          </a:ln>
        </p:spPr>
        <p:txBody>
          <a:bodyPr/>
          <a:lstStyle/>
          <a:p>
            <a:endParaRPr lang="en-US"/>
          </a:p>
        </p:txBody>
      </p:sp>
      <p:sp>
        <p:nvSpPr>
          <p:cNvPr id="104" name="Text 102"/>
          <p:cNvSpPr/>
          <p:nvPr/>
        </p:nvSpPr>
        <p:spPr>
          <a:xfrm>
            <a:off x="3310128" y="5440680"/>
            <a:ext cx="160934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Medium, compounding</a:t>
            </a:r>
            <a:endParaRPr lang="en-US" sz="1050" dirty="0"/>
          </a:p>
        </p:txBody>
      </p:sp>
      <p:sp>
        <p:nvSpPr>
          <p:cNvPr id="105" name="Shape 103"/>
          <p:cNvSpPr/>
          <p:nvPr/>
        </p:nvSpPr>
        <p:spPr>
          <a:xfrm>
            <a:off x="5029200" y="5440680"/>
            <a:ext cx="1554480" cy="347472"/>
          </a:xfrm>
          <a:prstGeom prst="rect">
            <a:avLst/>
          </a:prstGeom>
          <a:solidFill>
            <a:srgbClr val="F5F9FB"/>
          </a:solidFill>
          <a:ln w="9525">
            <a:solidFill>
              <a:srgbClr val="E3EBF0"/>
            </a:solidFill>
            <a:prstDash val="solid"/>
          </a:ln>
        </p:spPr>
        <p:txBody>
          <a:bodyPr/>
          <a:lstStyle/>
          <a:p>
            <a:endParaRPr lang="en-US"/>
          </a:p>
        </p:txBody>
      </p:sp>
      <p:sp>
        <p:nvSpPr>
          <p:cNvPr id="106" name="Text 104"/>
          <p:cNvSpPr/>
          <p:nvPr/>
        </p:nvSpPr>
        <p:spPr>
          <a:xfrm>
            <a:off x="5138928" y="5440680"/>
            <a:ext cx="133502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Weeks</a:t>
            </a:r>
            <a:endParaRPr lang="en-US" sz="1050" dirty="0"/>
          </a:p>
        </p:txBody>
      </p:sp>
      <p:sp>
        <p:nvSpPr>
          <p:cNvPr id="107" name="Shape 105"/>
          <p:cNvSpPr/>
          <p:nvPr/>
        </p:nvSpPr>
        <p:spPr>
          <a:xfrm>
            <a:off x="6583680" y="5440680"/>
            <a:ext cx="4937760" cy="347472"/>
          </a:xfrm>
          <a:prstGeom prst="rect">
            <a:avLst/>
          </a:prstGeom>
          <a:solidFill>
            <a:srgbClr val="F5F9FB"/>
          </a:solidFill>
          <a:ln w="9525">
            <a:solidFill>
              <a:srgbClr val="E3EBF0"/>
            </a:solidFill>
            <a:prstDash val="solid"/>
          </a:ln>
        </p:spPr>
        <p:txBody>
          <a:bodyPr/>
          <a:lstStyle/>
          <a:p>
            <a:endParaRPr lang="en-US"/>
          </a:p>
        </p:txBody>
      </p:sp>
      <p:sp>
        <p:nvSpPr>
          <p:cNvPr id="108" name="Text 106"/>
          <p:cNvSpPr/>
          <p:nvPr/>
        </p:nvSpPr>
        <p:spPr>
          <a:xfrm>
            <a:off x="6693408" y="5440680"/>
            <a:ext cx="471830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Slow to start, the largest long-run source of gain</a:t>
            </a:r>
            <a:endParaRPr lang="en-US" sz="1050" dirty="0"/>
          </a:p>
        </p:txBody>
      </p:sp>
      <p:sp>
        <p:nvSpPr>
          <p:cNvPr id="109" name="Shape 107"/>
          <p:cNvSpPr/>
          <p:nvPr/>
        </p:nvSpPr>
        <p:spPr>
          <a:xfrm>
            <a:off x="640080" y="5788152"/>
            <a:ext cx="2560320" cy="347472"/>
          </a:xfrm>
          <a:prstGeom prst="rect">
            <a:avLst/>
          </a:prstGeom>
          <a:solidFill>
            <a:srgbClr val="FFFFFF"/>
          </a:solidFill>
          <a:ln w="9525">
            <a:solidFill>
              <a:srgbClr val="E3EBF0"/>
            </a:solidFill>
            <a:prstDash val="solid"/>
          </a:ln>
        </p:spPr>
        <p:txBody>
          <a:bodyPr/>
          <a:lstStyle/>
          <a:p>
            <a:endParaRPr lang="en-US"/>
          </a:p>
        </p:txBody>
      </p:sp>
      <p:sp>
        <p:nvSpPr>
          <p:cNvPr id="110" name="Text 108"/>
          <p:cNvSpPr/>
          <p:nvPr/>
        </p:nvSpPr>
        <p:spPr>
          <a:xfrm>
            <a:off x="749808" y="5788152"/>
            <a:ext cx="2340864" cy="347472"/>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Knowledge graph</a:t>
            </a:r>
            <a:endParaRPr lang="en-US" sz="1050" dirty="0"/>
          </a:p>
        </p:txBody>
      </p:sp>
      <p:sp>
        <p:nvSpPr>
          <p:cNvPr id="111" name="Shape 109"/>
          <p:cNvSpPr/>
          <p:nvPr/>
        </p:nvSpPr>
        <p:spPr>
          <a:xfrm>
            <a:off x="3200400" y="5788152"/>
            <a:ext cx="1828800" cy="347472"/>
          </a:xfrm>
          <a:prstGeom prst="rect">
            <a:avLst/>
          </a:prstGeom>
          <a:solidFill>
            <a:srgbClr val="FFFFFF"/>
          </a:solidFill>
          <a:ln w="9525">
            <a:solidFill>
              <a:srgbClr val="E3EBF0"/>
            </a:solidFill>
            <a:prstDash val="solid"/>
          </a:ln>
        </p:spPr>
        <p:txBody>
          <a:bodyPr/>
          <a:lstStyle/>
          <a:p>
            <a:endParaRPr lang="en-US"/>
          </a:p>
        </p:txBody>
      </p:sp>
      <p:sp>
        <p:nvSpPr>
          <p:cNvPr id="112" name="Text 110"/>
          <p:cNvSpPr/>
          <p:nvPr/>
        </p:nvSpPr>
        <p:spPr>
          <a:xfrm>
            <a:off x="3310128" y="5788152"/>
            <a:ext cx="160934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Variable</a:t>
            </a:r>
            <a:endParaRPr lang="en-US" sz="1050" dirty="0"/>
          </a:p>
        </p:txBody>
      </p:sp>
      <p:sp>
        <p:nvSpPr>
          <p:cNvPr id="113" name="Shape 111"/>
          <p:cNvSpPr/>
          <p:nvPr/>
        </p:nvSpPr>
        <p:spPr>
          <a:xfrm>
            <a:off x="5029200" y="5788152"/>
            <a:ext cx="1554480" cy="347472"/>
          </a:xfrm>
          <a:prstGeom prst="rect">
            <a:avLst/>
          </a:prstGeom>
          <a:solidFill>
            <a:srgbClr val="FFFFFF"/>
          </a:solidFill>
          <a:ln w="9525">
            <a:solidFill>
              <a:srgbClr val="E3EBF0"/>
            </a:solidFill>
            <a:prstDash val="solid"/>
          </a:ln>
        </p:spPr>
        <p:txBody>
          <a:bodyPr/>
          <a:lstStyle/>
          <a:p>
            <a:endParaRPr lang="en-US"/>
          </a:p>
        </p:txBody>
      </p:sp>
      <p:sp>
        <p:nvSpPr>
          <p:cNvPr id="114" name="Text 112"/>
          <p:cNvSpPr/>
          <p:nvPr/>
        </p:nvSpPr>
        <p:spPr>
          <a:xfrm>
            <a:off x="5138928" y="5788152"/>
            <a:ext cx="133502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Months</a:t>
            </a:r>
            <a:endParaRPr lang="en-US" sz="1050" dirty="0"/>
          </a:p>
        </p:txBody>
      </p:sp>
      <p:sp>
        <p:nvSpPr>
          <p:cNvPr id="115" name="Shape 113"/>
          <p:cNvSpPr/>
          <p:nvPr/>
        </p:nvSpPr>
        <p:spPr>
          <a:xfrm>
            <a:off x="6583680" y="5788152"/>
            <a:ext cx="4937760" cy="347472"/>
          </a:xfrm>
          <a:prstGeom prst="rect">
            <a:avLst/>
          </a:prstGeom>
          <a:solidFill>
            <a:srgbClr val="FFFFFF"/>
          </a:solidFill>
          <a:ln w="9525">
            <a:solidFill>
              <a:srgbClr val="E3EBF0"/>
            </a:solidFill>
            <a:prstDash val="solid"/>
          </a:ln>
        </p:spPr>
        <p:txBody>
          <a:bodyPr/>
          <a:lstStyle/>
          <a:p>
            <a:endParaRPr lang="en-US"/>
          </a:p>
        </p:txBody>
      </p:sp>
      <p:sp>
        <p:nvSpPr>
          <p:cNvPr id="116" name="Text 114"/>
          <p:cNvSpPr/>
          <p:nvPr/>
        </p:nvSpPr>
        <p:spPr>
          <a:xfrm>
            <a:off x="6693408" y="5788152"/>
            <a:ext cx="4718304" cy="347472"/>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Powerful for relationship questions, frequently premature</a:t>
            </a:r>
            <a:endParaRPr lang="en-US" sz="1050" dirty="0"/>
          </a:p>
        </p:txBody>
      </p:sp>
      <p:sp>
        <p:nvSpPr>
          <p:cNvPr id="117" name="Text 115"/>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A2430"/>
                </a:solidFill>
                <a:latin typeface="Calibri" pitchFamily="34" charset="0"/>
                <a:ea typeface="Calibri" pitchFamily="34" charset="-122"/>
                <a:cs typeface="Calibri" pitchFamily="34" charset="-120"/>
              </a:rPr>
              <a:t>Work top-down. Most teams reach for embeddings or a knowledge graph while chunking is still fixed-size and there is no reranker.</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MODULE 6 · 6.2</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Prompt grounding and citation enforcement</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40</a:t>
            </a:r>
            <a:endParaRPr lang="en-US" sz="1000" dirty="0"/>
          </a:p>
        </p:txBody>
      </p:sp>
      <p:sp>
        <p:nvSpPr>
          <p:cNvPr id="5" name="Shape 3"/>
          <p:cNvSpPr/>
          <p:nvPr/>
        </p:nvSpPr>
        <p:spPr>
          <a:xfrm>
            <a:off x="640080" y="1280160"/>
            <a:ext cx="5303520" cy="2468880"/>
          </a:xfrm>
          <a:prstGeom prst="roundRect">
            <a:avLst>
              <a:gd name="adj" fmla="val 2222"/>
            </a:avLst>
          </a:prstGeom>
          <a:solidFill>
            <a:srgbClr val="EEF3F7"/>
          </a:solidFill>
          <a:ln w="12700">
            <a:solidFill>
              <a:srgbClr val="D8E4EC"/>
            </a:solidFill>
            <a:prstDash val="solid"/>
          </a:ln>
        </p:spPr>
        <p:txBody>
          <a:bodyPr/>
          <a:lstStyle/>
          <a:p>
            <a:endParaRPr lang="en-US"/>
          </a:p>
        </p:txBody>
      </p:sp>
      <p:sp>
        <p:nvSpPr>
          <p:cNvPr id="6" name="Text 4"/>
          <p:cNvSpPr/>
          <p:nvPr/>
        </p:nvSpPr>
        <p:spPr>
          <a:xfrm>
            <a:off x="841248" y="1417320"/>
            <a:ext cx="4901184" cy="347472"/>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Prompt grounding</a:t>
            </a:r>
            <a:endParaRPr lang="en-US" sz="1400" dirty="0"/>
          </a:p>
        </p:txBody>
      </p:sp>
      <p:sp>
        <p:nvSpPr>
          <p:cNvPr id="7" name="Text 5"/>
          <p:cNvSpPr/>
          <p:nvPr/>
        </p:nvSpPr>
        <p:spPr>
          <a:xfrm>
            <a:off x="841248" y="1783080"/>
            <a:ext cx="4901184" cy="181051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Instruct explicitly: answer only from the provided passages; if they are insufficient, say so; do not use general knowledge.</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Cheap, fast, and reduces hallucination measurably.</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It is not a guarantee. It shifts the rate; it does not eliminate the behaviour. Treat it as one control among several.</a:t>
            </a:r>
            <a:endParaRPr lang="en-US" sz="1150" dirty="0"/>
          </a:p>
        </p:txBody>
      </p:sp>
      <p:sp>
        <p:nvSpPr>
          <p:cNvPr id="8" name="Shape 6"/>
          <p:cNvSpPr/>
          <p:nvPr/>
        </p:nvSpPr>
        <p:spPr>
          <a:xfrm>
            <a:off x="6263640" y="1280160"/>
            <a:ext cx="5257800" cy="2468880"/>
          </a:xfrm>
          <a:prstGeom prst="roundRect">
            <a:avLst>
              <a:gd name="adj" fmla="val 2222"/>
            </a:avLst>
          </a:prstGeom>
          <a:solidFill>
            <a:srgbClr val="EDF5EE"/>
          </a:solidFill>
          <a:ln w="12700">
            <a:solidFill>
              <a:srgbClr val="D8E4EC"/>
            </a:solidFill>
            <a:prstDash val="solid"/>
          </a:ln>
        </p:spPr>
        <p:txBody>
          <a:bodyPr/>
          <a:lstStyle/>
          <a:p>
            <a:endParaRPr lang="en-US"/>
          </a:p>
        </p:txBody>
      </p:sp>
      <p:sp>
        <p:nvSpPr>
          <p:cNvPr id="9" name="Text 7"/>
          <p:cNvSpPr/>
          <p:nvPr/>
        </p:nvSpPr>
        <p:spPr>
          <a:xfrm>
            <a:off x="6464808" y="1417320"/>
            <a:ext cx="4855464" cy="347472"/>
          </a:xfrm>
          <a:prstGeom prst="rect">
            <a:avLst/>
          </a:prstGeom>
          <a:noFill/>
          <a:ln/>
        </p:spPr>
        <p:txBody>
          <a:bodyPr wrap="square" lIns="0" tIns="0" rIns="0" bIns="0" rtlCol="0" anchor="ctr"/>
          <a:lstStyle/>
          <a:p>
            <a:pPr marL="0" indent="0">
              <a:buNone/>
            </a:pPr>
            <a:r>
              <a:rPr lang="en-US" sz="1400" b="1" dirty="0">
                <a:solidFill>
                  <a:srgbClr val="1E7A3C"/>
                </a:solidFill>
                <a:latin typeface="Calibri" pitchFamily="34" charset="0"/>
                <a:ea typeface="Calibri" pitchFamily="34" charset="-122"/>
                <a:cs typeface="Calibri" pitchFamily="34" charset="-120"/>
              </a:rPr>
              <a:t>Citation enforcement</a:t>
            </a:r>
            <a:endParaRPr lang="en-US" sz="1400" dirty="0"/>
          </a:p>
        </p:txBody>
      </p:sp>
      <p:sp>
        <p:nvSpPr>
          <p:cNvPr id="10" name="Text 8"/>
          <p:cNvSpPr/>
          <p:nvPr/>
        </p:nvSpPr>
        <p:spPr>
          <a:xfrm>
            <a:off x="6464808" y="1783080"/>
            <a:ext cx="4855464" cy="1810512"/>
          </a:xfrm>
          <a:prstGeom prst="rect">
            <a:avLst/>
          </a:prstGeom>
          <a:noFill/>
          <a:ln/>
        </p:spPr>
        <p:txBody>
          <a:bodyPr wrap="square" lIns="0" tIns="0" rIns="0" bIns="0" rtlCol="0" anchor="ctr"/>
          <a:lstStyle/>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Every claim carries a reference to the passage supporting it. Then validate programmatically that each cited passage was actually retrieved and does contain the claim.</a:t>
            </a:r>
            <a:endParaRPr lang="en-US" sz="1150" dirty="0"/>
          </a:p>
          <a:p>
            <a:pPr marL="0" indent="0">
              <a:lnSpc>
                <a:spcPts val="1500"/>
              </a:lnSpc>
              <a:buNone/>
            </a:pPr>
            <a:endParaRPr lang="en-US" sz="1150" dirty="0"/>
          </a:p>
          <a:p>
            <a:pPr marL="0" indent="0">
              <a:lnSpc>
                <a:spcPts val="1500"/>
              </a:lnSpc>
              <a:buNone/>
            </a:pPr>
            <a:r>
              <a:rPr lang="en-US" sz="1150" dirty="0">
                <a:solidFill>
                  <a:srgbClr val="1A2430"/>
                </a:solidFill>
                <a:latin typeface="Calibri" pitchFamily="34" charset="0"/>
                <a:ea typeface="Calibri" pitchFamily="34" charset="-122"/>
                <a:cs typeface="Calibri" pitchFamily="34" charset="-120"/>
              </a:rPr>
              <a:t>The validation step is what makes it real — unvalidated citations are frequently plausible and wrong, which is worse than none.</a:t>
            </a:r>
            <a:endParaRPr lang="en-US" sz="1150" dirty="0"/>
          </a:p>
        </p:txBody>
      </p:sp>
      <p:sp>
        <p:nvSpPr>
          <p:cNvPr id="11" name="Shape 9"/>
          <p:cNvSpPr/>
          <p:nvPr/>
        </p:nvSpPr>
        <p:spPr>
          <a:xfrm>
            <a:off x="640080" y="3977640"/>
            <a:ext cx="10881360" cy="1463040"/>
          </a:xfrm>
          <a:prstGeom prst="roundRect">
            <a:avLst>
              <a:gd name="adj" fmla="val 3750"/>
            </a:avLst>
          </a:prstGeom>
          <a:solidFill>
            <a:srgbClr val="E4EEF4"/>
          </a:solidFill>
          <a:ln w="12700">
            <a:solidFill>
              <a:srgbClr val="C9DCE7"/>
            </a:solidFill>
            <a:prstDash val="solid"/>
          </a:ln>
        </p:spPr>
        <p:txBody>
          <a:bodyPr/>
          <a:lstStyle/>
          <a:p>
            <a:endParaRPr lang="en-US"/>
          </a:p>
        </p:txBody>
      </p:sp>
      <p:sp>
        <p:nvSpPr>
          <p:cNvPr id="12" name="Text 10"/>
          <p:cNvSpPr/>
          <p:nvPr/>
        </p:nvSpPr>
        <p:spPr>
          <a:xfrm>
            <a:off x="914400" y="4142232"/>
            <a:ext cx="10332720" cy="320040"/>
          </a:xfrm>
          <a:prstGeom prst="rect">
            <a:avLst/>
          </a:prstGeom>
          <a:noFill/>
          <a:ln/>
        </p:spPr>
        <p:txBody>
          <a:bodyPr wrap="square" lIns="0" tIns="0" rIns="0" bIns="0" rtlCol="0" anchor="ctr"/>
          <a:lstStyle/>
          <a:p>
            <a:pPr marL="0" indent="0">
              <a:buNone/>
            </a:pPr>
            <a:r>
              <a:rPr lang="en-US" sz="1350" b="1" dirty="0">
                <a:solidFill>
                  <a:srgbClr val="065A82"/>
                </a:solidFill>
                <a:latin typeface="Calibri" pitchFamily="34" charset="0"/>
                <a:ea typeface="Calibri" pitchFamily="34" charset="-122"/>
                <a:cs typeface="Calibri" pitchFamily="34" charset="-120"/>
              </a:rPr>
              <a:t>Why citations matter more than accuracy for adoption</a:t>
            </a:r>
            <a:endParaRPr lang="en-US" sz="1350" dirty="0"/>
          </a:p>
        </p:txBody>
      </p:sp>
      <p:sp>
        <p:nvSpPr>
          <p:cNvPr id="13" name="Text 11"/>
          <p:cNvSpPr/>
          <p:nvPr/>
        </p:nvSpPr>
        <p:spPr>
          <a:xfrm>
            <a:off x="914400" y="4480560"/>
            <a:ext cx="10332720" cy="822960"/>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An engineer who can check the source will use a system that is right 85% of the time. An engineer who cannot check will not use one that is right 95% of the time, because a wrong answer they cannot detect is worse than no answer. Citation accuracy is therefore an adoption metric as much as a quality metric — and it is why it appears in the metric set rather than as a presentation nicety.</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HANDS-ON · 60 MINUTES</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Lab 5 and 6 — Improve a weak pipeline and measure it</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41</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marL="0" indent="0">
              <a:lnSpc>
                <a:spcPts val="1900"/>
              </a:lnSpc>
              <a:buNone/>
            </a:pPr>
            <a:r>
              <a:rPr lang="en-US" sz="1500" dirty="0">
                <a:solidFill>
                  <a:srgbClr val="1A2430"/>
                </a:solidFill>
                <a:latin typeface="Calibri" pitchFamily="34" charset="0"/>
                <a:ea typeface="Calibri" pitchFamily="34" charset="-122"/>
                <a:cs typeface="Calibri" pitchFamily="34" charset="-120"/>
              </a:rPr>
              <a:t>Start from a deliberately weak RAG pipeline. Apply improvements one at a time. Measure after each. Produce an ablation table.</a:t>
            </a:r>
            <a:endParaRPr lang="en-US" sz="1500" dirty="0"/>
          </a:p>
        </p:txBody>
      </p:sp>
      <p:sp>
        <p:nvSpPr>
          <p:cNvPr id="6" name="Shape 4"/>
          <p:cNvSpPr/>
          <p:nvPr/>
        </p:nvSpPr>
        <p:spPr>
          <a:xfrm>
            <a:off x="640080" y="1783080"/>
            <a:ext cx="914400" cy="384048"/>
          </a:xfrm>
          <a:prstGeom prst="rect">
            <a:avLst/>
          </a:prstGeom>
          <a:solidFill>
            <a:srgbClr val="21295C"/>
          </a:solidFill>
          <a:ln/>
        </p:spPr>
        <p:txBody>
          <a:bodyPr/>
          <a:lstStyle/>
          <a:p>
            <a:endParaRPr lang="en-US"/>
          </a:p>
        </p:txBody>
      </p:sp>
      <p:sp>
        <p:nvSpPr>
          <p:cNvPr id="7" name="Text 5"/>
          <p:cNvSpPr/>
          <p:nvPr/>
        </p:nvSpPr>
        <p:spPr>
          <a:xfrm>
            <a:off x="749808" y="1783080"/>
            <a:ext cx="6949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Step</a:t>
            </a:r>
            <a:endParaRPr lang="en-US" sz="1100" dirty="0"/>
          </a:p>
        </p:txBody>
      </p:sp>
      <p:sp>
        <p:nvSpPr>
          <p:cNvPr id="8" name="Shape 6"/>
          <p:cNvSpPr/>
          <p:nvPr/>
        </p:nvSpPr>
        <p:spPr>
          <a:xfrm>
            <a:off x="1554480" y="1783080"/>
            <a:ext cx="5486400" cy="384048"/>
          </a:xfrm>
          <a:prstGeom prst="rect">
            <a:avLst/>
          </a:prstGeom>
          <a:solidFill>
            <a:srgbClr val="21295C"/>
          </a:solidFill>
          <a:ln/>
        </p:spPr>
        <p:txBody>
          <a:bodyPr/>
          <a:lstStyle/>
          <a:p>
            <a:endParaRPr lang="en-US"/>
          </a:p>
        </p:txBody>
      </p:sp>
      <p:sp>
        <p:nvSpPr>
          <p:cNvPr id="9" name="Text 7"/>
          <p:cNvSpPr/>
          <p:nvPr/>
        </p:nvSpPr>
        <p:spPr>
          <a:xfrm>
            <a:off x="1664208" y="1783080"/>
            <a:ext cx="526694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Change</a:t>
            </a:r>
            <a:endParaRPr lang="en-US" sz="1100" dirty="0"/>
          </a:p>
        </p:txBody>
      </p:sp>
      <p:sp>
        <p:nvSpPr>
          <p:cNvPr id="10" name="Shape 8"/>
          <p:cNvSpPr/>
          <p:nvPr/>
        </p:nvSpPr>
        <p:spPr>
          <a:xfrm>
            <a:off x="7040880" y="1783080"/>
            <a:ext cx="4480560" cy="384048"/>
          </a:xfrm>
          <a:prstGeom prst="rect">
            <a:avLst/>
          </a:prstGeom>
          <a:solidFill>
            <a:srgbClr val="21295C"/>
          </a:solidFill>
          <a:ln/>
        </p:spPr>
        <p:txBody>
          <a:bodyPr/>
          <a:lstStyle/>
          <a:p>
            <a:endParaRPr lang="en-US"/>
          </a:p>
        </p:txBody>
      </p:sp>
      <p:sp>
        <p:nvSpPr>
          <p:cNvPr id="11" name="Text 9"/>
          <p:cNvSpPr/>
          <p:nvPr/>
        </p:nvSpPr>
        <p:spPr>
          <a:xfrm>
            <a:off x="7150608" y="1783080"/>
            <a:ext cx="4261104"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Record</a:t>
            </a:r>
            <a:endParaRPr lang="en-US" sz="1100" dirty="0"/>
          </a:p>
        </p:txBody>
      </p:sp>
      <p:sp>
        <p:nvSpPr>
          <p:cNvPr id="12" name="Shape 10"/>
          <p:cNvSpPr/>
          <p:nvPr/>
        </p:nvSpPr>
        <p:spPr>
          <a:xfrm>
            <a:off x="640080" y="2167128"/>
            <a:ext cx="914400" cy="548640"/>
          </a:xfrm>
          <a:prstGeom prst="rect">
            <a:avLst/>
          </a:prstGeom>
          <a:solidFill>
            <a:srgbClr val="FFFFFF"/>
          </a:solidFill>
          <a:ln w="9525">
            <a:solidFill>
              <a:srgbClr val="E3EBF0"/>
            </a:solidFill>
            <a:prstDash val="solid"/>
          </a:ln>
        </p:spPr>
        <p:txBody>
          <a:bodyPr/>
          <a:lstStyle/>
          <a:p>
            <a:endParaRPr lang="en-US"/>
          </a:p>
        </p:txBody>
      </p:sp>
      <p:sp>
        <p:nvSpPr>
          <p:cNvPr id="13" name="Text 11"/>
          <p:cNvSpPr/>
          <p:nvPr/>
        </p:nvSpPr>
        <p:spPr>
          <a:xfrm>
            <a:off x="749808" y="2167128"/>
            <a:ext cx="69494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0</a:t>
            </a:r>
            <a:endParaRPr lang="en-US" sz="1050" dirty="0"/>
          </a:p>
        </p:txBody>
      </p:sp>
      <p:sp>
        <p:nvSpPr>
          <p:cNvPr id="14" name="Shape 12"/>
          <p:cNvSpPr/>
          <p:nvPr/>
        </p:nvSpPr>
        <p:spPr>
          <a:xfrm>
            <a:off x="1554480" y="2167128"/>
            <a:ext cx="5486400" cy="548640"/>
          </a:xfrm>
          <a:prstGeom prst="rect">
            <a:avLst/>
          </a:prstGeom>
          <a:solidFill>
            <a:srgbClr val="FFFFFF"/>
          </a:solidFill>
          <a:ln w="9525">
            <a:solidFill>
              <a:srgbClr val="E3EBF0"/>
            </a:solidFill>
            <a:prstDash val="solid"/>
          </a:ln>
        </p:spPr>
        <p:txBody>
          <a:bodyPr/>
          <a:lstStyle/>
          <a:p>
            <a:endParaRPr lang="en-US"/>
          </a:p>
        </p:txBody>
      </p:sp>
      <p:sp>
        <p:nvSpPr>
          <p:cNvPr id="15" name="Text 13"/>
          <p:cNvSpPr/>
          <p:nvPr/>
        </p:nvSpPr>
        <p:spPr>
          <a:xfrm>
            <a:off x="1664208" y="2167128"/>
            <a:ext cx="526694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Baseline — fixed chunking, dense only, no reranking, no filtering</a:t>
            </a:r>
            <a:endParaRPr lang="en-US" sz="1050" dirty="0"/>
          </a:p>
        </p:txBody>
      </p:sp>
      <p:sp>
        <p:nvSpPr>
          <p:cNvPr id="16" name="Shape 14"/>
          <p:cNvSpPr/>
          <p:nvPr/>
        </p:nvSpPr>
        <p:spPr>
          <a:xfrm>
            <a:off x="7040880" y="2167128"/>
            <a:ext cx="4480560" cy="548640"/>
          </a:xfrm>
          <a:prstGeom prst="rect">
            <a:avLst/>
          </a:prstGeom>
          <a:solidFill>
            <a:srgbClr val="FFFFFF"/>
          </a:solidFill>
          <a:ln w="9525">
            <a:solidFill>
              <a:srgbClr val="E3EBF0"/>
            </a:solidFill>
            <a:prstDash val="solid"/>
          </a:ln>
        </p:spPr>
        <p:txBody>
          <a:bodyPr/>
          <a:lstStyle/>
          <a:p>
            <a:endParaRPr lang="en-US"/>
          </a:p>
        </p:txBody>
      </p:sp>
      <p:sp>
        <p:nvSpPr>
          <p:cNvPr id="17" name="Text 15"/>
          <p:cNvSpPr/>
          <p:nvPr/>
        </p:nvSpPr>
        <p:spPr>
          <a:xfrm>
            <a:off x="7150608" y="2167128"/>
            <a:ext cx="426110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Context recall, faithfulness, latency, cost</a:t>
            </a:r>
            <a:endParaRPr lang="en-US" sz="1050" dirty="0"/>
          </a:p>
        </p:txBody>
      </p:sp>
      <p:sp>
        <p:nvSpPr>
          <p:cNvPr id="18" name="Shape 16"/>
          <p:cNvSpPr/>
          <p:nvPr/>
        </p:nvSpPr>
        <p:spPr>
          <a:xfrm>
            <a:off x="640080" y="2715768"/>
            <a:ext cx="914400" cy="548640"/>
          </a:xfrm>
          <a:prstGeom prst="rect">
            <a:avLst/>
          </a:prstGeom>
          <a:solidFill>
            <a:srgbClr val="F5F9FB"/>
          </a:solidFill>
          <a:ln w="9525">
            <a:solidFill>
              <a:srgbClr val="E3EBF0"/>
            </a:solidFill>
            <a:prstDash val="solid"/>
          </a:ln>
        </p:spPr>
        <p:txBody>
          <a:bodyPr/>
          <a:lstStyle/>
          <a:p>
            <a:endParaRPr lang="en-US"/>
          </a:p>
        </p:txBody>
      </p:sp>
      <p:sp>
        <p:nvSpPr>
          <p:cNvPr id="19" name="Text 17"/>
          <p:cNvSpPr/>
          <p:nvPr/>
        </p:nvSpPr>
        <p:spPr>
          <a:xfrm>
            <a:off x="749808" y="2715768"/>
            <a:ext cx="69494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1</a:t>
            </a:r>
            <a:endParaRPr lang="en-US" sz="1050" dirty="0"/>
          </a:p>
        </p:txBody>
      </p:sp>
      <p:sp>
        <p:nvSpPr>
          <p:cNvPr id="20" name="Shape 18"/>
          <p:cNvSpPr/>
          <p:nvPr/>
        </p:nvSpPr>
        <p:spPr>
          <a:xfrm>
            <a:off x="1554480" y="2715768"/>
            <a:ext cx="5486400" cy="548640"/>
          </a:xfrm>
          <a:prstGeom prst="rect">
            <a:avLst/>
          </a:prstGeom>
          <a:solidFill>
            <a:srgbClr val="F5F9FB"/>
          </a:solidFill>
          <a:ln w="9525">
            <a:solidFill>
              <a:srgbClr val="E3EBF0"/>
            </a:solidFill>
            <a:prstDash val="solid"/>
          </a:ln>
        </p:spPr>
        <p:txBody>
          <a:bodyPr/>
          <a:lstStyle/>
          <a:p>
            <a:endParaRPr lang="en-US"/>
          </a:p>
        </p:txBody>
      </p:sp>
      <p:sp>
        <p:nvSpPr>
          <p:cNvPr id="21" name="Text 19"/>
          <p:cNvSpPr/>
          <p:nvPr/>
        </p:nvSpPr>
        <p:spPr>
          <a:xfrm>
            <a:off x="1664208" y="2715768"/>
            <a:ext cx="526694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Section-aware chunking</a:t>
            </a:r>
            <a:endParaRPr lang="en-US" sz="1050" dirty="0"/>
          </a:p>
        </p:txBody>
      </p:sp>
      <p:sp>
        <p:nvSpPr>
          <p:cNvPr id="22" name="Shape 20"/>
          <p:cNvSpPr/>
          <p:nvPr/>
        </p:nvSpPr>
        <p:spPr>
          <a:xfrm>
            <a:off x="7040880" y="2715768"/>
            <a:ext cx="4480560" cy="548640"/>
          </a:xfrm>
          <a:prstGeom prst="rect">
            <a:avLst/>
          </a:prstGeom>
          <a:solidFill>
            <a:srgbClr val="F5F9FB"/>
          </a:solidFill>
          <a:ln w="9525">
            <a:solidFill>
              <a:srgbClr val="E3EBF0"/>
            </a:solidFill>
            <a:prstDash val="solid"/>
          </a:ln>
        </p:spPr>
        <p:txBody>
          <a:bodyPr/>
          <a:lstStyle/>
          <a:p>
            <a:endParaRPr lang="en-US"/>
          </a:p>
        </p:txBody>
      </p:sp>
      <p:sp>
        <p:nvSpPr>
          <p:cNvPr id="23" name="Text 21"/>
          <p:cNvSpPr/>
          <p:nvPr/>
        </p:nvSpPr>
        <p:spPr>
          <a:xfrm>
            <a:off x="7150608" y="2715768"/>
            <a:ext cx="426110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Delta on every metric</a:t>
            </a:r>
            <a:endParaRPr lang="en-US" sz="1050" dirty="0"/>
          </a:p>
        </p:txBody>
      </p:sp>
      <p:sp>
        <p:nvSpPr>
          <p:cNvPr id="24" name="Shape 22"/>
          <p:cNvSpPr/>
          <p:nvPr/>
        </p:nvSpPr>
        <p:spPr>
          <a:xfrm>
            <a:off x="640080" y="3264408"/>
            <a:ext cx="914400" cy="548640"/>
          </a:xfrm>
          <a:prstGeom prst="rect">
            <a:avLst/>
          </a:prstGeom>
          <a:solidFill>
            <a:srgbClr val="FFFFFF"/>
          </a:solidFill>
          <a:ln w="9525">
            <a:solidFill>
              <a:srgbClr val="E3EBF0"/>
            </a:solidFill>
            <a:prstDash val="solid"/>
          </a:ln>
        </p:spPr>
        <p:txBody>
          <a:bodyPr/>
          <a:lstStyle/>
          <a:p>
            <a:endParaRPr lang="en-US"/>
          </a:p>
        </p:txBody>
      </p:sp>
      <p:sp>
        <p:nvSpPr>
          <p:cNvPr id="25" name="Text 23"/>
          <p:cNvSpPr/>
          <p:nvPr/>
        </p:nvSpPr>
        <p:spPr>
          <a:xfrm>
            <a:off x="749808" y="3264408"/>
            <a:ext cx="69494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2</a:t>
            </a:r>
            <a:endParaRPr lang="en-US" sz="1050" dirty="0"/>
          </a:p>
        </p:txBody>
      </p:sp>
      <p:sp>
        <p:nvSpPr>
          <p:cNvPr id="26" name="Shape 24"/>
          <p:cNvSpPr/>
          <p:nvPr/>
        </p:nvSpPr>
        <p:spPr>
          <a:xfrm>
            <a:off x="1554480" y="3264408"/>
            <a:ext cx="5486400" cy="548640"/>
          </a:xfrm>
          <a:prstGeom prst="rect">
            <a:avLst/>
          </a:prstGeom>
          <a:solidFill>
            <a:srgbClr val="FFFFFF"/>
          </a:solidFill>
          <a:ln w="9525">
            <a:solidFill>
              <a:srgbClr val="E3EBF0"/>
            </a:solidFill>
            <a:prstDash val="solid"/>
          </a:ln>
        </p:spPr>
        <p:txBody>
          <a:bodyPr/>
          <a:lstStyle/>
          <a:p>
            <a:endParaRPr lang="en-US"/>
          </a:p>
        </p:txBody>
      </p:sp>
      <p:sp>
        <p:nvSpPr>
          <p:cNvPr id="27" name="Text 25"/>
          <p:cNvSpPr/>
          <p:nvPr/>
        </p:nvSpPr>
        <p:spPr>
          <a:xfrm>
            <a:off x="1664208" y="3264408"/>
            <a:ext cx="526694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Add hybrid retrieval</a:t>
            </a:r>
            <a:endParaRPr lang="en-US" sz="1050" dirty="0"/>
          </a:p>
        </p:txBody>
      </p:sp>
      <p:sp>
        <p:nvSpPr>
          <p:cNvPr id="28" name="Shape 26"/>
          <p:cNvSpPr/>
          <p:nvPr/>
        </p:nvSpPr>
        <p:spPr>
          <a:xfrm>
            <a:off x="7040880" y="3264408"/>
            <a:ext cx="4480560" cy="548640"/>
          </a:xfrm>
          <a:prstGeom prst="rect">
            <a:avLst/>
          </a:prstGeom>
          <a:solidFill>
            <a:srgbClr val="FFFFFF"/>
          </a:solidFill>
          <a:ln w="9525">
            <a:solidFill>
              <a:srgbClr val="E3EBF0"/>
            </a:solidFill>
            <a:prstDash val="solid"/>
          </a:ln>
        </p:spPr>
        <p:txBody>
          <a:bodyPr/>
          <a:lstStyle/>
          <a:p>
            <a:endParaRPr lang="en-US"/>
          </a:p>
        </p:txBody>
      </p:sp>
      <p:sp>
        <p:nvSpPr>
          <p:cNvPr id="29" name="Text 27"/>
          <p:cNvSpPr/>
          <p:nvPr/>
        </p:nvSpPr>
        <p:spPr>
          <a:xfrm>
            <a:off x="7150608" y="3264408"/>
            <a:ext cx="426110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Delta on every metric</a:t>
            </a:r>
            <a:endParaRPr lang="en-US" sz="1050" dirty="0"/>
          </a:p>
        </p:txBody>
      </p:sp>
      <p:sp>
        <p:nvSpPr>
          <p:cNvPr id="30" name="Shape 28"/>
          <p:cNvSpPr/>
          <p:nvPr/>
        </p:nvSpPr>
        <p:spPr>
          <a:xfrm>
            <a:off x="640080" y="3813048"/>
            <a:ext cx="914400" cy="548640"/>
          </a:xfrm>
          <a:prstGeom prst="rect">
            <a:avLst/>
          </a:prstGeom>
          <a:solidFill>
            <a:srgbClr val="F5F9FB"/>
          </a:solidFill>
          <a:ln w="9525">
            <a:solidFill>
              <a:srgbClr val="E3EBF0"/>
            </a:solidFill>
            <a:prstDash val="solid"/>
          </a:ln>
        </p:spPr>
        <p:txBody>
          <a:bodyPr/>
          <a:lstStyle/>
          <a:p>
            <a:endParaRPr lang="en-US"/>
          </a:p>
        </p:txBody>
      </p:sp>
      <p:sp>
        <p:nvSpPr>
          <p:cNvPr id="31" name="Text 29"/>
          <p:cNvSpPr/>
          <p:nvPr/>
        </p:nvSpPr>
        <p:spPr>
          <a:xfrm>
            <a:off x="749808" y="3813048"/>
            <a:ext cx="69494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3</a:t>
            </a:r>
            <a:endParaRPr lang="en-US" sz="1050" dirty="0"/>
          </a:p>
        </p:txBody>
      </p:sp>
      <p:sp>
        <p:nvSpPr>
          <p:cNvPr id="32" name="Shape 30"/>
          <p:cNvSpPr/>
          <p:nvPr/>
        </p:nvSpPr>
        <p:spPr>
          <a:xfrm>
            <a:off x="1554480" y="3813048"/>
            <a:ext cx="5486400" cy="548640"/>
          </a:xfrm>
          <a:prstGeom prst="rect">
            <a:avLst/>
          </a:prstGeom>
          <a:solidFill>
            <a:srgbClr val="F5F9FB"/>
          </a:solidFill>
          <a:ln w="9525">
            <a:solidFill>
              <a:srgbClr val="E3EBF0"/>
            </a:solidFill>
            <a:prstDash val="solid"/>
          </a:ln>
        </p:spPr>
        <p:txBody>
          <a:bodyPr/>
          <a:lstStyle/>
          <a:p>
            <a:endParaRPr lang="en-US"/>
          </a:p>
        </p:txBody>
      </p:sp>
      <p:sp>
        <p:nvSpPr>
          <p:cNvPr id="33" name="Text 31"/>
          <p:cNvSpPr/>
          <p:nvPr/>
        </p:nvSpPr>
        <p:spPr>
          <a:xfrm>
            <a:off x="1664208" y="3813048"/>
            <a:ext cx="526694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Add reranking, cut passages from 20 to 5</a:t>
            </a:r>
            <a:endParaRPr lang="en-US" sz="1050" dirty="0"/>
          </a:p>
        </p:txBody>
      </p:sp>
      <p:sp>
        <p:nvSpPr>
          <p:cNvPr id="34" name="Shape 32"/>
          <p:cNvSpPr/>
          <p:nvPr/>
        </p:nvSpPr>
        <p:spPr>
          <a:xfrm>
            <a:off x="7040880" y="3813048"/>
            <a:ext cx="4480560" cy="548640"/>
          </a:xfrm>
          <a:prstGeom prst="rect">
            <a:avLst/>
          </a:prstGeom>
          <a:solidFill>
            <a:srgbClr val="F5F9FB"/>
          </a:solidFill>
          <a:ln w="9525">
            <a:solidFill>
              <a:srgbClr val="E3EBF0"/>
            </a:solidFill>
            <a:prstDash val="solid"/>
          </a:ln>
        </p:spPr>
        <p:txBody>
          <a:bodyPr/>
          <a:lstStyle/>
          <a:p>
            <a:endParaRPr lang="en-US"/>
          </a:p>
        </p:txBody>
      </p:sp>
      <p:sp>
        <p:nvSpPr>
          <p:cNvPr id="35" name="Text 33"/>
          <p:cNvSpPr/>
          <p:nvPr/>
        </p:nvSpPr>
        <p:spPr>
          <a:xfrm>
            <a:off x="7150608" y="3813048"/>
            <a:ext cx="426110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Delta, including the cost reduction</a:t>
            </a:r>
            <a:endParaRPr lang="en-US" sz="1050" dirty="0"/>
          </a:p>
        </p:txBody>
      </p:sp>
      <p:sp>
        <p:nvSpPr>
          <p:cNvPr id="36" name="Shape 34"/>
          <p:cNvSpPr/>
          <p:nvPr/>
        </p:nvSpPr>
        <p:spPr>
          <a:xfrm>
            <a:off x="640080" y="4361688"/>
            <a:ext cx="914400" cy="548640"/>
          </a:xfrm>
          <a:prstGeom prst="rect">
            <a:avLst/>
          </a:prstGeom>
          <a:solidFill>
            <a:srgbClr val="FFFFFF"/>
          </a:solidFill>
          <a:ln w="9525">
            <a:solidFill>
              <a:srgbClr val="E3EBF0"/>
            </a:solidFill>
            <a:prstDash val="solid"/>
          </a:ln>
        </p:spPr>
        <p:txBody>
          <a:bodyPr/>
          <a:lstStyle/>
          <a:p>
            <a:endParaRPr lang="en-US"/>
          </a:p>
        </p:txBody>
      </p:sp>
      <p:sp>
        <p:nvSpPr>
          <p:cNvPr id="37" name="Text 35"/>
          <p:cNvSpPr/>
          <p:nvPr/>
        </p:nvSpPr>
        <p:spPr>
          <a:xfrm>
            <a:off x="749808" y="4361688"/>
            <a:ext cx="69494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4</a:t>
            </a:r>
            <a:endParaRPr lang="en-US" sz="1050" dirty="0"/>
          </a:p>
        </p:txBody>
      </p:sp>
      <p:sp>
        <p:nvSpPr>
          <p:cNvPr id="38" name="Shape 36"/>
          <p:cNvSpPr/>
          <p:nvPr/>
        </p:nvSpPr>
        <p:spPr>
          <a:xfrm>
            <a:off x="1554480" y="4361688"/>
            <a:ext cx="5486400" cy="548640"/>
          </a:xfrm>
          <a:prstGeom prst="rect">
            <a:avLst/>
          </a:prstGeom>
          <a:solidFill>
            <a:srgbClr val="FFFFFF"/>
          </a:solidFill>
          <a:ln w="9525">
            <a:solidFill>
              <a:srgbClr val="E3EBF0"/>
            </a:solidFill>
            <a:prstDash val="solid"/>
          </a:ln>
        </p:spPr>
        <p:txBody>
          <a:bodyPr/>
          <a:lstStyle/>
          <a:p>
            <a:endParaRPr lang="en-US"/>
          </a:p>
        </p:txBody>
      </p:sp>
      <p:sp>
        <p:nvSpPr>
          <p:cNvPr id="39" name="Text 37"/>
          <p:cNvSpPr/>
          <p:nvPr/>
        </p:nvSpPr>
        <p:spPr>
          <a:xfrm>
            <a:off x="1664208" y="4361688"/>
            <a:ext cx="526694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Add metadata filtering</a:t>
            </a:r>
            <a:endParaRPr lang="en-US" sz="1050" dirty="0"/>
          </a:p>
        </p:txBody>
      </p:sp>
      <p:sp>
        <p:nvSpPr>
          <p:cNvPr id="40" name="Shape 38"/>
          <p:cNvSpPr/>
          <p:nvPr/>
        </p:nvSpPr>
        <p:spPr>
          <a:xfrm>
            <a:off x="7040880" y="4361688"/>
            <a:ext cx="4480560" cy="548640"/>
          </a:xfrm>
          <a:prstGeom prst="rect">
            <a:avLst/>
          </a:prstGeom>
          <a:solidFill>
            <a:srgbClr val="FFFFFF"/>
          </a:solidFill>
          <a:ln w="9525">
            <a:solidFill>
              <a:srgbClr val="E3EBF0"/>
            </a:solidFill>
            <a:prstDash val="solid"/>
          </a:ln>
        </p:spPr>
        <p:txBody>
          <a:bodyPr/>
          <a:lstStyle/>
          <a:p>
            <a:endParaRPr lang="en-US"/>
          </a:p>
        </p:txBody>
      </p:sp>
      <p:sp>
        <p:nvSpPr>
          <p:cNvPr id="41" name="Text 39"/>
          <p:cNvSpPr/>
          <p:nvPr/>
        </p:nvSpPr>
        <p:spPr>
          <a:xfrm>
            <a:off x="7150608" y="4361688"/>
            <a:ext cx="426110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Delta on every metric</a:t>
            </a:r>
            <a:endParaRPr lang="en-US" sz="1050" dirty="0"/>
          </a:p>
        </p:txBody>
      </p:sp>
      <p:sp>
        <p:nvSpPr>
          <p:cNvPr id="42" name="Shape 40"/>
          <p:cNvSpPr/>
          <p:nvPr/>
        </p:nvSpPr>
        <p:spPr>
          <a:xfrm>
            <a:off x="640080" y="4910328"/>
            <a:ext cx="914400" cy="548640"/>
          </a:xfrm>
          <a:prstGeom prst="rect">
            <a:avLst/>
          </a:prstGeom>
          <a:solidFill>
            <a:srgbClr val="F5F9FB"/>
          </a:solidFill>
          <a:ln w="9525">
            <a:solidFill>
              <a:srgbClr val="E3EBF0"/>
            </a:solidFill>
            <a:prstDash val="solid"/>
          </a:ln>
        </p:spPr>
        <p:txBody>
          <a:bodyPr/>
          <a:lstStyle/>
          <a:p>
            <a:endParaRPr lang="en-US"/>
          </a:p>
        </p:txBody>
      </p:sp>
      <p:sp>
        <p:nvSpPr>
          <p:cNvPr id="43" name="Text 41"/>
          <p:cNvSpPr/>
          <p:nvPr/>
        </p:nvSpPr>
        <p:spPr>
          <a:xfrm>
            <a:off x="749808" y="4910328"/>
            <a:ext cx="694944" cy="548640"/>
          </a:xfrm>
          <a:prstGeom prst="rect">
            <a:avLst/>
          </a:prstGeom>
          <a:noFill/>
          <a:ln/>
        </p:spPr>
        <p:txBody>
          <a:bodyPr wrap="square" lIns="0" tIns="0" rIns="0" bIns="0" rtlCol="0" anchor="ctr"/>
          <a:lstStyle/>
          <a:p>
            <a:pPr marL="0" indent="0">
              <a:lnSpc>
                <a:spcPts val="1300"/>
              </a:lnSpc>
              <a:buNone/>
            </a:pPr>
            <a:r>
              <a:rPr lang="en-US" sz="1050" b="1" dirty="0">
                <a:solidFill>
                  <a:srgbClr val="065A82"/>
                </a:solidFill>
                <a:latin typeface="Calibri" pitchFamily="34" charset="0"/>
                <a:ea typeface="Calibri" pitchFamily="34" charset="-122"/>
                <a:cs typeface="Calibri" pitchFamily="34" charset="-120"/>
              </a:rPr>
              <a:t>5</a:t>
            </a:r>
            <a:endParaRPr lang="en-US" sz="1050" dirty="0"/>
          </a:p>
        </p:txBody>
      </p:sp>
      <p:sp>
        <p:nvSpPr>
          <p:cNvPr id="44" name="Shape 42"/>
          <p:cNvSpPr/>
          <p:nvPr/>
        </p:nvSpPr>
        <p:spPr>
          <a:xfrm>
            <a:off x="1554480" y="4910328"/>
            <a:ext cx="5486400" cy="548640"/>
          </a:xfrm>
          <a:prstGeom prst="rect">
            <a:avLst/>
          </a:prstGeom>
          <a:solidFill>
            <a:srgbClr val="F5F9FB"/>
          </a:solidFill>
          <a:ln w="9525">
            <a:solidFill>
              <a:srgbClr val="E3EBF0"/>
            </a:solidFill>
            <a:prstDash val="solid"/>
          </a:ln>
        </p:spPr>
        <p:txBody>
          <a:bodyPr/>
          <a:lstStyle/>
          <a:p>
            <a:endParaRPr lang="en-US"/>
          </a:p>
        </p:txBody>
      </p:sp>
      <p:sp>
        <p:nvSpPr>
          <p:cNvPr id="45" name="Text 43"/>
          <p:cNvSpPr/>
          <p:nvPr/>
        </p:nvSpPr>
        <p:spPr>
          <a:xfrm>
            <a:off x="1664208" y="4910328"/>
            <a:ext cx="526694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Add prompt grounding and citation enforcement</a:t>
            </a:r>
            <a:endParaRPr lang="en-US" sz="1050" dirty="0"/>
          </a:p>
        </p:txBody>
      </p:sp>
      <p:sp>
        <p:nvSpPr>
          <p:cNvPr id="46" name="Shape 44"/>
          <p:cNvSpPr/>
          <p:nvPr/>
        </p:nvSpPr>
        <p:spPr>
          <a:xfrm>
            <a:off x="7040880" y="4910328"/>
            <a:ext cx="4480560" cy="548640"/>
          </a:xfrm>
          <a:prstGeom prst="rect">
            <a:avLst/>
          </a:prstGeom>
          <a:solidFill>
            <a:srgbClr val="F5F9FB"/>
          </a:solidFill>
          <a:ln w="9525">
            <a:solidFill>
              <a:srgbClr val="E3EBF0"/>
            </a:solidFill>
            <a:prstDash val="solid"/>
          </a:ln>
        </p:spPr>
        <p:txBody>
          <a:bodyPr/>
          <a:lstStyle/>
          <a:p>
            <a:endParaRPr lang="en-US"/>
          </a:p>
        </p:txBody>
      </p:sp>
      <p:sp>
        <p:nvSpPr>
          <p:cNvPr id="47" name="Text 45"/>
          <p:cNvSpPr/>
          <p:nvPr/>
        </p:nvSpPr>
        <p:spPr>
          <a:xfrm>
            <a:off x="7150608" y="4910328"/>
            <a:ext cx="4261104" cy="548640"/>
          </a:xfrm>
          <a:prstGeom prst="rect">
            <a:avLst/>
          </a:prstGeom>
          <a:noFill/>
          <a:ln/>
        </p:spPr>
        <p:txBody>
          <a:bodyPr wrap="square" lIns="0" tIns="0" rIns="0" bIns="0" rtlCol="0" anchor="ctr"/>
          <a:lstStyle/>
          <a:p>
            <a:pPr marL="0" indent="0">
              <a:lnSpc>
                <a:spcPts val="1300"/>
              </a:lnSpc>
              <a:buNone/>
            </a:pPr>
            <a:r>
              <a:rPr lang="en-US" sz="1050" dirty="0">
                <a:solidFill>
                  <a:srgbClr val="1A2430"/>
                </a:solidFill>
                <a:latin typeface="Calibri" pitchFamily="34" charset="0"/>
                <a:ea typeface="Calibri" pitchFamily="34" charset="-122"/>
                <a:cs typeface="Calibri" pitchFamily="34" charset="-120"/>
              </a:rPr>
              <a:t>Delta, especially faithfulness and no-answer accuracy</a:t>
            </a:r>
            <a:endParaRPr lang="en-US" sz="1050" dirty="0"/>
          </a:p>
        </p:txBody>
      </p:sp>
      <p:sp>
        <p:nvSpPr>
          <p:cNvPr id="48" name="Shape 46"/>
          <p:cNvSpPr/>
          <p:nvPr/>
        </p:nvSpPr>
        <p:spPr>
          <a:xfrm>
            <a:off x="640080" y="5074920"/>
            <a:ext cx="10881360" cy="868680"/>
          </a:xfrm>
          <a:prstGeom prst="roundRect">
            <a:avLst>
              <a:gd name="adj" fmla="val 6316"/>
            </a:avLst>
          </a:prstGeom>
          <a:solidFill>
            <a:srgbClr val="EDF5EE"/>
          </a:solidFill>
          <a:ln w="12700">
            <a:solidFill>
              <a:srgbClr val="C2DCC8"/>
            </a:solidFill>
            <a:prstDash val="solid"/>
          </a:ln>
        </p:spPr>
        <p:txBody>
          <a:bodyPr/>
          <a:lstStyle/>
          <a:p>
            <a:endParaRPr lang="en-US"/>
          </a:p>
        </p:txBody>
      </p:sp>
      <p:sp>
        <p:nvSpPr>
          <p:cNvPr id="49" name="Text 47"/>
          <p:cNvSpPr/>
          <p:nvPr/>
        </p:nvSpPr>
        <p:spPr>
          <a:xfrm>
            <a:off x="914400" y="5239512"/>
            <a:ext cx="10332720" cy="566928"/>
          </a:xfrm>
          <a:prstGeom prst="rect">
            <a:avLst/>
          </a:prstGeom>
          <a:noFill/>
          <a:ln/>
        </p:spPr>
        <p:txBody>
          <a:bodyPr wrap="square" lIns="0" tIns="0" rIns="0" bIns="0" rtlCol="0" anchor="ctr"/>
          <a:lstStyle/>
          <a:p>
            <a:pPr marL="0" indent="0">
              <a:lnSpc>
                <a:spcPts val="1700"/>
              </a:lnSpc>
              <a:buNone/>
            </a:pPr>
            <a:r>
              <a:rPr lang="en-US" sz="1250" dirty="0">
                <a:solidFill>
                  <a:srgbClr val="1A2430"/>
                </a:solidFill>
                <a:latin typeface="Calibri" pitchFamily="34" charset="0"/>
                <a:ea typeface="Calibri" pitchFamily="34" charset="-122"/>
                <a:cs typeface="Calibri" pitchFamily="34" charset="-120"/>
              </a:rPr>
              <a:t>Deliverable: an ablation table showing each change's contribution, exactly as on Day 1. Some changes will not help on your data — reporting that honestly is as valuable as reporting the wins.</a:t>
            </a:r>
            <a:endParaRPr lang="en-US" sz="12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SCORED · SUBMIT BY TOMORROW MORNING</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marL="0" indent="0">
              <a:buNone/>
            </a:pPr>
            <a:r>
              <a:rPr lang="en-US" sz="2700" b="1" dirty="0">
                <a:solidFill>
                  <a:srgbClr val="1A2430"/>
                </a:solidFill>
                <a:latin typeface="Cambria" pitchFamily="34" charset="0"/>
                <a:ea typeface="Cambria" pitchFamily="34" charset="-122"/>
                <a:cs typeface="Cambria" pitchFamily="34" charset="-120"/>
              </a:rPr>
              <a:t>Day 3 assignment</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42</a:t>
            </a:r>
            <a:endParaRPr lang="en-US" sz="1000" dirty="0"/>
          </a:p>
        </p:txBody>
      </p:sp>
      <p:sp>
        <p:nvSpPr>
          <p:cNvPr id="5" name="Shape 3"/>
          <p:cNvSpPr/>
          <p:nvPr/>
        </p:nvSpPr>
        <p:spPr>
          <a:xfrm>
            <a:off x="640080" y="1453896"/>
            <a:ext cx="365760" cy="365760"/>
          </a:xfrm>
          <a:prstGeom prst="ellipse">
            <a:avLst/>
          </a:prstGeom>
          <a:solidFill>
            <a:srgbClr val="065A82"/>
          </a:solidFill>
          <a:ln/>
        </p:spPr>
        <p:txBody>
          <a:bodyPr/>
          <a:lstStyle/>
          <a:p>
            <a:endParaRPr lang="en-US"/>
          </a:p>
        </p:txBody>
      </p:sp>
      <p:sp>
        <p:nvSpPr>
          <p:cNvPr id="6" name="Text 4"/>
          <p:cNvSpPr/>
          <p:nvPr/>
        </p:nvSpPr>
        <p:spPr>
          <a:xfrm>
            <a:off x="640080" y="145389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88720" y="1325880"/>
            <a:ext cx="4023360" cy="530352"/>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RAG architecture</a:t>
            </a:r>
            <a:endParaRPr lang="en-US" sz="1300" dirty="0"/>
          </a:p>
        </p:txBody>
      </p:sp>
      <p:sp>
        <p:nvSpPr>
          <p:cNvPr id="8" name="Text 6"/>
          <p:cNvSpPr/>
          <p:nvPr/>
        </p:nvSpPr>
        <p:spPr>
          <a:xfrm>
            <a:off x="5532120" y="1325880"/>
            <a:ext cx="5989320" cy="530352"/>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Ingestion, chunking, index, retrieval, reranking, generation and post-processing, drawn as a flow</a:t>
            </a:r>
            <a:endParaRPr lang="en-US" sz="1150" dirty="0"/>
          </a:p>
        </p:txBody>
      </p:sp>
      <p:sp>
        <p:nvSpPr>
          <p:cNvPr id="9" name="Shape 7"/>
          <p:cNvSpPr/>
          <p:nvPr/>
        </p:nvSpPr>
        <p:spPr>
          <a:xfrm>
            <a:off x="640080" y="2075688"/>
            <a:ext cx="365760" cy="365760"/>
          </a:xfrm>
          <a:prstGeom prst="ellipse">
            <a:avLst/>
          </a:prstGeom>
          <a:solidFill>
            <a:srgbClr val="065A82"/>
          </a:solidFill>
          <a:ln/>
        </p:spPr>
        <p:txBody>
          <a:bodyPr/>
          <a:lstStyle/>
          <a:p>
            <a:endParaRPr lang="en-US"/>
          </a:p>
        </p:txBody>
      </p:sp>
      <p:sp>
        <p:nvSpPr>
          <p:cNvPr id="10" name="Text 8"/>
          <p:cNvSpPr/>
          <p:nvPr/>
        </p:nvSpPr>
        <p:spPr>
          <a:xfrm>
            <a:off x="640080" y="207568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88720" y="1947672"/>
            <a:ext cx="4023360" cy="530352"/>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Tokenisation strategy</a:t>
            </a:r>
            <a:endParaRPr lang="en-US" sz="1300" dirty="0"/>
          </a:p>
        </p:txBody>
      </p:sp>
      <p:sp>
        <p:nvSpPr>
          <p:cNvPr id="12" name="Text 10"/>
          <p:cNvSpPr/>
          <p:nvPr/>
        </p:nvSpPr>
        <p:spPr>
          <a:xfrm>
            <a:off x="5532120" y="1947672"/>
            <a:ext cx="5989320" cy="530352"/>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Token budget per component, with the passage count justified by measurement</a:t>
            </a:r>
            <a:endParaRPr lang="en-US" sz="1150" dirty="0"/>
          </a:p>
        </p:txBody>
      </p:sp>
      <p:sp>
        <p:nvSpPr>
          <p:cNvPr id="13" name="Shape 11"/>
          <p:cNvSpPr/>
          <p:nvPr/>
        </p:nvSpPr>
        <p:spPr>
          <a:xfrm>
            <a:off x="640080" y="2697480"/>
            <a:ext cx="365760" cy="365760"/>
          </a:xfrm>
          <a:prstGeom prst="ellipse">
            <a:avLst/>
          </a:prstGeom>
          <a:solidFill>
            <a:srgbClr val="065A82"/>
          </a:solidFill>
          <a:ln/>
        </p:spPr>
        <p:txBody>
          <a:bodyPr/>
          <a:lstStyle/>
          <a:p>
            <a:endParaRPr lang="en-US"/>
          </a:p>
        </p:txBody>
      </p:sp>
      <p:sp>
        <p:nvSpPr>
          <p:cNvPr id="14" name="Text 12"/>
          <p:cNvSpPr/>
          <p:nvPr/>
        </p:nvSpPr>
        <p:spPr>
          <a:xfrm>
            <a:off x="640080" y="269748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188720" y="2569464"/>
            <a:ext cx="4023360" cy="530352"/>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Chunking and metadata strategy</a:t>
            </a:r>
            <a:endParaRPr lang="en-US" sz="1300" dirty="0"/>
          </a:p>
        </p:txBody>
      </p:sp>
      <p:sp>
        <p:nvSpPr>
          <p:cNvPr id="16" name="Text 14"/>
          <p:cNvSpPr/>
          <p:nvPr/>
        </p:nvSpPr>
        <p:spPr>
          <a:xfrm>
            <a:off x="5532120" y="2569464"/>
            <a:ext cx="5989320" cy="530352"/>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Chunk method and size, and the metadata fields captured at ingestion with what each enables</a:t>
            </a:r>
            <a:endParaRPr lang="en-US" sz="1150" dirty="0"/>
          </a:p>
        </p:txBody>
      </p:sp>
      <p:sp>
        <p:nvSpPr>
          <p:cNvPr id="17" name="Shape 15"/>
          <p:cNvSpPr/>
          <p:nvPr/>
        </p:nvSpPr>
        <p:spPr>
          <a:xfrm>
            <a:off x="640080" y="3319272"/>
            <a:ext cx="365760" cy="365760"/>
          </a:xfrm>
          <a:prstGeom prst="ellipse">
            <a:avLst/>
          </a:prstGeom>
          <a:solidFill>
            <a:srgbClr val="065A82"/>
          </a:solidFill>
          <a:ln/>
        </p:spPr>
        <p:txBody>
          <a:bodyPr/>
          <a:lstStyle/>
          <a:p>
            <a:endParaRPr lang="en-US"/>
          </a:p>
        </p:txBody>
      </p:sp>
      <p:sp>
        <p:nvSpPr>
          <p:cNvPr id="18" name="Text 16"/>
          <p:cNvSpPr/>
          <p:nvPr/>
        </p:nvSpPr>
        <p:spPr>
          <a:xfrm>
            <a:off x="640080" y="331927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188720" y="3191256"/>
            <a:ext cx="4023360" cy="530352"/>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Retrieval benchmark</a:t>
            </a:r>
            <a:endParaRPr lang="en-US" sz="1300" dirty="0"/>
          </a:p>
        </p:txBody>
      </p:sp>
      <p:sp>
        <p:nvSpPr>
          <p:cNvPr id="20" name="Text 18"/>
          <p:cNvSpPr/>
          <p:nvPr/>
        </p:nvSpPr>
        <p:spPr>
          <a:xfrm>
            <a:off x="5532120" y="3191256"/>
            <a:ext cx="5989320" cy="530352"/>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The five-strategy comparison table with context recall, precision, latency and cost</a:t>
            </a:r>
            <a:endParaRPr lang="en-US" sz="1150" dirty="0"/>
          </a:p>
        </p:txBody>
      </p:sp>
      <p:sp>
        <p:nvSpPr>
          <p:cNvPr id="21" name="Shape 19"/>
          <p:cNvSpPr/>
          <p:nvPr/>
        </p:nvSpPr>
        <p:spPr>
          <a:xfrm>
            <a:off x="640080" y="3941064"/>
            <a:ext cx="365760" cy="365760"/>
          </a:xfrm>
          <a:prstGeom prst="ellipse">
            <a:avLst/>
          </a:prstGeom>
          <a:solidFill>
            <a:srgbClr val="065A82"/>
          </a:solidFill>
          <a:ln/>
        </p:spPr>
        <p:txBody>
          <a:bodyPr/>
          <a:lstStyle/>
          <a:p>
            <a:endParaRPr lang="en-US"/>
          </a:p>
        </p:txBody>
      </p:sp>
      <p:sp>
        <p:nvSpPr>
          <p:cNvPr id="22" name="Text 20"/>
          <p:cNvSpPr/>
          <p:nvPr/>
        </p:nvSpPr>
        <p:spPr>
          <a:xfrm>
            <a:off x="640080" y="394106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188720" y="3813048"/>
            <a:ext cx="4023360" cy="530352"/>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MCP integration plan</a:t>
            </a:r>
            <a:endParaRPr lang="en-US" sz="1300" dirty="0"/>
          </a:p>
        </p:txBody>
      </p:sp>
      <p:sp>
        <p:nvSpPr>
          <p:cNvPr id="24" name="Text 22"/>
          <p:cNvSpPr/>
          <p:nvPr/>
        </p:nvSpPr>
        <p:spPr>
          <a:xfrm>
            <a:off x="5532120" y="3813048"/>
            <a:ext cx="5989320" cy="530352"/>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Three tool contracts, authorisation boundaries, failure behaviour, logging and egress review</a:t>
            </a:r>
            <a:endParaRPr lang="en-US" sz="1150" dirty="0"/>
          </a:p>
        </p:txBody>
      </p:sp>
      <p:sp>
        <p:nvSpPr>
          <p:cNvPr id="25" name="Shape 23"/>
          <p:cNvSpPr/>
          <p:nvPr/>
        </p:nvSpPr>
        <p:spPr>
          <a:xfrm>
            <a:off x="640080" y="4562856"/>
            <a:ext cx="365760" cy="365760"/>
          </a:xfrm>
          <a:prstGeom prst="ellipse">
            <a:avLst/>
          </a:prstGeom>
          <a:solidFill>
            <a:srgbClr val="065A82"/>
          </a:solidFill>
          <a:ln/>
        </p:spPr>
        <p:txBody>
          <a:bodyPr/>
          <a:lstStyle/>
          <a:p>
            <a:endParaRPr lang="en-US"/>
          </a:p>
        </p:txBody>
      </p:sp>
      <p:sp>
        <p:nvSpPr>
          <p:cNvPr id="26" name="Text 24"/>
          <p:cNvSpPr/>
          <p:nvPr/>
        </p:nvSpPr>
        <p:spPr>
          <a:xfrm>
            <a:off x="640080" y="456285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1188720" y="4434840"/>
            <a:ext cx="4023360" cy="530352"/>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RAG evaluation design</a:t>
            </a:r>
            <a:endParaRPr lang="en-US" sz="1300" dirty="0"/>
          </a:p>
        </p:txBody>
      </p:sp>
      <p:sp>
        <p:nvSpPr>
          <p:cNvPr id="28" name="Text 26"/>
          <p:cNvSpPr/>
          <p:nvPr/>
        </p:nvSpPr>
        <p:spPr>
          <a:xfrm>
            <a:off x="5532120" y="4434840"/>
            <a:ext cx="5989320" cy="530352"/>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The eight metrics, the gold set construction, and the regression suite triggers</a:t>
            </a:r>
            <a:endParaRPr lang="en-US" sz="1150" dirty="0"/>
          </a:p>
        </p:txBody>
      </p:sp>
      <p:sp>
        <p:nvSpPr>
          <p:cNvPr id="29" name="Shape 27"/>
          <p:cNvSpPr/>
          <p:nvPr/>
        </p:nvSpPr>
        <p:spPr>
          <a:xfrm>
            <a:off x="640080" y="5184648"/>
            <a:ext cx="365760" cy="365760"/>
          </a:xfrm>
          <a:prstGeom prst="ellipse">
            <a:avLst/>
          </a:prstGeom>
          <a:solidFill>
            <a:srgbClr val="065A82"/>
          </a:solidFill>
          <a:ln/>
        </p:spPr>
        <p:txBody>
          <a:bodyPr/>
          <a:lstStyle/>
          <a:p>
            <a:endParaRPr lang="en-US"/>
          </a:p>
        </p:txBody>
      </p:sp>
      <p:sp>
        <p:nvSpPr>
          <p:cNvPr id="30" name="Text 28"/>
          <p:cNvSpPr/>
          <p:nvPr/>
        </p:nvSpPr>
        <p:spPr>
          <a:xfrm>
            <a:off x="640080" y="518464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1" name="Text 29"/>
          <p:cNvSpPr/>
          <p:nvPr/>
        </p:nvSpPr>
        <p:spPr>
          <a:xfrm>
            <a:off x="1188720" y="5056632"/>
            <a:ext cx="4023360" cy="530352"/>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Observability dashboard design</a:t>
            </a:r>
            <a:endParaRPr lang="en-US" sz="1300" dirty="0"/>
          </a:p>
        </p:txBody>
      </p:sp>
      <p:sp>
        <p:nvSpPr>
          <p:cNvPr id="32" name="Text 30"/>
          <p:cNvSpPr/>
          <p:nvPr/>
        </p:nvSpPr>
        <p:spPr>
          <a:xfrm>
            <a:off x="5532120" y="5056632"/>
            <a:ext cx="5989320" cy="530352"/>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Eight panels with the metrics on each and the alert condition for each</a:t>
            </a:r>
            <a:endParaRPr lang="en-US" sz="1150" dirty="0"/>
          </a:p>
        </p:txBody>
      </p:sp>
      <p:sp>
        <p:nvSpPr>
          <p:cNvPr id="33" name="Shape 31"/>
          <p:cNvSpPr/>
          <p:nvPr/>
        </p:nvSpPr>
        <p:spPr>
          <a:xfrm>
            <a:off x="640080" y="5806440"/>
            <a:ext cx="365760" cy="365760"/>
          </a:xfrm>
          <a:prstGeom prst="ellipse">
            <a:avLst/>
          </a:prstGeom>
          <a:solidFill>
            <a:srgbClr val="065A82"/>
          </a:solidFill>
          <a:ln/>
        </p:spPr>
        <p:txBody>
          <a:bodyPr/>
          <a:lstStyle/>
          <a:p>
            <a:endParaRPr lang="en-US"/>
          </a:p>
        </p:txBody>
      </p:sp>
      <p:sp>
        <p:nvSpPr>
          <p:cNvPr id="34" name="Text 32"/>
          <p:cNvSpPr/>
          <p:nvPr/>
        </p:nvSpPr>
        <p:spPr>
          <a:xfrm>
            <a:off x="640080" y="58064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5" name="Text 33"/>
          <p:cNvSpPr/>
          <p:nvPr/>
        </p:nvSpPr>
        <p:spPr>
          <a:xfrm>
            <a:off x="1188720" y="5678424"/>
            <a:ext cx="4023360" cy="530352"/>
          </a:xfrm>
          <a:prstGeom prst="rect">
            <a:avLst/>
          </a:prstGeom>
          <a:noFill/>
          <a:ln/>
        </p:spPr>
        <p:txBody>
          <a:bodyPr wrap="square" lIns="0" tIns="0" rIns="0" bIns="0" rtlCol="0" anchor="ctr"/>
          <a:lstStyle/>
          <a:p>
            <a:pPr marL="0" indent="0">
              <a:lnSpc>
                <a:spcPts val="1600"/>
              </a:lnSpc>
              <a:buNone/>
            </a:pPr>
            <a:r>
              <a:rPr lang="en-US" sz="1300" b="1" dirty="0">
                <a:solidFill>
                  <a:srgbClr val="1A2430"/>
                </a:solidFill>
                <a:latin typeface="Calibri" pitchFamily="34" charset="0"/>
                <a:ea typeface="Calibri" pitchFamily="34" charset="-122"/>
                <a:cs typeface="Calibri" pitchFamily="34" charset="-120"/>
              </a:rPr>
              <a:t>Top five changes that improved accuracy</a:t>
            </a:r>
            <a:endParaRPr lang="en-US" sz="1300" dirty="0"/>
          </a:p>
        </p:txBody>
      </p:sp>
      <p:sp>
        <p:nvSpPr>
          <p:cNvPr id="36" name="Text 34"/>
          <p:cNvSpPr/>
          <p:nvPr/>
        </p:nvSpPr>
        <p:spPr>
          <a:xfrm>
            <a:off x="5532120" y="5678424"/>
            <a:ext cx="5989320" cy="530352"/>
          </a:xfrm>
          <a:prstGeom prst="rect">
            <a:avLst/>
          </a:prstGeom>
          <a:noFill/>
          <a:ln/>
        </p:spPr>
        <p:txBody>
          <a:bodyPr wrap="square" lIns="0" tIns="0" rIns="0" bIns="0" rtlCol="0" anchor="ctr"/>
          <a:lstStyle/>
          <a:p>
            <a:pPr marL="0" indent="0">
              <a:lnSpc>
                <a:spcPts val="1500"/>
              </a:lnSpc>
              <a:buNone/>
            </a:pPr>
            <a:r>
              <a:rPr lang="en-US" sz="1150" dirty="0">
                <a:solidFill>
                  <a:srgbClr val="5A6B7C"/>
                </a:solidFill>
                <a:latin typeface="Calibri" pitchFamily="34" charset="0"/>
                <a:ea typeface="Calibri" pitchFamily="34" charset="-122"/>
                <a:cs typeface="Calibri" pitchFamily="34" charset="-120"/>
              </a:rPr>
              <a:t>From the ablation table, with the measured delta and the cost of each</a:t>
            </a:r>
            <a:endParaRPr lang="en-US" sz="1150" dirty="0"/>
          </a:p>
        </p:txBody>
      </p:sp>
      <p:sp>
        <p:nvSpPr>
          <p:cNvPr id="37" name="Text 35"/>
          <p:cNvSpPr/>
          <p:nvPr/>
        </p:nvSpPr>
        <p:spPr>
          <a:xfrm>
            <a:off x="640080" y="5989320"/>
            <a:ext cx="10881360" cy="411480"/>
          </a:xfrm>
          <a:prstGeom prst="rect">
            <a:avLst/>
          </a:prstGeom>
          <a:noFill/>
          <a:ln/>
        </p:spPr>
        <p:txBody>
          <a:bodyPr wrap="square" rtlCol="0" anchor="ctr"/>
          <a:lstStyle/>
          <a:p>
            <a:pPr marL="0" indent="0">
              <a:lnSpc>
                <a:spcPts val="1600"/>
              </a:lnSpc>
              <a:buNone/>
            </a:pPr>
            <a:r>
              <a:rPr lang="en-US" sz="1250" b="1" dirty="0">
                <a:solidFill>
                  <a:srgbClr val="1C7293"/>
                </a:solidFill>
                <a:latin typeface="Calibri" pitchFamily="34" charset="0"/>
                <a:ea typeface="Calibri" pitchFamily="34" charset="-122"/>
                <a:cs typeface="Calibri" pitchFamily="34" charset="-120"/>
              </a:rPr>
              <a:t>Scored on: architecture soundness, measurement rigour, integration design quality and observability completeness.</a:t>
            </a:r>
            <a:endParaRPr lang="en-US" sz="12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822960" y="914400"/>
            <a:ext cx="10515600" cy="73152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What to take from today</a:t>
            </a:r>
            <a:endParaRPr lang="en-US" sz="3200" dirty="0"/>
          </a:p>
        </p:txBody>
      </p:sp>
      <p:sp>
        <p:nvSpPr>
          <p:cNvPr id="3" name="Shape 1"/>
          <p:cNvSpPr/>
          <p:nvPr/>
        </p:nvSpPr>
        <p:spPr>
          <a:xfrm>
            <a:off x="822960" y="1911096"/>
            <a:ext cx="365760" cy="365760"/>
          </a:xfrm>
          <a:prstGeom prst="ellipse">
            <a:avLst/>
          </a:prstGeom>
          <a:solidFill>
            <a:srgbClr val="4E9DBE"/>
          </a:solidFill>
          <a:ln/>
        </p:spPr>
        <p:txBody>
          <a:bodyPr/>
          <a:lstStyle/>
          <a:p>
            <a:endParaRPr lang="en-US"/>
          </a:p>
        </p:txBody>
      </p:sp>
      <p:sp>
        <p:nvSpPr>
          <p:cNvPr id="4" name="Text 2"/>
          <p:cNvSpPr/>
          <p:nvPr/>
        </p:nvSpPr>
        <p:spPr>
          <a:xfrm>
            <a:off x="822960" y="191109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p:nvPr/>
        </p:nvSpPr>
        <p:spPr>
          <a:xfrm>
            <a:off x="1371600" y="1874520"/>
            <a:ext cx="10058400" cy="329184"/>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Most RAG failures are retrieval failures.</a:t>
            </a:r>
            <a:endParaRPr lang="en-US" sz="1450" dirty="0"/>
          </a:p>
        </p:txBody>
      </p:sp>
      <p:sp>
        <p:nvSpPr>
          <p:cNvPr id="6" name="Text 4"/>
          <p:cNvSpPr/>
          <p:nvPr/>
        </p:nvSpPr>
        <p:spPr>
          <a:xfrm>
            <a:off x="1371600" y="2221992"/>
            <a:ext cx="10058400" cy="365760"/>
          </a:xfrm>
          <a:prstGeom prst="rect">
            <a:avLst/>
          </a:prstGeom>
          <a:noFill/>
          <a:ln/>
        </p:spPr>
        <p:txBody>
          <a:bodyPr wrap="square" lIns="0" tIns="0" rIns="0" bIns="0" rtlCol="0" anchor="ctr"/>
          <a:lstStyle/>
          <a:p>
            <a:pPr marL="0" indent="0">
              <a:buNone/>
            </a:pPr>
            <a:r>
              <a:rPr lang="en-US" sz="1200" dirty="0">
                <a:solidFill>
                  <a:srgbClr val="B9CFDD"/>
                </a:solidFill>
                <a:latin typeface="Calibri" pitchFamily="34" charset="0"/>
                <a:ea typeface="Calibri" pitchFamily="34" charset="-122"/>
                <a:cs typeface="Calibri" pitchFamily="34" charset="-120"/>
              </a:rPr>
              <a:t>The model is usually the last thing wrong and the first thing blamed. Diagnose retrieval first.</a:t>
            </a:r>
            <a:endParaRPr lang="en-US" sz="1200" dirty="0"/>
          </a:p>
        </p:txBody>
      </p:sp>
      <p:sp>
        <p:nvSpPr>
          <p:cNvPr id="7" name="Shape 5"/>
          <p:cNvSpPr/>
          <p:nvPr/>
        </p:nvSpPr>
        <p:spPr>
          <a:xfrm>
            <a:off x="822960" y="2779776"/>
            <a:ext cx="365760" cy="365760"/>
          </a:xfrm>
          <a:prstGeom prst="ellipse">
            <a:avLst/>
          </a:prstGeom>
          <a:solidFill>
            <a:srgbClr val="4E9DBE"/>
          </a:solidFill>
          <a:ln/>
        </p:spPr>
        <p:txBody>
          <a:bodyPr/>
          <a:lstStyle/>
          <a:p>
            <a:endParaRPr lang="en-US"/>
          </a:p>
        </p:txBody>
      </p:sp>
      <p:sp>
        <p:nvSpPr>
          <p:cNvPr id="8" name="Text 6"/>
          <p:cNvSpPr/>
          <p:nvPr/>
        </p:nvSpPr>
        <p:spPr>
          <a:xfrm>
            <a:off x="822960" y="277977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1371600" y="2743200"/>
            <a:ext cx="10058400" cy="329184"/>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Ingestion quality caps everything downstream.</a:t>
            </a:r>
            <a:endParaRPr lang="en-US" sz="1450" dirty="0"/>
          </a:p>
        </p:txBody>
      </p:sp>
      <p:sp>
        <p:nvSpPr>
          <p:cNvPr id="10" name="Text 8"/>
          <p:cNvSpPr/>
          <p:nvPr/>
        </p:nvSpPr>
        <p:spPr>
          <a:xfrm>
            <a:off x="1371600" y="3090672"/>
            <a:ext cx="10058400" cy="365760"/>
          </a:xfrm>
          <a:prstGeom prst="rect">
            <a:avLst/>
          </a:prstGeom>
          <a:noFill/>
          <a:ln/>
        </p:spPr>
        <p:txBody>
          <a:bodyPr wrap="square" lIns="0" tIns="0" rIns="0" bIns="0" rtlCol="0" anchor="ctr"/>
          <a:lstStyle/>
          <a:p>
            <a:pPr marL="0" indent="0">
              <a:buNone/>
            </a:pPr>
            <a:r>
              <a:rPr lang="en-US" sz="1200" dirty="0">
                <a:solidFill>
                  <a:srgbClr val="B9CFDD"/>
                </a:solidFill>
                <a:latin typeface="Calibri" pitchFamily="34" charset="0"/>
                <a:ea typeface="Calibri" pitchFamily="34" charset="-122"/>
                <a:cs typeface="Calibri" pitchFamily="34" charset="-120"/>
              </a:rPr>
              <a:t>A destroyed table cannot be recovered by a better model, a better prompt or a better embedding.</a:t>
            </a:r>
            <a:endParaRPr lang="en-US" sz="1200" dirty="0"/>
          </a:p>
        </p:txBody>
      </p:sp>
      <p:sp>
        <p:nvSpPr>
          <p:cNvPr id="11" name="Shape 9"/>
          <p:cNvSpPr/>
          <p:nvPr/>
        </p:nvSpPr>
        <p:spPr>
          <a:xfrm>
            <a:off x="822960" y="3648456"/>
            <a:ext cx="365760" cy="365760"/>
          </a:xfrm>
          <a:prstGeom prst="ellipse">
            <a:avLst/>
          </a:prstGeom>
          <a:solidFill>
            <a:srgbClr val="4E9DBE"/>
          </a:solidFill>
          <a:ln/>
        </p:spPr>
        <p:txBody>
          <a:bodyPr/>
          <a:lstStyle/>
          <a:p>
            <a:endParaRPr lang="en-US"/>
          </a:p>
        </p:txBody>
      </p:sp>
      <p:sp>
        <p:nvSpPr>
          <p:cNvPr id="12" name="Text 10"/>
          <p:cNvSpPr/>
          <p:nvPr/>
        </p:nvSpPr>
        <p:spPr>
          <a:xfrm>
            <a:off x="822960" y="364845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371600" y="3611880"/>
            <a:ext cx="10058400" cy="329184"/>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Retrieve broadly, rerank precisely, pass few.</a:t>
            </a:r>
            <a:endParaRPr lang="en-US" sz="1450" dirty="0"/>
          </a:p>
        </p:txBody>
      </p:sp>
      <p:sp>
        <p:nvSpPr>
          <p:cNvPr id="14" name="Text 12"/>
          <p:cNvSpPr/>
          <p:nvPr/>
        </p:nvSpPr>
        <p:spPr>
          <a:xfrm>
            <a:off x="1371600" y="3959352"/>
            <a:ext cx="10058400" cy="365760"/>
          </a:xfrm>
          <a:prstGeom prst="rect">
            <a:avLst/>
          </a:prstGeom>
          <a:noFill/>
          <a:ln/>
        </p:spPr>
        <p:txBody>
          <a:bodyPr wrap="square" lIns="0" tIns="0" rIns="0" bIns="0" rtlCol="0" anchor="ctr"/>
          <a:lstStyle/>
          <a:p>
            <a:pPr marL="0" indent="0">
              <a:buNone/>
            </a:pPr>
            <a:r>
              <a:rPr lang="en-US" sz="1200" dirty="0">
                <a:solidFill>
                  <a:srgbClr val="B9CFDD"/>
                </a:solidFill>
                <a:latin typeface="Calibri" pitchFamily="34" charset="0"/>
                <a:ea typeface="Calibri" pitchFamily="34" charset="-122"/>
                <a:cs typeface="Calibri" pitchFamily="34" charset="-120"/>
              </a:rPr>
              <a:t>Cheaper, faster and more accurate than passing everything you retrieved.</a:t>
            </a:r>
            <a:endParaRPr lang="en-US" sz="1200" dirty="0"/>
          </a:p>
        </p:txBody>
      </p:sp>
      <p:sp>
        <p:nvSpPr>
          <p:cNvPr id="15" name="Shape 13"/>
          <p:cNvSpPr/>
          <p:nvPr/>
        </p:nvSpPr>
        <p:spPr>
          <a:xfrm>
            <a:off x="822960" y="4517136"/>
            <a:ext cx="365760" cy="365760"/>
          </a:xfrm>
          <a:prstGeom prst="ellipse">
            <a:avLst/>
          </a:prstGeom>
          <a:solidFill>
            <a:srgbClr val="4E9DBE"/>
          </a:solidFill>
          <a:ln/>
        </p:spPr>
        <p:txBody>
          <a:bodyPr/>
          <a:lstStyle/>
          <a:p>
            <a:endParaRPr lang="en-US"/>
          </a:p>
        </p:txBody>
      </p:sp>
      <p:sp>
        <p:nvSpPr>
          <p:cNvPr id="16" name="Text 14"/>
          <p:cNvSpPr/>
          <p:nvPr/>
        </p:nvSpPr>
        <p:spPr>
          <a:xfrm>
            <a:off x="822960" y="451713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p:nvPr/>
        </p:nvSpPr>
        <p:spPr>
          <a:xfrm>
            <a:off x="1371600" y="4480560"/>
            <a:ext cx="10058400" cy="329184"/>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Measure retrieval and generation separately.</a:t>
            </a:r>
            <a:endParaRPr lang="en-US" sz="1450" dirty="0"/>
          </a:p>
        </p:txBody>
      </p:sp>
      <p:sp>
        <p:nvSpPr>
          <p:cNvPr id="18" name="Text 16"/>
          <p:cNvSpPr/>
          <p:nvPr/>
        </p:nvSpPr>
        <p:spPr>
          <a:xfrm>
            <a:off x="1371600" y="4828032"/>
            <a:ext cx="10058400" cy="365760"/>
          </a:xfrm>
          <a:prstGeom prst="rect">
            <a:avLst/>
          </a:prstGeom>
          <a:noFill/>
          <a:ln/>
        </p:spPr>
        <p:txBody>
          <a:bodyPr wrap="square" lIns="0" tIns="0" rIns="0" bIns="0" rtlCol="0" anchor="ctr"/>
          <a:lstStyle/>
          <a:p>
            <a:pPr marL="0" indent="0">
              <a:buNone/>
            </a:pPr>
            <a:r>
              <a:rPr lang="en-US" sz="1200" dirty="0">
                <a:solidFill>
                  <a:srgbClr val="B9CFDD"/>
                </a:solidFill>
                <a:latin typeface="Calibri" pitchFamily="34" charset="0"/>
                <a:ea typeface="Calibri" pitchFamily="34" charset="-122"/>
                <a:cs typeface="Calibri" pitchFamily="34" charset="-120"/>
              </a:rPr>
              <a:t>One end-to-end score tells you the system is wrong without telling you which half to fix.</a:t>
            </a:r>
            <a:endParaRPr lang="en-US" sz="1200" dirty="0"/>
          </a:p>
        </p:txBody>
      </p:sp>
      <p:sp>
        <p:nvSpPr>
          <p:cNvPr id="19" name="Shape 17"/>
          <p:cNvSpPr/>
          <p:nvPr/>
        </p:nvSpPr>
        <p:spPr>
          <a:xfrm>
            <a:off x="822960" y="5385816"/>
            <a:ext cx="365760" cy="365760"/>
          </a:xfrm>
          <a:prstGeom prst="ellipse">
            <a:avLst/>
          </a:prstGeom>
          <a:solidFill>
            <a:srgbClr val="4E9DBE"/>
          </a:solidFill>
          <a:ln/>
        </p:spPr>
        <p:txBody>
          <a:bodyPr/>
          <a:lstStyle/>
          <a:p>
            <a:endParaRPr lang="en-US"/>
          </a:p>
        </p:txBody>
      </p:sp>
      <p:sp>
        <p:nvSpPr>
          <p:cNvPr id="20" name="Text 18"/>
          <p:cNvSpPr/>
          <p:nvPr/>
        </p:nvSpPr>
        <p:spPr>
          <a:xfrm>
            <a:off x="822960" y="538581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1" name="Text 19"/>
          <p:cNvSpPr/>
          <p:nvPr/>
        </p:nvSpPr>
        <p:spPr>
          <a:xfrm>
            <a:off x="1371600" y="5349240"/>
            <a:ext cx="10058400" cy="329184"/>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Declining to answer is a feature, not a failure.</a:t>
            </a:r>
            <a:endParaRPr lang="en-US" sz="1450" dirty="0"/>
          </a:p>
        </p:txBody>
      </p:sp>
      <p:sp>
        <p:nvSpPr>
          <p:cNvPr id="22" name="Text 20"/>
          <p:cNvSpPr/>
          <p:nvPr/>
        </p:nvSpPr>
        <p:spPr>
          <a:xfrm>
            <a:off x="1371600" y="5696712"/>
            <a:ext cx="10058400" cy="365760"/>
          </a:xfrm>
          <a:prstGeom prst="rect">
            <a:avLst/>
          </a:prstGeom>
          <a:noFill/>
          <a:ln/>
        </p:spPr>
        <p:txBody>
          <a:bodyPr wrap="square" lIns="0" tIns="0" rIns="0" bIns="0" rtlCol="0" anchor="ctr"/>
          <a:lstStyle/>
          <a:p>
            <a:pPr marL="0" indent="0">
              <a:buNone/>
            </a:pPr>
            <a:r>
              <a:rPr lang="en-US" sz="1200" dirty="0">
                <a:solidFill>
                  <a:srgbClr val="B9CFDD"/>
                </a:solidFill>
                <a:latin typeface="Calibri" pitchFamily="34" charset="0"/>
                <a:ea typeface="Calibri" pitchFamily="34" charset="-122"/>
                <a:cs typeface="Calibri" pitchFamily="34" charset="-120"/>
              </a:rPr>
              <a:t>No-answer accuracy is the metric almost nobody measures and almost everybody needs.</a:t>
            </a:r>
            <a:endParaRPr lang="en-US" sz="1200" dirty="0"/>
          </a:p>
        </p:txBody>
      </p:sp>
      <p:sp>
        <p:nvSpPr>
          <p:cNvPr id="23" name="Text 21"/>
          <p:cNvSpPr/>
          <p:nvPr/>
        </p:nvSpPr>
        <p:spPr>
          <a:xfrm>
            <a:off x="822960" y="6172200"/>
            <a:ext cx="10515600" cy="365760"/>
          </a:xfrm>
          <a:prstGeom prst="rect">
            <a:avLst/>
          </a:prstGeom>
          <a:noFill/>
          <a:ln/>
        </p:spPr>
        <p:txBody>
          <a:bodyPr wrap="square" rtlCol="0" anchor="ctr"/>
          <a:lstStyle/>
          <a:p>
            <a:pPr marL="0" indent="0">
              <a:buNone/>
            </a:pPr>
            <a:r>
              <a:rPr lang="en-US" sz="1250" b="1" dirty="0">
                <a:solidFill>
                  <a:srgbClr val="9FD0E3"/>
                </a:solidFill>
                <a:latin typeface="Calibri" pitchFamily="34" charset="0"/>
                <a:ea typeface="Calibri" pitchFamily="34" charset="-122"/>
                <a:cs typeface="Calibri" pitchFamily="34" charset="-120"/>
              </a:rPr>
              <a:t>Tomorrow — Day 4:  Computer vision for industrial inspection, CV error analysis, MLOps and active learning.</a:t>
            </a:r>
            <a:endParaRPr lang="en-US" sz="1250" dirty="0"/>
          </a:p>
        </p:txBody>
      </p:sp>
      <p:sp>
        <p:nvSpPr>
          <p:cNvPr id="24" name="Text 22"/>
          <p:cNvSpPr/>
          <p:nvPr/>
        </p:nvSpPr>
        <p:spPr>
          <a:xfrm>
            <a:off x="11475720" y="6400800"/>
            <a:ext cx="365760" cy="274320"/>
          </a:xfrm>
          <a:prstGeom prst="rect">
            <a:avLst/>
          </a:prstGeom>
          <a:noFill/>
          <a:ln/>
        </p:spPr>
        <p:txBody>
          <a:bodyPr wrap="square" rtlCol="0" anchor="ctr"/>
          <a:lstStyle/>
          <a:p>
            <a:pPr marL="0" indent="0" algn="r">
              <a:buNone/>
            </a:pPr>
            <a:r>
              <a:rPr lang="en-US" sz="1000" dirty="0">
                <a:solidFill>
                  <a:srgbClr val="5A6B7C"/>
                </a:solidFill>
                <a:latin typeface="Calibri" pitchFamily="34" charset="0"/>
                <a:ea typeface="Calibri" pitchFamily="34" charset="-122"/>
                <a:cs typeface="Calibri" pitchFamily="34" charset="-120"/>
              </a:rPr>
              <a:t>43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7478</Words>
  <Application>Microsoft Macintosh PowerPoint</Application>
  <PresentationFormat>Widescreen</PresentationFormat>
  <Paragraphs>985</Paragraphs>
  <Slides>44</Slides>
  <Notes>44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Dr. Subhabaha Pal</cp:lastModifiedBy>
  <cp:revision>2</cp:revision>
  <dcterms:created xsi:type="dcterms:W3CDTF">2026-08-15T06:08:09Z</dcterms:created>
  <dcterms:modified xsi:type="dcterms:W3CDTF">2026-08-17T01:48:51Z</dcterms:modified>
</cp:coreProperties>
</file>