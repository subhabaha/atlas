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830"/>
        </a:solidFill>
        <a:effectLst/>
      </p:bgPr>
    </p:bg>
    <p:spTree>
      <p:nvGrpSpPr>
        <p:cNvPr id="1" name=""/>
        <p:cNvGrpSpPr/>
        <p:nvPr/>
      </p:nvGrpSpPr>
      <p:grpSpPr/>
      <p:sp>
        <p:nvSpPr>
          <p:cNvPr id="2" name="Oval 1"/>
          <p:cNvSpPr/>
          <p:nvPr/>
        </p:nvSpPr>
        <p:spPr>
          <a:xfrm>
            <a:off x="9464040" y="1417320"/>
            <a:ext cx="3108960" cy="3108960"/>
          </a:xfrm>
          <a:prstGeom prst="ellipse">
            <a:avLst/>
          </a:prstGeom>
          <a:solidFill>
            <a:srgbClr val="12414C"/>
          </a:solidFill>
          <a:ln>
            <a:noFill/>
          </a:ln>
          <a:effectLst/>
        </p:spPr>
        <p:txBody>
          <a:bodyPr rtlCol="0" anchor="ctr" wrap="none" lIns="0" rIns="0" tIns="0" bIns="0"/>
          <a:lstStyle/>
          <a:p>
            <a:pPr algn="ctr"/>
          </a:p>
        </p:txBody>
      </p:sp>
      <p:sp>
        <p:nvSpPr>
          <p:cNvPr id="3" name="Oval 2"/>
          <p:cNvSpPr/>
          <p:nvPr/>
        </p:nvSpPr>
        <p:spPr>
          <a:xfrm>
            <a:off x="10012680" y="1965960"/>
            <a:ext cx="2011680" cy="2011680"/>
          </a:xfrm>
          <a:prstGeom prst="ellipse">
            <a:avLst/>
          </a:prstGeom>
          <a:solidFill>
            <a:srgbClr val="17545E"/>
          </a:solidFill>
          <a:ln>
            <a:noFill/>
          </a:ln>
          <a:effectLst/>
        </p:spPr>
        <p:txBody>
          <a:bodyPr rtlCol="0" anchor="ctr" wrap="none" lIns="0" rIns="0" tIns="0" bIns="0"/>
          <a:lstStyle/>
          <a:p>
            <a:pPr algn="ctr"/>
          </a:p>
        </p:txBody>
      </p:sp>
      <p:sp>
        <p:nvSpPr>
          <p:cNvPr id="4" name="Oval 3"/>
          <p:cNvSpPr/>
          <p:nvPr/>
        </p:nvSpPr>
        <p:spPr>
          <a:xfrm>
            <a:off x="10561320" y="2514600"/>
            <a:ext cx="914400" cy="914400"/>
          </a:xfrm>
          <a:prstGeom prst="ellipse">
            <a:avLst/>
          </a:prstGeom>
          <a:solidFill>
            <a:srgbClr val="E8A33D"/>
          </a:solidFill>
          <a:ln>
            <a:noFill/>
          </a:ln>
          <a:effectLst/>
        </p:spPr>
        <p:txBody>
          <a:bodyPr rtlCol="0" anchor="ctr" wrap="none" lIns="0" rIns="0" tIns="0" bIns="0"/>
          <a:lstStyle/>
          <a:p>
            <a:pPr algn="ctr"/>
          </a:p>
        </p:txBody>
      </p:sp>
      <p:sp>
        <p:nvSpPr>
          <p:cNvPr id="5" name="TextBox 4"/>
          <p:cNvSpPr txBox="1"/>
          <p:nvPr/>
        </p:nvSpPr>
        <p:spPr>
          <a:xfrm>
            <a:off x="548640" y="658368"/>
            <a:ext cx="8412480" cy="274320"/>
          </a:xfrm>
          <a:prstGeom prst="rect">
            <a:avLst/>
          </a:prstGeom>
          <a:noFill/>
        </p:spPr>
        <p:txBody>
          <a:bodyPr wrap="square" lIns="0" rIns="0" tIns="0" bIns="0" anchor="t">
            <a:spAutoFit/>
          </a:bodyPr>
          <a:lstStyle/>
          <a:p>
            <a:pPr marL="0" indent="0">
              <a:buNone/>
            </a:pPr>
            <a:r>
              <a:rPr sz="1150" b="1" i="0">
                <a:solidFill>
                  <a:srgbClr val="3FA79F"/>
                </a:solidFill>
                <a:latin typeface="Calibri"/>
              </a:rPr>
              <a:t>IILM ACADEMY OF HIGHER EDUCATION, JAIPUR</a:t>
            </a:r>
          </a:p>
        </p:txBody>
      </p:sp>
      <p:sp>
        <p:nvSpPr>
          <p:cNvPr id="6" name="TextBox 5"/>
          <p:cNvSpPr txBox="1"/>
          <p:nvPr/>
        </p:nvSpPr>
        <p:spPr>
          <a:xfrm>
            <a:off x="548640" y="950976"/>
            <a:ext cx="8412480" cy="274320"/>
          </a:xfrm>
          <a:prstGeom prst="rect">
            <a:avLst/>
          </a:prstGeom>
          <a:noFill/>
        </p:spPr>
        <p:txBody>
          <a:bodyPr wrap="square" lIns="0" rIns="0" tIns="0" bIns="0" anchor="t">
            <a:spAutoFit/>
          </a:bodyPr>
          <a:lstStyle/>
          <a:p>
            <a:pPr marL="0" indent="0">
              <a:buNone/>
            </a:pPr>
            <a:r>
              <a:rPr sz="1100" b="0" i="0">
                <a:solidFill>
                  <a:srgbClr val="8FAAA8"/>
                </a:solidFill>
                <a:latin typeface="Calibri"/>
              </a:rPr>
              <a:t>MBA — Business Analytics Specialisation  |  Business Intelligence (3 Credits, L–T–P 3–0–0)</a:t>
            </a:r>
          </a:p>
        </p:txBody>
      </p:sp>
      <p:sp>
        <p:nvSpPr>
          <p:cNvPr id="7" name="Rounded Rectangle 6"/>
          <p:cNvSpPr/>
          <p:nvPr/>
        </p:nvSpPr>
        <p:spPr>
          <a:xfrm>
            <a:off x="548640" y="1572768"/>
            <a:ext cx="2395728" cy="475488"/>
          </a:xfrm>
          <a:prstGeom prst="roundRect">
            <a:avLst>
              <a:gd name="adj" fmla="val 17307"/>
            </a:avLst>
          </a:prstGeom>
          <a:solidFill>
            <a:srgbClr val="E8A33D"/>
          </a:solidFill>
          <a:ln>
            <a:noFill/>
          </a:ln>
          <a:effectLst/>
        </p:spPr>
        <p:txBody>
          <a:bodyPr rtlCol="0" anchor="ctr" lIns="0" rIns="0" tIns="0" bIns="0"/>
          <a:lstStyle/>
          <a:p>
            <a:pPr algn="ctr"/>
            <a:r>
              <a:rPr sz="1250" b="1">
                <a:solidFill>
                  <a:srgbClr val="3A2703"/>
                </a:solidFill>
                <a:latin typeface="Calibri"/>
              </a:rPr>
              <a:t>SESSION 06</a:t>
            </a:r>
          </a:p>
        </p:txBody>
      </p:sp>
      <p:sp>
        <p:nvSpPr>
          <p:cNvPr id="8" name="TextBox 7"/>
          <p:cNvSpPr txBox="1"/>
          <p:nvPr/>
        </p:nvSpPr>
        <p:spPr>
          <a:xfrm>
            <a:off x="548640" y="2286000"/>
            <a:ext cx="8503920" cy="1691640"/>
          </a:xfrm>
          <a:prstGeom prst="rect">
            <a:avLst/>
          </a:prstGeom>
          <a:noFill/>
        </p:spPr>
        <p:txBody>
          <a:bodyPr wrap="square" lIns="0" rIns="0" tIns="0" bIns="0" anchor="t">
            <a:spAutoFit/>
          </a:bodyPr>
          <a:lstStyle/>
          <a:p>
            <a:pPr marL="0" indent="0">
              <a:lnSpc>
                <a:spcPct val="105000"/>
              </a:lnSpc>
              <a:buNone/>
            </a:pPr>
            <a:r>
              <a:rPr sz="4000" b="1" i="0">
                <a:solidFill>
                  <a:srgbClr val="FFFFFF"/>
                </a:solidFill>
                <a:latin typeface="Cambria"/>
              </a:rPr>
              <a:t>Data Warehousing, OLTP and OLAP</a:t>
            </a:r>
          </a:p>
        </p:txBody>
      </p:sp>
      <p:sp>
        <p:nvSpPr>
          <p:cNvPr id="9" name="TextBox 8"/>
          <p:cNvSpPr txBox="1"/>
          <p:nvPr/>
        </p:nvSpPr>
        <p:spPr>
          <a:xfrm>
            <a:off x="548640" y="4041648"/>
            <a:ext cx="8321040" cy="896112"/>
          </a:xfrm>
          <a:prstGeom prst="rect">
            <a:avLst/>
          </a:prstGeom>
          <a:noFill/>
        </p:spPr>
        <p:txBody>
          <a:bodyPr wrap="square" lIns="0" rIns="0" tIns="0" bIns="0" anchor="t">
            <a:spAutoFit/>
          </a:bodyPr>
          <a:lstStyle/>
          <a:p>
            <a:pPr marL="0" indent="0">
              <a:lnSpc>
                <a:spcPct val="130000"/>
              </a:lnSpc>
              <a:buNone/>
            </a:pPr>
            <a:r>
              <a:rPr sz="1400" b="0" i="0">
                <a:solidFill>
                  <a:srgbClr val="AFC6C4"/>
                </a:solidFill>
                <a:latin typeface="Calibri"/>
              </a:rPr>
              <a:t>Why analytical storage must be separate · Inmon's four properties · the transaction workload against the analytical workload · warehouse architecture, ETL and ELT, and the modern lakehouse</a:t>
            </a:r>
          </a:p>
        </p:txBody>
      </p:sp>
      <p:sp>
        <p:nvSpPr>
          <p:cNvPr id="10" name="Rectangle 9"/>
          <p:cNvSpPr/>
          <p:nvPr/>
        </p:nvSpPr>
        <p:spPr>
          <a:xfrm>
            <a:off x="548640" y="5138928"/>
            <a:ext cx="8321040" cy="9525"/>
          </a:xfrm>
          <a:prstGeom prst="rect">
            <a:avLst/>
          </a:prstGeom>
          <a:solidFill>
            <a:srgbClr val="2A5761"/>
          </a:solidFill>
          <a:ln>
            <a:noFill/>
          </a:ln>
          <a:effectLst/>
        </p:spPr>
        <p:txBody>
          <a:bodyPr rtlCol="0" anchor="ctr"/>
          <a:lstStyle/>
          <a:p>
            <a:pPr algn="ctr"/>
          </a:p>
        </p:txBody>
      </p:sp>
      <p:sp>
        <p:nvSpPr>
          <p:cNvPr id="11" name="TextBox 10"/>
          <p:cNvSpPr txBox="1"/>
          <p:nvPr/>
        </p:nvSpPr>
        <p:spPr>
          <a:xfrm>
            <a:off x="548640" y="5303520"/>
            <a:ext cx="1938528" cy="219456"/>
          </a:xfrm>
          <a:prstGeom prst="rect">
            <a:avLst/>
          </a:prstGeom>
          <a:noFill/>
        </p:spPr>
        <p:txBody>
          <a:bodyPr wrap="square" lIns="0" rIns="0" tIns="0" bIns="0" anchor="t">
            <a:spAutoFit/>
          </a:bodyPr>
          <a:lstStyle/>
          <a:p>
            <a:pPr marL="0" indent="0">
              <a:buNone/>
            </a:pPr>
            <a:r>
              <a:rPr sz="850" b="1" i="0">
                <a:solidFill>
                  <a:srgbClr val="E8A33D"/>
                </a:solidFill>
                <a:latin typeface="Calibri"/>
              </a:rPr>
              <a:t>MODULE</a:t>
            </a:r>
          </a:p>
        </p:txBody>
      </p:sp>
      <p:sp>
        <p:nvSpPr>
          <p:cNvPr id="12" name="TextBox 11"/>
          <p:cNvSpPr txBox="1"/>
          <p:nvPr/>
        </p:nvSpPr>
        <p:spPr>
          <a:xfrm>
            <a:off x="548640" y="5522976"/>
            <a:ext cx="1938528" cy="566928"/>
          </a:xfrm>
          <a:prstGeom prst="rect">
            <a:avLst/>
          </a:prstGeom>
          <a:noFill/>
        </p:spPr>
        <p:txBody>
          <a:bodyPr wrap="square" lIns="0" rIns="0" tIns="0" bIns="0" anchor="t">
            <a:spAutoFit/>
          </a:bodyPr>
          <a:lstStyle/>
          <a:p>
            <a:pPr marL="0" indent="0">
              <a:lnSpc>
                <a:spcPct val="115000"/>
              </a:lnSpc>
              <a:buNone/>
            </a:pPr>
            <a:r>
              <a:rPr sz="1150" b="0" i="0">
                <a:solidFill>
                  <a:srgbClr val="FFFFFF"/>
                </a:solidFill>
                <a:latin typeface="Calibri"/>
              </a:rPr>
              <a:t>2 — Data Foundations for Business Intelligence</a:t>
            </a:r>
          </a:p>
        </p:txBody>
      </p:sp>
      <p:sp>
        <p:nvSpPr>
          <p:cNvPr id="13" name="TextBox 12"/>
          <p:cNvSpPr txBox="1"/>
          <p:nvPr/>
        </p:nvSpPr>
        <p:spPr>
          <a:xfrm>
            <a:off x="2628900" y="5303520"/>
            <a:ext cx="1938528" cy="219456"/>
          </a:xfrm>
          <a:prstGeom prst="rect">
            <a:avLst/>
          </a:prstGeom>
          <a:noFill/>
        </p:spPr>
        <p:txBody>
          <a:bodyPr wrap="square" lIns="0" rIns="0" tIns="0" bIns="0" anchor="t">
            <a:spAutoFit/>
          </a:bodyPr>
          <a:lstStyle/>
          <a:p>
            <a:pPr marL="0" indent="0">
              <a:buNone/>
            </a:pPr>
            <a:r>
              <a:rPr sz="850" b="1" i="0">
                <a:solidFill>
                  <a:srgbClr val="E8A33D"/>
                </a:solidFill>
                <a:latin typeface="Calibri"/>
              </a:rPr>
              <a:t>COURSE OUTCOME</a:t>
            </a:r>
          </a:p>
        </p:txBody>
      </p:sp>
      <p:sp>
        <p:nvSpPr>
          <p:cNvPr id="14" name="TextBox 13"/>
          <p:cNvSpPr txBox="1"/>
          <p:nvPr/>
        </p:nvSpPr>
        <p:spPr>
          <a:xfrm>
            <a:off x="2628900" y="5522976"/>
            <a:ext cx="1938528" cy="566928"/>
          </a:xfrm>
          <a:prstGeom prst="rect">
            <a:avLst/>
          </a:prstGeom>
          <a:noFill/>
        </p:spPr>
        <p:txBody>
          <a:bodyPr wrap="square" lIns="0" rIns="0" tIns="0" bIns="0" anchor="t">
            <a:spAutoFit/>
          </a:bodyPr>
          <a:lstStyle/>
          <a:p>
            <a:pPr marL="0" indent="0">
              <a:lnSpc>
                <a:spcPct val="115000"/>
              </a:lnSpc>
              <a:buNone/>
            </a:pPr>
            <a:r>
              <a:rPr sz="1150" b="0" i="0">
                <a:solidFill>
                  <a:srgbClr val="FFFFFF"/>
                </a:solidFill>
                <a:latin typeface="Calibri"/>
              </a:rPr>
              <a:t>CO4 · Bloom L4 (Analyse)</a:t>
            </a:r>
          </a:p>
        </p:txBody>
      </p:sp>
      <p:sp>
        <p:nvSpPr>
          <p:cNvPr id="15" name="TextBox 14"/>
          <p:cNvSpPr txBox="1"/>
          <p:nvPr/>
        </p:nvSpPr>
        <p:spPr>
          <a:xfrm>
            <a:off x="4709159" y="5303520"/>
            <a:ext cx="1938528" cy="219456"/>
          </a:xfrm>
          <a:prstGeom prst="rect">
            <a:avLst/>
          </a:prstGeom>
          <a:noFill/>
        </p:spPr>
        <p:txBody>
          <a:bodyPr wrap="square" lIns="0" rIns="0" tIns="0" bIns="0" anchor="t">
            <a:spAutoFit/>
          </a:bodyPr>
          <a:lstStyle/>
          <a:p>
            <a:pPr marL="0" indent="0">
              <a:buNone/>
            </a:pPr>
            <a:r>
              <a:rPr sz="850" b="1" i="0">
                <a:solidFill>
                  <a:srgbClr val="E8A33D"/>
                </a:solidFill>
                <a:latin typeface="Calibri"/>
              </a:rPr>
              <a:t>DURATION</a:t>
            </a:r>
          </a:p>
        </p:txBody>
      </p:sp>
      <p:sp>
        <p:nvSpPr>
          <p:cNvPr id="16" name="TextBox 15"/>
          <p:cNvSpPr txBox="1"/>
          <p:nvPr/>
        </p:nvSpPr>
        <p:spPr>
          <a:xfrm>
            <a:off x="4709159" y="5522976"/>
            <a:ext cx="1938528" cy="566928"/>
          </a:xfrm>
          <a:prstGeom prst="rect">
            <a:avLst/>
          </a:prstGeom>
          <a:noFill/>
        </p:spPr>
        <p:txBody>
          <a:bodyPr wrap="square" lIns="0" rIns="0" tIns="0" bIns="0" anchor="t">
            <a:spAutoFit/>
          </a:bodyPr>
          <a:lstStyle/>
          <a:p>
            <a:pPr marL="0" indent="0">
              <a:lnSpc>
                <a:spcPct val="115000"/>
              </a:lnSpc>
              <a:buNone/>
            </a:pPr>
            <a:r>
              <a:rPr sz="1150" b="0" i="0">
                <a:solidFill>
                  <a:srgbClr val="FFFFFF"/>
                </a:solidFill>
                <a:latin typeface="Calibri"/>
              </a:rPr>
              <a:t>2 hours (lecture + case discussion)</a:t>
            </a:r>
          </a:p>
        </p:txBody>
      </p:sp>
      <p:sp>
        <p:nvSpPr>
          <p:cNvPr id="17" name="TextBox 16"/>
          <p:cNvSpPr txBox="1"/>
          <p:nvPr/>
        </p:nvSpPr>
        <p:spPr>
          <a:xfrm>
            <a:off x="6789419" y="5303520"/>
            <a:ext cx="1938528" cy="219456"/>
          </a:xfrm>
          <a:prstGeom prst="rect">
            <a:avLst/>
          </a:prstGeom>
          <a:noFill/>
        </p:spPr>
        <p:txBody>
          <a:bodyPr wrap="square" lIns="0" rIns="0" tIns="0" bIns="0" anchor="t">
            <a:spAutoFit/>
          </a:bodyPr>
          <a:lstStyle/>
          <a:p>
            <a:pPr marL="0" indent="0">
              <a:buNone/>
            </a:pPr>
            <a:r>
              <a:rPr sz="850" b="1" i="0">
                <a:solidFill>
                  <a:srgbClr val="E8A33D"/>
                </a:solidFill>
                <a:latin typeface="Calibri"/>
              </a:rPr>
              <a:t>PEDAGOGY</a:t>
            </a:r>
          </a:p>
        </p:txBody>
      </p:sp>
      <p:sp>
        <p:nvSpPr>
          <p:cNvPr id="18" name="TextBox 17"/>
          <p:cNvSpPr txBox="1"/>
          <p:nvPr/>
        </p:nvSpPr>
        <p:spPr>
          <a:xfrm>
            <a:off x="6789419" y="5522976"/>
            <a:ext cx="1938528" cy="566928"/>
          </a:xfrm>
          <a:prstGeom prst="rect">
            <a:avLst/>
          </a:prstGeom>
          <a:noFill/>
        </p:spPr>
        <p:txBody>
          <a:bodyPr wrap="square" lIns="0" rIns="0" tIns="0" bIns="0" anchor="t">
            <a:spAutoFit/>
          </a:bodyPr>
          <a:lstStyle/>
          <a:p>
            <a:pPr marL="0" indent="0">
              <a:lnSpc>
                <a:spcPct val="115000"/>
              </a:lnSpc>
              <a:buNone/>
            </a:pPr>
            <a:r>
              <a:rPr sz="1150" b="0" i="0">
                <a:solidFill>
                  <a:srgbClr val="FFFFFF"/>
                </a:solidFill>
                <a:latin typeface="Calibri"/>
              </a:rPr>
              <a:t>Worked case · OLTP/OLAP analysis</a:t>
            </a:r>
          </a:p>
        </p:txBody>
      </p:sp>
      <p:sp>
        <p:nvSpPr>
          <p:cNvPr id="19" name="TextBox 18"/>
          <p:cNvSpPr txBox="1"/>
          <p:nvPr/>
        </p:nvSpPr>
        <p:spPr>
          <a:xfrm>
            <a:off x="548640" y="6272784"/>
            <a:ext cx="11064240" cy="274320"/>
          </a:xfrm>
          <a:prstGeom prst="rect">
            <a:avLst/>
          </a:prstGeom>
          <a:noFill/>
        </p:spPr>
        <p:txBody>
          <a:bodyPr wrap="square" lIns="0" rIns="0" tIns="0" bIns="0" anchor="t">
            <a:spAutoFit/>
          </a:bodyPr>
          <a:lstStyle/>
          <a:p>
            <a:pPr algn="l" marL="0" indent="0">
              <a:buNone/>
            </a:pPr>
            <a:r>
              <a:rPr sz="790" b="0" i="0">
                <a:solidFill>
                  <a:srgbClr val="6D8A88"/>
                </a:solidFill>
                <a:latin typeface="Calibri"/>
              </a:rPr>
              <a:t>Prescribed reading: Inmon, Building the Data Warehouse, 4th ed., Ch. 1–3  ·  Kimball &amp; Ross, The Data Warehouse Toolkit, 3rd ed., Ch. 1  ·  Sharda, Delen &amp; Turban, Business Intelligence and Analytics, Ch. 8  ·  Codd, Codd &amp; Salley (1993), “Providing OLAP to User-Analysts”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374904"/>
            <a:ext cx="109728" cy="109728"/>
          </a:xfrm>
          <a:prstGeom prst="ellipse">
            <a:avLst/>
          </a:prstGeom>
          <a:solidFill>
            <a:srgbClr val="E8A33D"/>
          </a:solidFill>
          <a:ln>
            <a:noFill/>
          </a:ln>
          <a:effectLst/>
        </p:spPr>
        <p:txBody>
          <a:bodyPr rtlCol="0" anchor="ctr" wrap="none" lIns="0" rIns="0" tIns="0" bIns="0"/>
          <a:lstStyle/>
          <a:p>
            <a:pPr algn="ctr"/>
          </a:p>
        </p:txBody>
      </p:sp>
      <p:sp>
        <p:nvSpPr>
          <p:cNvPr id="3" name="TextBox 2"/>
          <p:cNvSpPr txBox="1"/>
          <p:nvPr/>
        </p:nvSpPr>
        <p:spPr>
          <a:xfrm>
            <a:off x="749808" y="283464"/>
            <a:ext cx="10890504" cy="256032"/>
          </a:xfrm>
          <a:prstGeom prst="rect">
            <a:avLst/>
          </a:prstGeom>
          <a:noFill/>
        </p:spPr>
        <p:txBody>
          <a:bodyPr wrap="square" lIns="0" rIns="0" tIns="0" bIns="0" anchor="t">
            <a:spAutoFit/>
          </a:bodyPr>
          <a:lstStyle/>
          <a:p>
            <a:pPr marL="0" indent="0">
              <a:buNone/>
            </a:pPr>
            <a:r>
              <a:rPr sz="1000" b="1" i="0">
                <a:solidFill>
                  <a:srgbClr val="B87A1E"/>
                </a:solidFill>
                <a:latin typeface="Calibri"/>
              </a:rPr>
              <a:t>RECAP AND ROADMAP</a:t>
            </a:r>
          </a:p>
        </p:txBody>
      </p:sp>
      <p:sp>
        <p:nvSpPr>
          <p:cNvPr id="4" name="TextBox 3"/>
          <p:cNvSpPr txBox="1"/>
          <p:nvPr/>
        </p:nvSpPr>
        <p:spPr>
          <a:xfrm>
            <a:off x="548640" y="548640"/>
            <a:ext cx="11091672" cy="640080"/>
          </a:xfrm>
          <a:prstGeom prst="rect">
            <a:avLst/>
          </a:prstGeom>
          <a:noFill/>
        </p:spPr>
        <p:txBody>
          <a:bodyPr wrap="square" lIns="0" rIns="0" tIns="0" bIns="0" anchor="t">
            <a:spAutoFit/>
          </a:bodyPr>
          <a:lstStyle/>
          <a:p>
            <a:pPr algn="l" marL="0" indent="0">
              <a:buNone/>
            </a:pPr>
            <a:r>
              <a:rPr sz="2700" b="1" i="0">
                <a:solidFill>
                  <a:srgbClr val="123B47"/>
                </a:solidFill>
                <a:latin typeface="Cambria"/>
              </a:rPr>
              <a:t>One database cannot serve two opposite workloads</a:t>
            </a:r>
          </a:p>
        </p:txBody>
      </p:sp>
      <p:sp>
        <p:nvSpPr>
          <p:cNvPr id="5" name="Rounded Rectangle 4"/>
          <p:cNvSpPr/>
          <p:nvPr/>
        </p:nvSpPr>
        <p:spPr>
          <a:xfrm>
            <a:off x="548640" y="1298448"/>
            <a:ext cx="11091672" cy="786384"/>
          </a:xfrm>
          <a:prstGeom prst="roundRect">
            <a:avLst>
              <a:gd name="adj" fmla="val 10465"/>
            </a:avLst>
          </a:prstGeom>
          <a:solidFill>
            <a:srgbClr val="123B47"/>
          </a:solidFill>
          <a:ln>
            <a:noFill/>
          </a:ln>
          <a:effectLst>
            <a:outerShdw blurRad="76200" dist="12700" dir="5400000" algn="bl" rotWithShape="0">
              <a:srgbClr val="9FB3B0">
                <a:alpha val="28000"/>
              </a:srgbClr>
            </a:outerShdw>
          </a:effectLst>
        </p:spPr>
        <p:txBody>
          <a:bodyPr rtlCol="0" anchor="ctr"/>
          <a:lstStyle/>
          <a:p/>
        </p:txBody>
      </p:sp>
      <p:sp>
        <p:nvSpPr>
          <p:cNvPr id="6" name="TextBox 5"/>
          <p:cNvSpPr txBox="1"/>
          <p:nvPr/>
        </p:nvSpPr>
        <p:spPr>
          <a:xfrm>
            <a:off x="768096" y="1371600"/>
            <a:ext cx="10652760" cy="640080"/>
          </a:xfrm>
          <a:prstGeom prst="rect">
            <a:avLst/>
          </a:prstGeom>
          <a:noFill/>
        </p:spPr>
        <p:txBody>
          <a:bodyPr wrap="square" lIns="0" rIns="0" tIns="0" bIns="0" anchor="ctr">
            <a:spAutoFit/>
          </a:bodyPr>
          <a:lstStyle/>
          <a:p>
            <a:pPr marL="0" indent="0">
              <a:lnSpc>
                <a:spcPct val="124000"/>
              </a:lnSpc>
              <a:buNone/>
            </a:pPr>
            <a:r>
              <a:rPr sz="1100" b="1" i="0">
                <a:solidFill>
                  <a:srgbClr val="FFFFFF"/>
                </a:solidFill>
                <a:latin typeface="Calibri"/>
              </a:rPr>
              <a:t>From Session 5.</a:t>
            </a:r>
            <a:r>
              <a:rPr sz="1100" b="1" i="0">
                <a:solidFill>
                  <a:srgbClr val="FFFFFF"/>
                </a:solidFill>
                <a:latin typeface="Calibri"/>
              </a:rPr>
              <a:t>  We ended with a well-formed operational schema: normalised so that every fact is stored once, constrained so that it cannot become inconsistent, indexed so that a single row is found in milliseconds. We then observed that the very properties that make it excellent for running the business make it poor for analysing the business. Today we take that conflict seriously, and resolve it the way the industry resolved it — with a second store, designed for the opposite purpose.</a:t>
            </a:r>
          </a:p>
        </p:txBody>
      </p:sp>
      <p:sp>
        <p:nvSpPr>
          <p:cNvPr id="7" name="Rounded Rectangle 6"/>
          <p:cNvSpPr/>
          <p:nvPr/>
        </p:nvSpPr>
        <p:spPr>
          <a:xfrm>
            <a:off x="548640" y="2286000"/>
            <a:ext cx="2606040" cy="1207008"/>
          </a:xfrm>
          <a:prstGeom prst="roundRect">
            <a:avLst>
              <a:gd name="adj" fmla="val 6818"/>
            </a:avLst>
          </a:prstGeom>
          <a:solidFill>
            <a:srgbClr val="123B47"/>
          </a:solidFill>
          <a:ln>
            <a:noFill/>
          </a:ln>
          <a:effectLst>
            <a:outerShdw blurRad="76200" dist="12700" dir="5400000" algn="bl" rotWithShape="0">
              <a:srgbClr val="9FB3B0">
                <a:alpha val="28000"/>
              </a:srgbClr>
            </a:outerShdw>
          </a:effectLst>
        </p:spPr>
        <p:txBody>
          <a:bodyPr rtlCol="0" anchor="ctr"/>
          <a:lstStyle/>
          <a:p/>
        </p:txBody>
      </p:sp>
      <p:sp>
        <p:nvSpPr>
          <p:cNvPr id="8" name="TextBox 7"/>
          <p:cNvSpPr txBox="1"/>
          <p:nvPr/>
        </p:nvSpPr>
        <p:spPr>
          <a:xfrm>
            <a:off x="640080" y="2377440"/>
            <a:ext cx="2423160" cy="384048"/>
          </a:xfrm>
          <a:prstGeom prst="rect">
            <a:avLst/>
          </a:prstGeom>
          <a:noFill/>
        </p:spPr>
        <p:txBody>
          <a:bodyPr wrap="square" lIns="0" rIns="0" tIns="0" bIns="0" anchor="ctr">
            <a:spAutoFit/>
          </a:bodyPr>
          <a:lstStyle/>
          <a:p>
            <a:pPr algn="ctr" marL="0" indent="0">
              <a:buNone/>
            </a:pPr>
            <a:r>
              <a:rPr sz="1250" b="1" i="0">
                <a:solidFill>
                  <a:srgbClr val="FFFFFF"/>
                </a:solidFill>
                <a:latin typeface="Calibri"/>
              </a:rPr>
              <a:t>PART 1</a:t>
            </a:r>
          </a:p>
        </p:txBody>
      </p:sp>
      <p:sp>
        <p:nvSpPr>
          <p:cNvPr id="9" name="TextBox 8"/>
          <p:cNvSpPr txBox="1"/>
          <p:nvPr/>
        </p:nvSpPr>
        <p:spPr>
          <a:xfrm>
            <a:off x="658368" y="2761488"/>
            <a:ext cx="2386584" cy="658368"/>
          </a:xfrm>
          <a:prstGeom prst="rect">
            <a:avLst/>
          </a:prstGeom>
          <a:noFill/>
        </p:spPr>
        <p:txBody>
          <a:bodyPr wrap="square" lIns="0" rIns="0" tIns="0" bIns="0" anchor="t">
            <a:spAutoFit/>
          </a:bodyPr>
          <a:lstStyle/>
          <a:p>
            <a:pPr algn="ctr" marL="0" indent="0">
              <a:lnSpc>
                <a:spcPct val="118000"/>
              </a:lnSpc>
              <a:buNone/>
            </a:pPr>
            <a:r>
              <a:rPr sz="1000" b="0" i="0">
                <a:solidFill>
                  <a:srgbClr val="CFE2E0"/>
                </a:solidFill>
                <a:latin typeface="Calibri"/>
              </a:rPr>
              <a:t>Why a separate analytical store is required, and Inmon's four defining properties</a:t>
            </a:r>
          </a:p>
        </p:txBody>
      </p:sp>
      <p:sp>
        <p:nvSpPr>
          <p:cNvPr id="10" name="Isosceles Triangle 9"/>
          <p:cNvSpPr/>
          <p:nvPr/>
        </p:nvSpPr>
        <p:spPr>
          <a:xfrm rot="5400000">
            <a:off x="3209544" y="2788920"/>
            <a:ext cx="137160" cy="201168"/>
          </a:xfrm>
          <a:prstGeom prst="triangle">
            <a:avLst/>
          </a:prstGeom>
          <a:solidFill>
            <a:srgbClr val="E8A33D"/>
          </a:solidFill>
          <a:ln>
            <a:noFill/>
          </a:ln>
          <a:effectLst/>
        </p:spPr>
        <p:txBody>
          <a:bodyPr rtlCol="0" anchor="ctr"/>
          <a:lstStyle/>
          <a:p>
            <a:pPr algn="ctr"/>
          </a:p>
        </p:txBody>
      </p:sp>
      <p:sp>
        <p:nvSpPr>
          <p:cNvPr id="11" name="Rounded Rectangle 10"/>
          <p:cNvSpPr/>
          <p:nvPr/>
        </p:nvSpPr>
        <p:spPr>
          <a:xfrm>
            <a:off x="3374136" y="2286000"/>
            <a:ext cx="2606040" cy="1207008"/>
          </a:xfrm>
          <a:prstGeom prst="roundRect">
            <a:avLst>
              <a:gd name="adj" fmla="val 6818"/>
            </a:avLst>
          </a:prstGeom>
          <a:solidFill>
            <a:srgbClr val="1B7F79"/>
          </a:solidFill>
          <a:ln>
            <a:noFill/>
          </a:ln>
          <a:effectLst>
            <a:outerShdw blurRad="76200" dist="12700" dir="5400000" algn="bl" rotWithShape="0">
              <a:srgbClr val="9FB3B0">
                <a:alpha val="28000"/>
              </a:srgbClr>
            </a:outerShdw>
          </a:effectLst>
        </p:spPr>
        <p:txBody>
          <a:bodyPr rtlCol="0" anchor="ctr"/>
          <a:lstStyle/>
          <a:p/>
        </p:txBody>
      </p:sp>
      <p:sp>
        <p:nvSpPr>
          <p:cNvPr id="12" name="TextBox 11"/>
          <p:cNvSpPr txBox="1"/>
          <p:nvPr/>
        </p:nvSpPr>
        <p:spPr>
          <a:xfrm>
            <a:off x="3465576" y="2377440"/>
            <a:ext cx="2423160" cy="384048"/>
          </a:xfrm>
          <a:prstGeom prst="rect">
            <a:avLst/>
          </a:prstGeom>
          <a:noFill/>
        </p:spPr>
        <p:txBody>
          <a:bodyPr wrap="square" lIns="0" rIns="0" tIns="0" bIns="0" anchor="ctr">
            <a:spAutoFit/>
          </a:bodyPr>
          <a:lstStyle/>
          <a:p>
            <a:pPr algn="ctr" marL="0" indent="0">
              <a:buNone/>
            </a:pPr>
            <a:r>
              <a:rPr sz="1250" b="1" i="0">
                <a:solidFill>
                  <a:srgbClr val="FFFFFF"/>
                </a:solidFill>
                <a:latin typeface="Calibri"/>
              </a:rPr>
              <a:t>PART 2</a:t>
            </a:r>
          </a:p>
        </p:txBody>
      </p:sp>
      <p:sp>
        <p:nvSpPr>
          <p:cNvPr id="13" name="TextBox 12"/>
          <p:cNvSpPr txBox="1"/>
          <p:nvPr/>
        </p:nvSpPr>
        <p:spPr>
          <a:xfrm>
            <a:off x="3483864" y="2761488"/>
            <a:ext cx="2386584" cy="658368"/>
          </a:xfrm>
          <a:prstGeom prst="rect">
            <a:avLst/>
          </a:prstGeom>
          <a:noFill/>
        </p:spPr>
        <p:txBody>
          <a:bodyPr wrap="square" lIns="0" rIns="0" tIns="0" bIns="0" anchor="t">
            <a:spAutoFit/>
          </a:bodyPr>
          <a:lstStyle/>
          <a:p>
            <a:pPr algn="ctr" marL="0" indent="0">
              <a:lnSpc>
                <a:spcPct val="118000"/>
              </a:lnSpc>
              <a:buNone/>
            </a:pPr>
            <a:r>
              <a:rPr sz="1000" b="0" i="0">
                <a:solidFill>
                  <a:srgbClr val="CFE2E0"/>
                </a:solidFill>
                <a:latin typeface="Calibri"/>
              </a:rPr>
              <a:t>OLTP against OLAP: the workloads, the arithmetic, and the OLAP operations</a:t>
            </a:r>
          </a:p>
        </p:txBody>
      </p:sp>
      <p:sp>
        <p:nvSpPr>
          <p:cNvPr id="14" name="Isosceles Triangle 13"/>
          <p:cNvSpPr/>
          <p:nvPr/>
        </p:nvSpPr>
        <p:spPr>
          <a:xfrm rot="5400000">
            <a:off x="6035040" y="2788920"/>
            <a:ext cx="137160" cy="201168"/>
          </a:xfrm>
          <a:prstGeom prst="triangle">
            <a:avLst/>
          </a:prstGeom>
          <a:solidFill>
            <a:srgbClr val="E8A33D"/>
          </a:solidFill>
          <a:ln>
            <a:noFill/>
          </a:ln>
          <a:effectLst/>
        </p:spPr>
        <p:txBody>
          <a:bodyPr rtlCol="0" anchor="ctr"/>
          <a:lstStyle/>
          <a:p>
            <a:pPr algn="ctr"/>
          </a:p>
        </p:txBody>
      </p:sp>
      <p:sp>
        <p:nvSpPr>
          <p:cNvPr id="15" name="Rounded Rectangle 14"/>
          <p:cNvSpPr/>
          <p:nvPr/>
        </p:nvSpPr>
        <p:spPr>
          <a:xfrm>
            <a:off x="6199631" y="2286000"/>
            <a:ext cx="2606040" cy="1207008"/>
          </a:xfrm>
          <a:prstGeom prst="roundRect">
            <a:avLst>
              <a:gd name="adj" fmla="val 6818"/>
            </a:avLst>
          </a:prstGeom>
          <a:solidFill>
            <a:srgbClr val="123B47"/>
          </a:solidFill>
          <a:ln>
            <a:noFill/>
          </a:ln>
          <a:effectLst>
            <a:outerShdw blurRad="76200" dist="12700" dir="5400000" algn="bl" rotWithShape="0">
              <a:srgbClr val="9FB3B0">
                <a:alpha val="28000"/>
              </a:srgbClr>
            </a:outerShdw>
          </a:effectLst>
        </p:spPr>
        <p:txBody>
          <a:bodyPr rtlCol="0" anchor="ctr"/>
          <a:lstStyle/>
          <a:p/>
        </p:txBody>
      </p:sp>
      <p:sp>
        <p:nvSpPr>
          <p:cNvPr id="16" name="TextBox 15"/>
          <p:cNvSpPr txBox="1"/>
          <p:nvPr/>
        </p:nvSpPr>
        <p:spPr>
          <a:xfrm>
            <a:off x="6291071" y="2377440"/>
            <a:ext cx="2423160" cy="384048"/>
          </a:xfrm>
          <a:prstGeom prst="rect">
            <a:avLst/>
          </a:prstGeom>
          <a:noFill/>
        </p:spPr>
        <p:txBody>
          <a:bodyPr wrap="square" lIns="0" rIns="0" tIns="0" bIns="0" anchor="ctr">
            <a:spAutoFit/>
          </a:bodyPr>
          <a:lstStyle/>
          <a:p>
            <a:pPr algn="ctr" marL="0" indent="0">
              <a:buNone/>
            </a:pPr>
            <a:r>
              <a:rPr sz="1250" b="1" i="0">
                <a:solidFill>
                  <a:srgbClr val="FFFFFF"/>
                </a:solidFill>
                <a:latin typeface="Calibri"/>
              </a:rPr>
              <a:t>PART 3</a:t>
            </a:r>
          </a:p>
        </p:txBody>
      </p:sp>
      <p:sp>
        <p:nvSpPr>
          <p:cNvPr id="17" name="TextBox 16"/>
          <p:cNvSpPr txBox="1"/>
          <p:nvPr/>
        </p:nvSpPr>
        <p:spPr>
          <a:xfrm>
            <a:off x="6309359" y="2761488"/>
            <a:ext cx="2386584" cy="658368"/>
          </a:xfrm>
          <a:prstGeom prst="rect">
            <a:avLst/>
          </a:prstGeom>
          <a:noFill/>
        </p:spPr>
        <p:txBody>
          <a:bodyPr wrap="square" lIns="0" rIns="0" tIns="0" bIns="0" anchor="t">
            <a:spAutoFit/>
          </a:bodyPr>
          <a:lstStyle/>
          <a:p>
            <a:pPr algn="ctr" marL="0" indent="0">
              <a:lnSpc>
                <a:spcPct val="118000"/>
              </a:lnSpc>
              <a:buNone/>
            </a:pPr>
            <a:r>
              <a:rPr sz="1000" b="0" i="0">
                <a:solidFill>
                  <a:srgbClr val="CFE2E0"/>
                </a:solidFill>
                <a:latin typeface="Calibri"/>
              </a:rPr>
              <a:t>Warehouse architecture: layers, ETL and ELT, Inmon against Kimball, the lakehouse</a:t>
            </a:r>
          </a:p>
        </p:txBody>
      </p:sp>
      <p:sp>
        <p:nvSpPr>
          <p:cNvPr id="18" name="Isosceles Triangle 17"/>
          <p:cNvSpPr/>
          <p:nvPr/>
        </p:nvSpPr>
        <p:spPr>
          <a:xfrm rot="5400000">
            <a:off x="8860536" y="2788920"/>
            <a:ext cx="137160" cy="201168"/>
          </a:xfrm>
          <a:prstGeom prst="triangle">
            <a:avLst/>
          </a:prstGeom>
          <a:solidFill>
            <a:srgbClr val="E8A33D"/>
          </a:solidFill>
          <a:ln>
            <a:noFill/>
          </a:ln>
          <a:effectLst/>
        </p:spPr>
        <p:txBody>
          <a:bodyPr rtlCol="0" anchor="ctr"/>
          <a:lstStyle/>
          <a:p>
            <a:pPr algn="ctr"/>
          </a:p>
        </p:txBody>
      </p:sp>
      <p:sp>
        <p:nvSpPr>
          <p:cNvPr id="19" name="Rounded Rectangle 18"/>
          <p:cNvSpPr/>
          <p:nvPr/>
        </p:nvSpPr>
        <p:spPr>
          <a:xfrm>
            <a:off x="9025128" y="2286000"/>
            <a:ext cx="2606040" cy="1207008"/>
          </a:xfrm>
          <a:prstGeom prst="roundRect">
            <a:avLst>
              <a:gd name="adj" fmla="val 6818"/>
            </a:avLst>
          </a:prstGeom>
          <a:solidFill>
            <a:srgbClr val="1B7F79"/>
          </a:solidFill>
          <a:ln>
            <a:noFill/>
          </a:ln>
          <a:effectLst>
            <a:outerShdw blurRad="76200" dist="12700" dir="5400000" algn="bl" rotWithShape="0">
              <a:srgbClr val="9FB3B0">
                <a:alpha val="28000"/>
              </a:srgbClr>
            </a:outerShdw>
          </a:effectLst>
        </p:spPr>
        <p:txBody>
          <a:bodyPr rtlCol="0" anchor="ctr"/>
          <a:lstStyle/>
          <a:p/>
        </p:txBody>
      </p:sp>
      <p:sp>
        <p:nvSpPr>
          <p:cNvPr id="20" name="TextBox 19"/>
          <p:cNvSpPr txBox="1"/>
          <p:nvPr/>
        </p:nvSpPr>
        <p:spPr>
          <a:xfrm>
            <a:off x="9116567" y="2377440"/>
            <a:ext cx="2423160" cy="384048"/>
          </a:xfrm>
          <a:prstGeom prst="rect">
            <a:avLst/>
          </a:prstGeom>
          <a:noFill/>
        </p:spPr>
        <p:txBody>
          <a:bodyPr wrap="square" lIns="0" rIns="0" tIns="0" bIns="0" anchor="ctr">
            <a:spAutoFit/>
          </a:bodyPr>
          <a:lstStyle/>
          <a:p>
            <a:pPr algn="ctr" marL="0" indent="0">
              <a:buNone/>
            </a:pPr>
            <a:r>
              <a:rPr sz="1250" b="1" i="0">
                <a:solidFill>
                  <a:srgbClr val="FFFFFF"/>
                </a:solidFill>
                <a:latin typeface="Calibri"/>
              </a:rPr>
              <a:t>PART 4</a:t>
            </a:r>
          </a:p>
        </p:txBody>
      </p:sp>
      <p:sp>
        <p:nvSpPr>
          <p:cNvPr id="21" name="TextBox 20"/>
          <p:cNvSpPr txBox="1"/>
          <p:nvPr/>
        </p:nvSpPr>
        <p:spPr>
          <a:xfrm>
            <a:off x="9134855" y="2761488"/>
            <a:ext cx="2386584" cy="658368"/>
          </a:xfrm>
          <a:prstGeom prst="rect">
            <a:avLst/>
          </a:prstGeom>
          <a:noFill/>
        </p:spPr>
        <p:txBody>
          <a:bodyPr wrap="square" lIns="0" rIns="0" tIns="0" bIns="0" anchor="t">
            <a:spAutoFit/>
          </a:bodyPr>
          <a:lstStyle/>
          <a:p>
            <a:pPr algn="ctr" marL="0" indent="0">
              <a:lnSpc>
                <a:spcPct val="118000"/>
              </a:lnSpc>
              <a:buNone/>
            </a:pPr>
            <a:r>
              <a:rPr sz="1000" b="0" i="0">
                <a:solidFill>
                  <a:srgbClr val="CFE2E0"/>
                </a:solidFill>
                <a:latin typeface="Calibri"/>
              </a:rPr>
              <a:t>Making it work: loading history, governance, cost, and how the programme fails</a:t>
            </a:r>
          </a:p>
        </p:txBody>
      </p:sp>
      <p:sp>
        <p:nvSpPr>
          <p:cNvPr id="22" name="Rounded Rectangle 21"/>
          <p:cNvSpPr/>
          <p:nvPr/>
        </p:nvSpPr>
        <p:spPr>
          <a:xfrm>
            <a:off x="548640" y="3675887"/>
            <a:ext cx="11091672" cy="576072"/>
          </a:xfrm>
          <a:prstGeom prst="roundRect">
            <a:avLst>
              <a:gd name="adj" fmla="val 14285"/>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23" name="Oval 22"/>
          <p:cNvSpPr/>
          <p:nvPr/>
        </p:nvSpPr>
        <p:spPr>
          <a:xfrm>
            <a:off x="713232" y="3785615"/>
            <a:ext cx="347472" cy="347472"/>
          </a:xfrm>
          <a:prstGeom prst="ellipse">
            <a:avLst/>
          </a:prstGeom>
          <a:solidFill>
            <a:srgbClr val="123B47"/>
          </a:solidFill>
          <a:ln>
            <a:noFill/>
          </a:ln>
          <a:effectLst/>
        </p:spPr>
        <p:txBody>
          <a:bodyPr rtlCol="0" anchor="ctr" wrap="none" lIns="0" rIns="0" tIns="0" bIns="0"/>
          <a:lstStyle/>
          <a:p>
            <a:pPr algn="ctr"/>
            <a:r>
              <a:rPr sz="1150" b="1">
                <a:solidFill>
                  <a:srgbClr val="FFFFFF"/>
                </a:solidFill>
                <a:latin typeface="Calibri"/>
              </a:rPr>
              <a:t>→</a:t>
            </a:r>
          </a:p>
        </p:txBody>
      </p:sp>
      <p:sp>
        <p:nvSpPr>
          <p:cNvPr id="24" name="TextBox 23"/>
          <p:cNvSpPr txBox="1"/>
          <p:nvPr/>
        </p:nvSpPr>
        <p:spPr>
          <a:xfrm>
            <a:off x="1170432" y="3739896"/>
            <a:ext cx="10287000" cy="448056"/>
          </a:xfrm>
          <a:prstGeom prst="rect">
            <a:avLst/>
          </a:prstGeom>
          <a:noFill/>
        </p:spPr>
        <p:txBody>
          <a:bodyPr wrap="square" lIns="0" rIns="0" tIns="0" bIns="0" anchor="ctr">
            <a:spAutoFit/>
          </a:bodyPr>
          <a:lstStyle/>
          <a:p>
            <a:pPr marL="0" indent="0">
              <a:buNone/>
            </a:pPr>
            <a:r>
              <a:rPr sz="969" b="1" i="0">
                <a:solidFill>
                  <a:srgbClr val="123B47"/>
                </a:solidFill>
                <a:latin typeface="Calibri"/>
              </a:rPr>
              <a:t>The examinable core</a:t>
            </a:r>
          </a:p>
          <a:p>
            <a:pPr marL="0" indent="0">
              <a:lnSpc>
                <a:spcPct val="116000"/>
              </a:lnSpc>
              <a:buNone/>
            </a:pPr>
            <a:r>
              <a:rPr sz="830" b="0" i="0">
                <a:solidFill>
                  <a:srgbClr val="2E3F47"/>
                </a:solidFill>
                <a:latin typeface="Calibri"/>
              </a:rPr>
              <a:t>State and explain Inmon's four properties of a data warehouse; tabulate the differences between OLTP and OLAP across at least eight dimensions; name and demonstrate the five OLAP operations; describe the layers of a warehouse architecture; and contrast the Inmon and Kimball approaches.</a:t>
            </a:r>
          </a:p>
        </p:txBody>
      </p:sp>
      <p:sp>
        <p:nvSpPr>
          <p:cNvPr id="25" name="Rounded Rectangle 24"/>
          <p:cNvSpPr/>
          <p:nvPr/>
        </p:nvSpPr>
        <p:spPr>
          <a:xfrm>
            <a:off x="548640" y="4398264"/>
            <a:ext cx="11091672" cy="576072"/>
          </a:xfrm>
          <a:prstGeom prst="roundRect">
            <a:avLst>
              <a:gd name="adj" fmla="val 14285"/>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26" name="Oval 25"/>
          <p:cNvSpPr/>
          <p:nvPr/>
        </p:nvSpPr>
        <p:spPr>
          <a:xfrm>
            <a:off x="713232" y="4507992"/>
            <a:ext cx="347472" cy="347472"/>
          </a:xfrm>
          <a:prstGeom prst="ellipse">
            <a:avLst/>
          </a:prstGeom>
          <a:solidFill>
            <a:srgbClr val="1B7F79"/>
          </a:solidFill>
          <a:ln>
            <a:noFill/>
          </a:ln>
          <a:effectLst/>
        </p:spPr>
        <p:txBody>
          <a:bodyPr rtlCol="0" anchor="ctr" wrap="none" lIns="0" rIns="0" tIns="0" bIns="0"/>
          <a:lstStyle/>
          <a:p>
            <a:pPr algn="ctr"/>
            <a:r>
              <a:rPr sz="1150" b="1">
                <a:solidFill>
                  <a:srgbClr val="FFFFFF"/>
                </a:solidFill>
                <a:latin typeface="Calibri"/>
              </a:rPr>
              <a:t>₹</a:t>
            </a:r>
          </a:p>
        </p:txBody>
      </p:sp>
      <p:sp>
        <p:nvSpPr>
          <p:cNvPr id="27" name="TextBox 26"/>
          <p:cNvSpPr txBox="1"/>
          <p:nvPr/>
        </p:nvSpPr>
        <p:spPr>
          <a:xfrm>
            <a:off x="1170432" y="4462272"/>
            <a:ext cx="10287000" cy="448056"/>
          </a:xfrm>
          <a:prstGeom prst="rect">
            <a:avLst/>
          </a:prstGeom>
          <a:noFill/>
        </p:spPr>
        <p:txBody>
          <a:bodyPr wrap="square" lIns="0" rIns="0" tIns="0" bIns="0" anchor="ctr">
            <a:spAutoFit/>
          </a:bodyPr>
          <a:lstStyle/>
          <a:p>
            <a:pPr marL="0" indent="0">
              <a:buNone/>
            </a:pPr>
            <a:r>
              <a:rPr sz="969" b="1" i="0">
                <a:solidFill>
                  <a:srgbClr val="123B47"/>
                </a:solidFill>
                <a:latin typeface="Calibri"/>
              </a:rPr>
              <a:t>The managerial core</a:t>
            </a:r>
          </a:p>
          <a:p>
            <a:pPr marL="0" indent="0">
              <a:lnSpc>
                <a:spcPct val="116000"/>
              </a:lnSpc>
              <a:buNone/>
            </a:pPr>
            <a:r>
              <a:rPr sz="830" b="0" i="0">
                <a:solidFill>
                  <a:srgbClr val="2E3F47"/>
                </a:solidFill>
                <a:latin typeface="Calibri"/>
              </a:rPr>
              <a:t>A data warehouse is usually the largest single line in a BI budget and the one whose benefits are hardest to state in advance. Knowing what it is actually for — and which of its costs are unavoidable — is what allows you to approve, scope or challenge that proposal rather than defer to the vendor.</a:t>
            </a:r>
          </a:p>
        </p:txBody>
      </p:sp>
      <p:sp>
        <p:nvSpPr>
          <p:cNvPr id="28" name="Rounded Rectangle 27"/>
          <p:cNvSpPr/>
          <p:nvPr/>
        </p:nvSpPr>
        <p:spPr>
          <a:xfrm>
            <a:off x="548640" y="5138928"/>
            <a:ext cx="11091672" cy="987552"/>
          </a:xfrm>
          <a:prstGeom prst="roundRect">
            <a:avLst>
              <a:gd name="adj" fmla="val 8333"/>
            </a:avLst>
          </a:prstGeom>
          <a:solidFill>
            <a:srgbClr val="FBEBD1"/>
          </a:solidFill>
          <a:ln w="12700">
            <a:solidFill>
              <a:srgbClr val="EFD9AE"/>
            </a:solidFill>
          </a:ln>
          <a:effectLst/>
        </p:spPr>
        <p:txBody>
          <a:bodyPr rtlCol="0" anchor="ctr"/>
          <a:lstStyle/>
          <a:p/>
        </p:txBody>
      </p:sp>
      <p:sp>
        <p:nvSpPr>
          <p:cNvPr id="29" name="TextBox 28"/>
          <p:cNvSpPr txBox="1"/>
          <p:nvPr/>
        </p:nvSpPr>
        <p:spPr>
          <a:xfrm>
            <a:off x="768096" y="5212080"/>
            <a:ext cx="10652760" cy="841248"/>
          </a:xfrm>
          <a:prstGeom prst="rect">
            <a:avLst/>
          </a:prstGeom>
          <a:noFill/>
        </p:spPr>
        <p:txBody>
          <a:bodyPr wrap="square" lIns="0" rIns="0" tIns="0" bIns="0" anchor="ctr">
            <a:spAutoFit/>
          </a:bodyPr>
          <a:lstStyle/>
          <a:p>
            <a:pPr marL="0" indent="0">
              <a:lnSpc>
                <a:spcPct val="124000"/>
              </a:lnSpc>
              <a:buNone/>
            </a:pPr>
            <a:r>
              <a:rPr sz="1100" b="1" i="0">
                <a:solidFill>
                  <a:srgbClr val="6A4A0F"/>
                </a:solidFill>
                <a:latin typeface="Calibri"/>
              </a:rPr>
              <a:t>What you will be able to do by the end of the session.</a:t>
            </a:r>
            <a:r>
              <a:rPr sz="1100" b="1" i="0">
                <a:solidFill>
                  <a:srgbClr val="6A4A0F"/>
                </a:solidFill>
                <a:latin typeface="Calibri"/>
              </a:rPr>
              <a:t>  Take a description of an organisation's systems and reporting complaints, diagnose which of them are caused by running analysis on an operational database, specify the layers of an analytical architecture that would fix them, choose between an ETL and an ELT approach with reasons, decide whether the Inmon or the Kimball route fits the organisation's maturity, and state what each decision costs in money and in elapsed time.</a:t>
            </a:r>
          </a:p>
        </p:txBody>
      </p:sp>
      <p:sp>
        <p:nvSpPr>
          <p:cNvPr id="30" name="TextBox 29"/>
          <p:cNvSpPr txBox="1"/>
          <p:nvPr/>
        </p:nvSpPr>
        <p:spPr>
          <a:xfrm>
            <a:off x="548640" y="6382512"/>
            <a:ext cx="8686800" cy="256032"/>
          </a:xfrm>
          <a:prstGeom prst="rect">
            <a:avLst/>
          </a:prstGeom>
          <a:noFill/>
        </p:spPr>
        <p:txBody>
          <a:bodyPr wrap="square" lIns="0" rIns="0" tIns="0" bIns="0" anchor="t">
            <a:spAutoFit/>
          </a:bodyPr>
          <a:lstStyle/>
          <a:p>
            <a:pPr algn="l" marL="0" indent="0">
              <a:buNone/>
            </a:pPr>
            <a:r>
              <a:rPr sz="900" b="0" i="0">
                <a:solidFill>
                  <a:srgbClr val="5C7079"/>
                </a:solidFill>
                <a:latin typeface="Calibri"/>
              </a:rPr>
              <a:t>Business Intelligence  |  Session 6 — Data Warehousing &amp; OLTP/OLAP  |  IILM Jaipur, MBA</a:t>
            </a:r>
          </a:p>
        </p:txBody>
      </p:sp>
      <p:sp>
        <p:nvSpPr>
          <p:cNvPr id="31" name="TextBox 30"/>
          <p:cNvSpPr txBox="1"/>
          <p:nvPr/>
        </p:nvSpPr>
        <p:spPr>
          <a:xfrm>
            <a:off x="10543032" y="6382512"/>
            <a:ext cx="1097280" cy="256032"/>
          </a:xfrm>
          <a:prstGeom prst="rect">
            <a:avLst/>
          </a:prstGeom>
          <a:noFill/>
        </p:spPr>
        <p:txBody>
          <a:bodyPr wrap="square" lIns="0" rIns="0" tIns="0" bIns="0" anchor="t">
            <a:spAutoFit/>
          </a:bodyPr>
          <a:lstStyle/>
          <a:p>
            <a:pPr algn="r" marL="0" indent="0">
              <a:buNone/>
            </a:pPr>
            <a:r>
              <a:rPr sz="950" b="1" i="0">
                <a:solidFill>
                  <a:srgbClr val="1B7F79"/>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374904"/>
            <a:ext cx="109728" cy="109728"/>
          </a:xfrm>
          <a:prstGeom prst="ellipse">
            <a:avLst/>
          </a:prstGeom>
          <a:solidFill>
            <a:srgbClr val="E8A33D"/>
          </a:solidFill>
          <a:ln>
            <a:noFill/>
          </a:ln>
          <a:effectLst/>
        </p:spPr>
        <p:txBody>
          <a:bodyPr rtlCol="0" anchor="ctr" wrap="none" lIns="0" rIns="0" tIns="0" bIns="0"/>
          <a:lstStyle/>
          <a:p>
            <a:pPr algn="ctr"/>
          </a:p>
        </p:txBody>
      </p:sp>
      <p:sp>
        <p:nvSpPr>
          <p:cNvPr id="3" name="TextBox 2"/>
          <p:cNvSpPr txBox="1"/>
          <p:nvPr/>
        </p:nvSpPr>
        <p:spPr>
          <a:xfrm>
            <a:off x="749808" y="283464"/>
            <a:ext cx="10890504" cy="256032"/>
          </a:xfrm>
          <a:prstGeom prst="rect">
            <a:avLst/>
          </a:prstGeom>
          <a:noFill/>
        </p:spPr>
        <p:txBody>
          <a:bodyPr wrap="square" lIns="0" rIns="0" tIns="0" bIns="0" anchor="t">
            <a:spAutoFit/>
          </a:bodyPr>
          <a:lstStyle/>
          <a:p>
            <a:pPr marL="0" indent="0">
              <a:buNone/>
            </a:pPr>
            <a:r>
              <a:rPr sz="1000" b="1" i="0">
                <a:solidFill>
                  <a:srgbClr val="B87A1E"/>
                </a:solidFill>
                <a:latin typeface="Calibri"/>
              </a:rPr>
              <a:t>OUTCOME-BASED FRAMING</a:t>
            </a:r>
          </a:p>
        </p:txBody>
      </p:sp>
      <p:sp>
        <p:nvSpPr>
          <p:cNvPr id="4" name="TextBox 3"/>
          <p:cNvSpPr txBox="1"/>
          <p:nvPr/>
        </p:nvSpPr>
        <p:spPr>
          <a:xfrm>
            <a:off x="548640" y="548640"/>
            <a:ext cx="11091672" cy="640080"/>
          </a:xfrm>
          <a:prstGeom prst="rect">
            <a:avLst/>
          </a:prstGeom>
          <a:noFill/>
        </p:spPr>
        <p:txBody>
          <a:bodyPr wrap="square" lIns="0" rIns="0" tIns="0" bIns="0" anchor="t">
            <a:spAutoFit/>
          </a:bodyPr>
          <a:lstStyle/>
          <a:p>
            <a:pPr algn="l" marL="0" indent="0">
              <a:buNone/>
            </a:pPr>
            <a:r>
              <a:rPr sz="2700" b="1" i="0">
                <a:solidFill>
                  <a:srgbClr val="123B47"/>
                </a:solidFill>
                <a:latin typeface="Cambria"/>
              </a:rPr>
              <a:t>Session learning outcomes and course alignment</a:t>
            </a:r>
          </a:p>
        </p:txBody>
      </p:sp>
      <p:sp>
        <p:nvSpPr>
          <p:cNvPr id="5" name="Rounded Rectangle 4"/>
          <p:cNvSpPr/>
          <p:nvPr/>
        </p:nvSpPr>
        <p:spPr>
          <a:xfrm>
            <a:off x="548640" y="1316736"/>
            <a:ext cx="5394960" cy="2761488"/>
          </a:xfrm>
          <a:prstGeom prst="roundRect">
            <a:avLst>
              <a:gd name="adj" fmla="val 2980"/>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6" name="Oval 5"/>
          <p:cNvSpPr/>
          <p:nvPr/>
        </p:nvSpPr>
        <p:spPr>
          <a:xfrm>
            <a:off x="749808" y="1527048"/>
            <a:ext cx="384048" cy="384048"/>
          </a:xfrm>
          <a:prstGeom prst="ellipse">
            <a:avLst/>
          </a:prstGeom>
          <a:solidFill>
            <a:srgbClr val="123B47"/>
          </a:solidFill>
          <a:ln>
            <a:noFill/>
          </a:ln>
          <a:effectLst/>
        </p:spPr>
        <p:txBody>
          <a:bodyPr rtlCol="0" anchor="ctr" wrap="none" lIns="0" rIns="0" tIns="0" bIns="0"/>
          <a:lstStyle/>
          <a:p>
            <a:pPr algn="ctr"/>
            <a:r>
              <a:rPr sz="1250" b="1">
                <a:solidFill>
                  <a:srgbClr val="FFFFFF"/>
                </a:solidFill>
                <a:latin typeface="Calibri"/>
              </a:rPr>
              <a:t>SLO</a:t>
            </a:r>
          </a:p>
        </p:txBody>
      </p:sp>
      <p:sp>
        <p:nvSpPr>
          <p:cNvPr id="7" name="TextBox 6"/>
          <p:cNvSpPr txBox="1"/>
          <p:nvPr/>
        </p:nvSpPr>
        <p:spPr>
          <a:xfrm>
            <a:off x="1252728" y="1517904"/>
            <a:ext cx="4489704" cy="402336"/>
          </a:xfrm>
          <a:prstGeom prst="rect">
            <a:avLst/>
          </a:prstGeom>
          <a:noFill/>
        </p:spPr>
        <p:txBody>
          <a:bodyPr wrap="square" lIns="0" rIns="0" tIns="0" bIns="0" anchor="ctr">
            <a:spAutoFit/>
          </a:bodyPr>
          <a:lstStyle/>
          <a:p>
            <a:pPr marL="0" indent="0">
              <a:buNone/>
            </a:pPr>
            <a:r>
              <a:rPr sz="1300" b="1" i="0">
                <a:solidFill>
                  <a:srgbClr val="123B47"/>
                </a:solidFill>
                <a:latin typeface="Calibri"/>
              </a:rPr>
              <a:t>On completing this session you will be able to:</a:t>
            </a:r>
          </a:p>
        </p:txBody>
      </p:sp>
      <p:sp>
        <p:nvSpPr>
          <p:cNvPr id="8" name="TextBox 7"/>
          <p:cNvSpPr txBox="1"/>
          <p:nvPr/>
        </p:nvSpPr>
        <p:spPr>
          <a:xfrm>
            <a:off x="749808" y="2002536"/>
            <a:ext cx="4992624" cy="1920240"/>
          </a:xfrm>
          <a:prstGeom prst="rect">
            <a:avLst/>
          </a:prstGeom>
          <a:noFill/>
        </p:spPr>
        <p:txBody>
          <a:bodyPr wrap="square" lIns="0" rIns="0" tIns="0" bIns="0" anchor="t">
            <a:spAutoFit/>
          </a:bodyPr>
          <a:lstStyle/>
          <a:p>
            <a:pPr marL="177800" indent="-177800">
              <a:lnSpc>
                <a:spcPct val="114000"/>
              </a:lnSpc>
              <a:spcAft>
                <a:spcPts val="400"/>
              </a:spcAft>
              <a:buSzPct val="100000"/>
              <a:buChar char="•"/>
            </a:pPr>
            <a:r>
              <a:rPr sz="1040" b="0" i="0">
                <a:solidFill>
                  <a:srgbClr val="2E3F47"/>
                </a:solidFill>
                <a:latin typeface="Calibri"/>
              </a:rPr>
              <a:t>Explain why an operational database cannot serve analytical questions well.</a:t>
            </a:r>
          </a:p>
          <a:p>
            <a:pPr marL="177800" indent="-177800">
              <a:lnSpc>
                <a:spcPct val="114000"/>
              </a:lnSpc>
              <a:spcAft>
                <a:spcPts val="400"/>
              </a:spcAft>
              <a:buSzPct val="100000"/>
              <a:buChar char="•"/>
            </a:pPr>
            <a:r>
              <a:rPr sz="1040" b="0" i="0">
                <a:solidFill>
                  <a:srgbClr val="2E3F47"/>
                </a:solidFill>
                <a:latin typeface="Calibri"/>
              </a:rPr>
              <a:t>State Inmon's four properties and give a business example of each.</a:t>
            </a:r>
          </a:p>
          <a:p>
            <a:pPr marL="177800" indent="-177800">
              <a:lnSpc>
                <a:spcPct val="114000"/>
              </a:lnSpc>
              <a:spcAft>
                <a:spcPts val="400"/>
              </a:spcAft>
              <a:buSzPct val="100000"/>
              <a:buChar char="•"/>
            </a:pPr>
            <a:r>
              <a:rPr sz="1040" b="0" i="0">
                <a:solidFill>
                  <a:srgbClr val="2E3F47"/>
                </a:solidFill>
                <a:latin typeface="Calibri"/>
              </a:rPr>
              <a:t>Contrast OLTP and OLAP across workload, structure, users, volume and success criteria.</a:t>
            </a:r>
          </a:p>
          <a:p>
            <a:pPr marL="177800" indent="-177800">
              <a:lnSpc>
                <a:spcPct val="114000"/>
              </a:lnSpc>
              <a:spcAft>
                <a:spcPts val="400"/>
              </a:spcAft>
              <a:buSzPct val="100000"/>
              <a:buChar char="•"/>
            </a:pPr>
            <a:r>
              <a:rPr sz="1040" b="0" i="0">
                <a:solidFill>
                  <a:srgbClr val="2E3F47"/>
                </a:solidFill>
                <a:latin typeface="Calibri"/>
              </a:rPr>
              <a:t>Perform and name the five OLAP operations on a given cube.</a:t>
            </a:r>
          </a:p>
          <a:p>
            <a:pPr marL="177800" indent="-177800">
              <a:lnSpc>
                <a:spcPct val="114000"/>
              </a:lnSpc>
              <a:spcAft>
                <a:spcPts val="400"/>
              </a:spcAft>
              <a:buSzPct val="100000"/>
              <a:buChar char="•"/>
            </a:pPr>
            <a:r>
              <a:rPr sz="1040" b="0" i="0">
                <a:solidFill>
                  <a:srgbClr val="2E3F47"/>
                </a:solidFill>
                <a:latin typeface="Calibri"/>
              </a:rPr>
              <a:t>Describe the layers of a warehouse architecture and what each one is for.</a:t>
            </a:r>
          </a:p>
          <a:p>
            <a:pPr marL="177800" indent="-177800">
              <a:lnSpc>
                <a:spcPct val="114000"/>
              </a:lnSpc>
              <a:spcAft>
                <a:spcPts val="400"/>
              </a:spcAft>
              <a:buSzPct val="100000"/>
              <a:buChar char="•"/>
            </a:pPr>
            <a:r>
              <a:rPr sz="1040" b="0" i="0">
                <a:solidFill>
                  <a:srgbClr val="2E3F47"/>
                </a:solidFill>
                <a:latin typeface="Calibri"/>
              </a:rPr>
              <a:t>Distinguish ETL from ELT and choose between them with reasons.</a:t>
            </a:r>
          </a:p>
          <a:p>
            <a:pPr marL="177800" indent="-177800">
              <a:lnSpc>
                <a:spcPct val="114000"/>
              </a:lnSpc>
              <a:spcAft>
                <a:spcPts val="400"/>
              </a:spcAft>
              <a:buSzPct val="100000"/>
              <a:buChar char="•"/>
            </a:pPr>
            <a:r>
              <a:rPr sz="1040" b="0" i="0">
                <a:solidFill>
                  <a:srgbClr val="2E3F47"/>
                </a:solidFill>
                <a:latin typeface="Calibri"/>
              </a:rPr>
              <a:t>Compare the Inmon, Kimball and Data Vault approaches to building a warehouse.</a:t>
            </a:r>
          </a:p>
        </p:txBody>
      </p:sp>
      <p:graphicFrame>
        <p:nvGraphicFramePr>
          <p:cNvPr id="9" name="Table 8"/>
          <p:cNvGraphicFramePr>
            <a:graphicFrameLocks noGrp="1"/>
          </p:cNvGraphicFramePr>
          <p:nvPr/>
        </p:nvGraphicFramePr>
        <p:xfrm>
          <a:off x="6245352" y="1316736"/>
          <a:ext cx="5394960" cy="2688336"/>
        </p:xfrm>
        <a:graphic>
          <a:graphicData uri="http://schemas.openxmlformats.org/drawingml/2006/table">
            <a:tbl>
              <a:tblPr bandRow="0" firstRow="0"/>
              <a:tblGrid>
                <a:gridCol w="1691640"/>
                <a:gridCol w="3703320"/>
              </a:tblGrid>
              <a:tr h="384048">
                <a:tc>
                  <a:txBody>
                    <a:bodyPr wrap="square"/>
                    <a:lstStyle/>
                    <a:p>
                      <a:pPr marL="0" indent="0">
                        <a:buNone/>
                        <a:defRPr sz="1060"/>
                      </a:pPr>
                      <a:r>
                        <a:rPr sz="1060" b="1">
                          <a:solidFill>
                            <a:srgbClr val="FFFFFF"/>
                          </a:solidFill>
                          <a:latin typeface="Calibri"/>
                        </a:rPr>
                        <a:t>Mapping element</a:t>
                      </a:r>
                      <a:endParaRPr lang="en-US" sz="10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123B47"/>
                    </a:solidFill>
                  </a:tcPr>
                </a:tc>
                <a:tc>
                  <a:txBody>
                    <a:bodyPr wrap="square"/>
                    <a:lstStyle/>
                    <a:p>
                      <a:pPr marL="0" indent="0">
                        <a:buNone/>
                        <a:defRPr sz="1060"/>
                      </a:pPr>
                      <a:r>
                        <a:rPr sz="1060" b="1">
                          <a:solidFill>
                            <a:srgbClr val="FFFFFF"/>
                          </a:solidFill>
                          <a:latin typeface="Calibri"/>
                        </a:rPr>
                        <a:t>This session</a:t>
                      </a:r>
                      <a:endParaRPr lang="en-US" sz="10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123B47"/>
                    </a:solidFill>
                  </a:tcPr>
                </a:tc>
              </a:tr>
              <a:tr h="384048">
                <a:tc>
                  <a:txBody>
                    <a:bodyPr wrap="square"/>
                    <a:lstStyle/>
                    <a:p>
                      <a:pPr marL="0" indent="0">
                        <a:buNone/>
                        <a:defRPr sz="1019"/>
                      </a:pPr>
                      <a:r>
                        <a:rPr sz="1019" b="1">
                          <a:solidFill>
                            <a:srgbClr val="2E3F47"/>
                          </a:solidFill>
                          <a:latin typeface="Calibri"/>
                        </a:rPr>
                        <a:t>Course Outcome</a:t>
                      </a:r>
                      <a:endParaRPr lang="en-US" sz="10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1019"/>
                      </a:pPr>
                      <a:r>
                        <a:rPr sz="1019" b="0">
                          <a:solidFill>
                            <a:srgbClr val="2E3F47"/>
                          </a:solidFill>
                          <a:latin typeface="Calibri"/>
                        </a:rPr>
                        <a:t>CO4 — Analyse analytical storage architectures and workload characteristics</a:t>
                      </a:r>
                      <a:endParaRPr lang="en-US" sz="10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r>
              <a:tr h="384048">
                <a:tc>
                  <a:txBody>
                    <a:bodyPr wrap="square"/>
                    <a:lstStyle/>
                    <a:p>
                      <a:pPr marL="0" indent="0">
                        <a:buNone/>
                        <a:defRPr sz="1019"/>
                      </a:pPr>
                      <a:r>
                        <a:rPr sz="1019" b="1">
                          <a:solidFill>
                            <a:srgbClr val="2E3F47"/>
                          </a:solidFill>
                          <a:latin typeface="Calibri"/>
                        </a:rPr>
                        <a:t>Bloom level</a:t>
                      </a:r>
                      <a:endParaRPr lang="en-US" sz="10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1019"/>
                      </a:pPr>
                      <a:r>
                        <a:rPr sz="1019" b="0">
                          <a:solidFill>
                            <a:srgbClr val="2E3F47"/>
                          </a:solidFill>
                          <a:latin typeface="Calibri"/>
                        </a:rPr>
                        <a:t>L4 Analyse, with L2 Understand on the definitions</a:t>
                      </a:r>
                      <a:endParaRPr lang="en-US" sz="10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r>
              <a:tr h="384048">
                <a:tc>
                  <a:txBody>
                    <a:bodyPr wrap="square"/>
                    <a:lstStyle/>
                    <a:p>
                      <a:pPr marL="0" indent="0">
                        <a:buNone/>
                        <a:defRPr sz="1019"/>
                      </a:pPr>
                      <a:r>
                        <a:rPr sz="1019" b="1">
                          <a:solidFill>
                            <a:srgbClr val="2E3F47"/>
                          </a:solidFill>
                          <a:latin typeface="Calibri"/>
                        </a:rPr>
                        <a:t>Programme outcome</a:t>
                      </a:r>
                      <a:endParaRPr lang="en-US" sz="10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1019"/>
                      </a:pPr>
                      <a:r>
                        <a:rPr sz="1019" b="0">
                          <a:solidFill>
                            <a:srgbClr val="2E3F47"/>
                          </a:solidFill>
                          <a:latin typeface="Calibri"/>
                        </a:rPr>
                        <a:t>PO3 — Data-driven decision making; PO6 — Systems thinking</a:t>
                      </a:r>
                      <a:endParaRPr lang="en-US" sz="10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r>
              <a:tr h="384048">
                <a:tc>
                  <a:txBody>
                    <a:bodyPr wrap="square"/>
                    <a:lstStyle/>
                    <a:p>
                      <a:pPr marL="0" indent="0">
                        <a:buNone/>
                        <a:defRPr sz="1019"/>
                      </a:pPr>
                      <a:r>
                        <a:rPr sz="1019" b="1">
                          <a:solidFill>
                            <a:srgbClr val="2E3F47"/>
                          </a:solidFill>
                          <a:latin typeface="Calibri"/>
                        </a:rPr>
                        <a:t>Prior session link</a:t>
                      </a:r>
                      <a:endParaRPr lang="en-US" sz="10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1019"/>
                      </a:pPr>
                      <a:r>
                        <a:rPr sz="1019" b="0">
                          <a:solidFill>
                            <a:srgbClr val="2E3F47"/>
                          </a:solidFill>
                          <a:latin typeface="Calibri"/>
                        </a:rPr>
                        <a:t>Session 5 — the operational schema and its limits</a:t>
                      </a:r>
                      <a:endParaRPr lang="en-US" sz="10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r>
              <a:tr h="384048">
                <a:tc>
                  <a:txBody>
                    <a:bodyPr wrap="square"/>
                    <a:lstStyle/>
                    <a:p>
                      <a:pPr marL="0" indent="0">
                        <a:buNone/>
                        <a:defRPr sz="1019"/>
                      </a:pPr>
                      <a:r>
                        <a:rPr sz="1019" b="1">
                          <a:solidFill>
                            <a:srgbClr val="2E3F47"/>
                          </a:solidFill>
                          <a:latin typeface="Calibri"/>
                        </a:rPr>
                        <a:t>Next session link</a:t>
                      </a:r>
                      <a:endParaRPr lang="en-US" sz="10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1019"/>
                      </a:pPr>
                      <a:r>
                        <a:rPr sz="1019" b="0">
                          <a:solidFill>
                            <a:srgbClr val="2E3F47"/>
                          </a:solidFill>
                          <a:latin typeface="Calibri"/>
                        </a:rPr>
                        <a:t>Session 7 — the dimensional model that lives inside the warehouse</a:t>
                      </a:r>
                      <a:endParaRPr lang="en-US" sz="10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r>
              <a:tr h="384048">
                <a:tc>
                  <a:txBody>
                    <a:bodyPr wrap="square"/>
                    <a:lstStyle/>
                    <a:p>
                      <a:pPr marL="0" indent="0">
                        <a:buNone/>
                        <a:defRPr sz="1019"/>
                      </a:pPr>
                      <a:r>
                        <a:rPr sz="1019" b="1">
                          <a:solidFill>
                            <a:srgbClr val="2E3F47"/>
                          </a:solidFill>
                          <a:latin typeface="Calibri"/>
                        </a:rPr>
                        <a:t>Assessment link</a:t>
                      </a:r>
                      <a:endParaRPr lang="en-US" sz="10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1019"/>
                      </a:pPr>
                      <a:r>
                        <a:rPr sz="1019" b="0">
                          <a:solidFill>
                            <a:srgbClr val="2E3F47"/>
                          </a:solidFill>
                          <a:latin typeface="Calibri"/>
                        </a:rPr>
                        <a:t>Mid-term Q4 (OLTP/OLAP contrast); end-term Section B (architecture case)</a:t>
                      </a:r>
                      <a:endParaRPr lang="en-US" sz="10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r>
            </a:tbl>
          </a:graphicData>
        </a:graphic>
      </p:graphicFrame>
      <p:sp>
        <p:nvSpPr>
          <p:cNvPr id="10" name="Rounded Rectangle 9"/>
          <p:cNvSpPr/>
          <p:nvPr/>
        </p:nvSpPr>
        <p:spPr>
          <a:xfrm>
            <a:off x="548640" y="4261104"/>
            <a:ext cx="11091672" cy="877824"/>
          </a:xfrm>
          <a:prstGeom prst="roundRect">
            <a:avLst>
              <a:gd name="adj" fmla="val 9375"/>
            </a:avLst>
          </a:prstGeom>
          <a:solidFill>
            <a:srgbClr val="D8E9E7"/>
          </a:solidFill>
          <a:ln w="12700">
            <a:solidFill>
              <a:srgbClr val="BBD6D3"/>
            </a:solidFill>
          </a:ln>
          <a:effectLst/>
        </p:spPr>
        <p:txBody>
          <a:bodyPr rtlCol="0" anchor="ctr"/>
          <a:lstStyle/>
          <a:p/>
        </p:txBody>
      </p:sp>
      <p:sp>
        <p:nvSpPr>
          <p:cNvPr id="11" name="TextBox 10"/>
          <p:cNvSpPr txBox="1"/>
          <p:nvPr/>
        </p:nvSpPr>
        <p:spPr>
          <a:xfrm>
            <a:off x="768096" y="4334256"/>
            <a:ext cx="10652760" cy="731520"/>
          </a:xfrm>
          <a:prstGeom prst="rect">
            <a:avLst/>
          </a:prstGeom>
          <a:noFill/>
        </p:spPr>
        <p:txBody>
          <a:bodyPr wrap="square" lIns="0" rIns="0" tIns="0" bIns="0" anchor="ctr">
            <a:spAutoFit/>
          </a:bodyPr>
          <a:lstStyle/>
          <a:p>
            <a:pPr marL="0" indent="0">
              <a:lnSpc>
                <a:spcPct val="124000"/>
              </a:lnSpc>
              <a:buNone/>
            </a:pPr>
            <a:r>
              <a:rPr sz="1100" b="1" i="0">
                <a:solidFill>
                  <a:srgbClr val="17454E"/>
                </a:solidFill>
                <a:latin typeface="Calibri"/>
              </a:rPr>
              <a:t>Why this is the pivot of the whole course.</a:t>
            </a:r>
            <a:r>
              <a:rPr sz="1100" b="1" i="0">
                <a:solidFill>
                  <a:srgbClr val="17454E"/>
                </a:solidFill>
                <a:latin typeface="Calibri"/>
              </a:rPr>
              <a:t>  Sessions 1 to 4 described what business intelligence delivers; Session 5 described where data actually lives. This session is the joint between them. Every subsequent topic — dimensional modelling, data marts, metadata, lineage — is a detail of the architecture introduced here, and almost every failure you will see in industry is a failure to build this layer properly.</a:t>
            </a:r>
          </a:p>
        </p:txBody>
      </p:sp>
      <p:sp>
        <p:nvSpPr>
          <p:cNvPr id="12" name="Rounded Rectangle 11"/>
          <p:cNvSpPr/>
          <p:nvPr/>
        </p:nvSpPr>
        <p:spPr>
          <a:xfrm>
            <a:off x="548640" y="5266944"/>
            <a:ext cx="11091672" cy="859536"/>
          </a:xfrm>
          <a:prstGeom prst="roundRect">
            <a:avLst>
              <a:gd name="adj" fmla="val 9574"/>
            </a:avLst>
          </a:prstGeom>
          <a:solidFill>
            <a:srgbClr val="FBEBD1"/>
          </a:solidFill>
          <a:ln w="12700">
            <a:solidFill>
              <a:srgbClr val="EFD9AE"/>
            </a:solidFill>
          </a:ln>
          <a:effectLst/>
        </p:spPr>
        <p:txBody>
          <a:bodyPr rtlCol="0" anchor="ctr"/>
          <a:lstStyle/>
          <a:p/>
        </p:txBody>
      </p:sp>
      <p:sp>
        <p:nvSpPr>
          <p:cNvPr id="13" name="TextBox 12"/>
          <p:cNvSpPr txBox="1"/>
          <p:nvPr/>
        </p:nvSpPr>
        <p:spPr>
          <a:xfrm>
            <a:off x="768096" y="5340096"/>
            <a:ext cx="10652760" cy="713232"/>
          </a:xfrm>
          <a:prstGeom prst="rect">
            <a:avLst/>
          </a:prstGeom>
          <a:noFill/>
        </p:spPr>
        <p:txBody>
          <a:bodyPr wrap="square" lIns="0" rIns="0" tIns="0" bIns="0" anchor="ctr">
            <a:spAutoFit/>
          </a:bodyPr>
          <a:lstStyle/>
          <a:p>
            <a:pPr marL="0" indent="0">
              <a:lnSpc>
                <a:spcPct val="124000"/>
              </a:lnSpc>
              <a:buNone/>
            </a:pPr>
            <a:r>
              <a:rPr sz="1100" b="1" i="0">
                <a:solidFill>
                  <a:srgbClr val="6A4A0F"/>
                </a:solidFill>
                <a:latin typeface="Calibri"/>
              </a:rPr>
              <a:t>A caution about vocabulary in the market.</a:t>
            </a:r>
            <a:r>
              <a:rPr sz="1100" b="1" i="0">
                <a:solidFill>
                  <a:srgbClr val="6A4A0F"/>
                </a:solidFill>
                <a:latin typeface="Calibri"/>
              </a:rPr>
              <a:t>  Vendors now sell “lakehouse”, “data cloud”, “fabric” and “data mesh”. The words change every few years; the underlying requirements — integration, history, a structure designed for reading, and isolation from the operational system — do not. Learn the requirements, and you will be able to evaluate whatever the products are called when you graduate.</a:t>
            </a:r>
          </a:p>
        </p:txBody>
      </p:sp>
      <p:sp>
        <p:nvSpPr>
          <p:cNvPr id="14" name="TextBox 13"/>
          <p:cNvSpPr txBox="1"/>
          <p:nvPr/>
        </p:nvSpPr>
        <p:spPr>
          <a:xfrm>
            <a:off x="548640" y="6382512"/>
            <a:ext cx="8686800" cy="256032"/>
          </a:xfrm>
          <a:prstGeom prst="rect">
            <a:avLst/>
          </a:prstGeom>
          <a:noFill/>
        </p:spPr>
        <p:txBody>
          <a:bodyPr wrap="square" lIns="0" rIns="0" tIns="0" bIns="0" anchor="t">
            <a:spAutoFit/>
          </a:bodyPr>
          <a:lstStyle/>
          <a:p>
            <a:pPr algn="l" marL="0" indent="0">
              <a:buNone/>
            </a:pPr>
            <a:r>
              <a:rPr sz="900" b="0" i="0">
                <a:solidFill>
                  <a:srgbClr val="5C7079"/>
                </a:solidFill>
                <a:latin typeface="Calibri"/>
              </a:rPr>
              <a:t>Business Intelligence  |  Session 6 — Data Warehousing &amp; OLTP/OLAP  |  IILM Jaipur, MBA</a:t>
            </a:r>
          </a:p>
        </p:txBody>
      </p:sp>
      <p:sp>
        <p:nvSpPr>
          <p:cNvPr id="15" name="TextBox 14"/>
          <p:cNvSpPr txBox="1"/>
          <p:nvPr/>
        </p:nvSpPr>
        <p:spPr>
          <a:xfrm>
            <a:off x="10543032" y="6382512"/>
            <a:ext cx="1097280" cy="256032"/>
          </a:xfrm>
          <a:prstGeom prst="rect">
            <a:avLst/>
          </a:prstGeom>
          <a:noFill/>
        </p:spPr>
        <p:txBody>
          <a:bodyPr wrap="square" lIns="0" rIns="0" tIns="0" bIns="0" anchor="t">
            <a:spAutoFit/>
          </a:bodyPr>
          <a:lstStyle/>
          <a:p>
            <a:pPr algn="r" marL="0" indent="0">
              <a:buNone/>
            </a:pPr>
            <a:r>
              <a:rPr sz="950" b="1" i="0">
                <a:solidFill>
                  <a:srgbClr val="1B7F79"/>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374904"/>
            <a:ext cx="109728" cy="109728"/>
          </a:xfrm>
          <a:prstGeom prst="ellipse">
            <a:avLst/>
          </a:prstGeom>
          <a:solidFill>
            <a:srgbClr val="E8A33D"/>
          </a:solidFill>
          <a:ln>
            <a:noFill/>
          </a:ln>
          <a:effectLst/>
        </p:spPr>
        <p:txBody>
          <a:bodyPr rtlCol="0" anchor="ctr" wrap="none" lIns="0" rIns="0" tIns="0" bIns="0"/>
          <a:lstStyle/>
          <a:p>
            <a:pPr algn="ctr"/>
          </a:p>
        </p:txBody>
      </p:sp>
      <p:sp>
        <p:nvSpPr>
          <p:cNvPr id="3" name="TextBox 2"/>
          <p:cNvSpPr txBox="1"/>
          <p:nvPr/>
        </p:nvSpPr>
        <p:spPr>
          <a:xfrm>
            <a:off x="749808" y="283464"/>
            <a:ext cx="10890504" cy="256032"/>
          </a:xfrm>
          <a:prstGeom prst="rect">
            <a:avLst/>
          </a:prstGeom>
          <a:noFill/>
        </p:spPr>
        <p:txBody>
          <a:bodyPr wrap="square" lIns="0" rIns="0" tIns="0" bIns="0" anchor="t">
            <a:spAutoFit/>
          </a:bodyPr>
          <a:lstStyle/>
          <a:p>
            <a:pPr marL="0" indent="0">
              <a:buNone/>
            </a:pPr>
            <a:r>
              <a:rPr sz="1000" b="1" i="0">
                <a:solidFill>
                  <a:srgbClr val="B87A1E"/>
                </a:solidFill>
                <a:latin typeface="Calibri"/>
              </a:rPr>
              <a:t>THE SCALE OF THE PROBLEM</a:t>
            </a:r>
          </a:p>
        </p:txBody>
      </p:sp>
      <p:sp>
        <p:nvSpPr>
          <p:cNvPr id="4" name="TextBox 3"/>
          <p:cNvSpPr txBox="1"/>
          <p:nvPr/>
        </p:nvSpPr>
        <p:spPr>
          <a:xfrm>
            <a:off x="548640" y="548640"/>
            <a:ext cx="11091672" cy="640080"/>
          </a:xfrm>
          <a:prstGeom prst="rect">
            <a:avLst/>
          </a:prstGeom>
          <a:noFill/>
        </p:spPr>
        <p:txBody>
          <a:bodyPr wrap="square" lIns="0" rIns="0" tIns="0" bIns="0" anchor="t">
            <a:spAutoFit/>
          </a:bodyPr>
          <a:lstStyle/>
          <a:p>
            <a:pPr algn="l" marL="0" indent="0">
              <a:buNone/>
            </a:pPr>
            <a:r>
              <a:rPr sz="2700" b="1" i="0">
                <a:solidFill>
                  <a:srgbClr val="123B47"/>
                </a:solidFill>
                <a:latin typeface="Cambria"/>
              </a:rPr>
              <a:t>What analytical workloads do to an operational system</a:t>
            </a:r>
          </a:p>
        </p:txBody>
      </p:sp>
      <p:sp>
        <p:nvSpPr>
          <p:cNvPr id="5" name="Rounded Rectangle 4"/>
          <p:cNvSpPr/>
          <p:nvPr/>
        </p:nvSpPr>
        <p:spPr>
          <a:xfrm>
            <a:off x="548640" y="1316736"/>
            <a:ext cx="2596896" cy="1481328"/>
          </a:xfrm>
          <a:prstGeom prst="roundRect">
            <a:avLst>
              <a:gd name="adj" fmla="val 5555"/>
            </a:avLst>
          </a:prstGeom>
          <a:solidFill>
            <a:srgbClr val="123B47"/>
          </a:solidFill>
          <a:ln>
            <a:noFill/>
          </a:ln>
          <a:effectLst>
            <a:outerShdw blurRad="76200" dist="12700" dir="5400000" algn="bl" rotWithShape="0">
              <a:srgbClr val="9FB3B0">
                <a:alpha val="28000"/>
              </a:srgbClr>
            </a:outerShdw>
          </a:effectLst>
        </p:spPr>
        <p:txBody>
          <a:bodyPr rtlCol="0" anchor="ctr"/>
          <a:lstStyle/>
          <a:p/>
        </p:txBody>
      </p:sp>
      <p:sp>
        <p:nvSpPr>
          <p:cNvPr id="6" name="TextBox 5"/>
          <p:cNvSpPr txBox="1"/>
          <p:nvPr/>
        </p:nvSpPr>
        <p:spPr>
          <a:xfrm>
            <a:off x="676656" y="1463039"/>
            <a:ext cx="2340863" cy="731520"/>
          </a:xfrm>
          <a:prstGeom prst="rect">
            <a:avLst/>
          </a:prstGeom>
          <a:noFill/>
        </p:spPr>
        <p:txBody>
          <a:bodyPr wrap="square" lIns="0" rIns="0" tIns="0" bIns="0" anchor="ctr">
            <a:spAutoFit/>
          </a:bodyPr>
          <a:lstStyle/>
          <a:p>
            <a:pPr algn="ctr" marL="0" indent="0">
              <a:buNone/>
            </a:pPr>
            <a:r>
              <a:rPr sz="2400" b="1" i="0">
                <a:solidFill>
                  <a:srgbClr val="E8A33D"/>
                </a:solidFill>
                <a:latin typeface="Cambria"/>
              </a:rPr>
              <a:t>1 : 1000s</a:t>
            </a:r>
          </a:p>
        </p:txBody>
      </p:sp>
      <p:sp>
        <p:nvSpPr>
          <p:cNvPr id="7" name="TextBox 6"/>
          <p:cNvSpPr txBox="1"/>
          <p:nvPr/>
        </p:nvSpPr>
        <p:spPr>
          <a:xfrm>
            <a:off x="694944" y="2212848"/>
            <a:ext cx="2304288" cy="438912"/>
          </a:xfrm>
          <a:prstGeom prst="rect">
            <a:avLst/>
          </a:prstGeom>
          <a:noFill/>
        </p:spPr>
        <p:txBody>
          <a:bodyPr wrap="square" lIns="0" rIns="0" tIns="0" bIns="0" anchor="t">
            <a:spAutoFit/>
          </a:bodyPr>
          <a:lstStyle/>
          <a:p>
            <a:pPr algn="ctr" marL="0" indent="0">
              <a:lnSpc>
                <a:spcPct val="118000"/>
              </a:lnSpc>
              <a:buNone/>
            </a:pPr>
            <a:r>
              <a:rPr sz="1050" b="0" i="0">
                <a:solidFill>
                  <a:srgbClr val="C9DCDA"/>
                </a:solidFill>
                <a:latin typeface="Calibri"/>
              </a:rPr>
              <a:t>rows touched by a transaction, against rows touched by a single analytical query</a:t>
            </a:r>
          </a:p>
        </p:txBody>
      </p:sp>
      <p:sp>
        <p:nvSpPr>
          <p:cNvPr id="8" name="Rounded Rectangle 7"/>
          <p:cNvSpPr/>
          <p:nvPr/>
        </p:nvSpPr>
        <p:spPr>
          <a:xfrm>
            <a:off x="3383280" y="1316736"/>
            <a:ext cx="2596896" cy="1481328"/>
          </a:xfrm>
          <a:prstGeom prst="roundRect">
            <a:avLst>
              <a:gd name="adj" fmla="val 5555"/>
            </a:avLst>
          </a:prstGeom>
          <a:solidFill>
            <a:srgbClr val="1B7F79"/>
          </a:solidFill>
          <a:ln>
            <a:noFill/>
          </a:ln>
          <a:effectLst>
            <a:outerShdw blurRad="76200" dist="12700" dir="5400000" algn="bl" rotWithShape="0">
              <a:srgbClr val="9FB3B0">
                <a:alpha val="28000"/>
              </a:srgbClr>
            </a:outerShdw>
          </a:effectLst>
        </p:spPr>
        <p:txBody>
          <a:bodyPr rtlCol="0" anchor="ctr"/>
          <a:lstStyle/>
          <a:p/>
        </p:txBody>
      </p:sp>
      <p:sp>
        <p:nvSpPr>
          <p:cNvPr id="9" name="TextBox 8"/>
          <p:cNvSpPr txBox="1"/>
          <p:nvPr/>
        </p:nvSpPr>
        <p:spPr>
          <a:xfrm>
            <a:off x="3511296" y="1463039"/>
            <a:ext cx="2340863" cy="731520"/>
          </a:xfrm>
          <a:prstGeom prst="rect">
            <a:avLst/>
          </a:prstGeom>
          <a:noFill/>
        </p:spPr>
        <p:txBody>
          <a:bodyPr wrap="square" lIns="0" rIns="0" tIns="0" bIns="0" anchor="ctr">
            <a:spAutoFit/>
          </a:bodyPr>
          <a:lstStyle/>
          <a:p>
            <a:pPr algn="ctr" marL="0" indent="0">
              <a:buNone/>
            </a:pPr>
            <a:r>
              <a:rPr sz="2800" b="1" i="0">
                <a:solidFill>
                  <a:srgbClr val="E8A33D"/>
                </a:solidFill>
                <a:latin typeface="Cambria"/>
              </a:rPr>
              <a:t>5–10×</a:t>
            </a:r>
          </a:p>
        </p:txBody>
      </p:sp>
      <p:sp>
        <p:nvSpPr>
          <p:cNvPr id="10" name="TextBox 9"/>
          <p:cNvSpPr txBox="1"/>
          <p:nvPr/>
        </p:nvSpPr>
        <p:spPr>
          <a:xfrm>
            <a:off x="3529584" y="2212848"/>
            <a:ext cx="2304288" cy="438912"/>
          </a:xfrm>
          <a:prstGeom prst="rect">
            <a:avLst/>
          </a:prstGeom>
          <a:noFill/>
        </p:spPr>
        <p:txBody>
          <a:bodyPr wrap="square" lIns="0" rIns="0" tIns="0" bIns="0" anchor="t">
            <a:spAutoFit/>
          </a:bodyPr>
          <a:lstStyle/>
          <a:p>
            <a:pPr algn="ctr" marL="0" indent="0">
              <a:lnSpc>
                <a:spcPct val="118000"/>
              </a:lnSpc>
              <a:buNone/>
            </a:pPr>
            <a:r>
              <a:rPr sz="1010" b="0" i="0">
                <a:solidFill>
                  <a:srgbClr val="C9DCDA"/>
                </a:solidFill>
                <a:latin typeface="Calibri"/>
              </a:rPr>
              <a:t>compression typically achieved by columnar analytical storage over row storage</a:t>
            </a:r>
          </a:p>
        </p:txBody>
      </p:sp>
      <p:sp>
        <p:nvSpPr>
          <p:cNvPr id="11" name="Rounded Rectangle 10"/>
          <p:cNvSpPr/>
          <p:nvPr/>
        </p:nvSpPr>
        <p:spPr>
          <a:xfrm>
            <a:off x="6217920" y="1316736"/>
            <a:ext cx="2596896" cy="1481328"/>
          </a:xfrm>
          <a:prstGeom prst="roundRect">
            <a:avLst>
              <a:gd name="adj" fmla="val 5555"/>
            </a:avLst>
          </a:prstGeom>
          <a:solidFill>
            <a:srgbClr val="E8A33D"/>
          </a:solidFill>
          <a:ln>
            <a:noFill/>
          </a:ln>
          <a:effectLst>
            <a:outerShdw blurRad="76200" dist="12700" dir="5400000" algn="bl" rotWithShape="0">
              <a:srgbClr val="9FB3B0">
                <a:alpha val="28000"/>
              </a:srgbClr>
            </a:outerShdw>
          </a:effectLst>
        </p:spPr>
        <p:txBody>
          <a:bodyPr rtlCol="0" anchor="ctr"/>
          <a:lstStyle/>
          <a:p/>
        </p:txBody>
      </p:sp>
      <p:sp>
        <p:nvSpPr>
          <p:cNvPr id="12" name="TextBox 11"/>
          <p:cNvSpPr txBox="1"/>
          <p:nvPr/>
        </p:nvSpPr>
        <p:spPr>
          <a:xfrm>
            <a:off x="6345936" y="1463039"/>
            <a:ext cx="2340863" cy="731520"/>
          </a:xfrm>
          <a:prstGeom prst="rect">
            <a:avLst/>
          </a:prstGeom>
          <a:noFill/>
        </p:spPr>
        <p:txBody>
          <a:bodyPr wrap="square" lIns="0" rIns="0" tIns="0" bIns="0" anchor="ctr">
            <a:spAutoFit/>
          </a:bodyPr>
          <a:lstStyle/>
          <a:p>
            <a:pPr algn="ctr" marL="0" indent="0">
              <a:buNone/>
            </a:pPr>
            <a:r>
              <a:rPr sz="2600" b="1" i="0">
                <a:solidFill>
                  <a:srgbClr val="3A2703"/>
                </a:solidFill>
                <a:latin typeface="Cambria"/>
              </a:rPr>
              <a:t>60–80%</a:t>
            </a:r>
          </a:p>
        </p:txBody>
      </p:sp>
      <p:sp>
        <p:nvSpPr>
          <p:cNvPr id="13" name="TextBox 12"/>
          <p:cNvSpPr txBox="1"/>
          <p:nvPr/>
        </p:nvSpPr>
        <p:spPr>
          <a:xfrm>
            <a:off x="6364224" y="2212848"/>
            <a:ext cx="2304288" cy="438912"/>
          </a:xfrm>
          <a:prstGeom prst="rect">
            <a:avLst/>
          </a:prstGeom>
          <a:noFill/>
        </p:spPr>
        <p:txBody>
          <a:bodyPr wrap="square" lIns="0" rIns="0" tIns="0" bIns="0" anchor="t">
            <a:spAutoFit/>
          </a:bodyPr>
          <a:lstStyle/>
          <a:p>
            <a:pPr algn="ctr" marL="0" indent="0">
              <a:lnSpc>
                <a:spcPct val="118000"/>
              </a:lnSpc>
              <a:buNone/>
            </a:pPr>
            <a:r>
              <a:rPr sz="1030" b="0" i="0">
                <a:solidFill>
                  <a:srgbClr val="5C4212"/>
                </a:solidFill>
                <a:latin typeface="Calibri"/>
              </a:rPr>
              <a:t>of data-warehouse project effort consumed by extraction, cleansing and integration</a:t>
            </a:r>
          </a:p>
        </p:txBody>
      </p:sp>
      <p:sp>
        <p:nvSpPr>
          <p:cNvPr id="14" name="Rounded Rectangle 13"/>
          <p:cNvSpPr/>
          <p:nvPr/>
        </p:nvSpPr>
        <p:spPr>
          <a:xfrm>
            <a:off x="9043416" y="1316736"/>
            <a:ext cx="2596896" cy="1481328"/>
          </a:xfrm>
          <a:prstGeom prst="roundRect">
            <a:avLst>
              <a:gd name="adj" fmla="val 5555"/>
            </a:avLst>
          </a:prstGeom>
          <a:solidFill>
            <a:srgbClr val="123B47"/>
          </a:solidFill>
          <a:ln>
            <a:noFill/>
          </a:ln>
          <a:effectLst>
            <a:outerShdw blurRad="76200" dist="12700" dir="5400000" algn="bl" rotWithShape="0">
              <a:srgbClr val="9FB3B0">
                <a:alpha val="28000"/>
              </a:srgbClr>
            </a:outerShdw>
          </a:effectLst>
        </p:spPr>
        <p:txBody>
          <a:bodyPr rtlCol="0" anchor="ctr"/>
          <a:lstStyle/>
          <a:p/>
        </p:txBody>
      </p:sp>
      <p:sp>
        <p:nvSpPr>
          <p:cNvPr id="15" name="TextBox 14"/>
          <p:cNvSpPr txBox="1"/>
          <p:nvPr/>
        </p:nvSpPr>
        <p:spPr>
          <a:xfrm>
            <a:off x="9171432" y="1463039"/>
            <a:ext cx="2340863" cy="731520"/>
          </a:xfrm>
          <a:prstGeom prst="rect">
            <a:avLst/>
          </a:prstGeom>
          <a:noFill/>
        </p:spPr>
        <p:txBody>
          <a:bodyPr wrap="square" lIns="0" rIns="0" tIns="0" bIns="0" anchor="ctr">
            <a:spAutoFit/>
          </a:bodyPr>
          <a:lstStyle/>
          <a:p>
            <a:pPr algn="ctr" marL="0" indent="0">
              <a:buNone/>
            </a:pPr>
            <a:r>
              <a:rPr sz="2600" b="1" i="0">
                <a:solidFill>
                  <a:srgbClr val="E8A33D"/>
                </a:solidFill>
                <a:latin typeface="Cambria"/>
              </a:rPr>
              <a:t>≈ 50%</a:t>
            </a:r>
          </a:p>
        </p:txBody>
      </p:sp>
      <p:sp>
        <p:nvSpPr>
          <p:cNvPr id="16" name="TextBox 15"/>
          <p:cNvSpPr txBox="1"/>
          <p:nvPr/>
        </p:nvSpPr>
        <p:spPr>
          <a:xfrm>
            <a:off x="9189720" y="2212848"/>
            <a:ext cx="2304288" cy="438912"/>
          </a:xfrm>
          <a:prstGeom prst="rect">
            <a:avLst/>
          </a:prstGeom>
          <a:noFill/>
        </p:spPr>
        <p:txBody>
          <a:bodyPr wrap="square" lIns="0" rIns="0" tIns="0" bIns="0" anchor="t">
            <a:spAutoFit/>
          </a:bodyPr>
          <a:lstStyle/>
          <a:p>
            <a:pPr algn="ctr" marL="0" indent="0">
              <a:lnSpc>
                <a:spcPct val="118000"/>
              </a:lnSpc>
              <a:buNone/>
            </a:pPr>
            <a:r>
              <a:rPr sz="819" b="0" i="0">
                <a:solidFill>
                  <a:srgbClr val="C9DCDA"/>
                </a:solidFill>
                <a:latin typeface="Calibri"/>
              </a:rPr>
              <a:t>of first-generation warehouse programmes historically judged to have failed to meet expectations</a:t>
            </a:r>
          </a:p>
        </p:txBody>
      </p:sp>
      <p:sp>
        <p:nvSpPr>
          <p:cNvPr id="17" name="Rounded Rectangle 16"/>
          <p:cNvSpPr/>
          <p:nvPr/>
        </p:nvSpPr>
        <p:spPr>
          <a:xfrm>
            <a:off x="548640" y="2962656"/>
            <a:ext cx="5394960" cy="1664208"/>
          </a:xfrm>
          <a:prstGeom prst="roundRect">
            <a:avLst>
              <a:gd name="adj" fmla="val 4945"/>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18" name="Oval 17"/>
          <p:cNvSpPr/>
          <p:nvPr/>
        </p:nvSpPr>
        <p:spPr>
          <a:xfrm>
            <a:off x="749808" y="3172968"/>
            <a:ext cx="384048" cy="384048"/>
          </a:xfrm>
          <a:prstGeom prst="ellipse">
            <a:avLst/>
          </a:prstGeom>
          <a:solidFill>
            <a:srgbClr val="A63B26"/>
          </a:solidFill>
          <a:ln>
            <a:noFill/>
          </a:ln>
          <a:effectLst/>
        </p:spPr>
        <p:txBody>
          <a:bodyPr rtlCol="0" anchor="ctr" wrap="none" lIns="0" rIns="0" tIns="0" bIns="0"/>
          <a:lstStyle/>
          <a:p>
            <a:pPr algn="ctr"/>
            <a:r>
              <a:rPr sz="1250" b="1">
                <a:solidFill>
                  <a:srgbClr val="FFFFFF"/>
                </a:solidFill>
                <a:latin typeface="Calibri"/>
              </a:rPr>
              <a:t>!</a:t>
            </a:r>
          </a:p>
        </p:txBody>
      </p:sp>
      <p:sp>
        <p:nvSpPr>
          <p:cNvPr id="19" name="TextBox 18"/>
          <p:cNvSpPr txBox="1"/>
          <p:nvPr/>
        </p:nvSpPr>
        <p:spPr>
          <a:xfrm>
            <a:off x="1252728" y="3163824"/>
            <a:ext cx="4489704"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What the operations manager experiences</a:t>
            </a:r>
          </a:p>
        </p:txBody>
      </p:sp>
      <p:sp>
        <p:nvSpPr>
          <p:cNvPr id="20" name="TextBox 19"/>
          <p:cNvSpPr txBox="1"/>
          <p:nvPr/>
        </p:nvSpPr>
        <p:spPr>
          <a:xfrm>
            <a:off x="749808" y="3648456"/>
            <a:ext cx="4992624" cy="850392"/>
          </a:xfrm>
          <a:prstGeom prst="rect">
            <a:avLst/>
          </a:prstGeom>
          <a:noFill/>
        </p:spPr>
        <p:txBody>
          <a:bodyPr wrap="square" lIns="0" rIns="0" tIns="0" bIns="0" anchor="t">
            <a:spAutoFit/>
          </a:bodyPr>
          <a:lstStyle/>
          <a:p>
            <a:pPr marL="0" indent="0">
              <a:lnSpc>
                <a:spcPct val="124000"/>
              </a:lnSpc>
              <a:buNone/>
            </a:pPr>
            <a:r>
              <a:rPr sz="919" b="0" i="0">
                <a:solidFill>
                  <a:srgbClr val="2E3F47"/>
                </a:solidFill>
                <a:latin typeface="Calibri"/>
              </a:rPr>
              <a:t>Billing slows to a crawl at 9:15 every morning. The month-end close is delayed because the finance extract holds locks on the ledger. A well-meaning analyst runs a query with a missing join predicate and the point-of-sale terminals across 62 stores stop responding for four minutes. None of this is anybody's incompetence; it is the predictable result of asking one machine to do two incompatible jobs at once.</a:t>
            </a:r>
          </a:p>
        </p:txBody>
      </p:sp>
      <p:sp>
        <p:nvSpPr>
          <p:cNvPr id="21" name="Rounded Rectangle 20"/>
          <p:cNvSpPr/>
          <p:nvPr/>
        </p:nvSpPr>
        <p:spPr>
          <a:xfrm>
            <a:off x="6245352" y="2962656"/>
            <a:ext cx="5394960" cy="1664208"/>
          </a:xfrm>
          <a:prstGeom prst="roundRect">
            <a:avLst>
              <a:gd name="adj" fmla="val 4945"/>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22" name="Oval 21"/>
          <p:cNvSpPr/>
          <p:nvPr/>
        </p:nvSpPr>
        <p:spPr>
          <a:xfrm>
            <a:off x="6446520" y="3172968"/>
            <a:ext cx="384048" cy="384048"/>
          </a:xfrm>
          <a:prstGeom prst="ellipse">
            <a:avLst/>
          </a:prstGeom>
          <a:solidFill>
            <a:srgbClr val="2E7D53"/>
          </a:solidFill>
          <a:ln>
            <a:noFill/>
          </a:ln>
          <a:effectLst/>
        </p:spPr>
        <p:txBody>
          <a:bodyPr rtlCol="0" anchor="ctr" wrap="none" lIns="0" rIns="0" tIns="0" bIns="0"/>
          <a:lstStyle/>
          <a:p>
            <a:pPr algn="ctr"/>
            <a:r>
              <a:rPr sz="1250" b="1">
                <a:solidFill>
                  <a:srgbClr val="FFFFFF"/>
                </a:solidFill>
                <a:latin typeface="Calibri"/>
              </a:rPr>
              <a:t>✓</a:t>
            </a:r>
          </a:p>
        </p:txBody>
      </p:sp>
      <p:sp>
        <p:nvSpPr>
          <p:cNvPr id="23" name="TextBox 22"/>
          <p:cNvSpPr txBox="1"/>
          <p:nvPr/>
        </p:nvSpPr>
        <p:spPr>
          <a:xfrm>
            <a:off x="6949440" y="3163824"/>
            <a:ext cx="4489704"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What the warehouse changes</a:t>
            </a:r>
          </a:p>
        </p:txBody>
      </p:sp>
      <p:sp>
        <p:nvSpPr>
          <p:cNvPr id="24" name="TextBox 23"/>
          <p:cNvSpPr txBox="1"/>
          <p:nvPr/>
        </p:nvSpPr>
        <p:spPr>
          <a:xfrm>
            <a:off x="6446520" y="3648456"/>
            <a:ext cx="4992624" cy="850392"/>
          </a:xfrm>
          <a:prstGeom prst="rect">
            <a:avLst/>
          </a:prstGeom>
          <a:noFill/>
        </p:spPr>
        <p:txBody>
          <a:bodyPr wrap="square" lIns="0" rIns="0" tIns="0" bIns="0" anchor="t">
            <a:spAutoFit/>
          </a:bodyPr>
          <a:lstStyle/>
          <a:p>
            <a:pPr marL="0" indent="0">
              <a:lnSpc>
                <a:spcPct val="124000"/>
              </a:lnSpc>
              <a:buNone/>
            </a:pPr>
            <a:r>
              <a:rPr sz="1030" b="0" i="0">
                <a:solidFill>
                  <a:srgbClr val="2E3F47"/>
                </a:solidFill>
                <a:latin typeface="Calibri"/>
              </a:rPr>
              <a:t>Analysis moves to its own store, refreshed on a schedule the business agrees. The operational system returns to doing only what it was built for. Data from several systems is reconciled once, centrally, instead of differently in every report. History is retained deliberately rather than overwritten. And a question that was previously a two-week request becomes a click.</a:t>
            </a:r>
          </a:p>
        </p:txBody>
      </p:sp>
      <p:sp>
        <p:nvSpPr>
          <p:cNvPr id="25" name="Rounded Rectangle 24"/>
          <p:cNvSpPr/>
          <p:nvPr/>
        </p:nvSpPr>
        <p:spPr>
          <a:xfrm>
            <a:off x="548640" y="4809744"/>
            <a:ext cx="11091672" cy="786384"/>
          </a:xfrm>
          <a:prstGeom prst="roundRect">
            <a:avLst>
              <a:gd name="adj" fmla="val 10465"/>
            </a:avLst>
          </a:prstGeom>
          <a:solidFill>
            <a:srgbClr val="123B47"/>
          </a:solidFill>
          <a:ln>
            <a:noFill/>
          </a:ln>
          <a:effectLst>
            <a:outerShdw blurRad="76200" dist="12700" dir="5400000" algn="bl" rotWithShape="0">
              <a:srgbClr val="9FB3B0">
                <a:alpha val="28000"/>
              </a:srgbClr>
            </a:outerShdw>
          </a:effectLst>
        </p:spPr>
        <p:txBody>
          <a:bodyPr rtlCol="0" anchor="ctr"/>
          <a:lstStyle/>
          <a:p/>
        </p:txBody>
      </p:sp>
      <p:sp>
        <p:nvSpPr>
          <p:cNvPr id="26" name="TextBox 25"/>
          <p:cNvSpPr txBox="1"/>
          <p:nvPr/>
        </p:nvSpPr>
        <p:spPr>
          <a:xfrm>
            <a:off x="768096" y="4882896"/>
            <a:ext cx="10652760" cy="640080"/>
          </a:xfrm>
          <a:prstGeom prst="rect">
            <a:avLst/>
          </a:prstGeom>
          <a:noFill/>
        </p:spPr>
        <p:txBody>
          <a:bodyPr wrap="square" lIns="0" rIns="0" tIns="0" bIns="0" anchor="ctr">
            <a:spAutoFit/>
          </a:bodyPr>
          <a:lstStyle/>
          <a:p>
            <a:pPr marL="0" indent="0">
              <a:lnSpc>
                <a:spcPct val="124000"/>
              </a:lnSpc>
              <a:buNone/>
            </a:pPr>
            <a:r>
              <a:rPr sz="1100" b="1" i="0">
                <a:solidFill>
                  <a:srgbClr val="FFFFFF"/>
                </a:solidFill>
                <a:latin typeface="Calibri"/>
              </a:rPr>
              <a:t>The proposition to hold on to.</a:t>
            </a:r>
            <a:r>
              <a:rPr sz="1100" b="1" i="0">
                <a:solidFill>
                  <a:srgbClr val="FFFFFF"/>
                </a:solidFill>
                <a:latin typeface="Calibri"/>
              </a:rPr>
              <a:t>  A data warehouse is not a bigger database. It is a database with an inverted set of design priorities: it optimises reads rather than writes, tolerates redundancy rather than eliminating it, preserves history rather than reflecting the present, and is loaded in bulk rather than updated continuously. Every one of those choices would be a fault in an operational system and is a virtue in an analytical one.</a:t>
            </a:r>
          </a:p>
        </p:txBody>
      </p:sp>
      <p:sp>
        <p:nvSpPr>
          <p:cNvPr id="27" name="Rounded Rectangle 26"/>
          <p:cNvSpPr/>
          <p:nvPr/>
        </p:nvSpPr>
        <p:spPr>
          <a:xfrm>
            <a:off x="548640" y="5705856"/>
            <a:ext cx="11091672" cy="420624"/>
          </a:xfrm>
          <a:prstGeom prst="roundRect">
            <a:avLst>
              <a:gd name="adj" fmla="val 19565"/>
            </a:avLst>
          </a:prstGeom>
          <a:solidFill>
            <a:srgbClr val="FBEBD1"/>
          </a:solidFill>
          <a:ln w="12700">
            <a:solidFill>
              <a:srgbClr val="EFD9AE"/>
            </a:solidFill>
          </a:ln>
          <a:effectLst/>
        </p:spPr>
        <p:txBody>
          <a:bodyPr rtlCol="0" anchor="ctr"/>
          <a:lstStyle/>
          <a:p/>
        </p:txBody>
      </p:sp>
      <p:sp>
        <p:nvSpPr>
          <p:cNvPr id="28" name="TextBox 27"/>
          <p:cNvSpPr txBox="1"/>
          <p:nvPr/>
        </p:nvSpPr>
        <p:spPr>
          <a:xfrm>
            <a:off x="768096" y="5760720"/>
            <a:ext cx="10652760" cy="310896"/>
          </a:xfrm>
          <a:prstGeom prst="rect">
            <a:avLst/>
          </a:prstGeom>
          <a:noFill/>
        </p:spPr>
        <p:txBody>
          <a:bodyPr wrap="square" lIns="0" rIns="0" tIns="0" bIns="0" anchor="ctr">
            <a:spAutoFit/>
          </a:bodyPr>
          <a:lstStyle/>
          <a:p>
            <a:pPr marL="0" indent="0">
              <a:lnSpc>
                <a:spcPct val="124000"/>
              </a:lnSpc>
              <a:buNone/>
            </a:pPr>
            <a:r>
              <a:rPr sz="860" b="1" i="0">
                <a:solidFill>
                  <a:srgbClr val="6A4A0F"/>
                </a:solidFill>
                <a:latin typeface="Calibri"/>
              </a:rPr>
              <a:t>Terminology used precisely throughout.</a:t>
            </a:r>
            <a:r>
              <a:rPr sz="860" b="1" i="0">
                <a:solidFill>
                  <a:srgbClr val="6A4A0F"/>
                </a:solidFill>
                <a:latin typeface="Calibri"/>
              </a:rPr>
              <a:t>  OLTP = online transaction processing (running the business) · OLAP = online analytical processing (understanding the business) · ODS = operational data store · mart = a subject-specific subset of the warehouse.</a:t>
            </a:r>
          </a:p>
        </p:txBody>
      </p:sp>
      <p:sp>
        <p:nvSpPr>
          <p:cNvPr id="29" name="TextBox 28"/>
          <p:cNvSpPr txBox="1"/>
          <p:nvPr/>
        </p:nvSpPr>
        <p:spPr>
          <a:xfrm>
            <a:off x="548640" y="6382512"/>
            <a:ext cx="8686800" cy="256032"/>
          </a:xfrm>
          <a:prstGeom prst="rect">
            <a:avLst/>
          </a:prstGeom>
          <a:noFill/>
        </p:spPr>
        <p:txBody>
          <a:bodyPr wrap="square" lIns="0" rIns="0" tIns="0" bIns="0" anchor="t">
            <a:spAutoFit/>
          </a:bodyPr>
          <a:lstStyle/>
          <a:p>
            <a:pPr algn="l" marL="0" indent="0">
              <a:buNone/>
            </a:pPr>
            <a:r>
              <a:rPr sz="900" b="0" i="0">
                <a:solidFill>
                  <a:srgbClr val="5C7079"/>
                </a:solidFill>
                <a:latin typeface="Calibri"/>
              </a:rPr>
              <a:t>Business Intelligence  |  Session 6 — Data Warehousing &amp; OLTP/OLAP  |  IILM Jaipur, MBA</a:t>
            </a:r>
          </a:p>
        </p:txBody>
      </p:sp>
      <p:sp>
        <p:nvSpPr>
          <p:cNvPr id="30" name="TextBox 29"/>
          <p:cNvSpPr txBox="1"/>
          <p:nvPr/>
        </p:nvSpPr>
        <p:spPr>
          <a:xfrm>
            <a:off x="10543032" y="6382512"/>
            <a:ext cx="1097280" cy="256032"/>
          </a:xfrm>
          <a:prstGeom prst="rect">
            <a:avLst/>
          </a:prstGeom>
          <a:noFill/>
        </p:spPr>
        <p:txBody>
          <a:bodyPr wrap="square" lIns="0" rIns="0" tIns="0" bIns="0" anchor="t">
            <a:spAutoFit/>
          </a:bodyPr>
          <a:lstStyle/>
          <a:p>
            <a:pPr algn="r" marL="0" indent="0">
              <a:buNone/>
            </a:pPr>
            <a:r>
              <a:rPr sz="950" b="1" i="0">
                <a:solidFill>
                  <a:srgbClr val="1B7F79"/>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3B47"/>
        </a:solidFill>
        <a:effectLst/>
      </p:bgPr>
    </p:bg>
    <p:spTree>
      <p:nvGrpSpPr>
        <p:cNvPr id="1" name=""/>
        <p:cNvGrpSpPr/>
        <p:nvPr/>
      </p:nvGrpSpPr>
      <p:grpSpPr/>
      <p:sp>
        <p:nvSpPr>
          <p:cNvPr id="2" name="Oval 1"/>
          <p:cNvSpPr/>
          <p:nvPr/>
        </p:nvSpPr>
        <p:spPr>
          <a:xfrm>
            <a:off x="10561320" y="5074920"/>
            <a:ext cx="2377440" cy="2377440"/>
          </a:xfrm>
          <a:prstGeom prst="ellipse">
            <a:avLst/>
          </a:prstGeom>
          <a:solidFill>
            <a:srgbClr val="1A4E5B"/>
          </a:solidFill>
          <a:ln>
            <a:noFill/>
          </a:ln>
          <a:effectLst/>
        </p:spPr>
        <p:txBody>
          <a:bodyPr rtlCol="0" anchor="ctr" wrap="none" lIns="0" rIns="0" tIns="0" bIns="0"/>
          <a:lstStyle/>
          <a:p>
            <a:pPr algn="ctr"/>
          </a:p>
        </p:txBody>
      </p:sp>
      <p:sp>
        <p:nvSpPr>
          <p:cNvPr id="3" name="TextBox 2"/>
          <p:cNvSpPr txBox="1"/>
          <p:nvPr/>
        </p:nvSpPr>
        <p:spPr>
          <a:xfrm>
            <a:off x="548640" y="1975104"/>
            <a:ext cx="1554480" cy="1371600"/>
          </a:xfrm>
          <a:prstGeom prst="rect">
            <a:avLst/>
          </a:prstGeom>
          <a:noFill/>
        </p:spPr>
        <p:txBody>
          <a:bodyPr wrap="square" lIns="0" rIns="0" tIns="0" bIns="0" anchor="ctr">
            <a:spAutoFit/>
          </a:bodyPr>
          <a:lstStyle/>
          <a:p>
            <a:pPr marL="0" indent="0">
              <a:buNone/>
            </a:pPr>
            <a:r>
              <a:rPr sz="7400" b="1" i="0">
                <a:solidFill>
                  <a:srgbClr val="E8A33D"/>
                </a:solidFill>
                <a:latin typeface="Cambria"/>
              </a:rPr>
              <a:t>01</a:t>
            </a:r>
          </a:p>
        </p:txBody>
      </p:sp>
      <p:sp>
        <p:nvSpPr>
          <p:cNvPr id="4" name="TextBox 3"/>
          <p:cNvSpPr txBox="1"/>
          <p:nvPr/>
        </p:nvSpPr>
        <p:spPr>
          <a:xfrm>
            <a:off x="2240280" y="2011680"/>
            <a:ext cx="8595360" cy="914400"/>
          </a:xfrm>
          <a:prstGeom prst="rect">
            <a:avLst/>
          </a:prstGeom>
          <a:noFill/>
        </p:spPr>
        <p:txBody>
          <a:bodyPr wrap="square" lIns="0" rIns="0" tIns="0" bIns="0" anchor="ctr">
            <a:spAutoFit/>
          </a:bodyPr>
          <a:lstStyle/>
          <a:p>
            <a:pPr marL="0" indent="0">
              <a:lnSpc>
                <a:spcPct val="108000"/>
              </a:lnSpc>
              <a:buNone/>
            </a:pPr>
            <a:r>
              <a:rPr sz="3100" b="1" i="0">
                <a:solidFill>
                  <a:srgbClr val="FFFFFF"/>
                </a:solidFill>
                <a:latin typeface="Cambria"/>
              </a:rPr>
              <a:t>Why Analytical Storage Is Required</a:t>
            </a:r>
          </a:p>
        </p:txBody>
      </p:sp>
      <p:sp>
        <p:nvSpPr>
          <p:cNvPr id="5" name="TextBox 4"/>
          <p:cNvSpPr txBox="1"/>
          <p:nvPr/>
        </p:nvSpPr>
        <p:spPr>
          <a:xfrm>
            <a:off x="2240280" y="3017520"/>
            <a:ext cx="8595360" cy="822960"/>
          </a:xfrm>
          <a:prstGeom prst="rect">
            <a:avLst/>
          </a:prstGeom>
          <a:noFill/>
        </p:spPr>
        <p:txBody>
          <a:bodyPr wrap="square" lIns="0" rIns="0" tIns="0" bIns="0" anchor="t">
            <a:spAutoFit/>
          </a:bodyPr>
          <a:lstStyle/>
          <a:p>
            <a:pPr marL="0" indent="0">
              <a:lnSpc>
                <a:spcPct val="130000"/>
              </a:lnSpc>
              <a:buNone/>
            </a:pPr>
            <a:r>
              <a:rPr sz="1300" b="0" i="0">
                <a:solidFill>
                  <a:srgbClr val="A9C4C2"/>
                </a:solidFill>
                <a:latin typeface="Calibri"/>
              </a:rPr>
              <a:t>The conflict between two workloads · the origins of the warehouse · Inmon's four properties · what a warehouse is not</a:t>
            </a:r>
          </a:p>
        </p:txBody>
      </p:sp>
      <p:sp>
        <p:nvSpPr>
          <p:cNvPr id="6" name="TextBox 5"/>
          <p:cNvSpPr txBox="1"/>
          <p:nvPr/>
        </p:nvSpPr>
        <p:spPr>
          <a:xfrm>
            <a:off x="548640" y="6382512"/>
            <a:ext cx="8686800" cy="256032"/>
          </a:xfrm>
          <a:prstGeom prst="rect">
            <a:avLst/>
          </a:prstGeom>
          <a:noFill/>
        </p:spPr>
        <p:txBody>
          <a:bodyPr wrap="square" lIns="0" rIns="0" tIns="0" bIns="0" anchor="t">
            <a:spAutoFit/>
          </a:bodyPr>
          <a:lstStyle/>
          <a:p>
            <a:pPr algn="l" marL="0" indent="0">
              <a:buNone/>
            </a:pPr>
            <a:r>
              <a:rPr sz="900" b="0" i="0">
                <a:solidFill>
                  <a:srgbClr val="6D8A88"/>
                </a:solidFill>
                <a:latin typeface="Calibri"/>
              </a:rPr>
              <a:t>Business Intelligence  |  Session 6 — Data Warehousing &amp; OLTP/OLAP  |  IILM Jaipur, MBA</a:t>
            </a:r>
          </a:p>
        </p:txBody>
      </p:sp>
      <p:sp>
        <p:nvSpPr>
          <p:cNvPr id="7" name="TextBox 6"/>
          <p:cNvSpPr txBox="1"/>
          <p:nvPr/>
        </p:nvSpPr>
        <p:spPr>
          <a:xfrm>
            <a:off x="10543032" y="6382512"/>
            <a:ext cx="1097280" cy="256032"/>
          </a:xfrm>
          <a:prstGeom prst="rect">
            <a:avLst/>
          </a:prstGeom>
          <a:noFill/>
        </p:spPr>
        <p:txBody>
          <a:bodyPr wrap="square" lIns="0" rIns="0" tIns="0" bIns="0" anchor="t">
            <a:spAutoFit/>
          </a:bodyPr>
          <a:lstStyle/>
          <a:p>
            <a:pPr algn="r" marL="0" indent="0">
              <a:buNone/>
            </a:pPr>
            <a:r>
              <a:rPr sz="950" b="1" i="0">
                <a:solidFill>
                  <a:srgbClr val="E8A33D"/>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374904"/>
            <a:ext cx="109728" cy="109728"/>
          </a:xfrm>
          <a:prstGeom prst="ellipse">
            <a:avLst/>
          </a:prstGeom>
          <a:solidFill>
            <a:srgbClr val="E8A33D"/>
          </a:solidFill>
          <a:ln>
            <a:noFill/>
          </a:ln>
          <a:effectLst/>
        </p:spPr>
        <p:txBody>
          <a:bodyPr rtlCol="0" anchor="ctr" wrap="none" lIns="0" rIns="0" tIns="0" bIns="0"/>
          <a:lstStyle/>
          <a:p>
            <a:pPr algn="ctr"/>
          </a:p>
        </p:txBody>
      </p:sp>
      <p:sp>
        <p:nvSpPr>
          <p:cNvPr id="3" name="TextBox 2"/>
          <p:cNvSpPr txBox="1"/>
          <p:nvPr/>
        </p:nvSpPr>
        <p:spPr>
          <a:xfrm>
            <a:off x="749808" y="283464"/>
            <a:ext cx="10890504" cy="256032"/>
          </a:xfrm>
          <a:prstGeom prst="rect">
            <a:avLst/>
          </a:prstGeom>
          <a:noFill/>
        </p:spPr>
        <p:txBody>
          <a:bodyPr wrap="square" lIns="0" rIns="0" tIns="0" bIns="0" anchor="t">
            <a:spAutoFit/>
          </a:bodyPr>
          <a:lstStyle/>
          <a:p>
            <a:pPr marL="0" indent="0">
              <a:buNone/>
            </a:pPr>
            <a:r>
              <a:rPr sz="1000" b="1" i="0">
                <a:solidFill>
                  <a:srgbClr val="B87A1E"/>
                </a:solidFill>
                <a:latin typeface="Calibri"/>
              </a:rPr>
              <a:t>PART 1 · THE CONFLICT</a:t>
            </a:r>
          </a:p>
        </p:txBody>
      </p:sp>
      <p:sp>
        <p:nvSpPr>
          <p:cNvPr id="4" name="TextBox 3"/>
          <p:cNvSpPr txBox="1"/>
          <p:nvPr/>
        </p:nvSpPr>
        <p:spPr>
          <a:xfrm>
            <a:off x="548640" y="548640"/>
            <a:ext cx="11091672" cy="640080"/>
          </a:xfrm>
          <a:prstGeom prst="rect">
            <a:avLst/>
          </a:prstGeom>
          <a:noFill/>
        </p:spPr>
        <p:txBody>
          <a:bodyPr wrap="square" lIns="0" rIns="0" tIns="0" bIns="0" anchor="t">
            <a:spAutoFit/>
          </a:bodyPr>
          <a:lstStyle/>
          <a:p>
            <a:pPr algn="l" marL="0" indent="0">
              <a:buNone/>
            </a:pPr>
            <a:r>
              <a:rPr sz="2700" b="1" i="0">
                <a:solidFill>
                  <a:srgbClr val="123B47"/>
                </a:solidFill>
                <a:latin typeface="Cambria"/>
              </a:rPr>
              <a:t>Four reasons one database cannot serve both purposes</a:t>
            </a:r>
          </a:p>
        </p:txBody>
      </p:sp>
      <p:sp>
        <p:nvSpPr>
          <p:cNvPr id="5" name="Rounded Rectangle 4"/>
          <p:cNvSpPr/>
          <p:nvPr/>
        </p:nvSpPr>
        <p:spPr>
          <a:xfrm>
            <a:off x="548640" y="1316736"/>
            <a:ext cx="11091672" cy="731520"/>
          </a:xfrm>
          <a:prstGeom prst="roundRect">
            <a:avLst>
              <a:gd name="adj" fmla="val 11249"/>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6" name="Oval 5"/>
          <p:cNvSpPr/>
          <p:nvPr/>
        </p:nvSpPr>
        <p:spPr>
          <a:xfrm>
            <a:off x="713232" y="1426464"/>
            <a:ext cx="347472" cy="347472"/>
          </a:xfrm>
          <a:prstGeom prst="ellipse">
            <a:avLst/>
          </a:prstGeom>
          <a:solidFill>
            <a:srgbClr val="123B47"/>
          </a:solidFill>
          <a:ln>
            <a:noFill/>
          </a:ln>
          <a:effectLst/>
        </p:spPr>
        <p:txBody>
          <a:bodyPr rtlCol="0" anchor="ctr" wrap="none" lIns="0" rIns="0" tIns="0" bIns="0"/>
          <a:lstStyle/>
          <a:p>
            <a:pPr algn="ctr"/>
            <a:r>
              <a:rPr sz="1150" b="1">
                <a:solidFill>
                  <a:srgbClr val="FFFFFF"/>
                </a:solidFill>
                <a:latin typeface="Calibri"/>
              </a:rPr>
              <a:t>1</a:t>
            </a:r>
          </a:p>
        </p:txBody>
      </p:sp>
      <p:sp>
        <p:nvSpPr>
          <p:cNvPr id="7" name="TextBox 6"/>
          <p:cNvSpPr txBox="1"/>
          <p:nvPr/>
        </p:nvSpPr>
        <p:spPr>
          <a:xfrm>
            <a:off x="1170432" y="1353312"/>
            <a:ext cx="10259568" cy="658368"/>
          </a:xfrm>
          <a:prstGeom prst="rect">
            <a:avLst/>
          </a:prstGeom>
          <a:noFill/>
        </p:spPr>
        <p:txBody>
          <a:bodyPr wrap="square" lIns="0" rIns="0" tIns="0" bIns="0" anchor="ctr">
            <a:spAutoFit/>
          </a:bodyPr>
          <a:lstStyle/>
          <a:p>
            <a:pPr marL="0" indent="0">
              <a:spcAft>
                <a:spcPts val="100"/>
              </a:spcAft>
              <a:buNone/>
            </a:pPr>
            <a:r>
              <a:rPr sz="1240" b="1" i="0">
                <a:solidFill>
                  <a:srgbClr val="123B47"/>
                </a:solidFill>
                <a:latin typeface="Calibri"/>
              </a:rPr>
              <a:t>Opposite physical design</a:t>
            </a:r>
          </a:p>
          <a:p>
            <a:pPr marL="0" indent="0">
              <a:lnSpc>
                <a:spcPct val="114000"/>
              </a:lnSpc>
              <a:buNone/>
            </a:pPr>
            <a:r>
              <a:rPr sz="1040" b="0" i="0">
                <a:solidFill>
                  <a:srgbClr val="2E3F47"/>
                </a:solidFill>
                <a:latin typeface="Calibri"/>
              </a:rPr>
              <a:t>Transactions need row storage, many indexes and small reads; analysis needs columnar storage, few indexes and enormous scans. An index that accelerates the report slows every insert that pays for the system.</a:t>
            </a:r>
          </a:p>
        </p:txBody>
      </p:sp>
      <p:sp>
        <p:nvSpPr>
          <p:cNvPr id="8" name="Rounded Rectangle 7"/>
          <p:cNvSpPr/>
          <p:nvPr/>
        </p:nvSpPr>
        <p:spPr>
          <a:xfrm>
            <a:off x="548640" y="2121408"/>
            <a:ext cx="11091672" cy="731520"/>
          </a:xfrm>
          <a:prstGeom prst="roundRect">
            <a:avLst>
              <a:gd name="adj" fmla="val 11249"/>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9" name="Oval 8"/>
          <p:cNvSpPr/>
          <p:nvPr/>
        </p:nvSpPr>
        <p:spPr>
          <a:xfrm>
            <a:off x="713232" y="2231136"/>
            <a:ext cx="347472" cy="347472"/>
          </a:xfrm>
          <a:prstGeom prst="ellipse">
            <a:avLst/>
          </a:prstGeom>
          <a:solidFill>
            <a:srgbClr val="123B47"/>
          </a:solidFill>
          <a:ln>
            <a:noFill/>
          </a:ln>
          <a:effectLst/>
        </p:spPr>
        <p:txBody>
          <a:bodyPr rtlCol="0" anchor="ctr" wrap="none" lIns="0" rIns="0" tIns="0" bIns="0"/>
          <a:lstStyle/>
          <a:p>
            <a:pPr algn="ctr"/>
            <a:r>
              <a:rPr sz="1150" b="1">
                <a:solidFill>
                  <a:srgbClr val="FFFFFF"/>
                </a:solidFill>
                <a:latin typeface="Calibri"/>
              </a:rPr>
              <a:t>2</a:t>
            </a:r>
          </a:p>
        </p:txBody>
      </p:sp>
      <p:sp>
        <p:nvSpPr>
          <p:cNvPr id="10" name="TextBox 9"/>
          <p:cNvSpPr txBox="1"/>
          <p:nvPr/>
        </p:nvSpPr>
        <p:spPr>
          <a:xfrm>
            <a:off x="1170432" y="2157984"/>
            <a:ext cx="10259568" cy="658368"/>
          </a:xfrm>
          <a:prstGeom prst="rect">
            <a:avLst/>
          </a:prstGeom>
          <a:noFill/>
        </p:spPr>
        <p:txBody>
          <a:bodyPr wrap="square" lIns="0" rIns="0" tIns="0" bIns="0" anchor="ctr">
            <a:spAutoFit/>
          </a:bodyPr>
          <a:lstStyle/>
          <a:p>
            <a:pPr marL="0" indent="0">
              <a:spcAft>
                <a:spcPts val="100"/>
              </a:spcAft>
              <a:buNone/>
            </a:pPr>
            <a:r>
              <a:rPr sz="1240" b="1" i="0">
                <a:solidFill>
                  <a:srgbClr val="123B47"/>
                </a:solidFill>
                <a:latin typeface="Calibri"/>
              </a:rPr>
              <a:t>Opposite treatment of history</a:t>
            </a:r>
          </a:p>
          <a:p>
            <a:pPr marL="0" indent="0">
              <a:lnSpc>
                <a:spcPct val="114000"/>
              </a:lnSpc>
              <a:buNone/>
            </a:pPr>
            <a:r>
              <a:rPr sz="1040" b="0" i="0">
                <a:solidFill>
                  <a:srgbClr val="2E3F47"/>
                </a:solidFill>
                <a:latin typeface="Calibri"/>
              </a:rPr>
              <a:t>An operational system overwrites: the customer's address is the current address. Analysis needs the address as it was when the order was placed. The first design destroys the information the second requires.</a:t>
            </a:r>
          </a:p>
        </p:txBody>
      </p:sp>
      <p:sp>
        <p:nvSpPr>
          <p:cNvPr id="11" name="Rounded Rectangle 10"/>
          <p:cNvSpPr/>
          <p:nvPr/>
        </p:nvSpPr>
        <p:spPr>
          <a:xfrm>
            <a:off x="548640" y="2926079"/>
            <a:ext cx="11091672" cy="731520"/>
          </a:xfrm>
          <a:prstGeom prst="roundRect">
            <a:avLst>
              <a:gd name="adj" fmla="val 11249"/>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12" name="Oval 11"/>
          <p:cNvSpPr/>
          <p:nvPr/>
        </p:nvSpPr>
        <p:spPr>
          <a:xfrm>
            <a:off x="713232" y="3035808"/>
            <a:ext cx="347472" cy="347472"/>
          </a:xfrm>
          <a:prstGeom prst="ellipse">
            <a:avLst/>
          </a:prstGeom>
          <a:solidFill>
            <a:srgbClr val="123B47"/>
          </a:solidFill>
          <a:ln>
            <a:noFill/>
          </a:ln>
          <a:effectLst/>
        </p:spPr>
        <p:txBody>
          <a:bodyPr rtlCol="0" anchor="ctr" wrap="none" lIns="0" rIns="0" tIns="0" bIns="0"/>
          <a:lstStyle/>
          <a:p>
            <a:pPr algn="ctr"/>
            <a:r>
              <a:rPr sz="1150" b="1">
                <a:solidFill>
                  <a:srgbClr val="FFFFFF"/>
                </a:solidFill>
                <a:latin typeface="Calibri"/>
              </a:rPr>
              <a:t>3</a:t>
            </a:r>
          </a:p>
        </p:txBody>
      </p:sp>
      <p:sp>
        <p:nvSpPr>
          <p:cNvPr id="13" name="TextBox 12"/>
          <p:cNvSpPr txBox="1"/>
          <p:nvPr/>
        </p:nvSpPr>
        <p:spPr>
          <a:xfrm>
            <a:off x="1170432" y="2962656"/>
            <a:ext cx="10259568" cy="658368"/>
          </a:xfrm>
          <a:prstGeom prst="rect">
            <a:avLst/>
          </a:prstGeom>
          <a:noFill/>
        </p:spPr>
        <p:txBody>
          <a:bodyPr wrap="square" lIns="0" rIns="0" tIns="0" bIns="0" anchor="ctr">
            <a:spAutoFit/>
          </a:bodyPr>
          <a:lstStyle/>
          <a:p>
            <a:pPr marL="0" indent="0">
              <a:spcAft>
                <a:spcPts val="100"/>
              </a:spcAft>
              <a:buNone/>
            </a:pPr>
            <a:r>
              <a:rPr sz="1240" b="1" i="0">
                <a:solidFill>
                  <a:srgbClr val="123B47"/>
                </a:solidFill>
                <a:latin typeface="Calibri"/>
              </a:rPr>
              <a:t>Opposite treatment of redundancy</a:t>
            </a:r>
          </a:p>
          <a:p>
            <a:pPr marL="0" indent="0">
              <a:lnSpc>
                <a:spcPct val="114000"/>
              </a:lnSpc>
              <a:buNone/>
            </a:pPr>
            <a:r>
              <a:rPr sz="1040" b="0" i="0">
                <a:solidFill>
                  <a:srgbClr val="2E3F47"/>
                </a:solidFill>
                <a:latin typeface="Calibri"/>
              </a:rPr>
              <a:t>Normalisation eliminates duplication so that updates are safe. Analysis reintroduces duplication deliberately so that reads avoid joins. Neither is wrong; they cannot coexist in one schema.</a:t>
            </a:r>
          </a:p>
        </p:txBody>
      </p:sp>
      <p:sp>
        <p:nvSpPr>
          <p:cNvPr id="14" name="Rounded Rectangle 13"/>
          <p:cNvSpPr/>
          <p:nvPr/>
        </p:nvSpPr>
        <p:spPr>
          <a:xfrm>
            <a:off x="548640" y="3730752"/>
            <a:ext cx="11091672" cy="731520"/>
          </a:xfrm>
          <a:prstGeom prst="roundRect">
            <a:avLst>
              <a:gd name="adj" fmla="val 11249"/>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15" name="Oval 14"/>
          <p:cNvSpPr/>
          <p:nvPr/>
        </p:nvSpPr>
        <p:spPr>
          <a:xfrm>
            <a:off x="713232" y="3840480"/>
            <a:ext cx="347472" cy="347472"/>
          </a:xfrm>
          <a:prstGeom prst="ellipse">
            <a:avLst/>
          </a:prstGeom>
          <a:solidFill>
            <a:srgbClr val="123B47"/>
          </a:solidFill>
          <a:ln>
            <a:noFill/>
          </a:ln>
          <a:effectLst/>
        </p:spPr>
        <p:txBody>
          <a:bodyPr rtlCol="0" anchor="ctr" wrap="none" lIns="0" rIns="0" tIns="0" bIns="0"/>
          <a:lstStyle/>
          <a:p>
            <a:pPr algn="ctr"/>
            <a:r>
              <a:rPr sz="1150" b="1">
                <a:solidFill>
                  <a:srgbClr val="FFFFFF"/>
                </a:solidFill>
                <a:latin typeface="Calibri"/>
              </a:rPr>
              <a:t>4</a:t>
            </a:r>
          </a:p>
        </p:txBody>
      </p:sp>
      <p:sp>
        <p:nvSpPr>
          <p:cNvPr id="16" name="TextBox 15"/>
          <p:cNvSpPr txBox="1"/>
          <p:nvPr/>
        </p:nvSpPr>
        <p:spPr>
          <a:xfrm>
            <a:off x="1170432" y="3767328"/>
            <a:ext cx="10259568" cy="658368"/>
          </a:xfrm>
          <a:prstGeom prst="rect">
            <a:avLst/>
          </a:prstGeom>
          <a:noFill/>
        </p:spPr>
        <p:txBody>
          <a:bodyPr wrap="square" lIns="0" rIns="0" tIns="0" bIns="0" anchor="ctr">
            <a:spAutoFit/>
          </a:bodyPr>
          <a:lstStyle/>
          <a:p>
            <a:pPr marL="0" indent="0">
              <a:spcAft>
                <a:spcPts val="100"/>
              </a:spcAft>
              <a:buNone/>
            </a:pPr>
            <a:r>
              <a:rPr sz="1240" b="1" i="0">
                <a:solidFill>
                  <a:srgbClr val="123B47"/>
                </a:solidFill>
                <a:latin typeface="Calibri"/>
              </a:rPr>
              <a:t>Opposite scope</a:t>
            </a:r>
          </a:p>
          <a:p>
            <a:pPr marL="0" indent="0">
              <a:lnSpc>
                <a:spcPct val="114000"/>
              </a:lnSpc>
              <a:buNone/>
            </a:pPr>
            <a:r>
              <a:rPr sz="1040" b="0" i="0">
                <a:solidFill>
                  <a:srgbClr val="2E3F47"/>
                </a:solidFill>
                <a:latin typeface="Calibri"/>
              </a:rPr>
              <a:t>The operational database holds one function's data — sales, or payroll, or inventory. Almost every interesting business question crosses those boundaries, and no single operational system contains the answer.</a:t>
            </a:r>
          </a:p>
        </p:txBody>
      </p:sp>
      <p:sp>
        <p:nvSpPr>
          <p:cNvPr id="17" name="Rounded Rectangle 16"/>
          <p:cNvSpPr/>
          <p:nvPr/>
        </p:nvSpPr>
        <p:spPr>
          <a:xfrm>
            <a:off x="548640" y="4572000"/>
            <a:ext cx="11091672" cy="786384"/>
          </a:xfrm>
          <a:prstGeom prst="roundRect">
            <a:avLst>
              <a:gd name="adj" fmla="val 10465"/>
            </a:avLst>
          </a:prstGeom>
          <a:solidFill>
            <a:srgbClr val="123B47"/>
          </a:solidFill>
          <a:ln>
            <a:noFill/>
          </a:ln>
          <a:effectLst>
            <a:outerShdw blurRad="76200" dist="12700" dir="5400000" algn="bl" rotWithShape="0">
              <a:srgbClr val="9FB3B0">
                <a:alpha val="28000"/>
              </a:srgbClr>
            </a:outerShdw>
          </a:effectLst>
        </p:spPr>
        <p:txBody>
          <a:bodyPr rtlCol="0" anchor="ctr"/>
          <a:lstStyle/>
          <a:p/>
        </p:txBody>
      </p:sp>
      <p:sp>
        <p:nvSpPr>
          <p:cNvPr id="18" name="TextBox 17"/>
          <p:cNvSpPr txBox="1"/>
          <p:nvPr/>
        </p:nvSpPr>
        <p:spPr>
          <a:xfrm>
            <a:off x="768096" y="4645152"/>
            <a:ext cx="10652760" cy="640080"/>
          </a:xfrm>
          <a:prstGeom prst="rect">
            <a:avLst/>
          </a:prstGeom>
          <a:noFill/>
        </p:spPr>
        <p:txBody>
          <a:bodyPr wrap="square" lIns="0" rIns="0" tIns="0" bIns="0" anchor="ctr">
            <a:spAutoFit/>
          </a:bodyPr>
          <a:lstStyle/>
          <a:p>
            <a:pPr marL="0" indent="0">
              <a:lnSpc>
                <a:spcPct val="124000"/>
              </a:lnSpc>
              <a:buNone/>
            </a:pPr>
            <a:r>
              <a:rPr sz="1100" b="1" i="0">
                <a:solidFill>
                  <a:srgbClr val="FFFFFF"/>
                </a:solidFill>
                <a:latin typeface="Calibri"/>
              </a:rPr>
              <a:t>The observation that founded the discipline.</a:t>
            </a:r>
            <a:r>
              <a:rPr sz="1100" b="1" i="0">
                <a:solidFill>
                  <a:srgbClr val="FFFFFF"/>
                </a:solidFill>
                <a:latin typeface="Calibri"/>
              </a:rPr>
              <a:t>  Bill Inmon's argument in the late 1980s was not that operational databases were inadequate but that they were being asked the wrong questions. His remedy — copy the data into a separate, integrated, historical, read-only store organised by business subject rather than by application — is the definition of a data warehouse and has survived four decades of technology change essentially unaltered.</a:t>
            </a:r>
          </a:p>
        </p:txBody>
      </p:sp>
      <p:sp>
        <p:nvSpPr>
          <p:cNvPr id="19" name="Rounded Rectangle 18"/>
          <p:cNvSpPr/>
          <p:nvPr/>
        </p:nvSpPr>
        <p:spPr>
          <a:xfrm>
            <a:off x="548640" y="5431536"/>
            <a:ext cx="11091672" cy="475488"/>
          </a:xfrm>
          <a:prstGeom prst="roundRect">
            <a:avLst>
              <a:gd name="adj" fmla="val 17307"/>
            </a:avLst>
          </a:prstGeom>
          <a:solidFill>
            <a:srgbClr val="FBEBD1"/>
          </a:solidFill>
          <a:ln w="12700">
            <a:solidFill>
              <a:srgbClr val="EFD9AE"/>
            </a:solidFill>
          </a:ln>
          <a:effectLst/>
        </p:spPr>
        <p:txBody>
          <a:bodyPr rtlCol="0" anchor="ctr"/>
          <a:lstStyle/>
          <a:p/>
        </p:txBody>
      </p:sp>
      <p:sp>
        <p:nvSpPr>
          <p:cNvPr id="20" name="TextBox 19"/>
          <p:cNvSpPr txBox="1"/>
          <p:nvPr/>
        </p:nvSpPr>
        <p:spPr>
          <a:xfrm>
            <a:off x="768096" y="5486399"/>
            <a:ext cx="10652760" cy="365760"/>
          </a:xfrm>
          <a:prstGeom prst="rect">
            <a:avLst/>
          </a:prstGeom>
          <a:noFill/>
        </p:spPr>
        <p:txBody>
          <a:bodyPr wrap="square" lIns="0" rIns="0" tIns="0" bIns="0" anchor="ctr">
            <a:spAutoFit/>
          </a:bodyPr>
          <a:lstStyle/>
          <a:p>
            <a:pPr marL="0" indent="0">
              <a:lnSpc>
                <a:spcPct val="124000"/>
              </a:lnSpc>
              <a:buNone/>
            </a:pPr>
            <a:r>
              <a:rPr sz="950" b="1" i="0">
                <a:solidFill>
                  <a:srgbClr val="6A4A0F"/>
                </a:solidFill>
                <a:latin typeface="Calibri"/>
              </a:rPr>
              <a:t>The test to apply in any organisation.</a:t>
            </a:r>
            <a:r>
              <a:rPr sz="950" b="1" i="0">
                <a:solidFill>
                  <a:srgbClr val="6A4A0F"/>
                </a:solidFill>
                <a:latin typeface="Calibri"/>
              </a:rPr>
              <a:t>  Ask where last year's version of a customer's territory assignment is held. If the answer is “it was overwritten”, the organisation has no analytical store, whatever it calls the server the reports run on.</a:t>
            </a:r>
          </a:p>
        </p:txBody>
      </p:sp>
      <p:sp>
        <p:nvSpPr>
          <p:cNvPr id="21" name="TextBox 20"/>
          <p:cNvSpPr txBox="1"/>
          <p:nvPr/>
        </p:nvSpPr>
        <p:spPr>
          <a:xfrm>
            <a:off x="548640" y="6382512"/>
            <a:ext cx="8686800" cy="256032"/>
          </a:xfrm>
          <a:prstGeom prst="rect">
            <a:avLst/>
          </a:prstGeom>
          <a:noFill/>
        </p:spPr>
        <p:txBody>
          <a:bodyPr wrap="square" lIns="0" rIns="0" tIns="0" bIns="0" anchor="t">
            <a:spAutoFit/>
          </a:bodyPr>
          <a:lstStyle/>
          <a:p>
            <a:pPr algn="l" marL="0" indent="0">
              <a:buNone/>
            </a:pPr>
            <a:r>
              <a:rPr sz="900" b="0" i="0">
                <a:solidFill>
                  <a:srgbClr val="5C7079"/>
                </a:solidFill>
                <a:latin typeface="Calibri"/>
              </a:rPr>
              <a:t>Business Intelligence  |  Session 6 — Data Warehousing &amp; OLTP/OLAP  |  IILM Jaipur, MBA</a:t>
            </a:r>
          </a:p>
        </p:txBody>
      </p:sp>
      <p:sp>
        <p:nvSpPr>
          <p:cNvPr id="22" name="TextBox 21"/>
          <p:cNvSpPr txBox="1"/>
          <p:nvPr/>
        </p:nvSpPr>
        <p:spPr>
          <a:xfrm>
            <a:off x="10543032" y="6382512"/>
            <a:ext cx="1097280" cy="256032"/>
          </a:xfrm>
          <a:prstGeom prst="rect">
            <a:avLst/>
          </a:prstGeom>
          <a:noFill/>
        </p:spPr>
        <p:txBody>
          <a:bodyPr wrap="square" lIns="0" rIns="0" tIns="0" bIns="0" anchor="t">
            <a:spAutoFit/>
          </a:bodyPr>
          <a:lstStyle/>
          <a:p>
            <a:pPr algn="r" marL="0" indent="0">
              <a:buNone/>
            </a:pPr>
            <a:r>
              <a:rPr sz="950" b="1" i="0">
                <a:solidFill>
                  <a:srgbClr val="1B7F79"/>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374904"/>
            <a:ext cx="109728" cy="109728"/>
          </a:xfrm>
          <a:prstGeom prst="ellipse">
            <a:avLst/>
          </a:prstGeom>
          <a:solidFill>
            <a:srgbClr val="E8A33D"/>
          </a:solidFill>
          <a:ln>
            <a:noFill/>
          </a:ln>
          <a:effectLst/>
        </p:spPr>
        <p:txBody>
          <a:bodyPr rtlCol="0" anchor="ctr" wrap="none" lIns="0" rIns="0" tIns="0" bIns="0"/>
          <a:lstStyle/>
          <a:p>
            <a:pPr algn="ctr"/>
          </a:p>
        </p:txBody>
      </p:sp>
      <p:sp>
        <p:nvSpPr>
          <p:cNvPr id="3" name="TextBox 2"/>
          <p:cNvSpPr txBox="1"/>
          <p:nvPr/>
        </p:nvSpPr>
        <p:spPr>
          <a:xfrm>
            <a:off x="749808" y="283464"/>
            <a:ext cx="10890504" cy="256032"/>
          </a:xfrm>
          <a:prstGeom prst="rect">
            <a:avLst/>
          </a:prstGeom>
          <a:noFill/>
        </p:spPr>
        <p:txBody>
          <a:bodyPr wrap="square" lIns="0" rIns="0" tIns="0" bIns="0" anchor="t">
            <a:spAutoFit/>
          </a:bodyPr>
          <a:lstStyle/>
          <a:p>
            <a:pPr marL="0" indent="0">
              <a:buNone/>
            </a:pPr>
            <a:r>
              <a:rPr sz="1000" b="1" i="0">
                <a:solidFill>
                  <a:srgbClr val="B87A1E"/>
                </a:solidFill>
                <a:latin typeface="Calibri"/>
              </a:rPr>
              <a:t>PART 1 · ORIGINS</a:t>
            </a:r>
          </a:p>
        </p:txBody>
      </p:sp>
      <p:sp>
        <p:nvSpPr>
          <p:cNvPr id="4" name="TextBox 3"/>
          <p:cNvSpPr txBox="1"/>
          <p:nvPr/>
        </p:nvSpPr>
        <p:spPr>
          <a:xfrm>
            <a:off x="548640" y="548640"/>
            <a:ext cx="11091672" cy="640080"/>
          </a:xfrm>
          <a:prstGeom prst="rect">
            <a:avLst/>
          </a:prstGeom>
          <a:noFill/>
        </p:spPr>
        <p:txBody>
          <a:bodyPr wrap="square" lIns="0" rIns="0" tIns="0" bIns="0" anchor="t">
            <a:spAutoFit/>
          </a:bodyPr>
          <a:lstStyle/>
          <a:p>
            <a:pPr algn="l" marL="0" indent="0">
              <a:buNone/>
            </a:pPr>
            <a:r>
              <a:rPr sz="2700" b="1" i="0">
                <a:solidFill>
                  <a:srgbClr val="123B47"/>
                </a:solidFill>
                <a:latin typeface="Cambria"/>
              </a:rPr>
              <a:t>How the data warehouse became a distinct discipline</a:t>
            </a:r>
          </a:p>
        </p:txBody>
      </p:sp>
      <p:sp>
        <p:nvSpPr>
          <p:cNvPr id="5" name="Rounded Rectangle 4"/>
          <p:cNvSpPr/>
          <p:nvPr/>
        </p:nvSpPr>
        <p:spPr>
          <a:xfrm>
            <a:off x="548640" y="1316736"/>
            <a:ext cx="11091672" cy="658368"/>
          </a:xfrm>
          <a:prstGeom prst="roundRect">
            <a:avLst>
              <a:gd name="adj" fmla="val 12500"/>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6" name="Oval 5"/>
          <p:cNvSpPr/>
          <p:nvPr/>
        </p:nvSpPr>
        <p:spPr>
          <a:xfrm>
            <a:off x="713232" y="1426464"/>
            <a:ext cx="347472" cy="347472"/>
          </a:xfrm>
          <a:prstGeom prst="ellipse">
            <a:avLst/>
          </a:prstGeom>
          <a:solidFill>
            <a:srgbClr val="123B47"/>
          </a:solidFill>
          <a:ln>
            <a:noFill/>
          </a:ln>
          <a:effectLst/>
        </p:spPr>
        <p:txBody>
          <a:bodyPr rtlCol="0" anchor="ctr" wrap="none" lIns="0" rIns="0" tIns="0" bIns="0"/>
          <a:lstStyle/>
          <a:p>
            <a:pPr algn="ctr"/>
            <a:r>
              <a:rPr sz="1150" b="1">
                <a:solidFill>
                  <a:srgbClr val="FFFFFF"/>
                </a:solidFill>
                <a:latin typeface="Calibri"/>
              </a:rPr>
              <a:t>1</a:t>
            </a:r>
          </a:p>
        </p:txBody>
      </p:sp>
      <p:sp>
        <p:nvSpPr>
          <p:cNvPr id="7" name="TextBox 6"/>
          <p:cNvSpPr txBox="1"/>
          <p:nvPr/>
        </p:nvSpPr>
        <p:spPr>
          <a:xfrm>
            <a:off x="1170432" y="1353312"/>
            <a:ext cx="10259568" cy="585216"/>
          </a:xfrm>
          <a:prstGeom prst="rect">
            <a:avLst/>
          </a:prstGeom>
          <a:noFill/>
        </p:spPr>
        <p:txBody>
          <a:bodyPr wrap="square" lIns="0" rIns="0" tIns="0" bIns="0" anchor="ctr">
            <a:spAutoFit/>
          </a:bodyPr>
          <a:lstStyle/>
          <a:p>
            <a:pPr marL="0" indent="0">
              <a:spcAft>
                <a:spcPts val="100"/>
              </a:spcAft>
              <a:buNone/>
            </a:pPr>
            <a:r>
              <a:rPr sz="1240" b="1" i="0">
                <a:solidFill>
                  <a:srgbClr val="123B47"/>
                </a:solidFill>
                <a:latin typeface="Calibri"/>
              </a:rPr>
              <a:t>1970s–80s — extract proliferation</a:t>
            </a:r>
          </a:p>
          <a:p>
            <a:pPr marL="0" indent="0">
              <a:lnSpc>
                <a:spcPct val="114000"/>
              </a:lnSpc>
              <a:buNone/>
            </a:pPr>
            <a:r>
              <a:rPr sz="1040" b="0" i="0">
                <a:solidFill>
                  <a:srgbClr val="2E3F47"/>
                </a:solidFill>
                <a:latin typeface="Calibri"/>
              </a:rPr>
              <a:t>Every department writes its own extract from the mainframe. Within a few years the organisation has hundreds of overlapping files, no two of which agree, and nobody can say which is authoritative. Inmon called this the “naturally evolving architecture” and the “spider's web”.</a:t>
            </a:r>
          </a:p>
        </p:txBody>
      </p:sp>
      <p:sp>
        <p:nvSpPr>
          <p:cNvPr id="8" name="Rounded Rectangle 7"/>
          <p:cNvSpPr/>
          <p:nvPr/>
        </p:nvSpPr>
        <p:spPr>
          <a:xfrm>
            <a:off x="548640" y="2048256"/>
            <a:ext cx="11091672" cy="658368"/>
          </a:xfrm>
          <a:prstGeom prst="roundRect">
            <a:avLst>
              <a:gd name="adj" fmla="val 12500"/>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9" name="Oval 8"/>
          <p:cNvSpPr/>
          <p:nvPr/>
        </p:nvSpPr>
        <p:spPr>
          <a:xfrm>
            <a:off x="713232" y="2157984"/>
            <a:ext cx="347472" cy="347472"/>
          </a:xfrm>
          <a:prstGeom prst="ellipse">
            <a:avLst/>
          </a:prstGeom>
          <a:solidFill>
            <a:srgbClr val="123B47"/>
          </a:solidFill>
          <a:ln>
            <a:noFill/>
          </a:ln>
          <a:effectLst/>
        </p:spPr>
        <p:txBody>
          <a:bodyPr rtlCol="0" anchor="ctr" wrap="none" lIns="0" rIns="0" tIns="0" bIns="0"/>
          <a:lstStyle/>
          <a:p>
            <a:pPr algn="ctr"/>
            <a:r>
              <a:rPr sz="1150" b="1">
                <a:solidFill>
                  <a:srgbClr val="FFFFFF"/>
                </a:solidFill>
                <a:latin typeface="Calibri"/>
              </a:rPr>
              <a:t>2</a:t>
            </a:r>
          </a:p>
        </p:txBody>
      </p:sp>
      <p:sp>
        <p:nvSpPr>
          <p:cNvPr id="10" name="TextBox 9"/>
          <p:cNvSpPr txBox="1"/>
          <p:nvPr/>
        </p:nvSpPr>
        <p:spPr>
          <a:xfrm>
            <a:off x="1170432" y="2084832"/>
            <a:ext cx="10259568" cy="585216"/>
          </a:xfrm>
          <a:prstGeom prst="rect">
            <a:avLst/>
          </a:prstGeom>
          <a:noFill/>
        </p:spPr>
        <p:txBody>
          <a:bodyPr wrap="square" lIns="0" rIns="0" tIns="0" bIns="0" anchor="ctr">
            <a:spAutoFit/>
          </a:bodyPr>
          <a:lstStyle/>
          <a:p>
            <a:pPr marL="0" indent="0">
              <a:spcAft>
                <a:spcPts val="100"/>
              </a:spcAft>
              <a:buNone/>
            </a:pPr>
            <a:r>
              <a:rPr sz="1240" b="1" i="0">
                <a:solidFill>
                  <a:srgbClr val="123B47"/>
                </a:solidFill>
                <a:latin typeface="Calibri"/>
              </a:rPr>
              <a:t>1988 — the architected information warehouse</a:t>
            </a:r>
          </a:p>
          <a:p>
            <a:pPr marL="0" indent="0">
              <a:lnSpc>
                <a:spcPct val="114000"/>
              </a:lnSpc>
              <a:buNone/>
            </a:pPr>
            <a:r>
              <a:rPr sz="1040" b="0" i="0">
                <a:solidFill>
                  <a:srgbClr val="2E3F47"/>
                </a:solidFill>
                <a:latin typeface="Calibri"/>
              </a:rPr>
              <a:t>Devlin and Murphy, at IBM Ireland, publish the first formal description of an integrated business data warehouse, arguing for a single reconciled store between the operational systems and the reports.</a:t>
            </a:r>
          </a:p>
        </p:txBody>
      </p:sp>
      <p:sp>
        <p:nvSpPr>
          <p:cNvPr id="11" name="Rounded Rectangle 10"/>
          <p:cNvSpPr/>
          <p:nvPr/>
        </p:nvSpPr>
        <p:spPr>
          <a:xfrm>
            <a:off x="548640" y="2779776"/>
            <a:ext cx="11091672" cy="658368"/>
          </a:xfrm>
          <a:prstGeom prst="roundRect">
            <a:avLst>
              <a:gd name="adj" fmla="val 12500"/>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12" name="Oval 11"/>
          <p:cNvSpPr/>
          <p:nvPr/>
        </p:nvSpPr>
        <p:spPr>
          <a:xfrm>
            <a:off x="713232" y="2889504"/>
            <a:ext cx="347472" cy="347472"/>
          </a:xfrm>
          <a:prstGeom prst="ellipse">
            <a:avLst/>
          </a:prstGeom>
          <a:solidFill>
            <a:srgbClr val="123B47"/>
          </a:solidFill>
          <a:ln>
            <a:noFill/>
          </a:ln>
          <a:effectLst/>
        </p:spPr>
        <p:txBody>
          <a:bodyPr rtlCol="0" anchor="ctr" wrap="none" lIns="0" rIns="0" tIns="0" bIns="0"/>
          <a:lstStyle/>
          <a:p>
            <a:pPr algn="ctr"/>
            <a:r>
              <a:rPr sz="1150" b="1">
                <a:solidFill>
                  <a:srgbClr val="FFFFFF"/>
                </a:solidFill>
                <a:latin typeface="Calibri"/>
              </a:rPr>
              <a:t>3</a:t>
            </a:r>
          </a:p>
        </p:txBody>
      </p:sp>
      <p:sp>
        <p:nvSpPr>
          <p:cNvPr id="13" name="TextBox 12"/>
          <p:cNvSpPr txBox="1"/>
          <p:nvPr/>
        </p:nvSpPr>
        <p:spPr>
          <a:xfrm>
            <a:off x="1170432" y="2816352"/>
            <a:ext cx="10259568" cy="585216"/>
          </a:xfrm>
          <a:prstGeom prst="rect">
            <a:avLst/>
          </a:prstGeom>
          <a:noFill/>
        </p:spPr>
        <p:txBody>
          <a:bodyPr wrap="square" lIns="0" rIns="0" tIns="0" bIns="0" anchor="ctr">
            <a:spAutoFit/>
          </a:bodyPr>
          <a:lstStyle/>
          <a:p>
            <a:pPr marL="0" indent="0">
              <a:spcAft>
                <a:spcPts val="100"/>
              </a:spcAft>
              <a:buNone/>
            </a:pPr>
            <a:r>
              <a:rPr sz="1240" b="1" i="0">
                <a:solidFill>
                  <a:srgbClr val="123B47"/>
                </a:solidFill>
                <a:latin typeface="Calibri"/>
              </a:rPr>
              <a:t>1992 — Inmon's Building the Data Warehouse</a:t>
            </a:r>
          </a:p>
          <a:p>
            <a:pPr marL="0" indent="0">
              <a:lnSpc>
                <a:spcPct val="114000"/>
              </a:lnSpc>
              <a:buNone/>
            </a:pPr>
            <a:r>
              <a:rPr sz="1040" b="0" i="0">
                <a:solidFill>
                  <a:srgbClr val="2E3F47"/>
                </a:solidFill>
                <a:latin typeface="Calibri"/>
              </a:rPr>
              <a:t>The four defining properties — subject-oriented, integrated, time-variant, non-volatile — and the Corporate Information Factory: an enterprise-wide normalised warehouse from which dependent marts are derived.</a:t>
            </a:r>
          </a:p>
        </p:txBody>
      </p:sp>
      <p:sp>
        <p:nvSpPr>
          <p:cNvPr id="14" name="Rounded Rectangle 13"/>
          <p:cNvSpPr/>
          <p:nvPr/>
        </p:nvSpPr>
        <p:spPr>
          <a:xfrm>
            <a:off x="548640" y="3511296"/>
            <a:ext cx="11091672" cy="658368"/>
          </a:xfrm>
          <a:prstGeom prst="roundRect">
            <a:avLst>
              <a:gd name="adj" fmla="val 12500"/>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15" name="Oval 14"/>
          <p:cNvSpPr/>
          <p:nvPr/>
        </p:nvSpPr>
        <p:spPr>
          <a:xfrm>
            <a:off x="713232" y="3621024"/>
            <a:ext cx="347472" cy="347472"/>
          </a:xfrm>
          <a:prstGeom prst="ellipse">
            <a:avLst/>
          </a:prstGeom>
          <a:solidFill>
            <a:srgbClr val="123B47"/>
          </a:solidFill>
          <a:ln>
            <a:noFill/>
          </a:ln>
          <a:effectLst/>
        </p:spPr>
        <p:txBody>
          <a:bodyPr rtlCol="0" anchor="ctr" wrap="none" lIns="0" rIns="0" tIns="0" bIns="0"/>
          <a:lstStyle/>
          <a:p>
            <a:pPr algn="ctr"/>
            <a:r>
              <a:rPr sz="1150" b="1">
                <a:solidFill>
                  <a:srgbClr val="FFFFFF"/>
                </a:solidFill>
                <a:latin typeface="Calibri"/>
              </a:rPr>
              <a:t>4</a:t>
            </a:r>
          </a:p>
        </p:txBody>
      </p:sp>
      <p:sp>
        <p:nvSpPr>
          <p:cNvPr id="16" name="TextBox 15"/>
          <p:cNvSpPr txBox="1"/>
          <p:nvPr/>
        </p:nvSpPr>
        <p:spPr>
          <a:xfrm>
            <a:off x="1170432" y="3547872"/>
            <a:ext cx="10259568" cy="585216"/>
          </a:xfrm>
          <a:prstGeom prst="rect">
            <a:avLst/>
          </a:prstGeom>
          <a:noFill/>
        </p:spPr>
        <p:txBody>
          <a:bodyPr wrap="square" lIns="0" rIns="0" tIns="0" bIns="0" anchor="ctr">
            <a:spAutoFit/>
          </a:bodyPr>
          <a:lstStyle/>
          <a:p>
            <a:pPr marL="0" indent="0">
              <a:spcAft>
                <a:spcPts val="100"/>
              </a:spcAft>
              <a:buNone/>
            </a:pPr>
            <a:r>
              <a:rPr sz="1240" b="1" i="0">
                <a:solidFill>
                  <a:srgbClr val="123B47"/>
                </a:solidFill>
                <a:latin typeface="Calibri"/>
              </a:rPr>
              <a:t>1993 — Codd names OLAP</a:t>
            </a:r>
          </a:p>
          <a:p>
            <a:pPr marL="0" indent="0">
              <a:lnSpc>
                <a:spcPct val="114000"/>
              </a:lnSpc>
              <a:buNone/>
            </a:pPr>
            <a:r>
              <a:rPr sz="1040" b="0" i="0">
                <a:solidFill>
                  <a:srgbClr val="2E3F47"/>
                </a:solidFill>
                <a:latin typeface="Calibri"/>
              </a:rPr>
              <a:t>E. F. Codd, with Codd and Salley, publishes twelve rules for online analytical processing, giving the multidimensional query workload a name and separating it explicitly from transaction processing.</a:t>
            </a:r>
          </a:p>
        </p:txBody>
      </p:sp>
      <p:sp>
        <p:nvSpPr>
          <p:cNvPr id="17" name="Rounded Rectangle 16"/>
          <p:cNvSpPr/>
          <p:nvPr/>
        </p:nvSpPr>
        <p:spPr>
          <a:xfrm>
            <a:off x="548640" y="4242816"/>
            <a:ext cx="11091672" cy="658368"/>
          </a:xfrm>
          <a:prstGeom prst="roundRect">
            <a:avLst>
              <a:gd name="adj" fmla="val 12500"/>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18" name="Oval 17"/>
          <p:cNvSpPr/>
          <p:nvPr/>
        </p:nvSpPr>
        <p:spPr>
          <a:xfrm>
            <a:off x="713232" y="4352544"/>
            <a:ext cx="347472" cy="347472"/>
          </a:xfrm>
          <a:prstGeom prst="ellipse">
            <a:avLst/>
          </a:prstGeom>
          <a:solidFill>
            <a:srgbClr val="123B47"/>
          </a:solidFill>
          <a:ln>
            <a:noFill/>
          </a:ln>
          <a:effectLst/>
        </p:spPr>
        <p:txBody>
          <a:bodyPr rtlCol="0" anchor="ctr" wrap="none" lIns="0" rIns="0" tIns="0" bIns="0"/>
          <a:lstStyle/>
          <a:p>
            <a:pPr algn="ctr"/>
            <a:r>
              <a:rPr sz="1150" b="1">
                <a:solidFill>
                  <a:srgbClr val="FFFFFF"/>
                </a:solidFill>
                <a:latin typeface="Calibri"/>
              </a:rPr>
              <a:t>5</a:t>
            </a:r>
          </a:p>
        </p:txBody>
      </p:sp>
      <p:sp>
        <p:nvSpPr>
          <p:cNvPr id="19" name="TextBox 18"/>
          <p:cNvSpPr txBox="1"/>
          <p:nvPr/>
        </p:nvSpPr>
        <p:spPr>
          <a:xfrm>
            <a:off x="1170432" y="4279392"/>
            <a:ext cx="10259568" cy="585216"/>
          </a:xfrm>
          <a:prstGeom prst="rect">
            <a:avLst/>
          </a:prstGeom>
          <a:noFill/>
        </p:spPr>
        <p:txBody>
          <a:bodyPr wrap="square" lIns="0" rIns="0" tIns="0" bIns="0" anchor="ctr">
            <a:spAutoFit/>
          </a:bodyPr>
          <a:lstStyle/>
          <a:p>
            <a:pPr marL="0" indent="0">
              <a:spcAft>
                <a:spcPts val="100"/>
              </a:spcAft>
              <a:buNone/>
            </a:pPr>
            <a:r>
              <a:rPr sz="1240" b="1" i="0">
                <a:solidFill>
                  <a:srgbClr val="123B47"/>
                </a:solidFill>
                <a:latin typeface="Calibri"/>
              </a:rPr>
              <a:t>1996 — Kimball's The Data Warehouse Toolkit</a:t>
            </a:r>
          </a:p>
          <a:p>
            <a:pPr marL="0" indent="0">
              <a:lnSpc>
                <a:spcPct val="114000"/>
              </a:lnSpc>
              <a:buNone/>
            </a:pPr>
            <a:r>
              <a:rPr sz="1040" b="0" i="0">
                <a:solidFill>
                  <a:srgbClr val="2E3F47"/>
                </a:solidFill>
                <a:latin typeface="Calibri"/>
              </a:rPr>
              <a:t>Dimensional modelling, the star schema, conformed dimensions and the bus architecture: build one business process at a time, deliver value in months, and integrate through shared dimensions rather than a single normalised core.</a:t>
            </a:r>
          </a:p>
        </p:txBody>
      </p:sp>
      <p:sp>
        <p:nvSpPr>
          <p:cNvPr id="20" name="Rounded Rectangle 19"/>
          <p:cNvSpPr/>
          <p:nvPr/>
        </p:nvSpPr>
        <p:spPr>
          <a:xfrm>
            <a:off x="548640" y="4974336"/>
            <a:ext cx="11091672" cy="658368"/>
          </a:xfrm>
          <a:prstGeom prst="roundRect">
            <a:avLst>
              <a:gd name="adj" fmla="val 12500"/>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21" name="Oval 20"/>
          <p:cNvSpPr/>
          <p:nvPr/>
        </p:nvSpPr>
        <p:spPr>
          <a:xfrm>
            <a:off x="713232" y="5084064"/>
            <a:ext cx="347472" cy="347472"/>
          </a:xfrm>
          <a:prstGeom prst="ellipse">
            <a:avLst/>
          </a:prstGeom>
          <a:solidFill>
            <a:srgbClr val="123B47"/>
          </a:solidFill>
          <a:ln>
            <a:noFill/>
          </a:ln>
          <a:effectLst/>
        </p:spPr>
        <p:txBody>
          <a:bodyPr rtlCol="0" anchor="ctr" wrap="none" lIns="0" rIns="0" tIns="0" bIns="0"/>
          <a:lstStyle/>
          <a:p>
            <a:pPr algn="ctr"/>
            <a:r>
              <a:rPr sz="1150" b="1">
                <a:solidFill>
                  <a:srgbClr val="FFFFFF"/>
                </a:solidFill>
                <a:latin typeface="Calibri"/>
              </a:rPr>
              <a:t>6</a:t>
            </a:r>
          </a:p>
        </p:txBody>
      </p:sp>
      <p:sp>
        <p:nvSpPr>
          <p:cNvPr id="22" name="TextBox 21"/>
          <p:cNvSpPr txBox="1"/>
          <p:nvPr/>
        </p:nvSpPr>
        <p:spPr>
          <a:xfrm>
            <a:off x="1170432" y="5010912"/>
            <a:ext cx="10259568" cy="585216"/>
          </a:xfrm>
          <a:prstGeom prst="rect">
            <a:avLst/>
          </a:prstGeom>
          <a:noFill/>
        </p:spPr>
        <p:txBody>
          <a:bodyPr wrap="square" lIns="0" rIns="0" tIns="0" bIns="0" anchor="ctr">
            <a:spAutoFit/>
          </a:bodyPr>
          <a:lstStyle/>
          <a:p>
            <a:pPr marL="0" indent="0">
              <a:spcAft>
                <a:spcPts val="100"/>
              </a:spcAft>
              <a:buNone/>
            </a:pPr>
            <a:r>
              <a:rPr sz="1240" b="1" i="0">
                <a:solidFill>
                  <a:srgbClr val="123B47"/>
                </a:solidFill>
                <a:latin typeface="Calibri"/>
              </a:rPr>
              <a:t>2010s onwards — cloud, MPP and the lakehouse</a:t>
            </a:r>
          </a:p>
          <a:p>
            <a:pPr marL="0" indent="0">
              <a:lnSpc>
                <a:spcPct val="114000"/>
              </a:lnSpc>
              <a:buNone/>
            </a:pPr>
            <a:r>
              <a:rPr sz="1040" b="0" i="0">
                <a:solidFill>
                  <a:srgbClr val="2E3F47"/>
                </a:solidFill>
                <a:latin typeface="Calibri"/>
              </a:rPr>
              <a:t>Separation of storage from compute, massively parallel columnar engines and open table formats. The economics changed completely; the four properties did not.</a:t>
            </a:r>
          </a:p>
        </p:txBody>
      </p:sp>
      <p:sp>
        <p:nvSpPr>
          <p:cNvPr id="23" name="Rounded Rectangle 22"/>
          <p:cNvSpPr/>
          <p:nvPr/>
        </p:nvSpPr>
        <p:spPr>
          <a:xfrm>
            <a:off x="548640" y="5724143"/>
            <a:ext cx="11091672" cy="548640"/>
          </a:xfrm>
          <a:prstGeom prst="roundRect">
            <a:avLst>
              <a:gd name="adj" fmla="val 15000"/>
            </a:avLst>
          </a:prstGeom>
          <a:solidFill>
            <a:srgbClr val="D8E9E7"/>
          </a:solidFill>
          <a:ln w="12700">
            <a:solidFill>
              <a:srgbClr val="BBD6D3"/>
            </a:solidFill>
          </a:ln>
          <a:effectLst/>
        </p:spPr>
        <p:txBody>
          <a:bodyPr rtlCol="0" anchor="ctr"/>
          <a:lstStyle/>
          <a:p/>
        </p:txBody>
      </p:sp>
      <p:sp>
        <p:nvSpPr>
          <p:cNvPr id="24" name="TextBox 23"/>
          <p:cNvSpPr txBox="1"/>
          <p:nvPr/>
        </p:nvSpPr>
        <p:spPr>
          <a:xfrm>
            <a:off x="768096" y="5788151"/>
            <a:ext cx="10652760" cy="420623"/>
          </a:xfrm>
          <a:prstGeom prst="rect">
            <a:avLst/>
          </a:prstGeom>
          <a:noFill/>
        </p:spPr>
        <p:txBody>
          <a:bodyPr wrap="square" lIns="0" rIns="0" tIns="0" bIns="0" anchor="ctr">
            <a:spAutoFit/>
          </a:bodyPr>
          <a:lstStyle/>
          <a:p>
            <a:pPr marL="0" indent="0">
              <a:lnSpc>
                <a:spcPct val="124000"/>
              </a:lnSpc>
              <a:buNone/>
            </a:pPr>
            <a:r>
              <a:rPr sz="1080" b="1" i="0">
                <a:solidFill>
                  <a:srgbClr val="17454E"/>
                </a:solidFill>
                <a:latin typeface="Calibri"/>
              </a:rPr>
              <a:t>Examination note.</a:t>
            </a:r>
            <a:r>
              <a:rPr sz="1080" b="1" i="0">
                <a:solidFill>
                  <a:srgbClr val="17454E"/>
                </a:solidFill>
                <a:latin typeface="Calibri"/>
              </a:rPr>
              <a:t>  Attribute the four properties and the Corporate Information Factory to W. H. Inmon; dimensional modelling, the star schema and conformed dimensions to Ralph Kimball; the term and rules of OLAP to E. F. Codd; the Data Vault to Dan Linstedt.</a:t>
            </a:r>
          </a:p>
        </p:txBody>
      </p:sp>
      <p:sp>
        <p:nvSpPr>
          <p:cNvPr id="25" name="TextBox 24"/>
          <p:cNvSpPr txBox="1"/>
          <p:nvPr/>
        </p:nvSpPr>
        <p:spPr>
          <a:xfrm>
            <a:off x="548640" y="6382512"/>
            <a:ext cx="8686800" cy="256032"/>
          </a:xfrm>
          <a:prstGeom prst="rect">
            <a:avLst/>
          </a:prstGeom>
          <a:noFill/>
        </p:spPr>
        <p:txBody>
          <a:bodyPr wrap="square" lIns="0" rIns="0" tIns="0" bIns="0" anchor="t">
            <a:spAutoFit/>
          </a:bodyPr>
          <a:lstStyle/>
          <a:p>
            <a:pPr algn="l" marL="0" indent="0">
              <a:buNone/>
            </a:pPr>
            <a:r>
              <a:rPr sz="900" b="0" i="0">
                <a:solidFill>
                  <a:srgbClr val="5C7079"/>
                </a:solidFill>
                <a:latin typeface="Calibri"/>
              </a:rPr>
              <a:t>Business Intelligence  |  Session 6 — Data Warehousing &amp; OLTP/OLAP  |  IILM Jaipur, MBA</a:t>
            </a:r>
          </a:p>
        </p:txBody>
      </p:sp>
      <p:sp>
        <p:nvSpPr>
          <p:cNvPr id="26" name="TextBox 25"/>
          <p:cNvSpPr txBox="1"/>
          <p:nvPr/>
        </p:nvSpPr>
        <p:spPr>
          <a:xfrm>
            <a:off x="10543032" y="6382512"/>
            <a:ext cx="1097280" cy="256032"/>
          </a:xfrm>
          <a:prstGeom prst="rect">
            <a:avLst/>
          </a:prstGeom>
          <a:noFill/>
        </p:spPr>
        <p:txBody>
          <a:bodyPr wrap="square" lIns="0" rIns="0" tIns="0" bIns="0" anchor="t">
            <a:spAutoFit/>
          </a:bodyPr>
          <a:lstStyle/>
          <a:p>
            <a:pPr algn="r" marL="0" indent="0">
              <a:buNone/>
            </a:pPr>
            <a:r>
              <a:rPr sz="950" b="1" i="0">
                <a:solidFill>
                  <a:srgbClr val="1B7F79"/>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374904"/>
            <a:ext cx="109728" cy="109728"/>
          </a:xfrm>
          <a:prstGeom prst="ellipse">
            <a:avLst/>
          </a:prstGeom>
          <a:solidFill>
            <a:srgbClr val="E8A33D"/>
          </a:solidFill>
          <a:ln>
            <a:noFill/>
          </a:ln>
          <a:effectLst/>
        </p:spPr>
        <p:txBody>
          <a:bodyPr rtlCol="0" anchor="ctr" wrap="none" lIns="0" rIns="0" tIns="0" bIns="0"/>
          <a:lstStyle/>
          <a:p>
            <a:pPr algn="ctr"/>
          </a:p>
        </p:txBody>
      </p:sp>
      <p:sp>
        <p:nvSpPr>
          <p:cNvPr id="3" name="TextBox 2"/>
          <p:cNvSpPr txBox="1"/>
          <p:nvPr/>
        </p:nvSpPr>
        <p:spPr>
          <a:xfrm>
            <a:off x="749808" y="283464"/>
            <a:ext cx="10890504" cy="256032"/>
          </a:xfrm>
          <a:prstGeom prst="rect">
            <a:avLst/>
          </a:prstGeom>
          <a:noFill/>
        </p:spPr>
        <p:txBody>
          <a:bodyPr wrap="square" lIns="0" rIns="0" tIns="0" bIns="0" anchor="t">
            <a:spAutoFit/>
          </a:bodyPr>
          <a:lstStyle/>
          <a:p>
            <a:pPr marL="0" indent="0">
              <a:buNone/>
            </a:pPr>
            <a:r>
              <a:rPr sz="1000" b="1" i="0">
                <a:solidFill>
                  <a:srgbClr val="B87A1E"/>
                </a:solidFill>
                <a:latin typeface="Calibri"/>
              </a:rPr>
              <a:t>PART 1 · DEFINITION</a:t>
            </a:r>
          </a:p>
        </p:txBody>
      </p:sp>
      <p:sp>
        <p:nvSpPr>
          <p:cNvPr id="4" name="TextBox 3"/>
          <p:cNvSpPr txBox="1"/>
          <p:nvPr/>
        </p:nvSpPr>
        <p:spPr>
          <a:xfrm>
            <a:off x="548640" y="548640"/>
            <a:ext cx="11091672" cy="640080"/>
          </a:xfrm>
          <a:prstGeom prst="rect">
            <a:avLst/>
          </a:prstGeom>
          <a:noFill/>
        </p:spPr>
        <p:txBody>
          <a:bodyPr wrap="square" lIns="0" rIns="0" tIns="0" bIns="0" anchor="t">
            <a:spAutoFit/>
          </a:bodyPr>
          <a:lstStyle/>
          <a:p>
            <a:pPr algn="l" marL="0" indent="0">
              <a:buNone/>
            </a:pPr>
            <a:r>
              <a:rPr sz="2700" b="1" i="0">
                <a:solidFill>
                  <a:srgbClr val="123B47"/>
                </a:solidFill>
                <a:latin typeface="Cambria"/>
              </a:rPr>
              <a:t>Inmon's four properties, stated and illustrated</a:t>
            </a:r>
          </a:p>
        </p:txBody>
      </p:sp>
      <p:sp>
        <p:nvSpPr>
          <p:cNvPr id="5" name="Rounded Rectangle 4"/>
          <p:cNvSpPr/>
          <p:nvPr/>
        </p:nvSpPr>
        <p:spPr>
          <a:xfrm>
            <a:off x="548640" y="1316736"/>
            <a:ext cx="2606040" cy="2395728"/>
          </a:xfrm>
          <a:prstGeom prst="roundRect">
            <a:avLst>
              <a:gd name="adj" fmla="val 3435"/>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6" name="Oval 5"/>
          <p:cNvSpPr/>
          <p:nvPr/>
        </p:nvSpPr>
        <p:spPr>
          <a:xfrm>
            <a:off x="749808" y="1527048"/>
            <a:ext cx="384048" cy="384048"/>
          </a:xfrm>
          <a:prstGeom prst="ellipse">
            <a:avLst/>
          </a:prstGeom>
          <a:solidFill>
            <a:srgbClr val="E8A33D"/>
          </a:solidFill>
          <a:ln>
            <a:noFill/>
          </a:ln>
          <a:effectLst/>
        </p:spPr>
        <p:txBody>
          <a:bodyPr rtlCol="0" anchor="ctr" wrap="none" lIns="0" rIns="0" tIns="0" bIns="0"/>
          <a:lstStyle/>
          <a:p>
            <a:pPr algn="ctr"/>
            <a:r>
              <a:rPr sz="1250" b="1">
                <a:solidFill>
                  <a:srgbClr val="3A2703"/>
                </a:solidFill>
                <a:latin typeface="Calibri"/>
              </a:rPr>
              <a:t>S</a:t>
            </a:r>
          </a:p>
        </p:txBody>
      </p:sp>
      <p:sp>
        <p:nvSpPr>
          <p:cNvPr id="7" name="TextBox 6"/>
          <p:cNvSpPr txBox="1"/>
          <p:nvPr/>
        </p:nvSpPr>
        <p:spPr>
          <a:xfrm>
            <a:off x="1252728" y="1517904"/>
            <a:ext cx="1700784"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Subject-oriented</a:t>
            </a:r>
          </a:p>
        </p:txBody>
      </p:sp>
      <p:sp>
        <p:nvSpPr>
          <p:cNvPr id="8" name="TextBox 7"/>
          <p:cNvSpPr txBox="1"/>
          <p:nvPr/>
        </p:nvSpPr>
        <p:spPr>
          <a:xfrm>
            <a:off x="749808" y="2002536"/>
            <a:ext cx="2203704" cy="1581912"/>
          </a:xfrm>
          <a:prstGeom prst="rect">
            <a:avLst/>
          </a:prstGeom>
          <a:noFill/>
        </p:spPr>
        <p:txBody>
          <a:bodyPr wrap="square" lIns="0" rIns="0" tIns="0" bIns="0" anchor="t">
            <a:spAutoFit/>
          </a:bodyPr>
          <a:lstStyle/>
          <a:p>
            <a:pPr marL="0" indent="0">
              <a:lnSpc>
                <a:spcPct val="124000"/>
              </a:lnSpc>
              <a:buNone/>
            </a:pPr>
            <a:r>
              <a:rPr sz="1000" b="0" i="0">
                <a:solidFill>
                  <a:srgbClr val="2E3F47"/>
                </a:solidFill>
                <a:latin typeface="Calibri"/>
              </a:rPr>
              <a:t>Organised around the subjects the business reasons about — customer, product, sale, claim, patient — rather than around the applications that happen to capture them. One customer entity, not the four different customers held in billing, CRM, service and the loyalty programme.</a:t>
            </a:r>
          </a:p>
        </p:txBody>
      </p:sp>
      <p:sp>
        <p:nvSpPr>
          <p:cNvPr id="9" name="Rounded Rectangle 8"/>
          <p:cNvSpPr/>
          <p:nvPr/>
        </p:nvSpPr>
        <p:spPr>
          <a:xfrm>
            <a:off x="3374136" y="1316736"/>
            <a:ext cx="2606040" cy="2395728"/>
          </a:xfrm>
          <a:prstGeom prst="roundRect">
            <a:avLst>
              <a:gd name="adj" fmla="val 3435"/>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10" name="Oval 9"/>
          <p:cNvSpPr/>
          <p:nvPr/>
        </p:nvSpPr>
        <p:spPr>
          <a:xfrm>
            <a:off x="3575304" y="1527048"/>
            <a:ext cx="384048" cy="384048"/>
          </a:xfrm>
          <a:prstGeom prst="ellipse">
            <a:avLst/>
          </a:prstGeom>
          <a:solidFill>
            <a:srgbClr val="123B47"/>
          </a:solidFill>
          <a:ln>
            <a:noFill/>
          </a:ln>
          <a:effectLst/>
        </p:spPr>
        <p:txBody>
          <a:bodyPr rtlCol="0" anchor="ctr" wrap="none" lIns="0" rIns="0" tIns="0" bIns="0"/>
          <a:lstStyle/>
          <a:p>
            <a:pPr algn="ctr"/>
            <a:r>
              <a:rPr sz="1250" b="1">
                <a:solidFill>
                  <a:srgbClr val="FFFFFF"/>
                </a:solidFill>
                <a:latin typeface="Calibri"/>
              </a:rPr>
              <a:t>I</a:t>
            </a:r>
          </a:p>
        </p:txBody>
      </p:sp>
      <p:sp>
        <p:nvSpPr>
          <p:cNvPr id="11" name="TextBox 10"/>
          <p:cNvSpPr txBox="1"/>
          <p:nvPr/>
        </p:nvSpPr>
        <p:spPr>
          <a:xfrm>
            <a:off x="4078224" y="1517904"/>
            <a:ext cx="1700784"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Integrated</a:t>
            </a:r>
          </a:p>
        </p:txBody>
      </p:sp>
      <p:sp>
        <p:nvSpPr>
          <p:cNvPr id="12" name="TextBox 11"/>
          <p:cNvSpPr txBox="1"/>
          <p:nvPr/>
        </p:nvSpPr>
        <p:spPr>
          <a:xfrm>
            <a:off x="3575304" y="2002536"/>
            <a:ext cx="2203704" cy="1581912"/>
          </a:xfrm>
          <a:prstGeom prst="rect">
            <a:avLst/>
          </a:prstGeom>
          <a:noFill/>
        </p:spPr>
        <p:txBody>
          <a:bodyPr wrap="square" lIns="0" rIns="0" tIns="0" bIns="0" anchor="t">
            <a:spAutoFit/>
          </a:bodyPr>
          <a:lstStyle/>
          <a:p>
            <a:pPr marL="0" indent="0">
              <a:lnSpc>
                <a:spcPct val="124000"/>
              </a:lnSpc>
              <a:buNone/>
            </a:pPr>
            <a:r>
              <a:rPr sz="1000" b="0" i="0">
                <a:solidFill>
                  <a:srgbClr val="2E3F47"/>
                </a:solidFill>
                <a:latin typeface="Calibri"/>
              </a:rPr>
              <a:t>Data arriving from many systems is reconciled to one set of names, codes, units, formats and definitions before it is stored. Gender coded M/F in one system and 1/2 in another becomes one code; three date formats become one; four spellings of a customer become one entity.</a:t>
            </a:r>
          </a:p>
        </p:txBody>
      </p:sp>
      <p:sp>
        <p:nvSpPr>
          <p:cNvPr id="13" name="Rounded Rectangle 12"/>
          <p:cNvSpPr/>
          <p:nvPr/>
        </p:nvSpPr>
        <p:spPr>
          <a:xfrm>
            <a:off x="6199631" y="1316736"/>
            <a:ext cx="2606040" cy="2395728"/>
          </a:xfrm>
          <a:prstGeom prst="roundRect">
            <a:avLst>
              <a:gd name="adj" fmla="val 3435"/>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14" name="Oval 13"/>
          <p:cNvSpPr/>
          <p:nvPr/>
        </p:nvSpPr>
        <p:spPr>
          <a:xfrm>
            <a:off x="6400799" y="1527048"/>
            <a:ext cx="384048" cy="384048"/>
          </a:xfrm>
          <a:prstGeom prst="ellipse">
            <a:avLst/>
          </a:prstGeom>
          <a:solidFill>
            <a:srgbClr val="1B7F79"/>
          </a:solidFill>
          <a:ln>
            <a:noFill/>
          </a:ln>
          <a:effectLst/>
        </p:spPr>
        <p:txBody>
          <a:bodyPr rtlCol="0" anchor="ctr" wrap="none" lIns="0" rIns="0" tIns="0" bIns="0"/>
          <a:lstStyle/>
          <a:p>
            <a:pPr algn="ctr"/>
            <a:r>
              <a:rPr sz="1250" b="1">
                <a:solidFill>
                  <a:srgbClr val="FFFFFF"/>
                </a:solidFill>
                <a:latin typeface="Calibri"/>
              </a:rPr>
              <a:t>T</a:t>
            </a:r>
          </a:p>
        </p:txBody>
      </p:sp>
      <p:sp>
        <p:nvSpPr>
          <p:cNvPr id="15" name="TextBox 14"/>
          <p:cNvSpPr txBox="1"/>
          <p:nvPr/>
        </p:nvSpPr>
        <p:spPr>
          <a:xfrm>
            <a:off x="6903719" y="1517904"/>
            <a:ext cx="1700784"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Time-variant</a:t>
            </a:r>
          </a:p>
        </p:txBody>
      </p:sp>
      <p:sp>
        <p:nvSpPr>
          <p:cNvPr id="16" name="TextBox 15"/>
          <p:cNvSpPr txBox="1"/>
          <p:nvPr/>
        </p:nvSpPr>
        <p:spPr>
          <a:xfrm>
            <a:off x="6400799" y="2002536"/>
            <a:ext cx="2203704" cy="1581912"/>
          </a:xfrm>
          <a:prstGeom prst="rect">
            <a:avLst/>
          </a:prstGeom>
          <a:noFill/>
        </p:spPr>
        <p:txBody>
          <a:bodyPr wrap="square" lIns="0" rIns="0" tIns="0" bIns="0" anchor="t">
            <a:spAutoFit/>
          </a:bodyPr>
          <a:lstStyle/>
          <a:p>
            <a:pPr marL="0" indent="0">
              <a:lnSpc>
                <a:spcPct val="124000"/>
              </a:lnSpc>
              <a:buNone/>
            </a:pPr>
            <a:r>
              <a:rPr sz="1000" b="0" i="0">
                <a:solidFill>
                  <a:srgbClr val="2E3F47"/>
                </a:solidFill>
                <a:latin typeface="Calibri"/>
              </a:rPr>
              <a:t>Every record carries a time context and history is retained rather than overwritten. The warehouse can therefore answer “what did this look like in March last year”, which is the question operational systems are specifically designed not to answer.</a:t>
            </a:r>
          </a:p>
        </p:txBody>
      </p:sp>
      <p:sp>
        <p:nvSpPr>
          <p:cNvPr id="17" name="Rounded Rectangle 16"/>
          <p:cNvSpPr/>
          <p:nvPr/>
        </p:nvSpPr>
        <p:spPr>
          <a:xfrm>
            <a:off x="9025128" y="1316736"/>
            <a:ext cx="2606040" cy="2395728"/>
          </a:xfrm>
          <a:prstGeom prst="roundRect">
            <a:avLst>
              <a:gd name="adj" fmla="val 3435"/>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18" name="Oval 17"/>
          <p:cNvSpPr/>
          <p:nvPr/>
        </p:nvSpPr>
        <p:spPr>
          <a:xfrm>
            <a:off x="9226296" y="1527048"/>
            <a:ext cx="384048" cy="384048"/>
          </a:xfrm>
          <a:prstGeom prst="ellipse">
            <a:avLst/>
          </a:prstGeom>
          <a:solidFill>
            <a:srgbClr val="A63B26"/>
          </a:solidFill>
          <a:ln>
            <a:noFill/>
          </a:ln>
          <a:effectLst/>
        </p:spPr>
        <p:txBody>
          <a:bodyPr rtlCol="0" anchor="ctr" wrap="none" lIns="0" rIns="0" tIns="0" bIns="0"/>
          <a:lstStyle/>
          <a:p>
            <a:pPr algn="ctr"/>
            <a:r>
              <a:rPr sz="1250" b="1">
                <a:solidFill>
                  <a:srgbClr val="FFFFFF"/>
                </a:solidFill>
                <a:latin typeface="Calibri"/>
              </a:rPr>
              <a:t>N</a:t>
            </a:r>
          </a:p>
        </p:txBody>
      </p:sp>
      <p:sp>
        <p:nvSpPr>
          <p:cNvPr id="19" name="TextBox 18"/>
          <p:cNvSpPr txBox="1"/>
          <p:nvPr/>
        </p:nvSpPr>
        <p:spPr>
          <a:xfrm>
            <a:off x="9729215" y="1517904"/>
            <a:ext cx="1700784"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Non-volatile</a:t>
            </a:r>
          </a:p>
        </p:txBody>
      </p:sp>
      <p:sp>
        <p:nvSpPr>
          <p:cNvPr id="20" name="TextBox 19"/>
          <p:cNvSpPr txBox="1"/>
          <p:nvPr/>
        </p:nvSpPr>
        <p:spPr>
          <a:xfrm>
            <a:off x="9226296" y="2002536"/>
            <a:ext cx="2203704" cy="1581912"/>
          </a:xfrm>
          <a:prstGeom prst="rect">
            <a:avLst/>
          </a:prstGeom>
          <a:noFill/>
        </p:spPr>
        <p:txBody>
          <a:bodyPr wrap="square" lIns="0" rIns="0" tIns="0" bIns="0" anchor="t">
            <a:spAutoFit/>
          </a:bodyPr>
          <a:lstStyle/>
          <a:p>
            <a:pPr marL="0" indent="0">
              <a:lnSpc>
                <a:spcPct val="124000"/>
              </a:lnSpc>
              <a:buNone/>
            </a:pPr>
            <a:r>
              <a:rPr sz="1000" b="0" i="0">
                <a:solidFill>
                  <a:srgbClr val="2E3F47"/>
                </a:solidFill>
                <a:latin typeface="Calibri"/>
              </a:rPr>
              <a:t>Data is loaded and read, not updated in place by users. Corrections arrive as new loads with their own effective dates. A number reported last quarter can therefore be reproduced exactly, which is what makes the warehouse auditable.</a:t>
            </a:r>
          </a:p>
        </p:txBody>
      </p:sp>
      <p:sp>
        <p:nvSpPr>
          <p:cNvPr id="21" name="Rounded Rectangle 20"/>
          <p:cNvSpPr/>
          <p:nvPr/>
        </p:nvSpPr>
        <p:spPr>
          <a:xfrm>
            <a:off x="548640" y="3858768"/>
            <a:ext cx="11091672" cy="804672"/>
          </a:xfrm>
          <a:prstGeom prst="roundRect">
            <a:avLst>
              <a:gd name="adj" fmla="val 10227"/>
            </a:avLst>
          </a:prstGeom>
          <a:solidFill>
            <a:srgbClr val="123B47"/>
          </a:solidFill>
          <a:ln>
            <a:noFill/>
          </a:ln>
          <a:effectLst>
            <a:outerShdw blurRad="76200" dist="12700" dir="5400000" algn="bl" rotWithShape="0">
              <a:srgbClr val="9FB3B0">
                <a:alpha val="28000"/>
              </a:srgbClr>
            </a:outerShdw>
          </a:effectLst>
        </p:spPr>
        <p:txBody>
          <a:bodyPr rtlCol="0" anchor="ctr"/>
          <a:lstStyle/>
          <a:p/>
        </p:txBody>
      </p:sp>
      <p:sp>
        <p:nvSpPr>
          <p:cNvPr id="22" name="TextBox 21"/>
          <p:cNvSpPr txBox="1"/>
          <p:nvPr/>
        </p:nvSpPr>
        <p:spPr>
          <a:xfrm>
            <a:off x="768096" y="3931920"/>
            <a:ext cx="10652760" cy="658368"/>
          </a:xfrm>
          <a:prstGeom prst="rect">
            <a:avLst/>
          </a:prstGeom>
          <a:noFill/>
        </p:spPr>
        <p:txBody>
          <a:bodyPr wrap="square" lIns="0" rIns="0" tIns="0" bIns="0" anchor="ctr">
            <a:spAutoFit/>
          </a:bodyPr>
          <a:lstStyle/>
          <a:p>
            <a:pPr marL="0" indent="0">
              <a:lnSpc>
                <a:spcPct val="124000"/>
              </a:lnSpc>
              <a:buNone/>
            </a:pPr>
            <a:r>
              <a:rPr sz="1100" b="1" i="0">
                <a:solidFill>
                  <a:srgbClr val="FFFFFF"/>
                </a:solidFill>
                <a:latin typeface="Calibri"/>
              </a:rPr>
              <a:t>Inmon's own sentence, worth learning verbatim.</a:t>
            </a:r>
            <a:r>
              <a:rPr sz="1100" b="1" i="0">
                <a:solidFill>
                  <a:srgbClr val="FFFFFF"/>
                </a:solidFill>
                <a:latin typeface="Calibri"/>
              </a:rPr>
              <a:t>  “A data warehouse is a subject-oriented, integrated, time-variant and non-volatile collection of data in support of management's decision-making process.” Every clause is doing work: subject-oriented rules out an application-shaped copy; integrated rules out a landing area of raw extracts; time-variant rules out a mirror of the current state; non-volatile rules out users editing it; and in support of decision-making rules out using it to run the business.</a:t>
            </a:r>
          </a:p>
        </p:txBody>
      </p:sp>
      <p:sp>
        <p:nvSpPr>
          <p:cNvPr id="23" name="Rounded Rectangle 22"/>
          <p:cNvSpPr/>
          <p:nvPr/>
        </p:nvSpPr>
        <p:spPr>
          <a:xfrm>
            <a:off x="548640" y="4700016"/>
            <a:ext cx="5394960" cy="1115568"/>
          </a:xfrm>
          <a:prstGeom prst="roundRect">
            <a:avLst>
              <a:gd name="adj" fmla="val 7377"/>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24" name="Oval 23"/>
          <p:cNvSpPr/>
          <p:nvPr/>
        </p:nvSpPr>
        <p:spPr>
          <a:xfrm>
            <a:off x="749808" y="4910328"/>
            <a:ext cx="384048" cy="384048"/>
          </a:xfrm>
          <a:prstGeom prst="ellipse">
            <a:avLst/>
          </a:prstGeom>
          <a:solidFill>
            <a:srgbClr val="A63B26"/>
          </a:solidFill>
          <a:ln>
            <a:noFill/>
          </a:ln>
          <a:effectLst/>
        </p:spPr>
        <p:txBody>
          <a:bodyPr rtlCol="0" anchor="ctr" wrap="none" lIns="0" rIns="0" tIns="0" bIns="0"/>
          <a:lstStyle/>
          <a:p>
            <a:pPr algn="ctr"/>
            <a:r>
              <a:rPr sz="1250" b="1">
                <a:solidFill>
                  <a:srgbClr val="FFFFFF"/>
                </a:solidFill>
                <a:latin typeface="Calibri"/>
              </a:rPr>
              <a:t>?</a:t>
            </a:r>
          </a:p>
        </p:txBody>
      </p:sp>
      <p:sp>
        <p:nvSpPr>
          <p:cNvPr id="25" name="TextBox 24"/>
          <p:cNvSpPr txBox="1"/>
          <p:nvPr/>
        </p:nvSpPr>
        <p:spPr>
          <a:xfrm>
            <a:off x="1252728" y="4901183"/>
            <a:ext cx="4489704"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The property most often missing in practice</a:t>
            </a:r>
          </a:p>
        </p:txBody>
      </p:sp>
      <p:sp>
        <p:nvSpPr>
          <p:cNvPr id="26" name="TextBox 25"/>
          <p:cNvSpPr txBox="1"/>
          <p:nvPr/>
        </p:nvSpPr>
        <p:spPr>
          <a:xfrm>
            <a:off x="749808" y="5385816"/>
            <a:ext cx="4992624" cy="301751"/>
          </a:xfrm>
          <a:prstGeom prst="rect">
            <a:avLst/>
          </a:prstGeom>
          <a:noFill/>
        </p:spPr>
        <p:txBody>
          <a:bodyPr wrap="square" lIns="0" rIns="0" tIns="0" bIns="0" anchor="t">
            <a:spAutoFit/>
          </a:bodyPr>
          <a:lstStyle/>
          <a:p>
            <a:pPr marL="0" indent="0">
              <a:lnSpc>
                <a:spcPct val="124000"/>
              </a:lnSpc>
              <a:buNone/>
            </a:pPr>
            <a:r>
              <a:rPr sz="800" b="0" i="0">
                <a:solidFill>
                  <a:srgbClr val="2E3F47"/>
                </a:solidFill>
                <a:latin typeface="Calibri"/>
              </a:rPr>
              <a:t>Integration. Organisations copy data faithfully and never reconcile it, producing a fast, well-governed store that still holds three definitions of revenue.</a:t>
            </a:r>
          </a:p>
        </p:txBody>
      </p:sp>
      <p:sp>
        <p:nvSpPr>
          <p:cNvPr id="27" name="Rounded Rectangle 26"/>
          <p:cNvSpPr/>
          <p:nvPr/>
        </p:nvSpPr>
        <p:spPr>
          <a:xfrm>
            <a:off x="6245352" y="4700016"/>
            <a:ext cx="5394960" cy="1115568"/>
          </a:xfrm>
          <a:prstGeom prst="roundRect">
            <a:avLst>
              <a:gd name="adj" fmla="val 7377"/>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28" name="Oval 27"/>
          <p:cNvSpPr/>
          <p:nvPr/>
        </p:nvSpPr>
        <p:spPr>
          <a:xfrm>
            <a:off x="6446520" y="4910328"/>
            <a:ext cx="384048" cy="384048"/>
          </a:xfrm>
          <a:prstGeom prst="ellipse">
            <a:avLst/>
          </a:prstGeom>
          <a:solidFill>
            <a:srgbClr val="1B7F79"/>
          </a:solidFill>
          <a:ln>
            <a:noFill/>
          </a:ln>
          <a:effectLst/>
        </p:spPr>
        <p:txBody>
          <a:bodyPr rtlCol="0" anchor="ctr" wrap="none" lIns="0" rIns="0" tIns="0" bIns="0"/>
          <a:lstStyle/>
          <a:p>
            <a:pPr algn="ctr"/>
            <a:r>
              <a:rPr sz="1250" b="1">
                <a:solidFill>
                  <a:srgbClr val="FFFFFF"/>
                </a:solidFill>
                <a:latin typeface="Calibri"/>
              </a:rPr>
              <a:t>!</a:t>
            </a:r>
          </a:p>
        </p:txBody>
      </p:sp>
      <p:sp>
        <p:nvSpPr>
          <p:cNvPr id="29" name="TextBox 28"/>
          <p:cNvSpPr txBox="1"/>
          <p:nvPr/>
        </p:nvSpPr>
        <p:spPr>
          <a:xfrm>
            <a:off x="6949440" y="4901183"/>
            <a:ext cx="4489704"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The property most often sacrificed to cost</a:t>
            </a:r>
          </a:p>
        </p:txBody>
      </p:sp>
      <p:sp>
        <p:nvSpPr>
          <p:cNvPr id="30" name="TextBox 29"/>
          <p:cNvSpPr txBox="1"/>
          <p:nvPr/>
        </p:nvSpPr>
        <p:spPr>
          <a:xfrm>
            <a:off x="6446520" y="5385816"/>
            <a:ext cx="4992624" cy="301751"/>
          </a:xfrm>
          <a:prstGeom prst="rect">
            <a:avLst/>
          </a:prstGeom>
          <a:noFill/>
        </p:spPr>
        <p:txBody>
          <a:bodyPr wrap="square" lIns="0" rIns="0" tIns="0" bIns="0" anchor="t">
            <a:spAutoFit/>
          </a:bodyPr>
          <a:lstStyle/>
          <a:p>
            <a:pPr marL="0" indent="0">
              <a:lnSpc>
                <a:spcPct val="124000"/>
              </a:lnSpc>
              <a:buNone/>
            </a:pPr>
            <a:r>
              <a:rPr sz="800" b="0" i="0">
                <a:solidFill>
                  <a:srgbClr val="2E3F47"/>
                </a:solidFill>
                <a:latin typeface="Calibri"/>
              </a:rPr>
              <a:t>Time-variance. Retaining history costs storage and design effort, and is invariably the first thing cut — and the first thing missed, eighteen months later.</a:t>
            </a:r>
          </a:p>
        </p:txBody>
      </p:sp>
      <p:sp>
        <p:nvSpPr>
          <p:cNvPr id="31" name="TextBox 30"/>
          <p:cNvSpPr txBox="1"/>
          <p:nvPr/>
        </p:nvSpPr>
        <p:spPr>
          <a:xfrm>
            <a:off x="548640" y="6382512"/>
            <a:ext cx="8686800" cy="256032"/>
          </a:xfrm>
          <a:prstGeom prst="rect">
            <a:avLst/>
          </a:prstGeom>
          <a:noFill/>
        </p:spPr>
        <p:txBody>
          <a:bodyPr wrap="square" lIns="0" rIns="0" tIns="0" bIns="0" anchor="t">
            <a:spAutoFit/>
          </a:bodyPr>
          <a:lstStyle/>
          <a:p>
            <a:pPr algn="l" marL="0" indent="0">
              <a:buNone/>
            </a:pPr>
            <a:r>
              <a:rPr sz="900" b="0" i="0">
                <a:solidFill>
                  <a:srgbClr val="5C7079"/>
                </a:solidFill>
                <a:latin typeface="Calibri"/>
              </a:rPr>
              <a:t>Business Intelligence  |  Session 6 — Data Warehousing &amp; OLTP/OLAP  |  IILM Jaipur, MBA</a:t>
            </a:r>
          </a:p>
        </p:txBody>
      </p:sp>
      <p:sp>
        <p:nvSpPr>
          <p:cNvPr id="32" name="TextBox 31"/>
          <p:cNvSpPr txBox="1"/>
          <p:nvPr/>
        </p:nvSpPr>
        <p:spPr>
          <a:xfrm>
            <a:off x="10543032" y="6382512"/>
            <a:ext cx="1097280" cy="256032"/>
          </a:xfrm>
          <a:prstGeom prst="rect">
            <a:avLst/>
          </a:prstGeom>
          <a:noFill/>
        </p:spPr>
        <p:txBody>
          <a:bodyPr wrap="square" lIns="0" rIns="0" tIns="0" bIns="0" anchor="t">
            <a:spAutoFit/>
          </a:bodyPr>
          <a:lstStyle/>
          <a:p>
            <a:pPr algn="r" marL="0" indent="0">
              <a:buNone/>
            </a:pPr>
            <a:r>
              <a:rPr sz="950" b="1" i="0">
                <a:solidFill>
                  <a:srgbClr val="1B7F79"/>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374904"/>
            <a:ext cx="109728" cy="109728"/>
          </a:xfrm>
          <a:prstGeom prst="ellipse">
            <a:avLst/>
          </a:prstGeom>
          <a:solidFill>
            <a:srgbClr val="E8A33D"/>
          </a:solidFill>
          <a:ln>
            <a:noFill/>
          </a:ln>
          <a:effectLst/>
        </p:spPr>
        <p:txBody>
          <a:bodyPr rtlCol="0" anchor="ctr" wrap="none" lIns="0" rIns="0" tIns="0" bIns="0"/>
          <a:lstStyle/>
          <a:p>
            <a:pPr algn="ctr"/>
          </a:p>
        </p:txBody>
      </p:sp>
      <p:sp>
        <p:nvSpPr>
          <p:cNvPr id="3" name="TextBox 2"/>
          <p:cNvSpPr txBox="1"/>
          <p:nvPr/>
        </p:nvSpPr>
        <p:spPr>
          <a:xfrm>
            <a:off x="749808" y="283464"/>
            <a:ext cx="10890504" cy="256032"/>
          </a:xfrm>
          <a:prstGeom prst="rect">
            <a:avLst/>
          </a:prstGeom>
          <a:noFill/>
        </p:spPr>
        <p:txBody>
          <a:bodyPr wrap="square" lIns="0" rIns="0" tIns="0" bIns="0" anchor="t">
            <a:spAutoFit/>
          </a:bodyPr>
          <a:lstStyle/>
          <a:p>
            <a:pPr marL="0" indent="0">
              <a:buNone/>
            </a:pPr>
            <a:r>
              <a:rPr sz="1000" b="1" i="0">
                <a:solidFill>
                  <a:srgbClr val="B87A1E"/>
                </a:solidFill>
                <a:latin typeface="Calibri"/>
              </a:rPr>
              <a:t>PART 1 · BOUNDARIES</a:t>
            </a:r>
          </a:p>
        </p:txBody>
      </p:sp>
      <p:sp>
        <p:nvSpPr>
          <p:cNvPr id="4" name="TextBox 3"/>
          <p:cNvSpPr txBox="1"/>
          <p:nvPr/>
        </p:nvSpPr>
        <p:spPr>
          <a:xfrm>
            <a:off x="548640" y="548640"/>
            <a:ext cx="11091672" cy="640080"/>
          </a:xfrm>
          <a:prstGeom prst="rect">
            <a:avLst/>
          </a:prstGeom>
          <a:noFill/>
        </p:spPr>
        <p:txBody>
          <a:bodyPr wrap="square" lIns="0" rIns="0" tIns="0" bIns="0" anchor="t">
            <a:spAutoFit/>
          </a:bodyPr>
          <a:lstStyle/>
          <a:p>
            <a:pPr algn="l" marL="0" indent="0">
              <a:buNone/>
            </a:pPr>
            <a:r>
              <a:rPr sz="2700" b="1" i="0">
                <a:solidFill>
                  <a:srgbClr val="123B47"/>
                </a:solidFill>
                <a:latin typeface="Cambria"/>
              </a:rPr>
              <a:t>What a data warehouse is not</a:t>
            </a:r>
          </a:p>
        </p:txBody>
      </p:sp>
      <p:sp>
        <p:nvSpPr>
          <p:cNvPr id="5" name="Rounded Rectangle 4"/>
          <p:cNvSpPr/>
          <p:nvPr/>
        </p:nvSpPr>
        <p:spPr>
          <a:xfrm>
            <a:off x="548640" y="1316736"/>
            <a:ext cx="3538728" cy="1426464"/>
          </a:xfrm>
          <a:prstGeom prst="roundRect">
            <a:avLst>
              <a:gd name="adj" fmla="val 5769"/>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6" name="Oval 5"/>
          <p:cNvSpPr/>
          <p:nvPr/>
        </p:nvSpPr>
        <p:spPr>
          <a:xfrm>
            <a:off x="749808" y="1527048"/>
            <a:ext cx="384048" cy="384048"/>
          </a:xfrm>
          <a:prstGeom prst="ellipse">
            <a:avLst/>
          </a:prstGeom>
          <a:solidFill>
            <a:srgbClr val="A63B26"/>
          </a:solidFill>
          <a:ln>
            <a:noFill/>
          </a:ln>
          <a:effectLst/>
        </p:spPr>
        <p:txBody>
          <a:bodyPr rtlCol="0" anchor="ctr" wrap="none" lIns="0" rIns="0" tIns="0" bIns="0"/>
          <a:lstStyle/>
          <a:p>
            <a:pPr algn="ctr"/>
            <a:r>
              <a:rPr sz="1250" b="1">
                <a:solidFill>
                  <a:srgbClr val="FFFFFF"/>
                </a:solidFill>
                <a:latin typeface="Calibri"/>
              </a:rPr>
              <a:t>✗</a:t>
            </a:r>
          </a:p>
        </p:txBody>
      </p:sp>
      <p:sp>
        <p:nvSpPr>
          <p:cNvPr id="7" name="TextBox 6"/>
          <p:cNvSpPr txBox="1"/>
          <p:nvPr/>
        </p:nvSpPr>
        <p:spPr>
          <a:xfrm>
            <a:off x="1252728" y="1517904"/>
            <a:ext cx="2633472"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Not a backup</a:t>
            </a:r>
          </a:p>
        </p:txBody>
      </p:sp>
      <p:sp>
        <p:nvSpPr>
          <p:cNvPr id="8" name="TextBox 7"/>
          <p:cNvSpPr txBox="1"/>
          <p:nvPr/>
        </p:nvSpPr>
        <p:spPr>
          <a:xfrm>
            <a:off x="749808" y="2002536"/>
            <a:ext cx="3136392" cy="612648"/>
          </a:xfrm>
          <a:prstGeom prst="rect">
            <a:avLst/>
          </a:prstGeom>
          <a:noFill/>
        </p:spPr>
        <p:txBody>
          <a:bodyPr wrap="square" lIns="0" rIns="0" tIns="0" bIns="0" anchor="t">
            <a:spAutoFit/>
          </a:bodyPr>
          <a:lstStyle/>
          <a:p>
            <a:pPr marL="0" indent="0">
              <a:lnSpc>
                <a:spcPct val="124000"/>
              </a:lnSpc>
              <a:buNone/>
            </a:pPr>
            <a:r>
              <a:rPr sz="1000" b="0" i="0">
                <a:solidFill>
                  <a:srgbClr val="2E3F47"/>
                </a:solidFill>
                <a:latin typeface="Calibri"/>
              </a:rPr>
              <a:t>A backup preserves the operational database's exact state for recovery. A warehouse restructures, integrates and retains history for analysis. Neither substitutes for the other.</a:t>
            </a:r>
          </a:p>
        </p:txBody>
      </p:sp>
      <p:sp>
        <p:nvSpPr>
          <p:cNvPr id="9" name="Rounded Rectangle 8"/>
          <p:cNvSpPr/>
          <p:nvPr/>
        </p:nvSpPr>
        <p:spPr>
          <a:xfrm>
            <a:off x="4306824" y="1316736"/>
            <a:ext cx="3538728" cy="1426464"/>
          </a:xfrm>
          <a:prstGeom prst="roundRect">
            <a:avLst>
              <a:gd name="adj" fmla="val 5769"/>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10" name="Oval 9"/>
          <p:cNvSpPr/>
          <p:nvPr/>
        </p:nvSpPr>
        <p:spPr>
          <a:xfrm>
            <a:off x="4507992" y="1527048"/>
            <a:ext cx="384048" cy="384048"/>
          </a:xfrm>
          <a:prstGeom prst="ellipse">
            <a:avLst/>
          </a:prstGeom>
          <a:solidFill>
            <a:srgbClr val="A63B26"/>
          </a:solidFill>
          <a:ln>
            <a:noFill/>
          </a:ln>
          <a:effectLst/>
        </p:spPr>
        <p:txBody>
          <a:bodyPr rtlCol="0" anchor="ctr" wrap="none" lIns="0" rIns="0" tIns="0" bIns="0"/>
          <a:lstStyle/>
          <a:p>
            <a:pPr algn="ctr"/>
            <a:r>
              <a:rPr sz="1250" b="1">
                <a:solidFill>
                  <a:srgbClr val="FFFFFF"/>
                </a:solidFill>
                <a:latin typeface="Calibri"/>
              </a:rPr>
              <a:t>✗</a:t>
            </a:r>
          </a:p>
        </p:txBody>
      </p:sp>
      <p:sp>
        <p:nvSpPr>
          <p:cNvPr id="11" name="TextBox 10"/>
          <p:cNvSpPr txBox="1"/>
          <p:nvPr/>
        </p:nvSpPr>
        <p:spPr>
          <a:xfrm>
            <a:off x="5010912" y="1517904"/>
            <a:ext cx="2633472"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Not a copy of production</a:t>
            </a:r>
          </a:p>
        </p:txBody>
      </p:sp>
      <p:sp>
        <p:nvSpPr>
          <p:cNvPr id="12" name="TextBox 11"/>
          <p:cNvSpPr txBox="1"/>
          <p:nvPr/>
        </p:nvSpPr>
        <p:spPr>
          <a:xfrm>
            <a:off x="4507992" y="2002536"/>
            <a:ext cx="3136392" cy="612648"/>
          </a:xfrm>
          <a:prstGeom prst="rect">
            <a:avLst/>
          </a:prstGeom>
          <a:noFill/>
        </p:spPr>
        <p:txBody>
          <a:bodyPr wrap="square" lIns="0" rIns="0" tIns="0" bIns="0" anchor="t">
            <a:spAutoFit/>
          </a:bodyPr>
          <a:lstStyle/>
          <a:p>
            <a:pPr marL="0" indent="0">
              <a:lnSpc>
                <a:spcPct val="124000"/>
              </a:lnSpc>
              <a:buNone/>
            </a:pPr>
            <a:r>
              <a:rPr sz="980" b="0" i="0">
                <a:solidFill>
                  <a:srgbClr val="2E3F47"/>
                </a:solidFill>
                <a:latin typeface="Calibri"/>
              </a:rPr>
              <a:t>A replica of the operational schema on another server relieves the load but keeps the wrong structure, no integration and no history. It is a useful stopgap and not a warehouse.</a:t>
            </a:r>
          </a:p>
        </p:txBody>
      </p:sp>
      <p:sp>
        <p:nvSpPr>
          <p:cNvPr id="13" name="Rounded Rectangle 12"/>
          <p:cNvSpPr/>
          <p:nvPr/>
        </p:nvSpPr>
        <p:spPr>
          <a:xfrm>
            <a:off x="8065008" y="1316736"/>
            <a:ext cx="3538728" cy="1426464"/>
          </a:xfrm>
          <a:prstGeom prst="roundRect">
            <a:avLst>
              <a:gd name="adj" fmla="val 5769"/>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14" name="Oval 13"/>
          <p:cNvSpPr/>
          <p:nvPr/>
        </p:nvSpPr>
        <p:spPr>
          <a:xfrm>
            <a:off x="8266176" y="1527048"/>
            <a:ext cx="384048" cy="384048"/>
          </a:xfrm>
          <a:prstGeom prst="ellipse">
            <a:avLst/>
          </a:prstGeom>
          <a:solidFill>
            <a:srgbClr val="A63B26"/>
          </a:solidFill>
          <a:ln>
            <a:noFill/>
          </a:ln>
          <a:effectLst/>
        </p:spPr>
        <p:txBody>
          <a:bodyPr rtlCol="0" anchor="ctr" wrap="none" lIns="0" rIns="0" tIns="0" bIns="0"/>
          <a:lstStyle/>
          <a:p>
            <a:pPr algn="ctr"/>
            <a:r>
              <a:rPr sz="1250" b="1">
                <a:solidFill>
                  <a:srgbClr val="FFFFFF"/>
                </a:solidFill>
                <a:latin typeface="Calibri"/>
              </a:rPr>
              <a:t>✗</a:t>
            </a:r>
          </a:p>
        </p:txBody>
      </p:sp>
      <p:sp>
        <p:nvSpPr>
          <p:cNvPr id="15" name="TextBox 14"/>
          <p:cNvSpPr txBox="1"/>
          <p:nvPr/>
        </p:nvSpPr>
        <p:spPr>
          <a:xfrm>
            <a:off x="8769096" y="1517904"/>
            <a:ext cx="2633472"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Not a data lake</a:t>
            </a:r>
          </a:p>
        </p:txBody>
      </p:sp>
      <p:sp>
        <p:nvSpPr>
          <p:cNvPr id="16" name="TextBox 15"/>
          <p:cNvSpPr txBox="1"/>
          <p:nvPr/>
        </p:nvSpPr>
        <p:spPr>
          <a:xfrm>
            <a:off x="8266176" y="2002536"/>
            <a:ext cx="3136392" cy="612648"/>
          </a:xfrm>
          <a:prstGeom prst="rect">
            <a:avLst/>
          </a:prstGeom>
          <a:noFill/>
        </p:spPr>
        <p:txBody>
          <a:bodyPr wrap="square" lIns="0" rIns="0" tIns="0" bIns="0" anchor="t">
            <a:spAutoFit/>
          </a:bodyPr>
          <a:lstStyle/>
          <a:p>
            <a:pPr marL="0" indent="0">
              <a:lnSpc>
                <a:spcPct val="124000"/>
              </a:lnSpc>
              <a:buNone/>
            </a:pPr>
            <a:r>
              <a:rPr sz="900" b="0" i="0">
                <a:solidFill>
                  <a:srgbClr val="2E3F47"/>
                </a:solidFill>
                <a:latin typeface="Calibri"/>
              </a:rPr>
              <a:t>A lake stores raw files of any structure cheaply, deferring modelling. A warehouse stores modelled, reconciled data. Modern lakehouse platforms combine both, but the two roles remain distinct.</a:t>
            </a:r>
          </a:p>
        </p:txBody>
      </p:sp>
      <p:sp>
        <p:nvSpPr>
          <p:cNvPr id="17" name="Rounded Rectangle 16"/>
          <p:cNvSpPr/>
          <p:nvPr/>
        </p:nvSpPr>
        <p:spPr>
          <a:xfrm>
            <a:off x="548640" y="2889504"/>
            <a:ext cx="3538728" cy="1426464"/>
          </a:xfrm>
          <a:prstGeom prst="roundRect">
            <a:avLst>
              <a:gd name="adj" fmla="val 5769"/>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18" name="Oval 17"/>
          <p:cNvSpPr/>
          <p:nvPr/>
        </p:nvSpPr>
        <p:spPr>
          <a:xfrm>
            <a:off x="749808" y="3099816"/>
            <a:ext cx="384048" cy="384048"/>
          </a:xfrm>
          <a:prstGeom prst="ellipse">
            <a:avLst/>
          </a:prstGeom>
          <a:solidFill>
            <a:srgbClr val="A63B26"/>
          </a:solidFill>
          <a:ln>
            <a:noFill/>
          </a:ln>
          <a:effectLst/>
        </p:spPr>
        <p:txBody>
          <a:bodyPr rtlCol="0" anchor="ctr" wrap="none" lIns="0" rIns="0" tIns="0" bIns="0"/>
          <a:lstStyle/>
          <a:p>
            <a:pPr algn="ctr"/>
            <a:r>
              <a:rPr sz="1250" b="1">
                <a:solidFill>
                  <a:srgbClr val="FFFFFF"/>
                </a:solidFill>
                <a:latin typeface="Calibri"/>
              </a:rPr>
              <a:t>✗</a:t>
            </a:r>
          </a:p>
        </p:txBody>
      </p:sp>
      <p:sp>
        <p:nvSpPr>
          <p:cNvPr id="19" name="TextBox 18"/>
          <p:cNvSpPr txBox="1"/>
          <p:nvPr/>
        </p:nvSpPr>
        <p:spPr>
          <a:xfrm>
            <a:off x="1252728" y="3090672"/>
            <a:ext cx="2633472"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Not an operational data store</a:t>
            </a:r>
          </a:p>
        </p:txBody>
      </p:sp>
      <p:sp>
        <p:nvSpPr>
          <p:cNvPr id="20" name="TextBox 19"/>
          <p:cNvSpPr txBox="1"/>
          <p:nvPr/>
        </p:nvSpPr>
        <p:spPr>
          <a:xfrm>
            <a:off x="749808" y="3575304"/>
            <a:ext cx="3136392" cy="612648"/>
          </a:xfrm>
          <a:prstGeom prst="rect">
            <a:avLst/>
          </a:prstGeom>
          <a:noFill/>
        </p:spPr>
        <p:txBody>
          <a:bodyPr wrap="square" lIns="0" rIns="0" tIns="0" bIns="0" anchor="t">
            <a:spAutoFit/>
          </a:bodyPr>
          <a:lstStyle/>
          <a:p>
            <a:pPr marL="0" indent="0">
              <a:lnSpc>
                <a:spcPct val="124000"/>
              </a:lnSpc>
              <a:buNone/>
            </a:pPr>
            <a:r>
              <a:rPr sz="1000" b="0" i="0">
                <a:solidFill>
                  <a:srgbClr val="2E3F47"/>
                </a:solidFill>
                <a:latin typeface="Calibri"/>
              </a:rPr>
              <a:t>An ODS holds current, integrated, subject-oriented data for operational use and is updated continuously. It shares three of Inmon's properties but not time-variance.</a:t>
            </a:r>
          </a:p>
        </p:txBody>
      </p:sp>
      <p:sp>
        <p:nvSpPr>
          <p:cNvPr id="21" name="Rounded Rectangle 20"/>
          <p:cNvSpPr/>
          <p:nvPr/>
        </p:nvSpPr>
        <p:spPr>
          <a:xfrm>
            <a:off x="4306824" y="2889504"/>
            <a:ext cx="3538728" cy="1426464"/>
          </a:xfrm>
          <a:prstGeom prst="roundRect">
            <a:avLst>
              <a:gd name="adj" fmla="val 5769"/>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22" name="Oval 21"/>
          <p:cNvSpPr/>
          <p:nvPr/>
        </p:nvSpPr>
        <p:spPr>
          <a:xfrm>
            <a:off x="4507992" y="3099816"/>
            <a:ext cx="384048" cy="384048"/>
          </a:xfrm>
          <a:prstGeom prst="ellipse">
            <a:avLst/>
          </a:prstGeom>
          <a:solidFill>
            <a:srgbClr val="A63B26"/>
          </a:solidFill>
          <a:ln>
            <a:noFill/>
          </a:ln>
          <a:effectLst/>
        </p:spPr>
        <p:txBody>
          <a:bodyPr rtlCol="0" anchor="ctr" wrap="none" lIns="0" rIns="0" tIns="0" bIns="0"/>
          <a:lstStyle/>
          <a:p>
            <a:pPr algn="ctr"/>
            <a:r>
              <a:rPr sz="1250" b="1">
                <a:solidFill>
                  <a:srgbClr val="FFFFFF"/>
                </a:solidFill>
                <a:latin typeface="Calibri"/>
              </a:rPr>
              <a:t>✗</a:t>
            </a:r>
          </a:p>
        </p:txBody>
      </p:sp>
      <p:sp>
        <p:nvSpPr>
          <p:cNvPr id="23" name="TextBox 22"/>
          <p:cNvSpPr txBox="1"/>
          <p:nvPr/>
        </p:nvSpPr>
        <p:spPr>
          <a:xfrm>
            <a:off x="5010912" y="3090672"/>
            <a:ext cx="2633472"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Not a reporting tool</a:t>
            </a:r>
          </a:p>
        </p:txBody>
      </p:sp>
      <p:sp>
        <p:nvSpPr>
          <p:cNvPr id="24" name="TextBox 23"/>
          <p:cNvSpPr txBox="1"/>
          <p:nvPr/>
        </p:nvSpPr>
        <p:spPr>
          <a:xfrm>
            <a:off x="4507992" y="3575304"/>
            <a:ext cx="3136392" cy="612648"/>
          </a:xfrm>
          <a:prstGeom prst="rect">
            <a:avLst/>
          </a:prstGeom>
          <a:noFill/>
        </p:spPr>
        <p:txBody>
          <a:bodyPr wrap="square" lIns="0" rIns="0" tIns="0" bIns="0" anchor="t">
            <a:spAutoFit/>
          </a:bodyPr>
          <a:lstStyle/>
          <a:p>
            <a:pPr marL="0" indent="0">
              <a:lnSpc>
                <a:spcPct val="124000"/>
              </a:lnSpc>
              <a:buNone/>
            </a:pPr>
            <a:r>
              <a:rPr sz="960" b="0" i="0">
                <a:solidFill>
                  <a:srgbClr val="2E3F47"/>
                </a:solidFill>
                <a:latin typeface="Calibri"/>
              </a:rPr>
              <a:t>The warehouse is the store. Power BI, Tableau and the outputs of Session 4 are the delivery layer. Confusing the two produces the familiar “we bought Power BI, why is the data still wrong”.</a:t>
            </a:r>
          </a:p>
        </p:txBody>
      </p:sp>
      <p:sp>
        <p:nvSpPr>
          <p:cNvPr id="25" name="Rounded Rectangle 24"/>
          <p:cNvSpPr/>
          <p:nvPr/>
        </p:nvSpPr>
        <p:spPr>
          <a:xfrm>
            <a:off x="8065008" y="2889504"/>
            <a:ext cx="3538728" cy="1426464"/>
          </a:xfrm>
          <a:prstGeom prst="roundRect">
            <a:avLst>
              <a:gd name="adj" fmla="val 5769"/>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26" name="Oval 25"/>
          <p:cNvSpPr/>
          <p:nvPr/>
        </p:nvSpPr>
        <p:spPr>
          <a:xfrm>
            <a:off x="8266176" y="3099816"/>
            <a:ext cx="384048" cy="384048"/>
          </a:xfrm>
          <a:prstGeom prst="ellipse">
            <a:avLst/>
          </a:prstGeom>
          <a:solidFill>
            <a:srgbClr val="A63B26"/>
          </a:solidFill>
          <a:ln>
            <a:noFill/>
          </a:ln>
          <a:effectLst/>
        </p:spPr>
        <p:txBody>
          <a:bodyPr rtlCol="0" anchor="ctr" wrap="none" lIns="0" rIns="0" tIns="0" bIns="0"/>
          <a:lstStyle/>
          <a:p>
            <a:pPr algn="ctr"/>
            <a:r>
              <a:rPr sz="1250" b="1">
                <a:solidFill>
                  <a:srgbClr val="FFFFFF"/>
                </a:solidFill>
                <a:latin typeface="Calibri"/>
              </a:rPr>
              <a:t>✗</a:t>
            </a:r>
          </a:p>
        </p:txBody>
      </p:sp>
      <p:sp>
        <p:nvSpPr>
          <p:cNvPr id="27" name="TextBox 26"/>
          <p:cNvSpPr txBox="1"/>
          <p:nvPr/>
        </p:nvSpPr>
        <p:spPr>
          <a:xfrm>
            <a:off x="8769096" y="3090672"/>
            <a:ext cx="2633472"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Not a one-off project</a:t>
            </a:r>
          </a:p>
        </p:txBody>
      </p:sp>
      <p:sp>
        <p:nvSpPr>
          <p:cNvPr id="28" name="TextBox 27"/>
          <p:cNvSpPr txBox="1"/>
          <p:nvPr/>
        </p:nvSpPr>
        <p:spPr>
          <a:xfrm>
            <a:off x="8266176" y="3575304"/>
            <a:ext cx="3136392" cy="612648"/>
          </a:xfrm>
          <a:prstGeom prst="rect">
            <a:avLst/>
          </a:prstGeom>
          <a:noFill/>
        </p:spPr>
        <p:txBody>
          <a:bodyPr wrap="square" lIns="0" rIns="0" tIns="0" bIns="0" anchor="t">
            <a:spAutoFit/>
          </a:bodyPr>
          <a:lstStyle/>
          <a:p>
            <a:pPr marL="0" indent="0">
              <a:lnSpc>
                <a:spcPct val="124000"/>
              </a:lnSpc>
              <a:buNone/>
            </a:pPr>
            <a:r>
              <a:rPr sz="1000" b="0" i="0">
                <a:solidFill>
                  <a:srgbClr val="2E3F47"/>
                </a:solidFill>
                <a:latin typeface="Calibri"/>
              </a:rPr>
              <a:t>It has no natural end. Sources change, definitions change, and the business asks new questions. Funded as a project it decays; funded as a capability it compounds.</a:t>
            </a:r>
          </a:p>
        </p:txBody>
      </p:sp>
      <p:sp>
        <p:nvSpPr>
          <p:cNvPr id="29" name="Rounded Rectangle 28"/>
          <p:cNvSpPr/>
          <p:nvPr/>
        </p:nvSpPr>
        <p:spPr>
          <a:xfrm>
            <a:off x="548640" y="4553712"/>
            <a:ext cx="11091672" cy="786384"/>
          </a:xfrm>
          <a:prstGeom prst="roundRect">
            <a:avLst>
              <a:gd name="adj" fmla="val 10465"/>
            </a:avLst>
          </a:prstGeom>
          <a:solidFill>
            <a:srgbClr val="123B47"/>
          </a:solidFill>
          <a:ln>
            <a:noFill/>
          </a:ln>
          <a:effectLst>
            <a:outerShdw blurRad="76200" dist="12700" dir="5400000" algn="bl" rotWithShape="0">
              <a:srgbClr val="9FB3B0">
                <a:alpha val="28000"/>
              </a:srgbClr>
            </a:outerShdw>
          </a:effectLst>
        </p:spPr>
        <p:txBody>
          <a:bodyPr rtlCol="0" anchor="ctr"/>
          <a:lstStyle/>
          <a:p/>
        </p:txBody>
      </p:sp>
      <p:sp>
        <p:nvSpPr>
          <p:cNvPr id="30" name="TextBox 29"/>
          <p:cNvSpPr txBox="1"/>
          <p:nvPr/>
        </p:nvSpPr>
        <p:spPr>
          <a:xfrm>
            <a:off x="768096" y="4626864"/>
            <a:ext cx="10652760" cy="640080"/>
          </a:xfrm>
          <a:prstGeom prst="rect">
            <a:avLst/>
          </a:prstGeom>
          <a:noFill/>
        </p:spPr>
        <p:txBody>
          <a:bodyPr wrap="square" lIns="0" rIns="0" tIns="0" bIns="0" anchor="ctr">
            <a:spAutoFit/>
          </a:bodyPr>
          <a:lstStyle/>
          <a:p>
            <a:pPr marL="0" indent="0">
              <a:lnSpc>
                <a:spcPct val="124000"/>
              </a:lnSpc>
              <a:buNone/>
            </a:pPr>
            <a:r>
              <a:rPr sz="1100" b="1" i="0">
                <a:solidFill>
                  <a:srgbClr val="FFFFFF"/>
                </a:solidFill>
                <a:latin typeface="Calibri"/>
              </a:rPr>
              <a:t>The distinction that matters most commercially.</a:t>
            </a:r>
            <a:r>
              <a:rPr sz="1100" b="1" i="0">
                <a:solidFill>
                  <a:srgbClr val="FFFFFF"/>
                </a:solidFill>
                <a:latin typeface="Calibri"/>
              </a:rPr>
              <a:t>  The difference between a replica and a warehouse is invisible on an architecture diagram and enormous in practice. A replica answers “what does system X say right now”; a warehouse answers “what did the business look like, across all systems, in the period you are asking about”. Organisations frequently buy the second, build the first, and discover the difference when the auditor asks a question about last year.</a:t>
            </a:r>
          </a:p>
        </p:txBody>
      </p:sp>
      <p:sp>
        <p:nvSpPr>
          <p:cNvPr id="31" name="Rounded Rectangle 30"/>
          <p:cNvSpPr/>
          <p:nvPr/>
        </p:nvSpPr>
        <p:spPr>
          <a:xfrm>
            <a:off x="548640" y="5449824"/>
            <a:ext cx="11091672" cy="676656"/>
          </a:xfrm>
          <a:prstGeom prst="roundRect">
            <a:avLst>
              <a:gd name="adj" fmla="val 12162"/>
            </a:avLst>
          </a:prstGeom>
          <a:solidFill>
            <a:srgbClr val="FBEBD1"/>
          </a:solidFill>
          <a:ln w="12700">
            <a:solidFill>
              <a:srgbClr val="EFD9AE"/>
            </a:solidFill>
          </a:ln>
          <a:effectLst/>
        </p:spPr>
        <p:txBody>
          <a:bodyPr rtlCol="0" anchor="ctr"/>
          <a:lstStyle/>
          <a:p/>
        </p:txBody>
      </p:sp>
      <p:sp>
        <p:nvSpPr>
          <p:cNvPr id="32" name="TextBox 31"/>
          <p:cNvSpPr txBox="1"/>
          <p:nvPr/>
        </p:nvSpPr>
        <p:spPr>
          <a:xfrm>
            <a:off x="768096" y="5522976"/>
            <a:ext cx="10652760" cy="530352"/>
          </a:xfrm>
          <a:prstGeom prst="rect">
            <a:avLst/>
          </a:prstGeom>
          <a:noFill/>
        </p:spPr>
        <p:txBody>
          <a:bodyPr wrap="square" lIns="0" rIns="0" tIns="0" bIns="0" anchor="ctr">
            <a:spAutoFit/>
          </a:bodyPr>
          <a:lstStyle/>
          <a:p>
            <a:pPr marL="0" indent="0">
              <a:lnSpc>
                <a:spcPct val="124000"/>
              </a:lnSpc>
              <a:buNone/>
            </a:pPr>
            <a:r>
              <a:rPr sz="969" b="1" i="0">
                <a:solidFill>
                  <a:srgbClr val="6A4A0F"/>
                </a:solidFill>
                <a:latin typeface="Calibri"/>
              </a:rPr>
              <a:t>The operational data store, in one paragraph.</a:t>
            </a:r>
            <a:r>
              <a:rPr sz="969" b="1" i="0">
                <a:solidFill>
                  <a:srgbClr val="6A4A0F"/>
                </a:solidFill>
                <a:latin typeface="Calibri"/>
              </a:rPr>
              <a:t>  An ODS is worth knowing because it is the right answer surprisingly often: it gives an integrated, current view across systems for people who must act now — a call-centre agent needing the customer's complete position — without the history or the read-optimised structure of a warehouse. Many architectures contain both, with the ODS feeding the warehouse.</a:t>
            </a:r>
          </a:p>
        </p:txBody>
      </p:sp>
      <p:sp>
        <p:nvSpPr>
          <p:cNvPr id="33" name="TextBox 32"/>
          <p:cNvSpPr txBox="1"/>
          <p:nvPr/>
        </p:nvSpPr>
        <p:spPr>
          <a:xfrm>
            <a:off x="548640" y="6382512"/>
            <a:ext cx="8686800" cy="256032"/>
          </a:xfrm>
          <a:prstGeom prst="rect">
            <a:avLst/>
          </a:prstGeom>
          <a:noFill/>
        </p:spPr>
        <p:txBody>
          <a:bodyPr wrap="square" lIns="0" rIns="0" tIns="0" bIns="0" anchor="t">
            <a:spAutoFit/>
          </a:bodyPr>
          <a:lstStyle/>
          <a:p>
            <a:pPr algn="l" marL="0" indent="0">
              <a:buNone/>
            </a:pPr>
            <a:r>
              <a:rPr sz="900" b="0" i="0">
                <a:solidFill>
                  <a:srgbClr val="5C7079"/>
                </a:solidFill>
                <a:latin typeface="Calibri"/>
              </a:rPr>
              <a:t>Business Intelligence  |  Session 6 — Data Warehousing &amp; OLTP/OLAP  |  IILM Jaipur, MBA</a:t>
            </a:r>
          </a:p>
        </p:txBody>
      </p:sp>
      <p:sp>
        <p:nvSpPr>
          <p:cNvPr id="34" name="TextBox 33"/>
          <p:cNvSpPr txBox="1"/>
          <p:nvPr/>
        </p:nvSpPr>
        <p:spPr>
          <a:xfrm>
            <a:off x="10543032" y="6382512"/>
            <a:ext cx="1097280" cy="256032"/>
          </a:xfrm>
          <a:prstGeom prst="rect">
            <a:avLst/>
          </a:prstGeom>
          <a:noFill/>
        </p:spPr>
        <p:txBody>
          <a:bodyPr wrap="square" lIns="0" rIns="0" tIns="0" bIns="0" anchor="t">
            <a:spAutoFit/>
          </a:bodyPr>
          <a:lstStyle/>
          <a:p>
            <a:pPr algn="r" marL="0" indent="0">
              <a:buNone/>
            </a:pPr>
            <a:r>
              <a:rPr sz="950" b="1" i="0">
                <a:solidFill>
                  <a:srgbClr val="1B7F79"/>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374904"/>
            <a:ext cx="109728" cy="109728"/>
          </a:xfrm>
          <a:prstGeom prst="ellipse">
            <a:avLst/>
          </a:prstGeom>
          <a:solidFill>
            <a:srgbClr val="E8A33D"/>
          </a:solidFill>
          <a:ln>
            <a:noFill/>
          </a:ln>
          <a:effectLst/>
        </p:spPr>
        <p:txBody>
          <a:bodyPr rtlCol="0" anchor="ctr" wrap="none" lIns="0" rIns="0" tIns="0" bIns="0"/>
          <a:lstStyle/>
          <a:p>
            <a:pPr algn="ctr"/>
          </a:p>
        </p:txBody>
      </p:sp>
      <p:sp>
        <p:nvSpPr>
          <p:cNvPr id="3" name="TextBox 2"/>
          <p:cNvSpPr txBox="1"/>
          <p:nvPr/>
        </p:nvSpPr>
        <p:spPr>
          <a:xfrm>
            <a:off x="749808" y="283464"/>
            <a:ext cx="10890504" cy="256032"/>
          </a:xfrm>
          <a:prstGeom prst="rect">
            <a:avLst/>
          </a:prstGeom>
          <a:noFill/>
        </p:spPr>
        <p:txBody>
          <a:bodyPr wrap="square" lIns="0" rIns="0" tIns="0" bIns="0" anchor="t">
            <a:spAutoFit/>
          </a:bodyPr>
          <a:lstStyle/>
          <a:p>
            <a:pPr marL="0" indent="0">
              <a:buNone/>
            </a:pPr>
            <a:r>
              <a:rPr sz="1000" b="1" i="0">
                <a:solidFill>
                  <a:srgbClr val="B87A1E"/>
                </a:solidFill>
                <a:latin typeface="Calibri"/>
              </a:rPr>
              <a:t>PART 1 · ECONOMICS</a:t>
            </a:r>
          </a:p>
        </p:txBody>
      </p:sp>
      <p:sp>
        <p:nvSpPr>
          <p:cNvPr id="4" name="TextBox 3"/>
          <p:cNvSpPr txBox="1"/>
          <p:nvPr/>
        </p:nvSpPr>
        <p:spPr>
          <a:xfrm>
            <a:off x="548640" y="548640"/>
            <a:ext cx="11091672" cy="640080"/>
          </a:xfrm>
          <a:prstGeom prst="rect">
            <a:avLst/>
          </a:prstGeom>
          <a:noFill/>
        </p:spPr>
        <p:txBody>
          <a:bodyPr wrap="square" lIns="0" rIns="0" tIns="0" bIns="0" anchor="t">
            <a:spAutoFit/>
          </a:bodyPr>
          <a:lstStyle/>
          <a:p>
            <a:pPr algn="l" marL="0" indent="0">
              <a:buNone/>
            </a:pPr>
            <a:r>
              <a:rPr sz="2700" b="1" i="0">
                <a:solidFill>
                  <a:srgbClr val="123B47"/>
                </a:solidFill>
                <a:latin typeface="Cambria"/>
              </a:rPr>
              <a:t>What an analytical store costs, and what it returns</a:t>
            </a:r>
          </a:p>
        </p:txBody>
      </p:sp>
      <p:sp>
        <p:nvSpPr>
          <p:cNvPr id="5" name="Rounded Rectangle 4"/>
          <p:cNvSpPr/>
          <p:nvPr/>
        </p:nvSpPr>
        <p:spPr>
          <a:xfrm>
            <a:off x="548640" y="1316736"/>
            <a:ext cx="5394960" cy="2249424"/>
          </a:xfrm>
          <a:prstGeom prst="roundRect">
            <a:avLst>
              <a:gd name="adj" fmla="val 3658"/>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6" name="Oval 5"/>
          <p:cNvSpPr/>
          <p:nvPr/>
        </p:nvSpPr>
        <p:spPr>
          <a:xfrm>
            <a:off x="749808" y="1527048"/>
            <a:ext cx="384048" cy="384048"/>
          </a:xfrm>
          <a:prstGeom prst="ellipse">
            <a:avLst/>
          </a:prstGeom>
          <a:solidFill>
            <a:srgbClr val="123B47"/>
          </a:solidFill>
          <a:ln>
            <a:noFill/>
          </a:ln>
          <a:effectLst/>
        </p:spPr>
        <p:txBody>
          <a:bodyPr rtlCol="0" anchor="ctr" wrap="none" lIns="0" rIns="0" tIns="0" bIns="0"/>
          <a:lstStyle/>
          <a:p>
            <a:pPr algn="ctr"/>
            <a:r>
              <a:rPr sz="1250" b="1">
                <a:solidFill>
                  <a:srgbClr val="FFFFFF"/>
                </a:solidFill>
                <a:latin typeface="Calibri"/>
              </a:rPr>
              <a:t>₹</a:t>
            </a:r>
          </a:p>
        </p:txBody>
      </p:sp>
      <p:sp>
        <p:nvSpPr>
          <p:cNvPr id="7" name="TextBox 6"/>
          <p:cNvSpPr txBox="1"/>
          <p:nvPr/>
        </p:nvSpPr>
        <p:spPr>
          <a:xfrm>
            <a:off x="1252728" y="1517904"/>
            <a:ext cx="4489704"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Where the money actually goes</a:t>
            </a:r>
          </a:p>
        </p:txBody>
      </p:sp>
      <p:sp>
        <p:nvSpPr>
          <p:cNvPr id="8" name="TextBox 7"/>
          <p:cNvSpPr txBox="1"/>
          <p:nvPr/>
        </p:nvSpPr>
        <p:spPr>
          <a:xfrm>
            <a:off x="749808" y="2002536"/>
            <a:ext cx="4992624" cy="1435607"/>
          </a:xfrm>
          <a:prstGeom prst="rect">
            <a:avLst/>
          </a:prstGeom>
          <a:noFill/>
        </p:spPr>
        <p:txBody>
          <a:bodyPr wrap="square" lIns="0" rIns="0" tIns="0" bIns="0" anchor="t">
            <a:spAutoFit/>
          </a:bodyPr>
          <a:lstStyle/>
          <a:p>
            <a:pPr marL="177800" indent="-177800">
              <a:lnSpc>
                <a:spcPct val="118000"/>
              </a:lnSpc>
              <a:spcAft>
                <a:spcPts val="500"/>
              </a:spcAft>
              <a:buSzPct val="100000"/>
              <a:buChar char="•"/>
            </a:pPr>
            <a:r>
              <a:rPr sz="800" b="1" i="0">
                <a:solidFill>
                  <a:srgbClr val="2E3F47"/>
                </a:solidFill>
                <a:latin typeface="Calibri"/>
              </a:rPr>
              <a:t>Integration and modelling — 50 to 65%. </a:t>
            </a:r>
            <a:r>
              <a:rPr sz="800" b="0" i="0">
                <a:solidFill>
                  <a:srgbClr val="2E3F47"/>
                </a:solidFill>
                <a:latin typeface="Calibri"/>
              </a:rPr>
              <a:t>Agreeing definitions, matching keys, cleansing, designing the model. Almost entirely people, and almost never estimated correctly</a:t>
            </a:r>
          </a:p>
          <a:p>
            <a:pPr marL="177800" indent="-177800">
              <a:lnSpc>
                <a:spcPct val="118000"/>
              </a:lnSpc>
              <a:spcAft>
                <a:spcPts val="500"/>
              </a:spcAft>
              <a:buSzPct val="100000"/>
              <a:buChar char="•"/>
            </a:pPr>
            <a:r>
              <a:rPr sz="800" b="1" i="0">
                <a:solidFill>
                  <a:srgbClr val="2E3F47"/>
                </a:solidFill>
                <a:latin typeface="Calibri"/>
              </a:rPr>
              <a:t>Platform and storage — 10 to 20%. </a:t>
            </a:r>
            <a:r>
              <a:rPr sz="800" b="0" i="0">
                <a:solidFill>
                  <a:srgbClr val="2E3F47"/>
                </a:solidFill>
                <a:latin typeface="Calibri"/>
              </a:rPr>
              <a:t>Now largely a subscription; elastic, and small relative to effort in mid-market projects</a:t>
            </a:r>
          </a:p>
          <a:p>
            <a:pPr marL="177800" indent="-177800">
              <a:lnSpc>
                <a:spcPct val="118000"/>
              </a:lnSpc>
              <a:spcAft>
                <a:spcPts val="500"/>
              </a:spcAft>
              <a:buSzPct val="100000"/>
              <a:buChar char="•"/>
            </a:pPr>
            <a:r>
              <a:rPr sz="800" b="1" i="0">
                <a:solidFill>
                  <a:srgbClr val="2E3F47"/>
                </a:solidFill>
                <a:latin typeface="Calibri"/>
              </a:rPr>
              <a:t>Extraction and pipelines — 15 to 25%. </a:t>
            </a:r>
            <a:r>
              <a:rPr sz="800" b="0" i="0">
                <a:solidFill>
                  <a:srgbClr val="2E3F47"/>
                </a:solidFill>
                <a:latin typeface="Calibri"/>
              </a:rPr>
              <a:t>Connectors, change capture, scheduling, monitoring and the repair of broken loads</a:t>
            </a:r>
          </a:p>
          <a:p>
            <a:pPr marL="177800" indent="-177800">
              <a:lnSpc>
                <a:spcPct val="118000"/>
              </a:lnSpc>
              <a:spcAft>
                <a:spcPts val="500"/>
              </a:spcAft>
              <a:buSzPct val="100000"/>
              <a:buChar char="•"/>
            </a:pPr>
            <a:r>
              <a:rPr sz="800" b="1" i="0">
                <a:solidFill>
                  <a:srgbClr val="2E3F47"/>
                </a:solidFill>
                <a:latin typeface="Calibri"/>
              </a:rPr>
              <a:t>Delivery and enablement — 5 to 15%. </a:t>
            </a:r>
            <a:r>
              <a:rPr sz="800" b="0" i="0">
                <a:solidFill>
                  <a:srgbClr val="2E3F47"/>
                </a:solidFill>
                <a:latin typeface="Calibri"/>
              </a:rPr>
              <a:t>Dashboards, training and the ongoing work of answering “why is this number different”</a:t>
            </a:r>
          </a:p>
        </p:txBody>
      </p:sp>
      <p:sp>
        <p:nvSpPr>
          <p:cNvPr id="9" name="Rounded Rectangle 8"/>
          <p:cNvSpPr/>
          <p:nvPr/>
        </p:nvSpPr>
        <p:spPr>
          <a:xfrm>
            <a:off x="6245352" y="1316736"/>
            <a:ext cx="5394960" cy="2249424"/>
          </a:xfrm>
          <a:prstGeom prst="roundRect">
            <a:avLst>
              <a:gd name="adj" fmla="val 3658"/>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10" name="Oval 9"/>
          <p:cNvSpPr/>
          <p:nvPr/>
        </p:nvSpPr>
        <p:spPr>
          <a:xfrm>
            <a:off x="6446520" y="1527048"/>
            <a:ext cx="384048" cy="384048"/>
          </a:xfrm>
          <a:prstGeom prst="ellipse">
            <a:avLst/>
          </a:prstGeom>
          <a:solidFill>
            <a:srgbClr val="1B7F79"/>
          </a:solidFill>
          <a:ln>
            <a:noFill/>
          </a:ln>
          <a:effectLst/>
        </p:spPr>
        <p:txBody>
          <a:bodyPr rtlCol="0" anchor="ctr" wrap="none" lIns="0" rIns="0" tIns="0" bIns="0"/>
          <a:lstStyle/>
          <a:p>
            <a:pPr algn="ctr"/>
            <a:r>
              <a:rPr sz="1250" b="1">
                <a:solidFill>
                  <a:srgbClr val="FFFFFF"/>
                </a:solidFill>
                <a:latin typeface="Calibri"/>
              </a:rPr>
              <a:t>→</a:t>
            </a:r>
          </a:p>
        </p:txBody>
      </p:sp>
      <p:sp>
        <p:nvSpPr>
          <p:cNvPr id="11" name="TextBox 10"/>
          <p:cNvSpPr txBox="1"/>
          <p:nvPr/>
        </p:nvSpPr>
        <p:spPr>
          <a:xfrm>
            <a:off x="6949440" y="1517904"/>
            <a:ext cx="4489704"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Where the return actually comes from</a:t>
            </a:r>
          </a:p>
        </p:txBody>
      </p:sp>
      <p:sp>
        <p:nvSpPr>
          <p:cNvPr id="12" name="TextBox 11"/>
          <p:cNvSpPr txBox="1"/>
          <p:nvPr/>
        </p:nvSpPr>
        <p:spPr>
          <a:xfrm>
            <a:off x="6446520" y="2002536"/>
            <a:ext cx="4992624" cy="1435607"/>
          </a:xfrm>
          <a:prstGeom prst="rect">
            <a:avLst/>
          </a:prstGeom>
          <a:noFill/>
        </p:spPr>
        <p:txBody>
          <a:bodyPr wrap="square" lIns="0" rIns="0" tIns="0" bIns="0" anchor="t">
            <a:spAutoFit/>
          </a:bodyPr>
          <a:lstStyle/>
          <a:p>
            <a:pPr marL="177800" indent="-177800">
              <a:lnSpc>
                <a:spcPct val="118000"/>
              </a:lnSpc>
              <a:spcAft>
                <a:spcPts val="500"/>
              </a:spcAft>
              <a:buSzPct val="100000"/>
              <a:buChar char="•"/>
            </a:pPr>
            <a:r>
              <a:rPr sz="919" b="1" i="0">
                <a:solidFill>
                  <a:srgbClr val="2E3F47"/>
                </a:solidFill>
                <a:latin typeface="Calibri"/>
              </a:rPr>
              <a:t>Decisions taken sooner. </a:t>
            </a:r>
            <a:r>
              <a:rPr sz="919" b="0" i="0">
                <a:solidFill>
                  <a:srgbClr val="2E3F47"/>
                </a:solidFill>
                <a:latin typeface="Calibri"/>
              </a:rPr>
              <a:t>An eleven-day report becoming same-day changes what can be acted upon at all</a:t>
            </a:r>
          </a:p>
          <a:p>
            <a:pPr marL="177800" indent="-177800">
              <a:lnSpc>
                <a:spcPct val="118000"/>
              </a:lnSpc>
              <a:spcAft>
                <a:spcPts val="500"/>
              </a:spcAft>
              <a:buSzPct val="100000"/>
              <a:buChar char="•"/>
            </a:pPr>
            <a:r>
              <a:rPr sz="919" b="1" i="0">
                <a:solidFill>
                  <a:srgbClr val="2E3F47"/>
                </a:solidFill>
                <a:latin typeface="Calibri"/>
              </a:rPr>
              <a:t>Arguments not held. </a:t>
            </a:r>
            <a:r>
              <a:rPr sz="919" b="0" i="0">
                <a:solidFill>
                  <a:srgbClr val="2E3F47"/>
                </a:solidFill>
                <a:latin typeface="Calibri"/>
              </a:rPr>
              <a:t>One agreed definition removes a recurring monthly cost that nobody books anywhere</a:t>
            </a:r>
          </a:p>
          <a:p>
            <a:pPr marL="177800" indent="-177800">
              <a:lnSpc>
                <a:spcPct val="118000"/>
              </a:lnSpc>
              <a:spcAft>
                <a:spcPts val="500"/>
              </a:spcAft>
              <a:buSzPct val="100000"/>
              <a:buChar char="•"/>
            </a:pPr>
            <a:r>
              <a:rPr sz="919" b="1" i="0">
                <a:solidFill>
                  <a:srgbClr val="2E3F47"/>
                </a:solidFill>
                <a:latin typeface="Calibri"/>
              </a:rPr>
              <a:t>Questions newly answerable. </a:t>
            </a:r>
            <a:r>
              <a:rPr sz="919" b="0" i="0">
                <a:solidFill>
                  <a:srgbClr val="2E3F47"/>
                </a:solidFill>
                <a:latin typeface="Calibri"/>
              </a:rPr>
              <a:t>Analyses that were previously refused as impossible — usually where the largest single findings appear</a:t>
            </a:r>
          </a:p>
          <a:p>
            <a:pPr marL="177800" indent="-177800">
              <a:lnSpc>
                <a:spcPct val="118000"/>
              </a:lnSpc>
              <a:spcAft>
                <a:spcPts val="500"/>
              </a:spcAft>
              <a:buSzPct val="100000"/>
              <a:buChar char="•"/>
            </a:pPr>
            <a:r>
              <a:rPr sz="919" b="1" i="0">
                <a:solidFill>
                  <a:srgbClr val="2E3F47"/>
                </a:solidFill>
                <a:latin typeface="Calibri"/>
              </a:rPr>
              <a:t>Operational load removed. </a:t>
            </a:r>
            <a:r>
              <a:rPr sz="919" b="0" i="0">
                <a:solidFill>
                  <a:srgbClr val="2E3F47"/>
                </a:solidFill>
                <a:latin typeface="Calibri"/>
              </a:rPr>
              <a:t>The transaction system returns to full capacity in business hours</a:t>
            </a:r>
          </a:p>
        </p:txBody>
      </p:sp>
      <p:sp>
        <p:nvSpPr>
          <p:cNvPr id="13" name="Rounded Rectangle 12"/>
          <p:cNvSpPr/>
          <p:nvPr/>
        </p:nvSpPr>
        <p:spPr>
          <a:xfrm>
            <a:off x="548640" y="3749039"/>
            <a:ext cx="11091672" cy="786384"/>
          </a:xfrm>
          <a:prstGeom prst="roundRect">
            <a:avLst>
              <a:gd name="adj" fmla="val 10465"/>
            </a:avLst>
          </a:prstGeom>
          <a:solidFill>
            <a:srgbClr val="123B47"/>
          </a:solidFill>
          <a:ln>
            <a:noFill/>
          </a:ln>
          <a:effectLst>
            <a:outerShdw blurRad="76200" dist="12700" dir="5400000" algn="bl" rotWithShape="0">
              <a:srgbClr val="9FB3B0">
                <a:alpha val="28000"/>
              </a:srgbClr>
            </a:outerShdw>
          </a:effectLst>
        </p:spPr>
        <p:txBody>
          <a:bodyPr rtlCol="0" anchor="ctr"/>
          <a:lstStyle/>
          <a:p/>
        </p:txBody>
      </p:sp>
      <p:sp>
        <p:nvSpPr>
          <p:cNvPr id="14" name="TextBox 13"/>
          <p:cNvSpPr txBox="1"/>
          <p:nvPr/>
        </p:nvSpPr>
        <p:spPr>
          <a:xfrm>
            <a:off x="768096" y="3822191"/>
            <a:ext cx="10652760" cy="640080"/>
          </a:xfrm>
          <a:prstGeom prst="rect">
            <a:avLst/>
          </a:prstGeom>
          <a:noFill/>
        </p:spPr>
        <p:txBody>
          <a:bodyPr wrap="square" lIns="0" rIns="0" tIns="0" bIns="0" anchor="ctr">
            <a:spAutoFit/>
          </a:bodyPr>
          <a:lstStyle/>
          <a:p>
            <a:pPr marL="0" indent="0">
              <a:lnSpc>
                <a:spcPct val="124000"/>
              </a:lnSpc>
              <a:buNone/>
            </a:pPr>
            <a:r>
              <a:rPr sz="1060" b="1" i="0">
                <a:solidFill>
                  <a:srgbClr val="FFFFFF"/>
                </a:solidFill>
                <a:latin typeface="Calibri"/>
              </a:rPr>
              <a:t>How to write the business case so that it survives scrutiny.</a:t>
            </a:r>
            <a:r>
              <a:rPr sz="1060" b="1" i="0">
                <a:solidFill>
                  <a:srgbClr val="FFFFFF"/>
                </a:solidFill>
                <a:latin typeface="Calibri"/>
              </a:rPr>
              <a:t>  Do not promise a percentage improvement in revenue; no finance director believes it and you cannot attribute it afterwards. Promise three things you can measure: a named report's cycle time, the number of hours currently spent reconciling a specified figure, and a list of questions the business has asked and been unable to answer. Then measure all three again after two quarters. A warehouse justified this way is renewable; one justified on a notional revenue uplift is cancelled at the first budget review.</a:t>
            </a:r>
          </a:p>
        </p:txBody>
      </p:sp>
      <p:sp>
        <p:nvSpPr>
          <p:cNvPr id="15" name="Rounded Rectangle 14"/>
          <p:cNvSpPr/>
          <p:nvPr/>
        </p:nvSpPr>
        <p:spPr>
          <a:xfrm>
            <a:off x="548640" y="4681728"/>
            <a:ext cx="11091672" cy="713232"/>
          </a:xfrm>
          <a:prstGeom prst="roundRect">
            <a:avLst>
              <a:gd name="adj" fmla="val 11538"/>
            </a:avLst>
          </a:prstGeom>
          <a:solidFill>
            <a:srgbClr val="FBEBD1"/>
          </a:solidFill>
          <a:ln w="12700">
            <a:solidFill>
              <a:srgbClr val="EFD9AE"/>
            </a:solidFill>
          </a:ln>
          <a:effectLst/>
        </p:spPr>
        <p:txBody>
          <a:bodyPr rtlCol="0" anchor="ctr"/>
          <a:lstStyle/>
          <a:p/>
        </p:txBody>
      </p:sp>
      <p:sp>
        <p:nvSpPr>
          <p:cNvPr id="16" name="TextBox 15"/>
          <p:cNvSpPr txBox="1"/>
          <p:nvPr/>
        </p:nvSpPr>
        <p:spPr>
          <a:xfrm>
            <a:off x="768096" y="4754880"/>
            <a:ext cx="10652760" cy="566928"/>
          </a:xfrm>
          <a:prstGeom prst="rect">
            <a:avLst/>
          </a:prstGeom>
          <a:noFill/>
        </p:spPr>
        <p:txBody>
          <a:bodyPr wrap="square" lIns="0" rIns="0" tIns="0" bIns="0" anchor="ctr">
            <a:spAutoFit/>
          </a:bodyPr>
          <a:lstStyle/>
          <a:p>
            <a:pPr marL="0" indent="0">
              <a:lnSpc>
                <a:spcPct val="124000"/>
              </a:lnSpc>
              <a:buNone/>
            </a:pPr>
            <a:r>
              <a:rPr sz="1100" b="1" i="0">
                <a:solidFill>
                  <a:srgbClr val="6A4A0F"/>
                </a:solidFill>
                <a:latin typeface="Calibri"/>
              </a:rPr>
              <a:t>The cost that is always forgotten.</a:t>
            </a:r>
            <a:r>
              <a:rPr sz="1100" b="1" i="0">
                <a:solidFill>
                  <a:srgbClr val="6A4A0F"/>
                </a:solidFill>
                <a:latin typeface="Calibri"/>
              </a:rPr>
              <a:t>  Change. Sources are upgraded, chart of accounts is restructured, a business is acquired, a definition is revised. Budget between fifteen and twenty-five per cent of the build cost annually simply to keep the warehouse true, or accept that it will drift out of trust within three years.</a:t>
            </a:r>
          </a:p>
        </p:txBody>
      </p:sp>
      <p:sp>
        <p:nvSpPr>
          <p:cNvPr id="17" name="Rounded Rectangle 16"/>
          <p:cNvSpPr/>
          <p:nvPr/>
        </p:nvSpPr>
        <p:spPr>
          <a:xfrm>
            <a:off x="548640" y="5504688"/>
            <a:ext cx="11091672" cy="621792"/>
          </a:xfrm>
          <a:prstGeom prst="roundRect">
            <a:avLst>
              <a:gd name="adj" fmla="val 13235"/>
            </a:avLst>
          </a:prstGeom>
          <a:solidFill>
            <a:srgbClr val="D8E9E7"/>
          </a:solidFill>
          <a:ln w="12700">
            <a:solidFill>
              <a:srgbClr val="BBD6D3"/>
            </a:solidFill>
          </a:ln>
          <a:effectLst/>
        </p:spPr>
        <p:txBody>
          <a:bodyPr rtlCol="0" anchor="ctr"/>
          <a:lstStyle/>
          <a:p/>
        </p:txBody>
      </p:sp>
      <p:sp>
        <p:nvSpPr>
          <p:cNvPr id="18" name="TextBox 17"/>
          <p:cNvSpPr txBox="1"/>
          <p:nvPr/>
        </p:nvSpPr>
        <p:spPr>
          <a:xfrm>
            <a:off x="768096" y="5577840"/>
            <a:ext cx="10652760" cy="475488"/>
          </a:xfrm>
          <a:prstGeom prst="rect">
            <a:avLst/>
          </a:prstGeom>
          <a:noFill/>
        </p:spPr>
        <p:txBody>
          <a:bodyPr wrap="square" lIns="0" rIns="0" tIns="0" bIns="0" anchor="ctr">
            <a:spAutoFit/>
          </a:bodyPr>
          <a:lstStyle/>
          <a:p>
            <a:pPr marL="0" indent="0">
              <a:lnSpc>
                <a:spcPct val="124000"/>
              </a:lnSpc>
              <a:buNone/>
            </a:pPr>
            <a:r>
              <a:rPr sz="1030" b="1" i="0">
                <a:solidFill>
                  <a:srgbClr val="17454E"/>
                </a:solidFill>
                <a:latin typeface="Calibri"/>
              </a:rPr>
              <a:t>A number worth quoting to a sponsor.</a:t>
            </a:r>
            <a:r>
              <a:rPr sz="1030" b="1" i="0">
                <a:solidFill>
                  <a:srgbClr val="17454E"/>
                </a:solidFill>
                <a:latin typeface="Calibri"/>
              </a:rPr>
              <a:t>  In the Rajputana Dairy case later in this session, a single historical analysis that the warehouse made possible identified ₹ 1.9 crore of annual overpayment. Benefits of that kind are typical, unpredictable, and impossible to include in a business case in advance — which is precisely why the case should rest on capability rather than on a forecast benefit.</a:t>
            </a:r>
          </a:p>
        </p:txBody>
      </p:sp>
      <p:sp>
        <p:nvSpPr>
          <p:cNvPr id="19" name="TextBox 18"/>
          <p:cNvSpPr txBox="1"/>
          <p:nvPr/>
        </p:nvSpPr>
        <p:spPr>
          <a:xfrm>
            <a:off x="548640" y="6382512"/>
            <a:ext cx="8686800" cy="256032"/>
          </a:xfrm>
          <a:prstGeom prst="rect">
            <a:avLst/>
          </a:prstGeom>
          <a:noFill/>
        </p:spPr>
        <p:txBody>
          <a:bodyPr wrap="square" lIns="0" rIns="0" tIns="0" bIns="0" anchor="t">
            <a:spAutoFit/>
          </a:bodyPr>
          <a:lstStyle/>
          <a:p>
            <a:pPr algn="l" marL="0" indent="0">
              <a:buNone/>
            </a:pPr>
            <a:r>
              <a:rPr sz="900" b="0" i="0">
                <a:solidFill>
                  <a:srgbClr val="5C7079"/>
                </a:solidFill>
                <a:latin typeface="Calibri"/>
              </a:rPr>
              <a:t>Business Intelligence  |  Session 6 — Data Warehousing &amp; OLTP/OLAP  |  IILM Jaipur, MBA</a:t>
            </a:r>
          </a:p>
        </p:txBody>
      </p:sp>
      <p:sp>
        <p:nvSpPr>
          <p:cNvPr id="20" name="TextBox 19"/>
          <p:cNvSpPr txBox="1"/>
          <p:nvPr/>
        </p:nvSpPr>
        <p:spPr>
          <a:xfrm>
            <a:off x="10543032" y="6382512"/>
            <a:ext cx="1097280" cy="256032"/>
          </a:xfrm>
          <a:prstGeom prst="rect">
            <a:avLst/>
          </a:prstGeom>
          <a:noFill/>
        </p:spPr>
        <p:txBody>
          <a:bodyPr wrap="square" lIns="0" rIns="0" tIns="0" bIns="0" anchor="t">
            <a:spAutoFit/>
          </a:bodyPr>
          <a:lstStyle/>
          <a:p>
            <a:pPr algn="r" marL="0" indent="0">
              <a:buNone/>
            </a:pPr>
            <a:r>
              <a:rPr sz="950" b="1" i="0">
                <a:solidFill>
                  <a:srgbClr val="1B7F79"/>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23B47"/>
        </a:solidFill>
        <a:effectLst/>
      </p:bgPr>
    </p:bg>
    <p:spTree>
      <p:nvGrpSpPr>
        <p:cNvPr id="1" name=""/>
        <p:cNvGrpSpPr/>
        <p:nvPr/>
      </p:nvGrpSpPr>
      <p:grpSpPr/>
      <p:sp>
        <p:nvSpPr>
          <p:cNvPr id="2" name="Oval 1"/>
          <p:cNvSpPr/>
          <p:nvPr/>
        </p:nvSpPr>
        <p:spPr>
          <a:xfrm>
            <a:off x="10561320" y="5074920"/>
            <a:ext cx="2377440" cy="2377440"/>
          </a:xfrm>
          <a:prstGeom prst="ellipse">
            <a:avLst/>
          </a:prstGeom>
          <a:solidFill>
            <a:srgbClr val="1A4E5B"/>
          </a:solidFill>
          <a:ln>
            <a:noFill/>
          </a:ln>
          <a:effectLst/>
        </p:spPr>
        <p:txBody>
          <a:bodyPr rtlCol="0" anchor="ctr" wrap="none" lIns="0" rIns="0" tIns="0" bIns="0"/>
          <a:lstStyle/>
          <a:p>
            <a:pPr algn="ctr"/>
          </a:p>
        </p:txBody>
      </p:sp>
      <p:sp>
        <p:nvSpPr>
          <p:cNvPr id="3" name="TextBox 2"/>
          <p:cNvSpPr txBox="1"/>
          <p:nvPr/>
        </p:nvSpPr>
        <p:spPr>
          <a:xfrm>
            <a:off x="548640" y="1975104"/>
            <a:ext cx="1554480" cy="1371600"/>
          </a:xfrm>
          <a:prstGeom prst="rect">
            <a:avLst/>
          </a:prstGeom>
          <a:noFill/>
        </p:spPr>
        <p:txBody>
          <a:bodyPr wrap="square" lIns="0" rIns="0" tIns="0" bIns="0" anchor="ctr">
            <a:spAutoFit/>
          </a:bodyPr>
          <a:lstStyle/>
          <a:p>
            <a:pPr marL="0" indent="0">
              <a:buNone/>
            </a:pPr>
            <a:r>
              <a:rPr sz="7400" b="1" i="0">
                <a:solidFill>
                  <a:srgbClr val="E8A33D"/>
                </a:solidFill>
                <a:latin typeface="Cambria"/>
              </a:rPr>
              <a:t>02</a:t>
            </a:r>
          </a:p>
        </p:txBody>
      </p:sp>
      <p:sp>
        <p:nvSpPr>
          <p:cNvPr id="4" name="TextBox 3"/>
          <p:cNvSpPr txBox="1"/>
          <p:nvPr/>
        </p:nvSpPr>
        <p:spPr>
          <a:xfrm>
            <a:off x="2240280" y="2011680"/>
            <a:ext cx="8595360" cy="914400"/>
          </a:xfrm>
          <a:prstGeom prst="rect">
            <a:avLst/>
          </a:prstGeom>
          <a:noFill/>
        </p:spPr>
        <p:txBody>
          <a:bodyPr wrap="square" lIns="0" rIns="0" tIns="0" bIns="0" anchor="ctr">
            <a:spAutoFit/>
          </a:bodyPr>
          <a:lstStyle/>
          <a:p>
            <a:pPr marL="0" indent="0">
              <a:lnSpc>
                <a:spcPct val="108000"/>
              </a:lnSpc>
              <a:buNone/>
            </a:pPr>
            <a:r>
              <a:rPr sz="3100" b="1" i="0">
                <a:solidFill>
                  <a:srgbClr val="FFFFFF"/>
                </a:solidFill>
                <a:latin typeface="Cambria"/>
              </a:rPr>
              <a:t>OLTP against OLAP</a:t>
            </a:r>
          </a:p>
        </p:txBody>
      </p:sp>
      <p:sp>
        <p:nvSpPr>
          <p:cNvPr id="5" name="TextBox 4"/>
          <p:cNvSpPr txBox="1"/>
          <p:nvPr/>
        </p:nvSpPr>
        <p:spPr>
          <a:xfrm>
            <a:off x="2240280" y="3017520"/>
            <a:ext cx="8595360" cy="822960"/>
          </a:xfrm>
          <a:prstGeom prst="rect">
            <a:avLst/>
          </a:prstGeom>
          <a:noFill/>
        </p:spPr>
        <p:txBody>
          <a:bodyPr wrap="square" lIns="0" rIns="0" tIns="0" bIns="0" anchor="t">
            <a:spAutoFit/>
          </a:bodyPr>
          <a:lstStyle/>
          <a:p>
            <a:pPr marL="0" indent="0">
              <a:lnSpc>
                <a:spcPct val="130000"/>
              </a:lnSpc>
              <a:buNone/>
            </a:pPr>
            <a:r>
              <a:rPr sz="1300" b="0" i="0">
                <a:solidFill>
                  <a:srgbClr val="A9C4C2"/>
                </a:solidFill>
                <a:latin typeface="Calibri"/>
              </a:rPr>
              <a:t>The two workloads characterised · the examinable contrast · the arithmetic of a query · the five OLAP operations · MOLAP, ROLAP and HOLAP</a:t>
            </a:r>
          </a:p>
        </p:txBody>
      </p:sp>
      <p:sp>
        <p:nvSpPr>
          <p:cNvPr id="6" name="TextBox 5"/>
          <p:cNvSpPr txBox="1"/>
          <p:nvPr/>
        </p:nvSpPr>
        <p:spPr>
          <a:xfrm>
            <a:off x="548640" y="6382512"/>
            <a:ext cx="8686800" cy="256032"/>
          </a:xfrm>
          <a:prstGeom prst="rect">
            <a:avLst/>
          </a:prstGeom>
          <a:noFill/>
        </p:spPr>
        <p:txBody>
          <a:bodyPr wrap="square" lIns="0" rIns="0" tIns="0" bIns="0" anchor="t">
            <a:spAutoFit/>
          </a:bodyPr>
          <a:lstStyle/>
          <a:p>
            <a:pPr algn="l" marL="0" indent="0">
              <a:buNone/>
            </a:pPr>
            <a:r>
              <a:rPr sz="900" b="0" i="0">
                <a:solidFill>
                  <a:srgbClr val="6D8A88"/>
                </a:solidFill>
                <a:latin typeface="Calibri"/>
              </a:rPr>
              <a:t>Business Intelligence  |  Session 6 — Data Warehousing &amp; OLTP/OLAP  |  IILM Jaipur, MBA</a:t>
            </a:r>
          </a:p>
        </p:txBody>
      </p:sp>
      <p:sp>
        <p:nvSpPr>
          <p:cNvPr id="7" name="TextBox 6"/>
          <p:cNvSpPr txBox="1"/>
          <p:nvPr/>
        </p:nvSpPr>
        <p:spPr>
          <a:xfrm>
            <a:off x="10543032" y="6382512"/>
            <a:ext cx="1097280" cy="256032"/>
          </a:xfrm>
          <a:prstGeom prst="rect">
            <a:avLst/>
          </a:prstGeom>
          <a:noFill/>
        </p:spPr>
        <p:txBody>
          <a:bodyPr wrap="square" lIns="0" rIns="0" tIns="0" bIns="0" anchor="t">
            <a:spAutoFit/>
          </a:bodyPr>
          <a:lstStyle/>
          <a:p>
            <a:pPr algn="r" marL="0" indent="0">
              <a:buNone/>
            </a:pPr>
            <a:r>
              <a:rPr sz="950" b="1" i="0">
                <a:solidFill>
                  <a:srgbClr val="E8A33D"/>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374904"/>
            <a:ext cx="109728" cy="109728"/>
          </a:xfrm>
          <a:prstGeom prst="ellipse">
            <a:avLst/>
          </a:prstGeom>
          <a:solidFill>
            <a:srgbClr val="E8A33D"/>
          </a:solidFill>
          <a:ln>
            <a:noFill/>
          </a:ln>
          <a:effectLst/>
        </p:spPr>
        <p:txBody>
          <a:bodyPr rtlCol="0" anchor="ctr" wrap="none" lIns="0" rIns="0" tIns="0" bIns="0"/>
          <a:lstStyle/>
          <a:p>
            <a:pPr algn="ctr"/>
          </a:p>
        </p:txBody>
      </p:sp>
      <p:sp>
        <p:nvSpPr>
          <p:cNvPr id="3" name="TextBox 2"/>
          <p:cNvSpPr txBox="1"/>
          <p:nvPr/>
        </p:nvSpPr>
        <p:spPr>
          <a:xfrm>
            <a:off x="749808" y="283464"/>
            <a:ext cx="10890504" cy="256032"/>
          </a:xfrm>
          <a:prstGeom prst="rect">
            <a:avLst/>
          </a:prstGeom>
          <a:noFill/>
        </p:spPr>
        <p:txBody>
          <a:bodyPr wrap="square" lIns="0" rIns="0" tIns="0" bIns="0" anchor="t">
            <a:spAutoFit/>
          </a:bodyPr>
          <a:lstStyle/>
          <a:p>
            <a:pPr marL="0" indent="0">
              <a:buNone/>
            </a:pPr>
            <a:r>
              <a:rPr sz="1000" b="1" i="0">
                <a:solidFill>
                  <a:srgbClr val="B87A1E"/>
                </a:solidFill>
                <a:latin typeface="Calibri"/>
              </a:rPr>
              <a:t>PART 2 · THE TWO WORKLOADS</a:t>
            </a:r>
          </a:p>
        </p:txBody>
      </p:sp>
      <p:sp>
        <p:nvSpPr>
          <p:cNvPr id="4" name="TextBox 3"/>
          <p:cNvSpPr txBox="1"/>
          <p:nvPr/>
        </p:nvSpPr>
        <p:spPr>
          <a:xfrm>
            <a:off x="548640" y="548640"/>
            <a:ext cx="11091672" cy="640080"/>
          </a:xfrm>
          <a:prstGeom prst="rect">
            <a:avLst/>
          </a:prstGeom>
          <a:noFill/>
        </p:spPr>
        <p:txBody>
          <a:bodyPr wrap="square" lIns="0" rIns="0" tIns="0" bIns="0" anchor="t">
            <a:spAutoFit/>
          </a:bodyPr>
          <a:lstStyle/>
          <a:p>
            <a:pPr algn="l" marL="0" indent="0">
              <a:buNone/>
            </a:pPr>
            <a:r>
              <a:rPr sz="2700" b="1" i="0">
                <a:solidFill>
                  <a:srgbClr val="123B47"/>
                </a:solidFill>
                <a:latin typeface="Cambria"/>
              </a:rPr>
              <a:t>Characterising the transaction and the analysis</a:t>
            </a:r>
          </a:p>
        </p:txBody>
      </p:sp>
      <p:sp>
        <p:nvSpPr>
          <p:cNvPr id="5" name="Rounded Rectangle 4"/>
          <p:cNvSpPr/>
          <p:nvPr/>
        </p:nvSpPr>
        <p:spPr>
          <a:xfrm>
            <a:off x="548640" y="1316736"/>
            <a:ext cx="5394960" cy="2395728"/>
          </a:xfrm>
          <a:prstGeom prst="roundRect">
            <a:avLst>
              <a:gd name="adj" fmla="val 3435"/>
            </a:avLst>
          </a:prstGeom>
          <a:solidFill>
            <a:srgbClr val="123B47"/>
          </a:solidFill>
          <a:ln>
            <a:noFill/>
          </a:ln>
          <a:effectLst>
            <a:outerShdw blurRad="76200" dist="12700" dir="5400000" algn="bl" rotWithShape="0">
              <a:srgbClr val="9FB3B0">
                <a:alpha val="28000"/>
              </a:srgbClr>
            </a:outerShdw>
          </a:effectLst>
        </p:spPr>
        <p:txBody>
          <a:bodyPr rtlCol="0" anchor="ctr"/>
          <a:lstStyle/>
          <a:p/>
        </p:txBody>
      </p:sp>
      <p:sp>
        <p:nvSpPr>
          <p:cNvPr id="6" name="Oval 5"/>
          <p:cNvSpPr/>
          <p:nvPr/>
        </p:nvSpPr>
        <p:spPr>
          <a:xfrm>
            <a:off x="749808" y="1527048"/>
            <a:ext cx="384048" cy="384048"/>
          </a:xfrm>
          <a:prstGeom prst="ellipse">
            <a:avLst/>
          </a:prstGeom>
          <a:solidFill>
            <a:srgbClr val="E8A33D"/>
          </a:solidFill>
          <a:ln>
            <a:noFill/>
          </a:ln>
          <a:effectLst/>
        </p:spPr>
        <p:txBody>
          <a:bodyPr rtlCol="0" anchor="ctr" wrap="none" lIns="0" rIns="0" tIns="0" bIns="0"/>
          <a:lstStyle/>
          <a:p>
            <a:pPr algn="ctr"/>
            <a:r>
              <a:rPr sz="1250" b="1">
                <a:solidFill>
                  <a:srgbClr val="3A2703"/>
                </a:solidFill>
                <a:latin typeface="Calibri"/>
              </a:rPr>
              <a:t>T</a:t>
            </a:r>
          </a:p>
        </p:txBody>
      </p:sp>
      <p:sp>
        <p:nvSpPr>
          <p:cNvPr id="7" name="TextBox 6"/>
          <p:cNvSpPr txBox="1"/>
          <p:nvPr/>
        </p:nvSpPr>
        <p:spPr>
          <a:xfrm>
            <a:off x="1252728" y="1517904"/>
            <a:ext cx="4489704" cy="402336"/>
          </a:xfrm>
          <a:prstGeom prst="rect">
            <a:avLst/>
          </a:prstGeom>
          <a:noFill/>
        </p:spPr>
        <p:txBody>
          <a:bodyPr wrap="square" lIns="0" rIns="0" tIns="0" bIns="0" anchor="ctr">
            <a:spAutoFit/>
          </a:bodyPr>
          <a:lstStyle/>
          <a:p>
            <a:pPr marL="0" indent="0">
              <a:buNone/>
            </a:pPr>
            <a:r>
              <a:rPr sz="1350" b="1" i="0">
                <a:solidFill>
                  <a:srgbClr val="FFFFFF"/>
                </a:solidFill>
                <a:latin typeface="Calibri"/>
              </a:rPr>
              <a:t>OLTP — online transaction processing</a:t>
            </a:r>
          </a:p>
        </p:txBody>
      </p:sp>
      <p:sp>
        <p:nvSpPr>
          <p:cNvPr id="8" name="TextBox 7"/>
          <p:cNvSpPr txBox="1"/>
          <p:nvPr/>
        </p:nvSpPr>
        <p:spPr>
          <a:xfrm>
            <a:off x="749808" y="2002536"/>
            <a:ext cx="4992624" cy="1581912"/>
          </a:xfrm>
          <a:prstGeom prst="rect">
            <a:avLst/>
          </a:prstGeom>
          <a:noFill/>
        </p:spPr>
        <p:txBody>
          <a:bodyPr wrap="square" lIns="0" rIns="0" tIns="0" bIns="0" anchor="t">
            <a:spAutoFit/>
          </a:bodyPr>
          <a:lstStyle/>
          <a:p>
            <a:pPr marL="0" indent="0">
              <a:lnSpc>
                <a:spcPct val="124000"/>
              </a:lnSpc>
              <a:spcAft>
                <a:spcPts val="600"/>
              </a:spcAft>
              <a:buNone/>
            </a:pPr>
            <a:r>
              <a:rPr sz="900" b="0" i="0">
                <a:solidFill>
                  <a:srgbClr val="CFE2E0"/>
                </a:solidFill>
                <a:latin typeface="Calibri"/>
              </a:rPr>
              <a:t>Runs the business. Thousands of short, pre-defined operations per second, each touching a handful of rows, each of which must be correct and durable.</a:t>
            </a:r>
          </a:p>
          <a:p>
            <a:pPr marL="177800" indent="-177800">
              <a:lnSpc>
                <a:spcPct val="118000"/>
              </a:lnSpc>
              <a:spcAft>
                <a:spcPts val="500"/>
              </a:spcAft>
              <a:buSzPct val="100000"/>
              <a:buChar char="•"/>
            </a:pPr>
            <a:r>
              <a:rPr sz="900" b="0" i="0">
                <a:solidFill>
                  <a:srgbClr val="CFE2E0"/>
                </a:solidFill>
                <a:latin typeface="Calibri"/>
              </a:rPr>
              <a:t>Unit of work: insert an order, update a stock level, post a payment</a:t>
            </a:r>
          </a:p>
          <a:p>
            <a:pPr marL="177800" indent="-177800">
              <a:lnSpc>
                <a:spcPct val="118000"/>
              </a:lnSpc>
              <a:spcAft>
                <a:spcPts val="500"/>
              </a:spcAft>
              <a:buSzPct val="100000"/>
              <a:buChar char="•"/>
            </a:pPr>
            <a:r>
              <a:rPr sz="900" b="0" i="0">
                <a:solidFill>
                  <a:srgbClr val="CFE2E0"/>
                </a:solidFill>
                <a:latin typeface="Calibri"/>
              </a:rPr>
              <a:t>Users: hundreds or thousands of clerks, customers, devices</a:t>
            </a:r>
          </a:p>
          <a:p>
            <a:pPr marL="177800" indent="-177800">
              <a:lnSpc>
                <a:spcPct val="118000"/>
              </a:lnSpc>
              <a:spcAft>
                <a:spcPts val="500"/>
              </a:spcAft>
              <a:buSzPct val="100000"/>
              <a:buChar char="•"/>
            </a:pPr>
            <a:r>
              <a:rPr sz="900" b="0" i="0">
                <a:solidFill>
                  <a:srgbClr val="CFE2E0"/>
                </a:solidFill>
                <a:latin typeface="Calibri"/>
              </a:rPr>
              <a:t>Data: current, detailed, normalised, continuously changing</a:t>
            </a:r>
          </a:p>
          <a:p>
            <a:pPr marL="177800" indent="-177800">
              <a:lnSpc>
                <a:spcPct val="118000"/>
              </a:lnSpc>
              <a:spcAft>
                <a:spcPts val="500"/>
              </a:spcAft>
              <a:buSzPct val="100000"/>
              <a:buChar char="•"/>
            </a:pPr>
            <a:r>
              <a:rPr sz="900" b="0" i="0">
                <a:solidFill>
                  <a:srgbClr val="CFE2E0"/>
                </a:solidFill>
                <a:latin typeface="Calibri"/>
              </a:rPr>
              <a:t>Success measured in: transactions per second and availability</a:t>
            </a:r>
          </a:p>
          <a:p>
            <a:pPr marL="177800" indent="-177800">
              <a:lnSpc>
                <a:spcPct val="118000"/>
              </a:lnSpc>
              <a:spcAft>
                <a:spcPts val="500"/>
              </a:spcAft>
              <a:buSzPct val="100000"/>
              <a:buChar char="•"/>
            </a:pPr>
            <a:r>
              <a:rPr sz="900" b="0" i="0">
                <a:solidFill>
                  <a:srgbClr val="CFE2E0"/>
                </a:solidFill>
                <a:latin typeface="Calibri"/>
              </a:rPr>
              <a:t>Failure looks like: a locked table, a timeout, a lost payment</a:t>
            </a:r>
          </a:p>
        </p:txBody>
      </p:sp>
      <p:sp>
        <p:nvSpPr>
          <p:cNvPr id="9" name="Rounded Rectangle 8"/>
          <p:cNvSpPr/>
          <p:nvPr/>
        </p:nvSpPr>
        <p:spPr>
          <a:xfrm>
            <a:off x="6245352" y="1316736"/>
            <a:ext cx="5394960" cy="2395728"/>
          </a:xfrm>
          <a:prstGeom prst="roundRect">
            <a:avLst>
              <a:gd name="adj" fmla="val 3435"/>
            </a:avLst>
          </a:prstGeom>
          <a:solidFill>
            <a:srgbClr val="123B47"/>
          </a:solidFill>
          <a:ln>
            <a:noFill/>
          </a:ln>
          <a:effectLst>
            <a:outerShdw blurRad="76200" dist="12700" dir="5400000" algn="bl" rotWithShape="0">
              <a:srgbClr val="9FB3B0">
                <a:alpha val="28000"/>
              </a:srgbClr>
            </a:outerShdw>
          </a:effectLst>
        </p:spPr>
        <p:txBody>
          <a:bodyPr rtlCol="0" anchor="ctr"/>
          <a:lstStyle/>
          <a:p/>
        </p:txBody>
      </p:sp>
      <p:sp>
        <p:nvSpPr>
          <p:cNvPr id="10" name="Oval 9"/>
          <p:cNvSpPr/>
          <p:nvPr/>
        </p:nvSpPr>
        <p:spPr>
          <a:xfrm>
            <a:off x="6446520" y="1527048"/>
            <a:ext cx="384048" cy="384048"/>
          </a:xfrm>
          <a:prstGeom prst="ellipse">
            <a:avLst/>
          </a:prstGeom>
          <a:solidFill>
            <a:srgbClr val="E8A33D"/>
          </a:solidFill>
          <a:ln>
            <a:noFill/>
          </a:ln>
          <a:effectLst/>
        </p:spPr>
        <p:txBody>
          <a:bodyPr rtlCol="0" anchor="ctr" wrap="none" lIns="0" rIns="0" tIns="0" bIns="0"/>
          <a:lstStyle/>
          <a:p>
            <a:pPr algn="ctr"/>
            <a:r>
              <a:rPr sz="1250" b="1">
                <a:solidFill>
                  <a:srgbClr val="3A2703"/>
                </a:solidFill>
                <a:latin typeface="Calibri"/>
              </a:rPr>
              <a:t>A</a:t>
            </a:r>
          </a:p>
        </p:txBody>
      </p:sp>
      <p:sp>
        <p:nvSpPr>
          <p:cNvPr id="11" name="TextBox 10"/>
          <p:cNvSpPr txBox="1"/>
          <p:nvPr/>
        </p:nvSpPr>
        <p:spPr>
          <a:xfrm>
            <a:off x="6949440" y="1517904"/>
            <a:ext cx="4489704" cy="402336"/>
          </a:xfrm>
          <a:prstGeom prst="rect">
            <a:avLst/>
          </a:prstGeom>
          <a:noFill/>
        </p:spPr>
        <p:txBody>
          <a:bodyPr wrap="square" lIns="0" rIns="0" tIns="0" bIns="0" anchor="ctr">
            <a:spAutoFit/>
          </a:bodyPr>
          <a:lstStyle/>
          <a:p>
            <a:pPr marL="0" indent="0">
              <a:buNone/>
            </a:pPr>
            <a:r>
              <a:rPr sz="1350" b="1" i="0">
                <a:solidFill>
                  <a:srgbClr val="FFFFFF"/>
                </a:solidFill>
                <a:latin typeface="Calibri"/>
              </a:rPr>
              <a:t>OLAP — online analytical processing</a:t>
            </a:r>
          </a:p>
        </p:txBody>
      </p:sp>
      <p:sp>
        <p:nvSpPr>
          <p:cNvPr id="12" name="TextBox 11"/>
          <p:cNvSpPr txBox="1"/>
          <p:nvPr/>
        </p:nvSpPr>
        <p:spPr>
          <a:xfrm>
            <a:off x="6446520" y="2002536"/>
            <a:ext cx="4992624" cy="1581912"/>
          </a:xfrm>
          <a:prstGeom prst="rect">
            <a:avLst/>
          </a:prstGeom>
          <a:noFill/>
        </p:spPr>
        <p:txBody>
          <a:bodyPr wrap="square" lIns="0" rIns="0" tIns="0" bIns="0" anchor="t">
            <a:spAutoFit/>
          </a:bodyPr>
          <a:lstStyle/>
          <a:p>
            <a:pPr marL="0" indent="0">
              <a:lnSpc>
                <a:spcPct val="124000"/>
              </a:lnSpc>
              <a:spcAft>
                <a:spcPts val="600"/>
              </a:spcAft>
              <a:buNone/>
            </a:pPr>
            <a:r>
              <a:rPr sz="900" b="0" i="0">
                <a:solidFill>
                  <a:srgbClr val="CFE2E0"/>
                </a:solidFill>
                <a:latin typeface="Calibri"/>
              </a:rPr>
              <a:t>Understands the business. A small number of long, unpredictable queries, each reading a great many rows and returning a summary.</a:t>
            </a:r>
          </a:p>
          <a:p>
            <a:pPr marL="177800" indent="-177800">
              <a:lnSpc>
                <a:spcPct val="118000"/>
              </a:lnSpc>
              <a:spcAft>
                <a:spcPts val="500"/>
              </a:spcAft>
              <a:buSzPct val="100000"/>
              <a:buChar char="•"/>
            </a:pPr>
            <a:r>
              <a:rPr sz="900" b="0" i="0">
                <a:solidFill>
                  <a:srgbClr val="CFE2E0"/>
                </a:solidFill>
                <a:latin typeface="Calibri"/>
              </a:rPr>
              <a:t>Unit of work: sales by region by month by category for three years</a:t>
            </a:r>
          </a:p>
          <a:p>
            <a:pPr marL="177800" indent="-177800">
              <a:lnSpc>
                <a:spcPct val="118000"/>
              </a:lnSpc>
              <a:spcAft>
                <a:spcPts val="500"/>
              </a:spcAft>
              <a:buSzPct val="100000"/>
              <a:buChar char="•"/>
            </a:pPr>
            <a:r>
              <a:rPr sz="900" b="0" i="0">
                <a:solidFill>
                  <a:srgbClr val="CFE2E0"/>
                </a:solidFill>
                <a:latin typeface="Calibri"/>
              </a:rPr>
              <a:t>Users: tens or hundreds of analysts and managers</a:t>
            </a:r>
          </a:p>
          <a:p>
            <a:pPr marL="177800" indent="-177800">
              <a:lnSpc>
                <a:spcPct val="118000"/>
              </a:lnSpc>
              <a:spcAft>
                <a:spcPts val="500"/>
              </a:spcAft>
              <a:buSzPct val="100000"/>
              <a:buChar char="•"/>
            </a:pPr>
            <a:r>
              <a:rPr sz="900" b="0" i="0">
                <a:solidFill>
                  <a:srgbClr val="CFE2E0"/>
                </a:solidFill>
                <a:latin typeface="Calibri"/>
              </a:rPr>
              <a:t>Data: historical, summarised and detailed, denormalised, loaded in bulk</a:t>
            </a:r>
          </a:p>
          <a:p>
            <a:pPr marL="177800" indent="-177800">
              <a:lnSpc>
                <a:spcPct val="118000"/>
              </a:lnSpc>
              <a:spcAft>
                <a:spcPts val="500"/>
              </a:spcAft>
              <a:buSzPct val="100000"/>
              <a:buChar char="•"/>
            </a:pPr>
            <a:r>
              <a:rPr sz="900" b="0" i="0">
                <a:solidFill>
                  <a:srgbClr val="CFE2E0"/>
                </a:solidFill>
                <a:latin typeface="Calibri"/>
              </a:rPr>
              <a:t>Success measured in: query response time and question coverage</a:t>
            </a:r>
          </a:p>
          <a:p>
            <a:pPr marL="177800" indent="-177800">
              <a:lnSpc>
                <a:spcPct val="118000"/>
              </a:lnSpc>
              <a:spcAft>
                <a:spcPts val="500"/>
              </a:spcAft>
              <a:buSzPct val="100000"/>
              <a:buChar char="•"/>
            </a:pPr>
            <a:r>
              <a:rPr sz="900" b="0" i="0">
                <a:solidFill>
                  <a:srgbClr val="CFE2E0"/>
                </a:solidFill>
                <a:latin typeface="Calibri"/>
              </a:rPr>
              <a:t>Failure looks like: a report nobody trusts, or one that takes four minutes</a:t>
            </a:r>
          </a:p>
        </p:txBody>
      </p:sp>
      <p:sp>
        <p:nvSpPr>
          <p:cNvPr id="13" name="Rounded Rectangle 12"/>
          <p:cNvSpPr/>
          <p:nvPr/>
        </p:nvSpPr>
        <p:spPr>
          <a:xfrm>
            <a:off x="548640" y="3858768"/>
            <a:ext cx="11091672" cy="822960"/>
          </a:xfrm>
          <a:prstGeom prst="roundRect">
            <a:avLst>
              <a:gd name="adj" fmla="val 10000"/>
            </a:avLst>
          </a:prstGeom>
          <a:solidFill>
            <a:srgbClr val="123B47"/>
          </a:solidFill>
          <a:ln>
            <a:noFill/>
          </a:ln>
          <a:effectLst>
            <a:outerShdw blurRad="76200" dist="12700" dir="5400000" algn="bl" rotWithShape="0">
              <a:srgbClr val="9FB3B0">
                <a:alpha val="28000"/>
              </a:srgbClr>
            </a:outerShdw>
          </a:effectLst>
        </p:spPr>
        <p:txBody>
          <a:bodyPr rtlCol="0" anchor="ctr"/>
          <a:lstStyle/>
          <a:p/>
        </p:txBody>
      </p:sp>
      <p:sp>
        <p:nvSpPr>
          <p:cNvPr id="14" name="TextBox 13"/>
          <p:cNvSpPr txBox="1"/>
          <p:nvPr/>
        </p:nvSpPr>
        <p:spPr>
          <a:xfrm>
            <a:off x="768096" y="3931920"/>
            <a:ext cx="10652760" cy="676656"/>
          </a:xfrm>
          <a:prstGeom prst="rect">
            <a:avLst/>
          </a:prstGeom>
          <a:noFill/>
        </p:spPr>
        <p:txBody>
          <a:bodyPr wrap="square" lIns="0" rIns="0" tIns="0" bIns="0" anchor="ctr">
            <a:spAutoFit/>
          </a:bodyPr>
          <a:lstStyle/>
          <a:p>
            <a:pPr marL="0" indent="0">
              <a:lnSpc>
                <a:spcPct val="124000"/>
              </a:lnSpc>
              <a:buNone/>
            </a:pPr>
            <a:r>
              <a:rPr sz="1060" b="1" i="0">
                <a:solidFill>
                  <a:srgbClr val="FFFFFF"/>
                </a:solidFill>
                <a:latin typeface="Calibri"/>
              </a:rPr>
              <a:t>The arithmetic, made concrete.</a:t>
            </a:r>
            <a:r>
              <a:rPr sz="1060" b="1" i="0">
                <a:solidFill>
                  <a:srgbClr val="FFFFFF"/>
                </a:solidFill>
                <a:latin typeface="Calibri"/>
              </a:rPr>
              <a:t>  Sarita Fashions records about 38,000 bills a month across 62 stores, with an average of 2.3 lines each — say one million bill lines a year. A point-of-sale transaction writes one bill and three lines: four rows. The analytical question “average transaction value by store format by month for the last three years” must read three million bill lines, join them to store and product, group them and return roughly 200 numbers. The two operations differ by six orders of magnitude in rows touched, and no single physical design is good at both.</a:t>
            </a:r>
          </a:p>
        </p:txBody>
      </p:sp>
      <p:sp>
        <p:nvSpPr>
          <p:cNvPr id="15" name="Rounded Rectangle 14"/>
          <p:cNvSpPr/>
          <p:nvPr/>
        </p:nvSpPr>
        <p:spPr>
          <a:xfrm>
            <a:off x="548640" y="4700016"/>
            <a:ext cx="5394960" cy="1115568"/>
          </a:xfrm>
          <a:prstGeom prst="roundRect">
            <a:avLst>
              <a:gd name="adj" fmla="val 7377"/>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16" name="Oval 15"/>
          <p:cNvSpPr/>
          <p:nvPr/>
        </p:nvSpPr>
        <p:spPr>
          <a:xfrm>
            <a:off x="749808" y="4910328"/>
            <a:ext cx="384048" cy="384048"/>
          </a:xfrm>
          <a:prstGeom prst="ellipse">
            <a:avLst/>
          </a:prstGeom>
          <a:solidFill>
            <a:srgbClr val="1B7F79"/>
          </a:solidFill>
          <a:ln>
            <a:noFill/>
          </a:ln>
          <a:effectLst/>
        </p:spPr>
        <p:txBody>
          <a:bodyPr rtlCol="0" anchor="ctr" wrap="none" lIns="0" rIns="0" tIns="0" bIns="0"/>
          <a:lstStyle/>
          <a:p>
            <a:pPr algn="ctr"/>
            <a:r>
              <a:rPr sz="1250" b="1">
                <a:solidFill>
                  <a:srgbClr val="FFFFFF"/>
                </a:solidFill>
                <a:latin typeface="Calibri"/>
              </a:rPr>
              <a:t>→</a:t>
            </a:r>
          </a:p>
        </p:txBody>
      </p:sp>
      <p:sp>
        <p:nvSpPr>
          <p:cNvPr id="17" name="TextBox 16"/>
          <p:cNvSpPr txBox="1"/>
          <p:nvPr/>
        </p:nvSpPr>
        <p:spPr>
          <a:xfrm>
            <a:off x="1252728" y="4901183"/>
            <a:ext cx="4489704"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Why indexes do not rescue the analytical query</a:t>
            </a:r>
          </a:p>
        </p:txBody>
      </p:sp>
      <p:sp>
        <p:nvSpPr>
          <p:cNvPr id="18" name="TextBox 17"/>
          <p:cNvSpPr txBox="1"/>
          <p:nvPr/>
        </p:nvSpPr>
        <p:spPr>
          <a:xfrm>
            <a:off x="749808" y="5385816"/>
            <a:ext cx="4992624" cy="301751"/>
          </a:xfrm>
          <a:prstGeom prst="rect">
            <a:avLst/>
          </a:prstGeom>
          <a:noFill/>
        </p:spPr>
        <p:txBody>
          <a:bodyPr wrap="square" lIns="0" rIns="0" tIns="0" bIns="0" anchor="t">
            <a:spAutoFit/>
          </a:bodyPr>
          <a:lstStyle/>
          <a:p>
            <a:pPr marL="0" indent="0">
              <a:lnSpc>
                <a:spcPct val="124000"/>
              </a:lnSpc>
              <a:buNone/>
            </a:pPr>
            <a:r>
              <a:rPr sz="800" b="0" i="0">
                <a:solidFill>
                  <a:srgbClr val="2E3F47"/>
                </a:solidFill>
                <a:latin typeface="Calibri"/>
              </a:rPr>
              <a:t>An index helps when few rows qualify. When most of the table qualifies, the optimiser correctly ignores the index and scans — and in a row store, scanning two columns means reading every column.</a:t>
            </a:r>
          </a:p>
        </p:txBody>
      </p:sp>
      <p:sp>
        <p:nvSpPr>
          <p:cNvPr id="19" name="Rounded Rectangle 18"/>
          <p:cNvSpPr/>
          <p:nvPr/>
        </p:nvSpPr>
        <p:spPr>
          <a:xfrm>
            <a:off x="6245352" y="4700016"/>
            <a:ext cx="5394960" cy="1115568"/>
          </a:xfrm>
          <a:prstGeom prst="roundRect">
            <a:avLst>
              <a:gd name="adj" fmla="val 7377"/>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20" name="Oval 19"/>
          <p:cNvSpPr/>
          <p:nvPr/>
        </p:nvSpPr>
        <p:spPr>
          <a:xfrm>
            <a:off x="6446520" y="4910328"/>
            <a:ext cx="384048" cy="384048"/>
          </a:xfrm>
          <a:prstGeom prst="ellipse">
            <a:avLst/>
          </a:prstGeom>
          <a:solidFill>
            <a:srgbClr val="A63B26"/>
          </a:solidFill>
          <a:ln>
            <a:noFill/>
          </a:ln>
          <a:effectLst/>
        </p:spPr>
        <p:txBody>
          <a:bodyPr rtlCol="0" anchor="ctr" wrap="none" lIns="0" rIns="0" tIns="0" bIns="0"/>
          <a:lstStyle/>
          <a:p>
            <a:pPr algn="ctr"/>
            <a:r>
              <a:rPr sz="1250" b="1">
                <a:solidFill>
                  <a:srgbClr val="FFFFFF"/>
                </a:solidFill>
                <a:latin typeface="Calibri"/>
              </a:rPr>
              <a:t>!</a:t>
            </a:r>
          </a:p>
        </p:txBody>
      </p:sp>
      <p:sp>
        <p:nvSpPr>
          <p:cNvPr id="21" name="TextBox 20"/>
          <p:cNvSpPr txBox="1"/>
          <p:nvPr/>
        </p:nvSpPr>
        <p:spPr>
          <a:xfrm>
            <a:off x="6949440" y="4901183"/>
            <a:ext cx="4489704"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Why the analyst is blamed unfairly</a:t>
            </a:r>
          </a:p>
        </p:txBody>
      </p:sp>
      <p:sp>
        <p:nvSpPr>
          <p:cNvPr id="22" name="TextBox 21"/>
          <p:cNvSpPr txBox="1"/>
          <p:nvPr/>
        </p:nvSpPr>
        <p:spPr>
          <a:xfrm>
            <a:off x="6446520" y="5385816"/>
            <a:ext cx="4992624" cy="301751"/>
          </a:xfrm>
          <a:prstGeom prst="rect">
            <a:avLst/>
          </a:prstGeom>
          <a:noFill/>
        </p:spPr>
        <p:txBody>
          <a:bodyPr wrap="square" lIns="0" rIns="0" tIns="0" bIns="0" anchor="t">
            <a:spAutoFit/>
          </a:bodyPr>
          <a:lstStyle/>
          <a:p>
            <a:pPr marL="0" indent="0">
              <a:lnSpc>
                <a:spcPct val="124000"/>
              </a:lnSpc>
              <a:buNone/>
            </a:pPr>
            <a:r>
              <a:rPr sz="800" b="0" i="0">
                <a:solidFill>
                  <a:srgbClr val="2E3F47"/>
                </a:solidFill>
                <a:latin typeface="Calibri"/>
              </a:rPr>
              <a:t>The query is not badly written. It is being asked of a structure that was designed, correctly, for the opposite purpose. The remedy is architectural, not a rewrite.</a:t>
            </a:r>
          </a:p>
        </p:txBody>
      </p:sp>
      <p:sp>
        <p:nvSpPr>
          <p:cNvPr id="23" name="TextBox 22"/>
          <p:cNvSpPr txBox="1"/>
          <p:nvPr/>
        </p:nvSpPr>
        <p:spPr>
          <a:xfrm>
            <a:off x="548640" y="6382512"/>
            <a:ext cx="8686800" cy="256032"/>
          </a:xfrm>
          <a:prstGeom prst="rect">
            <a:avLst/>
          </a:prstGeom>
          <a:noFill/>
        </p:spPr>
        <p:txBody>
          <a:bodyPr wrap="square" lIns="0" rIns="0" tIns="0" bIns="0" anchor="t">
            <a:spAutoFit/>
          </a:bodyPr>
          <a:lstStyle/>
          <a:p>
            <a:pPr algn="l" marL="0" indent="0">
              <a:buNone/>
            </a:pPr>
            <a:r>
              <a:rPr sz="900" b="0" i="0">
                <a:solidFill>
                  <a:srgbClr val="5C7079"/>
                </a:solidFill>
                <a:latin typeface="Calibri"/>
              </a:rPr>
              <a:t>Business Intelligence  |  Session 6 — Data Warehousing &amp; OLTP/OLAP  |  IILM Jaipur, MBA</a:t>
            </a:r>
          </a:p>
        </p:txBody>
      </p:sp>
      <p:sp>
        <p:nvSpPr>
          <p:cNvPr id="24" name="TextBox 23"/>
          <p:cNvSpPr txBox="1"/>
          <p:nvPr/>
        </p:nvSpPr>
        <p:spPr>
          <a:xfrm>
            <a:off x="10543032" y="6382512"/>
            <a:ext cx="1097280" cy="256032"/>
          </a:xfrm>
          <a:prstGeom prst="rect">
            <a:avLst/>
          </a:prstGeom>
          <a:noFill/>
        </p:spPr>
        <p:txBody>
          <a:bodyPr wrap="square" lIns="0" rIns="0" tIns="0" bIns="0" anchor="t">
            <a:spAutoFit/>
          </a:bodyPr>
          <a:lstStyle/>
          <a:p>
            <a:pPr algn="r" marL="0" indent="0">
              <a:buNone/>
            </a:pPr>
            <a:r>
              <a:rPr sz="950" b="1" i="0">
                <a:solidFill>
                  <a:srgbClr val="1B7F79"/>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374904"/>
            <a:ext cx="109728" cy="109728"/>
          </a:xfrm>
          <a:prstGeom prst="ellipse">
            <a:avLst/>
          </a:prstGeom>
          <a:solidFill>
            <a:srgbClr val="E8A33D"/>
          </a:solidFill>
          <a:ln>
            <a:noFill/>
          </a:ln>
          <a:effectLst/>
        </p:spPr>
        <p:txBody>
          <a:bodyPr rtlCol="0" anchor="ctr" wrap="none" lIns="0" rIns="0" tIns="0" bIns="0"/>
          <a:lstStyle/>
          <a:p>
            <a:pPr algn="ctr"/>
          </a:p>
        </p:txBody>
      </p:sp>
      <p:sp>
        <p:nvSpPr>
          <p:cNvPr id="3" name="TextBox 2"/>
          <p:cNvSpPr txBox="1"/>
          <p:nvPr/>
        </p:nvSpPr>
        <p:spPr>
          <a:xfrm>
            <a:off x="749808" y="283464"/>
            <a:ext cx="10890504" cy="256032"/>
          </a:xfrm>
          <a:prstGeom prst="rect">
            <a:avLst/>
          </a:prstGeom>
          <a:noFill/>
        </p:spPr>
        <p:txBody>
          <a:bodyPr wrap="square" lIns="0" rIns="0" tIns="0" bIns="0" anchor="t">
            <a:spAutoFit/>
          </a:bodyPr>
          <a:lstStyle/>
          <a:p>
            <a:pPr marL="0" indent="0">
              <a:buNone/>
            </a:pPr>
            <a:r>
              <a:rPr sz="1000" b="1" i="0">
                <a:solidFill>
                  <a:srgbClr val="B87A1E"/>
                </a:solidFill>
                <a:latin typeface="Calibri"/>
              </a:rPr>
              <a:t>PART 2 · THE CONTRAST</a:t>
            </a:r>
          </a:p>
        </p:txBody>
      </p:sp>
      <p:sp>
        <p:nvSpPr>
          <p:cNvPr id="4" name="TextBox 3"/>
          <p:cNvSpPr txBox="1"/>
          <p:nvPr/>
        </p:nvSpPr>
        <p:spPr>
          <a:xfrm>
            <a:off x="548640" y="548640"/>
            <a:ext cx="11091672" cy="640080"/>
          </a:xfrm>
          <a:prstGeom prst="rect">
            <a:avLst/>
          </a:prstGeom>
          <a:noFill/>
        </p:spPr>
        <p:txBody>
          <a:bodyPr wrap="square" lIns="0" rIns="0" tIns="0" bIns="0" anchor="t">
            <a:spAutoFit/>
          </a:bodyPr>
          <a:lstStyle/>
          <a:p>
            <a:pPr algn="l" marL="0" indent="0">
              <a:buNone/>
            </a:pPr>
            <a:r>
              <a:rPr sz="2700" b="1" i="0">
                <a:solidFill>
                  <a:srgbClr val="123B47"/>
                </a:solidFill>
                <a:latin typeface="Cambria"/>
              </a:rPr>
              <a:t>OLTP and OLAP compared — the examinable table</a:t>
            </a:r>
          </a:p>
        </p:txBody>
      </p:sp>
      <p:graphicFrame>
        <p:nvGraphicFramePr>
          <p:cNvPr id="5" name="Table 4"/>
          <p:cNvGraphicFramePr>
            <a:graphicFrameLocks noGrp="1"/>
          </p:cNvGraphicFramePr>
          <p:nvPr/>
        </p:nvGraphicFramePr>
        <p:xfrm>
          <a:off x="548640" y="1316736"/>
          <a:ext cx="11091672" cy="4352544"/>
        </p:xfrm>
        <a:graphic>
          <a:graphicData uri="http://schemas.openxmlformats.org/drawingml/2006/table">
            <a:tbl>
              <a:tblPr bandRow="0" firstRow="0"/>
              <a:tblGrid>
                <a:gridCol w="2148840"/>
                <a:gridCol w="4343400"/>
                <a:gridCol w="4599432"/>
              </a:tblGrid>
              <a:tr h="310896">
                <a:tc>
                  <a:txBody>
                    <a:bodyPr wrap="square"/>
                    <a:lstStyle/>
                    <a:p>
                      <a:pPr marL="0" indent="0">
                        <a:buNone/>
                        <a:defRPr sz="990"/>
                      </a:pPr>
                      <a:r>
                        <a:rPr sz="990" b="1">
                          <a:solidFill>
                            <a:srgbClr val="FFFFFF"/>
                          </a:solidFill>
                          <a:latin typeface="Calibri"/>
                        </a:rPr>
                        <a:t>Dimension</a:t>
                      </a:r>
                      <a:endParaRPr lang="en-US" sz="99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123B47"/>
                    </a:solidFill>
                  </a:tcPr>
                </a:tc>
                <a:tc>
                  <a:txBody>
                    <a:bodyPr wrap="square"/>
                    <a:lstStyle/>
                    <a:p>
                      <a:pPr marL="0" indent="0">
                        <a:buNone/>
                        <a:defRPr sz="990"/>
                      </a:pPr>
                      <a:r>
                        <a:rPr sz="990" b="1">
                          <a:solidFill>
                            <a:srgbClr val="FFFFFF"/>
                          </a:solidFill>
                          <a:latin typeface="Calibri"/>
                        </a:rPr>
                        <a:t>OLTP</a:t>
                      </a:r>
                      <a:endParaRPr lang="en-US" sz="99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123B47"/>
                    </a:solidFill>
                  </a:tcPr>
                </a:tc>
                <a:tc>
                  <a:txBody>
                    <a:bodyPr wrap="square"/>
                    <a:lstStyle/>
                    <a:p>
                      <a:pPr marL="0" indent="0">
                        <a:buNone/>
                        <a:defRPr sz="990"/>
                      </a:pPr>
                      <a:r>
                        <a:rPr sz="990" b="1">
                          <a:solidFill>
                            <a:srgbClr val="FFFFFF"/>
                          </a:solidFill>
                          <a:latin typeface="Calibri"/>
                        </a:rPr>
                        <a:t>OLAP</a:t>
                      </a:r>
                      <a:endParaRPr lang="en-US" sz="99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123B47"/>
                    </a:solidFill>
                  </a:tcPr>
                </a:tc>
              </a:tr>
              <a:tr h="310896">
                <a:tc>
                  <a:txBody>
                    <a:bodyPr wrap="square"/>
                    <a:lstStyle/>
                    <a:p>
                      <a:pPr marL="0" indent="0">
                        <a:buNone/>
                        <a:defRPr sz="920"/>
                      </a:pPr>
                      <a:r>
                        <a:rPr sz="920" b="1">
                          <a:solidFill>
                            <a:srgbClr val="2E3F47"/>
                          </a:solidFill>
                          <a:latin typeface="Calibri"/>
                        </a:rPr>
                        <a:t>Purpose</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20"/>
                      </a:pPr>
                      <a:r>
                        <a:rPr sz="920" b="0">
                          <a:solidFill>
                            <a:srgbClr val="2E3F47"/>
                          </a:solidFill>
                          <a:latin typeface="Calibri"/>
                        </a:rPr>
                        <a:t>Run the business — capture and control transactions</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20"/>
                      </a:pPr>
                      <a:r>
                        <a:rPr sz="920" b="0">
                          <a:solidFill>
                            <a:srgbClr val="2E3F47"/>
                          </a:solidFill>
                          <a:latin typeface="Calibri"/>
                        </a:rPr>
                        <a:t>Understand the business — support decisions</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r>
              <a:tr h="310896">
                <a:tc>
                  <a:txBody>
                    <a:bodyPr wrap="square"/>
                    <a:lstStyle/>
                    <a:p>
                      <a:pPr marL="0" indent="0">
                        <a:buNone/>
                        <a:defRPr sz="920"/>
                      </a:pPr>
                      <a:r>
                        <a:rPr sz="920" b="1">
                          <a:solidFill>
                            <a:srgbClr val="2E3F47"/>
                          </a:solidFill>
                          <a:latin typeface="Calibri"/>
                        </a:rPr>
                        <a:t>Typical operation</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20"/>
                      </a:pPr>
                      <a:r>
                        <a:rPr sz="920" b="0">
                          <a:solidFill>
                            <a:srgbClr val="2E3F47"/>
                          </a:solidFill>
                          <a:latin typeface="Calibri"/>
                        </a:rPr>
                        <a:t>Insert, update, delete a few rows</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20"/>
                      </a:pPr>
                      <a:r>
                        <a:rPr sz="920" b="0">
                          <a:solidFill>
                            <a:srgbClr val="2E3F47"/>
                          </a:solidFill>
                          <a:latin typeface="Calibri"/>
                        </a:rPr>
                        <a:t>Read and aggregate millions of rows</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r>
              <a:tr h="310896">
                <a:tc>
                  <a:txBody>
                    <a:bodyPr wrap="square"/>
                    <a:lstStyle/>
                    <a:p>
                      <a:pPr marL="0" indent="0">
                        <a:buNone/>
                        <a:defRPr sz="920"/>
                      </a:pPr>
                      <a:r>
                        <a:rPr sz="920" b="1">
                          <a:solidFill>
                            <a:srgbClr val="2E3F47"/>
                          </a:solidFill>
                          <a:latin typeface="Calibri"/>
                        </a:rPr>
                        <a:t>Query pattern</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20"/>
                      </a:pPr>
                      <a:r>
                        <a:rPr sz="920" b="0">
                          <a:solidFill>
                            <a:srgbClr val="2E3F47"/>
                          </a:solidFill>
                          <a:latin typeface="Calibri"/>
                        </a:rPr>
                        <a:t>Pre-defined, repetitive, embedded in applications</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20"/>
                      </a:pPr>
                      <a:r>
                        <a:rPr sz="920" b="0">
                          <a:solidFill>
                            <a:srgbClr val="2E3F47"/>
                          </a:solidFill>
                          <a:latin typeface="Calibri"/>
                        </a:rPr>
                        <a:t>Ad-hoc, exploratory, written or generated at will</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r>
              <a:tr h="310896">
                <a:tc>
                  <a:txBody>
                    <a:bodyPr wrap="square"/>
                    <a:lstStyle/>
                    <a:p>
                      <a:pPr marL="0" indent="0">
                        <a:buNone/>
                        <a:defRPr sz="920"/>
                      </a:pPr>
                      <a:r>
                        <a:rPr sz="920" b="1">
                          <a:solidFill>
                            <a:srgbClr val="2E3F47"/>
                          </a:solidFill>
                          <a:latin typeface="Calibri"/>
                        </a:rPr>
                        <a:t>Data currency</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20"/>
                      </a:pPr>
                      <a:r>
                        <a:rPr sz="920" b="0">
                          <a:solidFill>
                            <a:srgbClr val="2E3F47"/>
                          </a:solidFill>
                          <a:latin typeface="Calibri"/>
                        </a:rPr>
                        <a:t>Current state only; history overwritten</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20"/>
                      </a:pPr>
                      <a:r>
                        <a:rPr sz="920" b="0">
                          <a:solidFill>
                            <a:srgbClr val="2E3F47"/>
                          </a:solidFill>
                          <a:latin typeface="Calibri"/>
                        </a:rPr>
                        <a:t>Historical and current; history retained deliberately</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r>
              <a:tr h="310896">
                <a:tc>
                  <a:txBody>
                    <a:bodyPr wrap="square"/>
                    <a:lstStyle/>
                    <a:p>
                      <a:pPr marL="0" indent="0">
                        <a:buNone/>
                        <a:defRPr sz="920"/>
                      </a:pPr>
                      <a:r>
                        <a:rPr sz="920" b="1">
                          <a:solidFill>
                            <a:srgbClr val="2E3F47"/>
                          </a:solidFill>
                          <a:latin typeface="Calibri"/>
                        </a:rPr>
                        <a:t>Schema design</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20"/>
                      </a:pPr>
                      <a:r>
                        <a:rPr sz="920" b="0">
                          <a:solidFill>
                            <a:srgbClr val="2E3F47"/>
                          </a:solidFill>
                          <a:latin typeface="Calibri"/>
                        </a:rPr>
                        <a:t>Normalised (3NF) to eliminate redundancy</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20"/>
                      </a:pPr>
                      <a:r>
                        <a:rPr sz="920" b="0">
                          <a:solidFill>
                            <a:srgbClr val="2E3F47"/>
                          </a:solidFill>
                          <a:latin typeface="Calibri"/>
                        </a:rPr>
                        <a:t>Dimensional (star or snowflake), deliberately denormalised</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r>
              <a:tr h="310896">
                <a:tc>
                  <a:txBody>
                    <a:bodyPr wrap="square"/>
                    <a:lstStyle/>
                    <a:p>
                      <a:pPr marL="0" indent="0">
                        <a:buNone/>
                        <a:defRPr sz="920"/>
                      </a:pPr>
                      <a:r>
                        <a:rPr sz="920" b="1">
                          <a:solidFill>
                            <a:srgbClr val="2E3F47"/>
                          </a:solidFill>
                          <a:latin typeface="Calibri"/>
                        </a:rPr>
                        <a:t>Storage orientation</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20"/>
                      </a:pPr>
                      <a:r>
                        <a:rPr sz="920" b="0">
                          <a:solidFill>
                            <a:srgbClr val="2E3F47"/>
                          </a:solidFill>
                          <a:latin typeface="Calibri"/>
                        </a:rPr>
                        <a:t>Row-oriented</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20"/>
                      </a:pPr>
                      <a:r>
                        <a:rPr sz="920" b="0">
                          <a:solidFill>
                            <a:srgbClr val="2E3F47"/>
                          </a:solidFill>
                          <a:latin typeface="Calibri"/>
                        </a:rPr>
                        <a:t>Column-oriented</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r>
              <a:tr h="310896">
                <a:tc>
                  <a:txBody>
                    <a:bodyPr wrap="square"/>
                    <a:lstStyle/>
                    <a:p>
                      <a:pPr marL="0" indent="0">
                        <a:buNone/>
                        <a:defRPr sz="920"/>
                      </a:pPr>
                      <a:r>
                        <a:rPr sz="920" b="1">
                          <a:solidFill>
                            <a:srgbClr val="2E3F47"/>
                          </a:solidFill>
                          <a:latin typeface="Calibri"/>
                        </a:rPr>
                        <a:t>Data volume per query</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20"/>
                      </a:pPr>
                      <a:r>
                        <a:rPr sz="920" b="0">
                          <a:solidFill>
                            <a:srgbClr val="2E3F47"/>
                          </a:solidFill>
                          <a:latin typeface="Calibri"/>
                        </a:rPr>
                        <a:t>Bytes to kilobytes</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20"/>
                      </a:pPr>
                      <a:r>
                        <a:rPr sz="920" b="0">
                          <a:solidFill>
                            <a:srgbClr val="2E3F47"/>
                          </a:solidFill>
                          <a:latin typeface="Calibri"/>
                        </a:rPr>
                        <a:t>Megabytes to terabytes</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r>
              <a:tr h="310896">
                <a:tc>
                  <a:txBody>
                    <a:bodyPr wrap="square"/>
                    <a:lstStyle/>
                    <a:p>
                      <a:pPr marL="0" indent="0">
                        <a:buNone/>
                        <a:defRPr sz="920"/>
                      </a:pPr>
                      <a:r>
                        <a:rPr sz="920" b="1">
                          <a:solidFill>
                            <a:srgbClr val="2E3F47"/>
                          </a:solidFill>
                          <a:latin typeface="Calibri"/>
                        </a:rPr>
                        <a:t>Concurrency</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20"/>
                      </a:pPr>
                      <a:r>
                        <a:rPr sz="920" b="0">
                          <a:solidFill>
                            <a:srgbClr val="2E3F47"/>
                          </a:solidFill>
                          <a:latin typeface="Calibri"/>
                        </a:rPr>
                        <a:t>Very high; thousands of concurrent writers</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20"/>
                      </a:pPr>
                      <a:r>
                        <a:rPr sz="920" b="0">
                          <a:solidFill>
                            <a:srgbClr val="2E3F47"/>
                          </a:solidFill>
                          <a:latin typeface="Calibri"/>
                        </a:rPr>
                        <a:t>Moderate; tens or hundreds of concurrent readers</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r>
              <a:tr h="310896">
                <a:tc>
                  <a:txBody>
                    <a:bodyPr wrap="square"/>
                    <a:lstStyle/>
                    <a:p>
                      <a:pPr marL="0" indent="0">
                        <a:buNone/>
                        <a:defRPr sz="920"/>
                      </a:pPr>
                      <a:r>
                        <a:rPr sz="920" b="1">
                          <a:solidFill>
                            <a:srgbClr val="2E3F47"/>
                          </a:solidFill>
                          <a:latin typeface="Calibri"/>
                        </a:rPr>
                        <a:t>Response-time target</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20"/>
                      </a:pPr>
                      <a:r>
                        <a:rPr sz="920" b="0">
                          <a:solidFill>
                            <a:srgbClr val="2E3F47"/>
                          </a:solidFill>
                          <a:latin typeface="Calibri"/>
                        </a:rPr>
                        <a:t>Milliseconds</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20"/>
                      </a:pPr>
                      <a:r>
                        <a:rPr sz="920" b="0">
                          <a:solidFill>
                            <a:srgbClr val="2E3F47"/>
                          </a:solidFill>
                          <a:latin typeface="Calibri"/>
                        </a:rPr>
                        <a:t>Seconds to minutes, depending on scope</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r>
              <a:tr h="310896">
                <a:tc>
                  <a:txBody>
                    <a:bodyPr wrap="square"/>
                    <a:lstStyle/>
                    <a:p>
                      <a:pPr marL="0" indent="0">
                        <a:buNone/>
                        <a:defRPr sz="920"/>
                      </a:pPr>
                      <a:r>
                        <a:rPr sz="920" b="1">
                          <a:solidFill>
                            <a:srgbClr val="2E3F47"/>
                          </a:solidFill>
                          <a:latin typeface="Calibri"/>
                        </a:rPr>
                        <a:t>Users</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20"/>
                      </a:pPr>
                      <a:r>
                        <a:rPr sz="920" b="0">
                          <a:solidFill>
                            <a:srgbClr val="2E3F47"/>
                          </a:solidFill>
                          <a:latin typeface="Calibri"/>
                        </a:rPr>
                        <a:t>Clerks, customers, devices, applications</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20"/>
                      </a:pPr>
                      <a:r>
                        <a:rPr sz="920" b="0">
                          <a:solidFill>
                            <a:srgbClr val="2E3F47"/>
                          </a:solidFill>
                          <a:latin typeface="Calibri"/>
                        </a:rPr>
                        <a:t>Analysts, managers, executives, data scientists</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r>
              <a:tr h="310896">
                <a:tc>
                  <a:txBody>
                    <a:bodyPr wrap="square"/>
                    <a:lstStyle/>
                    <a:p>
                      <a:pPr marL="0" indent="0">
                        <a:buNone/>
                        <a:defRPr sz="920"/>
                      </a:pPr>
                      <a:r>
                        <a:rPr sz="920" b="1">
                          <a:solidFill>
                            <a:srgbClr val="2E3F47"/>
                          </a:solidFill>
                          <a:latin typeface="Calibri"/>
                        </a:rPr>
                        <a:t>Update mode</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20"/>
                      </a:pPr>
                      <a:r>
                        <a:rPr sz="920" b="0">
                          <a:solidFill>
                            <a:srgbClr val="2E3F47"/>
                          </a:solidFill>
                          <a:latin typeface="Calibri"/>
                        </a:rPr>
                        <a:t>Continuous, transactional, row by row</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20"/>
                      </a:pPr>
                      <a:r>
                        <a:rPr sz="920" b="0">
                          <a:solidFill>
                            <a:srgbClr val="2E3F47"/>
                          </a:solidFill>
                          <a:latin typeface="Calibri"/>
                        </a:rPr>
                        <a:t>Periodic bulk load; non-volatile between loads</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r>
              <a:tr h="310896">
                <a:tc>
                  <a:txBody>
                    <a:bodyPr wrap="square"/>
                    <a:lstStyle/>
                    <a:p>
                      <a:pPr marL="0" indent="0">
                        <a:buNone/>
                        <a:defRPr sz="920"/>
                      </a:pPr>
                      <a:r>
                        <a:rPr sz="920" b="1">
                          <a:solidFill>
                            <a:srgbClr val="2E3F47"/>
                          </a:solidFill>
                          <a:latin typeface="Calibri"/>
                        </a:rPr>
                        <a:t>Backup and recovery</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20"/>
                      </a:pPr>
                      <a:r>
                        <a:rPr sz="920" b="0">
                          <a:solidFill>
                            <a:srgbClr val="2E3F47"/>
                          </a:solidFill>
                          <a:latin typeface="Calibri"/>
                        </a:rPr>
                        <a:t>Critical — loss means lost business</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20"/>
                      </a:pPr>
                      <a:r>
                        <a:rPr sz="920" b="0">
                          <a:solidFill>
                            <a:srgbClr val="2E3F47"/>
                          </a:solidFill>
                          <a:latin typeface="Calibri"/>
                        </a:rPr>
                        <a:t>Reloadable from source, so recovery is less critical</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r>
              <a:tr h="310896">
                <a:tc>
                  <a:txBody>
                    <a:bodyPr wrap="square"/>
                    <a:lstStyle/>
                    <a:p>
                      <a:pPr marL="0" indent="0">
                        <a:buNone/>
                        <a:defRPr sz="920"/>
                      </a:pPr>
                      <a:r>
                        <a:rPr sz="920" b="1">
                          <a:solidFill>
                            <a:srgbClr val="2E3F47"/>
                          </a:solidFill>
                          <a:latin typeface="Calibri"/>
                        </a:rPr>
                        <a:t>Success metric</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20"/>
                      </a:pPr>
                      <a:r>
                        <a:rPr sz="920" b="0">
                          <a:solidFill>
                            <a:srgbClr val="2E3F47"/>
                          </a:solidFill>
                          <a:latin typeface="Calibri"/>
                        </a:rPr>
                        <a:t>Transactions per second, uptime</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20"/>
                      </a:pPr>
                      <a:r>
                        <a:rPr sz="920" b="0">
                          <a:solidFill>
                            <a:srgbClr val="2E3F47"/>
                          </a:solidFill>
                          <a:latin typeface="Calibri"/>
                        </a:rPr>
                        <a:t>Query response time, breadth of questions answerable</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r>
            </a:tbl>
          </a:graphicData>
        </a:graphic>
      </p:graphicFrame>
      <p:sp>
        <p:nvSpPr>
          <p:cNvPr id="6" name="Rounded Rectangle 5"/>
          <p:cNvSpPr/>
          <p:nvPr/>
        </p:nvSpPr>
        <p:spPr>
          <a:xfrm>
            <a:off x="548640" y="5870448"/>
            <a:ext cx="11091672" cy="292608"/>
          </a:xfrm>
          <a:prstGeom prst="roundRect">
            <a:avLst>
              <a:gd name="adj" fmla="val 28125"/>
            </a:avLst>
          </a:prstGeom>
          <a:solidFill>
            <a:srgbClr val="FBEBD1"/>
          </a:solidFill>
          <a:ln w="12700">
            <a:solidFill>
              <a:srgbClr val="EFD9AE"/>
            </a:solidFill>
          </a:ln>
          <a:effectLst/>
        </p:spPr>
        <p:txBody>
          <a:bodyPr rtlCol="0" anchor="ctr"/>
          <a:lstStyle/>
          <a:p/>
        </p:txBody>
      </p:sp>
      <p:sp>
        <p:nvSpPr>
          <p:cNvPr id="7" name="TextBox 6"/>
          <p:cNvSpPr txBox="1"/>
          <p:nvPr/>
        </p:nvSpPr>
        <p:spPr>
          <a:xfrm>
            <a:off x="768096" y="5888736"/>
            <a:ext cx="10652760" cy="256032"/>
          </a:xfrm>
          <a:prstGeom prst="rect">
            <a:avLst/>
          </a:prstGeom>
          <a:noFill/>
        </p:spPr>
        <p:txBody>
          <a:bodyPr wrap="square" lIns="0" rIns="0" tIns="0" bIns="0" anchor="ctr">
            <a:spAutoFit/>
          </a:bodyPr>
          <a:lstStyle/>
          <a:p>
            <a:pPr marL="0" indent="0">
              <a:lnSpc>
                <a:spcPct val="124000"/>
              </a:lnSpc>
              <a:buNone/>
            </a:pPr>
            <a:r>
              <a:rPr sz="1060" b="1" i="0">
                <a:solidFill>
                  <a:srgbClr val="6A4A0F"/>
                </a:solidFill>
                <a:latin typeface="Calibri"/>
              </a:rPr>
              <a:t>Examination advice.</a:t>
            </a:r>
            <a:r>
              <a:rPr sz="1060" b="1" i="0">
                <a:solidFill>
                  <a:srgbClr val="6A4A0F"/>
                </a:solidFill>
                <a:latin typeface="Calibri"/>
              </a:rPr>
              <a:t>  This table is the single most frequently examined item in the syllabus. Learn eight rows well rather than thirteen badly, and always give a business example alongside each.</a:t>
            </a:r>
          </a:p>
        </p:txBody>
      </p:sp>
      <p:sp>
        <p:nvSpPr>
          <p:cNvPr id="8" name="TextBox 7"/>
          <p:cNvSpPr txBox="1"/>
          <p:nvPr/>
        </p:nvSpPr>
        <p:spPr>
          <a:xfrm>
            <a:off x="548640" y="6382512"/>
            <a:ext cx="8686800" cy="256032"/>
          </a:xfrm>
          <a:prstGeom prst="rect">
            <a:avLst/>
          </a:prstGeom>
          <a:noFill/>
        </p:spPr>
        <p:txBody>
          <a:bodyPr wrap="square" lIns="0" rIns="0" tIns="0" bIns="0" anchor="t">
            <a:spAutoFit/>
          </a:bodyPr>
          <a:lstStyle/>
          <a:p>
            <a:pPr algn="l" marL="0" indent="0">
              <a:buNone/>
            </a:pPr>
            <a:r>
              <a:rPr sz="900" b="0" i="0">
                <a:solidFill>
                  <a:srgbClr val="5C7079"/>
                </a:solidFill>
                <a:latin typeface="Calibri"/>
              </a:rPr>
              <a:t>Business Intelligence  |  Session 6 — Data Warehousing &amp; OLTP/OLAP  |  IILM Jaipur, MBA</a:t>
            </a:r>
          </a:p>
        </p:txBody>
      </p:sp>
      <p:sp>
        <p:nvSpPr>
          <p:cNvPr id="9" name="TextBox 8"/>
          <p:cNvSpPr txBox="1"/>
          <p:nvPr/>
        </p:nvSpPr>
        <p:spPr>
          <a:xfrm>
            <a:off x="10543032" y="6382512"/>
            <a:ext cx="1097280" cy="256032"/>
          </a:xfrm>
          <a:prstGeom prst="rect">
            <a:avLst/>
          </a:prstGeom>
          <a:noFill/>
        </p:spPr>
        <p:txBody>
          <a:bodyPr wrap="square" lIns="0" rIns="0" tIns="0" bIns="0" anchor="t">
            <a:spAutoFit/>
          </a:bodyPr>
          <a:lstStyle/>
          <a:p>
            <a:pPr algn="r" marL="0" indent="0">
              <a:buNone/>
            </a:pPr>
            <a:r>
              <a:rPr sz="950" b="1" i="0">
                <a:solidFill>
                  <a:srgbClr val="1B7F79"/>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374904"/>
            <a:ext cx="109728" cy="109728"/>
          </a:xfrm>
          <a:prstGeom prst="ellipse">
            <a:avLst/>
          </a:prstGeom>
          <a:solidFill>
            <a:srgbClr val="E8A33D"/>
          </a:solidFill>
          <a:ln>
            <a:noFill/>
          </a:ln>
          <a:effectLst/>
        </p:spPr>
        <p:txBody>
          <a:bodyPr rtlCol="0" anchor="ctr" wrap="none" lIns="0" rIns="0" tIns="0" bIns="0"/>
          <a:lstStyle/>
          <a:p>
            <a:pPr algn="ctr"/>
          </a:p>
        </p:txBody>
      </p:sp>
      <p:sp>
        <p:nvSpPr>
          <p:cNvPr id="3" name="TextBox 2"/>
          <p:cNvSpPr txBox="1"/>
          <p:nvPr/>
        </p:nvSpPr>
        <p:spPr>
          <a:xfrm>
            <a:off x="749808" y="283464"/>
            <a:ext cx="10890504" cy="256032"/>
          </a:xfrm>
          <a:prstGeom prst="rect">
            <a:avLst/>
          </a:prstGeom>
          <a:noFill/>
        </p:spPr>
        <p:txBody>
          <a:bodyPr wrap="square" lIns="0" rIns="0" tIns="0" bIns="0" anchor="t">
            <a:spAutoFit/>
          </a:bodyPr>
          <a:lstStyle/>
          <a:p>
            <a:pPr marL="0" indent="0">
              <a:buNone/>
            </a:pPr>
            <a:r>
              <a:rPr sz="1000" b="1" i="0">
                <a:solidFill>
                  <a:srgbClr val="B87A1E"/>
                </a:solidFill>
                <a:latin typeface="Calibri"/>
              </a:rPr>
              <a:t>PART 2 · INTEGRATION</a:t>
            </a:r>
          </a:p>
        </p:txBody>
      </p:sp>
      <p:sp>
        <p:nvSpPr>
          <p:cNvPr id="4" name="TextBox 3"/>
          <p:cNvSpPr txBox="1"/>
          <p:nvPr/>
        </p:nvSpPr>
        <p:spPr>
          <a:xfrm>
            <a:off x="548640" y="548640"/>
            <a:ext cx="11091672" cy="640080"/>
          </a:xfrm>
          <a:prstGeom prst="rect">
            <a:avLst/>
          </a:prstGeom>
          <a:noFill/>
        </p:spPr>
        <p:txBody>
          <a:bodyPr wrap="square" lIns="0" rIns="0" tIns="0" bIns="0" anchor="t">
            <a:spAutoFit/>
          </a:bodyPr>
          <a:lstStyle/>
          <a:p>
            <a:pPr algn="l" marL="0" indent="0">
              <a:buNone/>
            </a:pPr>
            <a:r>
              <a:rPr sz="2700" b="1" i="0">
                <a:solidFill>
                  <a:srgbClr val="123B47"/>
                </a:solidFill>
                <a:latin typeface="Cambria"/>
              </a:rPr>
              <a:t>What “integrated” actually requires you to do</a:t>
            </a:r>
          </a:p>
        </p:txBody>
      </p:sp>
      <p:graphicFrame>
        <p:nvGraphicFramePr>
          <p:cNvPr id="5" name="Table 4"/>
          <p:cNvGraphicFramePr>
            <a:graphicFrameLocks noGrp="1"/>
          </p:cNvGraphicFramePr>
          <p:nvPr/>
        </p:nvGraphicFramePr>
        <p:xfrm>
          <a:off x="548640" y="1316736"/>
          <a:ext cx="11091672" cy="3364992"/>
        </p:xfrm>
        <a:graphic>
          <a:graphicData uri="http://schemas.openxmlformats.org/drawingml/2006/table">
            <a:tbl>
              <a:tblPr bandRow="0" firstRow="0"/>
              <a:tblGrid>
                <a:gridCol w="1691640"/>
                <a:gridCol w="4892040"/>
                <a:gridCol w="4507992"/>
              </a:tblGrid>
              <a:tr h="420624">
                <a:tc>
                  <a:txBody>
                    <a:bodyPr wrap="square"/>
                    <a:lstStyle/>
                    <a:p>
                      <a:pPr marL="0" indent="0">
                        <a:buNone/>
                        <a:defRPr sz="1030"/>
                      </a:pPr>
                      <a:r>
                        <a:rPr sz="1030" b="1">
                          <a:solidFill>
                            <a:srgbClr val="FFFFFF"/>
                          </a:solidFill>
                          <a:latin typeface="Calibri"/>
                        </a:rPr>
                        <a:t>Conflict encountered</a:t>
                      </a:r>
                      <a:endParaRPr lang="en-US" sz="103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123B47"/>
                    </a:solidFill>
                  </a:tcPr>
                </a:tc>
                <a:tc>
                  <a:txBody>
                    <a:bodyPr wrap="square"/>
                    <a:lstStyle/>
                    <a:p>
                      <a:pPr marL="0" indent="0">
                        <a:buNone/>
                        <a:defRPr sz="1030"/>
                      </a:pPr>
                      <a:r>
                        <a:rPr sz="1030" b="1">
                          <a:solidFill>
                            <a:srgbClr val="FFFFFF"/>
                          </a:solidFill>
                          <a:latin typeface="Calibri"/>
                        </a:rPr>
                        <a:t>Concrete example across two systems</a:t>
                      </a:r>
                      <a:endParaRPr lang="en-US" sz="103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123B47"/>
                    </a:solidFill>
                  </a:tcPr>
                </a:tc>
                <a:tc>
                  <a:txBody>
                    <a:bodyPr wrap="square"/>
                    <a:lstStyle/>
                    <a:p>
                      <a:pPr marL="0" indent="0">
                        <a:buNone/>
                        <a:defRPr sz="1030"/>
                      </a:pPr>
                      <a:r>
                        <a:rPr sz="1030" b="1">
                          <a:solidFill>
                            <a:srgbClr val="FFFFFF"/>
                          </a:solidFill>
                          <a:latin typeface="Calibri"/>
                        </a:rPr>
                        <a:t>Resolution in the integration layer</a:t>
                      </a:r>
                      <a:endParaRPr lang="en-US" sz="103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123B47"/>
                    </a:solidFill>
                  </a:tcPr>
                </a:tc>
              </a:tr>
              <a:tr h="420624">
                <a:tc>
                  <a:txBody>
                    <a:bodyPr wrap="square"/>
                    <a:lstStyle/>
                    <a:p>
                      <a:pPr marL="0" indent="0">
                        <a:buNone/>
                        <a:defRPr sz="960"/>
                      </a:pPr>
                      <a:r>
                        <a:rPr sz="960" b="1">
                          <a:solidFill>
                            <a:srgbClr val="2E3F47"/>
                          </a:solidFill>
                          <a:latin typeface="Calibri"/>
                        </a:rPr>
                        <a:t>Naming</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60"/>
                      </a:pPr>
                      <a:r>
                        <a:rPr sz="960" b="0">
                          <a:solidFill>
                            <a:srgbClr val="2E3F47"/>
                          </a:solidFill>
                          <a:latin typeface="Calibri"/>
                        </a:rPr>
                        <a:t>cust_code, customer_id, party_no and acct_ref all mean the same thing</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60"/>
                      </a:pPr>
                      <a:r>
                        <a:rPr sz="960" b="0">
                          <a:solidFill>
                            <a:srgbClr val="2E3F47"/>
                          </a:solidFill>
                          <a:latin typeface="Calibri"/>
                        </a:rPr>
                        <a:t>One canonical name published in the business glossary</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r>
              <a:tr h="420624">
                <a:tc>
                  <a:txBody>
                    <a:bodyPr wrap="square"/>
                    <a:lstStyle/>
                    <a:p>
                      <a:pPr marL="0" indent="0">
                        <a:buNone/>
                        <a:defRPr sz="960"/>
                      </a:pPr>
                      <a:r>
                        <a:rPr sz="960" b="1">
                          <a:solidFill>
                            <a:srgbClr val="2E3F47"/>
                          </a:solidFill>
                          <a:latin typeface="Calibri"/>
                        </a:rPr>
                        <a:t>Coding</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60"/>
                      </a:pPr>
                      <a:r>
                        <a:rPr sz="960" b="0">
                          <a:solidFill>
                            <a:srgbClr val="2E3F47"/>
                          </a:solidFill>
                          <a:latin typeface="Calibri"/>
                        </a:rPr>
                        <a:t>Gender as M/F, 1/2, Male/Female; state as name, ISO code and internal code</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60"/>
                      </a:pPr>
                      <a:r>
                        <a:rPr sz="960" b="0">
                          <a:solidFill>
                            <a:srgbClr val="2E3F47"/>
                          </a:solidFill>
                          <a:latin typeface="Calibri"/>
                        </a:rPr>
                        <a:t>One code set with a documented mapping from each source</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r>
              <a:tr h="420624">
                <a:tc>
                  <a:txBody>
                    <a:bodyPr wrap="square"/>
                    <a:lstStyle/>
                    <a:p>
                      <a:pPr marL="0" indent="0">
                        <a:buNone/>
                        <a:defRPr sz="960"/>
                      </a:pPr>
                      <a:r>
                        <a:rPr sz="960" b="1">
                          <a:solidFill>
                            <a:srgbClr val="2E3F47"/>
                          </a:solidFill>
                          <a:latin typeface="Calibri"/>
                        </a:rPr>
                        <a:t>Unit and scale</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60"/>
                      </a:pPr>
                      <a:r>
                        <a:rPr sz="960" b="0">
                          <a:solidFill>
                            <a:srgbClr val="2E3F47"/>
                          </a:solidFill>
                          <a:latin typeface="Calibri"/>
                        </a:rPr>
                        <a:t>Litres against kilolitres; rupees against lakhs; gross against net of tax</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60"/>
                      </a:pPr>
                      <a:r>
                        <a:rPr sz="960" b="0">
                          <a:solidFill>
                            <a:srgbClr val="2E3F47"/>
                          </a:solidFill>
                          <a:latin typeface="Calibri"/>
                        </a:rPr>
                        <a:t>A declared unit per measure, converted once on load</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r>
              <a:tr h="420624">
                <a:tc>
                  <a:txBody>
                    <a:bodyPr wrap="square"/>
                    <a:lstStyle/>
                    <a:p>
                      <a:pPr marL="0" indent="0">
                        <a:buNone/>
                        <a:defRPr sz="960"/>
                      </a:pPr>
                      <a:r>
                        <a:rPr sz="960" b="1">
                          <a:solidFill>
                            <a:srgbClr val="2E3F47"/>
                          </a:solidFill>
                          <a:latin typeface="Calibri"/>
                        </a:rPr>
                        <a:t>Granularity</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60"/>
                      </a:pPr>
                      <a:r>
                        <a:rPr sz="960" b="0">
                          <a:solidFill>
                            <a:srgbClr val="2E3F47"/>
                          </a:solidFill>
                          <a:latin typeface="Calibri"/>
                        </a:rPr>
                        <a:t>Sales at invoice level in one system and at daily summary in another</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60"/>
                      </a:pPr>
                      <a:r>
                        <a:rPr sz="960" b="0">
                          <a:solidFill>
                            <a:srgbClr val="2E3F47"/>
                          </a:solidFill>
                          <a:latin typeface="Calibri"/>
                        </a:rPr>
                        <a:t>Store at the finest available grain; summarise on the way out, never on the way in</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r>
              <a:tr h="420624">
                <a:tc>
                  <a:txBody>
                    <a:bodyPr wrap="square"/>
                    <a:lstStyle/>
                    <a:p>
                      <a:pPr marL="0" indent="0">
                        <a:buNone/>
                        <a:defRPr sz="960"/>
                      </a:pPr>
                      <a:r>
                        <a:rPr sz="960" b="1">
                          <a:solidFill>
                            <a:srgbClr val="2E3F47"/>
                          </a:solidFill>
                          <a:latin typeface="Calibri"/>
                        </a:rPr>
                        <a:t>Identity</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60"/>
                      </a:pPr>
                      <a:r>
                        <a:rPr sz="960" b="0">
                          <a:solidFill>
                            <a:srgbClr val="2E3F47"/>
                          </a:solidFill>
                          <a:latin typeface="Calibri"/>
                        </a:rPr>
                        <a:t>The same distributor present three times under three keys and two spellings</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60"/>
                      </a:pPr>
                      <a:r>
                        <a:rPr sz="960" b="0">
                          <a:solidFill>
                            <a:srgbClr val="2E3F47"/>
                          </a:solidFill>
                          <a:latin typeface="Calibri"/>
                        </a:rPr>
                        <a:t>A matching and survivorship rule producing one durable key</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r>
              <a:tr h="420624">
                <a:tc>
                  <a:txBody>
                    <a:bodyPr wrap="square"/>
                    <a:lstStyle/>
                    <a:p>
                      <a:pPr marL="0" indent="0">
                        <a:buNone/>
                        <a:defRPr sz="960"/>
                      </a:pPr>
                      <a:r>
                        <a:rPr sz="960" b="1">
                          <a:solidFill>
                            <a:srgbClr val="2E3F47"/>
                          </a:solidFill>
                          <a:latin typeface="Calibri"/>
                        </a:rPr>
                        <a:t>Timing</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60"/>
                      </a:pPr>
                      <a:r>
                        <a:rPr sz="960" b="0">
                          <a:solidFill>
                            <a:srgbClr val="2E3F47"/>
                          </a:solidFill>
                          <a:latin typeface="Calibri"/>
                        </a:rPr>
                        <a:t>One system stamps despatch date, another posting date, a third receipt date</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60"/>
                      </a:pPr>
                      <a:r>
                        <a:rPr sz="960" b="0">
                          <a:solidFill>
                            <a:srgbClr val="2E3F47"/>
                          </a:solidFill>
                          <a:latin typeface="Calibri"/>
                        </a:rPr>
                        <a:t>An explicit choice of which date each fact is reported by, written down</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r>
              <a:tr h="420624">
                <a:tc>
                  <a:txBody>
                    <a:bodyPr wrap="square"/>
                    <a:lstStyle/>
                    <a:p>
                      <a:pPr marL="0" indent="0">
                        <a:buNone/>
                        <a:defRPr sz="960"/>
                      </a:pPr>
                      <a:r>
                        <a:rPr sz="960" b="1">
                          <a:solidFill>
                            <a:srgbClr val="2E3F47"/>
                          </a:solidFill>
                          <a:latin typeface="Calibri"/>
                        </a:rPr>
                        <a:t>Definition</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60"/>
                      </a:pPr>
                      <a:r>
                        <a:rPr sz="960" b="0">
                          <a:solidFill>
                            <a:srgbClr val="2E3F47"/>
                          </a:solidFill>
                          <a:latin typeface="Calibri"/>
                        </a:rPr>
                        <a:t>“Active customer” means 90 days in sales and 180 days in marketing</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60"/>
                      </a:pPr>
                      <a:r>
                        <a:rPr sz="960" b="0">
                          <a:solidFill>
                            <a:srgbClr val="2E3F47"/>
                          </a:solidFill>
                          <a:latin typeface="Calibri"/>
                        </a:rPr>
                        <a:t>One owner decides; both definitions may survive, but each is named separately</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r>
            </a:tbl>
          </a:graphicData>
        </a:graphic>
      </p:graphicFrame>
      <p:sp>
        <p:nvSpPr>
          <p:cNvPr id="6" name="Rounded Rectangle 5"/>
          <p:cNvSpPr/>
          <p:nvPr/>
        </p:nvSpPr>
        <p:spPr>
          <a:xfrm>
            <a:off x="548640" y="4791456"/>
            <a:ext cx="11091672" cy="768096"/>
          </a:xfrm>
          <a:prstGeom prst="roundRect">
            <a:avLst>
              <a:gd name="adj" fmla="val 10714"/>
            </a:avLst>
          </a:prstGeom>
          <a:solidFill>
            <a:srgbClr val="123B47"/>
          </a:solidFill>
          <a:ln>
            <a:noFill/>
          </a:ln>
          <a:effectLst>
            <a:outerShdw blurRad="76200" dist="12700" dir="5400000" algn="bl" rotWithShape="0">
              <a:srgbClr val="9FB3B0">
                <a:alpha val="28000"/>
              </a:srgbClr>
            </a:outerShdw>
          </a:effectLst>
        </p:spPr>
        <p:txBody>
          <a:bodyPr rtlCol="0" anchor="ctr"/>
          <a:lstStyle/>
          <a:p/>
        </p:txBody>
      </p:sp>
      <p:sp>
        <p:nvSpPr>
          <p:cNvPr id="7" name="TextBox 6"/>
          <p:cNvSpPr txBox="1"/>
          <p:nvPr/>
        </p:nvSpPr>
        <p:spPr>
          <a:xfrm>
            <a:off x="768096" y="4864608"/>
            <a:ext cx="10652760" cy="621792"/>
          </a:xfrm>
          <a:prstGeom prst="rect">
            <a:avLst/>
          </a:prstGeom>
          <a:noFill/>
        </p:spPr>
        <p:txBody>
          <a:bodyPr wrap="square" lIns="0" rIns="0" tIns="0" bIns="0" anchor="ctr">
            <a:spAutoFit/>
          </a:bodyPr>
          <a:lstStyle/>
          <a:p>
            <a:pPr marL="0" indent="0">
              <a:lnSpc>
                <a:spcPct val="124000"/>
              </a:lnSpc>
              <a:buNone/>
            </a:pPr>
            <a:r>
              <a:rPr sz="1080" b="1" i="0">
                <a:solidFill>
                  <a:srgbClr val="FFFFFF"/>
                </a:solidFill>
                <a:latin typeface="Calibri"/>
              </a:rPr>
              <a:t>Why this is the hardest part of the whole programme.</a:t>
            </a:r>
            <a:r>
              <a:rPr sz="1080" b="1" i="0">
                <a:solidFill>
                  <a:srgbClr val="FFFFFF"/>
                </a:solidFill>
                <a:latin typeface="Calibri"/>
              </a:rPr>
              <a:t>  Every row of that table is a disagreement between two departments, each of which is correct within its own context. The integration layer cannot resolve them technically; it can only record the decision somebody with authority has taken. This is why warehouse projects stall in workshops rather than in code, and why the sponsor's real job is to settle definitions rather than to approve architecture.</a:t>
            </a:r>
          </a:p>
        </p:txBody>
      </p:sp>
      <p:sp>
        <p:nvSpPr>
          <p:cNvPr id="8" name="Rounded Rectangle 7"/>
          <p:cNvSpPr/>
          <p:nvPr/>
        </p:nvSpPr>
        <p:spPr>
          <a:xfrm>
            <a:off x="548640" y="5669280"/>
            <a:ext cx="11091672" cy="457200"/>
          </a:xfrm>
          <a:prstGeom prst="roundRect">
            <a:avLst>
              <a:gd name="adj" fmla="val 18000"/>
            </a:avLst>
          </a:prstGeom>
          <a:solidFill>
            <a:srgbClr val="FBEBD1"/>
          </a:solidFill>
          <a:ln w="12700">
            <a:solidFill>
              <a:srgbClr val="EFD9AE"/>
            </a:solidFill>
          </a:ln>
          <a:effectLst/>
        </p:spPr>
        <p:txBody>
          <a:bodyPr rtlCol="0" anchor="ctr"/>
          <a:lstStyle/>
          <a:p/>
        </p:txBody>
      </p:sp>
      <p:sp>
        <p:nvSpPr>
          <p:cNvPr id="9" name="TextBox 8"/>
          <p:cNvSpPr txBox="1"/>
          <p:nvPr/>
        </p:nvSpPr>
        <p:spPr>
          <a:xfrm>
            <a:off x="768096" y="5724144"/>
            <a:ext cx="10652760" cy="347472"/>
          </a:xfrm>
          <a:prstGeom prst="rect">
            <a:avLst/>
          </a:prstGeom>
          <a:noFill/>
        </p:spPr>
        <p:txBody>
          <a:bodyPr wrap="square" lIns="0" rIns="0" tIns="0" bIns="0" anchor="ctr">
            <a:spAutoFit/>
          </a:bodyPr>
          <a:lstStyle/>
          <a:p>
            <a:pPr marL="0" indent="0">
              <a:lnSpc>
                <a:spcPct val="124000"/>
              </a:lnSpc>
              <a:buNone/>
            </a:pPr>
            <a:r>
              <a:rPr sz="1080" b="1" i="0">
                <a:solidFill>
                  <a:srgbClr val="6A4A0F"/>
                </a:solidFill>
                <a:latin typeface="Calibri"/>
              </a:rPr>
              <a:t>The practical rule.</a:t>
            </a:r>
            <a:r>
              <a:rPr sz="1080" b="1" i="0">
                <a:solidFill>
                  <a:srgbClr val="6A4A0F"/>
                </a:solidFill>
                <a:latin typeface="Calibri"/>
              </a:rPr>
              <a:t>  Never resolve a definitional conflict silently in a transformation script. Record it, name its owner, and publish it — which is exactly the business metadata of Session 8.</a:t>
            </a:r>
          </a:p>
        </p:txBody>
      </p:sp>
      <p:sp>
        <p:nvSpPr>
          <p:cNvPr id="10" name="TextBox 9"/>
          <p:cNvSpPr txBox="1"/>
          <p:nvPr/>
        </p:nvSpPr>
        <p:spPr>
          <a:xfrm>
            <a:off x="548640" y="6382512"/>
            <a:ext cx="8686800" cy="256032"/>
          </a:xfrm>
          <a:prstGeom prst="rect">
            <a:avLst/>
          </a:prstGeom>
          <a:noFill/>
        </p:spPr>
        <p:txBody>
          <a:bodyPr wrap="square" lIns="0" rIns="0" tIns="0" bIns="0" anchor="t">
            <a:spAutoFit/>
          </a:bodyPr>
          <a:lstStyle/>
          <a:p>
            <a:pPr algn="l" marL="0" indent="0">
              <a:buNone/>
            </a:pPr>
            <a:r>
              <a:rPr sz="900" b="0" i="0">
                <a:solidFill>
                  <a:srgbClr val="5C7079"/>
                </a:solidFill>
                <a:latin typeface="Calibri"/>
              </a:rPr>
              <a:t>Business Intelligence  |  Session 6 — Data Warehousing &amp; OLTP/OLAP  |  IILM Jaipur, MBA</a:t>
            </a:r>
          </a:p>
        </p:txBody>
      </p:sp>
      <p:sp>
        <p:nvSpPr>
          <p:cNvPr id="11" name="TextBox 10"/>
          <p:cNvSpPr txBox="1"/>
          <p:nvPr/>
        </p:nvSpPr>
        <p:spPr>
          <a:xfrm>
            <a:off x="10543032" y="6382512"/>
            <a:ext cx="1097280" cy="256032"/>
          </a:xfrm>
          <a:prstGeom prst="rect">
            <a:avLst/>
          </a:prstGeom>
          <a:noFill/>
        </p:spPr>
        <p:txBody>
          <a:bodyPr wrap="square" lIns="0" rIns="0" tIns="0" bIns="0" anchor="t">
            <a:spAutoFit/>
          </a:bodyPr>
          <a:lstStyle/>
          <a:p>
            <a:pPr algn="r" marL="0" indent="0">
              <a:buNone/>
            </a:pPr>
            <a:r>
              <a:rPr sz="950" b="1" i="0">
                <a:solidFill>
                  <a:srgbClr val="1B7F79"/>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374904"/>
            <a:ext cx="109728" cy="109728"/>
          </a:xfrm>
          <a:prstGeom prst="ellipse">
            <a:avLst/>
          </a:prstGeom>
          <a:solidFill>
            <a:srgbClr val="E8A33D"/>
          </a:solidFill>
          <a:ln>
            <a:noFill/>
          </a:ln>
          <a:effectLst/>
        </p:spPr>
        <p:txBody>
          <a:bodyPr rtlCol="0" anchor="ctr" wrap="none" lIns="0" rIns="0" tIns="0" bIns="0"/>
          <a:lstStyle/>
          <a:p>
            <a:pPr algn="ctr"/>
          </a:p>
        </p:txBody>
      </p:sp>
      <p:sp>
        <p:nvSpPr>
          <p:cNvPr id="3" name="TextBox 2"/>
          <p:cNvSpPr txBox="1"/>
          <p:nvPr/>
        </p:nvSpPr>
        <p:spPr>
          <a:xfrm>
            <a:off x="749808" y="283464"/>
            <a:ext cx="10890504" cy="256032"/>
          </a:xfrm>
          <a:prstGeom prst="rect">
            <a:avLst/>
          </a:prstGeom>
          <a:noFill/>
        </p:spPr>
        <p:txBody>
          <a:bodyPr wrap="square" lIns="0" rIns="0" tIns="0" bIns="0" anchor="t">
            <a:spAutoFit/>
          </a:bodyPr>
          <a:lstStyle/>
          <a:p>
            <a:pPr marL="0" indent="0">
              <a:buNone/>
            </a:pPr>
            <a:r>
              <a:rPr sz="1000" b="1" i="0">
                <a:solidFill>
                  <a:srgbClr val="B87A1E"/>
                </a:solidFill>
                <a:latin typeface="Calibri"/>
              </a:rPr>
              <a:t>PART 2 · OLAP OPERATIONS</a:t>
            </a:r>
          </a:p>
        </p:txBody>
      </p:sp>
      <p:sp>
        <p:nvSpPr>
          <p:cNvPr id="4" name="TextBox 3"/>
          <p:cNvSpPr txBox="1"/>
          <p:nvPr/>
        </p:nvSpPr>
        <p:spPr>
          <a:xfrm>
            <a:off x="548640" y="548640"/>
            <a:ext cx="11091672" cy="640080"/>
          </a:xfrm>
          <a:prstGeom prst="rect">
            <a:avLst/>
          </a:prstGeom>
          <a:noFill/>
        </p:spPr>
        <p:txBody>
          <a:bodyPr wrap="square" lIns="0" rIns="0" tIns="0" bIns="0" anchor="t">
            <a:spAutoFit/>
          </a:bodyPr>
          <a:lstStyle/>
          <a:p>
            <a:pPr algn="l" marL="0" indent="0">
              <a:buNone/>
            </a:pPr>
            <a:r>
              <a:rPr sz="2700" b="1" i="0">
                <a:solidFill>
                  <a:srgbClr val="123B47"/>
                </a:solidFill>
                <a:latin typeface="Cambria"/>
              </a:rPr>
              <a:t>The five things an analyst does to a cube</a:t>
            </a:r>
          </a:p>
        </p:txBody>
      </p:sp>
      <p:sp>
        <p:nvSpPr>
          <p:cNvPr id="5" name="Rounded Rectangle 4"/>
          <p:cNvSpPr/>
          <p:nvPr/>
        </p:nvSpPr>
        <p:spPr>
          <a:xfrm>
            <a:off x="548640" y="1298448"/>
            <a:ext cx="11091672" cy="530352"/>
          </a:xfrm>
          <a:prstGeom prst="roundRect">
            <a:avLst>
              <a:gd name="adj" fmla="val 15517"/>
            </a:avLst>
          </a:prstGeom>
          <a:solidFill>
            <a:srgbClr val="123B47"/>
          </a:solidFill>
          <a:ln>
            <a:noFill/>
          </a:ln>
          <a:effectLst>
            <a:outerShdw blurRad="76200" dist="12700" dir="5400000" algn="bl" rotWithShape="0">
              <a:srgbClr val="9FB3B0">
                <a:alpha val="28000"/>
              </a:srgbClr>
            </a:outerShdw>
          </a:effectLst>
        </p:spPr>
        <p:txBody>
          <a:bodyPr rtlCol="0" anchor="ctr"/>
          <a:lstStyle/>
          <a:p/>
        </p:txBody>
      </p:sp>
      <p:sp>
        <p:nvSpPr>
          <p:cNvPr id="6" name="TextBox 5"/>
          <p:cNvSpPr txBox="1"/>
          <p:nvPr/>
        </p:nvSpPr>
        <p:spPr>
          <a:xfrm>
            <a:off x="768096" y="1344168"/>
            <a:ext cx="10652760" cy="438912"/>
          </a:xfrm>
          <a:prstGeom prst="rect">
            <a:avLst/>
          </a:prstGeom>
          <a:noFill/>
        </p:spPr>
        <p:txBody>
          <a:bodyPr wrap="square" lIns="0" rIns="0" tIns="0" bIns="0" anchor="ctr">
            <a:spAutoFit/>
          </a:bodyPr>
          <a:lstStyle/>
          <a:p>
            <a:pPr marL="0" indent="0">
              <a:lnSpc>
                <a:spcPct val="124000"/>
              </a:lnSpc>
              <a:buNone/>
            </a:pPr>
            <a:r>
              <a:rPr sz="1100" b="1" i="0">
                <a:solidFill>
                  <a:srgbClr val="FFFFFF"/>
                </a:solidFill>
                <a:latin typeface="Calibri"/>
              </a:rPr>
              <a:t>The cube, briefly.</a:t>
            </a:r>
            <a:r>
              <a:rPr sz="1100" b="1" i="0">
                <a:solidFill>
                  <a:srgbClr val="FFFFFF"/>
                </a:solidFill>
                <a:latin typeface="Calibri"/>
              </a:rPr>
              <a:t>  Think of the data as a cube whose edges are dimensions — product, time, geography — and whose cells hold measures such as sales value. The five operations below are the complete vocabulary of multidimensional analysis.</a:t>
            </a:r>
          </a:p>
        </p:txBody>
      </p:sp>
      <p:sp>
        <p:nvSpPr>
          <p:cNvPr id="7" name="Rounded Rectangle 6"/>
          <p:cNvSpPr/>
          <p:nvPr/>
        </p:nvSpPr>
        <p:spPr>
          <a:xfrm>
            <a:off x="548640" y="1956816"/>
            <a:ext cx="11091672" cy="658368"/>
          </a:xfrm>
          <a:prstGeom prst="roundRect">
            <a:avLst>
              <a:gd name="adj" fmla="val 12500"/>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8" name="Oval 7"/>
          <p:cNvSpPr/>
          <p:nvPr/>
        </p:nvSpPr>
        <p:spPr>
          <a:xfrm>
            <a:off x="713232" y="2066544"/>
            <a:ext cx="347472" cy="347472"/>
          </a:xfrm>
          <a:prstGeom prst="ellipse">
            <a:avLst/>
          </a:prstGeom>
          <a:solidFill>
            <a:srgbClr val="123B47"/>
          </a:solidFill>
          <a:ln>
            <a:noFill/>
          </a:ln>
          <a:effectLst/>
        </p:spPr>
        <p:txBody>
          <a:bodyPr rtlCol="0" anchor="ctr" wrap="none" lIns="0" rIns="0" tIns="0" bIns="0"/>
          <a:lstStyle/>
          <a:p>
            <a:pPr algn="ctr"/>
            <a:r>
              <a:rPr sz="1150" b="1">
                <a:solidFill>
                  <a:srgbClr val="FFFFFF"/>
                </a:solidFill>
                <a:latin typeface="Calibri"/>
              </a:rPr>
              <a:t>↑</a:t>
            </a:r>
          </a:p>
        </p:txBody>
      </p:sp>
      <p:sp>
        <p:nvSpPr>
          <p:cNvPr id="9" name="TextBox 8"/>
          <p:cNvSpPr txBox="1"/>
          <p:nvPr/>
        </p:nvSpPr>
        <p:spPr>
          <a:xfrm>
            <a:off x="1170432" y="1993392"/>
            <a:ext cx="10259568" cy="585216"/>
          </a:xfrm>
          <a:prstGeom prst="rect">
            <a:avLst/>
          </a:prstGeom>
          <a:noFill/>
        </p:spPr>
        <p:txBody>
          <a:bodyPr wrap="square" lIns="0" rIns="0" tIns="0" bIns="0" anchor="ctr">
            <a:spAutoFit/>
          </a:bodyPr>
          <a:lstStyle/>
          <a:p>
            <a:pPr marL="0" indent="0">
              <a:spcAft>
                <a:spcPts val="100"/>
              </a:spcAft>
              <a:buNone/>
            </a:pPr>
            <a:r>
              <a:rPr sz="1240" b="1" i="0">
                <a:solidFill>
                  <a:srgbClr val="123B47"/>
                </a:solidFill>
                <a:latin typeface="Calibri"/>
              </a:rPr>
              <a:t>Roll-up</a:t>
            </a:r>
          </a:p>
          <a:p>
            <a:pPr marL="0" indent="0">
              <a:lnSpc>
                <a:spcPct val="114000"/>
              </a:lnSpc>
              <a:buNone/>
            </a:pPr>
            <a:r>
              <a:rPr sz="1040" b="0" i="0">
                <a:solidFill>
                  <a:srgbClr val="2E3F47"/>
                </a:solidFill>
                <a:latin typeface="Calibri"/>
              </a:rPr>
              <a:t>Aggregate up a hierarchy or remove a dimension. Sales by city becomes sales by state, then by zone. This is what a manager does when the detail is too fine to interpret.</a:t>
            </a:r>
          </a:p>
        </p:txBody>
      </p:sp>
      <p:sp>
        <p:nvSpPr>
          <p:cNvPr id="10" name="Rounded Rectangle 9"/>
          <p:cNvSpPr/>
          <p:nvPr/>
        </p:nvSpPr>
        <p:spPr>
          <a:xfrm>
            <a:off x="548640" y="2688336"/>
            <a:ext cx="11091672" cy="658368"/>
          </a:xfrm>
          <a:prstGeom prst="roundRect">
            <a:avLst>
              <a:gd name="adj" fmla="val 12500"/>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11" name="Oval 10"/>
          <p:cNvSpPr/>
          <p:nvPr/>
        </p:nvSpPr>
        <p:spPr>
          <a:xfrm>
            <a:off x="713232" y="2798064"/>
            <a:ext cx="347472" cy="347472"/>
          </a:xfrm>
          <a:prstGeom prst="ellipse">
            <a:avLst/>
          </a:prstGeom>
          <a:solidFill>
            <a:srgbClr val="123B47"/>
          </a:solidFill>
          <a:ln>
            <a:noFill/>
          </a:ln>
          <a:effectLst/>
        </p:spPr>
        <p:txBody>
          <a:bodyPr rtlCol="0" anchor="ctr" wrap="none" lIns="0" rIns="0" tIns="0" bIns="0"/>
          <a:lstStyle/>
          <a:p>
            <a:pPr algn="ctr"/>
            <a:r>
              <a:rPr sz="1150" b="1">
                <a:solidFill>
                  <a:srgbClr val="FFFFFF"/>
                </a:solidFill>
                <a:latin typeface="Calibri"/>
              </a:rPr>
              <a:t>↓</a:t>
            </a:r>
          </a:p>
        </p:txBody>
      </p:sp>
      <p:sp>
        <p:nvSpPr>
          <p:cNvPr id="12" name="TextBox 11"/>
          <p:cNvSpPr txBox="1"/>
          <p:nvPr/>
        </p:nvSpPr>
        <p:spPr>
          <a:xfrm>
            <a:off x="1170432" y="2724912"/>
            <a:ext cx="10259568" cy="585216"/>
          </a:xfrm>
          <a:prstGeom prst="rect">
            <a:avLst/>
          </a:prstGeom>
          <a:noFill/>
        </p:spPr>
        <p:txBody>
          <a:bodyPr wrap="square" lIns="0" rIns="0" tIns="0" bIns="0" anchor="ctr">
            <a:spAutoFit/>
          </a:bodyPr>
          <a:lstStyle/>
          <a:p>
            <a:pPr marL="0" indent="0">
              <a:spcAft>
                <a:spcPts val="100"/>
              </a:spcAft>
              <a:buNone/>
            </a:pPr>
            <a:r>
              <a:rPr sz="1240" b="1" i="0">
                <a:solidFill>
                  <a:srgbClr val="123B47"/>
                </a:solidFill>
                <a:latin typeface="Calibri"/>
              </a:rPr>
              <a:t>Drill-down</a:t>
            </a:r>
          </a:p>
          <a:p>
            <a:pPr marL="0" indent="0">
              <a:lnSpc>
                <a:spcPct val="114000"/>
              </a:lnSpc>
              <a:buNone/>
            </a:pPr>
            <a:r>
              <a:rPr sz="1040" b="0" i="0">
                <a:solidFill>
                  <a:srgbClr val="2E3F47"/>
                </a:solidFill>
                <a:latin typeface="Calibri"/>
              </a:rPr>
              <a:t>The inverse: move to finer detail. Sales by zone becomes sales by state, then by city, then by store. The path is determined by the hierarchy the model provides.</a:t>
            </a:r>
          </a:p>
        </p:txBody>
      </p:sp>
      <p:sp>
        <p:nvSpPr>
          <p:cNvPr id="13" name="Rounded Rectangle 12"/>
          <p:cNvSpPr/>
          <p:nvPr/>
        </p:nvSpPr>
        <p:spPr>
          <a:xfrm>
            <a:off x="548640" y="3419856"/>
            <a:ext cx="11091672" cy="658368"/>
          </a:xfrm>
          <a:prstGeom prst="roundRect">
            <a:avLst>
              <a:gd name="adj" fmla="val 12500"/>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14" name="Oval 13"/>
          <p:cNvSpPr/>
          <p:nvPr/>
        </p:nvSpPr>
        <p:spPr>
          <a:xfrm>
            <a:off x="713232" y="3529584"/>
            <a:ext cx="347472" cy="347472"/>
          </a:xfrm>
          <a:prstGeom prst="ellipse">
            <a:avLst/>
          </a:prstGeom>
          <a:solidFill>
            <a:srgbClr val="123B47"/>
          </a:solidFill>
          <a:ln>
            <a:noFill/>
          </a:ln>
          <a:effectLst/>
        </p:spPr>
        <p:txBody>
          <a:bodyPr rtlCol="0" anchor="ctr" wrap="none" lIns="0" rIns="0" tIns="0" bIns="0"/>
          <a:lstStyle/>
          <a:p>
            <a:pPr algn="ctr"/>
            <a:r>
              <a:rPr sz="1150" b="1">
                <a:solidFill>
                  <a:srgbClr val="FFFFFF"/>
                </a:solidFill>
                <a:latin typeface="Calibri"/>
              </a:rPr>
              <a:t>▭</a:t>
            </a:r>
          </a:p>
        </p:txBody>
      </p:sp>
      <p:sp>
        <p:nvSpPr>
          <p:cNvPr id="15" name="TextBox 14"/>
          <p:cNvSpPr txBox="1"/>
          <p:nvPr/>
        </p:nvSpPr>
        <p:spPr>
          <a:xfrm>
            <a:off x="1170432" y="3456432"/>
            <a:ext cx="10259568" cy="585216"/>
          </a:xfrm>
          <a:prstGeom prst="rect">
            <a:avLst/>
          </a:prstGeom>
          <a:noFill/>
        </p:spPr>
        <p:txBody>
          <a:bodyPr wrap="square" lIns="0" rIns="0" tIns="0" bIns="0" anchor="ctr">
            <a:spAutoFit/>
          </a:bodyPr>
          <a:lstStyle/>
          <a:p>
            <a:pPr marL="0" indent="0">
              <a:spcAft>
                <a:spcPts val="100"/>
              </a:spcAft>
              <a:buNone/>
            </a:pPr>
            <a:r>
              <a:rPr sz="1240" b="1" i="0">
                <a:solidFill>
                  <a:srgbClr val="123B47"/>
                </a:solidFill>
                <a:latin typeface="Calibri"/>
              </a:rPr>
              <a:t>Slice</a:t>
            </a:r>
          </a:p>
          <a:p>
            <a:pPr marL="0" indent="0">
              <a:lnSpc>
                <a:spcPct val="114000"/>
              </a:lnSpc>
              <a:buNone/>
            </a:pPr>
            <a:r>
              <a:rPr sz="1040" b="0" i="0">
                <a:solidFill>
                  <a:srgbClr val="2E3F47"/>
                </a:solidFill>
                <a:latin typeface="Calibri"/>
              </a:rPr>
              <a:t>Fix one dimension at a single member and view the remaining cube. “Only the festive quarter”, or “only Rajasthan”. A slice reduces the cube's dimensionality by one.</a:t>
            </a:r>
          </a:p>
        </p:txBody>
      </p:sp>
      <p:sp>
        <p:nvSpPr>
          <p:cNvPr id="16" name="Rounded Rectangle 15"/>
          <p:cNvSpPr/>
          <p:nvPr/>
        </p:nvSpPr>
        <p:spPr>
          <a:xfrm>
            <a:off x="548640" y="4151376"/>
            <a:ext cx="11091672" cy="658368"/>
          </a:xfrm>
          <a:prstGeom prst="roundRect">
            <a:avLst>
              <a:gd name="adj" fmla="val 12500"/>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17" name="Oval 16"/>
          <p:cNvSpPr/>
          <p:nvPr/>
        </p:nvSpPr>
        <p:spPr>
          <a:xfrm>
            <a:off x="713232" y="4261104"/>
            <a:ext cx="347472" cy="347472"/>
          </a:xfrm>
          <a:prstGeom prst="ellipse">
            <a:avLst/>
          </a:prstGeom>
          <a:solidFill>
            <a:srgbClr val="123B47"/>
          </a:solidFill>
          <a:ln>
            <a:noFill/>
          </a:ln>
          <a:effectLst/>
        </p:spPr>
        <p:txBody>
          <a:bodyPr rtlCol="0" anchor="ctr" wrap="none" lIns="0" rIns="0" tIns="0" bIns="0"/>
          <a:lstStyle/>
          <a:p>
            <a:pPr algn="ctr"/>
            <a:r>
              <a:rPr sz="1150" b="1">
                <a:solidFill>
                  <a:srgbClr val="FFFFFF"/>
                </a:solidFill>
                <a:latin typeface="Calibri"/>
              </a:rPr>
              <a:t>▦</a:t>
            </a:r>
          </a:p>
        </p:txBody>
      </p:sp>
      <p:sp>
        <p:nvSpPr>
          <p:cNvPr id="18" name="TextBox 17"/>
          <p:cNvSpPr txBox="1"/>
          <p:nvPr/>
        </p:nvSpPr>
        <p:spPr>
          <a:xfrm>
            <a:off x="1170432" y="4187952"/>
            <a:ext cx="10259568" cy="585216"/>
          </a:xfrm>
          <a:prstGeom prst="rect">
            <a:avLst/>
          </a:prstGeom>
          <a:noFill/>
        </p:spPr>
        <p:txBody>
          <a:bodyPr wrap="square" lIns="0" rIns="0" tIns="0" bIns="0" anchor="ctr">
            <a:spAutoFit/>
          </a:bodyPr>
          <a:lstStyle/>
          <a:p>
            <a:pPr marL="0" indent="0">
              <a:spcAft>
                <a:spcPts val="100"/>
              </a:spcAft>
              <a:buNone/>
            </a:pPr>
            <a:r>
              <a:rPr sz="1240" b="1" i="0">
                <a:solidFill>
                  <a:srgbClr val="123B47"/>
                </a:solidFill>
                <a:latin typeface="Calibri"/>
              </a:rPr>
              <a:t>Dice</a:t>
            </a:r>
          </a:p>
          <a:p>
            <a:pPr marL="0" indent="0">
              <a:lnSpc>
                <a:spcPct val="114000"/>
              </a:lnSpc>
              <a:buNone/>
            </a:pPr>
            <a:r>
              <a:rPr sz="1040" b="0" i="0">
                <a:solidFill>
                  <a:srgbClr val="2E3F47"/>
                </a:solidFill>
                <a:latin typeface="Calibri"/>
              </a:rPr>
              <a:t>Select a sub-cube by constraining several dimensions to ranges or sets. “Ethnic wear and western wear, in Rajasthan and Gujarat, in Q2 and Q3.”</a:t>
            </a:r>
          </a:p>
        </p:txBody>
      </p:sp>
      <p:sp>
        <p:nvSpPr>
          <p:cNvPr id="19" name="Rounded Rectangle 18"/>
          <p:cNvSpPr/>
          <p:nvPr/>
        </p:nvSpPr>
        <p:spPr>
          <a:xfrm>
            <a:off x="548640" y="4882896"/>
            <a:ext cx="11091672" cy="658368"/>
          </a:xfrm>
          <a:prstGeom prst="roundRect">
            <a:avLst>
              <a:gd name="adj" fmla="val 12500"/>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20" name="Oval 19"/>
          <p:cNvSpPr/>
          <p:nvPr/>
        </p:nvSpPr>
        <p:spPr>
          <a:xfrm>
            <a:off x="713232" y="4992624"/>
            <a:ext cx="347472" cy="347472"/>
          </a:xfrm>
          <a:prstGeom prst="ellipse">
            <a:avLst/>
          </a:prstGeom>
          <a:solidFill>
            <a:srgbClr val="123B47"/>
          </a:solidFill>
          <a:ln>
            <a:noFill/>
          </a:ln>
          <a:effectLst/>
        </p:spPr>
        <p:txBody>
          <a:bodyPr rtlCol="0" anchor="ctr" wrap="none" lIns="0" rIns="0" tIns="0" bIns="0"/>
          <a:lstStyle/>
          <a:p>
            <a:pPr algn="ctr"/>
            <a:r>
              <a:rPr sz="1150" b="1">
                <a:solidFill>
                  <a:srgbClr val="FFFFFF"/>
                </a:solidFill>
                <a:latin typeface="Calibri"/>
              </a:rPr>
              <a:t>⟳</a:t>
            </a:r>
          </a:p>
        </p:txBody>
      </p:sp>
      <p:sp>
        <p:nvSpPr>
          <p:cNvPr id="21" name="TextBox 20"/>
          <p:cNvSpPr txBox="1"/>
          <p:nvPr/>
        </p:nvSpPr>
        <p:spPr>
          <a:xfrm>
            <a:off x="1170432" y="4919472"/>
            <a:ext cx="10259568" cy="585216"/>
          </a:xfrm>
          <a:prstGeom prst="rect">
            <a:avLst/>
          </a:prstGeom>
          <a:noFill/>
        </p:spPr>
        <p:txBody>
          <a:bodyPr wrap="square" lIns="0" rIns="0" tIns="0" bIns="0" anchor="ctr">
            <a:spAutoFit/>
          </a:bodyPr>
          <a:lstStyle/>
          <a:p>
            <a:pPr marL="0" indent="0">
              <a:spcAft>
                <a:spcPts val="100"/>
              </a:spcAft>
              <a:buNone/>
            </a:pPr>
            <a:r>
              <a:rPr sz="1240" b="1" i="0">
                <a:solidFill>
                  <a:srgbClr val="123B47"/>
                </a:solidFill>
                <a:latin typeface="Calibri"/>
              </a:rPr>
              <a:t>Pivot (rotate)</a:t>
            </a:r>
          </a:p>
          <a:p>
            <a:pPr marL="0" indent="0">
              <a:lnSpc>
                <a:spcPct val="114000"/>
              </a:lnSpc>
              <a:buNone/>
            </a:pPr>
            <a:r>
              <a:rPr sz="1040" b="0" i="0">
                <a:solidFill>
                  <a:srgbClr val="2E3F47"/>
                </a:solidFill>
                <a:latin typeface="Calibri"/>
              </a:rPr>
              <a:t>Reorient the view so that a dimension currently in the rows appears in the columns. Changes nothing in the data and a great deal in what the reader notices.</a:t>
            </a:r>
          </a:p>
        </p:txBody>
      </p:sp>
      <p:sp>
        <p:nvSpPr>
          <p:cNvPr id="22" name="Rounded Rectangle 21"/>
          <p:cNvSpPr/>
          <p:nvPr/>
        </p:nvSpPr>
        <p:spPr>
          <a:xfrm>
            <a:off x="548640" y="5632703"/>
            <a:ext cx="11091672" cy="658368"/>
          </a:xfrm>
          <a:prstGeom prst="roundRect">
            <a:avLst>
              <a:gd name="adj" fmla="val 12500"/>
            </a:avLst>
          </a:prstGeom>
          <a:solidFill>
            <a:srgbClr val="D8E9E7"/>
          </a:solidFill>
          <a:ln w="12700">
            <a:solidFill>
              <a:srgbClr val="BBD6D3"/>
            </a:solidFill>
          </a:ln>
          <a:effectLst/>
        </p:spPr>
        <p:txBody>
          <a:bodyPr rtlCol="0" anchor="ctr"/>
          <a:lstStyle/>
          <a:p/>
        </p:txBody>
      </p:sp>
      <p:sp>
        <p:nvSpPr>
          <p:cNvPr id="23" name="TextBox 22"/>
          <p:cNvSpPr txBox="1"/>
          <p:nvPr/>
        </p:nvSpPr>
        <p:spPr>
          <a:xfrm>
            <a:off x="768096" y="5705855"/>
            <a:ext cx="10652760" cy="512063"/>
          </a:xfrm>
          <a:prstGeom prst="rect">
            <a:avLst/>
          </a:prstGeom>
          <a:noFill/>
        </p:spPr>
        <p:txBody>
          <a:bodyPr wrap="square" lIns="0" rIns="0" tIns="0" bIns="0" anchor="ctr">
            <a:spAutoFit/>
          </a:bodyPr>
          <a:lstStyle/>
          <a:p>
            <a:pPr marL="0" indent="0">
              <a:lnSpc>
                <a:spcPct val="124000"/>
              </a:lnSpc>
              <a:buNone/>
            </a:pPr>
            <a:r>
              <a:rPr sz="1080" b="1" i="0">
                <a:solidFill>
                  <a:srgbClr val="17454E"/>
                </a:solidFill>
                <a:latin typeface="Calibri"/>
              </a:rPr>
              <a:t>Two further operations you should recognise.</a:t>
            </a:r>
            <a:r>
              <a:rPr sz="1080" b="1" i="0">
                <a:solidFill>
                  <a:srgbClr val="17454E"/>
                </a:solidFill>
                <a:latin typeface="Calibri"/>
              </a:rPr>
              <a:t>  Drill-through moves from an aggregated cell to the underlying transaction rows, usually in a different report. Drill-across compares the same dimension member across two different fact tables — sales and returns, or budget and actual — which is possible only where the dimensions are conformed, the subject of Session 7.</a:t>
            </a:r>
          </a:p>
        </p:txBody>
      </p:sp>
      <p:sp>
        <p:nvSpPr>
          <p:cNvPr id="24" name="TextBox 23"/>
          <p:cNvSpPr txBox="1"/>
          <p:nvPr/>
        </p:nvSpPr>
        <p:spPr>
          <a:xfrm>
            <a:off x="548640" y="6382512"/>
            <a:ext cx="8686800" cy="256032"/>
          </a:xfrm>
          <a:prstGeom prst="rect">
            <a:avLst/>
          </a:prstGeom>
          <a:noFill/>
        </p:spPr>
        <p:txBody>
          <a:bodyPr wrap="square" lIns="0" rIns="0" tIns="0" bIns="0" anchor="t">
            <a:spAutoFit/>
          </a:bodyPr>
          <a:lstStyle/>
          <a:p>
            <a:pPr algn="l" marL="0" indent="0">
              <a:buNone/>
            </a:pPr>
            <a:r>
              <a:rPr sz="900" b="0" i="0">
                <a:solidFill>
                  <a:srgbClr val="5C7079"/>
                </a:solidFill>
                <a:latin typeface="Calibri"/>
              </a:rPr>
              <a:t>Business Intelligence  |  Session 6 — Data Warehousing &amp; OLTP/OLAP  |  IILM Jaipur, MBA</a:t>
            </a:r>
          </a:p>
        </p:txBody>
      </p:sp>
      <p:sp>
        <p:nvSpPr>
          <p:cNvPr id="25" name="TextBox 24"/>
          <p:cNvSpPr txBox="1"/>
          <p:nvPr/>
        </p:nvSpPr>
        <p:spPr>
          <a:xfrm>
            <a:off x="10543032" y="6382512"/>
            <a:ext cx="1097280" cy="256032"/>
          </a:xfrm>
          <a:prstGeom prst="rect">
            <a:avLst/>
          </a:prstGeom>
          <a:noFill/>
        </p:spPr>
        <p:txBody>
          <a:bodyPr wrap="square" lIns="0" rIns="0" tIns="0" bIns="0" anchor="t">
            <a:spAutoFit/>
          </a:bodyPr>
          <a:lstStyle/>
          <a:p>
            <a:pPr algn="r" marL="0" indent="0">
              <a:buNone/>
            </a:pPr>
            <a:r>
              <a:rPr sz="950" b="1" i="0">
                <a:solidFill>
                  <a:srgbClr val="1B7F79"/>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374904"/>
            <a:ext cx="109728" cy="109728"/>
          </a:xfrm>
          <a:prstGeom prst="ellipse">
            <a:avLst/>
          </a:prstGeom>
          <a:solidFill>
            <a:srgbClr val="E8A33D"/>
          </a:solidFill>
          <a:ln>
            <a:noFill/>
          </a:ln>
          <a:effectLst/>
        </p:spPr>
        <p:txBody>
          <a:bodyPr rtlCol="0" anchor="ctr" wrap="none" lIns="0" rIns="0" tIns="0" bIns="0"/>
          <a:lstStyle/>
          <a:p>
            <a:pPr algn="ctr"/>
          </a:p>
        </p:txBody>
      </p:sp>
      <p:sp>
        <p:nvSpPr>
          <p:cNvPr id="3" name="TextBox 2"/>
          <p:cNvSpPr txBox="1"/>
          <p:nvPr/>
        </p:nvSpPr>
        <p:spPr>
          <a:xfrm>
            <a:off x="749808" y="283464"/>
            <a:ext cx="10890504" cy="256032"/>
          </a:xfrm>
          <a:prstGeom prst="rect">
            <a:avLst/>
          </a:prstGeom>
          <a:noFill/>
        </p:spPr>
        <p:txBody>
          <a:bodyPr wrap="square" lIns="0" rIns="0" tIns="0" bIns="0" anchor="t">
            <a:spAutoFit/>
          </a:bodyPr>
          <a:lstStyle/>
          <a:p>
            <a:pPr marL="0" indent="0">
              <a:buNone/>
            </a:pPr>
            <a:r>
              <a:rPr sz="1000" b="1" i="0">
                <a:solidFill>
                  <a:srgbClr val="B87A1E"/>
                </a:solidFill>
                <a:latin typeface="Calibri"/>
              </a:rPr>
              <a:t>PART 2 · IMPLEMENTATION</a:t>
            </a:r>
          </a:p>
        </p:txBody>
      </p:sp>
      <p:sp>
        <p:nvSpPr>
          <p:cNvPr id="4" name="TextBox 3"/>
          <p:cNvSpPr txBox="1"/>
          <p:nvPr/>
        </p:nvSpPr>
        <p:spPr>
          <a:xfrm>
            <a:off x="548640" y="548640"/>
            <a:ext cx="11091672" cy="640080"/>
          </a:xfrm>
          <a:prstGeom prst="rect">
            <a:avLst/>
          </a:prstGeom>
          <a:noFill/>
        </p:spPr>
        <p:txBody>
          <a:bodyPr wrap="square" lIns="0" rIns="0" tIns="0" bIns="0" anchor="t">
            <a:spAutoFit/>
          </a:bodyPr>
          <a:lstStyle/>
          <a:p>
            <a:pPr algn="l" marL="0" indent="0">
              <a:buNone/>
            </a:pPr>
            <a:r>
              <a:rPr sz="2700" b="1" i="0">
                <a:solidFill>
                  <a:srgbClr val="123B47"/>
                </a:solidFill>
                <a:latin typeface="Cambria"/>
              </a:rPr>
              <a:t>MOLAP, ROLAP, HOLAP — and what replaced the argument</a:t>
            </a:r>
          </a:p>
        </p:txBody>
      </p:sp>
      <p:sp>
        <p:nvSpPr>
          <p:cNvPr id="5" name="Rounded Rectangle 4"/>
          <p:cNvSpPr/>
          <p:nvPr/>
        </p:nvSpPr>
        <p:spPr>
          <a:xfrm>
            <a:off x="548640" y="1316736"/>
            <a:ext cx="3584448" cy="2139696"/>
          </a:xfrm>
          <a:prstGeom prst="roundRect">
            <a:avLst>
              <a:gd name="adj" fmla="val 3846"/>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6" name="Oval 5"/>
          <p:cNvSpPr/>
          <p:nvPr/>
        </p:nvSpPr>
        <p:spPr>
          <a:xfrm>
            <a:off x="749808" y="1527048"/>
            <a:ext cx="384048" cy="384048"/>
          </a:xfrm>
          <a:prstGeom prst="ellipse">
            <a:avLst/>
          </a:prstGeom>
          <a:solidFill>
            <a:srgbClr val="123B47"/>
          </a:solidFill>
          <a:ln>
            <a:noFill/>
          </a:ln>
          <a:effectLst/>
        </p:spPr>
        <p:txBody>
          <a:bodyPr rtlCol="0" anchor="ctr" wrap="none" lIns="0" rIns="0" tIns="0" bIns="0"/>
          <a:lstStyle/>
          <a:p>
            <a:pPr algn="ctr"/>
            <a:r>
              <a:rPr sz="1250" b="1">
                <a:solidFill>
                  <a:srgbClr val="FFFFFF"/>
                </a:solidFill>
                <a:latin typeface="Calibri"/>
              </a:rPr>
              <a:t>M</a:t>
            </a:r>
          </a:p>
        </p:txBody>
      </p:sp>
      <p:sp>
        <p:nvSpPr>
          <p:cNvPr id="7" name="TextBox 6"/>
          <p:cNvSpPr txBox="1"/>
          <p:nvPr/>
        </p:nvSpPr>
        <p:spPr>
          <a:xfrm>
            <a:off x="1252728" y="1517904"/>
            <a:ext cx="2679191"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MOLAP</a:t>
            </a:r>
          </a:p>
        </p:txBody>
      </p:sp>
      <p:sp>
        <p:nvSpPr>
          <p:cNvPr id="8" name="TextBox 7"/>
          <p:cNvSpPr txBox="1"/>
          <p:nvPr/>
        </p:nvSpPr>
        <p:spPr>
          <a:xfrm>
            <a:off x="749808" y="2002536"/>
            <a:ext cx="3182112" cy="1325879"/>
          </a:xfrm>
          <a:prstGeom prst="rect">
            <a:avLst/>
          </a:prstGeom>
          <a:noFill/>
        </p:spPr>
        <p:txBody>
          <a:bodyPr wrap="square" lIns="0" rIns="0" tIns="0" bIns="0" anchor="t">
            <a:spAutoFit/>
          </a:bodyPr>
          <a:lstStyle/>
          <a:p>
            <a:pPr marL="0" indent="0">
              <a:lnSpc>
                <a:spcPct val="124000"/>
              </a:lnSpc>
              <a:spcAft>
                <a:spcPts val="600"/>
              </a:spcAft>
              <a:buNone/>
            </a:pPr>
            <a:r>
              <a:rPr sz="819" b="0" i="0">
                <a:solidFill>
                  <a:srgbClr val="2E3F47"/>
                </a:solidFill>
                <a:latin typeface="Calibri"/>
              </a:rPr>
              <a:t>Data pre-aggregated into a proprietary multidimensional array. Every cell the user might ask for is computed in advance.</a:t>
            </a:r>
          </a:p>
          <a:p>
            <a:pPr marL="177800" indent="-177800">
              <a:lnSpc>
                <a:spcPct val="118000"/>
              </a:lnSpc>
              <a:spcAft>
                <a:spcPts val="500"/>
              </a:spcAft>
              <a:buSzPct val="100000"/>
              <a:buChar char="•"/>
            </a:pPr>
            <a:r>
              <a:rPr sz="819" b="0" i="0">
                <a:solidFill>
                  <a:srgbClr val="2E3F47"/>
                </a:solidFill>
                <a:latin typeface="Calibri"/>
              </a:rPr>
              <a:t>Fastest possible query response</a:t>
            </a:r>
          </a:p>
          <a:p>
            <a:pPr marL="177800" indent="-177800">
              <a:lnSpc>
                <a:spcPct val="118000"/>
              </a:lnSpc>
              <a:spcAft>
                <a:spcPts val="500"/>
              </a:spcAft>
              <a:buSzPct val="100000"/>
              <a:buChar char="•"/>
            </a:pPr>
            <a:r>
              <a:rPr sz="819" b="0" i="0">
                <a:solidFill>
                  <a:srgbClr val="2E3F47"/>
                </a:solidFill>
                <a:latin typeface="Calibri"/>
              </a:rPr>
              <a:t>Long processing windows; sparse data wastes space</a:t>
            </a:r>
          </a:p>
          <a:p>
            <a:pPr marL="177800" indent="-177800">
              <a:lnSpc>
                <a:spcPct val="118000"/>
              </a:lnSpc>
              <a:spcAft>
                <a:spcPts val="500"/>
              </a:spcAft>
              <a:buSzPct val="100000"/>
              <a:buChar char="•"/>
            </a:pPr>
            <a:r>
              <a:rPr sz="819" b="0" i="0">
                <a:solidFill>
                  <a:srgbClr val="2E3F47"/>
                </a:solidFill>
                <a:latin typeface="Calibri"/>
              </a:rPr>
              <a:t>Struggles with very high-cardinality dimensions</a:t>
            </a:r>
          </a:p>
          <a:p>
            <a:pPr marL="177800" indent="-177800">
              <a:lnSpc>
                <a:spcPct val="118000"/>
              </a:lnSpc>
              <a:spcAft>
                <a:spcPts val="500"/>
              </a:spcAft>
              <a:buSzPct val="100000"/>
              <a:buChar char="•"/>
            </a:pPr>
            <a:r>
              <a:rPr sz="819" b="0" i="0">
                <a:solidFill>
                  <a:srgbClr val="2E3F47"/>
                </a:solidFill>
                <a:latin typeface="Calibri"/>
              </a:rPr>
              <a:t>Classic example: Microsoft Analysis Services in multidimensional mode</a:t>
            </a:r>
          </a:p>
        </p:txBody>
      </p:sp>
      <p:sp>
        <p:nvSpPr>
          <p:cNvPr id="9" name="Rounded Rectangle 8"/>
          <p:cNvSpPr/>
          <p:nvPr/>
        </p:nvSpPr>
        <p:spPr>
          <a:xfrm>
            <a:off x="4306824" y="1316736"/>
            <a:ext cx="3584448" cy="2139696"/>
          </a:xfrm>
          <a:prstGeom prst="roundRect">
            <a:avLst>
              <a:gd name="adj" fmla="val 3846"/>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10" name="Oval 9"/>
          <p:cNvSpPr/>
          <p:nvPr/>
        </p:nvSpPr>
        <p:spPr>
          <a:xfrm>
            <a:off x="4507992" y="1527048"/>
            <a:ext cx="384048" cy="384048"/>
          </a:xfrm>
          <a:prstGeom prst="ellipse">
            <a:avLst/>
          </a:prstGeom>
          <a:solidFill>
            <a:srgbClr val="1B7F79"/>
          </a:solidFill>
          <a:ln>
            <a:noFill/>
          </a:ln>
          <a:effectLst/>
        </p:spPr>
        <p:txBody>
          <a:bodyPr rtlCol="0" anchor="ctr" wrap="none" lIns="0" rIns="0" tIns="0" bIns="0"/>
          <a:lstStyle/>
          <a:p>
            <a:pPr algn="ctr"/>
            <a:r>
              <a:rPr sz="1250" b="1">
                <a:solidFill>
                  <a:srgbClr val="FFFFFF"/>
                </a:solidFill>
                <a:latin typeface="Calibri"/>
              </a:rPr>
              <a:t>R</a:t>
            </a:r>
          </a:p>
        </p:txBody>
      </p:sp>
      <p:sp>
        <p:nvSpPr>
          <p:cNvPr id="11" name="TextBox 10"/>
          <p:cNvSpPr txBox="1"/>
          <p:nvPr/>
        </p:nvSpPr>
        <p:spPr>
          <a:xfrm>
            <a:off x="5010912" y="1517904"/>
            <a:ext cx="2679191"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ROLAP</a:t>
            </a:r>
          </a:p>
        </p:txBody>
      </p:sp>
      <p:sp>
        <p:nvSpPr>
          <p:cNvPr id="12" name="TextBox 11"/>
          <p:cNvSpPr txBox="1"/>
          <p:nvPr/>
        </p:nvSpPr>
        <p:spPr>
          <a:xfrm>
            <a:off x="4507992" y="2002536"/>
            <a:ext cx="3182112" cy="1325879"/>
          </a:xfrm>
          <a:prstGeom prst="rect">
            <a:avLst/>
          </a:prstGeom>
          <a:noFill/>
        </p:spPr>
        <p:txBody>
          <a:bodyPr wrap="square" lIns="0" rIns="0" tIns="0" bIns="0" anchor="t">
            <a:spAutoFit/>
          </a:bodyPr>
          <a:lstStyle/>
          <a:p>
            <a:pPr marL="0" indent="0">
              <a:lnSpc>
                <a:spcPct val="124000"/>
              </a:lnSpc>
              <a:spcAft>
                <a:spcPts val="600"/>
              </a:spcAft>
              <a:buNone/>
            </a:pPr>
            <a:r>
              <a:rPr sz="800" b="0" i="0">
                <a:solidFill>
                  <a:srgbClr val="2E3F47"/>
                </a:solidFill>
                <a:latin typeface="Calibri"/>
              </a:rPr>
              <a:t>Data left in relational tables; the tool generates SQL against a star schema at query time.</a:t>
            </a:r>
          </a:p>
          <a:p>
            <a:pPr marL="177800" indent="-177800">
              <a:lnSpc>
                <a:spcPct val="118000"/>
              </a:lnSpc>
              <a:spcAft>
                <a:spcPts val="500"/>
              </a:spcAft>
              <a:buSzPct val="100000"/>
              <a:buChar char="•"/>
            </a:pPr>
            <a:r>
              <a:rPr sz="800" b="0" i="0">
                <a:solidFill>
                  <a:srgbClr val="2E3F47"/>
                </a:solidFill>
                <a:latin typeface="Calibri"/>
              </a:rPr>
              <a:t>Scales to any volume the database can hold</a:t>
            </a:r>
          </a:p>
          <a:p>
            <a:pPr marL="177800" indent="-177800">
              <a:lnSpc>
                <a:spcPct val="118000"/>
              </a:lnSpc>
              <a:spcAft>
                <a:spcPts val="500"/>
              </a:spcAft>
              <a:buSzPct val="100000"/>
              <a:buChar char="•"/>
            </a:pPr>
            <a:r>
              <a:rPr sz="800" b="0" i="0">
                <a:solidFill>
                  <a:srgbClr val="2E3F47"/>
                </a:solidFill>
                <a:latin typeface="Calibri"/>
              </a:rPr>
              <a:t>No pre-processing window; always current with the load</a:t>
            </a:r>
          </a:p>
          <a:p>
            <a:pPr marL="177800" indent="-177800">
              <a:lnSpc>
                <a:spcPct val="118000"/>
              </a:lnSpc>
              <a:spcAft>
                <a:spcPts val="500"/>
              </a:spcAft>
              <a:buSzPct val="100000"/>
              <a:buChar char="•"/>
            </a:pPr>
            <a:r>
              <a:rPr sz="800" b="0" i="0">
                <a:solidFill>
                  <a:srgbClr val="2E3F47"/>
                </a:solidFill>
                <a:latin typeface="Calibri"/>
              </a:rPr>
              <a:t>Query performance depends wholly on the database</a:t>
            </a:r>
          </a:p>
          <a:p>
            <a:pPr marL="177800" indent="-177800">
              <a:lnSpc>
                <a:spcPct val="118000"/>
              </a:lnSpc>
              <a:spcAft>
                <a:spcPts val="500"/>
              </a:spcAft>
              <a:buSzPct val="100000"/>
              <a:buChar char="•"/>
            </a:pPr>
            <a:r>
              <a:rPr sz="800" b="0" i="0">
                <a:solidFill>
                  <a:srgbClr val="2E3F47"/>
                </a:solidFill>
                <a:latin typeface="Calibri"/>
              </a:rPr>
              <a:t>Classic example: any BI tool over a star schema in a columnar warehouse</a:t>
            </a:r>
          </a:p>
        </p:txBody>
      </p:sp>
      <p:sp>
        <p:nvSpPr>
          <p:cNvPr id="13" name="Rounded Rectangle 12"/>
          <p:cNvSpPr/>
          <p:nvPr/>
        </p:nvSpPr>
        <p:spPr>
          <a:xfrm>
            <a:off x="8055864" y="1316736"/>
            <a:ext cx="3584448" cy="2139696"/>
          </a:xfrm>
          <a:prstGeom prst="roundRect">
            <a:avLst>
              <a:gd name="adj" fmla="val 3846"/>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14" name="Oval 13"/>
          <p:cNvSpPr/>
          <p:nvPr/>
        </p:nvSpPr>
        <p:spPr>
          <a:xfrm>
            <a:off x="8257032" y="1527048"/>
            <a:ext cx="384048" cy="384048"/>
          </a:xfrm>
          <a:prstGeom prst="ellipse">
            <a:avLst/>
          </a:prstGeom>
          <a:solidFill>
            <a:srgbClr val="E8A33D"/>
          </a:solidFill>
          <a:ln>
            <a:noFill/>
          </a:ln>
          <a:effectLst/>
        </p:spPr>
        <p:txBody>
          <a:bodyPr rtlCol="0" anchor="ctr" wrap="none" lIns="0" rIns="0" tIns="0" bIns="0"/>
          <a:lstStyle/>
          <a:p>
            <a:pPr algn="ctr"/>
            <a:r>
              <a:rPr sz="1250" b="1">
                <a:solidFill>
                  <a:srgbClr val="3A2703"/>
                </a:solidFill>
                <a:latin typeface="Calibri"/>
              </a:rPr>
              <a:t>H</a:t>
            </a:r>
          </a:p>
        </p:txBody>
      </p:sp>
      <p:sp>
        <p:nvSpPr>
          <p:cNvPr id="15" name="TextBox 14"/>
          <p:cNvSpPr txBox="1"/>
          <p:nvPr/>
        </p:nvSpPr>
        <p:spPr>
          <a:xfrm>
            <a:off x="8759952" y="1517904"/>
            <a:ext cx="2679191"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HOLAP</a:t>
            </a:r>
          </a:p>
        </p:txBody>
      </p:sp>
      <p:sp>
        <p:nvSpPr>
          <p:cNvPr id="16" name="TextBox 15"/>
          <p:cNvSpPr txBox="1"/>
          <p:nvPr/>
        </p:nvSpPr>
        <p:spPr>
          <a:xfrm>
            <a:off x="8257032" y="2002536"/>
            <a:ext cx="3182112" cy="1325879"/>
          </a:xfrm>
          <a:prstGeom prst="rect">
            <a:avLst/>
          </a:prstGeom>
          <a:noFill/>
        </p:spPr>
        <p:txBody>
          <a:bodyPr wrap="square" lIns="0" rIns="0" tIns="0" bIns="0" anchor="t">
            <a:spAutoFit/>
          </a:bodyPr>
          <a:lstStyle/>
          <a:p>
            <a:pPr marL="0" indent="0">
              <a:lnSpc>
                <a:spcPct val="124000"/>
              </a:lnSpc>
              <a:spcAft>
                <a:spcPts val="600"/>
              </a:spcAft>
              <a:buNone/>
            </a:pPr>
            <a:r>
              <a:rPr sz="880" b="0" i="0">
                <a:solidFill>
                  <a:srgbClr val="2E3F47"/>
                </a:solidFill>
                <a:latin typeface="Calibri"/>
              </a:rPr>
              <a:t>Aggregates held multidimensionally, detail left relational; the engine chooses which to use per query.</a:t>
            </a:r>
          </a:p>
          <a:p>
            <a:pPr marL="177800" indent="-177800">
              <a:lnSpc>
                <a:spcPct val="118000"/>
              </a:lnSpc>
              <a:spcAft>
                <a:spcPts val="500"/>
              </a:spcAft>
              <a:buSzPct val="100000"/>
              <a:buChar char="•"/>
            </a:pPr>
            <a:r>
              <a:rPr sz="880" b="0" i="0">
                <a:solidFill>
                  <a:srgbClr val="2E3F47"/>
                </a:solidFill>
                <a:latin typeface="Calibri"/>
              </a:rPr>
              <a:t>Fast summaries with drill-through to full detail</a:t>
            </a:r>
          </a:p>
          <a:p>
            <a:pPr marL="177800" indent="-177800">
              <a:lnSpc>
                <a:spcPct val="118000"/>
              </a:lnSpc>
              <a:spcAft>
                <a:spcPts val="500"/>
              </a:spcAft>
              <a:buSzPct val="100000"/>
              <a:buChar char="•"/>
            </a:pPr>
            <a:r>
              <a:rPr sz="880" b="0" i="0">
                <a:solidFill>
                  <a:srgbClr val="2E3F47"/>
                </a:solidFill>
                <a:latin typeface="Calibri"/>
              </a:rPr>
              <a:t>Two structures to design, tune and reconcile</a:t>
            </a:r>
          </a:p>
          <a:p>
            <a:pPr marL="177800" indent="-177800">
              <a:lnSpc>
                <a:spcPct val="118000"/>
              </a:lnSpc>
              <a:spcAft>
                <a:spcPts val="500"/>
              </a:spcAft>
              <a:buSzPct val="100000"/>
              <a:buChar char="•"/>
            </a:pPr>
            <a:r>
              <a:rPr sz="880" b="0" i="0">
                <a:solidFill>
                  <a:srgbClr val="2E3F47"/>
                </a:solidFill>
                <a:latin typeface="Calibri"/>
              </a:rPr>
              <a:t>Historically the pragmatic compromise</a:t>
            </a:r>
          </a:p>
          <a:p>
            <a:pPr marL="177800" indent="-177800">
              <a:lnSpc>
                <a:spcPct val="118000"/>
              </a:lnSpc>
              <a:spcAft>
                <a:spcPts val="500"/>
              </a:spcAft>
              <a:buSzPct val="100000"/>
              <a:buChar char="•"/>
            </a:pPr>
            <a:r>
              <a:rPr sz="880" b="0" i="0">
                <a:solidFill>
                  <a:srgbClr val="2E3F47"/>
                </a:solidFill>
                <a:latin typeface="Calibri"/>
              </a:rPr>
              <a:t>Classic example: aggregation tables beside a detailed star schema</a:t>
            </a:r>
          </a:p>
        </p:txBody>
      </p:sp>
      <p:sp>
        <p:nvSpPr>
          <p:cNvPr id="17" name="Rounded Rectangle 16"/>
          <p:cNvSpPr/>
          <p:nvPr/>
        </p:nvSpPr>
        <p:spPr>
          <a:xfrm>
            <a:off x="548640" y="3621024"/>
            <a:ext cx="11091672" cy="804672"/>
          </a:xfrm>
          <a:prstGeom prst="roundRect">
            <a:avLst>
              <a:gd name="adj" fmla="val 10227"/>
            </a:avLst>
          </a:prstGeom>
          <a:solidFill>
            <a:srgbClr val="123B47"/>
          </a:solidFill>
          <a:ln>
            <a:noFill/>
          </a:ln>
          <a:effectLst>
            <a:outerShdw blurRad="76200" dist="12700" dir="5400000" algn="bl" rotWithShape="0">
              <a:srgbClr val="9FB3B0">
                <a:alpha val="28000"/>
              </a:srgbClr>
            </a:outerShdw>
          </a:effectLst>
        </p:spPr>
        <p:txBody>
          <a:bodyPr rtlCol="0" anchor="ctr"/>
          <a:lstStyle/>
          <a:p/>
        </p:txBody>
      </p:sp>
      <p:sp>
        <p:nvSpPr>
          <p:cNvPr id="18" name="TextBox 17"/>
          <p:cNvSpPr txBox="1"/>
          <p:nvPr/>
        </p:nvSpPr>
        <p:spPr>
          <a:xfrm>
            <a:off x="768096" y="3694176"/>
            <a:ext cx="10652760" cy="658368"/>
          </a:xfrm>
          <a:prstGeom prst="rect">
            <a:avLst/>
          </a:prstGeom>
          <a:noFill/>
        </p:spPr>
        <p:txBody>
          <a:bodyPr wrap="square" lIns="0" rIns="0" tIns="0" bIns="0" anchor="ctr">
            <a:spAutoFit/>
          </a:bodyPr>
          <a:lstStyle/>
          <a:p>
            <a:pPr marL="0" indent="0">
              <a:lnSpc>
                <a:spcPct val="124000"/>
              </a:lnSpc>
              <a:buNone/>
            </a:pPr>
            <a:r>
              <a:rPr sz="1030" b="1" i="0">
                <a:solidFill>
                  <a:srgbClr val="FFFFFF"/>
                </a:solidFill>
                <a:latin typeface="Calibri"/>
              </a:rPr>
              <a:t>Why this argument matters less than it did.</a:t>
            </a:r>
            <a:r>
              <a:rPr sz="1030" b="1" i="0">
                <a:solidFill>
                  <a:srgbClr val="FFFFFF"/>
                </a:solidFill>
                <a:latin typeface="Calibri"/>
              </a:rPr>
              <a:t>  MOLAP existed because relational engines could not aggregate large volumes quickly. Columnar storage, vectorised execution, massively parallel processing and in-memory engines removed most of that gap during the 2010s. Modern practice is overwhelmingly ROLAP over a columnar warehouse, with in-memory models such as Power BI's VertiPaq or Tableau's extracts sitting in front of it. Know the three terms — they are examined and they appear in older documentation — but do not treat the choice as live in most projects today.</a:t>
            </a:r>
          </a:p>
        </p:txBody>
      </p:sp>
      <p:sp>
        <p:nvSpPr>
          <p:cNvPr id="19" name="Rounded Rectangle 18"/>
          <p:cNvSpPr/>
          <p:nvPr/>
        </p:nvSpPr>
        <p:spPr>
          <a:xfrm>
            <a:off x="548640" y="4553712"/>
            <a:ext cx="5394960" cy="1170432"/>
          </a:xfrm>
          <a:prstGeom prst="roundRect">
            <a:avLst>
              <a:gd name="adj" fmla="val 7031"/>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20" name="Oval 19"/>
          <p:cNvSpPr/>
          <p:nvPr/>
        </p:nvSpPr>
        <p:spPr>
          <a:xfrm>
            <a:off x="749808" y="4764024"/>
            <a:ext cx="384048" cy="384048"/>
          </a:xfrm>
          <a:prstGeom prst="ellipse">
            <a:avLst/>
          </a:prstGeom>
          <a:solidFill>
            <a:srgbClr val="1B7F79"/>
          </a:solidFill>
          <a:ln>
            <a:noFill/>
          </a:ln>
          <a:effectLst/>
        </p:spPr>
        <p:txBody>
          <a:bodyPr rtlCol="0" anchor="ctr" wrap="none" lIns="0" rIns="0" tIns="0" bIns="0"/>
          <a:lstStyle/>
          <a:p>
            <a:pPr algn="ctr"/>
            <a:r>
              <a:rPr sz="1250" b="1">
                <a:solidFill>
                  <a:srgbClr val="FFFFFF"/>
                </a:solidFill>
                <a:latin typeface="Calibri"/>
              </a:rPr>
              <a:t>i</a:t>
            </a:r>
          </a:p>
        </p:txBody>
      </p:sp>
      <p:sp>
        <p:nvSpPr>
          <p:cNvPr id="21" name="TextBox 20"/>
          <p:cNvSpPr txBox="1"/>
          <p:nvPr/>
        </p:nvSpPr>
        <p:spPr>
          <a:xfrm>
            <a:off x="1252728" y="4754880"/>
            <a:ext cx="4489704"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The in-memory model you will actually use</a:t>
            </a:r>
          </a:p>
        </p:txBody>
      </p:sp>
      <p:sp>
        <p:nvSpPr>
          <p:cNvPr id="22" name="TextBox 21"/>
          <p:cNvSpPr txBox="1"/>
          <p:nvPr/>
        </p:nvSpPr>
        <p:spPr>
          <a:xfrm>
            <a:off x="749808" y="5239512"/>
            <a:ext cx="4992624" cy="356616"/>
          </a:xfrm>
          <a:prstGeom prst="rect">
            <a:avLst/>
          </a:prstGeom>
          <a:noFill/>
        </p:spPr>
        <p:txBody>
          <a:bodyPr wrap="square" lIns="0" rIns="0" tIns="0" bIns="0" anchor="t">
            <a:spAutoFit/>
          </a:bodyPr>
          <a:lstStyle/>
          <a:p>
            <a:pPr marL="0" indent="0">
              <a:lnSpc>
                <a:spcPct val="124000"/>
              </a:lnSpc>
              <a:buNone/>
            </a:pPr>
            <a:r>
              <a:rPr sz="860" b="0" i="0">
                <a:solidFill>
                  <a:srgbClr val="2E3F47"/>
                </a:solidFill>
                <a:latin typeface="Calibri"/>
              </a:rPr>
              <a:t>Power BI's tabular model compresses a star schema in memory and answers most queries in milliseconds without any pre-aggregation. It is ROLAP in structure and MOLAP in feel, and it is why the classification now feels dated.</a:t>
            </a:r>
          </a:p>
        </p:txBody>
      </p:sp>
      <p:sp>
        <p:nvSpPr>
          <p:cNvPr id="23" name="Rounded Rectangle 22"/>
          <p:cNvSpPr/>
          <p:nvPr/>
        </p:nvSpPr>
        <p:spPr>
          <a:xfrm>
            <a:off x="6245352" y="4553712"/>
            <a:ext cx="5394960" cy="1170432"/>
          </a:xfrm>
          <a:prstGeom prst="roundRect">
            <a:avLst>
              <a:gd name="adj" fmla="val 7031"/>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24" name="Oval 23"/>
          <p:cNvSpPr/>
          <p:nvPr/>
        </p:nvSpPr>
        <p:spPr>
          <a:xfrm>
            <a:off x="6446520" y="4764024"/>
            <a:ext cx="384048" cy="384048"/>
          </a:xfrm>
          <a:prstGeom prst="ellipse">
            <a:avLst/>
          </a:prstGeom>
          <a:solidFill>
            <a:srgbClr val="A63B26"/>
          </a:solidFill>
          <a:ln>
            <a:noFill/>
          </a:ln>
          <a:effectLst/>
        </p:spPr>
        <p:txBody>
          <a:bodyPr rtlCol="0" anchor="ctr" wrap="none" lIns="0" rIns="0" tIns="0" bIns="0"/>
          <a:lstStyle/>
          <a:p>
            <a:pPr algn="ctr"/>
            <a:r>
              <a:rPr sz="1250" b="1">
                <a:solidFill>
                  <a:srgbClr val="FFFFFF"/>
                </a:solidFill>
                <a:latin typeface="Calibri"/>
              </a:rPr>
              <a:t>!</a:t>
            </a:r>
          </a:p>
        </p:txBody>
      </p:sp>
      <p:sp>
        <p:nvSpPr>
          <p:cNvPr id="25" name="TextBox 24"/>
          <p:cNvSpPr txBox="1"/>
          <p:nvPr/>
        </p:nvSpPr>
        <p:spPr>
          <a:xfrm>
            <a:off x="6949440" y="4754880"/>
            <a:ext cx="4489704"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The question that still matters</a:t>
            </a:r>
          </a:p>
        </p:txBody>
      </p:sp>
      <p:sp>
        <p:nvSpPr>
          <p:cNvPr id="26" name="TextBox 25"/>
          <p:cNvSpPr txBox="1"/>
          <p:nvPr/>
        </p:nvSpPr>
        <p:spPr>
          <a:xfrm>
            <a:off x="6446520" y="5239512"/>
            <a:ext cx="4992624" cy="356616"/>
          </a:xfrm>
          <a:prstGeom prst="rect">
            <a:avLst/>
          </a:prstGeom>
          <a:noFill/>
        </p:spPr>
        <p:txBody>
          <a:bodyPr wrap="square" lIns="0" rIns="0" tIns="0" bIns="0" anchor="t">
            <a:spAutoFit/>
          </a:bodyPr>
          <a:lstStyle/>
          <a:p>
            <a:pPr marL="0" indent="0">
              <a:lnSpc>
                <a:spcPct val="124000"/>
              </a:lnSpc>
              <a:buNone/>
            </a:pPr>
            <a:r>
              <a:rPr sz="919" b="0" i="0">
                <a:solidFill>
                  <a:srgbClr val="2E3F47"/>
                </a:solidFill>
                <a:latin typeface="Calibri"/>
              </a:rPr>
              <a:t>Not “which OLAP architecture”, but “at what grain is data stored, and what is pre-aggregated”. That decision still determines both cost and the questions that remain answerable.</a:t>
            </a:r>
          </a:p>
        </p:txBody>
      </p:sp>
      <p:sp>
        <p:nvSpPr>
          <p:cNvPr id="27" name="Rounded Rectangle 26"/>
          <p:cNvSpPr/>
          <p:nvPr/>
        </p:nvSpPr>
        <p:spPr>
          <a:xfrm>
            <a:off x="548640" y="5852160"/>
            <a:ext cx="11091672" cy="292608"/>
          </a:xfrm>
          <a:prstGeom prst="roundRect">
            <a:avLst>
              <a:gd name="adj" fmla="val 28125"/>
            </a:avLst>
          </a:prstGeom>
          <a:solidFill>
            <a:srgbClr val="FBEBD1"/>
          </a:solidFill>
          <a:ln w="12700">
            <a:solidFill>
              <a:srgbClr val="EFD9AE"/>
            </a:solidFill>
          </a:ln>
          <a:effectLst/>
        </p:spPr>
        <p:txBody>
          <a:bodyPr rtlCol="0" anchor="ctr"/>
          <a:lstStyle/>
          <a:p/>
        </p:txBody>
      </p:sp>
      <p:sp>
        <p:nvSpPr>
          <p:cNvPr id="28" name="TextBox 27"/>
          <p:cNvSpPr txBox="1"/>
          <p:nvPr/>
        </p:nvSpPr>
        <p:spPr>
          <a:xfrm>
            <a:off x="768096" y="5870448"/>
            <a:ext cx="10652760" cy="256032"/>
          </a:xfrm>
          <a:prstGeom prst="rect">
            <a:avLst/>
          </a:prstGeom>
          <a:noFill/>
        </p:spPr>
        <p:txBody>
          <a:bodyPr wrap="square" lIns="0" rIns="0" tIns="0" bIns="0" anchor="ctr">
            <a:spAutoFit/>
          </a:bodyPr>
          <a:lstStyle/>
          <a:p>
            <a:pPr marL="0" indent="0">
              <a:lnSpc>
                <a:spcPct val="124000"/>
              </a:lnSpc>
              <a:buNone/>
            </a:pPr>
            <a:r>
              <a:rPr sz="1060" b="1" i="0">
                <a:solidFill>
                  <a:srgbClr val="6A4A0F"/>
                </a:solidFill>
                <a:latin typeface="Calibri"/>
              </a:rPr>
              <a:t>Examination note.</a:t>
            </a:r>
            <a:r>
              <a:rPr sz="1060" b="1" i="0">
                <a:solidFill>
                  <a:srgbClr val="6A4A0F"/>
                </a:solidFill>
                <a:latin typeface="Calibri"/>
              </a:rPr>
              <a:t>  Be able to define all three and state one advantage and one disadvantage of each.</a:t>
            </a:r>
          </a:p>
        </p:txBody>
      </p:sp>
      <p:sp>
        <p:nvSpPr>
          <p:cNvPr id="29" name="TextBox 28"/>
          <p:cNvSpPr txBox="1"/>
          <p:nvPr/>
        </p:nvSpPr>
        <p:spPr>
          <a:xfrm>
            <a:off x="548640" y="6382512"/>
            <a:ext cx="8686800" cy="256032"/>
          </a:xfrm>
          <a:prstGeom prst="rect">
            <a:avLst/>
          </a:prstGeom>
          <a:noFill/>
        </p:spPr>
        <p:txBody>
          <a:bodyPr wrap="square" lIns="0" rIns="0" tIns="0" bIns="0" anchor="t">
            <a:spAutoFit/>
          </a:bodyPr>
          <a:lstStyle/>
          <a:p>
            <a:pPr algn="l" marL="0" indent="0">
              <a:buNone/>
            </a:pPr>
            <a:r>
              <a:rPr sz="900" b="0" i="0">
                <a:solidFill>
                  <a:srgbClr val="5C7079"/>
                </a:solidFill>
                <a:latin typeface="Calibri"/>
              </a:rPr>
              <a:t>Business Intelligence  |  Session 6 — Data Warehousing &amp; OLTP/OLAP  |  IILM Jaipur, MBA</a:t>
            </a:r>
          </a:p>
        </p:txBody>
      </p:sp>
      <p:sp>
        <p:nvSpPr>
          <p:cNvPr id="30" name="TextBox 29"/>
          <p:cNvSpPr txBox="1"/>
          <p:nvPr/>
        </p:nvSpPr>
        <p:spPr>
          <a:xfrm>
            <a:off x="10543032" y="6382512"/>
            <a:ext cx="1097280" cy="256032"/>
          </a:xfrm>
          <a:prstGeom prst="rect">
            <a:avLst/>
          </a:prstGeom>
          <a:noFill/>
        </p:spPr>
        <p:txBody>
          <a:bodyPr wrap="square" lIns="0" rIns="0" tIns="0" bIns="0" anchor="t">
            <a:spAutoFit/>
          </a:bodyPr>
          <a:lstStyle/>
          <a:p>
            <a:pPr algn="r" marL="0" indent="0">
              <a:buNone/>
            </a:pPr>
            <a:r>
              <a:rPr sz="950" b="1" i="0">
                <a:solidFill>
                  <a:srgbClr val="1B7F79"/>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23B47"/>
        </a:solidFill>
        <a:effectLst/>
      </p:bgPr>
    </p:bg>
    <p:spTree>
      <p:nvGrpSpPr>
        <p:cNvPr id="1" name=""/>
        <p:cNvGrpSpPr/>
        <p:nvPr/>
      </p:nvGrpSpPr>
      <p:grpSpPr/>
      <p:sp>
        <p:nvSpPr>
          <p:cNvPr id="2" name="Oval 1"/>
          <p:cNvSpPr/>
          <p:nvPr/>
        </p:nvSpPr>
        <p:spPr>
          <a:xfrm>
            <a:off x="10561320" y="5074920"/>
            <a:ext cx="2377440" cy="2377440"/>
          </a:xfrm>
          <a:prstGeom prst="ellipse">
            <a:avLst/>
          </a:prstGeom>
          <a:solidFill>
            <a:srgbClr val="1A4E5B"/>
          </a:solidFill>
          <a:ln>
            <a:noFill/>
          </a:ln>
          <a:effectLst/>
        </p:spPr>
        <p:txBody>
          <a:bodyPr rtlCol="0" anchor="ctr" wrap="none" lIns="0" rIns="0" tIns="0" bIns="0"/>
          <a:lstStyle/>
          <a:p>
            <a:pPr algn="ctr"/>
          </a:p>
        </p:txBody>
      </p:sp>
      <p:sp>
        <p:nvSpPr>
          <p:cNvPr id="3" name="TextBox 2"/>
          <p:cNvSpPr txBox="1"/>
          <p:nvPr/>
        </p:nvSpPr>
        <p:spPr>
          <a:xfrm>
            <a:off x="548640" y="1975104"/>
            <a:ext cx="1554480" cy="1371600"/>
          </a:xfrm>
          <a:prstGeom prst="rect">
            <a:avLst/>
          </a:prstGeom>
          <a:noFill/>
        </p:spPr>
        <p:txBody>
          <a:bodyPr wrap="square" lIns="0" rIns="0" tIns="0" bIns="0" anchor="ctr">
            <a:spAutoFit/>
          </a:bodyPr>
          <a:lstStyle/>
          <a:p>
            <a:pPr marL="0" indent="0">
              <a:buNone/>
            </a:pPr>
            <a:r>
              <a:rPr sz="7400" b="1" i="0">
                <a:solidFill>
                  <a:srgbClr val="E8A33D"/>
                </a:solidFill>
                <a:latin typeface="Cambria"/>
              </a:rPr>
              <a:t>03</a:t>
            </a:r>
          </a:p>
        </p:txBody>
      </p:sp>
      <p:sp>
        <p:nvSpPr>
          <p:cNvPr id="4" name="TextBox 3"/>
          <p:cNvSpPr txBox="1"/>
          <p:nvPr/>
        </p:nvSpPr>
        <p:spPr>
          <a:xfrm>
            <a:off x="2240280" y="2011680"/>
            <a:ext cx="8595360" cy="914400"/>
          </a:xfrm>
          <a:prstGeom prst="rect">
            <a:avLst/>
          </a:prstGeom>
          <a:noFill/>
        </p:spPr>
        <p:txBody>
          <a:bodyPr wrap="square" lIns="0" rIns="0" tIns="0" bIns="0" anchor="ctr">
            <a:spAutoFit/>
          </a:bodyPr>
          <a:lstStyle/>
          <a:p>
            <a:pPr marL="0" indent="0">
              <a:lnSpc>
                <a:spcPct val="108000"/>
              </a:lnSpc>
              <a:buNone/>
            </a:pPr>
            <a:r>
              <a:rPr sz="3100" b="1" i="0">
                <a:solidFill>
                  <a:srgbClr val="FFFFFF"/>
                </a:solidFill>
                <a:latin typeface="Cambria"/>
              </a:rPr>
              <a:t>Warehouse Architecture</a:t>
            </a:r>
          </a:p>
        </p:txBody>
      </p:sp>
      <p:sp>
        <p:nvSpPr>
          <p:cNvPr id="5" name="TextBox 4"/>
          <p:cNvSpPr txBox="1"/>
          <p:nvPr/>
        </p:nvSpPr>
        <p:spPr>
          <a:xfrm>
            <a:off x="2240280" y="3017520"/>
            <a:ext cx="8595360" cy="822960"/>
          </a:xfrm>
          <a:prstGeom prst="rect">
            <a:avLst/>
          </a:prstGeom>
          <a:noFill/>
        </p:spPr>
        <p:txBody>
          <a:bodyPr wrap="square" lIns="0" rIns="0" tIns="0" bIns="0" anchor="t">
            <a:spAutoFit/>
          </a:bodyPr>
          <a:lstStyle/>
          <a:p>
            <a:pPr marL="0" indent="0">
              <a:lnSpc>
                <a:spcPct val="130000"/>
              </a:lnSpc>
              <a:buNone/>
            </a:pPr>
            <a:r>
              <a:rPr sz="1300" b="0" i="0">
                <a:solidFill>
                  <a:srgbClr val="A9C4C2"/>
                </a:solidFill>
                <a:latin typeface="Calibri"/>
              </a:rPr>
              <a:t>The layered reference architecture · staging, ODS, warehouse and marts · ETL against ELT · Inmon, Kimball and Data Vault · the lakehouse</a:t>
            </a:r>
          </a:p>
        </p:txBody>
      </p:sp>
      <p:sp>
        <p:nvSpPr>
          <p:cNvPr id="6" name="TextBox 5"/>
          <p:cNvSpPr txBox="1"/>
          <p:nvPr/>
        </p:nvSpPr>
        <p:spPr>
          <a:xfrm>
            <a:off x="548640" y="6382512"/>
            <a:ext cx="8686800" cy="256032"/>
          </a:xfrm>
          <a:prstGeom prst="rect">
            <a:avLst/>
          </a:prstGeom>
          <a:noFill/>
        </p:spPr>
        <p:txBody>
          <a:bodyPr wrap="square" lIns="0" rIns="0" tIns="0" bIns="0" anchor="t">
            <a:spAutoFit/>
          </a:bodyPr>
          <a:lstStyle/>
          <a:p>
            <a:pPr algn="l" marL="0" indent="0">
              <a:buNone/>
            </a:pPr>
            <a:r>
              <a:rPr sz="900" b="0" i="0">
                <a:solidFill>
                  <a:srgbClr val="6D8A88"/>
                </a:solidFill>
                <a:latin typeface="Calibri"/>
              </a:rPr>
              <a:t>Business Intelligence  |  Session 6 — Data Warehousing &amp; OLTP/OLAP  |  IILM Jaipur, MBA</a:t>
            </a:r>
          </a:p>
        </p:txBody>
      </p:sp>
      <p:sp>
        <p:nvSpPr>
          <p:cNvPr id="7" name="TextBox 6"/>
          <p:cNvSpPr txBox="1"/>
          <p:nvPr/>
        </p:nvSpPr>
        <p:spPr>
          <a:xfrm>
            <a:off x="10543032" y="6382512"/>
            <a:ext cx="1097280" cy="256032"/>
          </a:xfrm>
          <a:prstGeom prst="rect">
            <a:avLst/>
          </a:prstGeom>
          <a:noFill/>
        </p:spPr>
        <p:txBody>
          <a:bodyPr wrap="square" lIns="0" rIns="0" tIns="0" bIns="0" anchor="t">
            <a:spAutoFit/>
          </a:bodyPr>
          <a:lstStyle/>
          <a:p>
            <a:pPr algn="r" marL="0" indent="0">
              <a:buNone/>
            </a:pPr>
            <a:r>
              <a:rPr sz="950" b="1" i="0">
                <a:solidFill>
                  <a:srgbClr val="E8A33D"/>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374904"/>
            <a:ext cx="109728" cy="109728"/>
          </a:xfrm>
          <a:prstGeom prst="ellipse">
            <a:avLst/>
          </a:prstGeom>
          <a:solidFill>
            <a:srgbClr val="E8A33D"/>
          </a:solidFill>
          <a:ln>
            <a:noFill/>
          </a:ln>
          <a:effectLst/>
        </p:spPr>
        <p:txBody>
          <a:bodyPr rtlCol="0" anchor="ctr" wrap="none" lIns="0" rIns="0" tIns="0" bIns="0"/>
          <a:lstStyle/>
          <a:p>
            <a:pPr algn="ctr"/>
          </a:p>
        </p:txBody>
      </p:sp>
      <p:sp>
        <p:nvSpPr>
          <p:cNvPr id="3" name="TextBox 2"/>
          <p:cNvSpPr txBox="1"/>
          <p:nvPr/>
        </p:nvSpPr>
        <p:spPr>
          <a:xfrm>
            <a:off x="749808" y="283464"/>
            <a:ext cx="10890504" cy="256032"/>
          </a:xfrm>
          <a:prstGeom prst="rect">
            <a:avLst/>
          </a:prstGeom>
          <a:noFill/>
        </p:spPr>
        <p:txBody>
          <a:bodyPr wrap="square" lIns="0" rIns="0" tIns="0" bIns="0" anchor="t">
            <a:spAutoFit/>
          </a:bodyPr>
          <a:lstStyle/>
          <a:p>
            <a:pPr marL="0" indent="0">
              <a:buNone/>
            </a:pPr>
            <a:r>
              <a:rPr sz="1000" b="1" i="0">
                <a:solidFill>
                  <a:srgbClr val="B87A1E"/>
                </a:solidFill>
                <a:latin typeface="Calibri"/>
              </a:rPr>
              <a:t>PART 3 · ARCHITECTURE</a:t>
            </a:r>
          </a:p>
        </p:txBody>
      </p:sp>
      <p:sp>
        <p:nvSpPr>
          <p:cNvPr id="4" name="TextBox 3"/>
          <p:cNvSpPr txBox="1"/>
          <p:nvPr/>
        </p:nvSpPr>
        <p:spPr>
          <a:xfrm>
            <a:off x="548640" y="548640"/>
            <a:ext cx="11091672" cy="640080"/>
          </a:xfrm>
          <a:prstGeom prst="rect">
            <a:avLst/>
          </a:prstGeom>
          <a:noFill/>
        </p:spPr>
        <p:txBody>
          <a:bodyPr wrap="square" lIns="0" rIns="0" tIns="0" bIns="0" anchor="t">
            <a:spAutoFit/>
          </a:bodyPr>
          <a:lstStyle/>
          <a:p>
            <a:pPr algn="l" marL="0" indent="0">
              <a:buNone/>
            </a:pPr>
            <a:r>
              <a:rPr sz="2700" b="1" i="0">
                <a:solidFill>
                  <a:srgbClr val="123B47"/>
                </a:solidFill>
                <a:latin typeface="Cambria"/>
              </a:rPr>
              <a:t>The layers, and what each one is for</a:t>
            </a:r>
          </a:p>
        </p:txBody>
      </p:sp>
      <p:sp>
        <p:nvSpPr>
          <p:cNvPr id="5" name="Rounded Rectangle 4"/>
          <p:cNvSpPr/>
          <p:nvPr/>
        </p:nvSpPr>
        <p:spPr>
          <a:xfrm>
            <a:off x="548640" y="1316736"/>
            <a:ext cx="11091672" cy="658368"/>
          </a:xfrm>
          <a:prstGeom prst="roundRect">
            <a:avLst>
              <a:gd name="adj" fmla="val 12500"/>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6" name="Oval 5"/>
          <p:cNvSpPr/>
          <p:nvPr/>
        </p:nvSpPr>
        <p:spPr>
          <a:xfrm>
            <a:off x="713232" y="1426464"/>
            <a:ext cx="347472" cy="347472"/>
          </a:xfrm>
          <a:prstGeom prst="ellipse">
            <a:avLst/>
          </a:prstGeom>
          <a:solidFill>
            <a:srgbClr val="123B47"/>
          </a:solidFill>
          <a:ln>
            <a:noFill/>
          </a:ln>
          <a:effectLst/>
        </p:spPr>
        <p:txBody>
          <a:bodyPr rtlCol="0" anchor="ctr" wrap="none" lIns="0" rIns="0" tIns="0" bIns="0"/>
          <a:lstStyle/>
          <a:p>
            <a:pPr algn="ctr"/>
            <a:r>
              <a:rPr sz="1150" b="1">
                <a:solidFill>
                  <a:srgbClr val="FFFFFF"/>
                </a:solidFill>
                <a:latin typeface="Calibri"/>
              </a:rPr>
              <a:t>1</a:t>
            </a:r>
          </a:p>
        </p:txBody>
      </p:sp>
      <p:sp>
        <p:nvSpPr>
          <p:cNvPr id="7" name="TextBox 6"/>
          <p:cNvSpPr txBox="1"/>
          <p:nvPr/>
        </p:nvSpPr>
        <p:spPr>
          <a:xfrm>
            <a:off x="1170432" y="1353312"/>
            <a:ext cx="10259568" cy="585216"/>
          </a:xfrm>
          <a:prstGeom prst="rect">
            <a:avLst/>
          </a:prstGeom>
          <a:noFill/>
        </p:spPr>
        <p:txBody>
          <a:bodyPr wrap="square" lIns="0" rIns="0" tIns="0" bIns="0" anchor="ctr">
            <a:spAutoFit/>
          </a:bodyPr>
          <a:lstStyle/>
          <a:p>
            <a:pPr marL="0" indent="0">
              <a:spcAft>
                <a:spcPts val="100"/>
              </a:spcAft>
              <a:buNone/>
            </a:pPr>
            <a:r>
              <a:rPr sz="1240" b="1" i="0">
                <a:solidFill>
                  <a:srgbClr val="123B47"/>
                </a:solidFill>
                <a:latin typeface="Calibri"/>
              </a:rPr>
              <a:t>Source layer</a:t>
            </a:r>
          </a:p>
          <a:p>
            <a:pPr marL="0" indent="0">
              <a:lnSpc>
                <a:spcPct val="114000"/>
              </a:lnSpc>
              <a:buNone/>
            </a:pPr>
            <a:r>
              <a:rPr sz="1040" b="0" i="0">
                <a:solidFill>
                  <a:srgbClr val="2E3F47"/>
                </a:solidFill>
                <a:latin typeface="Calibri"/>
              </a:rPr>
              <a:t>Operational systems, files, APIs and external feeds. Owned by other people, changed without notice, and never to be modified by the BI team.</a:t>
            </a:r>
          </a:p>
        </p:txBody>
      </p:sp>
      <p:sp>
        <p:nvSpPr>
          <p:cNvPr id="8" name="Rounded Rectangle 7"/>
          <p:cNvSpPr/>
          <p:nvPr/>
        </p:nvSpPr>
        <p:spPr>
          <a:xfrm>
            <a:off x="548640" y="2048256"/>
            <a:ext cx="11091672" cy="658368"/>
          </a:xfrm>
          <a:prstGeom prst="roundRect">
            <a:avLst>
              <a:gd name="adj" fmla="val 12500"/>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9" name="Oval 8"/>
          <p:cNvSpPr/>
          <p:nvPr/>
        </p:nvSpPr>
        <p:spPr>
          <a:xfrm>
            <a:off x="713232" y="2157984"/>
            <a:ext cx="347472" cy="347472"/>
          </a:xfrm>
          <a:prstGeom prst="ellipse">
            <a:avLst/>
          </a:prstGeom>
          <a:solidFill>
            <a:srgbClr val="123B47"/>
          </a:solidFill>
          <a:ln>
            <a:noFill/>
          </a:ln>
          <a:effectLst/>
        </p:spPr>
        <p:txBody>
          <a:bodyPr rtlCol="0" anchor="ctr" wrap="none" lIns="0" rIns="0" tIns="0" bIns="0"/>
          <a:lstStyle/>
          <a:p>
            <a:pPr algn="ctr"/>
            <a:r>
              <a:rPr sz="1150" b="1">
                <a:solidFill>
                  <a:srgbClr val="FFFFFF"/>
                </a:solidFill>
                <a:latin typeface="Calibri"/>
              </a:rPr>
              <a:t>2</a:t>
            </a:r>
          </a:p>
        </p:txBody>
      </p:sp>
      <p:sp>
        <p:nvSpPr>
          <p:cNvPr id="10" name="TextBox 9"/>
          <p:cNvSpPr txBox="1"/>
          <p:nvPr/>
        </p:nvSpPr>
        <p:spPr>
          <a:xfrm>
            <a:off x="1170432" y="2084832"/>
            <a:ext cx="10259568" cy="585216"/>
          </a:xfrm>
          <a:prstGeom prst="rect">
            <a:avLst/>
          </a:prstGeom>
          <a:noFill/>
        </p:spPr>
        <p:txBody>
          <a:bodyPr wrap="square" lIns="0" rIns="0" tIns="0" bIns="0" anchor="ctr">
            <a:spAutoFit/>
          </a:bodyPr>
          <a:lstStyle/>
          <a:p>
            <a:pPr marL="0" indent="0">
              <a:spcAft>
                <a:spcPts val="100"/>
              </a:spcAft>
              <a:buNone/>
            </a:pPr>
            <a:r>
              <a:rPr sz="1240" b="1" i="0">
                <a:solidFill>
                  <a:srgbClr val="123B47"/>
                </a:solidFill>
                <a:latin typeface="Calibri"/>
              </a:rPr>
              <a:t>Staging area</a:t>
            </a:r>
          </a:p>
          <a:p>
            <a:pPr marL="0" indent="0">
              <a:lnSpc>
                <a:spcPct val="114000"/>
              </a:lnSpc>
              <a:buNone/>
            </a:pPr>
            <a:r>
              <a:rPr sz="1040" b="0" i="0">
                <a:solidFill>
                  <a:srgbClr val="2E3F47"/>
                </a:solidFill>
                <a:latin typeface="Calibri"/>
              </a:rPr>
              <a:t>A landing zone holding raw extracts exactly as received, with minimal transformation. Its purpose is to decouple extraction from processing, so a failed load can be re-run without returning to the source.</a:t>
            </a:r>
          </a:p>
        </p:txBody>
      </p:sp>
      <p:sp>
        <p:nvSpPr>
          <p:cNvPr id="11" name="Rounded Rectangle 10"/>
          <p:cNvSpPr/>
          <p:nvPr/>
        </p:nvSpPr>
        <p:spPr>
          <a:xfrm>
            <a:off x="548640" y="2779776"/>
            <a:ext cx="11091672" cy="658368"/>
          </a:xfrm>
          <a:prstGeom prst="roundRect">
            <a:avLst>
              <a:gd name="adj" fmla="val 12500"/>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12" name="Oval 11"/>
          <p:cNvSpPr/>
          <p:nvPr/>
        </p:nvSpPr>
        <p:spPr>
          <a:xfrm>
            <a:off x="713232" y="2889504"/>
            <a:ext cx="347472" cy="347472"/>
          </a:xfrm>
          <a:prstGeom prst="ellipse">
            <a:avLst/>
          </a:prstGeom>
          <a:solidFill>
            <a:srgbClr val="123B47"/>
          </a:solidFill>
          <a:ln>
            <a:noFill/>
          </a:ln>
          <a:effectLst/>
        </p:spPr>
        <p:txBody>
          <a:bodyPr rtlCol="0" anchor="ctr" wrap="none" lIns="0" rIns="0" tIns="0" bIns="0"/>
          <a:lstStyle/>
          <a:p>
            <a:pPr algn="ctr"/>
            <a:r>
              <a:rPr sz="1150" b="1">
                <a:solidFill>
                  <a:srgbClr val="FFFFFF"/>
                </a:solidFill>
                <a:latin typeface="Calibri"/>
              </a:rPr>
              <a:t>3</a:t>
            </a:r>
          </a:p>
        </p:txBody>
      </p:sp>
      <p:sp>
        <p:nvSpPr>
          <p:cNvPr id="13" name="TextBox 12"/>
          <p:cNvSpPr txBox="1"/>
          <p:nvPr/>
        </p:nvSpPr>
        <p:spPr>
          <a:xfrm>
            <a:off x="1170432" y="2816352"/>
            <a:ext cx="10259568" cy="585216"/>
          </a:xfrm>
          <a:prstGeom prst="rect">
            <a:avLst/>
          </a:prstGeom>
          <a:noFill/>
        </p:spPr>
        <p:txBody>
          <a:bodyPr wrap="square" lIns="0" rIns="0" tIns="0" bIns="0" anchor="ctr">
            <a:spAutoFit/>
          </a:bodyPr>
          <a:lstStyle/>
          <a:p>
            <a:pPr marL="0" indent="0">
              <a:spcAft>
                <a:spcPts val="100"/>
              </a:spcAft>
              <a:buNone/>
            </a:pPr>
            <a:r>
              <a:rPr sz="1240" b="1" i="0">
                <a:solidFill>
                  <a:srgbClr val="123B47"/>
                </a:solidFill>
                <a:latin typeface="Calibri"/>
              </a:rPr>
              <a:t>Integration and cleansing</a:t>
            </a:r>
          </a:p>
          <a:p>
            <a:pPr marL="0" indent="0">
              <a:lnSpc>
                <a:spcPct val="114000"/>
              </a:lnSpc>
              <a:buNone/>
            </a:pPr>
            <a:r>
              <a:rPr sz="1040" b="0" i="0">
                <a:solidFill>
                  <a:srgbClr val="2E3F47"/>
                </a:solidFill>
                <a:latin typeface="Calibri"/>
              </a:rPr>
              <a:t>Where codes are conformed, duplicates resolved, keys matched across systems, quality rules applied and rejects quarantined. This is where most of the effort and almost all of the argument lives.</a:t>
            </a:r>
          </a:p>
        </p:txBody>
      </p:sp>
      <p:sp>
        <p:nvSpPr>
          <p:cNvPr id="14" name="Rounded Rectangle 13"/>
          <p:cNvSpPr/>
          <p:nvPr/>
        </p:nvSpPr>
        <p:spPr>
          <a:xfrm>
            <a:off x="548640" y="3511296"/>
            <a:ext cx="11091672" cy="658368"/>
          </a:xfrm>
          <a:prstGeom prst="roundRect">
            <a:avLst>
              <a:gd name="adj" fmla="val 12500"/>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15" name="Oval 14"/>
          <p:cNvSpPr/>
          <p:nvPr/>
        </p:nvSpPr>
        <p:spPr>
          <a:xfrm>
            <a:off x="713232" y="3621024"/>
            <a:ext cx="347472" cy="347472"/>
          </a:xfrm>
          <a:prstGeom prst="ellipse">
            <a:avLst/>
          </a:prstGeom>
          <a:solidFill>
            <a:srgbClr val="123B47"/>
          </a:solidFill>
          <a:ln>
            <a:noFill/>
          </a:ln>
          <a:effectLst/>
        </p:spPr>
        <p:txBody>
          <a:bodyPr rtlCol="0" anchor="ctr" wrap="none" lIns="0" rIns="0" tIns="0" bIns="0"/>
          <a:lstStyle/>
          <a:p>
            <a:pPr algn="ctr"/>
            <a:r>
              <a:rPr sz="1150" b="1">
                <a:solidFill>
                  <a:srgbClr val="FFFFFF"/>
                </a:solidFill>
                <a:latin typeface="Calibri"/>
              </a:rPr>
              <a:t>4</a:t>
            </a:r>
          </a:p>
        </p:txBody>
      </p:sp>
      <p:sp>
        <p:nvSpPr>
          <p:cNvPr id="16" name="TextBox 15"/>
          <p:cNvSpPr txBox="1"/>
          <p:nvPr/>
        </p:nvSpPr>
        <p:spPr>
          <a:xfrm>
            <a:off x="1170432" y="3547872"/>
            <a:ext cx="10259568" cy="585216"/>
          </a:xfrm>
          <a:prstGeom prst="rect">
            <a:avLst/>
          </a:prstGeom>
          <a:noFill/>
        </p:spPr>
        <p:txBody>
          <a:bodyPr wrap="square" lIns="0" rIns="0" tIns="0" bIns="0" anchor="ctr">
            <a:spAutoFit/>
          </a:bodyPr>
          <a:lstStyle/>
          <a:p>
            <a:pPr marL="0" indent="0">
              <a:spcAft>
                <a:spcPts val="100"/>
              </a:spcAft>
              <a:buNone/>
            </a:pPr>
            <a:r>
              <a:rPr sz="1240" b="1" i="0">
                <a:solidFill>
                  <a:srgbClr val="123B47"/>
                </a:solidFill>
                <a:latin typeface="Calibri"/>
              </a:rPr>
              <a:t>The warehouse</a:t>
            </a:r>
          </a:p>
          <a:p>
            <a:pPr marL="0" indent="0">
              <a:lnSpc>
                <a:spcPct val="114000"/>
              </a:lnSpc>
              <a:buNone/>
            </a:pPr>
            <a:r>
              <a:rPr sz="1040" b="0" i="0">
                <a:solidFill>
                  <a:srgbClr val="2E3F47"/>
                </a:solidFill>
                <a:latin typeface="Calibri"/>
              </a:rPr>
              <a:t>Integrated, time-variant, non-volatile storage at the finest grain the business will ever need. Everything downstream is derived from it, which is why the grain decision is irreversible in practice.</a:t>
            </a:r>
          </a:p>
        </p:txBody>
      </p:sp>
      <p:sp>
        <p:nvSpPr>
          <p:cNvPr id="17" name="Rounded Rectangle 16"/>
          <p:cNvSpPr/>
          <p:nvPr/>
        </p:nvSpPr>
        <p:spPr>
          <a:xfrm>
            <a:off x="548640" y="4242816"/>
            <a:ext cx="11091672" cy="658368"/>
          </a:xfrm>
          <a:prstGeom prst="roundRect">
            <a:avLst>
              <a:gd name="adj" fmla="val 12500"/>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18" name="Oval 17"/>
          <p:cNvSpPr/>
          <p:nvPr/>
        </p:nvSpPr>
        <p:spPr>
          <a:xfrm>
            <a:off x="713232" y="4352544"/>
            <a:ext cx="347472" cy="347472"/>
          </a:xfrm>
          <a:prstGeom prst="ellipse">
            <a:avLst/>
          </a:prstGeom>
          <a:solidFill>
            <a:srgbClr val="123B47"/>
          </a:solidFill>
          <a:ln>
            <a:noFill/>
          </a:ln>
          <a:effectLst/>
        </p:spPr>
        <p:txBody>
          <a:bodyPr rtlCol="0" anchor="ctr" wrap="none" lIns="0" rIns="0" tIns="0" bIns="0"/>
          <a:lstStyle/>
          <a:p>
            <a:pPr algn="ctr"/>
            <a:r>
              <a:rPr sz="1150" b="1">
                <a:solidFill>
                  <a:srgbClr val="FFFFFF"/>
                </a:solidFill>
                <a:latin typeface="Calibri"/>
              </a:rPr>
              <a:t>5</a:t>
            </a:r>
          </a:p>
        </p:txBody>
      </p:sp>
      <p:sp>
        <p:nvSpPr>
          <p:cNvPr id="19" name="TextBox 18"/>
          <p:cNvSpPr txBox="1"/>
          <p:nvPr/>
        </p:nvSpPr>
        <p:spPr>
          <a:xfrm>
            <a:off x="1170432" y="4279392"/>
            <a:ext cx="10259568" cy="585216"/>
          </a:xfrm>
          <a:prstGeom prst="rect">
            <a:avLst/>
          </a:prstGeom>
          <a:noFill/>
        </p:spPr>
        <p:txBody>
          <a:bodyPr wrap="square" lIns="0" rIns="0" tIns="0" bIns="0" anchor="ctr">
            <a:spAutoFit/>
          </a:bodyPr>
          <a:lstStyle/>
          <a:p>
            <a:pPr marL="0" indent="0">
              <a:spcAft>
                <a:spcPts val="100"/>
              </a:spcAft>
              <a:buNone/>
            </a:pPr>
            <a:r>
              <a:rPr sz="1240" b="1" i="0">
                <a:solidFill>
                  <a:srgbClr val="123B47"/>
                </a:solidFill>
                <a:latin typeface="Calibri"/>
              </a:rPr>
              <a:t>Data marts and semantic layer</a:t>
            </a:r>
          </a:p>
          <a:p>
            <a:pPr marL="0" indent="0">
              <a:lnSpc>
                <a:spcPct val="114000"/>
              </a:lnSpc>
              <a:buNone/>
            </a:pPr>
            <a:r>
              <a:rPr sz="1040" b="0" i="0">
                <a:solidFill>
                  <a:srgbClr val="2E3F47"/>
                </a:solidFill>
                <a:latin typeface="Calibri"/>
              </a:rPr>
              <a:t>Subject-specific subsets shaped for one function's questions, plus the measures and business definitions that make them usable. Sessions 7 and 8.</a:t>
            </a:r>
          </a:p>
        </p:txBody>
      </p:sp>
      <p:sp>
        <p:nvSpPr>
          <p:cNvPr id="20" name="Rounded Rectangle 19"/>
          <p:cNvSpPr/>
          <p:nvPr/>
        </p:nvSpPr>
        <p:spPr>
          <a:xfrm>
            <a:off x="548640" y="4974336"/>
            <a:ext cx="11091672" cy="658368"/>
          </a:xfrm>
          <a:prstGeom prst="roundRect">
            <a:avLst>
              <a:gd name="adj" fmla="val 12500"/>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21" name="Oval 20"/>
          <p:cNvSpPr/>
          <p:nvPr/>
        </p:nvSpPr>
        <p:spPr>
          <a:xfrm>
            <a:off x="713232" y="5084064"/>
            <a:ext cx="347472" cy="347472"/>
          </a:xfrm>
          <a:prstGeom prst="ellipse">
            <a:avLst/>
          </a:prstGeom>
          <a:solidFill>
            <a:srgbClr val="123B47"/>
          </a:solidFill>
          <a:ln>
            <a:noFill/>
          </a:ln>
          <a:effectLst/>
        </p:spPr>
        <p:txBody>
          <a:bodyPr rtlCol="0" anchor="ctr" wrap="none" lIns="0" rIns="0" tIns="0" bIns="0"/>
          <a:lstStyle/>
          <a:p>
            <a:pPr algn="ctr"/>
            <a:r>
              <a:rPr sz="1150" b="1">
                <a:solidFill>
                  <a:srgbClr val="FFFFFF"/>
                </a:solidFill>
                <a:latin typeface="Calibri"/>
              </a:rPr>
              <a:t>6</a:t>
            </a:r>
          </a:p>
        </p:txBody>
      </p:sp>
      <p:sp>
        <p:nvSpPr>
          <p:cNvPr id="22" name="TextBox 21"/>
          <p:cNvSpPr txBox="1"/>
          <p:nvPr/>
        </p:nvSpPr>
        <p:spPr>
          <a:xfrm>
            <a:off x="1170432" y="5010912"/>
            <a:ext cx="10259568" cy="585216"/>
          </a:xfrm>
          <a:prstGeom prst="rect">
            <a:avLst/>
          </a:prstGeom>
          <a:noFill/>
        </p:spPr>
        <p:txBody>
          <a:bodyPr wrap="square" lIns="0" rIns="0" tIns="0" bIns="0" anchor="ctr">
            <a:spAutoFit/>
          </a:bodyPr>
          <a:lstStyle/>
          <a:p>
            <a:pPr marL="0" indent="0">
              <a:spcAft>
                <a:spcPts val="100"/>
              </a:spcAft>
              <a:buNone/>
            </a:pPr>
            <a:r>
              <a:rPr sz="1240" b="1" i="0">
                <a:solidFill>
                  <a:srgbClr val="123B47"/>
                </a:solidFill>
                <a:latin typeface="Calibri"/>
              </a:rPr>
              <a:t>Delivery and access</a:t>
            </a:r>
          </a:p>
          <a:p>
            <a:pPr marL="0" indent="0">
              <a:lnSpc>
                <a:spcPct val="114000"/>
              </a:lnSpc>
              <a:buNone/>
            </a:pPr>
            <a:r>
              <a:rPr sz="1040" b="0" i="0">
                <a:solidFill>
                  <a:srgbClr val="2E3F47"/>
                </a:solidFill>
                <a:latin typeface="Calibri"/>
              </a:rPr>
              <a:t>Reports, dashboards, self-service models, exports and APIs — Session 4 — together with the security that decides who sees which rows.</a:t>
            </a:r>
          </a:p>
        </p:txBody>
      </p:sp>
      <p:sp>
        <p:nvSpPr>
          <p:cNvPr id="23" name="Rounded Rectangle 22"/>
          <p:cNvSpPr/>
          <p:nvPr/>
        </p:nvSpPr>
        <p:spPr>
          <a:xfrm>
            <a:off x="548640" y="5724143"/>
            <a:ext cx="11091672" cy="548640"/>
          </a:xfrm>
          <a:prstGeom prst="roundRect">
            <a:avLst>
              <a:gd name="adj" fmla="val 15000"/>
            </a:avLst>
          </a:prstGeom>
          <a:solidFill>
            <a:srgbClr val="123B47"/>
          </a:solidFill>
          <a:ln>
            <a:noFill/>
          </a:ln>
          <a:effectLst>
            <a:outerShdw blurRad="76200" dist="12700" dir="5400000" algn="bl" rotWithShape="0">
              <a:srgbClr val="9FB3B0">
                <a:alpha val="28000"/>
              </a:srgbClr>
            </a:outerShdw>
          </a:effectLst>
        </p:spPr>
        <p:txBody>
          <a:bodyPr rtlCol="0" anchor="ctr"/>
          <a:lstStyle/>
          <a:p/>
        </p:txBody>
      </p:sp>
      <p:sp>
        <p:nvSpPr>
          <p:cNvPr id="24" name="TextBox 23"/>
          <p:cNvSpPr txBox="1"/>
          <p:nvPr/>
        </p:nvSpPr>
        <p:spPr>
          <a:xfrm>
            <a:off x="768096" y="5779007"/>
            <a:ext cx="10652760" cy="438912"/>
          </a:xfrm>
          <a:prstGeom prst="rect">
            <a:avLst/>
          </a:prstGeom>
          <a:noFill/>
        </p:spPr>
        <p:txBody>
          <a:bodyPr wrap="square" lIns="0" rIns="0" tIns="0" bIns="0" anchor="ctr">
            <a:spAutoFit/>
          </a:bodyPr>
          <a:lstStyle/>
          <a:p>
            <a:pPr marL="0" indent="0">
              <a:lnSpc>
                <a:spcPct val="124000"/>
              </a:lnSpc>
              <a:buNone/>
            </a:pPr>
            <a:r>
              <a:rPr sz="1100" b="1" i="0">
                <a:solidFill>
                  <a:srgbClr val="FFFFFF"/>
                </a:solidFill>
                <a:latin typeface="Calibri"/>
              </a:rPr>
              <a:t>The rule that keeps the architecture honest.</a:t>
            </a:r>
            <a:r>
              <a:rPr sz="1100" b="1" i="0">
                <a:solidFill>
                  <a:srgbClr val="FFFFFF"/>
                </a:solidFill>
                <a:latin typeface="Calibri"/>
              </a:rPr>
              <a:t>  Data flows one way and each layer has exactly one job. The moment a report reads directly from staging, or a mart is loaded from a spreadsheet outside the flow, the lineage of Session 8 is broken and the architecture becomes decorative.</a:t>
            </a:r>
          </a:p>
        </p:txBody>
      </p:sp>
      <p:sp>
        <p:nvSpPr>
          <p:cNvPr id="25" name="TextBox 24"/>
          <p:cNvSpPr txBox="1"/>
          <p:nvPr/>
        </p:nvSpPr>
        <p:spPr>
          <a:xfrm>
            <a:off x="548640" y="6382512"/>
            <a:ext cx="8686800" cy="256032"/>
          </a:xfrm>
          <a:prstGeom prst="rect">
            <a:avLst/>
          </a:prstGeom>
          <a:noFill/>
        </p:spPr>
        <p:txBody>
          <a:bodyPr wrap="square" lIns="0" rIns="0" tIns="0" bIns="0" anchor="t">
            <a:spAutoFit/>
          </a:bodyPr>
          <a:lstStyle/>
          <a:p>
            <a:pPr algn="l" marL="0" indent="0">
              <a:buNone/>
            </a:pPr>
            <a:r>
              <a:rPr sz="900" b="0" i="0">
                <a:solidFill>
                  <a:srgbClr val="5C7079"/>
                </a:solidFill>
                <a:latin typeface="Calibri"/>
              </a:rPr>
              <a:t>Business Intelligence  |  Session 6 — Data Warehousing &amp; OLTP/OLAP  |  IILM Jaipur, MBA</a:t>
            </a:r>
          </a:p>
        </p:txBody>
      </p:sp>
      <p:sp>
        <p:nvSpPr>
          <p:cNvPr id="26" name="TextBox 25"/>
          <p:cNvSpPr txBox="1"/>
          <p:nvPr/>
        </p:nvSpPr>
        <p:spPr>
          <a:xfrm>
            <a:off x="10543032" y="6382512"/>
            <a:ext cx="1097280" cy="256032"/>
          </a:xfrm>
          <a:prstGeom prst="rect">
            <a:avLst/>
          </a:prstGeom>
          <a:noFill/>
        </p:spPr>
        <p:txBody>
          <a:bodyPr wrap="square" lIns="0" rIns="0" tIns="0" bIns="0" anchor="t">
            <a:spAutoFit/>
          </a:bodyPr>
          <a:lstStyle/>
          <a:p>
            <a:pPr algn="r" marL="0" indent="0">
              <a:buNone/>
            </a:pPr>
            <a:r>
              <a:rPr sz="950" b="1" i="0">
                <a:solidFill>
                  <a:srgbClr val="1B7F79"/>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374904"/>
            <a:ext cx="109728" cy="109728"/>
          </a:xfrm>
          <a:prstGeom prst="ellipse">
            <a:avLst/>
          </a:prstGeom>
          <a:solidFill>
            <a:srgbClr val="E8A33D"/>
          </a:solidFill>
          <a:ln>
            <a:noFill/>
          </a:ln>
          <a:effectLst/>
        </p:spPr>
        <p:txBody>
          <a:bodyPr rtlCol="0" anchor="ctr" wrap="none" lIns="0" rIns="0" tIns="0" bIns="0"/>
          <a:lstStyle/>
          <a:p>
            <a:pPr algn="ctr"/>
          </a:p>
        </p:txBody>
      </p:sp>
      <p:sp>
        <p:nvSpPr>
          <p:cNvPr id="3" name="TextBox 2"/>
          <p:cNvSpPr txBox="1"/>
          <p:nvPr/>
        </p:nvSpPr>
        <p:spPr>
          <a:xfrm>
            <a:off x="749808" y="283464"/>
            <a:ext cx="10890504" cy="256032"/>
          </a:xfrm>
          <a:prstGeom prst="rect">
            <a:avLst/>
          </a:prstGeom>
          <a:noFill/>
        </p:spPr>
        <p:txBody>
          <a:bodyPr wrap="square" lIns="0" rIns="0" tIns="0" bIns="0" anchor="t">
            <a:spAutoFit/>
          </a:bodyPr>
          <a:lstStyle/>
          <a:p>
            <a:pPr marL="0" indent="0">
              <a:buNone/>
            </a:pPr>
            <a:r>
              <a:rPr sz="1000" b="1" i="0">
                <a:solidFill>
                  <a:srgbClr val="B87A1E"/>
                </a:solidFill>
                <a:latin typeface="Calibri"/>
              </a:rPr>
              <a:t>PART 3 · MOVEMENT</a:t>
            </a:r>
          </a:p>
        </p:txBody>
      </p:sp>
      <p:sp>
        <p:nvSpPr>
          <p:cNvPr id="4" name="TextBox 3"/>
          <p:cNvSpPr txBox="1"/>
          <p:nvPr/>
        </p:nvSpPr>
        <p:spPr>
          <a:xfrm>
            <a:off x="548640" y="548640"/>
            <a:ext cx="11091672" cy="640080"/>
          </a:xfrm>
          <a:prstGeom prst="rect">
            <a:avLst/>
          </a:prstGeom>
          <a:noFill/>
        </p:spPr>
        <p:txBody>
          <a:bodyPr wrap="square" lIns="0" rIns="0" tIns="0" bIns="0" anchor="t">
            <a:spAutoFit/>
          </a:bodyPr>
          <a:lstStyle/>
          <a:p>
            <a:pPr algn="l" marL="0" indent="0">
              <a:buNone/>
            </a:pPr>
            <a:r>
              <a:rPr sz="2700" b="1" i="0">
                <a:solidFill>
                  <a:srgbClr val="123B47"/>
                </a:solidFill>
                <a:latin typeface="Cambria"/>
              </a:rPr>
              <a:t>ETL and ELT — the same three verbs in a different order</a:t>
            </a:r>
          </a:p>
        </p:txBody>
      </p:sp>
      <p:sp>
        <p:nvSpPr>
          <p:cNvPr id="5" name="Rounded Rectangle 4"/>
          <p:cNvSpPr/>
          <p:nvPr/>
        </p:nvSpPr>
        <p:spPr>
          <a:xfrm>
            <a:off x="548640" y="1316736"/>
            <a:ext cx="5394960" cy="2212848"/>
          </a:xfrm>
          <a:prstGeom prst="roundRect">
            <a:avLst>
              <a:gd name="adj" fmla="val 3719"/>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6" name="Oval 5"/>
          <p:cNvSpPr/>
          <p:nvPr/>
        </p:nvSpPr>
        <p:spPr>
          <a:xfrm>
            <a:off x="749808" y="1527048"/>
            <a:ext cx="384048" cy="384048"/>
          </a:xfrm>
          <a:prstGeom prst="ellipse">
            <a:avLst/>
          </a:prstGeom>
          <a:solidFill>
            <a:srgbClr val="123B47"/>
          </a:solidFill>
          <a:ln>
            <a:noFill/>
          </a:ln>
          <a:effectLst/>
        </p:spPr>
        <p:txBody>
          <a:bodyPr rtlCol="0" anchor="ctr" wrap="none" lIns="0" rIns="0" tIns="0" bIns="0"/>
          <a:lstStyle/>
          <a:p>
            <a:pPr algn="ctr"/>
            <a:r>
              <a:rPr sz="1250" b="1">
                <a:solidFill>
                  <a:srgbClr val="FFFFFF"/>
                </a:solidFill>
                <a:latin typeface="Calibri"/>
              </a:rPr>
              <a:t>1</a:t>
            </a:r>
          </a:p>
        </p:txBody>
      </p:sp>
      <p:sp>
        <p:nvSpPr>
          <p:cNvPr id="7" name="TextBox 6"/>
          <p:cNvSpPr txBox="1"/>
          <p:nvPr/>
        </p:nvSpPr>
        <p:spPr>
          <a:xfrm>
            <a:off x="1252728" y="1517904"/>
            <a:ext cx="4489704"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ETL — extract, transform, load</a:t>
            </a:r>
          </a:p>
        </p:txBody>
      </p:sp>
      <p:sp>
        <p:nvSpPr>
          <p:cNvPr id="8" name="TextBox 7"/>
          <p:cNvSpPr txBox="1"/>
          <p:nvPr/>
        </p:nvSpPr>
        <p:spPr>
          <a:xfrm>
            <a:off x="749808" y="2002536"/>
            <a:ext cx="4992624" cy="1399031"/>
          </a:xfrm>
          <a:prstGeom prst="rect">
            <a:avLst/>
          </a:prstGeom>
          <a:noFill/>
        </p:spPr>
        <p:txBody>
          <a:bodyPr wrap="square" lIns="0" rIns="0" tIns="0" bIns="0" anchor="t">
            <a:spAutoFit/>
          </a:bodyPr>
          <a:lstStyle/>
          <a:p>
            <a:pPr marL="177800" indent="-177800">
              <a:lnSpc>
                <a:spcPct val="118000"/>
              </a:lnSpc>
              <a:spcAft>
                <a:spcPts val="500"/>
              </a:spcAft>
              <a:buSzPct val="100000"/>
              <a:buChar char="•"/>
            </a:pPr>
            <a:r>
              <a:rPr sz="830" b="1" i="0">
                <a:solidFill>
                  <a:srgbClr val="2E3F47"/>
                </a:solidFill>
                <a:latin typeface="Calibri"/>
              </a:rPr>
              <a:t>Sequence. </a:t>
            </a:r>
            <a:r>
              <a:rPr sz="830" b="0" i="0">
                <a:solidFill>
                  <a:srgbClr val="2E3F47"/>
                </a:solidFill>
                <a:latin typeface="Calibri"/>
              </a:rPr>
              <a:t>Pull from source, transform on a dedicated processing server, then load the result into the warehouse</a:t>
            </a:r>
          </a:p>
          <a:p>
            <a:pPr marL="177800" indent="-177800">
              <a:lnSpc>
                <a:spcPct val="118000"/>
              </a:lnSpc>
              <a:spcAft>
                <a:spcPts val="500"/>
              </a:spcAft>
              <a:buSzPct val="100000"/>
              <a:buChar char="•"/>
            </a:pPr>
            <a:r>
              <a:rPr sz="830" b="1" i="0">
                <a:solidFill>
                  <a:srgbClr val="2E3F47"/>
                </a:solidFill>
                <a:latin typeface="Calibri"/>
              </a:rPr>
              <a:t>Suits. </a:t>
            </a:r>
            <a:r>
              <a:rPr sz="830" b="0" i="0">
                <a:solidFill>
                  <a:srgbClr val="2E3F47"/>
                </a:solidFill>
                <a:latin typeface="Calibri"/>
              </a:rPr>
              <a:t>On-premises warehouses with limited compute; heavy cleansing and matching; strict rules about what may be stored</a:t>
            </a:r>
          </a:p>
          <a:p>
            <a:pPr marL="177800" indent="-177800">
              <a:lnSpc>
                <a:spcPct val="118000"/>
              </a:lnSpc>
              <a:spcAft>
                <a:spcPts val="500"/>
              </a:spcAft>
              <a:buSzPct val="100000"/>
              <a:buChar char="•"/>
            </a:pPr>
            <a:r>
              <a:rPr sz="830" b="1" i="0">
                <a:solidFill>
                  <a:srgbClr val="2E3F47"/>
                </a:solidFill>
                <a:latin typeface="Calibri"/>
              </a:rPr>
              <a:t>Advantage. </a:t>
            </a:r>
            <a:r>
              <a:rPr sz="830" b="0" i="0">
                <a:solidFill>
                  <a:srgbClr val="2E3F47"/>
                </a:solidFill>
                <a:latin typeface="Calibri"/>
              </a:rPr>
              <a:t>Only conformed, validated data ever reaches the warehouse; sensitive fields can be masked before landing</a:t>
            </a:r>
          </a:p>
          <a:p>
            <a:pPr marL="177800" indent="-177800">
              <a:lnSpc>
                <a:spcPct val="118000"/>
              </a:lnSpc>
              <a:spcAft>
                <a:spcPts val="500"/>
              </a:spcAft>
              <a:buSzPct val="100000"/>
              <a:buChar char="•"/>
            </a:pPr>
            <a:r>
              <a:rPr sz="830" b="1" i="0">
                <a:solidFill>
                  <a:srgbClr val="2E3F47"/>
                </a:solidFill>
                <a:latin typeface="Calibri"/>
              </a:rPr>
              <a:t>Cost. </a:t>
            </a:r>
            <a:r>
              <a:rPr sz="830" b="0" i="0">
                <a:solidFill>
                  <a:srgbClr val="2E3F47"/>
                </a:solidFill>
                <a:latin typeface="Calibri"/>
              </a:rPr>
              <a:t>The transformation tier is a separate system to licence, size and maintain, and it is the usual bottleneck</a:t>
            </a:r>
          </a:p>
        </p:txBody>
      </p:sp>
      <p:sp>
        <p:nvSpPr>
          <p:cNvPr id="9" name="Rounded Rectangle 8"/>
          <p:cNvSpPr/>
          <p:nvPr/>
        </p:nvSpPr>
        <p:spPr>
          <a:xfrm>
            <a:off x="6245352" y="1316736"/>
            <a:ext cx="5394960" cy="2212848"/>
          </a:xfrm>
          <a:prstGeom prst="roundRect">
            <a:avLst>
              <a:gd name="adj" fmla="val 3719"/>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10" name="Oval 9"/>
          <p:cNvSpPr/>
          <p:nvPr/>
        </p:nvSpPr>
        <p:spPr>
          <a:xfrm>
            <a:off x="6446520" y="1527048"/>
            <a:ext cx="384048" cy="384048"/>
          </a:xfrm>
          <a:prstGeom prst="ellipse">
            <a:avLst/>
          </a:prstGeom>
          <a:solidFill>
            <a:srgbClr val="1B7F79"/>
          </a:solidFill>
          <a:ln>
            <a:noFill/>
          </a:ln>
          <a:effectLst/>
        </p:spPr>
        <p:txBody>
          <a:bodyPr rtlCol="0" anchor="ctr" wrap="none" lIns="0" rIns="0" tIns="0" bIns="0"/>
          <a:lstStyle/>
          <a:p>
            <a:pPr algn="ctr"/>
            <a:r>
              <a:rPr sz="1250" b="1">
                <a:solidFill>
                  <a:srgbClr val="FFFFFF"/>
                </a:solidFill>
                <a:latin typeface="Calibri"/>
              </a:rPr>
              <a:t>2</a:t>
            </a:r>
          </a:p>
        </p:txBody>
      </p:sp>
      <p:sp>
        <p:nvSpPr>
          <p:cNvPr id="11" name="TextBox 10"/>
          <p:cNvSpPr txBox="1"/>
          <p:nvPr/>
        </p:nvSpPr>
        <p:spPr>
          <a:xfrm>
            <a:off x="6949440" y="1517904"/>
            <a:ext cx="4489704"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ELT — extract, load, transform</a:t>
            </a:r>
          </a:p>
        </p:txBody>
      </p:sp>
      <p:sp>
        <p:nvSpPr>
          <p:cNvPr id="12" name="TextBox 11"/>
          <p:cNvSpPr txBox="1"/>
          <p:nvPr/>
        </p:nvSpPr>
        <p:spPr>
          <a:xfrm>
            <a:off x="6446520" y="2002536"/>
            <a:ext cx="4992624" cy="1399031"/>
          </a:xfrm>
          <a:prstGeom prst="rect">
            <a:avLst/>
          </a:prstGeom>
          <a:noFill/>
        </p:spPr>
        <p:txBody>
          <a:bodyPr wrap="square" lIns="0" rIns="0" tIns="0" bIns="0" anchor="t">
            <a:spAutoFit/>
          </a:bodyPr>
          <a:lstStyle/>
          <a:p>
            <a:pPr marL="177800" indent="-177800">
              <a:lnSpc>
                <a:spcPct val="118000"/>
              </a:lnSpc>
              <a:spcAft>
                <a:spcPts val="500"/>
              </a:spcAft>
              <a:buSzPct val="100000"/>
              <a:buChar char="•"/>
            </a:pPr>
            <a:r>
              <a:rPr sz="830" b="1" i="0">
                <a:solidFill>
                  <a:srgbClr val="2E3F47"/>
                </a:solidFill>
                <a:latin typeface="Calibri"/>
              </a:rPr>
              <a:t>Sequence. </a:t>
            </a:r>
            <a:r>
              <a:rPr sz="830" b="0" i="0">
                <a:solidFill>
                  <a:srgbClr val="2E3F47"/>
                </a:solidFill>
                <a:latin typeface="Calibri"/>
              </a:rPr>
              <a:t>Pull from source, land raw data in the warehouse or lake, then transform using the warehouse's own engine</a:t>
            </a:r>
          </a:p>
          <a:p>
            <a:pPr marL="177800" indent="-177800">
              <a:lnSpc>
                <a:spcPct val="118000"/>
              </a:lnSpc>
              <a:spcAft>
                <a:spcPts val="500"/>
              </a:spcAft>
              <a:buSzPct val="100000"/>
              <a:buChar char="•"/>
            </a:pPr>
            <a:r>
              <a:rPr sz="830" b="1" i="0">
                <a:solidFill>
                  <a:srgbClr val="2E3F47"/>
                </a:solidFill>
                <a:latin typeface="Calibri"/>
              </a:rPr>
              <a:t>Suits. </a:t>
            </a:r>
            <a:r>
              <a:rPr sz="830" b="0" i="0">
                <a:solidFill>
                  <a:srgbClr val="2E3F47"/>
                </a:solidFill>
                <a:latin typeface="Calibri"/>
              </a:rPr>
              <a:t>Cloud platforms where storage is cheap and compute elastic; sources whose future use is not yet known</a:t>
            </a:r>
          </a:p>
          <a:p>
            <a:pPr marL="177800" indent="-177800">
              <a:lnSpc>
                <a:spcPct val="118000"/>
              </a:lnSpc>
              <a:spcAft>
                <a:spcPts val="500"/>
              </a:spcAft>
              <a:buSzPct val="100000"/>
              <a:buChar char="•"/>
            </a:pPr>
            <a:r>
              <a:rPr sz="830" b="1" i="0">
                <a:solidFill>
                  <a:srgbClr val="2E3F47"/>
                </a:solidFill>
                <a:latin typeface="Calibri"/>
              </a:rPr>
              <a:t>Advantage. </a:t>
            </a:r>
            <a:r>
              <a:rPr sz="830" b="0" i="0">
                <a:solidFill>
                  <a:srgbClr val="2E3F47"/>
                </a:solidFill>
                <a:latin typeface="Calibri"/>
              </a:rPr>
              <a:t>Raw data is retained so transformations can be corrected and re-run; the warehouse's parallelism does the work</a:t>
            </a:r>
          </a:p>
          <a:p>
            <a:pPr marL="177800" indent="-177800">
              <a:lnSpc>
                <a:spcPct val="118000"/>
              </a:lnSpc>
              <a:spcAft>
                <a:spcPts val="500"/>
              </a:spcAft>
              <a:buSzPct val="100000"/>
              <a:buChar char="•"/>
            </a:pPr>
            <a:r>
              <a:rPr sz="830" b="1" i="0">
                <a:solidFill>
                  <a:srgbClr val="2E3F47"/>
                </a:solidFill>
                <a:latin typeface="Calibri"/>
              </a:rPr>
              <a:t>Cost. </a:t>
            </a:r>
            <a:r>
              <a:rPr sz="830" b="0" i="0">
                <a:solidFill>
                  <a:srgbClr val="2E3F47"/>
                </a:solidFill>
                <a:latin typeface="Calibri"/>
              </a:rPr>
              <a:t>Raw and unconformed data now lives inside the warehouse, so governance and access control must be stricter</a:t>
            </a:r>
          </a:p>
        </p:txBody>
      </p:sp>
      <p:sp>
        <p:nvSpPr>
          <p:cNvPr id="13" name="Rounded Rectangle 12"/>
          <p:cNvSpPr/>
          <p:nvPr/>
        </p:nvSpPr>
        <p:spPr>
          <a:xfrm>
            <a:off x="548640" y="3675887"/>
            <a:ext cx="11091672" cy="768096"/>
          </a:xfrm>
          <a:prstGeom prst="roundRect">
            <a:avLst>
              <a:gd name="adj" fmla="val 10714"/>
            </a:avLst>
          </a:prstGeom>
          <a:solidFill>
            <a:srgbClr val="123B47"/>
          </a:solidFill>
          <a:ln>
            <a:noFill/>
          </a:ln>
          <a:effectLst>
            <a:outerShdw blurRad="76200" dist="12700" dir="5400000" algn="bl" rotWithShape="0">
              <a:srgbClr val="9FB3B0">
                <a:alpha val="28000"/>
              </a:srgbClr>
            </a:outerShdw>
          </a:effectLst>
        </p:spPr>
        <p:txBody>
          <a:bodyPr rtlCol="0" anchor="ctr"/>
          <a:lstStyle/>
          <a:p/>
        </p:txBody>
      </p:sp>
      <p:sp>
        <p:nvSpPr>
          <p:cNvPr id="14" name="TextBox 13"/>
          <p:cNvSpPr txBox="1"/>
          <p:nvPr/>
        </p:nvSpPr>
        <p:spPr>
          <a:xfrm>
            <a:off x="768096" y="3749039"/>
            <a:ext cx="10652760" cy="621792"/>
          </a:xfrm>
          <a:prstGeom prst="rect">
            <a:avLst/>
          </a:prstGeom>
          <a:noFill/>
        </p:spPr>
        <p:txBody>
          <a:bodyPr wrap="square" lIns="0" rIns="0" tIns="0" bIns="0" anchor="ctr">
            <a:spAutoFit/>
          </a:bodyPr>
          <a:lstStyle/>
          <a:p>
            <a:pPr marL="0" indent="0">
              <a:lnSpc>
                <a:spcPct val="124000"/>
              </a:lnSpc>
              <a:buNone/>
            </a:pPr>
            <a:r>
              <a:rPr sz="1010" b="1" i="0">
                <a:solidFill>
                  <a:srgbClr val="FFFFFF"/>
                </a:solidFill>
                <a:latin typeface="Calibri"/>
              </a:rPr>
              <a:t>How to choose, in one paragraph.</a:t>
            </a:r>
            <a:r>
              <a:rPr sz="1010" b="1" i="0">
                <a:solidFill>
                  <a:srgbClr val="FFFFFF"/>
                </a:solidFill>
                <a:latin typeface="Calibri"/>
              </a:rPr>
              <a:t>  If the platform is cloud-native and compute is elastic, ELT is now the default: it is cheaper, it preserves the raw record for re-processing, and it keeps the transformation logic in version-controlled SQL beside the data. Prefer ETL where regulation forbids landing raw personal data, where the source must be masked before it crosses a boundary, or where the warehouse's compute is a fixed and contended resource. In practice most organisations run both, and the important discipline is that the transformation logic is documented and testable wherever it runs.</a:t>
            </a:r>
          </a:p>
        </p:txBody>
      </p:sp>
      <p:sp>
        <p:nvSpPr>
          <p:cNvPr id="15" name="Rounded Rectangle 14"/>
          <p:cNvSpPr/>
          <p:nvPr/>
        </p:nvSpPr>
        <p:spPr>
          <a:xfrm>
            <a:off x="548640" y="4572000"/>
            <a:ext cx="5394960" cy="1316736"/>
          </a:xfrm>
          <a:prstGeom prst="roundRect">
            <a:avLst>
              <a:gd name="adj" fmla="val 6250"/>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16" name="Oval 15"/>
          <p:cNvSpPr/>
          <p:nvPr/>
        </p:nvSpPr>
        <p:spPr>
          <a:xfrm>
            <a:off x="749808" y="4782312"/>
            <a:ext cx="384048" cy="384048"/>
          </a:xfrm>
          <a:prstGeom prst="ellipse">
            <a:avLst/>
          </a:prstGeom>
          <a:solidFill>
            <a:srgbClr val="123B47"/>
          </a:solidFill>
          <a:ln>
            <a:noFill/>
          </a:ln>
          <a:effectLst/>
        </p:spPr>
        <p:txBody>
          <a:bodyPr rtlCol="0" anchor="ctr" wrap="none" lIns="0" rIns="0" tIns="0" bIns="0"/>
          <a:lstStyle/>
          <a:p>
            <a:pPr algn="ctr"/>
            <a:r>
              <a:rPr sz="1250" b="1">
                <a:solidFill>
                  <a:srgbClr val="FFFFFF"/>
                </a:solidFill>
                <a:latin typeface="Calibri"/>
              </a:rPr>
              <a:t>3</a:t>
            </a:r>
          </a:p>
        </p:txBody>
      </p:sp>
      <p:sp>
        <p:nvSpPr>
          <p:cNvPr id="17" name="TextBox 16"/>
          <p:cNvSpPr txBox="1"/>
          <p:nvPr/>
        </p:nvSpPr>
        <p:spPr>
          <a:xfrm>
            <a:off x="1252728" y="4773168"/>
            <a:ext cx="4489704"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Load patterns you must be able to name</a:t>
            </a:r>
          </a:p>
        </p:txBody>
      </p:sp>
      <p:sp>
        <p:nvSpPr>
          <p:cNvPr id="18" name="TextBox 17"/>
          <p:cNvSpPr txBox="1"/>
          <p:nvPr/>
        </p:nvSpPr>
        <p:spPr>
          <a:xfrm>
            <a:off x="749808" y="5257800"/>
            <a:ext cx="4992624" cy="502919"/>
          </a:xfrm>
          <a:prstGeom prst="rect">
            <a:avLst/>
          </a:prstGeom>
          <a:noFill/>
        </p:spPr>
        <p:txBody>
          <a:bodyPr wrap="square" lIns="0" rIns="0" tIns="0" bIns="0" anchor="t">
            <a:spAutoFit/>
          </a:bodyPr>
          <a:lstStyle/>
          <a:p>
            <a:pPr marL="177800" indent="-177800">
              <a:lnSpc>
                <a:spcPct val="118000"/>
              </a:lnSpc>
              <a:spcAft>
                <a:spcPts val="500"/>
              </a:spcAft>
              <a:buSzPct val="100000"/>
              <a:buChar char="•"/>
            </a:pPr>
            <a:r>
              <a:rPr sz="780" b="1" i="0">
                <a:solidFill>
                  <a:srgbClr val="2E3F47"/>
                </a:solidFill>
                <a:latin typeface="Calibri"/>
              </a:rPr>
              <a:t>Full reload. </a:t>
            </a:r>
            <a:r>
              <a:rPr sz="780" b="0" i="0">
                <a:solidFill>
                  <a:srgbClr val="2E3F47"/>
                </a:solidFill>
                <a:latin typeface="Calibri"/>
              </a:rPr>
              <a:t>Simple and safe for small dimensions; impossible for large facts</a:t>
            </a:r>
          </a:p>
          <a:p>
            <a:pPr marL="177800" indent="-177800">
              <a:lnSpc>
                <a:spcPct val="118000"/>
              </a:lnSpc>
              <a:spcAft>
                <a:spcPts val="500"/>
              </a:spcAft>
              <a:buSzPct val="100000"/>
              <a:buChar char="•"/>
            </a:pPr>
            <a:r>
              <a:rPr sz="780" b="1" i="0">
                <a:solidFill>
                  <a:srgbClr val="2E3F47"/>
                </a:solidFill>
                <a:latin typeface="Calibri"/>
              </a:rPr>
              <a:t>Incremental. </a:t>
            </a:r>
            <a:r>
              <a:rPr sz="780" b="0" i="0">
                <a:solidFill>
                  <a:srgbClr val="2E3F47"/>
                </a:solidFill>
                <a:latin typeface="Calibri"/>
              </a:rPr>
              <a:t>Only rows changed since a watermark; depends on a trustworthy timestamp or sequence</a:t>
            </a:r>
          </a:p>
          <a:p>
            <a:pPr marL="177800" indent="-177800">
              <a:lnSpc>
                <a:spcPct val="118000"/>
              </a:lnSpc>
              <a:spcAft>
                <a:spcPts val="500"/>
              </a:spcAft>
              <a:buSzPct val="100000"/>
              <a:buChar char="•"/>
            </a:pPr>
            <a:r>
              <a:rPr sz="780" b="1" i="0">
                <a:solidFill>
                  <a:srgbClr val="2E3F47"/>
                </a:solidFill>
                <a:latin typeface="Calibri"/>
              </a:rPr>
              <a:t>Change data capture. </a:t>
            </a:r>
            <a:r>
              <a:rPr sz="780" b="0" i="0">
                <a:solidFill>
                  <a:srgbClr val="2E3F47"/>
                </a:solidFill>
                <a:latin typeface="Calibri"/>
              </a:rPr>
              <a:t>Reads the source transaction log; catches deletes, which timestamps do not</a:t>
            </a:r>
          </a:p>
        </p:txBody>
      </p:sp>
      <p:sp>
        <p:nvSpPr>
          <p:cNvPr id="19" name="Rounded Rectangle 18"/>
          <p:cNvSpPr/>
          <p:nvPr/>
        </p:nvSpPr>
        <p:spPr>
          <a:xfrm>
            <a:off x="6245352" y="4572000"/>
            <a:ext cx="5394960" cy="1316736"/>
          </a:xfrm>
          <a:prstGeom prst="roundRect">
            <a:avLst>
              <a:gd name="adj" fmla="val 6250"/>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20" name="Oval 19"/>
          <p:cNvSpPr/>
          <p:nvPr/>
        </p:nvSpPr>
        <p:spPr>
          <a:xfrm>
            <a:off x="6446520" y="4782312"/>
            <a:ext cx="384048" cy="384048"/>
          </a:xfrm>
          <a:prstGeom prst="ellipse">
            <a:avLst/>
          </a:prstGeom>
          <a:solidFill>
            <a:srgbClr val="A63B26"/>
          </a:solidFill>
          <a:ln>
            <a:noFill/>
          </a:ln>
          <a:effectLst/>
        </p:spPr>
        <p:txBody>
          <a:bodyPr rtlCol="0" anchor="ctr" wrap="none" lIns="0" rIns="0" tIns="0" bIns="0"/>
          <a:lstStyle/>
          <a:p>
            <a:pPr algn="ctr"/>
            <a:r>
              <a:rPr sz="1250" b="1">
                <a:solidFill>
                  <a:srgbClr val="FFFFFF"/>
                </a:solidFill>
                <a:latin typeface="Calibri"/>
              </a:rPr>
              <a:t>4</a:t>
            </a:r>
          </a:p>
        </p:txBody>
      </p:sp>
      <p:sp>
        <p:nvSpPr>
          <p:cNvPr id="21" name="TextBox 20"/>
          <p:cNvSpPr txBox="1"/>
          <p:nvPr/>
        </p:nvSpPr>
        <p:spPr>
          <a:xfrm>
            <a:off x="6949440" y="4773168"/>
            <a:ext cx="4489704"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Where loads actually go wrong</a:t>
            </a:r>
          </a:p>
        </p:txBody>
      </p:sp>
      <p:sp>
        <p:nvSpPr>
          <p:cNvPr id="22" name="TextBox 21"/>
          <p:cNvSpPr txBox="1"/>
          <p:nvPr/>
        </p:nvSpPr>
        <p:spPr>
          <a:xfrm>
            <a:off x="6446520" y="5257800"/>
            <a:ext cx="4992624" cy="502919"/>
          </a:xfrm>
          <a:prstGeom prst="rect">
            <a:avLst/>
          </a:prstGeom>
          <a:noFill/>
        </p:spPr>
        <p:txBody>
          <a:bodyPr wrap="square" lIns="0" rIns="0" tIns="0" bIns="0" anchor="t">
            <a:spAutoFit/>
          </a:bodyPr>
          <a:lstStyle/>
          <a:p>
            <a:pPr marL="177800" indent="-177800">
              <a:lnSpc>
                <a:spcPct val="118000"/>
              </a:lnSpc>
              <a:spcAft>
                <a:spcPts val="500"/>
              </a:spcAft>
              <a:buSzPct val="100000"/>
              <a:buChar char="•"/>
            </a:pPr>
            <a:r>
              <a:rPr sz="780" b="1" i="0">
                <a:solidFill>
                  <a:srgbClr val="2E3F47"/>
                </a:solidFill>
                <a:latin typeface="Calibri"/>
              </a:rPr>
              <a:t>Late-arriving data. </a:t>
            </a:r>
            <a:r>
              <a:rPr sz="780" b="0" i="0">
                <a:solidFill>
                  <a:srgbClr val="2E3F47"/>
                </a:solidFill>
                <a:latin typeface="Calibri"/>
              </a:rPr>
              <a:t>A transaction dated Monday arrives on Thursday, after Monday was reported</a:t>
            </a:r>
          </a:p>
          <a:p>
            <a:pPr marL="177800" indent="-177800">
              <a:lnSpc>
                <a:spcPct val="118000"/>
              </a:lnSpc>
              <a:spcAft>
                <a:spcPts val="500"/>
              </a:spcAft>
              <a:buSzPct val="100000"/>
              <a:buChar char="•"/>
            </a:pPr>
            <a:r>
              <a:rPr sz="780" b="1" i="0">
                <a:solidFill>
                  <a:srgbClr val="2E3F47"/>
                </a:solidFill>
                <a:latin typeface="Calibri"/>
              </a:rPr>
              <a:t>Deletes. </a:t>
            </a:r>
            <a:r>
              <a:rPr sz="780" b="0" i="0">
                <a:solidFill>
                  <a:srgbClr val="2E3F47"/>
                </a:solidFill>
                <a:latin typeface="Calibri"/>
              </a:rPr>
              <a:t>Silently removed at source, silently retained in the warehouse, quietly inflating every total</a:t>
            </a:r>
          </a:p>
          <a:p>
            <a:pPr marL="177800" indent="-177800">
              <a:lnSpc>
                <a:spcPct val="118000"/>
              </a:lnSpc>
              <a:spcAft>
                <a:spcPts val="500"/>
              </a:spcAft>
              <a:buSzPct val="100000"/>
              <a:buChar char="•"/>
            </a:pPr>
            <a:r>
              <a:rPr sz="780" b="1" i="0">
                <a:solidFill>
                  <a:srgbClr val="2E3F47"/>
                </a:solidFill>
                <a:latin typeface="Calibri"/>
              </a:rPr>
              <a:t>Restatement. </a:t>
            </a:r>
            <a:r>
              <a:rPr sz="780" b="0" i="0">
                <a:solidFill>
                  <a:srgbClr val="2E3F47"/>
                </a:solidFill>
                <a:latin typeface="Calibri"/>
              </a:rPr>
              <a:t>The source corrects last month; the warehouse must decide whether history changes</a:t>
            </a:r>
          </a:p>
        </p:txBody>
      </p:sp>
      <p:sp>
        <p:nvSpPr>
          <p:cNvPr id="23" name="Rounded Rectangle 22"/>
          <p:cNvSpPr/>
          <p:nvPr/>
        </p:nvSpPr>
        <p:spPr>
          <a:xfrm>
            <a:off x="548640" y="5943600"/>
            <a:ext cx="11091672" cy="274320"/>
          </a:xfrm>
          <a:prstGeom prst="roundRect">
            <a:avLst>
              <a:gd name="adj" fmla="val 30000"/>
            </a:avLst>
          </a:prstGeom>
          <a:solidFill>
            <a:srgbClr val="FBEBD1"/>
          </a:solidFill>
          <a:ln w="12700">
            <a:solidFill>
              <a:srgbClr val="EFD9AE"/>
            </a:solidFill>
          </a:ln>
          <a:effectLst/>
        </p:spPr>
        <p:txBody>
          <a:bodyPr rtlCol="0" anchor="ctr"/>
          <a:lstStyle/>
          <a:p/>
        </p:txBody>
      </p:sp>
      <p:sp>
        <p:nvSpPr>
          <p:cNvPr id="24" name="TextBox 23"/>
          <p:cNvSpPr txBox="1"/>
          <p:nvPr/>
        </p:nvSpPr>
        <p:spPr>
          <a:xfrm>
            <a:off x="768096" y="5961888"/>
            <a:ext cx="10652760" cy="237744"/>
          </a:xfrm>
          <a:prstGeom prst="rect">
            <a:avLst/>
          </a:prstGeom>
          <a:noFill/>
        </p:spPr>
        <p:txBody>
          <a:bodyPr wrap="square" lIns="0" rIns="0" tIns="0" bIns="0" anchor="ctr">
            <a:spAutoFit/>
          </a:bodyPr>
          <a:lstStyle/>
          <a:p>
            <a:pPr marL="0" indent="0">
              <a:lnSpc>
                <a:spcPct val="124000"/>
              </a:lnSpc>
              <a:buNone/>
            </a:pPr>
            <a:r>
              <a:rPr sz="1060" b="1" i="0">
                <a:solidFill>
                  <a:srgbClr val="6A4A0F"/>
                </a:solidFill>
                <a:latin typeface="Calibri"/>
              </a:rPr>
              <a:t>The non-negotiable.</a:t>
            </a:r>
            <a:r>
              <a:rPr sz="1060" b="1" i="0">
                <a:solidFill>
                  <a:srgbClr val="6A4A0F"/>
                </a:solidFill>
                <a:latin typeface="Calibri"/>
              </a:rPr>
              <a:t>  Every load must be idempotent — running it twice must not double the data. This is tested, not assumed.</a:t>
            </a:r>
          </a:p>
        </p:txBody>
      </p:sp>
      <p:sp>
        <p:nvSpPr>
          <p:cNvPr id="25" name="TextBox 24"/>
          <p:cNvSpPr txBox="1"/>
          <p:nvPr/>
        </p:nvSpPr>
        <p:spPr>
          <a:xfrm>
            <a:off x="548640" y="6382512"/>
            <a:ext cx="8686800" cy="256032"/>
          </a:xfrm>
          <a:prstGeom prst="rect">
            <a:avLst/>
          </a:prstGeom>
          <a:noFill/>
        </p:spPr>
        <p:txBody>
          <a:bodyPr wrap="square" lIns="0" rIns="0" tIns="0" bIns="0" anchor="t">
            <a:spAutoFit/>
          </a:bodyPr>
          <a:lstStyle/>
          <a:p>
            <a:pPr algn="l" marL="0" indent="0">
              <a:buNone/>
            </a:pPr>
            <a:r>
              <a:rPr sz="900" b="0" i="0">
                <a:solidFill>
                  <a:srgbClr val="5C7079"/>
                </a:solidFill>
                <a:latin typeface="Calibri"/>
              </a:rPr>
              <a:t>Business Intelligence  |  Session 6 — Data Warehousing &amp; OLTP/OLAP  |  IILM Jaipur, MBA</a:t>
            </a:r>
          </a:p>
        </p:txBody>
      </p:sp>
      <p:sp>
        <p:nvSpPr>
          <p:cNvPr id="26" name="TextBox 25"/>
          <p:cNvSpPr txBox="1"/>
          <p:nvPr/>
        </p:nvSpPr>
        <p:spPr>
          <a:xfrm>
            <a:off x="10543032" y="6382512"/>
            <a:ext cx="1097280" cy="256032"/>
          </a:xfrm>
          <a:prstGeom prst="rect">
            <a:avLst/>
          </a:prstGeom>
          <a:noFill/>
        </p:spPr>
        <p:txBody>
          <a:bodyPr wrap="square" lIns="0" rIns="0" tIns="0" bIns="0" anchor="t">
            <a:spAutoFit/>
          </a:bodyPr>
          <a:lstStyle/>
          <a:p>
            <a:pPr algn="r" marL="0" indent="0">
              <a:buNone/>
            </a:pPr>
            <a:r>
              <a:rPr sz="950" b="1" i="0">
                <a:solidFill>
                  <a:srgbClr val="1B7F79"/>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374904"/>
            <a:ext cx="109728" cy="109728"/>
          </a:xfrm>
          <a:prstGeom prst="ellipse">
            <a:avLst/>
          </a:prstGeom>
          <a:solidFill>
            <a:srgbClr val="E8A33D"/>
          </a:solidFill>
          <a:ln>
            <a:noFill/>
          </a:ln>
          <a:effectLst/>
        </p:spPr>
        <p:txBody>
          <a:bodyPr rtlCol="0" anchor="ctr" wrap="none" lIns="0" rIns="0" tIns="0" bIns="0"/>
          <a:lstStyle/>
          <a:p>
            <a:pPr algn="ctr"/>
          </a:p>
        </p:txBody>
      </p:sp>
      <p:sp>
        <p:nvSpPr>
          <p:cNvPr id="3" name="TextBox 2"/>
          <p:cNvSpPr txBox="1"/>
          <p:nvPr/>
        </p:nvSpPr>
        <p:spPr>
          <a:xfrm>
            <a:off x="749808" y="283464"/>
            <a:ext cx="10890504" cy="256032"/>
          </a:xfrm>
          <a:prstGeom prst="rect">
            <a:avLst/>
          </a:prstGeom>
          <a:noFill/>
        </p:spPr>
        <p:txBody>
          <a:bodyPr wrap="square" lIns="0" rIns="0" tIns="0" bIns="0" anchor="t">
            <a:spAutoFit/>
          </a:bodyPr>
          <a:lstStyle/>
          <a:p>
            <a:pPr marL="0" indent="0">
              <a:buNone/>
            </a:pPr>
            <a:r>
              <a:rPr sz="1000" b="1" i="0">
                <a:solidFill>
                  <a:srgbClr val="B87A1E"/>
                </a:solidFill>
                <a:latin typeface="Calibri"/>
              </a:rPr>
              <a:t>PART 3 · APPROACHES</a:t>
            </a:r>
          </a:p>
        </p:txBody>
      </p:sp>
      <p:sp>
        <p:nvSpPr>
          <p:cNvPr id="4" name="TextBox 3"/>
          <p:cNvSpPr txBox="1"/>
          <p:nvPr/>
        </p:nvSpPr>
        <p:spPr>
          <a:xfrm>
            <a:off x="548640" y="548640"/>
            <a:ext cx="11091672" cy="640080"/>
          </a:xfrm>
          <a:prstGeom prst="rect">
            <a:avLst/>
          </a:prstGeom>
          <a:noFill/>
        </p:spPr>
        <p:txBody>
          <a:bodyPr wrap="square" lIns="0" rIns="0" tIns="0" bIns="0" anchor="t">
            <a:spAutoFit/>
          </a:bodyPr>
          <a:lstStyle/>
          <a:p>
            <a:pPr algn="l" marL="0" indent="0">
              <a:buNone/>
            </a:pPr>
            <a:r>
              <a:rPr sz="2700" b="1" i="0">
                <a:solidFill>
                  <a:srgbClr val="123B47"/>
                </a:solidFill>
                <a:latin typeface="Cambria"/>
              </a:rPr>
              <a:t>Inmon, Kimball and Data Vault</a:t>
            </a:r>
          </a:p>
        </p:txBody>
      </p:sp>
      <p:graphicFrame>
        <p:nvGraphicFramePr>
          <p:cNvPr id="5" name="Table 4"/>
          <p:cNvGraphicFramePr>
            <a:graphicFrameLocks noGrp="1"/>
          </p:cNvGraphicFramePr>
          <p:nvPr/>
        </p:nvGraphicFramePr>
        <p:xfrm>
          <a:off x="548640" y="1316736"/>
          <a:ext cx="11091672" cy="3785607"/>
        </p:xfrm>
        <a:graphic>
          <a:graphicData uri="http://schemas.openxmlformats.org/drawingml/2006/table">
            <a:tbl>
              <a:tblPr bandRow="0" firstRow="0"/>
              <a:tblGrid>
                <a:gridCol w="1600200"/>
                <a:gridCol w="3337560"/>
                <a:gridCol w="3063240"/>
                <a:gridCol w="3090672"/>
              </a:tblGrid>
              <a:tr h="420623">
                <a:tc>
                  <a:txBody>
                    <a:bodyPr wrap="square"/>
                    <a:lstStyle/>
                    <a:p>
                      <a:pPr marL="0" indent="0">
                        <a:buNone/>
                        <a:defRPr sz="990"/>
                      </a:pPr>
                      <a:r>
                        <a:rPr sz="990" b="1">
                          <a:solidFill>
                            <a:srgbClr val="FFFFFF"/>
                          </a:solidFill>
                          <a:latin typeface="Calibri"/>
                        </a:rPr>
                        <a:t> </a:t>
                      </a:r>
                      <a:endParaRPr lang="en-US" sz="99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123B47"/>
                    </a:solidFill>
                  </a:tcPr>
                </a:tc>
                <a:tc>
                  <a:txBody>
                    <a:bodyPr wrap="square"/>
                    <a:lstStyle/>
                    <a:p>
                      <a:pPr marL="0" indent="0">
                        <a:buNone/>
                        <a:defRPr sz="990"/>
                      </a:pPr>
                      <a:r>
                        <a:rPr sz="990" b="1">
                          <a:solidFill>
                            <a:srgbClr val="FFFFFF"/>
                          </a:solidFill>
                          <a:latin typeface="Calibri"/>
                        </a:rPr>
                        <a:t>Inmon — Corporate Information Factory</a:t>
                      </a:r>
                      <a:endParaRPr lang="en-US" sz="99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123B47"/>
                    </a:solidFill>
                  </a:tcPr>
                </a:tc>
                <a:tc>
                  <a:txBody>
                    <a:bodyPr wrap="square"/>
                    <a:lstStyle/>
                    <a:p>
                      <a:pPr marL="0" indent="0">
                        <a:buNone/>
                        <a:defRPr sz="990"/>
                      </a:pPr>
                      <a:r>
                        <a:rPr sz="990" b="1">
                          <a:solidFill>
                            <a:srgbClr val="FFFFFF"/>
                          </a:solidFill>
                          <a:latin typeface="Calibri"/>
                        </a:rPr>
                        <a:t>Kimball — dimensional bus</a:t>
                      </a:r>
                      <a:endParaRPr lang="en-US" sz="99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123B47"/>
                    </a:solidFill>
                  </a:tcPr>
                </a:tc>
                <a:tc>
                  <a:txBody>
                    <a:bodyPr wrap="square"/>
                    <a:lstStyle/>
                    <a:p>
                      <a:pPr marL="0" indent="0">
                        <a:buNone/>
                        <a:defRPr sz="990"/>
                      </a:pPr>
                      <a:r>
                        <a:rPr sz="990" b="1">
                          <a:solidFill>
                            <a:srgbClr val="FFFFFF"/>
                          </a:solidFill>
                          <a:latin typeface="Calibri"/>
                        </a:rPr>
                        <a:t>Data Vault — Linstedt</a:t>
                      </a:r>
                      <a:endParaRPr lang="en-US" sz="99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123B47"/>
                    </a:solidFill>
                  </a:tcPr>
                </a:tc>
              </a:tr>
              <a:tr h="420623">
                <a:tc>
                  <a:txBody>
                    <a:bodyPr wrap="square"/>
                    <a:lstStyle/>
                    <a:p>
                      <a:pPr marL="0" indent="0">
                        <a:buNone/>
                        <a:defRPr sz="920"/>
                      </a:pPr>
                      <a:r>
                        <a:rPr sz="920" b="1">
                          <a:solidFill>
                            <a:srgbClr val="2E3F47"/>
                          </a:solidFill>
                          <a:latin typeface="Calibri"/>
                        </a:rPr>
                        <a:t>Direction</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20"/>
                      </a:pPr>
                      <a:r>
                        <a:rPr sz="920" b="0">
                          <a:solidFill>
                            <a:srgbClr val="2E3F47"/>
                          </a:solidFill>
                          <a:latin typeface="Calibri"/>
                        </a:rPr>
                        <a:t>Top-down: build the enterprise warehouse first</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20"/>
                      </a:pPr>
                      <a:r>
                        <a:rPr sz="920" b="0">
                          <a:solidFill>
                            <a:srgbClr val="2E3F47"/>
                          </a:solidFill>
                          <a:latin typeface="Calibri"/>
                        </a:rPr>
                        <a:t>Bottom-up: build one business process at a time</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20"/>
                      </a:pPr>
                      <a:r>
                        <a:rPr sz="920" b="0">
                          <a:solidFill>
                            <a:srgbClr val="2E3F47"/>
                          </a:solidFill>
                          <a:latin typeface="Calibri"/>
                        </a:rPr>
                        <a:t>Middle: an auditable raw layer, marts on top</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r>
              <a:tr h="420623">
                <a:tc>
                  <a:txBody>
                    <a:bodyPr wrap="square"/>
                    <a:lstStyle/>
                    <a:p>
                      <a:pPr marL="0" indent="0">
                        <a:buNone/>
                        <a:defRPr sz="920"/>
                      </a:pPr>
                      <a:r>
                        <a:rPr sz="920" b="1">
                          <a:solidFill>
                            <a:srgbClr val="2E3F47"/>
                          </a:solidFill>
                          <a:latin typeface="Calibri"/>
                        </a:rPr>
                        <a:t>Core structure</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20"/>
                      </a:pPr>
                      <a:r>
                        <a:rPr sz="920" b="0">
                          <a:solidFill>
                            <a:srgbClr val="2E3F47"/>
                          </a:solidFill>
                          <a:latin typeface="Calibri"/>
                        </a:rPr>
                        <a:t>Normalised (3NF) enterprise warehouse</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20"/>
                      </a:pPr>
                      <a:r>
                        <a:rPr sz="920" b="0">
                          <a:solidFill>
                            <a:srgbClr val="2E3F47"/>
                          </a:solidFill>
                          <a:latin typeface="Calibri"/>
                        </a:rPr>
                        <a:t>Star schemas of conformed dimensions</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20"/>
                      </a:pPr>
                      <a:r>
                        <a:rPr sz="920" b="0">
                          <a:solidFill>
                            <a:srgbClr val="2E3F47"/>
                          </a:solidFill>
                          <a:latin typeface="Calibri"/>
                        </a:rPr>
                        <a:t>Hubs, links and satellites</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r>
              <a:tr h="420623">
                <a:tc>
                  <a:txBody>
                    <a:bodyPr wrap="square"/>
                    <a:lstStyle/>
                    <a:p>
                      <a:pPr marL="0" indent="0">
                        <a:buNone/>
                        <a:defRPr sz="920"/>
                      </a:pPr>
                      <a:r>
                        <a:rPr sz="920" b="1">
                          <a:solidFill>
                            <a:srgbClr val="2E3F47"/>
                          </a:solidFill>
                          <a:latin typeface="Calibri"/>
                        </a:rPr>
                        <a:t>Marts</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20"/>
                      </a:pPr>
                      <a:r>
                        <a:rPr sz="920" b="0">
                          <a:solidFill>
                            <a:srgbClr val="2E3F47"/>
                          </a:solidFill>
                          <a:latin typeface="Calibri"/>
                        </a:rPr>
                        <a:t>Derived, dependent marts fed from the warehouse</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20"/>
                      </a:pPr>
                      <a:r>
                        <a:rPr sz="920" b="0">
                          <a:solidFill>
                            <a:srgbClr val="2E3F47"/>
                          </a:solidFill>
                          <a:latin typeface="Calibri"/>
                        </a:rPr>
                        <a:t>The marts collectively are the warehouse</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20"/>
                      </a:pPr>
                      <a:r>
                        <a:rPr sz="920" b="0">
                          <a:solidFill>
                            <a:srgbClr val="2E3F47"/>
                          </a:solidFill>
                          <a:latin typeface="Calibri"/>
                        </a:rPr>
                        <a:t>Star-schema marts built from the vault</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r>
              <a:tr h="420623">
                <a:tc>
                  <a:txBody>
                    <a:bodyPr wrap="square"/>
                    <a:lstStyle/>
                    <a:p>
                      <a:pPr marL="0" indent="0">
                        <a:buNone/>
                        <a:defRPr sz="920"/>
                      </a:pPr>
                      <a:r>
                        <a:rPr sz="920" b="1">
                          <a:solidFill>
                            <a:srgbClr val="2E3F47"/>
                          </a:solidFill>
                          <a:latin typeface="Calibri"/>
                        </a:rPr>
                        <a:t>First delivery</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20"/>
                      </a:pPr>
                      <a:r>
                        <a:rPr sz="920" b="0">
                          <a:solidFill>
                            <a:srgbClr val="2E3F47"/>
                          </a:solidFill>
                          <a:latin typeface="Calibri"/>
                        </a:rPr>
                        <a:t>Long — 12 to 24 months is common</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20"/>
                      </a:pPr>
                      <a:r>
                        <a:rPr sz="920" b="0">
                          <a:solidFill>
                            <a:srgbClr val="2E3F47"/>
                          </a:solidFill>
                          <a:latin typeface="Calibri"/>
                        </a:rPr>
                        <a:t>Short — a first mart in 3 to 6 months</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20"/>
                      </a:pPr>
                      <a:r>
                        <a:rPr sz="920" b="0">
                          <a:solidFill>
                            <a:srgbClr val="2E3F47"/>
                          </a:solidFill>
                          <a:latin typeface="Calibri"/>
                        </a:rPr>
                        <a:t>Medium; the vault is loaded early, marts follow</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r>
              <a:tr h="420623">
                <a:tc>
                  <a:txBody>
                    <a:bodyPr wrap="square"/>
                    <a:lstStyle/>
                    <a:p>
                      <a:pPr marL="0" indent="0">
                        <a:buNone/>
                        <a:defRPr sz="920"/>
                      </a:pPr>
                      <a:r>
                        <a:rPr sz="920" b="1">
                          <a:solidFill>
                            <a:srgbClr val="2E3F47"/>
                          </a:solidFill>
                          <a:latin typeface="Calibri"/>
                        </a:rPr>
                        <a:t>Integration achieved by</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20"/>
                      </a:pPr>
                      <a:r>
                        <a:rPr sz="920" b="0">
                          <a:solidFill>
                            <a:srgbClr val="2E3F47"/>
                          </a:solidFill>
                          <a:latin typeface="Calibri"/>
                        </a:rPr>
                        <a:t>A single enterprise data model</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20"/>
                      </a:pPr>
                      <a:r>
                        <a:rPr sz="920" b="0">
                          <a:solidFill>
                            <a:srgbClr val="2E3F47"/>
                          </a:solidFill>
                          <a:latin typeface="Calibri"/>
                        </a:rPr>
                        <a:t>Conformed dimensions shared across processes</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20"/>
                      </a:pPr>
                      <a:r>
                        <a:rPr sz="920" b="0">
                          <a:solidFill>
                            <a:srgbClr val="2E3F47"/>
                          </a:solidFill>
                          <a:latin typeface="Calibri"/>
                        </a:rPr>
                        <a:t>Business keys held in hubs</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r>
              <a:tr h="420623">
                <a:tc>
                  <a:txBody>
                    <a:bodyPr wrap="square"/>
                    <a:lstStyle/>
                    <a:p>
                      <a:pPr marL="0" indent="0">
                        <a:buNone/>
                        <a:defRPr sz="920"/>
                      </a:pPr>
                      <a:r>
                        <a:rPr sz="920" b="1">
                          <a:solidFill>
                            <a:srgbClr val="2E3F47"/>
                          </a:solidFill>
                          <a:latin typeface="Calibri"/>
                        </a:rPr>
                        <a:t>Greatest strength</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20"/>
                      </a:pPr>
                      <a:r>
                        <a:rPr sz="920" b="0">
                          <a:solidFill>
                            <a:srgbClr val="2E3F47"/>
                          </a:solidFill>
                          <a:latin typeface="Calibri"/>
                        </a:rPr>
                        <a:t>Consistency and enterprise-wide truth</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20"/>
                      </a:pPr>
                      <a:r>
                        <a:rPr sz="920" b="0">
                          <a:solidFill>
                            <a:srgbClr val="2E3F47"/>
                          </a:solidFill>
                          <a:latin typeface="Calibri"/>
                        </a:rPr>
                        <a:t>Speed to value and business engagement</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20"/>
                      </a:pPr>
                      <a:r>
                        <a:rPr sz="920" b="0">
                          <a:solidFill>
                            <a:srgbClr val="2E3F47"/>
                          </a:solidFill>
                          <a:latin typeface="Calibri"/>
                        </a:rPr>
                        <a:t>Auditability and tolerance of source change</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r>
              <a:tr h="420623">
                <a:tc>
                  <a:txBody>
                    <a:bodyPr wrap="square"/>
                    <a:lstStyle/>
                    <a:p>
                      <a:pPr marL="0" indent="0">
                        <a:buNone/>
                        <a:defRPr sz="920"/>
                      </a:pPr>
                      <a:r>
                        <a:rPr sz="920" b="1">
                          <a:solidFill>
                            <a:srgbClr val="2E3F47"/>
                          </a:solidFill>
                          <a:latin typeface="Calibri"/>
                        </a:rPr>
                        <a:t>Greatest risk</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20"/>
                      </a:pPr>
                      <a:r>
                        <a:rPr sz="920" b="0">
                          <a:solidFill>
                            <a:srgbClr val="2E3F47"/>
                          </a:solidFill>
                          <a:latin typeface="Calibri"/>
                        </a:rPr>
                        <a:t>Cost, delay, and loss of sponsorship before delivery</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20"/>
                      </a:pPr>
                      <a:r>
                        <a:rPr sz="920" b="0">
                          <a:solidFill>
                            <a:srgbClr val="2E3F47"/>
                          </a:solidFill>
                          <a:latin typeface="Calibri"/>
                        </a:rPr>
                        <a:t>Stovepipes if dimensions are not genuinely conformed</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20"/>
                      </a:pPr>
                      <a:r>
                        <a:rPr sz="920" b="0">
                          <a:solidFill>
                            <a:srgbClr val="2E3F47"/>
                          </a:solidFill>
                          <a:latin typeface="Calibri"/>
                        </a:rPr>
                        <a:t>Complexity; many tables and heavy dependence on tooling</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r>
              <a:tr h="420623">
                <a:tc>
                  <a:txBody>
                    <a:bodyPr wrap="square"/>
                    <a:lstStyle/>
                    <a:p>
                      <a:pPr marL="0" indent="0">
                        <a:buNone/>
                        <a:defRPr sz="920"/>
                      </a:pPr>
                      <a:r>
                        <a:rPr sz="920" b="1">
                          <a:solidFill>
                            <a:srgbClr val="2E3F47"/>
                          </a:solidFill>
                          <a:latin typeface="Calibri"/>
                        </a:rPr>
                        <a:t>Fits</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20"/>
                      </a:pPr>
                      <a:r>
                        <a:rPr sz="920" b="0">
                          <a:solidFill>
                            <a:srgbClr val="2E3F47"/>
                          </a:solidFill>
                          <a:latin typeface="Calibri"/>
                        </a:rPr>
                        <a:t>Large, regulated, stable enterprises</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20"/>
                      </a:pPr>
                      <a:r>
                        <a:rPr sz="920" b="0">
                          <a:solidFill>
                            <a:srgbClr val="2E3F47"/>
                          </a:solidFill>
                          <a:latin typeface="Calibri"/>
                        </a:rPr>
                        <a:t>Most mid-market organisations, most of the time</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20"/>
                      </a:pPr>
                      <a:r>
                        <a:rPr sz="920" b="0">
                          <a:solidFill>
                            <a:srgbClr val="2E3F47"/>
                          </a:solidFill>
                          <a:latin typeface="Calibri"/>
                        </a:rPr>
                        <a:t>Environments with many volatile sources and audit demands</a:t>
                      </a:r>
                      <a:endParaRPr lang="en-US" sz="92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r>
            </a:tbl>
          </a:graphicData>
        </a:graphic>
      </p:graphicFrame>
      <p:sp>
        <p:nvSpPr>
          <p:cNvPr id="6" name="Rounded Rectangle 5"/>
          <p:cNvSpPr/>
          <p:nvPr/>
        </p:nvSpPr>
        <p:spPr>
          <a:xfrm>
            <a:off x="548640" y="5212080"/>
            <a:ext cx="11091672" cy="512064"/>
          </a:xfrm>
          <a:prstGeom prst="roundRect">
            <a:avLst>
              <a:gd name="adj" fmla="val 16071"/>
            </a:avLst>
          </a:prstGeom>
          <a:solidFill>
            <a:srgbClr val="123B47"/>
          </a:solidFill>
          <a:ln>
            <a:noFill/>
          </a:ln>
          <a:effectLst>
            <a:outerShdw blurRad="76200" dist="12700" dir="5400000" algn="bl" rotWithShape="0">
              <a:srgbClr val="9FB3B0">
                <a:alpha val="28000"/>
              </a:srgbClr>
            </a:outerShdw>
          </a:effectLst>
        </p:spPr>
        <p:txBody>
          <a:bodyPr rtlCol="0" anchor="ctr"/>
          <a:lstStyle/>
          <a:p/>
        </p:txBody>
      </p:sp>
      <p:sp>
        <p:nvSpPr>
          <p:cNvPr id="7" name="TextBox 6"/>
          <p:cNvSpPr txBox="1"/>
          <p:nvPr/>
        </p:nvSpPr>
        <p:spPr>
          <a:xfrm>
            <a:off x="768096" y="5266944"/>
            <a:ext cx="10652760" cy="402336"/>
          </a:xfrm>
          <a:prstGeom prst="rect">
            <a:avLst/>
          </a:prstGeom>
          <a:noFill/>
        </p:spPr>
        <p:txBody>
          <a:bodyPr wrap="square" lIns="0" rIns="0" tIns="0" bIns="0" anchor="ctr">
            <a:spAutoFit/>
          </a:bodyPr>
          <a:lstStyle/>
          <a:p>
            <a:pPr marL="0" indent="0">
              <a:lnSpc>
                <a:spcPct val="124000"/>
              </a:lnSpc>
              <a:buNone/>
            </a:pPr>
            <a:r>
              <a:rPr sz="1030" b="1" i="0">
                <a:solidFill>
                  <a:srgbClr val="FFFFFF"/>
                </a:solidFill>
                <a:latin typeface="Calibri"/>
              </a:rPr>
              <a:t>The advice that survives the argument.</a:t>
            </a:r>
            <a:r>
              <a:rPr sz="1030" b="1" i="0">
                <a:solidFill>
                  <a:srgbClr val="FFFFFF"/>
                </a:solidFill>
                <a:latin typeface="Calibri"/>
              </a:rPr>
              <a:t>  Kimball's approach delivers value earlier and is therefore what most Indian mid-market organisations should adopt — provided the conformed dimensions are genuinely governed. Without that governance it degrades into exactly the stovepipes Inmon warned about.</a:t>
            </a:r>
          </a:p>
        </p:txBody>
      </p:sp>
      <p:sp>
        <p:nvSpPr>
          <p:cNvPr id="8" name="Rounded Rectangle 7"/>
          <p:cNvSpPr/>
          <p:nvPr/>
        </p:nvSpPr>
        <p:spPr>
          <a:xfrm>
            <a:off x="548640" y="5815584"/>
            <a:ext cx="11091672" cy="310896"/>
          </a:xfrm>
          <a:prstGeom prst="roundRect">
            <a:avLst>
              <a:gd name="adj" fmla="val 26470"/>
            </a:avLst>
          </a:prstGeom>
          <a:solidFill>
            <a:srgbClr val="FBEBD1"/>
          </a:solidFill>
          <a:ln w="12700">
            <a:solidFill>
              <a:srgbClr val="EFD9AE"/>
            </a:solidFill>
          </a:ln>
          <a:effectLst/>
        </p:spPr>
        <p:txBody>
          <a:bodyPr rtlCol="0" anchor="ctr"/>
          <a:lstStyle/>
          <a:p/>
        </p:txBody>
      </p:sp>
      <p:sp>
        <p:nvSpPr>
          <p:cNvPr id="9" name="TextBox 8"/>
          <p:cNvSpPr txBox="1"/>
          <p:nvPr/>
        </p:nvSpPr>
        <p:spPr>
          <a:xfrm>
            <a:off x="768096" y="5843016"/>
            <a:ext cx="10652760" cy="256032"/>
          </a:xfrm>
          <a:prstGeom prst="rect">
            <a:avLst/>
          </a:prstGeom>
          <a:noFill/>
        </p:spPr>
        <p:txBody>
          <a:bodyPr wrap="square" lIns="0" rIns="0" tIns="0" bIns="0" anchor="ctr">
            <a:spAutoFit/>
          </a:bodyPr>
          <a:lstStyle/>
          <a:p>
            <a:pPr marL="0" indent="0">
              <a:lnSpc>
                <a:spcPct val="124000"/>
              </a:lnSpc>
              <a:buNone/>
            </a:pPr>
            <a:r>
              <a:rPr sz="1060" b="1" i="0">
                <a:solidFill>
                  <a:srgbClr val="6A4A0F"/>
                </a:solidFill>
                <a:latin typeface="Calibri"/>
              </a:rPr>
              <a:t>Examination note.</a:t>
            </a:r>
            <a:r>
              <a:rPr sz="1060" b="1" i="0">
                <a:solidFill>
                  <a:srgbClr val="6A4A0F"/>
                </a:solidFill>
                <a:latin typeface="Calibri"/>
              </a:rPr>
              <a:t>  Be able to draw both architectures and state two advantages and two risks of each.</a:t>
            </a:r>
          </a:p>
        </p:txBody>
      </p:sp>
      <p:sp>
        <p:nvSpPr>
          <p:cNvPr id="10" name="TextBox 9"/>
          <p:cNvSpPr txBox="1"/>
          <p:nvPr/>
        </p:nvSpPr>
        <p:spPr>
          <a:xfrm>
            <a:off x="548640" y="6382512"/>
            <a:ext cx="8686800" cy="256032"/>
          </a:xfrm>
          <a:prstGeom prst="rect">
            <a:avLst/>
          </a:prstGeom>
          <a:noFill/>
        </p:spPr>
        <p:txBody>
          <a:bodyPr wrap="square" lIns="0" rIns="0" tIns="0" bIns="0" anchor="t">
            <a:spAutoFit/>
          </a:bodyPr>
          <a:lstStyle/>
          <a:p>
            <a:pPr algn="l" marL="0" indent="0">
              <a:buNone/>
            </a:pPr>
            <a:r>
              <a:rPr sz="900" b="0" i="0">
                <a:solidFill>
                  <a:srgbClr val="5C7079"/>
                </a:solidFill>
                <a:latin typeface="Calibri"/>
              </a:rPr>
              <a:t>Business Intelligence  |  Session 6 — Data Warehousing &amp; OLTP/OLAP  |  IILM Jaipur, MBA</a:t>
            </a:r>
          </a:p>
        </p:txBody>
      </p:sp>
      <p:sp>
        <p:nvSpPr>
          <p:cNvPr id="11" name="TextBox 10"/>
          <p:cNvSpPr txBox="1"/>
          <p:nvPr/>
        </p:nvSpPr>
        <p:spPr>
          <a:xfrm>
            <a:off x="10543032" y="6382512"/>
            <a:ext cx="1097280" cy="256032"/>
          </a:xfrm>
          <a:prstGeom prst="rect">
            <a:avLst/>
          </a:prstGeom>
          <a:noFill/>
        </p:spPr>
        <p:txBody>
          <a:bodyPr wrap="square" lIns="0" rIns="0" tIns="0" bIns="0" anchor="t">
            <a:spAutoFit/>
          </a:bodyPr>
          <a:lstStyle/>
          <a:p>
            <a:pPr algn="r" marL="0" indent="0">
              <a:buNone/>
            </a:pPr>
            <a:r>
              <a:rPr sz="950" b="1" i="0">
                <a:solidFill>
                  <a:srgbClr val="1B7F79"/>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374904"/>
            <a:ext cx="109728" cy="109728"/>
          </a:xfrm>
          <a:prstGeom prst="ellipse">
            <a:avLst/>
          </a:prstGeom>
          <a:solidFill>
            <a:srgbClr val="E8A33D"/>
          </a:solidFill>
          <a:ln>
            <a:noFill/>
          </a:ln>
          <a:effectLst/>
        </p:spPr>
        <p:txBody>
          <a:bodyPr rtlCol="0" anchor="ctr" wrap="none" lIns="0" rIns="0" tIns="0" bIns="0"/>
          <a:lstStyle/>
          <a:p>
            <a:pPr algn="ctr"/>
          </a:p>
        </p:txBody>
      </p:sp>
      <p:sp>
        <p:nvSpPr>
          <p:cNvPr id="3" name="TextBox 2"/>
          <p:cNvSpPr txBox="1"/>
          <p:nvPr/>
        </p:nvSpPr>
        <p:spPr>
          <a:xfrm>
            <a:off x="749808" y="283464"/>
            <a:ext cx="10890504" cy="256032"/>
          </a:xfrm>
          <a:prstGeom prst="rect">
            <a:avLst/>
          </a:prstGeom>
          <a:noFill/>
        </p:spPr>
        <p:txBody>
          <a:bodyPr wrap="square" lIns="0" rIns="0" tIns="0" bIns="0" anchor="t">
            <a:spAutoFit/>
          </a:bodyPr>
          <a:lstStyle/>
          <a:p>
            <a:pPr marL="0" indent="0">
              <a:buNone/>
            </a:pPr>
            <a:r>
              <a:rPr sz="1000" b="1" i="0">
                <a:solidFill>
                  <a:srgbClr val="B87A1E"/>
                </a:solidFill>
                <a:latin typeface="Calibri"/>
              </a:rPr>
              <a:t>PART 3 · MODERN VARIANTS</a:t>
            </a:r>
          </a:p>
        </p:txBody>
      </p:sp>
      <p:sp>
        <p:nvSpPr>
          <p:cNvPr id="4" name="TextBox 3"/>
          <p:cNvSpPr txBox="1"/>
          <p:nvPr/>
        </p:nvSpPr>
        <p:spPr>
          <a:xfrm>
            <a:off x="548640" y="548640"/>
            <a:ext cx="11091672" cy="640080"/>
          </a:xfrm>
          <a:prstGeom prst="rect">
            <a:avLst/>
          </a:prstGeom>
          <a:noFill/>
        </p:spPr>
        <p:txBody>
          <a:bodyPr wrap="square" lIns="0" rIns="0" tIns="0" bIns="0" anchor="t">
            <a:spAutoFit/>
          </a:bodyPr>
          <a:lstStyle/>
          <a:p>
            <a:pPr algn="l" marL="0" indent="0">
              <a:buNone/>
            </a:pPr>
            <a:r>
              <a:rPr sz="2700" b="1" i="0">
                <a:solidFill>
                  <a:srgbClr val="123B47"/>
                </a:solidFill>
                <a:latin typeface="Cambria"/>
              </a:rPr>
              <a:t>Lake, lakehouse, medallion and the cloud warehouse</a:t>
            </a:r>
          </a:p>
        </p:txBody>
      </p:sp>
      <p:sp>
        <p:nvSpPr>
          <p:cNvPr id="5" name="Rounded Rectangle 4"/>
          <p:cNvSpPr/>
          <p:nvPr/>
        </p:nvSpPr>
        <p:spPr>
          <a:xfrm>
            <a:off x="548640" y="1316736"/>
            <a:ext cx="3584448" cy="2139696"/>
          </a:xfrm>
          <a:prstGeom prst="roundRect">
            <a:avLst>
              <a:gd name="adj" fmla="val 3846"/>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6" name="Oval 5"/>
          <p:cNvSpPr/>
          <p:nvPr/>
        </p:nvSpPr>
        <p:spPr>
          <a:xfrm>
            <a:off x="749808" y="1527048"/>
            <a:ext cx="384048" cy="384048"/>
          </a:xfrm>
          <a:prstGeom prst="ellipse">
            <a:avLst/>
          </a:prstGeom>
          <a:solidFill>
            <a:srgbClr val="123B47"/>
          </a:solidFill>
          <a:ln>
            <a:noFill/>
          </a:ln>
          <a:effectLst/>
        </p:spPr>
        <p:txBody>
          <a:bodyPr rtlCol="0" anchor="ctr" wrap="none" lIns="0" rIns="0" tIns="0" bIns="0"/>
          <a:lstStyle/>
          <a:p>
            <a:pPr algn="ctr"/>
            <a:r>
              <a:rPr sz="1250" b="1">
                <a:solidFill>
                  <a:srgbClr val="FFFFFF"/>
                </a:solidFill>
                <a:latin typeface="Calibri"/>
              </a:rPr>
              <a:t>L</a:t>
            </a:r>
          </a:p>
        </p:txBody>
      </p:sp>
      <p:sp>
        <p:nvSpPr>
          <p:cNvPr id="7" name="TextBox 6"/>
          <p:cNvSpPr txBox="1"/>
          <p:nvPr/>
        </p:nvSpPr>
        <p:spPr>
          <a:xfrm>
            <a:off x="1252728" y="1517904"/>
            <a:ext cx="2679191"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Data lake</a:t>
            </a:r>
          </a:p>
        </p:txBody>
      </p:sp>
      <p:sp>
        <p:nvSpPr>
          <p:cNvPr id="8" name="TextBox 7"/>
          <p:cNvSpPr txBox="1"/>
          <p:nvPr/>
        </p:nvSpPr>
        <p:spPr>
          <a:xfrm>
            <a:off x="749808" y="2002536"/>
            <a:ext cx="3182112" cy="1325879"/>
          </a:xfrm>
          <a:prstGeom prst="rect">
            <a:avLst/>
          </a:prstGeom>
          <a:noFill/>
        </p:spPr>
        <p:txBody>
          <a:bodyPr wrap="square" lIns="0" rIns="0" tIns="0" bIns="0" anchor="t">
            <a:spAutoFit/>
          </a:bodyPr>
          <a:lstStyle/>
          <a:p>
            <a:pPr marL="0" indent="0">
              <a:lnSpc>
                <a:spcPct val="124000"/>
              </a:lnSpc>
              <a:spcAft>
                <a:spcPts val="600"/>
              </a:spcAft>
              <a:buNone/>
            </a:pPr>
            <a:r>
              <a:rPr sz="960" b="0" i="0">
                <a:solidFill>
                  <a:srgbClr val="2E3F47"/>
                </a:solidFill>
                <a:latin typeface="Calibri"/>
              </a:rPr>
              <a:t>Raw files of any structure held cheaply in object storage, with structure imposed when read.</a:t>
            </a:r>
          </a:p>
          <a:p>
            <a:pPr marL="177800" indent="-177800">
              <a:lnSpc>
                <a:spcPct val="118000"/>
              </a:lnSpc>
              <a:spcAft>
                <a:spcPts val="500"/>
              </a:spcAft>
              <a:buSzPct val="100000"/>
              <a:buChar char="•"/>
            </a:pPr>
            <a:r>
              <a:rPr sz="960" b="0" i="0">
                <a:solidFill>
                  <a:srgbClr val="2E3F47"/>
                </a:solidFill>
                <a:latin typeface="Calibri"/>
              </a:rPr>
              <a:t>Strength: cheap, accepts anything, defers modelling</a:t>
            </a:r>
          </a:p>
          <a:p>
            <a:pPr marL="177800" indent="-177800">
              <a:lnSpc>
                <a:spcPct val="118000"/>
              </a:lnSpc>
              <a:spcAft>
                <a:spcPts val="500"/>
              </a:spcAft>
              <a:buSzPct val="100000"/>
              <a:buChar char="•"/>
            </a:pPr>
            <a:r>
              <a:rPr sz="960" b="0" i="0">
                <a:solidFill>
                  <a:srgbClr val="2E3F47"/>
                </a:solidFill>
                <a:latin typeface="Calibri"/>
              </a:rPr>
              <a:t>Risk: becomes a swamp without catalogue and governance</a:t>
            </a:r>
          </a:p>
          <a:p>
            <a:pPr marL="177800" indent="-177800">
              <a:lnSpc>
                <a:spcPct val="118000"/>
              </a:lnSpc>
              <a:spcAft>
                <a:spcPts val="500"/>
              </a:spcAft>
              <a:buSzPct val="100000"/>
              <a:buChar char="•"/>
            </a:pPr>
            <a:r>
              <a:rPr sz="960" b="0" i="0">
                <a:solidFill>
                  <a:srgbClr val="2E3F47"/>
                </a:solidFill>
                <a:latin typeface="Calibri"/>
              </a:rPr>
              <a:t>Fits: unstructured and semi-structured sources, data science</a:t>
            </a:r>
          </a:p>
        </p:txBody>
      </p:sp>
      <p:sp>
        <p:nvSpPr>
          <p:cNvPr id="9" name="Rounded Rectangle 8"/>
          <p:cNvSpPr/>
          <p:nvPr/>
        </p:nvSpPr>
        <p:spPr>
          <a:xfrm>
            <a:off x="4306824" y="1316736"/>
            <a:ext cx="3584448" cy="2139696"/>
          </a:xfrm>
          <a:prstGeom prst="roundRect">
            <a:avLst>
              <a:gd name="adj" fmla="val 3846"/>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10" name="Oval 9"/>
          <p:cNvSpPr/>
          <p:nvPr/>
        </p:nvSpPr>
        <p:spPr>
          <a:xfrm>
            <a:off x="4507992" y="1527048"/>
            <a:ext cx="384048" cy="384048"/>
          </a:xfrm>
          <a:prstGeom prst="ellipse">
            <a:avLst/>
          </a:prstGeom>
          <a:solidFill>
            <a:srgbClr val="1B7F79"/>
          </a:solidFill>
          <a:ln>
            <a:noFill/>
          </a:ln>
          <a:effectLst/>
        </p:spPr>
        <p:txBody>
          <a:bodyPr rtlCol="0" anchor="ctr" wrap="none" lIns="0" rIns="0" tIns="0" bIns="0"/>
          <a:lstStyle/>
          <a:p>
            <a:pPr algn="ctr"/>
            <a:r>
              <a:rPr sz="1250" b="1">
                <a:solidFill>
                  <a:srgbClr val="FFFFFF"/>
                </a:solidFill>
                <a:latin typeface="Calibri"/>
              </a:rPr>
              <a:t>H</a:t>
            </a:r>
          </a:p>
        </p:txBody>
      </p:sp>
      <p:sp>
        <p:nvSpPr>
          <p:cNvPr id="11" name="TextBox 10"/>
          <p:cNvSpPr txBox="1"/>
          <p:nvPr/>
        </p:nvSpPr>
        <p:spPr>
          <a:xfrm>
            <a:off x="5010912" y="1517904"/>
            <a:ext cx="2679191"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Lakehouse</a:t>
            </a:r>
          </a:p>
        </p:txBody>
      </p:sp>
      <p:sp>
        <p:nvSpPr>
          <p:cNvPr id="12" name="TextBox 11"/>
          <p:cNvSpPr txBox="1"/>
          <p:nvPr/>
        </p:nvSpPr>
        <p:spPr>
          <a:xfrm>
            <a:off x="4507992" y="2002536"/>
            <a:ext cx="3182112" cy="1325879"/>
          </a:xfrm>
          <a:prstGeom prst="rect">
            <a:avLst/>
          </a:prstGeom>
          <a:noFill/>
        </p:spPr>
        <p:txBody>
          <a:bodyPr wrap="square" lIns="0" rIns="0" tIns="0" bIns="0" anchor="t">
            <a:spAutoFit/>
          </a:bodyPr>
          <a:lstStyle/>
          <a:p>
            <a:pPr marL="0" indent="0">
              <a:lnSpc>
                <a:spcPct val="124000"/>
              </a:lnSpc>
              <a:spcAft>
                <a:spcPts val="600"/>
              </a:spcAft>
              <a:buNone/>
            </a:pPr>
            <a:r>
              <a:rPr sz="940" b="0" i="0">
                <a:solidFill>
                  <a:srgbClr val="2E3F47"/>
                </a:solidFill>
                <a:latin typeface="Calibri"/>
              </a:rPr>
              <a:t>Open table formats — Delta, Iceberg, Hudi — add transactions, schema enforcement and time travel to files in a lake.</a:t>
            </a:r>
          </a:p>
          <a:p>
            <a:pPr marL="177800" indent="-177800">
              <a:lnSpc>
                <a:spcPct val="118000"/>
              </a:lnSpc>
              <a:spcAft>
                <a:spcPts val="500"/>
              </a:spcAft>
              <a:buSzPct val="100000"/>
              <a:buChar char="•"/>
            </a:pPr>
            <a:r>
              <a:rPr sz="940" b="0" i="0">
                <a:solidFill>
                  <a:srgbClr val="2E3F47"/>
                </a:solidFill>
                <a:latin typeface="Calibri"/>
              </a:rPr>
              <a:t>Strength: one copy serves BI and data science</a:t>
            </a:r>
          </a:p>
          <a:p>
            <a:pPr marL="177800" indent="-177800">
              <a:lnSpc>
                <a:spcPct val="118000"/>
              </a:lnSpc>
              <a:spcAft>
                <a:spcPts val="500"/>
              </a:spcAft>
              <a:buSzPct val="100000"/>
              <a:buChar char="•"/>
            </a:pPr>
            <a:r>
              <a:rPr sz="940" b="0" i="0">
                <a:solidFill>
                  <a:srgbClr val="2E3F47"/>
                </a:solidFill>
                <a:latin typeface="Calibri"/>
              </a:rPr>
              <a:t>Risk: operational maturity of the platform team</a:t>
            </a:r>
          </a:p>
          <a:p>
            <a:pPr marL="177800" indent="-177800">
              <a:lnSpc>
                <a:spcPct val="118000"/>
              </a:lnSpc>
              <a:spcAft>
                <a:spcPts val="500"/>
              </a:spcAft>
              <a:buSzPct val="100000"/>
              <a:buChar char="•"/>
            </a:pPr>
            <a:r>
              <a:rPr sz="940" b="0" i="0">
                <a:solidFill>
                  <a:srgbClr val="2E3F47"/>
                </a:solidFill>
                <a:latin typeface="Calibri"/>
              </a:rPr>
              <a:t>Fits: organisations that would otherwise run both a lake and a warehouse</a:t>
            </a:r>
          </a:p>
        </p:txBody>
      </p:sp>
      <p:sp>
        <p:nvSpPr>
          <p:cNvPr id="13" name="Rounded Rectangle 12"/>
          <p:cNvSpPr/>
          <p:nvPr/>
        </p:nvSpPr>
        <p:spPr>
          <a:xfrm>
            <a:off x="8055864" y="1316736"/>
            <a:ext cx="3584448" cy="2139696"/>
          </a:xfrm>
          <a:prstGeom prst="roundRect">
            <a:avLst>
              <a:gd name="adj" fmla="val 3846"/>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14" name="Oval 13"/>
          <p:cNvSpPr/>
          <p:nvPr/>
        </p:nvSpPr>
        <p:spPr>
          <a:xfrm>
            <a:off x="8257032" y="1527048"/>
            <a:ext cx="384048" cy="384048"/>
          </a:xfrm>
          <a:prstGeom prst="ellipse">
            <a:avLst/>
          </a:prstGeom>
          <a:solidFill>
            <a:srgbClr val="E8A33D"/>
          </a:solidFill>
          <a:ln>
            <a:noFill/>
          </a:ln>
          <a:effectLst/>
        </p:spPr>
        <p:txBody>
          <a:bodyPr rtlCol="0" anchor="ctr" wrap="none" lIns="0" rIns="0" tIns="0" bIns="0"/>
          <a:lstStyle/>
          <a:p>
            <a:pPr algn="ctr"/>
            <a:r>
              <a:rPr sz="1250" b="1">
                <a:solidFill>
                  <a:srgbClr val="3A2703"/>
                </a:solidFill>
                <a:latin typeface="Calibri"/>
              </a:rPr>
              <a:t>M</a:t>
            </a:r>
          </a:p>
        </p:txBody>
      </p:sp>
      <p:sp>
        <p:nvSpPr>
          <p:cNvPr id="15" name="TextBox 14"/>
          <p:cNvSpPr txBox="1"/>
          <p:nvPr/>
        </p:nvSpPr>
        <p:spPr>
          <a:xfrm>
            <a:off x="8759952" y="1517904"/>
            <a:ext cx="2679191"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Medallion layering</a:t>
            </a:r>
          </a:p>
        </p:txBody>
      </p:sp>
      <p:sp>
        <p:nvSpPr>
          <p:cNvPr id="16" name="TextBox 15"/>
          <p:cNvSpPr txBox="1"/>
          <p:nvPr/>
        </p:nvSpPr>
        <p:spPr>
          <a:xfrm>
            <a:off x="8257032" y="2002536"/>
            <a:ext cx="3182112" cy="1325879"/>
          </a:xfrm>
          <a:prstGeom prst="rect">
            <a:avLst/>
          </a:prstGeom>
          <a:noFill/>
        </p:spPr>
        <p:txBody>
          <a:bodyPr wrap="square" lIns="0" rIns="0" tIns="0" bIns="0" anchor="t">
            <a:spAutoFit/>
          </a:bodyPr>
          <a:lstStyle/>
          <a:p>
            <a:pPr marL="0" indent="0">
              <a:lnSpc>
                <a:spcPct val="124000"/>
              </a:lnSpc>
              <a:spcAft>
                <a:spcPts val="600"/>
              </a:spcAft>
              <a:buNone/>
            </a:pPr>
            <a:r>
              <a:rPr sz="940" b="0" i="0">
                <a:solidFill>
                  <a:srgbClr val="2E3F47"/>
                </a:solidFill>
                <a:latin typeface="Calibri"/>
              </a:rPr>
              <a:t>A naming convention for the same old layers: bronze for raw, silver for cleansed and conformed, gold for business-ready marts.</a:t>
            </a:r>
          </a:p>
          <a:p>
            <a:pPr marL="177800" indent="-177800">
              <a:lnSpc>
                <a:spcPct val="118000"/>
              </a:lnSpc>
              <a:spcAft>
                <a:spcPts val="500"/>
              </a:spcAft>
              <a:buSzPct val="100000"/>
              <a:buChar char="•"/>
            </a:pPr>
            <a:r>
              <a:rPr sz="940" b="0" i="0">
                <a:solidFill>
                  <a:srgbClr val="2E3F47"/>
                </a:solidFill>
                <a:latin typeface="Calibri"/>
              </a:rPr>
              <a:t>Bronze = staging; silver = integration; gold = mart</a:t>
            </a:r>
          </a:p>
          <a:p>
            <a:pPr marL="177800" indent="-177800">
              <a:lnSpc>
                <a:spcPct val="118000"/>
              </a:lnSpc>
              <a:spcAft>
                <a:spcPts val="500"/>
              </a:spcAft>
              <a:buSzPct val="100000"/>
              <a:buChar char="•"/>
            </a:pPr>
            <a:r>
              <a:rPr sz="940" b="0" i="0">
                <a:solidFill>
                  <a:srgbClr val="2E3F47"/>
                </a:solidFill>
                <a:latin typeface="Calibri"/>
              </a:rPr>
              <a:t>Useful because it makes the layer contract explicit</a:t>
            </a:r>
          </a:p>
          <a:p>
            <a:pPr marL="177800" indent="-177800">
              <a:lnSpc>
                <a:spcPct val="118000"/>
              </a:lnSpc>
              <a:spcAft>
                <a:spcPts val="500"/>
              </a:spcAft>
              <a:buSzPct val="100000"/>
              <a:buChar char="•"/>
            </a:pPr>
            <a:r>
              <a:rPr sz="940" b="0" i="0">
                <a:solidFill>
                  <a:srgbClr val="2E3F47"/>
                </a:solidFill>
                <a:latin typeface="Calibri"/>
              </a:rPr>
              <a:t>New vocabulary, not new architecture</a:t>
            </a:r>
          </a:p>
        </p:txBody>
      </p:sp>
      <p:sp>
        <p:nvSpPr>
          <p:cNvPr id="17" name="Rounded Rectangle 16"/>
          <p:cNvSpPr/>
          <p:nvPr/>
        </p:nvSpPr>
        <p:spPr>
          <a:xfrm>
            <a:off x="548640" y="3621024"/>
            <a:ext cx="11091672" cy="786384"/>
          </a:xfrm>
          <a:prstGeom prst="roundRect">
            <a:avLst>
              <a:gd name="adj" fmla="val 10465"/>
            </a:avLst>
          </a:prstGeom>
          <a:solidFill>
            <a:srgbClr val="123B47"/>
          </a:solidFill>
          <a:ln>
            <a:noFill/>
          </a:ln>
          <a:effectLst>
            <a:outerShdw blurRad="76200" dist="12700" dir="5400000" algn="bl" rotWithShape="0">
              <a:srgbClr val="9FB3B0">
                <a:alpha val="28000"/>
              </a:srgbClr>
            </a:outerShdw>
          </a:effectLst>
        </p:spPr>
        <p:txBody>
          <a:bodyPr rtlCol="0" anchor="ctr"/>
          <a:lstStyle/>
          <a:p/>
        </p:txBody>
      </p:sp>
      <p:sp>
        <p:nvSpPr>
          <p:cNvPr id="18" name="TextBox 17"/>
          <p:cNvSpPr txBox="1"/>
          <p:nvPr/>
        </p:nvSpPr>
        <p:spPr>
          <a:xfrm>
            <a:off x="768096" y="3694176"/>
            <a:ext cx="10652760" cy="640080"/>
          </a:xfrm>
          <a:prstGeom prst="rect">
            <a:avLst/>
          </a:prstGeom>
          <a:noFill/>
        </p:spPr>
        <p:txBody>
          <a:bodyPr wrap="square" lIns="0" rIns="0" tIns="0" bIns="0" anchor="ctr">
            <a:spAutoFit/>
          </a:bodyPr>
          <a:lstStyle/>
          <a:p>
            <a:pPr marL="0" indent="0">
              <a:lnSpc>
                <a:spcPct val="124000"/>
              </a:lnSpc>
              <a:buNone/>
            </a:pPr>
            <a:r>
              <a:rPr sz="1080" b="1" i="0">
                <a:solidFill>
                  <a:srgbClr val="FFFFFF"/>
                </a:solidFill>
                <a:latin typeface="Calibri"/>
              </a:rPr>
              <a:t>What actually changed, and what did not.</a:t>
            </a:r>
            <a:r>
              <a:rPr sz="1080" b="1" i="0">
                <a:solidFill>
                  <a:srgbClr val="FFFFFF"/>
                </a:solidFill>
                <a:latin typeface="Calibri"/>
              </a:rPr>
              <a:t>  The economics changed profoundly: storage and compute are separately purchased and elastically scaled, so the capacity-planning exercise that once dominated warehouse projects has largely disappeared, and a mid-sized Indian firm can run a serious warehouse for a few lakh rupees a year. What did not change is that somebody must still decide what a customer is, at what grain a sale is recorded, and which of three revenue figures is correct. Those are the expensive parts, and no platform supplies them.</a:t>
            </a:r>
          </a:p>
        </p:txBody>
      </p:sp>
      <p:sp>
        <p:nvSpPr>
          <p:cNvPr id="19" name="Rounded Rectangle 18"/>
          <p:cNvSpPr/>
          <p:nvPr/>
        </p:nvSpPr>
        <p:spPr>
          <a:xfrm>
            <a:off x="548640" y="4553712"/>
            <a:ext cx="5394960" cy="1170432"/>
          </a:xfrm>
          <a:prstGeom prst="roundRect">
            <a:avLst>
              <a:gd name="adj" fmla="val 7031"/>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20" name="Oval 19"/>
          <p:cNvSpPr/>
          <p:nvPr/>
        </p:nvSpPr>
        <p:spPr>
          <a:xfrm>
            <a:off x="749808" y="4764024"/>
            <a:ext cx="384048" cy="384048"/>
          </a:xfrm>
          <a:prstGeom prst="ellipse">
            <a:avLst/>
          </a:prstGeom>
          <a:solidFill>
            <a:srgbClr val="1B7F79"/>
          </a:solidFill>
          <a:ln>
            <a:noFill/>
          </a:ln>
          <a:effectLst/>
        </p:spPr>
        <p:txBody>
          <a:bodyPr rtlCol="0" anchor="ctr" wrap="none" lIns="0" rIns="0" tIns="0" bIns="0"/>
          <a:lstStyle/>
          <a:p>
            <a:pPr algn="ctr"/>
            <a:r>
              <a:rPr sz="1250" b="1">
                <a:solidFill>
                  <a:srgbClr val="FFFFFF"/>
                </a:solidFill>
                <a:latin typeface="Calibri"/>
              </a:rPr>
              <a:t>→</a:t>
            </a:r>
          </a:p>
        </p:txBody>
      </p:sp>
      <p:sp>
        <p:nvSpPr>
          <p:cNvPr id="21" name="TextBox 20"/>
          <p:cNvSpPr txBox="1"/>
          <p:nvPr/>
        </p:nvSpPr>
        <p:spPr>
          <a:xfrm>
            <a:off x="1252728" y="4754880"/>
            <a:ext cx="4489704"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The practical consequence for a first project</a:t>
            </a:r>
          </a:p>
        </p:txBody>
      </p:sp>
      <p:sp>
        <p:nvSpPr>
          <p:cNvPr id="22" name="TextBox 21"/>
          <p:cNvSpPr txBox="1"/>
          <p:nvPr/>
        </p:nvSpPr>
        <p:spPr>
          <a:xfrm>
            <a:off x="749808" y="5239512"/>
            <a:ext cx="4992624" cy="356616"/>
          </a:xfrm>
          <a:prstGeom prst="rect">
            <a:avLst/>
          </a:prstGeom>
          <a:noFill/>
        </p:spPr>
        <p:txBody>
          <a:bodyPr wrap="square" lIns="0" rIns="0" tIns="0" bIns="0" anchor="t">
            <a:spAutoFit/>
          </a:bodyPr>
          <a:lstStyle/>
          <a:p>
            <a:pPr marL="0" indent="0">
              <a:lnSpc>
                <a:spcPct val="124000"/>
              </a:lnSpc>
              <a:buNone/>
            </a:pPr>
            <a:r>
              <a:rPr sz="860" b="0" i="0">
                <a:solidFill>
                  <a:srgbClr val="2E3F47"/>
                </a:solidFill>
                <a:latin typeface="Calibri"/>
              </a:rPr>
              <a:t>Start on a managed cloud warehouse with a Kimball-style star schema for one business process, and treat the lake as a landing area rather than as the destination. Almost every mid-market failure comes from reversing that order.</a:t>
            </a:r>
          </a:p>
        </p:txBody>
      </p:sp>
      <p:sp>
        <p:nvSpPr>
          <p:cNvPr id="23" name="Rounded Rectangle 22"/>
          <p:cNvSpPr/>
          <p:nvPr/>
        </p:nvSpPr>
        <p:spPr>
          <a:xfrm>
            <a:off x="6245352" y="4553712"/>
            <a:ext cx="5394960" cy="1170432"/>
          </a:xfrm>
          <a:prstGeom prst="roundRect">
            <a:avLst>
              <a:gd name="adj" fmla="val 7031"/>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24" name="Oval 23"/>
          <p:cNvSpPr/>
          <p:nvPr/>
        </p:nvSpPr>
        <p:spPr>
          <a:xfrm>
            <a:off x="6446520" y="4764024"/>
            <a:ext cx="384048" cy="384048"/>
          </a:xfrm>
          <a:prstGeom prst="ellipse">
            <a:avLst/>
          </a:prstGeom>
          <a:solidFill>
            <a:srgbClr val="A63B26"/>
          </a:solidFill>
          <a:ln>
            <a:noFill/>
          </a:ln>
          <a:effectLst/>
        </p:spPr>
        <p:txBody>
          <a:bodyPr rtlCol="0" anchor="ctr" wrap="none" lIns="0" rIns="0" tIns="0" bIns="0"/>
          <a:lstStyle/>
          <a:p>
            <a:pPr algn="ctr"/>
            <a:r>
              <a:rPr sz="1250" b="1">
                <a:solidFill>
                  <a:srgbClr val="FFFFFF"/>
                </a:solidFill>
                <a:latin typeface="Calibri"/>
              </a:rPr>
              <a:t>!</a:t>
            </a:r>
          </a:p>
        </p:txBody>
      </p:sp>
      <p:sp>
        <p:nvSpPr>
          <p:cNvPr id="25" name="TextBox 24"/>
          <p:cNvSpPr txBox="1"/>
          <p:nvPr/>
        </p:nvSpPr>
        <p:spPr>
          <a:xfrm>
            <a:off x="6949440" y="4754880"/>
            <a:ext cx="4489704"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A word about “data mesh”</a:t>
            </a:r>
          </a:p>
        </p:txBody>
      </p:sp>
      <p:sp>
        <p:nvSpPr>
          <p:cNvPr id="26" name="TextBox 25"/>
          <p:cNvSpPr txBox="1"/>
          <p:nvPr/>
        </p:nvSpPr>
        <p:spPr>
          <a:xfrm>
            <a:off x="6446520" y="5239512"/>
            <a:ext cx="4992624" cy="356616"/>
          </a:xfrm>
          <a:prstGeom prst="rect">
            <a:avLst/>
          </a:prstGeom>
          <a:noFill/>
        </p:spPr>
        <p:txBody>
          <a:bodyPr wrap="square" lIns="0" rIns="0" tIns="0" bIns="0" anchor="t">
            <a:spAutoFit/>
          </a:bodyPr>
          <a:lstStyle/>
          <a:p>
            <a:pPr marL="0" indent="0">
              <a:lnSpc>
                <a:spcPct val="124000"/>
              </a:lnSpc>
              <a:buNone/>
            </a:pPr>
            <a:r>
              <a:rPr sz="919" b="0" i="0">
                <a:solidFill>
                  <a:srgbClr val="2E3F47"/>
                </a:solidFill>
                <a:latin typeface="Calibri"/>
              </a:rPr>
              <a:t>An organisational proposal — domain teams own their data as products — rather than a technology. It presumes a maturity of governance that most organisations attempting it do not yet have.</a:t>
            </a:r>
          </a:p>
        </p:txBody>
      </p:sp>
      <p:sp>
        <p:nvSpPr>
          <p:cNvPr id="27" name="Rounded Rectangle 26"/>
          <p:cNvSpPr/>
          <p:nvPr/>
        </p:nvSpPr>
        <p:spPr>
          <a:xfrm>
            <a:off x="548640" y="5852160"/>
            <a:ext cx="11091672" cy="292608"/>
          </a:xfrm>
          <a:prstGeom prst="roundRect">
            <a:avLst>
              <a:gd name="adj" fmla="val 28125"/>
            </a:avLst>
          </a:prstGeom>
          <a:solidFill>
            <a:srgbClr val="FBEBD1"/>
          </a:solidFill>
          <a:ln w="12700">
            <a:solidFill>
              <a:srgbClr val="EFD9AE"/>
            </a:solidFill>
          </a:ln>
          <a:effectLst/>
        </p:spPr>
        <p:txBody>
          <a:bodyPr rtlCol="0" anchor="ctr"/>
          <a:lstStyle/>
          <a:p/>
        </p:txBody>
      </p:sp>
      <p:sp>
        <p:nvSpPr>
          <p:cNvPr id="28" name="TextBox 27"/>
          <p:cNvSpPr txBox="1"/>
          <p:nvPr/>
        </p:nvSpPr>
        <p:spPr>
          <a:xfrm>
            <a:off x="768096" y="5870448"/>
            <a:ext cx="10652760" cy="256032"/>
          </a:xfrm>
          <a:prstGeom prst="rect">
            <a:avLst/>
          </a:prstGeom>
          <a:noFill/>
        </p:spPr>
        <p:txBody>
          <a:bodyPr wrap="square" lIns="0" rIns="0" tIns="0" bIns="0" anchor="ctr">
            <a:spAutoFit/>
          </a:bodyPr>
          <a:lstStyle/>
          <a:p>
            <a:pPr marL="0" indent="0">
              <a:lnSpc>
                <a:spcPct val="124000"/>
              </a:lnSpc>
              <a:buNone/>
            </a:pPr>
            <a:r>
              <a:rPr sz="1060" b="1" i="0">
                <a:solidFill>
                  <a:srgbClr val="6A4A0F"/>
                </a:solidFill>
                <a:latin typeface="Calibri"/>
              </a:rPr>
              <a:t>The constant.</a:t>
            </a:r>
            <a:r>
              <a:rPr sz="1060" b="1" i="0">
                <a:solidFill>
                  <a:srgbClr val="6A4A0F"/>
                </a:solidFill>
                <a:latin typeface="Calibri"/>
              </a:rPr>
              <a:t>  Integration, history, read-optimised structure and isolation. Every architecture that works provides all four.</a:t>
            </a:r>
          </a:p>
        </p:txBody>
      </p:sp>
      <p:sp>
        <p:nvSpPr>
          <p:cNvPr id="29" name="TextBox 28"/>
          <p:cNvSpPr txBox="1"/>
          <p:nvPr/>
        </p:nvSpPr>
        <p:spPr>
          <a:xfrm>
            <a:off x="548640" y="6382512"/>
            <a:ext cx="8686800" cy="256032"/>
          </a:xfrm>
          <a:prstGeom prst="rect">
            <a:avLst/>
          </a:prstGeom>
          <a:noFill/>
        </p:spPr>
        <p:txBody>
          <a:bodyPr wrap="square" lIns="0" rIns="0" tIns="0" bIns="0" anchor="t">
            <a:spAutoFit/>
          </a:bodyPr>
          <a:lstStyle/>
          <a:p>
            <a:pPr algn="l" marL="0" indent="0">
              <a:buNone/>
            </a:pPr>
            <a:r>
              <a:rPr sz="900" b="0" i="0">
                <a:solidFill>
                  <a:srgbClr val="5C7079"/>
                </a:solidFill>
                <a:latin typeface="Calibri"/>
              </a:rPr>
              <a:t>Business Intelligence  |  Session 6 — Data Warehousing &amp; OLTP/OLAP  |  IILM Jaipur, MBA</a:t>
            </a:r>
          </a:p>
        </p:txBody>
      </p:sp>
      <p:sp>
        <p:nvSpPr>
          <p:cNvPr id="30" name="TextBox 29"/>
          <p:cNvSpPr txBox="1"/>
          <p:nvPr/>
        </p:nvSpPr>
        <p:spPr>
          <a:xfrm>
            <a:off x="10543032" y="6382512"/>
            <a:ext cx="1097280" cy="256032"/>
          </a:xfrm>
          <a:prstGeom prst="rect">
            <a:avLst/>
          </a:prstGeom>
          <a:noFill/>
        </p:spPr>
        <p:txBody>
          <a:bodyPr wrap="square" lIns="0" rIns="0" tIns="0" bIns="0" anchor="t">
            <a:spAutoFit/>
          </a:bodyPr>
          <a:lstStyle/>
          <a:p>
            <a:pPr algn="r" marL="0" indent="0">
              <a:buNone/>
            </a:pPr>
            <a:r>
              <a:rPr sz="950" b="1" i="0">
                <a:solidFill>
                  <a:srgbClr val="1B7F79"/>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23B47"/>
        </a:solidFill>
        <a:effectLst/>
      </p:bgPr>
    </p:bg>
    <p:spTree>
      <p:nvGrpSpPr>
        <p:cNvPr id="1" name=""/>
        <p:cNvGrpSpPr/>
        <p:nvPr/>
      </p:nvGrpSpPr>
      <p:grpSpPr/>
      <p:sp>
        <p:nvSpPr>
          <p:cNvPr id="2" name="Oval 1"/>
          <p:cNvSpPr/>
          <p:nvPr/>
        </p:nvSpPr>
        <p:spPr>
          <a:xfrm>
            <a:off x="10561320" y="5074920"/>
            <a:ext cx="2377440" cy="2377440"/>
          </a:xfrm>
          <a:prstGeom prst="ellipse">
            <a:avLst/>
          </a:prstGeom>
          <a:solidFill>
            <a:srgbClr val="1A4E5B"/>
          </a:solidFill>
          <a:ln>
            <a:noFill/>
          </a:ln>
          <a:effectLst/>
        </p:spPr>
        <p:txBody>
          <a:bodyPr rtlCol="0" anchor="ctr" wrap="none" lIns="0" rIns="0" tIns="0" bIns="0"/>
          <a:lstStyle/>
          <a:p>
            <a:pPr algn="ctr"/>
          </a:p>
        </p:txBody>
      </p:sp>
      <p:sp>
        <p:nvSpPr>
          <p:cNvPr id="3" name="TextBox 2"/>
          <p:cNvSpPr txBox="1"/>
          <p:nvPr/>
        </p:nvSpPr>
        <p:spPr>
          <a:xfrm>
            <a:off x="548640" y="1975104"/>
            <a:ext cx="1554480" cy="1371600"/>
          </a:xfrm>
          <a:prstGeom prst="rect">
            <a:avLst/>
          </a:prstGeom>
          <a:noFill/>
        </p:spPr>
        <p:txBody>
          <a:bodyPr wrap="square" lIns="0" rIns="0" tIns="0" bIns="0" anchor="ctr">
            <a:spAutoFit/>
          </a:bodyPr>
          <a:lstStyle/>
          <a:p>
            <a:pPr marL="0" indent="0">
              <a:buNone/>
            </a:pPr>
            <a:r>
              <a:rPr sz="7400" b="1" i="0">
                <a:solidFill>
                  <a:srgbClr val="E8A33D"/>
                </a:solidFill>
                <a:latin typeface="Cambria"/>
              </a:rPr>
              <a:t>04</a:t>
            </a:r>
          </a:p>
        </p:txBody>
      </p:sp>
      <p:sp>
        <p:nvSpPr>
          <p:cNvPr id="4" name="TextBox 3"/>
          <p:cNvSpPr txBox="1"/>
          <p:nvPr/>
        </p:nvSpPr>
        <p:spPr>
          <a:xfrm>
            <a:off x="2240280" y="2011680"/>
            <a:ext cx="8595360" cy="914400"/>
          </a:xfrm>
          <a:prstGeom prst="rect">
            <a:avLst/>
          </a:prstGeom>
          <a:noFill/>
        </p:spPr>
        <p:txBody>
          <a:bodyPr wrap="square" lIns="0" rIns="0" tIns="0" bIns="0" anchor="ctr">
            <a:spAutoFit/>
          </a:bodyPr>
          <a:lstStyle/>
          <a:p>
            <a:pPr marL="0" indent="0">
              <a:lnSpc>
                <a:spcPct val="108000"/>
              </a:lnSpc>
              <a:buNone/>
            </a:pPr>
            <a:r>
              <a:rPr sz="3100" b="1" i="0">
                <a:solidFill>
                  <a:srgbClr val="FFFFFF"/>
                </a:solidFill>
                <a:latin typeface="Cambria"/>
              </a:rPr>
              <a:t>Making It Work</a:t>
            </a:r>
          </a:p>
        </p:txBody>
      </p:sp>
      <p:sp>
        <p:nvSpPr>
          <p:cNvPr id="5" name="TextBox 4"/>
          <p:cNvSpPr txBox="1"/>
          <p:nvPr/>
        </p:nvSpPr>
        <p:spPr>
          <a:xfrm>
            <a:off x="2240280" y="3017520"/>
            <a:ext cx="8595360" cy="822960"/>
          </a:xfrm>
          <a:prstGeom prst="rect">
            <a:avLst/>
          </a:prstGeom>
          <a:noFill/>
        </p:spPr>
        <p:txBody>
          <a:bodyPr wrap="square" lIns="0" rIns="0" tIns="0" bIns="0" anchor="t">
            <a:spAutoFit/>
          </a:bodyPr>
          <a:lstStyle/>
          <a:p>
            <a:pPr marL="0" indent="0">
              <a:lnSpc>
                <a:spcPct val="130000"/>
              </a:lnSpc>
              <a:buNone/>
            </a:pPr>
            <a:r>
              <a:rPr sz="1300" b="0" i="0">
                <a:solidFill>
                  <a:srgbClr val="A9C4C2"/>
                </a:solidFill>
                <a:latin typeface="Calibri"/>
              </a:rPr>
              <a:t>History and slowly changing data · governance and access · cost · a worked case, and the nine ways the programme fails</a:t>
            </a:r>
          </a:p>
        </p:txBody>
      </p:sp>
      <p:sp>
        <p:nvSpPr>
          <p:cNvPr id="6" name="TextBox 5"/>
          <p:cNvSpPr txBox="1"/>
          <p:nvPr/>
        </p:nvSpPr>
        <p:spPr>
          <a:xfrm>
            <a:off x="548640" y="6382512"/>
            <a:ext cx="8686800" cy="256032"/>
          </a:xfrm>
          <a:prstGeom prst="rect">
            <a:avLst/>
          </a:prstGeom>
          <a:noFill/>
        </p:spPr>
        <p:txBody>
          <a:bodyPr wrap="square" lIns="0" rIns="0" tIns="0" bIns="0" anchor="t">
            <a:spAutoFit/>
          </a:bodyPr>
          <a:lstStyle/>
          <a:p>
            <a:pPr algn="l" marL="0" indent="0">
              <a:buNone/>
            </a:pPr>
            <a:r>
              <a:rPr sz="900" b="0" i="0">
                <a:solidFill>
                  <a:srgbClr val="6D8A88"/>
                </a:solidFill>
                <a:latin typeface="Calibri"/>
              </a:rPr>
              <a:t>Business Intelligence  |  Session 6 — Data Warehousing &amp; OLTP/OLAP  |  IILM Jaipur, MBA</a:t>
            </a:r>
          </a:p>
        </p:txBody>
      </p:sp>
      <p:sp>
        <p:nvSpPr>
          <p:cNvPr id="7" name="TextBox 6"/>
          <p:cNvSpPr txBox="1"/>
          <p:nvPr/>
        </p:nvSpPr>
        <p:spPr>
          <a:xfrm>
            <a:off x="10543032" y="6382512"/>
            <a:ext cx="1097280" cy="256032"/>
          </a:xfrm>
          <a:prstGeom prst="rect">
            <a:avLst/>
          </a:prstGeom>
          <a:noFill/>
        </p:spPr>
        <p:txBody>
          <a:bodyPr wrap="square" lIns="0" rIns="0" tIns="0" bIns="0" anchor="t">
            <a:spAutoFit/>
          </a:bodyPr>
          <a:lstStyle/>
          <a:p>
            <a:pPr algn="r" marL="0" indent="0">
              <a:buNone/>
            </a:pPr>
            <a:r>
              <a:rPr sz="950" b="1" i="0">
                <a:solidFill>
                  <a:srgbClr val="E8A33D"/>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374904"/>
            <a:ext cx="109728" cy="109728"/>
          </a:xfrm>
          <a:prstGeom prst="ellipse">
            <a:avLst/>
          </a:prstGeom>
          <a:solidFill>
            <a:srgbClr val="E8A33D"/>
          </a:solidFill>
          <a:ln>
            <a:noFill/>
          </a:ln>
          <a:effectLst/>
        </p:spPr>
        <p:txBody>
          <a:bodyPr rtlCol="0" anchor="ctr" wrap="none" lIns="0" rIns="0" tIns="0" bIns="0"/>
          <a:lstStyle/>
          <a:p>
            <a:pPr algn="ctr"/>
          </a:p>
        </p:txBody>
      </p:sp>
      <p:sp>
        <p:nvSpPr>
          <p:cNvPr id="3" name="TextBox 2"/>
          <p:cNvSpPr txBox="1"/>
          <p:nvPr/>
        </p:nvSpPr>
        <p:spPr>
          <a:xfrm>
            <a:off x="749808" y="283464"/>
            <a:ext cx="10890504" cy="256032"/>
          </a:xfrm>
          <a:prstGeom prst="rect">
            <a:avLst/>
          </a:prstGeom>
          <a:noFill/>
        </p:spPr>
        <p:txBody>
          <a:bodyPr wrap="square" lIns="0" rIns="0" tIns="0" bIns="0" anchor="t">
            <a:spAutoFit/>
          </a:bodyPr>
          <a:lstStyle/>
          <a:p>
            <a:pPr marL="0" indent="0">
              <a:buNone/>
            </a:pPr>
            <a:r>
              <a:rPr sz="1000" b="1" i="0">
                <a:solidFill>
                  <a:srgbClr val="B87A1E"/>
                </a:solidFill>
                <a:latin typeface="Calibri"/>
              </a:rPr>
              <a:t>PART 4 · HISTORY</a:t>
            </a:r>
          </a:p>
        </p:txBody>
      </p:sp>
      <p:sp>
        <p:nvSpPr>
          <p:cNvPr id="4" name="TextBox 3"/>
          <p:cNvSpPr txBox="1"/>
          <p:nvPr/>
        </p:nvSpPr>
        <p:spPr>
          <a:xfrm>
            <a:off x="548640" y="548640"/>
            <a:ext cx="11091672" cy="640080"/>
          </a:xfrm>
          <a:prstGeom prst="rect">
            <a:avLst/>
          </a:prstGeom>
          <a:noFill/>
        </p:spPr>
        <p:txBody>
          <a:bodyPr wrap="square" lIns="0" rIns="0" tIns="0" bIns="0" anchor="t">
            <a:spAutoFit/>
          </a:bodyPr>
          <a:lstStyle/>
          <a:p>
            <a:pPr algn="l" marL="0" indent="0">
              <a:buNone/>
            </a:pPr>
            <a:r>
              <a:rPr sz="2700" b="1" i="0">
                <a:solidFill>
                  <a:srgbClr val="123B47"/>
                </a:solidFill>
                <a:latin typeface="Cambria"/>
              </a:rPr>
              <a:t>Retaining the past deliberately</a:t>
            </a:r>
          </a:p>
        </p:txBody>
      </p:sp>
      <p:sp>
        <p:nvSpPr>
          <p:cNvPr id="5" name="Rounded Rectangle 4"/>
          <p:cNvSpPr/>
          <p:nvPr/>
        </p:nvSpPr>
        <p:spPr>
          <a:xfrm>
            <a:off x="548640" y="1298448"/>
            <a:ext cx="11091672" cy="603504"/>
          </a:xfrm>
          <a:prstGeom prst="roundRect">
            <a:avLst>
              <a:gd name="adj" fmla="val 13636"/>
            </a:avLst>
          </a:prstGeom>
          <a:solidFill>
            <a:srgbClr val="123B47"/>
          </a:solidFill>
          <a:ln>
            <a:noFill/>
          </a:ln>
          <a:effectLst>
            <a:outerShdw blurRad="76200" dist="12700" dir="5400000" algn="bl" rotWithShape="0">
              <a:srgbClr val="9FB3B0">
                <a:alpha val="28000"/>
              </a:srgbClr>
            </a:outerShdw>
          </a:effectLst>
        </p:spPr>
        <p:txBody>
          <a:bodyPr rtlCol="0" anchor="ctr"/>
          <a:lstStyle/>
          <a:p/>
        </p:txBody>
      </p:sp>
      <p:sp>
        <p:nvSpPr>
          <p:cNvPr id="6" name="TextBox 5"/>
          <p:cNvSpPr txBox="1"/>
          <p:nvPr/>
        </p:nvSpPr>
        <p:spPr>
          <a:xfrm>
            <a:off x="768096" y="1353312"/>
            <a:ext cx="10652760" cy="493776"/>
          </a:xfrm>
          <a:prstGeom prst="rect">
            <a:avLst/>
          </a:prstGeom>
          <a:noFill/>
        </p:spPr>
        <p:txBody>
          <a:bodyPr wrap="square" lIns="0" rIns="0" tIns="0" bIns="0" anchor="ctr">
            <a:spAutoFit/>
          </a:bodyPr>
          <a:lstStyle/>
          <a:p>
            <a:pPr marL="0" indent="0">
              <a:lnSpc>
                <a:spcPct val="124000"/>
              </a:lnSpc>
              <a:buNone/>
            </a:pPr>
            <a:r>
              <a:rPr sz="1100" b="1" i="0">
                <a:solidFill>
                  <a:srgbClr val="FFFFFF"/>
                </a:solidFill>
                <a:latin typeface="Calibri"/>
              </a:rPr>
              <a:t>The problem, in one sentence.</a:t>
            </a:r>
            <a:r>
              <a:rPr sz="1100" b="1" i="0">
                <a:solidFill>
                  <a:srgbClr val="FFFFFF"/>
                </a:solidFill>
                <a:latin typeface="Calibri"/>
              </a:rPr>
              <a:t>  The operational system holds the customer's current territory; the analyst needs the territory the customer was in when the sale happened. Unless the warehouse is designed to keep both, last year's numbers will silently change every time somebody is reassigned.</a:t>
            </a:r>
          </a:p>
        </p:txBody>
      </p:sp>
      <p:graphicFrame>
        <p:nvGraphicFramePr>
          <p:cNvPr id="7" name="Table 6"/>
          <p:cNvGraphicFramePr>
            <a:graphicFrameLocks noGrp="1"/>
          </p:cNvGraphicFramePr>
          <p:nvPr/>
        </p:nvGraphicFramePr>
        <p:xfrm>
          <a:off x="548640" y="2011680"/>
          <a:ext cx="11091672" cy="2743200"/>
        </p:xfrm>
        <a:graphic>
          <a:graphicData uri="http://schemas.openxmlformats.org/drawingml/2006/table">
            <a:tbl>
              <a:tblPr bandRow="0" firstRow="0"/>
              <a:tblGrid>
                <a:gridCol w="2148840"/>
                <a:gridCol w="3154680"/>
                <a:gridCol w="3520440"/>
                <a:gridCol w="2267712"/>
              </a:tblGrid>
              <a:tr h="457200">
                <a:tc>
                  <a:txBody>
                    <a:bodyPr wrap="square"/>
                    <a:lstStyle/>
                    <a:p>
                      <a:pPr marL="0" indent="0">
                        <a:buNone/>
                        <a:defRPr sz="1030"/>
                      </a:pPr>
                      <a:r>
                        <a:rPr sz="1030" b="1">
                          <a:solidFill>
                            <a:srgbClr val="FFFFFF"/>
                          </a:solidFill>
                          <a:latin typeface="Calibri"/>
                        </a:rPr>
                        <a:t>Technique</a:t>
                      </a:r>
                      <a:endParaRPr lang="en-US" sz="103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123B47"/>
                    </a:solidFill>
                  </a:tcPr>
                </a:tc>
                <a:tc>
                  <a:txBody>
                    <a:bodyPr wrap="square"/>
                    <a:lstStyle/>
                    <a:p>
                      <a:pPr marL="0" indent="0">
                        <a:buNone/>
                        <a:defRPr sz="1030"/>
                      </a:pPr>
                      <a:r>
                        <a:rPr sz="1030" b="1">
                          <a:solidFill>
                            <a:srgbClr val="FFFFFF"/>
                          </a:solidFill>
                          <a:latin typeface="Calibri"/>
                        </a:rPr>
                        <a:t>What it does</a:t>
                      </a:r>
                      <a:endParaRPr lang="en-US" sz="103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123B47"/>
                    </a:solidFill>
                  </a:tcPr>
                </a:tc>
                <a:tc>
                  <a:txBody>
                    <a:bodyPr wrap="square"/>
                    <a:lstStyle/>
                    <a:p>
                      <a:pPr marL="0" indent="0">
                        <a:buNone/>
                        <a:defRPr sz="1030"/>
                      </a:pPr>
                      <a:r>
                        <a:rPr sz="1030" b="1">
                          <a:solidFill>
                            <a:srgbClr val="FFFFFF"/>
                          </a:solidFill>
                          <a:latin typeface="Calibri"/>
                        </a:rPr>
                        <a:t>When to use it</a:t>
                      </a:r>
                      <a:endParaRPr lang="en-US" sz="103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123B47"/>
                    </a:solidFill>
                  </a:tcPr>
                </a:tc>
                <a:tc>
                  <a:txBody>
                    <a:bodyPr wrap="square"/>
                    <a:lstStyle/>
                    <a:p>
                      <a:pPr marL="0" indent="0">
                        <a:buNone/>
                        <a:defRPr sz="1030"/>
                      </a:pPr>
                      <a:r>
                        <a:rPr sz="1030" b="1">
                          <a:solidFill>
                            <a:srgbClr val="FFFFFF"/>
                          </a:solidFill>
                          <a:latin typeface="Calibri"/>
                        </a:rPr>
                        <a:t>What it costs</a:t>
                      </a:r>
                      <a:endParaRPr lang="en-US" sz="103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123B47"/>
                    </a:solidFill>
                  </a:tcPr>
                </a:tc>
              </a:tr>
              <a:tr h="457200">
                <a:tc>
                  <a:txBody>
                    <a:bodyPr wrap="square"/>
                    <a:lstStyle/>
                    <a:p>
                      <a:pPr marL="0" indent="0">
                        <a:buNone/>
                        <a:defRPr sz="960"/>
                      </a:pPr>
                      <a:r>
                        <a:rPr sz="960" b="1">
                          <a:solidFill>
                            <a:srgbClr val="2E3F47"/>
                          </a:solidFill>
                          <a:latin typeface="Calibri"/>
                        </a:rPr>
                        <a:t>Type 0 — retain original</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60"/>
                      </a:pPr>
                      <a:r>
                        <a:rPr sz="960" b="0">
                          <a:solidFill>
                            <a:srgbClr val="2E3F47"/>
                          </a:solidFill>
                          <a:latin typeface="Calibri"/>
                        </a:rPr>
                        <a:t>The attribute is never changed after first load</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60"/>
                      </a:pPr>
                      <a:r>
                        <a:rPr sz="960" b="0">
                          <a:solidFill>
                            <a:srgbClr val="2E3F47"/>
                          </a:solidFill>
                          <a:latin typeface="Calibri"/>
                        </a:rPr>
                        <a:t>Date of birth, original enrolment channel</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60"/>
                      </a:pPr>
                      <a:r>
                        <a:rPr sz="960" b="0">
                          <a:solidFill>
                            <a:srgbClr val="2E3F47"/>
                          </a:solidFill>
                          <a:latin typeface="Calibri"/>
                        </a:rPr>
                        <a:t>Cannot reflect corrections</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r>
              <a:tr h="457200">
                <a:tc>
                  <a:txBody>
                    <a:bodyPr wrap="square"/>
                    <a:lstStyle/>
                    <a:p>
                      <a:pPr marL="0" indent="0">
                        <a:buNone/>
                        <a:defRPr sz="960"/>
                      </a:pPr>
                      <a:r>
                        <a:rPr sz="960" b="1">
                          <a:solidFill>
                            <a:srgbClr val="2E3F47"/>
                          </a:solidFill>
                          <a:latin typeface="Calibri"/>
                        </a:rPr>
                        <a:t>Type 1 — overwrite</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60"/>
                      </a:pPr>
                      <a:r>
                        <a:rPr sz="960" b="0">
                          <a:solidFill>
                            <a:srgbClr val="2E3F47"/>
                          </a:solidFill>
                          <a:latin typeface="Calibri"/>
                        </a:rPr>
                        <a:t>The new value replaces the old; no history kept</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60"/>
                      </a:pPr>
                      <a:r>
                        <a:rPr sz="960" b="0">
                          <a:solidFill>
                            <a:srgbClr val="2E3F47"/>
                          </a:solidFill>
                          <a:latin typeface="Calibri"/>
                        </a:rPr>
                        <a:t>Correcting a genuine data error such as a misspelling</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60"/>
                      </a:pPr>
                      <a:r>
                        <a:rPr sz="960" b="0">
                          <a:solidFill>
                            <a:srgbClr val="2E3F47"/>
                          </a:solidFill>
                          <a:latin typeface="Calibri"/>
                        </a:rPr>
                        <a:t>History is restated; last year's report changes</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r>
              <a:tr h="457200">
                <a:tc>
                  <a:txBody>
                    <a:bodyPr wrap="square"/>
                    <a:lstStyle/>
                    <a:p>
                      <a:pPr marL="0" indent="0">
                        <a:buNone/>
                        <a:defRPr sz="960"/>
                      </a:pPr>
                      <a:r>
                        <a:rPr sz="960" b="1">
                          <a:solidFill>
                            <a:srgbClr val="2E3F47"/>
                          </a:solidFill>
                          <a:latin typeface="Calibri"/>
                        </a:rPr>
                        <a:t>Type 2 — add a new row</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60"/>
                      </a:pPr>
                      <a:r>
                        <a:rPr sz="960" b="0">
                          <a:solidFill>
                            <a:srgbClr val="2E3F47"/>
                          </a:solidFill>
                          <a:latin typeface="Calibri"/>
                        </a:rPr>
                        <a:t>A new version row with effective-from and effective-to dates</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60"/>
                      </a:pPr>
                      <a:r>
                        <a:rPr sz="960" b="0">
                          <a:solidFill>
                            <a:srgbClr val="2E3F47"/>
                          </a:solidFill>
                          <a:latin typeface="Calibri"/>
                        </a:rPr>
                        <a:t>Territory, tier, segment — anything a report must be true to at the time</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60"/>
                      </a:pPr>
                      <a:r>
                        <a:rPr sz="960" b="0">
                          <a:solidFill>
                            <a:srgbClr val="2E3F47"/>
                          </a:solidFill>
                          <a:latin typeface="Calibri"/>
                        </a:rPr>
                        <a:t>Row counts grow; every join must respect the date</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r>
              <a:tr h="457200">
                <a:tc>
                  <a:txBody>
                    <a:bodyPr wrap="square"/>
                    <a:lstStyle/>
                    <a:p>
                      <a:pPr marL="0" indent="0">
                        <a:buNone/>
                        <a:defRPr sz="960"/>
                      </a:pPr>
                      <a:r>
                        <a:rPr sz="960" b="1">
                          <a:solidFill>
                            <a:srgbClr val="2E3F47"/>
                          </a:solidFill>
                          <a:latin typeface="Calibri"/>
                        </a:rPr>
                        <a:t>Type 3 — add a column</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60"/>
                      </a:pPr>
                      <a:r>
                        <a:rPr sz="960" b="0">
                          <a:solidFill>
                            <a:srgbClr val="2E3F47"/>
                          </a:solidFill>
                          <a:latin typeface="Calibri"/>
                        </a:rPr>
                        <a:t>Keeps only the previous value alongside the current one</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60"/>
                      </a:pPr>
                      <a:r>
                        <a:rPr sz="960" b="0">
                          <a:solidFill>
                            <a:srgbClr val="2E3F47"/>
                          </a:solidFill>
                          <a:latin typeface="Calibri"/>
                        </a:rPr>
                        <a:t>A single reorganisation where “before and after” is enough</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60"/>
                      </a:pPr>
                      <a:r>
                        <a:rPr sz="960" b="0">
                          <a:solidFill>
                            <a:srgbClr val="2E3F47"/>
                          </a:solidFill>
                          <a:latin typeface="Calibri"/>
                        </a:rPr>
                        <a:t>Only one prior version survives</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r>
              <a:tr h="457200">
                <a:tc>
                  <a:txBody>
                    <a:bodyPr wrap="square"/>
                    <a:lstStyle/>
                    <a:p>
                      <a:pPr marL="0" indent="0">
                        <a:buNone/>
                        <a:defRPr sz="960"/>
                      </a:pPr>
                      <a:r>
                        <a:rPr sz="960" b="1">
                          <a:solidFill>
                            <a:srgbClr val="2E3F47"/>
                          </a:solidFill>
                          <a:latin typeface="Calibri"/>
                        </a:rPr>
                        <a:t>Type 4 / 6 — hybrid</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60"/>
                      </a:pPr>
                      <a:r>
                        <a:rPr sz="960" b="0">
                          <a:solidFill>
                            <a:srgbClr val="2E3F47"/>
                          </a:solidFill>
                          <a:latin typeface="Calibri"/>
                        </a:rPr>
                        <a:t>A current table plus a separate history table, or a combination of 1, 2 and 3</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60"/>
                      </a:pPr>
                      <a:r>
                        <a:rPr sz="960" b="0">
                          <a:solidFill>
                            <a:srgbClr val="2E3F47"/>
                          </a:solidFill>
                          <a:latin typeface="Calibri"/>
                        </a:rPr>
                        <a:t>Large dimensions where most queries want current values</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60"/>
                      </a:pPr>
                      <a:r>
                        <a:rPr sz="960" b="0">
                          <a:solidFill>
                            <a:srgbClr val="2E3F47"/>
                          </a:solidFill>
                          <a:latin typeface="Calibri"/>
                        </a:rPr>
                        <a:t>Design and query complexity</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r>
            </a:tbl>
          </a:graphicData>
        </a:graphic>
      </p:graphicFrame>
      <p:sp>
        <p:nvSpPr>
          <p:cNvPr id="8" name="Rounded Rectangle 7"/>
          <p:cNvSpPr/>
          <p:nvPr/>
        </p:nvSpPr>
        <p:spPr>
          <a:xfrm>
            <a:off x="548640" y="5138928"/>
            <a:ext cx="11091672" cy="566928"/>
          </a:xfrm>
          <a:prstGeom prst="roundRect">
            <a:avLst>
              <a:gd name="adj" fmla="val 14516"/>
            </a:avLst>
          </a:prstGeom>
          <a:solidFill>
            <a:srgbClr val="D8E9E7"/>
          </a:solidFill>
          <a:ln w="12700">
            <a:solidFill>
              <a:srgbClr val="BBD6D3"/>
            </a:solidFill>
          </a:ln>
          <a:effectLst/>
        </p:spPr>
        <p:txBody>
          <a:bodyPr rtlCol="0" anchor="ctr"/>
          <a:lstStyle/>
          <a:p/>
        </p:txBody>
      </p:sp>
      <p:sp>
        <p:nvSpPr>
          <p:cNvPr id="9" name="TextBox 8"/>
          <p:cNvSpPr txBox="1"/>
          <p:nvPr/>
        </p:nvSpPr>
        <p:spPr>
          <a:xfrm>
            <a:off x="768096" y="5193792"/>
            <a:ext cx="10652760" cy="457200"/>
          </a:xfrm>
          <a:prstGeom prst="rect">
            <a:avLst/>
          </a:prstGeom>
          <a:noFill/>
        </p:spPr>
        <p:txBody>
          <a:bodyPr wrap="square" lIns="0" rIns="0" tIns="0" bIns="0" anchor="ctr">
            <a:spAutoFit/>
          </a:bodyPr>
          <a:lstStyle/>
          <a:p>
            <a:pPr marL="0" indent="0">
              <a:lnSpc>
                <a:spcPct val="124000"/>
              </a:lnSpc>
              <a:buNone/>
            </a:pPr>
            <a:r>
              <a:rPr sz="1060" b="1" i="0">
                <a:solidFill>
                  <a:srgbClr val="17454E"/>
                </a:solidFill>
                <a:latin typeface="Calibri"/>
              </a:rPr>
              <a:t>The decision is a business decision, not a technical one.</a:t>
            </a:r>
            <a:r>
              <a:rPr sz="1060" b="1" i="0">
                <a:solidFill>
                  <a:srgbClr val="17454E"/>
                </a:solidFill>
                <a:latin typeface="Calibri"/>
              </a:rPr>
              <a:t>  Ask the business owner: “when the territory changes, should last year's report change too?” If the answer is no, it is Type 2. If the answer is “it was simply wrong before”, it is Type 1. Getting this wrong is the commonest cause of a warehouse whose historical figures will not reconcile with what was published at the time.</a:t>
            </a:r>
          </a:p>
        </p:txBody>
      </p:sp>
      <p:sp>
        <p:nvSpPr>
          <p:cNvPr id="10" name="Rounded Rectangle 9"/>
          <p:cNvSpPr/>
          <p:nvPr/>
        </p:nvSpPr>
        <p:spPr>
          <a:xfrm>
            <a:off x="548640" y="5797296"/>
            <a:ext cx="11091672" cy="329184"/>
          </a:xfrm>
          <a:prstGeom prst="roundRect">
            <a:avLst>
              <a:gd name="adj" fmla="val 25000"/>
            </a:avLst>
          </a:prstGeom>
          <a:solidFill>
            <a:srgbClr val="FBEBD1"/>
          </a:solidFill>
          <a:ln w="12700">
            <a:solidFill>
              <a:srgbClr val="EFD9AE"/>
            </a:solidFill>
          </a:ln>
          <a:effectLst/>
        </p:spPr>
        <p:txBody>
          <a:bodyPr rtlCol="0" anchor="ctr"/>
          <a:lstStyle/>
          <a:p/>
        </p:txBody>
      </p:sp>
      <p:sp>
        <p:nvSpPr>
          <p:cNvPr id="11" name="TextBox 10"/>
          <p:cNvSpPr txBox="1"/>
          <p:nvPr/>
        </p:nvSpPr>
        <p:spPr>
          <a:xfrm>
            <a:off x="768096" y="5824728"/>
            <a:ext cx="10652760" cy="274320"/>
          </a:xfrm>
          <a:prstGeom prst="rect">
            <a:avLst/>
          </a:prstGeom>
          <a:noFill/>
        </p:spPr>
        <p:txBody>
          <a:bodyPr wrap="square" lIns="0" rIns="0" tIns="0" bIns="0" anchor="ctr">
            <a:spAutoFit/>
          </a:bodyPr>
          <a:lstStyle/>
          <a:p>
            <a:pPr marL="0" indent="0">
              <a:lnSpc>
                <a:spcPct val="124000"/>
              </a:lnSpc>
              <a:buNone/>
            </a:pPr>
            <a:r>
              <a:rPr sz="1060" b="1" i="0">
                <a:solidFill>
                  <a:srgbClr val="6A4A0F"/>
                </a:solidFill>
                <a:latin typeface="Calibri"/>
              </a:rPr>
              <a:t>Forward reference.</a:t>
            </a:r>
            <a:r>
              <a:rPr sz="1060" b="1" i="0">
                <a:solidFill>
                  <a:srgbClr val="6A4A0F"/>
                </a:solidFill>
                <a:latin typeface="Calibri"/>
              </a:rPr>
              <a:t>  Slowly changing dimensions are handled fully in Session 7; what matters here is that time-variance is a design choice with a cost.</a:t>
            </a:r>
          </a:p>
        </p:txBody>
      </p:sp>
      <p:sp>
        <p:nvSpPr>
          <p:cNvPr id="12" name="TextBox 11"/>
          <p:cNvSpPr txBox="1"/>
          <p:nvPr/>
        </p:nvSpPr>
        <p:spPr>
          <a:xfrm>
            <a:off x="548640" y="6382512"/>
            <a:ext cx="8686800" cy="256032"/>
          </a:xfrm>
          <a:prstGeom prst="rect">
            <a:avLst/>
          </a:prstGeom>
          <a:noFill/>
        </p:spPr>
        <p:txBody>
          <a:bodyPr wrap="square" lIns="0" rIns="0" tIns="0" bIns="0" anchor="t">
            <a:spAutoFit/>
          </a:bodyPr>
          <a:lstStyle/>
          <a:p>
            <a:pPr algn="l" marL="0" indent="0">
              <a:buNone/>
            </a:pPr>
            <a:r>
              <a:rPr sz="900" b="0" i="0">
                <a:solidFill>
                  <a:srgbClr val="5C7079"/>
                </a:solidFill>
                <a:latin typeface="Calibri"/>
              </a:rPr>
              <a:t>Business Intelligence  |  Session 6 — Data Warehousing &amp; OLTP/OLAP  |  IILM Jaipur, MBA</a:t>
            </a:r>
          </a:p>
        </p:txBody>
      </p:sp>
      <p:sp>
        <p:nvSpPr>
          <p:cNvPr id="13" name="TextBox 12"/>
          <p:cNvSpPr txBox="1"/>
          <p:nvPr/>
        </p:nvSpPr>
        <p:spPr>
          <a:xfrm>
            <a:off x="10543032" y="6382512"/>
            <a:ext cx="1097280" cy="256032"/>
          </a:xfrm>
          <a:prstGeom prst="rect">
            <a:avLst/>
          </a:prstGeom>
          <a:noFill/>
        </p:spPr>
        <p:txBody>
          <a:bodyPr wrap="square" lIns="0" rIns="0" tIns="0" bIns="0" anchor="t">
            <a:spAutoFit/>
          </a:bodyPr>
          <a:lstStyle/>
          <a:p>
            <a:pPr algn="r" marL="0" indent="0">
              <a:buNone/>
            </a:pPr>
            <a:r>
              <a:rPr sz="950" b="1" i="0">
                <a:solidFill>
                  <a:srgbClr val="1B7F79"/>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374904"/>
            <a:ext cx="109728" cy="109728"/>
          </a:xfrm>
          <a:prstGeom prst="ellipse">
            <a:avLst/>
          </a:prstGeom>
          <a:solidFill>
            <a:srgbClr val="E8A33D"/>
          </a:solidFill>
          <a:ln>
            <a:noFill/>
          </a:ln>
          <a:effectLst/>
        </p:spPr>
        <p:txBody>
          <a:bodyPr rtlCol="0" anchor="ctr" wrap="none" lIns="0" rIns="0" tIns="0" bIns="0"/>
          <a:lstStyle/>
          <a:p>
            <a:pPr algn="ctr"/>
          </a:p>
        </p:txBody>
      </p:sp>
      <p:sp>
        <p:nvSpPr>
          <p:cNvPr id="3" name="TextBox 2"/>
          <p:cNvSpPr txBox="1"/>
          <p:nvPr/>
        </p:nvSpPr>
        <p:spPr>
          <a:xfrm>
            <a:off x="749808" y="283464"/>
            <a:ext cx="10890504" cy="256032"/>
          </a:xfrm>
          <a:prstGeom prst="rect">
            <a:avLst/>
          </a:prstGeom>
          <a:noFill/>
        </p:spPr>
        <p:txBody>
          <a:bodyPr wrap="square" lIns="0" rIns="0" tIns="0" bIns="0" anchor="t">
            <a:spAutoFit/>
          </a:bodyPr>
          <a:lstStyle/>
          <a:p>
            <a:pPr marL="0" indent="0">
              <a:buNone/>
            </a:pPr>
            <a:r>
              <a:rPr sz="1000" b="1" i="0">
                <a:solidFill>
                  <a:srgbClr val="B87A1E"/>
                </a:solidFill>
                <a:latin typeface="Calibri"/>
              </a:rPr>
              <a:t>PART 4 · GOVERNANCE</a:t>
            </a:r>
          </a:p>
        </p:txBody>
      </p:sp>
      <p:sp>
        <p:nvSpPr>
          <p:cNvPr id="4" name="TextBox 3"/>
          <p:cNvSpPr txBox="1"/>
          <p:nvPr/>
        </p:nvSpPr>
        <p:spPr>
          <a:xfrm>
            <a:off x="548640" y="548640"/>
            <a:ext cx="11091672" cy="640080"/>
          </a:xfrm>
          <a:prstGeom prst="rect">
            <a:avLst/>
          </a:prstGeom>
          <a:noFill/>
        </p:spPr>
        <p:txBody>
          <a:bodyPr wrap="square" lIns="0" rIns="0" tIns="0" bIns="0" anchor="t">
            <a:spAutoFit/>
          </a:bodyPr>
          <a:lstStyle/>
          <a:p>
            <a:pPr algn="l" marL="0" indent="0">
              <a:buNone/>
            </a:pPr>
            <a:r>
              <a:rPr sz="2700" b="1" i="0">
                <a:solidFill>
                  <a:srgbClr val="123B47"/>
                </a:solidFill>
                <a:latin typeface="Cambria"/>
              </a:rPr>
              <a:t>Who may see which rows, and who decides</a:t>
            </a:r>
          </a:p>
        </p:txBody>
      </p:sp>
      <p:sp>
        <p:nvSpPr>
          <p:cNvPr id="5" name="Rounded Rectangle 4"/>
          <p:cNvSpPr/>
          <p:nvPr/>
        </p:nvSpPr>
        <p:spPr>
          <a:xfrm>
            <a:off x="548640" y="1316736"/>
            <a:ext cx="3584448" cy="2139696"/>
          </a:xfrm>
          <a:prstGeom prst="roundRect">
            <a:avLst>
              <a:gd name="adj" fmla="val 3846"/>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6" name="Oval 5"/>
          <p:cNvSpPr/>
          <p:nvPr/>
        </p:nvSpPr>
        <p:spPr>
          <a:xfrm>
            <a:off x="749808" y="1527048"/>
            <a:ext cx="384048" cy="384048"/>
          </a:xfrm>
          <a:prstGeom prst="ellipse">
            <a:avLst/>
          </a:prstGeom>
          <a:solidFill>
            <a:srgbClr val="123B47"/>
          </a:solidFill>
          <a:ln>
            <a:noFill/>
          </a:ln>
          <a:effectLst/>
        </p:spPr>
        <p:txBody>
          <a:bodyPr rtlCol="0" anchor="ctr" wrap="none" lIns="0" rIns="0" tIns="0" bIns="0"/>
          <a:lstStyle/>
          <a:p>
            <a:pPr algn="ctr"/>
            <a:r>
              <a:rPr sz="1250" b="1">
                <a:solidFill>
                  <a:srgbClr val="FFFFFF"/>
                </a:solidFill>
                <a:latin typeface="Calibri"/>
              </a:rPr>
              <a:t>R</a:t>
            </a:r>
          </a:p>
        </p:txBody>
      </p:sp>
      <p:sp>
        <p:nvSpPr>
          <p:cNvPr id="7" name="TextBox 6"/>
          <p:cNvSpPr txBox="1"/>
          <p:nvPr/>
        </p:nvSpPr>
        <p:spPr>
          <a:xfrm>
            <a:off x="1252728" y="1517904"/>
            <a:ext cx="2679191"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Row-level security</a:t>
            </a:r>
          </a:p>
        </p:txBody>
      </p:sp>
      <p:sp>
        <p:nvSpPr>
          <p:cNvPr id="8" name="TextBox 7"/>
          <p:cNvSpPr txBox="1"/>
          <p:nvPr/>
        </p:nvSpPr>
        <p:spPr>
          <a:xfrm>
            <a:off x="749808" y="2002536"/>
            <a:ext cx="3182112" cy="1325879"/>
          </a:xfrm>
          <a:prstGeom prst="rect">
            <a:avLst/>
          </a:prstGeom>
          <a:noFill/>
        </p:spPr>
        <p:txBody>
          <a:bodyPr wrap="square" lIns="0" rIns="0" tIns="0" bIns="0" anchor="t">
            <a:spAutoFit/>
          </a:bodyPr>
          <a:lstStyle/>
          <a:p>
            <a:pPr marL="0" indent="0">
              <a:lnSpc>
                <a:spcPct val="124000"/>
              </a:lnSpc>
              <a:spcAft>
                <a:spcPts val="600"/>
              </a:spcAft>
              <a:buNone/>
            </a:pPr>
            <a:r>
              <a:rPr sz="940" b="0" i="0">
                <a:solidFill>
                  <a:srgbClr val="2E3F47"/>
                </a:solidFill>
                <a:latin typeface="Calibri"/>
              </a:rPr>
              <a:t>The same report served to many people, each seeing only their own rows, enforced by the model rather than by publishing separate copies.</a:t>
            </a:r>
          </a:p>
          <a:p>
            <a:pPr marL="177800" indent="-177800">
              <a:lnSpc>
                <a:spcPct val="118000"/>
              </a:lnSpc>
              <a:spcAft>
                <a:spcPts val="500"/>
              </a:spcAft>
              <a:buSzPct val="100000"/>
              <a:buChar char="•"/>
            </a:pPr>
            <a:r>
              <a:rPr sz="940" b="0" i="0">
                <a:solidFill>
                  <a:srgbClr val="2E3F47"/>
                </a:solidFill>
                <a:latin typeface="Calibri"/>
              </a:rPr>
              <a:t>A zone manager sees only their zone</a:t>
            </a:r>
          </a:p>
          <a:p>
            <a:pPr marL="177800" indent="-177800">
              <a:lnSpc>
                <a:spcPct val="118000"/>
              </a:lnSpc>
              <a:spcAft>
                <a:spcPts val="500"/>
              </a:spcAft>
              <a:buSzPct val="100000"/>
              <a:buChar char="•"/>
            </a:pPr>
            <a:r>
              <a:rPr sz="940" b="0" i="0">
                <a:solidFill>
                  <a:srgbClr val="2E3F47"/>
                </a:solidFill>
                <a:latin typeface="Calibri"/>
              </a:rPr>
              <a:t>A distributor sees only their own account</a:t>
            </a:r>
          </a:p>
          <a:p>
            <a:pPr marL="177800" indent="-177800">
              <a:lnSpc>
                <a:spcPct val="118000"/>
              </a:lnSpc>
              <a:spcAft>
                <a:spcPts val="500"/>
              </a:spcAft>
              <a:buSzPct val="100000"/>
              <a:buChar char="•"/>
            </a:pPr>
            <a:r>
              <a:rPr sz="940" b="0" i="0">
                <a:solidFill>
                  <a:srgbClr val="2E3F47"/>
                </a:solidFill>
                <a:latin typeface="Calibri"/>
              </a:rPr>
              <a:t>Enforced in the semantic layer, never by filtering in the report</a:t>
            </a:r>
          </a:p>
        </p:txBody>
      </p:sp>
      <p:sp>
        <p:nvSpPr>
          <p:cNvPr id="9" name="Rounded Rectangle 8"/>
          <p:cNvSpPr/>
          <p:nvPr/>
        </p:nvSpPr>
        <p:spPr>
          <a:xfrm>
            <a:off x="4306824" y="1316736"/>
            <a:ext cx="3584448" cy="2139696"/>
          </a:xfrm>
          <a:prstGeom prst="roundRect">
            <a:avLst>
              <a:gd name="adj" fmla="val 3846"/>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10" name="Oval 9"/>
          <p:cNvSpPr/>
          <p:nvPr/>
        </p:nvSpPr>
        <p:spPr>
          <a:xfrm>
            <a:off x="4507992" y="1527048"/>
            <a:ext cx="384048" cy="384048"/>
          </a:xfrm>
          <a:prstGeom prst="ellipse">
            <a:avLst/>
          </a:prstGeom>
          <a:solidFill>
            <a:srgbClr val="1B7F79"/>
          </a:solidFill>
          <a:ln>
            <a:noFill/>
          </a:ln>
          <a:effectLst/>
        </p:spPr>
        <p:txBody>
          <a:bodyPr rtlCol="0" anchor="ctr" wrap="none" lIns="0" rIns="0" tIns="0" bIns="0"/>
          <a:lstStyle/>
          <a:p>
            <a:pPr algn="ctr"/>
            <a:r>
              <a:rPr sz="1250" b="1">
                <a:solidFill>
                  <a:srgbClr val="FFFFFF"/>
                </a:solidFill>
                <a:latin typeface="Calibri"/>
              </a:rPr>
              <a:t>C</a:t>
            </a:r>
          </a:p>
        </p:txBody>
      </p:sp>
      <p:sp>
        <p:nvSpPr>
          <p:cNvPr id="11" name="TextBox 10"/>
          <p:cNvSpPr txBox="1"/>
          <p:nvPr/>
        </p:nvSpPr>
        <p:spPr>
          <a:xfrm>
            <a:off x="5010912" y="1517904"/>
            <a:ext cx="2679191"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Column and object security</a:t>
            </a:r>
          </a:p>
        </p:txBody>
      </p:sp>
      <p:sp>
        <p:nvSpPr>
          <p:cNvPr id="12" name="TextBox 11"/>
          <p:cNvSpPr txBox="1"/>
          <p:nvPr/>
        </p:nvSpPr>
        <p:spPr>
          <a:xfrm>
            <a:off x="4507992" y="2002536"/>
            <a:ext cx="3182112" cy="1325879"/>
          </a:xfrm>
          <a:prstGeom prst="rect">
            <a:avLst/>
          </a:prstGeom>
          <a:noFill/>
        </p:spPr>
        <p:txBody>
          <a:bodyPr wrap="square" lIns="0" rIns="0" tIns="0" bIns="0" anchor="t">
            <a:spAutoFit/>
          </a:bodyPr>
          <a:lstStyle/>
          <a:p>
            <a:pPr marL="0" indent="0">
              <a:lnSpc>
                <a:spcPct val="124000"/>
              </a:lnSpc>
              <a:spcAft>
                <a:spcPts val="600"/>
              </a:spcAft>
              <a:buNone/>
            </a:pPr>
            <a:r>
              <a:rPr sz="940" b="0" i="0">
                <a:solidFill>
                  <a:srgbClr val="2E3F47"/>
                </a:solidFill>
                <a:latin typeface="Calibri"/>
              </a:rPr>
              <a:t>Some attributes must be hidden or masked even from users who may see the row — salary, diagnosis, Aadhaar and PAN identifiers, bank details.</a:t>
            </a:r>
          </a:p>
          <a:p>
            <a:pPr marL="177800" indent="-177800">
              <a:lnSpc>
                <a:spcPct val="118000"/>
              </a:lnSpc>
              <a:spcAft>
                <a:spcPts val="500"/>
              </a:spcAft>
              <a:buSzPct val="100000"/>
              <a:buChar char="•"/>
            </a:pPr>
            <a:r>
              <a:rPr sz="940" b="0" i="0">
                <a:solidFill>
                  <a:srgbClr val="2E3F47"/>
                </a:solidFill>
                <a:latin typeface="Calibri"/>
              </a:rPr>
              <a:t>Mask at load where the value is never needed</a:t>
            </a:r>
          </a:p>
          <a:p>
            <a:pPr marL="177800" indent="-177800">
              <a:lnSpc>
                <a:spcPct val="118000"/>
              </a:lnSpc>
              <a:spcAft>
                <a:spcPts val="500"/>
              </a:spcAft>
              <a:buSzPct val="100000"/>
              <a:buChar char="•"/>
            </a:pPr>
            <a:r>
              <a:rPr sz="940" b="0" i="0">
                <a:solidFill>
                  <a:srgbClr val="2E3F47"/>
                </a:solidFill>
                <a:latin typeface="Calibri"/>
              </a:rPr>
              <a:t>Mask at query where it is needed by some roles</a:t>
            </a:r>
          </a:p>
          <a:p>
            <a:pPr marL="177800" indent="-177800">
              <a:lnSpc>
                <a:spcPct val="118000"/>
              </a:lnSpc>
              <a:spcAft>
                <a:spcPts val="500"/>
              </a:spcAft>
              <a:buSzPct val="100000"/>
              <a:buChar char="•"/>
            </a:pPr>
            <a:r>
              <a:rPr sz="940" b="0" i="0">
                <a:solidFill>
                  <a:srgbClr val="2E3F47"/>
                </a:solidFill>
                <a:latin typeface="Calibri"/>
              </a:rPr>
              <a:t>Record who may unmask, and log every use</a:t>
            </a:r>
          </a:p>
        </p:txBody>
      </p:sp>
      <p:sp>
        <p:nvSpPr>
          <p:cNvPr id="13" name="Rounded Rectangle 12"/>
          <p:cNvSpPr/>
          <p:nvPr/>
        </p:nvSpPr>
        <p:spPr>
          <a:xfrm>
            <a:off x="8055864" y="1316736"/>
            <a:ext cx="3584448" cy="2139696"/>
          </a:xfrm>
          <a:prstGeom prst="roundRect">
            <a:avLst>
              <a:gd name="adj" fmla="val 3846"/>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14" name="Oval 13"/>
          <p:cNvSpPr/>
          <p:nvPr/>
        </p:nvSpPr>
        <p:spPr>
          <a:xfrm>
            <a:off x="8257032" y="1527048"/>
            <a:ext cx="384048" cy="384048"/>
          </a:xfrm>
          <a:prstGeom prst="ellipse">
            <a:avLst/>
          </a:prstGeom>
          <a:solidFill>
            <a:srgbClr val="E8A33D"/>
          </a:solidFill>
          <a:ln>
            <a:noFill/>
          </a:ln>
          <a:effectLst/>
        </p:spPr>
        <p:txBody>
          <a:bodyPr rtlCol="0" anchor="ctr" wrap="none" lIns="0" rIns="0" tIns="0" bIns="0"/>
          <a:lstStyle/>
          <a:p>
            <a:pPr algn="ctr"/>
            <a:r>
              <a:rPr sz="1250" b="1">
                <a:solidFill>
                  <a:srgbClr val="3A2703"/>
                </a:solidFill>
                <a:latin typeface="Calibri"/>
              </a:rPr>
              <a:t>O</a:t>
            </a:r>
          </a:p>
        </p:txBody>
      </p:sp>
      <p:sp>
        <p:nvSpPr>
          <p:cNvPr id="15" name="TextBox 14"/>
          <p:cNvSpPr txBox="1"/>
          <p:nvPr/>
        </p:nvSpPr>
        <p:spPr>
          <a:xfrm>
            <a:off x="8759952" y="1517904"/>
            <a:ext cx="2679191"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Ownership</a:t>
            </a:r>
          </a:p>
        </p:txBody>
      </p:sp>
      <p:sp>
        <p:nvSpPr>
          <p:cNvPr id="16" name="TextBox 15"/>
          <p:cNvSpPr txBox="1"/>
          <p:nvPr/>
        </p:nvSpPr>
        <p:spPr>
          <a:xfrm>
            <a:off x="8257032" y="2002536"/>
            <a:ext cx="3182112" cy="1325879"/>
          </a:xfrm>
          <a:prstGeom prst="rect">
            <a:avLst/>
          </a:prstGeom>
          <a:noFill/>
        </p:spPr>
        <p:txBody>
          <a:bodyPr wrap="square" lIns="0" rIns="0" tIns="0" bIns="0" anchor="t">
            <a:spAutoFit/>
          </a:bodyPr>
          <a:lstStyle/>
          <a:p>
            <a:pPr marL="0" indent="0">
              <a:lnSpc>
                <a:spcPct val="124000"/>
              </a:lnSpc>
              <a:spcAft>
                <a:spcPts val="600"/>
              </a:spcAft>
              <a:buNone/>
            </a:pPr>
            <a:r>
              <a:rPr sz="940" b="0" i="0">
                <a:solidFill>
                  <a:srgbClr val="2E3F47"/>
                </a:solidFill>
                <a:latin typeface="Calibri"/>
              </a:rPr>
              <a:t>Every table, every measure and every definition has a named business owner and a named technical custodian. Where neither exists, the object is a liability.</a:t>
            </a:r>
          </a:p>
          <a:p>
            <a:pPr marL="177800" indent="-177800">
              <a:lnSpc>
                <a:spcPct val="118000"/>
              </a:lnSpc>
              <a:spcAft>
                <a:spcPts val="500"/>
              </a:spcAft>
              <a:buSzPct val="100000"/>
              <a:buChar char="•"/>
            </a:pPr>
            <a:r>
              <a:rPr sz="940" b="0" i="0">
                <a:solidFill>
                  <a:srgbClr val="2E3F47"/>
                </a:solidFill>
                <a:latin typeface="Calibri"/>
              </a:rPr>
              <a:t>Owner decides meaning and access</a:t>
            </a:r>
          </a:p>
          <a:p>
            <a:pPr marL="177800" indent="-177800">
              <a:lnSpc>
                <a:spcPct val="118000"/>
              </a:lnSpc>
              <a:spcAft>
                <a:spcPts val="500"/>
              </a:spcAft>
              <a:buSzPct val="100000"/>
              <a:buChar char="•"/>
            </a:pPr>
            <a:r>
              <a:rPr sz="940" b="0" i="0">
                <a:solidFill>
                  <a:srgbClr val="2E3F47"/>
                </a:solidFill>
                <a:latin typeface="Calibri"/>
              </a:rPr>
              <a:t>Custodian operates and monitors</a:t>
            </a:r>
          </a:p>
          <a:p>
            <a:pPr marL="177800" indent="-177800">
              <a:lnSpc>
                <a:spcPct val="118000"/>
              </a:lnSpc>
              <a:spcAft>
                <a:spcPts val="500"/>
              </a:spcAft>
              <a:buSzPct val="100000"/>
              <a:buChar char="•"/>
            </a:pPr>
            <a:r>
              <a:rPr sz="940" b="0" i="0">
                <a:solidFill>
                  <a:srgbClr val="2E3F47"/>
                </a:solidFill>
                <a:latin typeface="Calibri"/>
              </a:rPr>
              <a:t>Both are recorded as metadata — Session 8</a:t>
            </a:r>
          </a:p>
        </p:txBody>
      </p:sp>
      <p:sp>
        <p:nvSpPr>
          <p:cNvPr id="17" name="Rounded Rectangle 16"/>
          <p:cNvSpPr/>
          <p:nvPr/>
        </p:nvSpPr>
        <p:spPr>
          <a:xfrm>
            <a:off x="548640" y="3621024"/>
            <a:ext cx="11091672" cy="786384"/>
          </a:xfrm>
          <a:prstGeom prst="roundRect">
            <a:avLst>
              <a:gd name="adj" fmla="val 10465"/>
            </a:avLst>
          </a:prstGeom>
          <a:solidFill>
            <a:srgbClr val="123B47"/>
          </a:solidFill>
          <a:ln>
            <a:noFill/>
          </a:ln>
          <a:effectLst>
            <a:outerShdw blurRad="76200" dist="12700" dir="5400000" algn="bl" rotWithShape="0">
              <a:srgbClr val="9FB3B0">
                <a:alpha val="28000"/>
              </a:srgbClr>
            </a:outerShdw>
          </a:effectLst>
        </p:spPr>
        <p:txBody>
          <a:bodyPr rtlCol="0" anchor="ctr"/>
          <a:lstStyle/>
          <a:p/>
        </p:txBody>
      </p:sp>
      <p:sp>
        <p:nvSpPr>
          <p:cNvPr id="18" name="TextBox 17"/>
          <p:cNvSpPr txBox="1"/>
          <p:nvPr/>
        </p:nvSpPr>
        <p:spPr>
          <a:xfrm>
            <a:off x="768096" y="3694176"/>
            <a:ext cx="10652760" cy="640080"/>
          </a:xfrm>
          <a:prstGeom prst="rect">
            <a:avLst/>
          </a:prstGeom>
          <a:noFill/>
        </p:spPr>
        <p:txBody>
          <a:bodyPr wrap="square" lIns="0" rIns="0" tIns="0" bIns="0" anchor="ctr">
            <a:spAutoFit/>
          </a:bodyPr>
          <a:lstStyle/>
          <a:p>
            <a:pPr marL="0" indent="0">
              <a:lnSpc>
                <a:spcPct val="124000"/>
              </a:lnSpc>
              <a:buNone/>
            </a:pPr>
            <a:r>
              <a:rPr sz="1100" b="1" i="0">
                <a:solidFill>
                  <a:srgbClr val="FFFFFF"/>
                </a:solidFill>
                <a:latin typeface="Calibri"/>
              </a:rPr>
              <a:t>The failure this prevents, which is worth stating plainly.</a:t>
            </a:r>
            <a:r>
              <a:rPr sz="1100" b="1" i="0">
                <a:solidFill>
                  <a:srgbClr val="FFFFFF"/>
                </a:solidFill>
                <a:latin typeface="Calibri"/>
              </a:rPr>
              <a:t>  Where row-level security is absent, the organisation's usual solution is to publish a separate copy of the report for each manager. Within a year there are forty copies, several of them edited, none of them reconciled, and the warehouse's central promise — one number, one definition — has been quietly abandoned at the delivery layer. Security design is therefore not a compliance formality; it is what allows a single governed output to exist at all.</a:t>
            </a:r>
          </a:p>
        </p:txBody>
      </p:sp>
      <p:sp>
        <p:nvSpPr>
          <p:cNvPr id="19" name="Rounded Rectangle 18"/>
          <p:cNvSpPr/>
          <p:nvPr/>
        </p:nvSpPr>
        <p:spPr>
          <a:xfrm>
            <a:off x="548640" y="4553712"/>
            <a:ext cx="5394960" cy="1170432"/>
          </a:xfrm>
          <a:prstGeom prst="roundRect">
            <a:avLst>
              <a:gd name="adj" fmla="val 7031"/>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20" name="Oval 19"/>
          <p:cNvSpPr/>
          <p:nvPr/>
        </p:nvSpPr>
        <p:spPr>
          <a:xfrm>
            <a:off x="749808" y="4764024"/>
            <a:ext cx="384048" cy="384048"/>
          </a:xfrm>
          <a:prstGeom prst="ellipse">
            <a:avLst/>
          </a:prstGeom>
          <a:solidFill>
            <a:srgbClr val="1B7F79"/>
          </a:solidFill>
          <a:ln>
            <a:noFill/>
          </a:ln>
          <a:effectLst/>
        </p:spPr>
        <p:txBody>
          <a:bodyPr rtlCol="0" anchor="ctr" wrap="none" lIns="0" rIns="0" tIns="0" bIns="0"/>
          <a:lstStyle/>
          <a:p>
            <a:pPr algn="ctr"/>
            <a:r>
              <a:rPr sz="1250" b="1">
                <a:solidFill>
                  <a:srgbClr val="FFFFFF"/>
                </a:solidFill>
                <a:latin typeface="Calibri"/>
              </a:rPr>
              <a:t>S</a:t>
            </a:r>
          </a:p>
        </p:txBody>
      </p:sp>
      <p:sp>
        <p:nvSpPr>
          <p:cNvPr id="21" name="TextBox 20"/>
          <p:cNvSpPr txBox="1"/>
          <p:nvPr/>
        </p:nvSpPr>
        <p:spPr>
          <a:xfrm>
            <a:off x="1252728" y="4754880"/>
            <a:ext cx="4489704"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Sizing, in practical terms</a:t>
            </a:r>
          </a:p>
        </p:txBody>
      </p:sp>
      <p:sp>
        <p:nvSpPr>
          <p:cNvPr id="22" name="TextBox 21"/>
          <p:cNvSpPr txBox="1"/>
          <p:nvPr/>
        </p:nvSpPr>
        <p:spPr>
          <a:xfrm>
            <a:off x="749808" y="5239512"/>
            <a:ext cx="4992624" cy="356616"/>
          </a:xfrm>
          <a:prstGeom prst="rect">
            <a:avLst/>
          </a:prstGeom>
          <a:noFill/>
        </p:spPr>
        <p:txBody>
          <a:bodyPr wrap="square" lIns="0" rIns="0" tIns="0" bIns="0" anchor="t">
            <a:spAutoFit/>
          </a:bodyPr>
          <a:lstStyle/>
          <a:p>
            <a:pPr marL="0" indent="0">
              <a:lnSpc>
                <a:spcPct val="124000"/>
              </a:lnSpc>
              <a:buNone/>
            </a:pPr>
            <a:r>
              <a:rPr sz="790" b="0" i="0">
                <a:solidFill>
                  <a:srgbClr val="2E3F47"/>
                </a:solidFill>
                <a:latin typeface="Calibri"/>
              </a:rPr>
              <a:t>Estimate the fact row count first — transactions per day × days of history — then multiply by an uncompressed row width and divide by five for columnar compression. Dimensions are almost always negligible. For most Indian mid-market firms the honest answer is “a few hundred gigabytes”, which is far smaller than the sponsor fears.</a:t>
            </a:r>
          </a:p>
        </p:txBody>
      </p:sp>
      <p:sp>
        <p:nvSpPr>
          <p:cNvPr id="23" name="Rounded Rectangle 22"/>
          <p:cNvSpPr/>
          <p:nvPr/>
        </p:nvSpPr>
        <p:spPr>
          <a:xfrm>
            <a:off x="6245352" y="4553712"/>
            <a:ext cx="5394960" cy="1170432"/>
          </a:xfrm>
          <a:prstGeom prst="roundRect">
            <a:avLst>
              <a:gd name="adj" fmla="val 7031"/>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24" name="Oval 23"/>
          <p:cNvSpPr/>
          <p:nvPr/>
        </p:nvSpPr>
        <p:spPr>
          <a:xfrm>
            <a:off x="6446520" y="4764024"/>
            <a:ext cx="384048" cy="384048"/>
          </a:xfrm>
          <a:prstGeom prst="ellipse">
            <a:avLst/>
          </a:prstGeom>
          <a:solidFill>
            <a:srgbClr val="A63B26"/>
          </a:solidFill>
          <a:ln>
            <a:noFill/>
          </a:ln>
          <a:effectLst/>
        </p:spPr>
        <p:txBody>
          <a:bodyPr rtlCol="0" anchor="ctr" wrap="none" lIns="0" rIns="0" tIns="0" bIns="0"/>
          <a:lstStyle/>
          <a:p>
            <a:pPr algn="ctr"/>
            <a:r>
              <a:rPr sz="1250" b="1">
                <a:solidFill>
                  <a:srgbClr val="FFFFFF"/>
                </a:solidFill>
                <a:latin typeface="Calibri"/>
              </a:rPr>
              <a:t>!</a:t>
            </a:r>
          </a:p>
        </p:txBody>
      </p:sp>
      <p:sp>
        <p:nvSpPr>
          <p:cNvPr id="25" name="TextBox 24"/>
          <p:cNvSpPr txBox="1"/>
          <p:nvPr/>
        </p:nvSpPr>
        <p:spPr>
          <a:xfrm>
            <a:off x="6949440" y="4754880"/>
            <a:ext cx="4489704"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The cost driver that surprises people</a:t>
            </a:r>
          </a:p>
        </p:txBody>
      </p:sp>
      <p:sp>
        <p:nvSpPr>
          <p:cNvPr id="26" name="TextBox 25"/>
          <p:cNvSpPr txBox="1"/>
          <p:nvPr/>
        </p:nvSpPr>
        <p:spPr>
          <a:xfrm>
            <a:off x="6446520" y="5239512"/>
            <a:ext cx="4992624" cy="356616"/>
          </a:xfrm>
          <a:prstGeom prst="rect">
            <a:avLst/>
          </a:prstGeom>
          <a:noFill/>
        </p:spPr>
        <p:txBody>
          <a:bodyPr wrap="square" lIns="0" rIns="0" tIns="0" bIns="0" anchor="t">
            <a:spAutoFit/>
          </a:bodyPr>
          <a:lstStyle/>
          <a:p>
            <a:pPr marL="0" indent="0">
              <a:lnSpc>
                <a:spcPct val="124000"/>
              </a:lnSpc>
              <a:buNone/>
            </a:pPr>
            <a:r>
              <a:rPr sz="790" b="0" i="0">
                <a:solidFill>
                  <a:srgbClr val="2E3F47"/>
                </a:solidFill>
                <a:latin typeface="Calibri"/>
              </a:rPr>
              <a:t>Not storage, which is cheap, but compute — specifically the number of full refreshes, the frequency of them, and the habit of rebuilding entire history nightly because incremental loading was never designed. Most cloud-warehouse bill shocks trace to exactly that.</a:t>
            </a:r>
          </a:p>
        </p:txBody>
      </p:sp>
      <p:sp>
        <p:nvSpPr>
          <p:cNvPr id="27" name="Rounded Rectangle 26"/>
          <p:cNvSpPr/>
          <p:nvPr/>
        </p:nvSpPr>
        <p:spPr>
          <a:xfrm>
            <a:off x="548640" y="5852160"/>
            <a:ext cx="11091672" cy="292608"/>
          </a:xfrm>
          <a:prstGeom prst="roundRect">
            <a:avLst>
              <a:gd name="adj" fmla="val 28125"/>
            </a:avLst>
          </a:prstGeom>
          <a:solidFill>
            <a:srgbClr val="FBEBD1"/>
          </a:solidFill>
          <a:ln w="12700">
            <a:solidFill>
              <a:srgbClr val="EFD9AE"/>
            </a:solidFill>
          </a:ln>
          <a:effectLst/>
        </p:spPr>
        <p:txBody>
          <a:bodyPr rtlCol="0" anchor="ctr"/>
          <a:lstStyle/>
          <a:p/>
        </p:txBody>
      </p:sp>
      <p:sp>
        <p:nvSpPr>
          <p:cNvPr id="28" name="TextBox 27"/>
          <p:cNvSpPr txBox="1"/>
          <p:nvPr/>
        </p:nvSpPr>
        <p:spPr>
          <a:xfrm>
            <a:off x="768096" y="5870448"/>
            <a:ext cx="10652760" cy="256032"/>
          </a:xfrm>
          <a:prstGeom prst="rect">
            <a:avLst/>
          </a:prstGeom>
          <a:noFill/>
        </p:spPr>
        <p:txBody>
          <a:bodyPr wrap="square" lIns="0" rIns="0" tIns="0" bIns="0" anchor="ctr">
            <a:spAutoFit/>
          </a:bodyPr>
          <a:lstStyle/>
          <a:p>
            <a:pPr marL="0" indent="0">
              <a:lnSpc>
                <a:spcPct val="124000"/>
              </a:lnSpc>
              <a:buNone/>
            </a:pPr>
            <a:r>
              <a:rPr sz="1060" b="1" i="0">
                <a:solidFill>
                  <a:srgbClr val="6A4A0F"/>
                </a:solidFill>
                <a:latin typeface="Calibri"/>
              </a:rPr>
              <a:t>The governance question to ask first.</a:t>
            </a:r>
            <a:r>
              <a:rPr sz="1060" b="1" i="0">
                <a:solidFill>
                  <a:srgbClr val="6A4A0F"/>
                </a:solidFill>
                <a:latin typeface="Calibri"/>
              </a:rPr>
              <a:t>  Not “is it secure”, but “who decides what this number means, and how would I find out”.</a:t>
            </a:r>
          </a:p>
        </p:txBody>
      </p:sp>
      <p:sp>
        <p:nvSpPr>
          <p:cNvPr id="29" name="TextBox 28"/>
          <p:cNvSpPr txBox="1"/>
          <p:nvPr/>
        </p:nvSpPr>
        <p:spPr>
          <a:xfrm>
            <a:off x="548640" y="6382512"/>
            <a:ext cx="8686800" cy="256032"/>
          </a:xfrm>
          <a:prstGeom prst="rect">
            <a:avLst/>
          </a:prstGeom>
          <a:noFill/>
        </p:spPr>
        <p:txBody>
          <a:bodyPr wrap="square" lIns="0" rIns="0" tIns="0" bIns="0" anchor="t">
            <a:spAutoFit/>
          </a:bodyPr>
          <a:lstStyle/>
          <a:p>
            <a:pPr algn="l" marL="0" indent="0">
              <a:buNone/>
            </a:pPr>
            <a:r>
              <a:rPr sz="900" b="0" i="0">
                <a:solidFill>
                  <a:srgbClr val="5C7079"/>
                </a:solidFill>
                <a:latin typeface="Calibri"/>
              </a:rPr>
              <a:t>Business Intelligence  |  Session 6 — Data Warehousing &amp; OLTP/OLAP  |  IILM Jaipur, MBA</a:t>
            </a:r>
          </a:p>
        </p:txBody>
      </p:sp>
      <p:sp>
        <p:nvSpPr>
          <p:cNvPr id="30" name="TextBox 29"/>
          <p:cNvSpPr txBox="1"/>
          <p:nvPr/>
        </p:nvSpPr>
        <p:spPr>
          <a:xfrm>
            <a:off x="10543032" y="6382512"/>
            <a:ext cx="1097280" cy="256032"/>
          </a:xfrm>
          <a:prstGeom prst="rect">
            <a:avLst/>
          </a:prstGeom>
          <a:noFill/>
        </p:spPr>
        <p:txBody>
          <a:bodyPr wrap="square" lIns="0" rIns="0" tIns="0" bIns="0" anchor="t">
            <a:spAutoFit/>
          </a:bodyPr>
          <a:lstStyle/>
          <a:p>
            <a:pPr algn="r" marL="0" indent="0">
              <a:buNone/>
            </a:pPr>
            <a:r>
              <a:rPr sz="950" b="1" i="0">
                <a:solidFill>
                  <a:srgbClr val="1B7F79"/>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374904"/>
            <a:ext cx="109728" cy="109728"/>
          </a:xfrm>
          <a:prstGeom prst="ellipse">
            <a:avLst/>
          </a:prstGeom>
          <a:solidFill>
            <a:srgbClr val="E8A33D"/>
          </a:solidFill>
          <a:ln>
            <a:noFill/>
          </a:ln>
          <a:effectLst/>
        </p:spPr>
        <p:txBody>
          <a:bodyPr rtlCol="0" anchor="ctr" wrap="none" lIns="0" rIns="0" tIns="0" bIns="0"/>
          <a:lstStyle/>
          <a:p>
            <a:pPr algn="ctr"/>
          </a:p>
        </p:txBody>
      </p:sp>
      <p:sp>
        <p:nvSpPr>
          <p:cNvPr id="3" name="TextBox 2"/>
          <p:cNvSpPr txBox="1"/>
          <p:nvPr/>
        </p:nvSpPr>
        <p:spPr>
          <a:xfrm>
            <a:off x="749808" y="283464"/>
            <a:ext cx="10890504" cy="256032"/>
          </a:xfrm>
          <a:prstGeom prst="rect">
            <a:avLst/>
          </a:prstGeom>
          <a:noFill/>
        </p:spPr>
        <p:txBody>
          <a:bodyPr wrap="square" lIns="0" rIns="0" tIns="0" bIns="0" anchor="t">
            <a:spAutoFit/>
          </a:bodyPr>
          <a:lstStyle/>
          <a:p>
            <a:pPr marL="0" indent="0">
              <a:buNone/>
            </a:pPr>
            <a:r>
              <a:rPr sz="1000" b="1" i="0">
                <a:solidFill>
                  <a:srgbClr val="B87A1E"/>
                </a:solidFill>
                <a:latin typeface="Calibri"/>
              </a:rPr>
              <a:t>PART 4 · PRACTICE</a:t>
            </a:r>
          </a:p>
        </p:txBody>
      </p:sp>
      <p:sp>
        <p:nvSpPr>
          <p:cNvPr id="4" name="TextBox 3"/>
          <p:cNvSpPr txBox="1"/>
          <p:nvPr/>
        </p:nvSpPr>
        <p:spPr>
          <a:xfrm>
            <a:off x="548640" y="548640"/>
            <a:ext cx="11091672" cy="640080"/>
          </a:xfrm>
          <a:prstGeom prst="rect">
            <a:avLst/>
          </a:prstGeom>
          <a:noFill/>
        </p:spPr>
        <p:txBody>
          <a:bodyPr wrap="square" lIns="0" rIns="0" tIns="0" bIns="0" anchor="t">
            <a:spAutoFit/>
          </a:bodyPr>
          <a:lstStyle/>
          <a:p>
            <a:pPr algn="l" marL="0" indent="0">
              <a:buNone/>
            </a:pPr>
            <a:r>
              <a:rPr sz="2700" b="1" i="0">
                <a:solidFill>
                  <a:srgbClr val="123B47"/>
                </a:solidFill>
                <a:latin typeface="Cambria"/>
              </a:rPr>
              <a:t>Nine ways a data-warehouse programme fails</a:t>
            </a:r>
          </a:p>
        </p:txBody>
      </p:sp>
      <p:sp>
        <p:nvSpPr>
          <p:cNvPr id="5" name="Rounded Rectangle 4"/>
          <p:cNvSpPr/>
          <p:nvPr/>
        </p:nvSpPr>
        <p:spPr>
          <a:xfrm>
            <a:off x="548640" y="1316736"/>
            <a:ext cx="3538728" cy="1335024"/>
          </a:xfrm>
          <a:prstGeom prst="roundRect">
            <a:avLst>
              <a:gd name="adj" fmla="val 6164"/>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6" name="Oval 5"/>
          <p:cNvSpPr/>
          <p:nvPr/>
        </p:nvSpPr>
        <p:spPr>
          <a:xfrm>
            <a:off x="749808" y="1527048"/>
            <a:ext cx="384048" cy="384048"/>
          </a:xfrm>
          <a:prstGeom prst="ellipse">
            <a:avLst/>
          </a:prstGeom>
          <a:solidFill>
            <a:srgbClr val="123B47"/>
          </a:solidFill>
          <a:ln>
            <a:noFill/>
          </a:ln>
          <a:effectLst/>
        </p:spPr>
        <p:txBody>
          <a:bodyPr rtlCol="0" anchor="ctr" wrap="none" lIns="0" rIns="0" tIns="0" bIns="0"/>
          <a:lstStyle/>
          <a:p>
            <a:pPr algn="ctr"/>
            <a:r>
              <a:rPr sz="1250" b="1">
                <a:solidFill>
                  <a:srgbClr val="FFFFFF"/>
                </a:solidFill>
                <a:latin typeface="Calibri"/>
              </a:rPr>
              <a:t>1</a:t>
            </a:r>
          </a:p>
        </p:txBody>
      </p:sp>
      <p:sp>
        <p:nvSpPr>
          <p:cNvPr id="7" name="TextBox 6"/>
          <p:cNvSpPr txBox="1"/>
          <p:nvPr/>
        </p:nvSpPr>
        <p:spPr>
          <a:xfrm>
            <a:off x="1252728" y="1517904"/>
            <a:ext cx="2633472"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Built without a business question</a:t>
            </a:r>
          </a:p>
        </p:txBody>
      </p:sp>
      <p:sp>
        <p:nvSpPr>
          <p:cNvPr id="8" name="TextBox 7"/>
          <p:cNvSpPr txBox="1"/>
          <p:nvPr/>
        </p:nvSpPr>
        <p:spPr>
          <a:xfrm>
            <a:off x="749808" y="2002536"/>
            <a:ext cx="3136392" cy="521207"/>
          </a:xfrm>
          <a:prstGeom prst="rect">
            <a:avLst/>
          </a:prstGeom>
          <a:noFill/>
        </p:spPr>
        <p:txBody>
          <a:bodyPr wrap="square" lIns="0" rIns="0" tIns="0" bIns="0" anchor="t">
            <a:spAutoFit/>
          </a:bodyPr>
          <a:lstStyle/>
          <a:p>
            <a:pPr marL="0" indent="0">
              <a:lnSpc>
                <a:spcPct val="124000"/>
              </a:lnSpc>
              <a:buNone/>
            </a:pPr>
            <a:r>
              <a:rPr sz="990" b="0" i="0">
                <a:solidFill>
                  <a:srgbClr val="2E3F47"/>
                </a:solidFill>
                <a:latin typeface="Calibri"/>
              </a:rPr>
              <a:t>Sponsored as an IT modernisation, scoped by source systems rather than by decisions. It completes, and nobody uses it.</a:t>
            </a:r>
          </a:p>
        </p:txBody>
      </p:sp>
      <p:sp>
        <p:nvSpPr>
          <p:cNvPr id="9" name="Rounded Rectangle 8"/>
          <p:cNvSpPr/>
          <p:nvPr/>
        </p:nvSpPr>
        <p:spPr>
          <a:xfrm>
            <a:off x="4306824" y="1316736"/>
            <a:ext cx="3538728" cy="1335024"/>
          </a:xfrm>
          <a:prstGeom prst="roundRect">
            <a:avLst>
              <a:gd name="adj" fmla="val 6164"/>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10" name="Oval 9"/>
          <p:cNvSpPr/>
          <p:nvPr/>
        </p:nvSpPr>
        <p:spPr>
          <a:xfrm>
            <a:off x="4507992" y="1527048"/>
            <a:ext cx="384048" cy="384048"/>
          </a:xfrm>
          <a:prstGeom prst="ellipse">
            <a:avLst/>
          </a:prstGeom>
          <a:solidFill>
            <a:srgbClr val="A63B26"/>
          </a:solidFill>
          <a:ln>
            <a:noFill/>
          </a:ln>
          <a:effectLst/>
        </p:spPr>
        <p:txBody>
          <a:bodyPr rtlCol="0" anchor="ctr" wrap="none" lIns="0" rIns="0" tIns="0" bIns="0"/>
          <a:lstStyle/>
          <a:p>
            <a:pPr algn="ctr"/>
            <a:r>
              <a:rPr sz="1250" b="1">
                <a:solidFill>
                  <a:srgbClr val="FFFFFF"/>
                </a:solidFill>
                <a:latin typeface="Calibri"/>
              </a:rPr>
              <a:t>2</a:t>
            </a:r>
          </a:p>
        </p:txBody>
      </p:sp>
      <p:sp>
        <p:nvSpPr>
          <p:cNvPr id="11" name="TextBox 10"/>
          <p:cNvSpPr txBox="1"/>
          <p:nvPr/>
        </p:nvSpPr>
        <p:spPr>
          <a:xfrm>
            <a:off x="5010912" y="1517904"/>
            <a:ext cx="2633472"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Grain chosen too coarse</a:t>
            </a:r>
          </a:p>
        </p:txBody>
      </p:sp>
      <p:sp>
        <p:nvSpPr>
          <p:cNvPr id="12" name="TextBox 11"/>
          <p:cNvSpPr txBox="1"/>
          <p:nvPr/>
        </p:nvSpPr>
        <p:spPr>
          <a:xfrm>
            <a:off x="4507992" y="2002536"/>
            <a:ext cx="3136392" cy="521207"/>
          </a:xfrm>
          <a:prstGeom prst="rect">
            <a:avLst/>
          </a:prstGeom>
          <a:noFill/>
        </p:spPr>
        <p:txBody>
          <a:bodyPr wrap="square" lIns="0" rIns="0" tIns="0" bIns="0" anchor="t">
            <a:spAutoFit/>
          </a:bodyPr>
          <a:lstStyle/>
          <a:p>
            <a:pPr marL="0" indent="0">
              <a:lnSpc>
                <a:spcPct val="124000"/>
              </a:lnSpc>
              <a:buNone/>
            </a:pPr>
            <a:r>
              <a:rPr sz="890" b="0" i="0">
                <a:solidFill>
                  <a:srgbClr val="2E3F47"/>
                </a:solidFill>
                <a:latin typeface="Calibri"/>
              </a:rPr>
              <a:t>Loaded at monthly summary to save space. Every later question about a day, a basket or an individual customer is unanswerable, and the fix is a reload of years of history.</a:t>
            </a:r>
          </a:p>
        </p:txBody>
      </p:sp>
      <p:sp>
        <p:nvSpPr>
          <p:cNvPr id="13" name="Rounded Rectangle 12"/>
          <p:cNvSpPr/>
          <p:nvPr/>
        </p:nvSpPr>
        <p:spPr>
          <a:xfrm>
            <a:off x="8065008" y="1316736"/>
            <a:ext cx="3538728" cy="1335024"/>
          </a:xfrm>
          <a:prstGeom prst="roundRect">
            <a:avLst>
              <a:gd name="adj" fmla="val 6164"/>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14" name="Oval 13"/>
          <p:cNvSpPr/>
          <p:nvPr/>
        </p:nvSpPr>
        <p:spPr>
          <a:xfrm>
            <a:off x="8266176" y="1527048"/>
            <a:ext cx="384048" cy="384048"/>
          </a:xfrm>
          <a:prstGeom prst="ellipse">
            <a:avLst/>
          </a:prstGeom>
          <a:solidFill>
            <a:srgbClr val="123B47"/>
          </a:solidFill>
          <a:ln>
            <a:noFill/>
          </a:ln>
          <a:effectLst/>
        </p:spPr>
        <p:txBody>
          <a:bodyPr rtlCol="0" anchor="ctr" wrap="none" lIns="0" rIns="0" tIns="0" bIns="0"/>
          <a:lstStyle/>
          <a:p>
            <a:pPr algn="ctr"/>
            <a:r>
              <a:rPr sz="1250" b="1">
                <a:solidFill>
                  <a:srgbClr val="FFFFFF"/>
                </a:solidFill>
                <a:latin typeface="Calibri"/>
              </a:rPr>
              <a:t>3</a:t>
            </a:r>
          </a:p>
        </p:txBody>
      </p:sp>
      <p:sp>
        <p:nvSpPr>
          <p:cNvPr id="15" name="TextBox 14"/>
          <p:cNvSpPr txBox="1"/>
          <p:nvPr/>
        </p:nvSpPr>
        <p:spPr>
          <a:xfrm>
            <a:off x="8769096" y="1517904"/>
            <a:ext cx="2633472"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Integration skipped</a:t>
            </a:r>
          </a:p>
        </p:txBody>
      </p:sp>
      <p:sp>
        <p:nvSpPr>
          <p:cNvPr id="16" name="TextBox 15"/>
          <p:cNvSpPr txBox="1"/>
          <p:nvPr/>
        </p:nvSpPr>
        <p:spPr>
          <a:xfrm>
            <a:off x="8266176" y="2002536"/>
            <a:ext cx="3136392" cy="521207"/>
          </a:xfrm>
          <a:prstGeom prst="rect">
            <a:avLst/>
          </a:prstGeom>
          <a:noFill/>
        </p:spPr>
        <p:txBody>
          <a:bodyPr wrap="square" lIns="0" rIns="0" tIns="0" bIns="0" anchor="t">
            <a:spAutoFit/>
          </a:bodyPr>
          <a:lstStyle/>
          <a:p>
            <a:pPr marL="0" indent="0">
              <a:lnSpc>
                <a:spcPct val="124000"/>
              </a:lnSpc>
              <a:buNone/>
            </a:pPr>
            <a:r>
              <a:rPr sz="890" b="0" i="0">
                <a:solidFill>
                  <a:srgbClr val="2E3F47"/>
                </a:solidFill>
                <a:latin typeface="Calibri"/>
              </a:rPr>
              <a:t>Sources copied faithfully and never reconciled. The warehouse now holds three definitions of revenue with the authority of a single system.</a:t>
            </a:r>
          </a:p>
        </p:txBody>
      </p:sp>
      <p:sp>
        <p:nvSpPr>
          <p:cNvPr id="17" name="Rounded Rectangle 16"/>
          <p:cNvSpPr/>
          <p:nvPr/>
        </p:nvSpPr>
        <p:spPr>
          <a:xfrm>
            <a:off x="548640" y="2798064"/>
            <a:ext cx="3538728" cy="1335024"/>
          </a:xfrm>
          <a:prstGeom prst="roundRect">
            <a:avLst>
              <a:gd name="adj" fmla="val 6164"/>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18" name="Oval 17"/>
          <p:cNvSpPr/>
          <p:nvPr/>
        </p:nvSpPr>
        <p:spPr>
          <a:xfrm>
            <a:off x="749808" y="3008376"/>
            <a:ext cx="384048" cy="384048"/>
          </a:xfrm>
          <a:prstGeom prst="ellipse">
            <a:avLst/>
          </a:prstGeom>
          <a:solidFill>
            <a:srgbClr val="A63B26"/>
          </a:solidFill>
          <a:ln>
            <a:noFill/>
          </a:ln>
          <a:effectLst/>
        </p:spPr>
        <p:txBody>
          <a:bodyPr rtlCol="0" anchor="ctr" wrap="none" lIns="0" rIns="0" tIns="0" bIns="0"/>
          <a:lstStyle/>
          <a:p>
            <a:pPr algn="ctr"/>
            <a:r>
              <a:rPr sz="1250" b="1">
                <a:solidFill>
                  <a:srgbClr val="FFFFFF"/>
                </a:solidFill>
                <a:latin typeface="Calibri"/>
              </a:rPr>
              <a:t>4</a:t>
            </a:r>
          </a:p>
        </p:txBody>
      </p:sp>
      <p:sp>
        <p:nvSpPr>
          <p:cNvPr id="19" name="TextBox 18"/>
          <p:cNvSpPr txBox="1"/>
          <p:nvPr/>
        </p:nvSpPr>
        <p:spPr>
          <a:xfrm>
            <a:off x="1252728" y="2999232"/>
            <a:ext cx="2633472"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History not retained</a:t>
            </a:r>
          </a:p>
        </p:txBody>
      </p:sp>
      <p:sp>
        <p:nvSpPr>
          <p:cNvPr id="20" name="TextBox 19"/>
          <p:cNvSpPr txBox="1"/>
          <p:nvPr/>
        </p:nvSpPr>
        <p:spPr>
          <a:xfrm>
            <a:off x="749808" y="3483864"/>
            <a:ext cx="3136392" cy="521207"/>
          </a:xfrm>
          <a:prstGeom prst="rect">
            <a:avLst/>
          </a:prstGeom>
          <a:noFill/>
        </p:spPr>
        <p:txBody>
          <a:bodyPr wrap="square" lIns="0" rIns="0" tIns="0" bIns="0" anchor="t">
            <a:spAutoFit/>
          </a:bodyPr>
          <a:lstStyle/>
          <a:p>
            <a:pPr marL="0" indent="0">
              <a:lnSpc>
                <a:spcPct val="124000"/>
              </a:lnSpc>
              <a:buNone/>
            </a:pPr>
            <a:r>
              <a:rPr sz="990" b="0" i="0">
                <a:solidFill>
                  <a:srgbClr val="2E3F47"/>
                </a:solidFill>
                <a:latin typeface="Calibri"/>
              </a:rPr>
              <a:t>Type 1 everywhere because it was quicker. Eighteen months later, no report about the past can be reproduced.</a:t>
            </a:r>
          </a:p>
        </p:txBody>
      </p:sp>
      <p:sp>
        <p:nvSpPr>
          <p:cNvPr id="21" name="Rounded Rectangle 20"/>
          <p:cNvSpPr/>
          <p:nvPr/>
        </p:nvSpPr>
        <p:spPr>
          <a:xfrm>
            <a:off x="4306824" y="2798064"/>
            <a:ext cx="3538728" cy="1335024"/>
          </a:xfrm>
          <a:prstGeom prst="roundRect">
            <a:avLst>
              <a:gd name="adj" fmla="val 6164"/>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22" name="Oval 21"/>
          <p:cNvSpPr/>
          <p:nvPr/>
        </p:nvSpPr>
        <p:spPr>
          <a:xfrm>
            <a:off x="4507992" y="3008376"/>
            <a:ext cx="384048" cy="384048"/>
          </a:xfrm>
          <a:prstGeom prst="ellipse">
            <a:avLst/>
          </a:prstGeom>
          <a:solidFill>
            <a:srgbClr val="123B47"/>
          </a:solidFill>
          <a:ln>
            <a:noFill/>
          </a:ln>
          <a:effectLst/>
        </p:spPr>
        <p:txBody>
          <a:bodyPr rtlCol="0" anchor="ctr" wrap="none" lIns="0" rIns="0" tIns="0" bIns="0"/>
          <a:lstStyle/>
          <a:p>
            <a:pPr algn="ctr"/>
            <a:r>
              <a:rPr sz="1250" b="1">
                <a:solidFill>
                  <a:srgbClr val="FFFFFF"/>
                </a:solidFill>
                <a:latin typeface="Calibri"/>
              </a:rPr>
              <a:t>5</a:t>
            </a:r>
          </a:p>
        </p:txBody>
      </p:sp>
      <p:sp>
        <p:nvSpPr>
          <p:cNvPr id="23" name="TextBox 22"/>
          <p:cNvSpPr txBox="1"/>
          <p:nvPr/>
        </p:nvSpPr>
        <p:spPr>
          <a:xfrm>
            <a:off x="5010912" y="2999232"/>
            <a:ext cx="2633472"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Big-bang scope</a:t>
            </a:r>
          </a:p>
        </p:txBody>
      </p:sp>
      <p:sp>
        <p:nvSpPr>
          <p:cNvPr id="24" name="TextBox 23"/>
          <p:cNvSpPr txBox="1"/>
          <p:nvPr/>
        </p:nvSpPr>
        <p:spPr>
          <a:xfrm>
            <a:off x="4507992" y="3483864"/>
            <a:ext cx="3136392" cy="521207"/>
          </a:xfrm>
          <a:prstGeom prst="rect">
            <a:avLst/>
          </a:prstGeom>
          <a:noFill/>
        </p:spPr>
        <p:txBody>
          <a:bodyPr wrap="square" lIns="0" rIns="0" tIns="0" bIns="0" anchor="t">
            <a:spAutoFit/>
          </a:bodyPr>
          <a:lstStyle/>
          <a:p>
            <a:pPr marL="0" indent="0">
              <a:lnSpc>
                <a:spcPct val="124000"/>
              </a:lnSpc>
              <a:buNone/>
            </a:pPr>
            <a:r>
              <a:rPr sz="950" b="0" i="0">
                <a:solidFill>
                  <a:srgbClr val="2E3F47"/>
                </a:solidFill>
                <a:latin typeface="Calibri"/>
              </a:rPr>
              <a:t>Two years to first delivery. The sponsor changes, priorities move, and the programme is cancelled at 70 per cent complete.</a:t>
            </a:r>
          </a:p>
        </p:txBody>
      </p:sp>
      <p:sp>
        <p:nvSpPr>
          <p:cNvPr id="25" name="Rounded Rectangle 24"/>
          <p:cNvSpPr/>
          <p:nvPr/>
        </p:nvSpPr>
        <p:spPr>
          <a:xfrm>
            <a:off x="8065008" y="2798064"/>
            <a:ext cx="3538728" cy="1335024"/>
          </a:xfrm>
          <a:prstGeom prst="roundRect">
            <a:avLst>
              <a:gd name="adj" fmla="val 6164"/>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26" name="Oval 25"/>
          <p:cNvSpPr/>
          <p:nvPr/>
        </p:nvSpPr>
        <p:spPr>
          <a:xfrm>
            <a:off x="8266176" y="3008376"/>
            <a:ext cx="384048" cy="384048"/>
          </a:xfrm>
          <a:prstGeom prst="ellipse">
            <a:avLst/>
          </a:prstGeom>
          <a:solidFill>
            <a:srgbClr val="A63B26"/>
          </a:solidFill>
          <a:ln>
            <a:noFill/>
          </a:ln>
          <a:effectLst/>
        </p:spPr>
        <p:txBody>
          <a:bodyPr rtlCol="0" anchor="ctr" wrap="none" lIns="0" rIns="0" tIns="0" bIns="0"/>
          <a:lstStyle/>
          <a:p>
            <a:pPr algn="ctr"/>
            <a:r>
              <a:rPr sz="1250" b="1">
                <a:solidFill>
                  <a:srgbClr val="FFFFFF"/>
                </a:solidFill>
                <a:latin typeface="Calibri"/>
              </a:rPr>
              <a:t>6</a:t>
            </a:r>
          </a:p>
        </p:txBody>
      </p:sp>
      <p:sp>
        <p:nvSpPr>
          <p:cNvPr id="27" name="TextBox 26"/>
          <p:cNvSpPr txBox="1"/>
          <p:nvPr/>
        </p:nvSpPr>
        <p:spPr>
          <a:xfrm>
            <a:off x="8769096" y="2999232"/>
            <a:ext cx="2633472"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Data quality treated as a later phase</a:t>
            </a:r>
          </a:p>
        </p:txBody>
      </p:sp>
      <p:sp>
        <p:nvSpPr>
          <p:cNvPr id="28" name="TextBox 27"/>
          <p:cNvSpPr txBox="1"/>
          <p:nvPr/>
        </p:nvSpPr>
        <p:spPr>
          <a:xfrm>
            <a:off x="8266176" y="3483864"/>
            <a:ext cx="3136392" cy="521207"/>
          </a:xfrm>
          <a:prstGeom prst="rect">
            <a:avLst/>
          </a:prstGeom>
          <a:noFill/>
        </p:spPr>
        <p:txBody>
          <a:bodyPr wrap="square" lIns="0" rIns="0" tIns="0" bIns="0" anchor="t">
            <a:spAutoFit/>
          </a:bodyPr>
          <a:lstStyle/>
          <a:p>
            <a:pPr marL="0" indent="0">
              <a:lnSpc>
                <a:spcPct val="124000"/>
              </a:lnSpc>
              <a:buNone/>
            </a:pPr>
            <a:r>
              <a:rPr sz="890" b="0" i="0">
                <a:solidFill>
                  <a:srgbClr val="2E3F47"/>
                </a:solidFill>
                <a:latin typeface="Calibri"/>
              </a:rPr>
              <a:t>Loading known-bad data on the promise of cleansing it afterwards. Trust, once lost by the first wrong number shown to an executive, is very expensive to rebuild.</a:t>
            </a:r>
          </a:p>
        </p:txBody>
      </p:sp>
      <p:sp>
        <p:nvSpPr>
          <p:cNvPr id="29" name="Rounded Rectangle 28"/>
          <p:cNvSpPr/>
          <p:nvPr/>
        </p:nvSpPr>
        <p:spPr>
          <a:xfrm>
            <a:off x="548640" y="4279392"/>
            <a:ext cx="3538728" cy="1335024"/>
          </a:xfrm>
          <a:prstGeom prst="roundRect">
            <a:avLst>
              <a:gd name="adj" fmla="val 6164"/>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30" name="Oval 29"/>
          <p:cNvSpPr/>
          <p:nvPr/>
        </p:nvSpPr>
        <p:spPr>
          <a:xfrm>
            <a:off x="749808" y="4489704"/>
            <a:ext cx="384048" cy="384048"/>
          </a:xfrm>
          <a:prstGeom prst="ellipse">
            <a:avLst/>
          </a:prstGeom>
          <a:solidFill>
            <a:srgbClr val="123B47"/>
          </a:solidFill>
          <a:ln>
            <a:noFill/>
          </a:ln>
          <a:effectLst/>
        </p:spPr>
        <p:txBody>
          <a:bodyPr rtlCol="0" anchor="ctr" wrap="none" lIns="0" rIns="0" tIns="0" bIns="0"/>
          <a:lstStyle/>
          <a:p>
            <a:pPr algn="ctr"/>
            <a:r>
              <a:rPr sz="1250" b="1">
                <a:solidFill>
                  <a:srgbClr val="FFFFFF"/>
                </a:solidFill>
                <a:latin typeface="Calibri"/>
              </a:rPr>
              <a:t>7</a:t>
            </a:r>
          </a:p>
        </p:txBody>
      </p:sp>
      <p:sp>
        <p:nvSpPr>
          <p:cNvPr id="31" name="TextBox 30"/>
          <p:cNvSpPr txBox="1"/>
          <p:nvPr/>
        </p:nvSpPr>
        <p:spPr>
          <a:xfrm>
            <a:off x="1252728" y="4480559"/>
            <a:ext cx="2633472"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No ownership of definitions</a:t>
            </a:r>
          </a:p>
        </p:txBody>
      </p:sp>
      <p:sp>
        <p:nvSpPr>
          <p:cNvPr id="32" name="TextBox 31"/>
          <p:cNvSpPr txBox="1"/>
          <p:nvPr/>
        </p:nvSpPr>
        <p:spPr>
          <a:xfrm>
            <a:off x="749808" y="4965192"/>
            <a:ext cx="3136392" cy="521207"/>
          </a:xfrm>
          <a:prstGeom prst="rect">
            <a:avLst/>
          </a:prstGeom>
          <a:noFill/>
        </p:spPr>
        <p:txBody>
          <a:bodyPr wrap="square" lIns="0" rIns="0" tIns="0" bIns="0" anchor="t">
            <a:spAutoFit/>
          </a:bodyPr>
          <a:lstStyle/>
          <a:p>
            <a:pPr marL="0" indent="0">
              <a:lnSpc>
                <a:spcPct val="124000"/>
              </a:lnSpc>
              <a:buNone/>
            </a:pPr>
            <a:r>
              <a:rPr sz="910" b="0" i="0">
                <a:solidFill>
                  <a:srgbClr val="2E3F47"/>
                </a:solidFill>
                <a:latin typeface="Calibri"/>
              </a:rPr>
              <a:t>Nobody is accountable for what “active customer” means, so every mart answers differently and the warehouse arbitrates nothing.</a:t>
            </a:r>
          </a:p>
        </p:txBody>
      </p:sp>
      <p:sp>
        <p:nvSpPr>
          <p:cNvPr id="33" name="Rounded Rectangle 32"/>
          <p:cNvSpPr/>
          <p:nvPr/>
        </p:nvSpPr>
        <p:spPr>
          <a:xfrm>
            <a:off x="4306824" y="4279392"/>
            <a:ext cx="3538728" cy="1335024"/>
          </a:xfrm>
          <a:prstGeom prst="roundRect">
            <a:avLst>
              <a:gd name="adj" fmla="val 6164"/>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34" name="Oval 33"/>
          <p:cNvSpPr/>
          <p:nvPr/>
        </p:nvSpPr>
        <p:spPr>
          <a:xfrm>
            <a:off x="4507992" y="4489704"/>
            <a:ext cx="384048" cy="384048"/>
          </a:xfrm>
          <a:prstGeom prst="ellipse">
            <a:avLst/>
          </a:prstGeom>
          <a:solidFill>
            <a:srgbClr val="123B47"/>
          </a:solidFill>
          <a:ln>
            <a:noFill/>
          </a:ln>
          <a:effectLst/>
        </p:spPr>
        <p:txBody>
          <a:bodyPr rtlCol="0" anchor="ctr" wrap="none" lIns="0" rIns="0" tIns="0" bIns="0"/>
          <a:lstStyle/>
          <a:p>
            <a:pPr algn="ctr"/>
            <a:r>
              <a:rPr sz="1250" b="1">
                <a:solidFill>
                  <a:srgbClr val="FFFFFF"/>
                </a:solidFill>
                <a:latin typeface="Calibri"/>
              </a:rPr>
              <a:t>8</a:t>
            </a:r>
          </a:p>
        </p:txBody>
      </p:sp>
      <p:sp>
        <p:nvSpPr>
          <p:cNvPr id="35" name="TextBox 34"/>
          <p:cNvSpPr txBox="1"/>
          <p:nvPr/>
        </p:nvSpPr>
        <p:spPr>
          <a:xfrm>
            <a:off x="5010912" y="4480559"/>
            <a:ext cx="2633472"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Direct access to staging</a:t>
            </a:r>
          </a:p>
        </p:txBody>
      </p:sp>
      <p:sp>
        <p:nvSpPr>
          <p:cNvPr id="36" name="TextBox 35"/>
          <p:cNvSpPr txBox="1"/>
          <p:nvPr/>
        </p:nvSpPr>
        <p:spPr>
          <a:xfrm>
            <a:off x="4507992" y="4965192"/>
            <a:ext cx="3136392" cy="521207"/>
          </a:xfrm>
          <a:prstGeom prst="rect">
            <a:avLst/>
          </a:prstGeom>
          <a:noFill/>
        </p:spPr>
        <p:txBody>
          <a:bodyPr wrap="square" lIns="0" rIns="0" tIns="0" bIns="0" anchor="t">
            <a:spAutoFit/>
          </a:bodyPr>
          <a:lstStyle/>
          <a:p>
            <a:pPr marL="0" indent="0">
              <a:lnSpc>
                <a:spcPct val="124000"/>
              </a:lnSpc>
              <a:buNone/>
            </a:pPr>
            <a:r>
              <a:rPr sz="910" b="0" i="0">
                <a:solidFill>
                  <a:srgbClr val="2E3F47"/>
                </a:solidFill>
                <a:latin typeface="Calibri"/>
              </a:rPr>
              <a:t>Reports built against the landing area because it was faster. Lineage breaks, and the integration layer is bypassed permanently.</a:t>
            </a:r>
          </a:p>
        </p:txBody>
      </p:sp>
      <p:sp>
        <p:nvSpPr>
          <p:cNvPr id="37" name="Rounded Rectangle 36"/>
          <p:cNvSpPr/>
          <p:nvPr/>
        </p:nvSpPr>
        <p:spPr>
          <a:xfrm>
            <a:off x="8065008" y="4279392"/>
            <a:ext cx="3538728" cy="1335024"/>
          </a:xfrm>
          <a:prstGeom prst="roundRect">
            <a:avLst>
              <a:gd name="adj" fmla="val 6164"/>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38" name="Oval 37"/>
          <p:cNvSpPr/>
          <p:nvPr/>
        </p:nvSpPr>
        <p:spPr>
          <a:xfrm>
            <a:off x="8266176" y="4489704"/>
            <a:ext cx="384048" cy="384048"/>
          </a:xfrm>
          <a:prstGeom prst="ellipse">
            <a:avLst/>
          </a:prstGeom>
          <a:solidFill>
            <a:srgbClr val="123B47"/>
          </a:solidFill>
          <a:ln>
            <a:noFill/>
          </a:ln>
          <a:effectLst/>
        </p:spPr>
        <p:txBody>
          <a:bodyPr rtlCol="0" anchor="ctr" wrap="none" lIns="0" rIns="0" tIns="0" bIns="0"/>
          <a:lstStyle/>
          <a:p>
            <a:pPr algn="ctr"/>
            <a:r>
              <a:rPr sz="1250" b="1">
                <a:solidFill>
                  <a:srgbClr val="FFFFFF"/>
                </a:solidFill>
                <a:latin typeface="Calibri"/>
              </a:rPr>
              <a:t>9</a:t>
            </a:r>
          </a:p>
        </p:txBody>
      </p:sp>
      <p:sp>
        <p:nvSpPr>
          <p:cNvPr id="39" name="TextBox 38"/>
          <p:cNvSpPr txBox="1"/>
          <p:nvPr/>
        </p:nvSpPr>
        <p:spPr>
          <a:xfrm>
            <a:off x="8769096" y="4480559"/>
            <a:ext cx="2633472"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Funded as a project</a:t>
            </a:r>
          </a:p>
        </p:txBody>
      </p:sp>
      <p:sp>
        <p:nvSpPr>
          <p:cNvPr id="40" name="TextBox 39"/>
          <p:cNvSpPr txBox="1"/>
          <p:nvPr/>
        </p:nvSpPr>
        <p:spPr>
          <a:xfrm>
            <a:off x="8266176" y="4965192"/>
            <a:ext cx="3136392" cy="521207"/>
          </a:xfrm>
          <a:prstGeom prst="rect">
            <a:avLst/>
          </a:prstGeom>
          <a:noFill/>
        </p:spPr>
        <p:txBody>
          <a:bodyPr wrap="square" lIns="0" rIns="0" tIns="0" bIns="0" anchor="t">
            <a:spAutoFit/>
          </a:bodyPr>
          <a:lstStyle/>
          <a:p>
            <a:pPr marL="0" indent="0">
              <a:lnSpc>
                <a:spcPct val="124000"/>
              </a:lnSpc>
              <a:buNone/>
            </a:pPr>
            <a:r>
              <a:rPr sz="990" b="0" i="0">
                <a:solidFill>
                  <a:srgbClr val="2E3F47"/>
                </a:solidFill>
                <a:latin typeface="Calibri"/>
              </a:rPr>
              <a:t>No budget for source changes, new questions or refactoring. The warehouse ages into the very spider's web it replaced.</a:t>
            </a:r>
          </a:p>
        </p:txBody>
      </p:sp>
      <p:sp>
        <p:nvSpPr>
          <p:cNvPr id="41" name="Rounded Rectangle 40"/>
          <p:cNvSpPr/>
          <p:nvPr/>
        </p:nvSpPr>
        <p:spPr>
          <a:xfrm>
            <a:off x="548640" y="5779008"/>
            <a:ext cx="11091672" cy="347472"/>
          </a:xfrm>
          <a:prstGeom prst="roundRect">
            <a:avLst>
              <a:gd name="adj" fmla="val 23684"/>
            </a:avLst>
          </a:prstGeom>
          <a:solidFill>
            <a:srgbClr val="FBEBD1"/>
          </a:solidFill>
          <a:ln w="12700">
            <a:solidFill>
              <a:srgbClr val="EFD9AE"/>
            </a:solidFill>
          </a:ln>
          <a:effectLst/>
        </p:spPr>
        <p:txBody>
          <a:bodyPr rtlCol="0" anchor="ctr"/>
          <a:lstStyle/>
          <a:p/>
        </p:txBody>
      </p:sp>
      <p:sp>
        <p:nvSpPr>
          <p:cNvPr id="42" name="TextBox 41"/>
          <p:cNvSpPr txBox="1"/>
          <p:nvPr/>
        </p:nvSpPr>
        <p:spPr>
          <a:xfrm>
            <a:off x="768096" y="5815584"/>
            <a:ext cx="10652760" cy="274320"/>
          </a:xfrm>
          <a:prstGeom prst="rect">
            <a:avLst/>
          </a:prstGeom>
          <a:noFill/>
        </p:spPr>
        <p:txBody>
          <a:bodyPr wrap="square" lIns="0" rIns="0" tIns="0" bIns="0" anchor="ctr">
            <a:spAutoFit/>
          </a:bodyPr>
          <a:lstStyle/>
          <a:p>
            <a:pPr marL="0" indent="0">
              <a:lnSpc>
                <a:spcPct val="124000"/>
              </a:lnSpc>
              <a:buNone/>
            </a:pPr>
            <a:r>
              <a:rPr sz="1060" b="1" i="0">
                <a:solidFill>
                  <a:srgbClr val="6A4A0F"/>
                </a:solidFill>
                <a:latin typeface="Calibri"/>
              </a:rPr>
              <a:t>The two that are effectively irreversible.</a:t>
            </a:r>
            <a:r>
              <a:rPr sz="1060" b="1" i="0">
                <a:solidFill>
                  <a:srgbClr val="6A4A0F"/>
                </a:solidFill>
                <a:latin typeface="Calibri"/>
              </a:rPr>
              <a:t>  Grain chosen too coarse, and history not retained. Both destroy information that cannot be recovered later at any price.</a:t>
            </a:r>
          </a:p>
        </p:txBody>
      </p:sp>
      <p:sp>
        <p:nvSpPr>
          <p:cNvPr id="43" name="TextBox 42"/>
          <p:cNvSpPr txBox="1"/>
          <p:nvPr/>
        </p:nvSpPr>
        <p:spPr>
          <a:xfrm>
            <a:off x="548640" y="6382512"/>
            <a:ext cx="8686800" cy="256032"/>
          </a:xfrm>
          <a:prstGeom prst="rect">
            <a:avLst/>
          </a:prstGeom>
          <a:noFill/>
        </p:spPr>
        <p:txBody>
          <a:bodyPr wrap="square" lIns="0" rIns="0" tIns="0" bIns="0" anchor="t">
            <a:spAutoFit/>
          </a:bodyPr>
          <a:lstStyle/>
          <a:p>
            <a:pPr algn="l" marL="0" indent="0">
              <a:buNone/>
            </a:pPr>
            <a:r>
              <a:rPr sz="900" b="0" i="0">
                <a:solidFill>
                  <a:srgbClr val="5C7079"/>
                </a:solidFill>
                <a:latin typeface="Calibri"/>
              </a:rPr>
              <a:t>Business Intelligence  |  Session 6 — Data Warehousing &amp; OLTP/OLAP  |  IILM Jaipur, MBA</a:t>
            </a:r>
          </a:p>
        </p:txBody>
      </p:sp>
      <p:sp>
        <p:nvSpPr>
          <p:cNvPr id="44" name="TextBox 43"/>
          <p:cNvSpPr txBox="1"/>
          <p:nvPr/>
        </p:nvSpPr>
        <p:spPr>
          <a:xfrm>
            <a:off x="10543032" y="6382512"/>
            <a:ext cx="1097280" cy="256032"/>
          </a:xfrm>
          <a:prstGeom prst="rect">
            <a:avLst/>
          </a:prstGeom>
          <a:noFill/>
        </p:spPr>
        <p:txBody>
          <a:bodyPr wrap="square" lIns="0" rIns="0" tIns="0" bIns="0" anchor="t">
            <a:spAutoFit/>
          </a:bodyPr>
          <a:lstStyle/>
          <a:p>
            <a:pPr algn="r" marL="0" indent="0">
              <a:buNone/>
            </a:pPr>
            <a:r>
              <a:rPr sz="950" b="1" i="0">
                <a:solidFill>
                  <a:srgbClr val="1B7F79"/>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374904"/>
            <a:ext cx="109728" cy="109728"/>
          </a:xfrm>
          <a:prstGeom prst="ellipse">
            <a:avLst/>
          </a:prstGeom>
          <a:solidFill>
            <a:srgbClr val="E8A33D"/>
          </a:solidFill>
          <a:ln>
            <a:noFill/>
          </a:ln>
          <a:effectLst/>
        </p:spPr>
        <p:txBody>
          <a:bodyPr rtlCol="0" anchor="ctr" wrap="none" lIns="0" rIns="0" tIns="0" bIns="0"/>
          <a:lstStyle/>
          <a:p>
            <a:pPr algn="ctr"/>
          </a:p>
        </p:txBody>
      </p:sp>
      <p:sp>
        <p:nvSpPr>
          <p:cNvPr id="3" name="TextBox 2"/>
          <p:cNvSpPr txBox="1"/>
          <p:nvPr/>
        </p:nvSpPr>
        <p:spPr>
          <a:xfrm>
            <a:off x="749808" y="283464"/>
            <a:ext cx="10890504" cy="256032"/>
          </a:xfrm>
          <a:prstGeom prst="rect">
            <a:avLst/>
          </a:prstGeom>
          <a:noFill/>
        </p:spPr>
        <p:txBody>
          <a:bodyPr wrap="square" lIns="0" rIns="0" tIns="0" bIns="0" anchor="t">
            <a:spAutoFit/>
          </a:bodyPr>
          <a:lstStyle/>
          <a:p>
            <a:pPr marL="0" indent="0">
              <a:buNone/>
            </a:pPr>
            <a:r>
              <a:rPr sz="1000" b="1" i="0">
                <a:solidFill>
                  <a:srgbClr val="B87A1E"/>
                </a:solidFill>
                <a:latin typeface="Calibri"/>
              </a:rPr>
              <a:t>PART 4 · WORKED CASE</a:t>
            </a:r>
          </a:p>
        </p:txBody>
      </p:sp>
      <p:sp>
        <p:nvSpPr>
          <p:cNvPr id="4" name="TextBox 3"/>
          <p:cNvSpPr txBox="1"/>
          <p:nvPr/>
        </p:nvSpPr>
        <p:spPr>
          <a:xfrm>
            <a:off x="548640" y="548640"/>
            <a:ext cx="11091672" cy="640080"/>
          </a:xfrm>
          <a:prstGeom prst="rect">
            <a:avLst/>
          </a:prstGeom>
          <a:noFill/>
        </p:spPr>
        <p:txBody>
          <a:bodyPr wrap="square" lIns="0" rIns="0" tIns="0" bIns="0" anchor="t">
            <a:spAutoFit/>
          </a:bodyPr>
          <a:lstStyle/>
          <a:p>
            <a:pPr algn="l" marL="0" indent="0">
              <a:buNone/>
            </a:pPr>
            <a:r>
              <a:rPr sz="2700" b="1" i="0">
                <a:solidFill>
                  <a:srgbClr val="123B47"/>
                </a:solidFill>
                <a:latin typeface="Cambria"/>
              </a:rPr>
              <a:t>Rajputana Dairy Ltd: the symptoms</a:t>
            </a:r>
          </a:p>
        </p:txBody>
      </p:sp>
      <p:sp>
        <p:nvSpPr>
          <p:cNvPr id="5" name="Rounded Rectangle 4"/>
          <p:cNvSpPr/>
          <p:nvPr/>
        </p:nvSpPr>
        <p:spPr>
          <a:xfrm>
            <a:off x="548640" y="1298448"/>
            <a:ext cx="11091672" cy="676656"/>
          </a:xfrm>
          <a:prstGeom prst="roundRect">
            <a:avLst>
              <a:gd name="adj" fmla="val 12162"/>
            </a:avLst>
          </a:prstGeom>
          <a:solidFill>
            <a:srgbClr val="123B47"/>
          </a:solidFill>
          <a:ln>
            <a:noFill/>
          </a:ln>
          <a:effectLst>
            <a:outerShdw blurRad="76200" dist="12700" dir="5400000" algn="bl" rotWithShape="0">
              <a:srgbClr val="9FB3B0">
                <a:alpha val="28000"/>
              </a:srgbClr>
            </a:outerShdw>
          </a:effectLst>
        </p:spPr>
        <p:txBody>
          <a:bodyPr rtlCol="0" anchor="ctr"/>
          <a:lstStyle/>
          <a:p/>
        </p:txBody>
      </p:sp>
      <p:sp>
        <p:nvSpPr>
          <p:cNvPr id="6" name="TextBox 5"/>
          <p:cNvSpPr txBox="1"/>
          <p:nvPr/>
        </p:nvSpPr>
        <p:spPr>
          <a:xfrm>
            <a:off x="768096" y="1371600"/>
            <a:ext cx="10652760" cy="530352"/>
          </a:xfrm>
          <a:prstGeom prst="rect">
            <a:avLst/>
          </a:prstGeom>
          <a:noFill/>
        </p:spPr>
        <p:txBody>
          <a:bodyPr wrap="square" lIns="0" rIns="0" tIns="0" bIns="0" anchor="ctr">
            <a:spAutoFit/>
          </a:bodyPr>
          <a:lstStyle/>
          <a:p>
            <a:pPr marL="0" indent="0">
              <a:lnSpc>
                <a:spcPct val="124000"/>
              </a:lnSpc>
              <a:buNone/>
            </a:pPr>
            <a:r>
              <a:rPr sz="1010" b="1" i="0">
                <a:solidFill>
                  <a:srgbClr val="FFFFFF"/>
                </a:solidFill>
                <a:latin typeface="Calibri"/>
              </a:rPr>
              <a:t>The organisation.</a:t>
            </a:r>
            <a:r>
              <a:rPr sz="1010" b="1" i="0">
                <a:solidFill>
                  <a:srgbClr val="FFFFFF"/>
                </a:solidFill>
                <a:latin typeface="Calibri"/>
              </a:rPr>
              <a:t>  Rajputana Dairy collects milk from 1,240 village societies, processes it at three plants, and distributes 42 products through 380 distributors across Rajasthan and Haryana. It runs an ERP for finance and inventory, a separate procurement system for village collection, a distributor management system supplied by a third party, and a payroll package. Annual turnover is about ₹ 890 crore.</a:t>
            </a:r>
          </a:p>
        </p:txBody>
      </p:sp>
      <p:sp>
        <p:nvSpPr>
          <p:cNvPr id="7" name="Rounded Rectangle 6"/>
          <p:cNvSpPr/>
          <p:nvPr/>
        </p:nvSpPr>
        <p:spPr>
          <a:xfrm>
            <a:off x="548640" y="2103120"/>
            <a:ext cx="5394960" cy="2139696"/>
          </a:xfrm>
          <a:prstGeom prst="roundRect">
            <a:avLst>
              <a:gd name="adj" fmla="val 3846"/>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8" name="Oval 7"/>
          <p:cNvSpPr/>
          <p:nvPr/>
        </p:nvSpPr>
        <p:spPr>
          <a:xfrm>
            <a:off x="749808" y="2313432"/>
            <a:ext cx="384048" cy="384048"/>
          </a:xfrm>
          <a:prstGeom prst="ellipse">
            <a:avLst/>
          </a:prstGeom>
          <a:solidFill>
            <a:srgbClr val="A63B26"/>
          </a:solidFill>
          <a:ln>
            <a:noFill/>
          </a:ln>
          <a:effectLst/>
        </p:spPr>
        <p:txBody>
          <a:bodyPr rtlCol="0" anchor="ctr" wrap="none" lIns="0" rIns="0" tIns="0" bIns="0"/>
          <a:lstStyle/>
          <a:p>
            <a:pPr algn="ctr"/>
            <a:r>
              <a:rPr sz="1250" b="1">
                <a:solidFill>
                  <a:srgbClr val="FFFFFF"/>
                </a:solidFill>
                <a:latin typeface="Calibri"/>
              </a:rPr>
              <a:t>!</a:t>
            </a:r>
          </a:p>
        </p:txBody>
      </p:sp>
      <p:sp>
        <p:nvSpPr>
          <p:cNvPr id="9" name="TextBox 8"/>
          <p:cNvSpPr txBox="1"/>
          <p:nvPr/>
        </p:nvSpPr>
        <p:spPr>
          <a:xfrm>
            <a:off x="1252728" y="2304288"/>
            <a:ext cx="4489704"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The complaints, as reported to the managing director</a:t>
            </a:r>
          </a:p>
        </p:txBody>
      </p:sp>
      <p:sp>
        <p:nvSpPr>
          <p:cNvPr id="10" name="TextBox 9"/>
          <p:cNvSpPr txBox="1"/>
          <p:nvPr/>
        </p:nvSpPr>
        <p:spPr>
          <a:xfrm>
            <a:off x="749808" y="2788920"/>
            <a:ext cx="4992624" cy="1325879"/>
          </a:xfrm>
          <a:prstGeom prst="rect">
            <a:avLst/>
          </a:prstGeom>
          <a:noFill/>
        </p:spPr>
        <p:txBody>
          <a:bodyPr wrap="square" lIns="0" rIns="0" tIns="0" bIns="0" anchor="t">
            <a:spAutoFit/>
          </a:bodyPr>
          <a:lstStyle/>
          <a:p>
            <a:pPr marL="177800" indent="-177800">
              <a:lnSpc>
                <a:spcPct val="118000"/>
              </a:lnSpc>
              <a:spcAft>
                <a:spcPts val="500"/>
              </a:spcAft>
              <a:buSzPct val="100000"/>
              <a:buChar char="•"/>
            </a:pPr>
            <a:r>
              <a:rPr sz="770" b="0" i="0">
                <a:solidFill>
                  <a:srgbClr val="2E3F47"/>
                </a:solidFill>
                <a:latin typeface="Calibri"/>
              </a:rPr>
              <a:t>“Three departments produce three different figures for last month's despatch volume, and all three can defend theirs.”</a:t>
            </a:r>
          </a:p>
          <a:p>
            <a:pPr marL="177800" indent="-177800">
              <a:lnSpc>
                <a:spcPct val="118000"/>
              </a:lnSpc>
              <a:spcAft>
                <a:spcPts val="500"/>
              </a:spcAft>
              <a:buSzPct val="100000"/>
              <a:buChar char="•"/>
            </a:pPr>
            <a:r>
              <a:rPr sz="770" b="0" i="0">
                <a:solidFill>
                  <a:srgbClr val="2E3F47"/>
                </a:solidFill>
                <a:latin typeface="Calibri"/>
              </a:rPr>
              <a:t>“The distributor-wise profitability report takes eleven days to prepare and is a fortnight out of date when it arrives.”</a:t>
            </a:r>
          </a:p>
          <a:p>
            <a:pPr marL="177800" indent="-177800">
              <a:lnSpc>
                <a:spcPct val="118000"/>
              </a:lnSpc>
              <a:spcAft>
                <a:spcPts val="500"/>
              </a:spcAft>
              <a:buSzPct val="100000"/>
              <a:buChar char="•"/>
            </a:pPr>
            <a:r>
              <a:rPr sz="770" b="0" i="0">
                <a:solidFill>
                  <a:srgbClr val="2E3F47"/>
                </a:solidFill>
                <a:latin typeface="Calibri"/>
              </a:rPr>
              <a:t>“Procurement cannot tell us what we paid per litre by society by fat content for last October — the rates were overwritten.”</a:t>
            </a:r>
          </a:p>
          <a:p>
            <a:pPr marL="177800" indent="-177800">
              <a:lnSpc>
                <a:spcPct val="118000"/>
              </a:lnSpc>
              <a:spcAft>
                <a:spcPts val="500"/>
              </a:spcAft>
              <a:buSzPct val="100000"/>
              <a:buChar char="•"/>
            </a:pPr>
            <a:r>
              <a:rPr sz="770" b="0" i="0">
                <a:solidFill>
                  <a:srgbClr val="2E3F47"/>
                </a:solidFill>
                <a:latin typeface="Calibri"/>
              </a:rPr>
              <a:t>“Every morning between 9 and 10 the ERP is unusable, and IT says it is the sales report.”</a:t>
            </a:r>
          </a:p>
          <a:p>
            <a:pPr marL="177800" indent="-177800">
              <a:lnSpc>
                <a:spcPct val="118000"/>
              </a:lnSpc>
              <a:spcAft>
                <a:spcPts val="500"/>
              </a:spcAft>
              <a:buSzPct val="100000"/>
              <a:buChar char="•"/>
            </a:pPr>
            <a:r>
              <a:rPr sz="770" b="0" i="0">
                <a:solidFill>
                  <a:srgbClr val="2E3F47"/>
                </a:solidFill>
                <a:latin typeface="Calibri"/>
              </a:rPr>
              <a:t>“Nobody can produce a single view of a distributor's purchases, payments and returns, because the three live in different systems.”</a:t>
            </a:r>
          </a:p>
        </p:txBody>
      </p:sp>
      <p:sp>
        <p:nvSpPr>
          <p:cNvPr id="11" name="Rounded Rectangle 10"/>
          <p:cNvSpPr/>
          <p:nvPr/>
        </p:nvSpPr>
        <p:spPr>
          <a:xfrm>
            <a:off x="6245352" y="2103120"/>
            <a:ext cx="5394960" cy="2139696"/>
          </a:xfrm>
          <a:prstGeom prst="roundRect">
            <a:avLst>
              <a:gd name="adj" fmla="val 3846"/>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12" name="Oval 11"/>
          <p:cNvSpPr/>
          <p:nvPr/>
        </p:nvSpPr>
        <p:spPr>
          <a:xfrm>
            <a:off x="6446520" y="2313432"/>
            <a:ext cx="384048" cy="384048"/>
          </a:xfrm>
          <a:prstGeom prst="ellipse">
            <a:avLst/>
          </a:prstGeom>
          <a:solidFill>
            <a:srgbClr val="1B7F79"/>
          </a:solidFill>
          <a:ln>
            <a:noFill/>
          </a:ln>
          <a:effectLst/>
        </p:spPr>
        <p:txBody>
          <a:bodyPr rtlCol="0" anchor="ctr" wrap="none" lIns="0" rIns="0" tIns="0" bIns="0"/>
          <a:lstStyle/>
          <a:p>
            <a:pPr algn="ctr"/>
            <a:r>
              <a:rPr sz="1250" b="1">
                <a:solidFill>
                  <a:srgbClr val="FFFFFF"/>
                </a:solidFill>
                <a:latin typeface="Calibri"/>
              </a:rPr>
              <a:t>?</a:t>
            </a:r>
          </a:p>
        </p:txBody>
      </p:sp>
      <p:sp>
        <p:nvSpPr>
          <p:cNvPr id="13" name="TextBox 12"/>
          <p:cNvSpPr txBox="1"/>
          <p:nvPr/>
        </p:nvSpPr>
        <p:spPr>
          <a:xfrm>
            <a:off x="6949440" y="2304288"/>
            <a:ext cx="4489704"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The diagnosis, complaint by complaint</a:t>
            </a:r>
          </a:p>
        </p:txBody>
      </p:sp>
      <p:sp>
        <p:nvSpPr>
          <p:cNvPr id="14" name="TextBox 13"/>
          <p:cNvSpPr txBox="1"/>
          <p:nvPr/>
        </p:nvSpPr>
        <p:spPr>
          <a:xfrm>
            <a:off x="6446520" y="2788920"/>
            <a:ext cx="4992624" cy="1325879"/>
          </a:xfrm>
          <a:prstGeom prst="rect">
            <a:avLst/>
          </a:prstGeom>
          <a:noFill/>
        </p:spPr>
        <p:txBody>
          <a:bodyPr wrap="square" lIns="0" rIns="0" tIns="0" bIns="0" anchor="t">
            <a:spAutoFit/>
          </a:bodyPr>
          <a:lstStyle/>
          <a:p>
            <a:pPr marL="177800" indent="-177800">
              <a:lnSpc>
                <a:spcPct val="118000"/>
              </a:lnSpc>
              <a:spcAft>
                <a:spcPts val="500"/>
              </a:spcAft>
              <a:buSzPct val="100000"/>
              <a:buChar char="•"/>
            </a:pPr>
            <a:r>
              <a:rPr sz="950" b="1" i="0">
                <a:solidFill>
                  <a:srgbClr val="2E3F47"/>
                </a:solidFill>
                <a:latin typeface="Calibri"/>
              </a:rPr>
              <a:t>1 → </a:t>
            </a:r>
            <a:r>
              <a:rPr sz="950" b="0" i="0">
                <a:solidFill>
                  <a:srgbClr val="2E3F47"/>
                </a:solidFill>
                <a:latin typeface="Calibri"/>
              </a:rPr>
              <a:t>No integration layer: each system defines despatch differently and nothing reconciles them</a:t>
            </a:r>
          </a:p>
          <a:p>
            <a:pPr marL="177800" indent="-177800">
              <a:lnSpc>
                <a:spcPct val="118000"/>
              </a:lnSpc>
              <a:spcAft>
                <a:spcPts val="500"/>
              </a:spcAft>
              <a:buSzPct val="100000"/>
              <a:buChar char="•"/>
            </a:pPr>
            <a:r>
              <a:rPr sz="950" b="1" i="0">
                <a:solidFill>
                  <a:srgbClr val="2E3F47"/>
                </a:solidFill>
                <a:latin typeface="Calibri"/>
              </a:rPr>
              <a:t>2 → </a:t>
            </a:r>
            <a:r>
              <a:rPr sz="950" b="0" i="0">
                <a:solidFill>
                  <a:srgbClr val="2E3F47"/>
                </a:solidFill>
                <a:latin typeface="Calibri"/>
              </a:rPr>
              <a:t>Manual assembly across systems because no integrated store exists</a:t>
            </a:r>
          </a:p>
          <a:p>
            <a:pPr marL="177800" indent="-177800">
              <a:lnSpc>
                <a:spcPct val="118000"/>
              </a:lnSpc>
              <a:spcAft>
                <a:spcPts val="500"/>
              </a:spcAft>
              <a:buSzPct val="100000"/>
              <a:buChar char="•"/>
            </a:pPr>
            <a:r>
              <a:rPr sz="950" b="1" i="0">
                <a:solidFill>
                  <a:srgbClr val="2E3F47"/>
                </a:solidFill>
                <a:latin typeface="Calibri"/>
              </a:rPr>
              <a:t>3 → </a:t>
            </a:r>
            <a:r>
              <a:rPr sz="950" b="0" i="0">
                <a:solidFill>
                  <a:srgbClr val="2E3F47"/>
                </a:solidFill>
                <a:latin typeface="Calibri"/>
              </a:rPr>
              <a:t>No time-variance: the rate table is Type 1, so history was destroyed on update</a:t>
            </a:r>
          </a:p>
          <a:p>
            <a:pPr marL="177800" indent="-177800">
              <a:lnSpc>
                <a:spcPct val="118000"/>
              </a:lnSpc>
              <a:spcAft>
                <a:spcPts val="500"/>
              </a:spcAft>
              <a:buSzPct val="100000"/>
              <a:buChar char="•"/>
            </a:pPr>
            <a:r>
              <a:rPr sz="950" b="1" i="0">
                <a:solidFill>
                  <a:srgbClr val="2E3F47"/>
                </a:solidFill>
                <a:latin typeface="Calibri"/>
              </a:rPr>
              <a:t>4 → </a:t>
            </a:r>
            <a:r>
              <a:rPr sz="950" b="0" i="0">
                <a:solidFill>
                  <a:srgbClr val="2E3F47"/>
                </a:solidFill>
                <a:latin typeface="Calibri"/>
              </a:rPr>
              <a:t>Analytical query running against the OLTP row store, evicting the transactional cache</a:t>
            </a:r>
          </a:p>
          <a:p>
            <a:pPr marL="177800" indent="-177800">
              <a:lnSpc>
                <a:spcPct val="118000"/>
              </a:lnSpc>
              <a:spcAft>
                <a:spcPts val="500"/>
              </a:spcAft>
              <a:buSzPct val="100000"/>
              <a:buChar char="•"/>
            </a:pPr>
            <a:r>
              <a:rPr sz="950" b="1" i="0">
                <a:solidFill>
                  <a:srgbClr val="2E3F47"/>
                </a:solidFill>
                <a:latin typeface="Calibri"/>
              </a:rPr>
              <a:t>5 → </a:t>
            </a:r>
            <a:r>
              <a:rPr sz="950" b="0" i="0">
                <a:solidFill>
                  <a:srgbClr val="2E3F47"/>
                </a:solidFill>
                <a:latin typeface="Calibri"/>
              </a:rPr>
              <a:t>No conformed distributor dimension; three systems, three keys, no match</a:t>
            </a:r>
          </a:p>
        </p:txBody>
      </p:sp>
      <p:sp>
        <p:nvSpPr>
          <p:cNvPr id="15" name="Rounded Rectangle 14"/>
          <p:cNvSpPr/>
          <p:nvPr/>
        </p:nvSpPr>
        <p:spPr>
          <a:xfrm>
            <a:off x="548640" y="4389120"/>
            <a:ext cx="11091672" cy="786384"/>
          </a:xfrm>
          <a:prstGeom prst="roundRect">
            <a:avLst>
              <a:gd name="adj" fmla="val 10465"/>
            </a:avLst>
          </a:prstGeom>
          <a:solidFill>
            <a:srgbClr val="123B47"/>
          </a:solidFill>
          <a:ln>
            <a:noFill/>
          </a:ln>
          <a:effectLst>
            <a:outerShdw blurRad="76200" dist="12700" dir="5400000" algn="bl" rotWithShape="0">
              <a:srgbClr val="9FB3B0">
                <a:alpha val="28000"/>
              </a:srgbClr>
            </a:outerShdw>
          </a:effectLst>
        </p:spPr>
        <p:txBody>
          <a:bodyPr rtlCol="0" anchor="ctr"/>
          <a:lstStyle/>
          <a:p/>
        </p:txBody>
      </p:sp>
      <p:sp>
        <p:nvSpPr>
          <p:cNvPr id="16" name="TextBox 15"/>
          <p:cNvSpPr txBox="1"/>
          <p:nvPr/>
        </p:nvSpPr>
        <p:spPr>
          <a:xfrm>
            <a:off x="768096" y="4462272"/>
            <a:ext cx="10652760" cy="640080"/>
          </a:xfrm>
          <a:prstGeom prst="rect">
            <a:avLst/>
          </a:prstGeom>
          <a:noFill/>
        </p:spPr>
        <p:txBody>
          <a:bodyPr wrap="square" lIns="0" rIns="0" tIns="0" bIns="0" anchor="ctr">
            <a:spAutoFit/>
          </a:bodyPr>
          <a:lstStyle/>
          <a:p>
            <a:pPr marL="0" indent="0">
              <a:lnSpc>
                <a:spcPct val="124000"/>
              </a:lnSpc>
              <a:buNone/>
            </a:pPr>
            <a:r>
              <a:rPr sz="1100" b="1" i="0">
                <a:solidFill>
                  <a:srgbClr val="FFFFFF"/>
                </a:solidFill>
                <a:latin typeface="Calibri"/>
              </a:rPr>
              <a:t>The observation worth making to the managing director.</a:t>
            </a:r>
            <a:r>
              <a:rPr sz="1100" b="1" i="0">
                <a:solidFill>
                  <a:srgbClr val="FFFFFF"/>
                </a:solidFill>
                <a:latin typeface="Calibri"/>
              </a:rPr>
              <a:t>  Not one of these five complaints is a reporting problem, and not one of them will be solved by buying a visualisation tool. Four are direct consequences of having no analytical store, and the fifth — the morning outage — is a direct consequence of not having one. This is the conversation in which a BI programme is either correctly scoped or set up to fail.</a:t>
            </a:r>
          </a:p>
        </p:txBody>
      </p:sp>
      <p:sp>
        <p:nvSpPr>
          <p:cNvPr id="17" name="Rounded Rectangle 16"/>
          <p:cNvSpPr/>
          <p:nvPr/>
        </p:nvSpPr>
        <p:spPr>
          <a:xfrm>
            <a:off x="548640" y="5266944"/>
            <a:ext cx="11091672" cy="384048"/>
          </a:xfrm>
          <a:prstGeom prst="roundRect">
            <a:avLst>
              <a:gd name="adj" fmla="val 21428"/>
            </a:avLst>
          </a:prstGeom>
          <a:solidFill>
            <a:srgbClr val="FBEBD1"/>
          </a:solidFill>
          <a:ln w="12700">
            <a:solidFill>
              <a:srgbClr val="EFD9AE"/>
            </a:solidFill>
          </a:ln>
          <a:effectLst/>
        </p:spPr>
        <p:txBody>
          <a:bodyPr rtlCol="0" anchor="ctr"/>
          <a:lstStyle/>
          <a:p/>
        </p:txBody>
      </p:sp>
      <p:sp>
        <p:nvSpPr>
          <p:cNvPr id="18" name="TextBox 17"/>
          <p:cNvSpPr txBox="1"/>
          <p:nvPr/>
        </p:nvSpPr>
        <p:spPr>
          <a:xfrm>
            <a:off x="768096" y="5312664"/>
            <a:ext cx="10652760" cy="292607"/>
          </a:xfrm>
          <a:prstGeom prst="rect">
            <a:avLst/>
          </a:prstGeom>
          <a:noFill/>
        </p:spPr>
        <p:txBody>
          <a:bodyPr wrap="square" lIns="0" rIns="0" tIns="0" bIns="0" anchor="ctr">
            <a:spAutoFit/>
          </a:bodyPr>
          <a:lstStyle/>
          <a:p>
            <a:pPr marL="0" indent="0">
              <a:lnSpc>
                <a:spcPct val="124000"/>
              </a:lnSpc>
              <a:buNone/>
            </a:pPr>
            <a:r>
              <a:rPr sz="1100" b="1" i="0">
                <a:solidFill>
                  <a:srgbClr val="6A4A0F"/>
                </a:solidFill>
                <a:latin typeface="Calibri"/>
              </a:rPr>
              <a:t>Note also what is not wrong.</a:t>
            </a:r>
            <a:r>
              <a:rPr sz="1100" b="1" i="0">
                <a:solidFill>
                  <a:srgbClr val="6A4A0F"/>
                </a:solidFill>
                <a:latin typeface="Calibri"/>
              </a:rPr>
              <a:t>  The ERP is not defective; the distributor system is not badly written; the analysts are not incompetent.</a:t>
            </a:r>
          </a:p>
        </p:txBody>
      </p:sp>
      <p:sp>
        <p:nvSpPr>
          <p:cNvPr id="19" name="Rounded Rectangle 18"/>
          <p:cNvSpPr/>
          <p:nvPr/>
        </p:nvSpPr>
        <p:spPr>
          <a:xfrm>
            <a:off x="548640" y="5742432"/>
            <a:ext cx="11091672" cy="402336"/>
          </a:xfrm>
          <a:prstGeom prst="roundRect">
            <a:avLst>
              <a:gd name="adj" fmla="val 20454"/>
            </a:avLst>
          </a:prstGeom>
          <a:solidFill>
            <a:srgbClr val="D8E9E7"/>
          </a:solidFill>
          <a:ln w="12700">
            <a:solidFill>
              <a:srgbClr val="BBD6D3"/>
            </a:solidFill>
          </a:ln>
          <a:effectLst/>
        </p:spPr>
        <p:txBody>
          <a:bodyPr rtlCol="0" anchor="ctr"/>
          <a:lstStyle/>
          <a:p/>
        </p:txBody>
      </p:sp>
      <p:sp>
        <p:nvSpPr>
          <p:cNvPr id="20" name="TextBox 19"/>
          <p:cNvSpPr txBox="1"/>
          <p:nvPr/>
        </p:nvSpPr>
        <p:spPr>
          <a:xfrm>
            <a:off x="768096" y="5779008"/>
            <a:ext cx="10652760" cy="329184"/>
          </a:xfrm>
          <a:prstGeom prst="rect">
            <a:avLst/>
          </a:prstGeom>
          <a:noFill/>
        </p:spPr>
        <p:txBody>
          <a:bodyPr wrap="square" lIns="0" rIns="0" tIns="0" bIns="0" anchor="ctr">
            <a:spAutoFit/>
          </a:bodyPr>
          <a:lstStyle/>
          <a:p>
            <a:pPr marL="0" indent="0">
              <a:lnSpc>
                <a:spcPct val="124000"/>
              </a:lnSpc>
              <a:buNone/>
            </a:pPr>
            <a:r>
              <a:rPr sz="990" b="1" i="0">
                <a:solidFill>
                  <a:srgbClr val="17454E"/>
                </a:solidFill>
                <a:latin typeface="Calibri"/>
              </a:rPr>
              <a:t>The estimate the board will ask for.</a:t>
            </a:r>
            <a:r>
              <a:rPr sz="990" b="1" i="0">
                <a:solidFill>
                  <a:srgbClr val="17454E"/>
                </a:solidFill>
                <a:latin typeface="Calibri"/>
              </a:rPr>
              <a:t>  For an organisation of this size: a first mart in four to five months, full scope in twelve to fifteen, with roughly two-thirds of the effort in integration rather than in tooling.</a:t>
            </a:r>
          </a:p>
        </p:txBody>
      </p:sp>
      <p:sp>
        <p:nvSpPr>
          <p:cNvPr id="21" name="TextBox 20"/>
          <p:cNvSpPr txBox="1"/>
          <p:nvPr/>
        </p:nvSpPr>
        <p:spPr>
          <a:xfrm>
            <a:off x="548640" y="6382512"/>
            <a:ext cx="8686800" cy="256032"/>
          </a:xfrm>
          <a:prstGeom prst="rect">
            <a:avLst/>
          </a:prstGeom>
          <a:noFill/>
        </p:spPr>
        <p:txBody>
          <a:bodyPr wrap="square" lIns="0" rIns="0" tIns="0" bIns="0" anchor="t">
            <a:spAutoFit/>
          </a:bodyPr>
          <a:lstStyle/>
          <a:p>
            <a:pPr algn="l" marL="0" indent="0">
              <a:buNone/>
            </a:pPr>
            <a:r>
              <a:rPr sz="900" b="0" i="0">
                <a:solidFill>
                  <a:srgbClr val="5C7079"/>
                </a:solidFill>
                <a:latin typeface="Calibri"/>
              </a:rPr>
              <a:t>Business Intelligence  |  Session 6 — Data Warehousing &amp; OLTP/OLAP  |  IILM Jaipur, MBA</a:t>
            </a:r>
          </a:p>
        </p:txBody>
      </p:sp>
      <p:sp>
        <p:nvSpPr>
          <p:cNvPr id="22" name="TextBox 21"/>
          <p:cNvSpPr txBox="1"/>
          <p:nvPr/>
        </p:nvSpPr>
        <p:spPr>
          <a:xfrm>
            <a:off x="10543032" y="6382512"/>
            <a:ext cx="1097280" cy="256032"/>
          </a:xfrm>
          <a:prstGeom prst="rect">
            <a:avLst/>
          </a:prstGeom>
          <a:noFill/>
        </p:spPr>
        <p:txBody>
          <a:bodyPr wrap="square" lIns="0" rIns="0" tIns="0" bIns="0" anchor="t">
            <a:spAutoFit/>
          </a:bodyPr>
          <a:lstStyle/>
          <a:p>
            <a:pPr algn="r" marL="0" indent="0">
              <a:buNone/>
            </a:pPr>
            <a:r>
              <a:rPr sz="950" b="1" i="0">
                <a:solidFill>
                  <a:srgbClr val="1B7F79"/>
                </a:solidFill>
                <a:latin typeface="Calibr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374904"/>
            <a:ext cx="109728" cy="109728"/>
          </a:xfrm>
          <a:prstGeom prst="ellipse">
            <a:avLst/>
          </a:prstGeom>
          <a:solidFill>
            <a:srgbClr val="E8A33D"/>
          </a:solidFill>
          <a:ln>
            <a:noFill/>
          </a:ln>
          <a:effectLst/>
        </p:spPr>
        <p:txBody>
          <a:bodyPr rtlCol="0" anchor="ctr" wrap="none" lIns="0" rIns="0" tIns="0" bIns="0"/>
          <a:lstStyle/>
          <a:p>
            <a:pPr algn="ctr"/>
          </a:p>
        </p:txBody>
      </p:sp>
      <p:sp>
        <p:nvSpPr>
          <p:cNvPr id="3" name="TextBox 2"/>
          <p:cNvSpPr txBox="1"/>
          <p:nvPr/>
        </p:nvSpPr>
        <p:spPr>
          <a:xfrm>
            <a:off x="749808" y="283464"/>
            <a:ext cx="10890504" cy="256032"/>
          </a:xfrm>
          <a:prstGeom prst="rect">
            <a:avLst/>
          </a:prstGeom>
          <a:noFill/>
        </p:spPr>
        <p:txBody>
          <a:bodyPr wrap="square" lIns="0" rIns="0" tIns="0" bIns="0" anchor="t">
            <a:spAutoFit/>
          </a:bodyPr>
          <a:lstStyle/>
          <a:p>
            <a:pPr marL="0" indent="0">
              <a:buNone/>
            </a:pPr>
            <a:r>
              <a:rPr sz="1000" b="1" i="0">
                <a:solidFill>
                  <a:srgbClr val="B87A1E"/>
                </a:solidFill>
                <a:latin typeface="Calibri"/>
              </a:rPr>
              <a:t>PART 4 · WORKED CASE</a:t>
            </a:r>
          </a:p>
        </p:txBody>
      </p:sp>
      <p:sp>
        <p:nvSpPr>
          <p:cNvPr id="4" name="TextBox 3"/>
          <p:cNvSpPr txBox="1"/>
          <p:nvPr/>
        </p:nvSpPr>
        <p:spPr>
          <a:xfrm>
            <a:off x="548640" y="548640"/>
            <a:ext cx="11091672" cy="640080"/>
          </a:xfrm>
          <a:prstGeom prst="rect">
            <a:avLst/>
          </a:prstGeom>
          <a:noFill/>
        </p:spPr>
        <p:txBody>
          <a:bodyPr wrap="square" lIns="0" rIns="0" tIns="0" bIns="0" anchor="t">
            <a:spAutoFit/>
          </a:bodyPr>
          <a:lstStyle/>
          <a:p>
            <a:pPr algn="l" marL="0" indent="0">
              <a:buNone/>
            </a:pPr>
            <a:r>
              <a:rPr sz="2700" b="1" i="0">
                <a:solidFill>
                  <a:srgbClr val="123B47"/>
                </a:solidFill>
                <a:latin typeface="Cambria"/>
              </a:rPr>
              <a:t>Rajputana Dairy Ltd: the architecture and the result</a:t>
            </a:r>
          </a:p>
        </p:txBody>
      </p:sp>
      <p:graphicFrame>
        <p:nvGraphicFramePr>
          <p:cNvPr id="5" name="Table 4"/>
          <p:cNvGraphicFramePr>
            <a:graphicFrameLocks noGrp="1"/>
          </p:cNvGraphicFramePr>
          <p:nvPr/>
        </p:nvGraphicFramePr>
        <p:xfrm>
          <a:off x="548640" y="1316736"/>
          <a:ext cx="11091672" cy="3264408"/>
        </p:xfrm>
        <a:graphic>
          <a:graphicData uri="http://schemas.openxmlformats.org/drawingml/2006/table">
            <a:tbl>
              <a:tblPr bandRow="0" firstRow="0"/>
              <a:tblGrid>
                <a:gridCol w="1965960"/>
                <a:gridCol w="5166360"/>
                <a:gridCol w="3959352"/>
              </a:tblGrid>
              <a:tr h="466344">
                <a:tc>
                  <a:txBody>
                    <a:bodyPr wrap="square"/>
                    <a:lstStyle/>
                    <a:p>
                      <a:pPr marL="0" indent="0">
                        <a:buNone/>
                        <a:defRPr sz="1010"/>
                      </a:pPr>
                      <a:r>
                        <a:rPr sz="1010" b="1">
                          <a:solidFill>
                            <a:srgbClr val="FFFFFF"/>
                          </a:solidFill>
                          <a:latin typeface="Calibri"/>
                        </a:rPr>
                        <a:t>Layer</a:t>
                      </a:r>
                      <a:endParaRPr lang="en-US" sz="101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123B47"/>
                    </a:solidFill>
                  </a:tcPr>
                </a:tc>
                <a:tc>
                  <a:txBody>
                    <a:bodyPr wrap="square"/>
                    <a:lstStyle/>
                    <a:p>
                      <a:pPr marL="0" indent="0">
                        <a:buNone/>
                        <a:defRPr sz="1010"/>
                      </a:pPr>
                      <a:r>
                        <a:rPr sz="1010" b="1">
                          <a:solidFill>
                            <a:srgbClr val="FFFFFF"/>
                          </a:solidFill>
                          <a:latin typeface="Calibri"/>
                        </a:rPr>
                        <a:t>What was built</a:t>
                      </a:r>
                      <a:endParaRPr lang="en-US" sz="101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123B47"/>
                    </a:solidFill>
                  </a:tcPr>
                </a:tc>
                <a:tc>
                  <a:txBody>
                    <a:bodyPr wrap="square"/>
                    <a:lstStyle/>
                    <a:p>
                      <a:pPr marL="0" indent="0">
                        <a:buNone/>
                        <a:defRPr sz="1010"/>
                      </a:pPr>
                      <a:r>
                        <a:rPr sz="1010" b="1">
                          <a:solidFill>
                            <a:srgbClr val="FFFFFF"/>
                          </a:solidFill>
                          <a:latin typeface="Calibri"/>
                        </a:rPr>
                        <a:t>Which complaint it addresses</a:t>
                      </a:r>
                      <a:endParaRPr lang="en-US" sz="101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123B47"/>
                    </a:solidFill>
                  </a:tcPr>
                </a:tc>
              </a:tr>
              <a:tr h="466344">
                <a:tc>
                  <a:txBody>
                    <a:bodyPr wrap="square"/>
                    <a:lstStyle/>
                    <a:p>
                      <a:pPr marL="0" indent="0">
                        <a:buNone/>
                        <a:defRPr sz="940"/>
                      </a:pPr>
                      <a:r>
                        <a:rPr sz="940" b="1">
                          <a:solidFill>
                            <a:srgbClr val="2E3F47"/>
                          </a:solidFill>
                          <a:latin typeface="Calibri"/>
                        </a:rPr>
                        <a:t>Staging (bronze)</a:t>
                      </a:r>
                      <a:endParaRPr lang="en-US" sz="94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40"/>
                      </a:pPr>
                      <a:r>
                        <a:rPr sz="940" b="0">
                          <a:solidFill>
                            <a:srgbClr val="2E3F47"/>
                          </a:solidFill>
                          <a:latin typeface="Calibri"/>
                        </a:rPr>
                        <a:t>Nightly extracts from ERP, procurement and payroll; daily API pull from the distributor system; raw files retained 90 days</a:t>
                      </a:r>
                      <a:endParaRPr lang="en-US" sz="94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40"/>
                      </a:pPr>
                      <a:r>
                        <a:rPr sz="940" b="0">
                          <a:solidFill>
                            <a:srgbClr val="2E3F47"/>
                          </a:solidFill>
                          <a:latin typeface="Calibri"/>
                        </a:rPr>
                        <a:t>4 — extraction moved to 01:30, isolating the ERP from analytical load</a:t>
                      </a:r>
                      <a:endParaRPr lang="en-US" sz="94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r>
              <a:tr h="466344">
                <a:tc>
                  <a:txBody>
                    <a:bodyPr wrap="square"/>
                    <a:lstStyle/>
                    <a:p>
                      <a:pPr marL="0" indent="0">
                        <a:buNone/>
                        <a:defRPr sz="940"/>
                      </a:pPr>
                      <a:r>
                        <a:rPr sz="940" b="1">
                          <a:solidFill>
                            <a:srgbClr val="2E3F47"/>
                          </a:solidFill>
                          <a:latin typeface="Calibri"/>
                        </a:rPr>
                        <a:t>Integration (silver)</a:t>
                      </a:r>
                      <a:endParaRPr lang="en-US" sz="94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40"/>
                      </a:pPr>
                      <a:r>
                        <a:rPr sz="940" b="0">
                          <a:solidFill>
                            <a:srgbClr val="2E3F47"/>
                          </a:solidFill>
                          <a:latin typeface="Calibri"/>
                        </a:rPr>
                        <a:t>Conformed distributor, society, product, plant and calendar dimensions; a single despatch definition agreed and signed off by three heads</a:t>
                      </a:r>
                      <a:endParaRPr lang="en-US" sz="94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40"/>
                      </a:pPr>
                      <a:r>
                        <a:rPr sz="940" b="0">
                          <a:solidFill>
                            <a:srgbClr val="2E3F47"/>
                          </a:solidFill>
                          <a:latin typeface="Calibri"/>
                        </a:rPr>
                        <a:t>1 and 5 — one definition, one distributor key, one reconciliation</a:t>
                      </a:r>
                      <a:endParaRPr lang="en-US" sz="94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r>
              <a:tr h="466344">
                <a:tc>
                  <a:txBody>
                    <a:bodyPr wrap="square"/>
                    <a:lstStyle/>
                    <a:p>
                      <a:pPr marL="0" indent="0">
                        <a:buNone/>
                        <a:defRPr sz="940"/>
                      </a:pPr>
                      <a:r>
                        <a:rPr sz="940" b="1">
                          <a:solidFill>
                            <a:srgbClr val="2E3F47"/>
                          </a:solidFill>
                          <a:latin typeface="Calibri"/>
                        </a:rPr>
                        <a:t>Warehouse (gold)</a:t>
                      </a:r>
                      <a:endParaRPr lang="en-US" sz="94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40"/>
                      </a:pPr>
                      <a:r>
                        <a:rPr sz="940" b="0">
                          <a:solidFill>
                            <a:srgbClr val="2E3F47"/>
                          </a:solidFill>
                          <a:latin typeface="Calibri"/>
                        </a:rPr>
                        <a:t>Star schemas at the finest available grain: one row per despatch line, one row per collection entry per society per shift</a:t>
                      </a:r>
                      <a:endParaRPr lang="en-US" sz="94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40"/>
                      </a:pPr>
                      <a:r>
                        <a:rPr sz="940" b="0">
                          <a:solidFill>
                            <a:srgbClr val="2E3F47"/>
                          </a:solidFill>
                          <a:latin typeface="Calibri"/>
                        </a:rPr>
                        <a:t>2 — distributor profitability becomes a query rather than an assembly</a:t>
                      </a:r>
                      <a:endParaRPr lang="en-US" sz="94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r>
              <a:tr h="466344">
                <a:tc>
                  <a:txBody>
                    <a:bodyPr wrap="square"/>
                    <a:lstStyle/>
                    <a:p>
                      <a:pPr marL="0" indent="0">
                        <a:buNone/>
                        <a:defRPr sz="940"/>
                      </a:pPr>
                      <a:r>
                        <a:rPr sz="940" b="1">
                          <a:solidFill>
                            <a:srgbClr val="2E3F47"/>
                          </a:solidFill>
                          <a:latin typeface="Calibri"/>
                        </a:rPr>
                        <a:t>History</a:t>
                      </a:r>
                      <a:endParaRPr lang="en-US" sz="94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40"/>
                      </a:pPr>
                      <a:r>
                        <a:rPr sz="940" b="0">
                          <a:solidFill>
                            <a:srgbClr val="2E3F47"/>
                          </a:solidFill>
                          <a:latin typeface="Calibri"/>
                        </a:rPr>
                        <a:t>Type 2 on procurement rate, distributor territory, product price and society grade, with effective dating</a:t>
                      </a:r>
                      <a:endParaRPr lang="en-US" sz="94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40"/>
                      </a:pPr>
                      <a:r>
                        <a:rPr sz="940" b="0">
                          <a:solidFill>
                            <a:srgbClr val="2E3F47"/>
                          </a:solidFill>
                          <a:latin typeface="Calibri"/>
                        </a:rPr>
                        <a:t>3 — October's rates are recoverable, by society and fat band</a:t>
                      </a:r>
                      <a:endParaRPr lang="en-US" sz="94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r>
              <a:tr h="466344">
                <a:tc>
                  <a:txBody>
                    <a:bodyPr wrap="square"/>
                    <a:lstStyle/>
                    <a:p>
                      <a:pPr marL="0" indent="0">
                        <a:buNone/>
                        <a:defRPr sz="940"/>
                      </a:pPr>
                      <a:r>
                        <a:rPr sz="940" b="1">
                          <a:solidFill>
                            <a:srgbClr val="2E3F47"/>
                          </a:solidFill>
                          <a:latin typeface="Calibri"/>
                        </a:rPr>
                        <a:t>Marts and semantic layer</a:t>
                      </a:r>
                      <a:endParaRPr lang="en-US" sz="94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40"/>
                      </a:pPr>
                      <a:r>
                        <a:rPr sz="940" b="0">
                          <a:solidFill>
                            <a:srgbClr val="2E3F47"/>
                          </a:solidFill>
                          <a:latin typeface="Calibri"/>
                        </a:rPr>
                        <a:t>Three marts — procurement, distribution, finance — over the shared dimensions, with a governed measure catalogue</a:t>
                      </a:r>
                      <a:endParaRPr lang="en-US" sz="94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40"/>
                      </a:pPr>
                      <a:r>
                        <a:rPr sz="940" b="0">
                          <a:solidFill>
                            <a:srgbClr val="2E3F47"/>
                          </a:solidFill>
                          <a:latin typeface="Calibri"/>
                        </a:rPr>
                        <a:t>Supports drill-across between collection and despatch</a:t>
                      </a:r>
                      <a:endParaRPr lang="en-US" sz="94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r>
              <a:tr h="466344">
                <a:tc>
                  <a:txBody>
                    <a:bodyPr wrap="square"/>
                    <a:lstStyle/>
                    <a:p>
                      <a:pPr marL="0" indent="0">
                        <a:buNone/>
                        <a:defRPr sz="940"/>
                      </a:pPr>
                      <a:r>
                        <a:rPr sz="940" b="1">
                          <a:solidFill>
                            <a:srgbClr val="2E3F47"/>
                          </a:solidFill>
                          <a:latin typeface="Calibri"/>
                        </a:rPr>
                        <a:t>Delivery</a:t>
                      </a:r>
                      <a:endParaRPr lang="en-US" sz="94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40"/>
                      </a:pPr>
                      <a:r>
                        <a:rPr sz="940" b="0">
                          <a:solidFill>
                            <a:srgbClr val="2E3F47"/>
                          </a:solidFill>
                          <a:latin typeface="Calibri"/>
                        </a:rPr>
                        <a:t>One operational dashboard per plant, one tactical dashboard per zone, a monthly board scorecard</a:t>
                      </a:r>
                      <a:endParaRPr lang="en-US" sz="94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40"/>
                      </a:pPr>
                      <a:r>
                        <a:rPr sz="940" b="0">
                          <a:solidFill>
                            <a:srgbClr val="2E3F47"/>
                          </a:solidFill>
                          <a:latin typeface="Calibri"/>
                        </a:rPr>
                        <a:t>Applies the Session 4 design rules to the outputs</a:t>
                      </a:r>
                      <a:endParaRPr lang="en-US" sz="94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r>
            </a:tbl>
          </a:graphicData>
        </a:graphic>
      </p:graphicFrame>
      <p:sp>
        <p:nvSpPr>
          <p:cNvPr id="6" name="Rounded Rectangle 5"/>
          <p:cNvSpPr/>
          <p:nvPr/>
        </p:nvSpPr>
        <p:spPr>
          <a:xfrm>
            <a:off x="548640" y="4718304"/>
            <a:ext cx="11091672" cy="768096"/>
          </a:xfrm>
          <a:prstGeom prst="roundRect">
            <a:avLst>
              <a:gd name="adj" fmla="val 10714"/>
            </a:avLst>
          </a:prstGeom>
          <a:solidFill>
            <a:srgbClr val="123B47"/>
          </a:solidFill>
          <a:ln>
            <a:noFill/>
          </a:ln>
          <a:effectLst>
            <a:outerShdw blurRad="76200" dist="12700" dir="5400000" algn="bl" rotWithShape="0">
              <a:srgbClr val="9FB3B0">
                <a:alpha val="28000"/>
              </a:srgbClr>
            </a:outerShdw>
          </a:effectLst>
        </p:spPr>
        <p:txBody>
          <a:bodyPr rtlCol="0" anchor="ctr"/>
          <a:lstStyle/>
          <a:p/>
        </p:txBody>
      </p:sp>
      <p:sp>
        <p:nvSpPr>
          <p:cNvPr id="7" name="TextBox 6"/>
          <p:cNvSpPr txBox="1"/>
          <p:nvPr/>
        </p:nvSpPr>
        <p:spPr>
          <a:xfrm>
            <a:off x="768096" y="4791456"/>
            <a:ext cx="10652760" cy="621792"/>
          </a:xfrm>
          <a:prstGeom prst="rect">
            <a:avLst/>
          </a:prstGeom>
          <a:noFill/>
        </p:spPr>
        <p:txBody>
          <a:bodyPr wrap="square" lIns="0" rIns="0" tIns="0" bIns="0" anchor="ctr">
            <a:spAutoFit/>
          </a:bodyPr>
          <a:lstStyle/>
          <a:p>
            <a:pPr marL="0" indent="0">
              <a:lnSpc>
                <a:spcPct val="124000"/>
              </a:lnSpc>
              <a:buNone/>
            </a:pPr>
            <a:r>
              <a:rPr sz="1080" b="1" i="0">
                <a:solidFill>
                  <a:srgbClr val="FFFFFF"/>
                </a:solidFill>
                <a:latin typeface="Calibri"/>
              </a:rPr>
              <a:t>The result after two quarters, stated the way a board expects it.</a:t>
            </a:r>
            <a:r>
              <a:rPr sz="1080" b="1" i="0">
                <a:solidFill>
                  <a:srgbClr val="FFFFFF"/>
                </a:solidFill>
                <a:latin typeface="Calibri"/>
              </a:rPr>
              <a:t>  Distributor profitability moved from eleven days to a same-day refresh. The morning ERP contention disappeared entirely. The despatch figure now has one owner and one definition, and the three departments reconcile monthly instead of arguing. Procurement recovered the ability to analyse rate history, which found ₹ 1.9 crore of annual overpayment against the published fat-band schedule — a benefit that on its own paid for the programme.</a:t>
            </a:r>
          </a:p>
        </p:txBody>
      </p:sp>
      <p:sp>
        <p:nvSpPr>
          <p:cNvPr id="8" name="Rounded Rectangle 7"/>
          <p:cNvSpPr/>
          <p:nvPr/>
        </p:nvSpPr>
        <p:spPr>
          <a:xfrm>
            <a:off x="548640" y="5614416"/>
            <a:ext cx="11091672" cy="512064"/>
          </a:xfrm>
          <a:prstGeom prst="roundRect">
            <a:avLst>
              <a:gd name="adj" fmla="val 16071"/>
            </a:avLst>
          </a:prstGeom>
          <a:solidFill>
            <a:srgbClr val="FBEBD1"/>
          </a:solidFill>
          <a:ln w="12700">
            <a:solidFill>
              <a:srgbClr val="EFD9AE"/>
            </a:solidFill>
          </a:ln>
          <a:effectLst/>
        </p:spPr>
        <p:txBody>
          <a:bodyPr rtlCol="0" anchor="ctr"/>
          <a:lstStyle/>
          <a:p/>
        </p:txBody>
      </p:sp>
      <p:sp>
        <p:nvSpPr>
          <p:cNvPr id="9" name="TextBox 8"/>
          <p:cNvSpPr txBox="1"/>
          <p:nvPr/>
        </p:nvSpPr>
        <p:spPr>
          <a:xfrm>
            <a:off x="768096" y="5669279"/>
            <a:ext cx="10652760" cy="402336"/>
          </a:xfrm>
          <a:prstGeom prst="rect">
            <a:avLst/>
          </a:prstGeom>
          <a:noFill/>
        </p:spPr>
        <p:txBody>
          <a:bodyPr wrap="square" lIns="0" rIns="0" tIns="0" bIns="0" anchor="ctr">
            <a:spAutoFit/>
          </a:bodyPr>
          <a:lstStyle/>
          <a:p>
            <a:pPr marL="0" indent="0">
              <a:lnSpc>
                <a:spcPct val="124000"/>
              </a:lnSpc>
              <a:buNone/>
            </a:pPr>
            <a:r>
              <a:rPr sz="1030" b="1" i="0">
                <a:solidFill>
                  <a:srgbClr val="6A4A0F"/>
                </a:solidFill>
                <a:latin typeface="Calibri"/>
              </a:rPr>
              <a:t>The lesson to carry into the activity.</a:t>
            </a:r>
            <a:r>
              <a:rPr sz="1030" b="1" i="0">
                <a:solidFill>
                  <a:srgbClr val="6A4A0F"/>
                </a:solidFill>
                <a:latin typeface="Calibri"/>
              </a:rPr>
              <a:t>  The architecture was not chosen for elegance. Each layer was justified by a named complaint, and each complaint was traceable to a missing property of an analytical store. That is how an architecture proposal should be written and defended.</a:t>
            </a:r>
          </a:p>
        </p:txBody>
      </p:sp>
      <p:sp>
        <p:nvSpPr>
          <p:cNvPr id="10" name="TextBox 9"/>
          <p:cNvSpPr txBox="1"/>
          <p:nvPr/>
        </p:nvSpPr>
        <p:spPr>
          <a:xfrm>
            <a:off x="548640" y="6382512"/>
            <a:ext cx="8686800" cy="256032"/>
          </a:xfrm>
          <a:prstGeom prst="rect">
            <a:avLst/>
          </a:prstGeom>
          <a:noFill/>
        </p:spPr>
        <p:txBody>
          <a:bodyPr wrap="square" lIns="0" rIns="0" tIns="0" bIns="0" anchor="t">
            <a:spAutoFit/>
          </a:bodyPr>
          <a:lstStyle/>
          <a:p>
            <a:pPr algn="l" marL="0" indent="0">
              <a:buNone/>
            </a:pPr>
            <a:r>
              <a:rPr sz="900" b="0" i="0">
                <a:solidFill>
                  <a:srgbClr val="5C7079"/>
                </a:solidFill>
                <a:latin typeface="Calibri"/>
              </a:rPr>
              <a:t>Business Intelligence  |  Session 6 — Data Warehousing &amp; OLTP/OLAP  |  IILM Jaipur, MBA</a:t>
            </a:r>
          </a:p>
        </p:txBody>
      </p:sp>
      <p:sp>
        <p:nvSpPr>
          <p:cNvPr id="11" name="TextBox 10"/>
          <p:cNvSpPr txBox="1"/>
          <p:nvPr/>
        </p:nvSpPr>
        <p:spPr>
          <a:xfrm>
            <a:off x="10543032" y="6382512"/>
            <a:ext cx="1097280" cy="256032"/>
          </a:xfrm>
          <a:prstGeom prst="rect">
            <a:avLst/>
          </a:prstGeom>
          <a:noFill/>
        </p:spPr>
        <p:txBody>
          <a:bodyPr wrap="square" lIns="0" rIns="0" tIns="0" bIns="0" anchor="t">
            <a:spAutoFit/>
          </a:bodyPr>
          <a:lstStyle/>
          <a:p>
            <a:pPr algn="r" marL="0" indent="0">
              <a:buNone/>
            </a:pPr>
            <a:r>
              <a:rPr sz="950" b="1" i="0">
                <a:solidFill>
                  <a:srgbClr val="1B7F79"/>
                </a:solidFill>
                <a:latin typeface="Calibr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374904"/>
            <a:ext cx="109728" cy="109728"/>
          </a:xfrm>
          <a:prstGeom prst="ellipse">
            <a:avLst/>
          </a:prstGeom>
          <a:solidFill>
            <a:srgbClr val="E8A33D"/>
          </a:solidFill>
          <a:ln>
            <a:noFill/>
          </a:ln>
          <a:effectLst/>
        </p:spPr>
        <p:txBody>
          <a:bodyPr rtlCol="0" anchor="ctr" wrap="none" lIns="0" rIns="0" tIns="0" bIns="0"/>
          <a:lstStyle/>
          <a:p>
            <a:pPr algn="ctr"/>
          </a:p>
        </p:txBody>
      </p:sp>
      <p:sp>
        <p:nvSpPr>
          <p:cNvPr id="3" name="TextBox 2"/>
          <p:cNvSpPr txBox="1"/>
          <p:nvPr/>
        </p:nvSpPr>
        <p:spPr>
          <a:xfrm>
            <a:off x="749808" y="283464"/>
            <a:ext cx="10890504" cy="256032"/>
          </a:xfrm>
          <a:prstGeom prst="rect">
            <a:avLst/>
          </a:prstGeom>
          <a:noFill/>
        </p:spPr>
        <p:txBody>
          <a:bodyPr wrap="square" lIns="0" rIns="0" tIns="0" bIns="0" anchor="t">
            <a:spAutoFit/>
          </a:bodyPr>
          <a:lstStyle/>
          <a:p>
            <a:pPr marL="0" indent="0">
              <a:buNone/>
            </a:pPr>
            <a:r>
              <a:rPr sz="1000" b="1" i="0">
                <a:solidFill>
                  <a:srgbClr val="B87A1E"/>
                </a:solidFill>
                <a:latin typeface="Calibri"/>
              </a:rPr>
              <a:t>IN-SESSION PRACTICE</a:t>
            </a:r>
          </a:p>
        </p:txBody>
      </p:sp>
      <p:sp>
        <p:nvSpPr>
          <p:cNvPr id="4" name="TextBox 3"/>
          <p:cNvSpPr txBox="1"/>
          <p:nvPr/>
        </p:nvSpPr>
        <p:spPr>
          <a:xfrm>
            <a:off x="548640" y="548640"/>
            <a:ext cx="11091672" cy="640080"/>
          </a:xfrm>
          <a:prstGeom prst="rect">
            <a:avLst/>
          </a:prstGeom>
          <a:noFill/>
        </p:spPr>
        <p:txBody>
          <a:bodyPr wrap="square" lIns="0" rIns="0" tIns="0" bIns="0" anchor="t">
            <a:spAutoFit/>
          </a:bodyPr>
          <a:lstStyle/>
          <a:p>
            <a:pPr algn="l" marL="0" indent="0">
              <a:buNone/>
            </a:pPr>
            <a:r>
              <a:rPr sz="2700" b="1" i="0">
                <a:solidFill>
                  <a:srgbClr val="123B47"/>
                </a:solidFill>
                <a:latin typeface="Cambria"/>
              </a:rPr>
              <a:t>Activity: the OLTP/OLAP case — Aravalli Hospitals Pvt Ltd</a:t>
            </a:r>
          </a:p>
        </p:txBody>
      </p:sp>
      <p:sp>
        <p:nvSpPr>
          <p:cNvPr id="5" name="Rounded Rectangle 4"/>
          <p:cNvSpPr/>
          <p:nvPr/>
        </p:nvSpPr>
        <p:spPr>
          <a:xfrm>
            <a:off x="548640" y="1298448"/>
            <a:ext cx="11091672" cy="658368"/>
          </a:xfrm>
          <a:prstGeom prst="roundRect">
            <a:avLst>
              <a:gd name="adj" fmla="val 12500"/>
            </a:avLst>
          </a:prstGeom>
          <a:solidFill>
            <a:srgbClr val="123B47"/>
          </a:solidFill>
          <a:ln>
            <a:noFill/>
          </a:ln>
          <a:effectLst>
            <a:outerShdw blurRad="76200" dist="12700" dir="5400000" algn="bl" rotWithShape="0">
              <a:srgbClr val="9FB3B0">
                <a:alpha val="28000"/>
              </a:srgbClr>
            </a:outerShdw>
          </a:effectLst>
        </p:spPr>
        <p:txBody>
          <a:bodyPr rtlCol="0" anchor="ctr"/>
          <a:lstStyle/>
          <a:p/>
        </p:txBody>
      </p:sp>
      <p:sp>
        <p:nvSpPr>
          <p:cNvPr id="6" name="TextBox 5"/>
          <p:cNvSpPr txBox="1"/>
          <p:nvPr/>
        </p:nvSpPr>
        <p:spPr>
          <a:xfrm>
            <a:off x="768096" y="1371600"/>
            <a:ext cx="10652760" cy="512063"/>
          </a:xfrm>
          <a:prstGeom prst="rect">
            <a:avLst/>
          </a:prstGeom>
          <a:noFill/>
        </p:spPr>
        <p:txBody>
          <a:bodyPr wrap="square" lIns="0" rIns="0" tIns="0" bIns="0" anchor="ctr">
            <a:spAutoFit/>
          </a:bodyPr>
          <a:lstStyle/>
          <a:p>
            <a:pPr marL="0" indent="0">
              <a:lnSpc>
                <a:spcPct val="124000"/>
              </a:lnSpc>
              <a:buNone/>
            </a:pPr>
            <a:r>
              <a:rPr sz="1100" b="1" i="0">
                <a:solidFill>
                  <a:srgbClr val="FFFFFF"/>
                </a:solidFill>
                <a:latin typeface="Calibri"/>
              </a:rPr>
              <a:t>The brief.</a:t>
            </a:r>
            <a:r>
              <a:rPr sz="1100" b="1" i="0">
                <a:solidFill>
                  <a:srgbClr val="FFFFFF"/>
                </a:solidFill>
                <a:latin typeface="Calibri"/>
              </a:rPr>
              <a:t>  Aravalli Hospitals runs four hospitals and eleven clinics across Rajasthan. Working in groups of four, you have 30 minutes to diagnose the situation below, classify each stated requirement as OLTP or OLAP, and propose an architecture with a phased delivery plan.</a:t>
            </a:r>
          </a:p>
        </p:txBody>
      </p:sp>
      <p:sp>
        <p:nvSpPr>
          <p:cNvPr id="7" name="Rounded Rectangle 6"/>
          <p:cNvSpPr/>
          <p:nvPr/>
        </p:nvSpPr>
        <p:spPr>
          <a:xfrm>
            <a:off x="548640" y="2066543"/>
            <a:ext cx="5394960" cy="2487168"/>
          </a:xfrm>
          <a:prstGeom prst="roundRect">
            <a:avLst>
              <a:gd name="adj" fmla="val 3308"/>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8" name="Oval 7"/>
          <p:cNvSpPr/>
          <p:nvPr/>
        </p:nvSpPr>
        <p:spPr>
          <a:xfrm>
            <a:off x="749808" y="2276856"/>
            <a:ext cx="384048" cy="384048"/>
          </a:xfrm>
          <a:prstGeom prst="ellipse">
            <a:avLst/>
          </a:prstGeom>
          <a:solidFill>
            <a:srgbClr val="123B47"/>
          </a:solidFill>
          <a:ln>
            <a:noFill/>
          </a:ln>
          <a:effectLst/>
        </p:spPr>
        <p:txBody>
          <a:bodyPr rtlCol="0" anchor="ctr" wrap="none" lIns="0" rIns="0" tIns="0" bIns="0"/>
          <a:lstStyle/>
          <a:p>
            <a:pPr algn="ctr"/>
            <a:r>
              <a:rPr sz="1250" b="1">
                <a:solidFill>
                  <a:srgbClr val="FFFFFF"/>
                </a:solidFill>
                <a:latin typeface="Calibri"/>
              </a:rPr>
              <a:t>S</a:t>
            </a:r>
          </a:p>
        </p:txBody>
      </p:sp>
      <p:sp>
        <p:nvSpPr>
          <p:cNvPr id="9" name="TextBox 8"/>
          <p:cNvSpPr txBox="1"/>
          <p:nvPr/>
        </p:nvSpPr>
        <p:spPr>
          <a:xfrm>
            <a:off x="1252728" y="2267712"/>
            <a:ext cx="4489704"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The situation</a:t>
            </a:r>
          </a:p>
        </p:txBody>
      </p:sp>
      <p:sp>
        <p:nvSpPr>
          <p:cNvPr id="10" name="TextBox 9"/>
          <p:cNvSpPr txBox="1"/>
          <p:nvPr/>
        </p:nvSpPr>
        <p:spPr>
          <a:xfrm>
            <a:off x="749808" y="2752344"/>
            <a:ext cx="4992624" cy="1673352"/>
          </a:xfrm>
          <a:prstGeom prst="rect">
            <a:avLst/>
          </a:prstGeom>
          <a:noFill/>
        </p:spPr>
        <p:txBody>
          <a:bodyPr wrap="square" lIns="0" rIns="0" tIns="0" bIns="0" anchor="t">
            <a:spAutoFit/>
          </a:bodyPr>
          <a:lstStyle/>
          <a:p>
            <a:pPr marL="0" indent="0">
              <a:lnSpc>
                <a:spcPct val="118000"/>
              </a:lnSpc>
              <a:spcAft>
                <a:spcPts val="500"/>
              </a:spcAft>
              <a:buNone/>
            </a:pPr>
            <a:r>
              <a:rPr sz="810" b="0" i="0">
                <a:solidFill>
                  <a:srgbClr val="2E3F47"/>
                </a:solidFill>
                <a:latin typeface="Calibri"/>
              </a:rPr>
              <a:t>Systems: a hospital information system (patient registration, admission, discharge), a laboratory system, a pharmacy and inventory package, an insurance-claims portal supplied by the third-party administrator, and a finance ERP.</a:t>
            </a:r>
          </a:p>
          <a:p>
            <a:pPr marL="0" indent="0">
              <a:lnSpc>
                <a:spcPct val="118000"/>
              </a:lnSpc>
              <a:spcAft>
                <a:spcPts val="500"/>
              </a:spcAft>
              <a:buNone/>
            </a:pPr>
            <a:r>
              <a:rPr sz="810" b="0" i="0">
                <a:solidFill>
                  <a:srgbClr val="2E3F47"/>
                </a:solidFill>
                <a:latin typeface="Calibri"/>
              </a:rPr>
              <a:t>The medical director wants average length of stay by specialty by consultant by quarter for three years.</a:t>
            </a:r>
          </a:p>
          <a:p>
            <a:pPr marL="0" indent="0">
              <a:lnSpc>
                <a:spcPct val="118000"/>
              </a:lnSpc>
              <a:spcAft>
                <a:spcPts val="500"/>
              </a:spcAft>
              <a:buNone/>
            </a:pPr>
            <a:r>
              <a:rPr sz="810" b="0" i="0">
                <a:solidFill>
                  <a:srgbClr val="2E3F47"/>
                </a:solidFill>
                <a:latin typeface="Calibri"/>
              </a:rPr>
              <a:t>The billing desk needs the patient's outstanding balance in under two seconds at the counter.</a:t>
            </a:r>
          </a:p>
          <a:p>
            <a:pPr marL="0" indent="0">
              <a:lnSpc>
                <a:spcPct val="118000"/>
              </a:lnSpc>
              <a:spcAft>
                <a:spcPts val="500"/>
              </a:spcAft>
              <a:buNone/>
            </a:pPr>
            <a:r>
              <a:rPr sz="810" b="0" i="0">
                <a:solidFill>
                  <a:srgbClr val="2E3F47"/>
                </a:solidFill>
                <a:latin typeface="Calibri"/>
              </a:rPr>
              <a:t>Insurance rejections are rising; nobody can tell whether the cause is a diagnosis code, a consultant, a payer or a clinic.</a:t>
            </a:r>
          </a:p>
          <a:p>
            <a:pPr marL="0" indent="0">
              <a:lnSpc>
                <a:spcPct val="118000"/>
              </a:lnSpc>
              <a:spcAft>
                <a:spcPts val="500"/>
              </a:spcAft>
              <a:buNone/>
            </a:pPr>
            <a:r>
              <a:rPr sz="810" b="0" i="0">
                <a:solidFill>
                  <a:srgbClr val="2E3F47"/>
                </a:solidFill>
                <a:latin typeface="Calibri"/>
              </a:rPr>
              <a:t>The pharmacy system overwrites the item's current supplier, so past purchase analysis is impossible.</a:t>
            </a:r>
          </a:p>
          <a:p>
            <a:pPr marL="0" indent="0">
              <a:lnSpc>
                <a:spcPct val="118000"/>
              </a:lnSpc>
              <a:spcAft>
                <a:spcPts val="500"/>
              </a:spcAft>
              <a:buNone/>
            </a:pPr>
            <a:r>
              <a:rPr sz="810" b="0" i="0">
                <a:solidFill>
                  <a:srgbClr val="2E3F47"/>
                </a:solidFill>
                <a:latin typeface="Calibri"/>
              </a:rPr>
              <a:t>The claims portal identifies patients by policy number; the hospital system uses a UHID. There is no map between them.</a:t>
            </a:r>
          </a:p>
          <a:p>
            <a:pPr marL="0" indent="0">
              <a:lnSpc>
                <a:spcPct val="118000"/>
              </a:lnSpc>
              <a:spcAft>
                <a:spcPts val="500"/>
              </a:spcAft>
              <a:buNone/>
            </a:pPr>
            <a:r>
              <a:rPr sz="810" b="0" i="0">
                <a:solidFill>
                  <a:srgbClr val="2E3F47"/>
                </a:solidFill>
                <a:latin typeface="Calibri"/>
              </a:rPr>
              <a:t>The lab system's export runs at 08:00 and slows registration for twenty minutes each morning.</a:t>
            </a:r>
          </a:p>
        </p:txBody>
      </p:sp>
      <p:sp>
        <p:nvSpPr>
          <p:cNvPr id="11" name="Rounded Rectangle 10"/>
          <p:cNvSpPr/>
          <p:nvPr/>
        </p:nvSpPr>
        <p:spPr>
          <a:xfrm>
            <a:off x="6245352" y="2066543"/>
            <a:ext cx="5394960" cy="2487168"/>
          </a:xfrm>
          <a:prstGeom prst="roundRect">
            <a:avLst>
              <a:gd name="adj" fmla="val 3308"/>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12" name="Oval 11"/>
          <p:cNvSpPr/>
          <p:nvPr/>
        </p:nvSpPr>
        <p:spPr>
          <a:xfrm>
            <a:off x="6446520" y="2276856"/>
            <a:ext cx="384048" cy="384048"/>
          </a:xfrm>
          <a:prstGeom prst="ellipse">
            <a:avLst/>
          </a:prstGeom>
          <a:solidFill>
            <a:srgbClr val="1B7F79"/>
          </a:solidFill>
          <a:ln>
            <a:noFill/>
          </a:ln>
          <a:effectLst/>
        </p:spPr>
        <p:txBody>
          <a:bodyPr rtlCol="0" anchor="ctr" wrap="none" lIns="0" rIns="0" tIns="0" bIns="0"/>
          <a:lstStyle/>
          <a:p>
            <a:pPr algn="ctr"/>
            <a:r>
              <a:rPr sz="1250" b="1">
                <a:solidFill>
                  <a:srgbClr val="FFFFFF"/>
                </a:solidFill>
                <a:latin typeface="Calibri"/>
              </a:rPr>
              <a:t>Q</a:t>
            </a:r>
          </a:p>
        </p:txBody>
      </p:sp>
      <p:sp>
        <p:nvSpPr>
          <p:cNvPr id="13" name="TextBox 12"/>
          <p:cNvSpPr txBox="1"/>
          <p:nvPr/>
        </p:nvSpPr>
        <p:spPr>
          <a:xfrm>
            <a:off x="6949440" y="2267712"/>
            <a:ext cx="4489704"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What to produce</a:t>
            </a:r>
          </a:p>
        </p:txBody>
      </p:sp>
      <p:sp>
        <p:nvSpPr>
          <p:cNvPr id="14" name="TextBox 13"/>
          <p:cNvSpPr txBox="1"/>
          <p:nvPr/>
        </p:nvSpPr>
        <p:spPr>
          <a:xfrm>
            <a:off x="6446520" y="2752344"/>
            <a:ext cx="4992624" cy="1673352"/>
          </a:xfrm>
          <a:prstGeom prst="rect">
            <a:avLst/>
          </a:prstGeom>
          <a:noFill/>
        </p:spPr>
        <p:txBody>
          <a:bodyPr wrap="square" lIns="0" rIns="0" tIns="0" bIns="0" anchor="t">
            <a:spAutoFit/>
          </a:bodyPr>
          <a:lstStyle/>
          <a:p>
            <a:pPr marL="177800" indent="-177800">
              <a:lnSpc>
                <a:spcPct val="118000"/>
              </a:lnSpc>
              <a:spcAft>
                <a:spcPts val="500"/>
              </a:spcAft>
              <a:buSzPct val="100000"/>
              <a:buChar char="•"/>
            </a:pPr>
            <a:r>
              <a:rPr sz="830" b="0" i="0">
                <a:solidFill>
                  <a:srgbClr val="2E3F47"/>
                </a:solidFill>
                <a:latin typeface="Calibri"/>
              </a:rPr>
              <a:t>A table classifying each of the seven items above as OLTP, OLAP or both, with one line of justification</a:t>
            </a:r>
          </a:p>
          <a:p>
            <a:pPr marL="177800" indent="-177800">
              <a:lnSpc>
                <a:spcPct val="118000"/>
              </a:lnSpc>
              <a:spcAft>
                <a:spcPts val="500"/>
              </a:spcAft>
              <a:buSzPct val="100000"/>
              <a:buChar char="•"/>
            </a:pPr>
            <a:r>
              <a:rPr sz="830" b="0" i="0">
                <a:solidFill>
                  <a:srgbClr val="2E3F47"/>
                </a:solidFill>
                <a:latin typeface="Calibri"/>
              </a:rPr>
              <a:t>Which of Inmon's four properties is missing in each problem you identify</a:t>
            </a:r>
          </a:p>
          <a:p>
            <a:pPr marL="177800" indent="-177800">
              <a:lnSpc>
                <a:spcPct val="118000"/>
              </a:lnSpc>
              <a:spcAft>
                <a:spcPts val="500"/>
              </a:spcAft>
              <a:buSzPct val="100000"/>
              <a:buChar char="•"/>
            </a:pPr>
            <a:r>
              <a:rPr sz="830" b="0" i="0">
                <a:solidFill>
                  <a:srgbClr val="2E3F47"/>
                </a:solidFill>
                <a:latin typeface="Calibri"/>
              </a:rPr>
              <a:t>A layered architecture diagram naming what sits in each layer for this hospital</a:t>
            </a:r>
          </a:p>
          <a:p>
            <a:pPr marL="177800" indent="-177800">
              <a:lnSpc>
                <a:spcPct val="118000"/>
              </a:lnSpc>
              <a:spcAft>
                <a:spcPts val="500"/>
              </a:spcAft>
              <a:buSzPct val="100000"/>
              <a:buChar char="•"/>
            </a:pPr>
            <a:r>
              <a:rPr sz="830" b="0" i="0">
                <a:solidFill>
                  <a:srgbClr val="2E3F47"/>
                </a:solidFill>
                <a:latin typeface="Calibri"/>
              </a:rPr>
              <a:t>Your choice of ETL or ELT, with two reasons specific to this case</a:t>
            </a:r>
          </a:p>
          <a:p>
            <a:pPr marL="177800" indent="-177800">
              <a:lnSpc>
                <a:spcPct val="118000"/>
              </a:lnSpc>
              <a:spcAft>
                <a:spcPts val="500"/>
              </a:spcAft>
              <a:buSzPct val="100000"/>
              <a:buChar char="•"/>
            </a:pPr>
            <a:r>
              <a:rPr sz="830" b="0" i="0">
                <a:solidFill>
                  <a:srgbClr val="2E3F47"/>
                </a:solidFill>
                <a:latin typeface="Calibri"/>
              </a:rPr>
              <a:t>Your choice of Inmon or Kimball, with two reasons specific to this case</a:t>
            </a:r>
          </a:p>
          <a:p>
            <a:pPr marL="177800" indent="-177800">
              <a:lnSpc>
                <a:spcPct val="118000"/>
              </a:lnSpc>
              <a:spcAft>
                <a:spcPts val="500"/>
              </a:spcAft>
              <a:buSzPct val="100000"/>
              <a:buChar char="•"/>
            </a:pPr>
            <a:r>
              <a:rPr sz="830" b="0" i="0">
                <a:solidFill>
                  <a:srgbClr val="2E3F47"/>
                </a:solidFill>
                <a:latin typeface="Calibri"/>
              </a:rPr>
              <a:t>The slowly-changing-dimension type you would apply to consultant, specialty, supplier and payer, with justification</a:t>
            </a:r>
          </a:p>
          <a:p>
            <a:pPr marL="177800" indent="-177800">
              <a:lnSpc>
                <a:spcPct val="118000"/>
              </a:lnSpc>
              <a:spcAft>
                <a:spcPts val="500"/>
              </a:spcAft>
              <a:buSzPct val="100000"/>
              <a:buChar char="•"/>
            </a:pPr>
            <a:r>
              <a:rPr sz="830" b="0" i="0">
                <a:solidFill>
                  <a:srgbClr val="2E3F47"/>
                </a:solidFill>
                <a:latin typeface="Calibri"/>
              </a:rPr>
              <a:t>A phased plan: what is delivered in months 0–4, 4–8 and 8–12, and why in that order</a:t>
            </a:r>
          </a:p>
        </p:txBody>
      </p:sp>
      <p:sp>
        <p:nvSpPr>
          <p:cNvPr id="15" name="Rounded Rectangle 14"/>
          <p:cNvSpPr/>
          <p:nvPr/>
        </p:nvSpPr>
        <p:spPr>
          <a:xfrm>
            <a:off x="548640" y="4700016"/>
            <a:ext cx="11091672" cy="530352"/>
          </a:xfrm>
          <a:prstGeom prst="roundRect">
            <a:avLst>
              <a:gd name="adj" fmla="val 15517"/>
            </a:avLst>
          </a:prstGeom>
          <a:solidFill>
            <a:srgbClr val="FBEBD1"/>
          </a:solidFill>
          <a:ln w="12700">
            <a:solidFill>
              <a:srgbClr val="EFD9AE"/>
            </a:solidFill>
          </a:ln>
          <a:effectLst/>
        </p:spPr>
        <p:txBody>
          <a:bodyPr rtlCol="0" anchor="ctr"/>
          <a:lstStyle/>
          <a:p/>
        </p:txBody>
      </p:sp>
      <p:sp>
        <p:nvSpPr>
          <p:cNvPr id="16" name="TextBox 15"/>
          <p:cNvSpPr txBox="1"/>
          <p:nvPr/>
        </p:nvSpPr>
        <p:spPr>
          <a:xfrm>
            <a:off x="768096" y="4754879"/>
            <a:ext cx="10652760" cy="420623"/>
          </a:xfrm>
          <a:prstGeom prst="rect">
            <a:avLst/>
          </a:prstGeom>
          <a:noFill/>
        </p:spPr>
        <p:txBody>
          <a:bodyPr wrap="square" lIns="0" rIns="0" tIns="0" bIns="0" anchor="ctr">
            <a:spAutoFit/>
          </a:bodyPr>
          <a:lstStyle/>
          <a:p>
            <a:pPr marL="0" indent="0">
              <a:lnSpc>
                <a:spcPct val="124000"/>
              </a:lnSpc>
              <a:buNone/>
            </a:pPr>
            <a:r>
              <a:rPr sz="1100" b="1" i="0">
                <a:solidFill>
                  <a:srgbClr val="6A4A0F"/>
                </a:solidFill>
                <a:latin typeface="Calibri"/>
              </a:rPr>
              <a:t>Constraint.</a:t>
            </a:r>
            <a:r>
              <a:rPr sz="1100" b="1" i="0">
                <a:solidFill>
                  <a:srgbClr val="6A4A0F"/>
                </a:solidFill>
                <a:latin typeface="Calibri"/>
              </a:rPr>
              <a:t>  The budget approved is ₹ 1.6 crore over eighteen months, and the medical director's patience is approximately one quarter. Your phasing must survive both.</a:t>
            </a:r>
          </a:p>
        </p:txBody>
      </p:sp>
      <p:sp>
        <p:nvSpPr>
          <p:cNvPr id="17" name="Rounded Rectangle 16"/>
          <p:cNvSpPr/>
          <p:nvPr/>
        </p:nvSpPr>
        <p:spPr>
          <a:xfrm>
            <a:off x="548640" y="5321808"/>
            <a:ext cx="11091672" cy="475488"/>
          </a:xfrm>
          <a:prstGeom prst="roundRect">
            <a:avLst>
              <a:gd name="adj" fmla="val 17307"/>
            </a:avLst>
          </a:prstGeom>
          <a:solidFill>
            <a:srgbClr val="D8E9E7"/>
          </a:solidFill>
          <a:ln w="12700">
            <a:solidFill>
              <a:srgbClr val="BBD6D3"/>
            </a:solidFill>
          </a:ln>
          <a:effectLst/>
        </p:spPr>
        <p:txBody>
          <a:bodyPr rtlCol="0" anchor="ctr"/>
          <a:lstStyle/>
          <a:p/>
        </p:txBody>
      </p:sp>
      <p:sp>
        <p:nvSpPr>
          <p:cNvPr id="18" name="TextBox 17"/>
          <p:cNvSpPr txBox="1"/>
          <p:nvPr/>
        </p:nvSpPr>
        <p:spPr>
          <a:xfrm>
            <a:off x="768096" y="5376672"/>
            <a:ext cx="10652760" cy="365760"/>
          </a:xfrm>
          <a:prstGeom prst="rect">
            <a:avLst/>
          </a:prstGeom>
          <a:noFill/>
        </p:spPr>
        <p:txBody>
          <a:bodyPr wrap="square" lIns="0" rIns="0" tIns="0" bIns="0" anchor="ctr">
            <a:spAutoFit/>
          </a:bodyPr>
          <a:lstStyle/>
          <a:p>
            <a:pPr marL="0" indent="0">
              <a:lnSpc>
                <a:spcPct val="124000"/>
              </a:lnSpc>
              <a:buNone/>
            </a:pPr>
            <a:r>
              <a:rPr sz="1030" b="1" i="0">
                <a:solidFill>
                  <a:srgbClr val="17454E"/>
                </a:solidFill>
                <a:latin typeface="Calibri"/>
              </a:rPr>
              <a:t>Deliverable.</a:t>
            </a:r>
            <a:r>
              <a:rPr sz="1030" b="1" i="0">
                <a:solidFill>
                  <a:srgbClr val="17454E"/>
                </a:solidFill>
                <a:latin typeface="Calibri"/>
              </a:rPr>
              <a:t>  Two sides of A4. Front: the classification table and the architecture sketch. Back: the four justified decisions and the phased plan. Every decision must name the complaint it addresses.</a:t>
            </a:r>
          </a:p>
        </p:txBody>
      </p:sp>
      <p:sp>
        <p:nvSpPr>
          <p:cNvPr id="19" name="Rounded Rectangle 18"/>
          <p:cNvSpPr/>
          <p:nvPr/>
        </p:nvSpPr>
        <p:spPr>
          <a:xfrm>
            <a:off x="548640" y="5888736"/>
            <a:ext cx="11091672" cy="310896"/>
          </a:xfrm>
          <a:prstGeom prst="roundRect">
            <a:avLst>
              <a:gd name="adj" fmla="val 26470"/>
            </a:avLst>
          </a:prstGeom>
          <a:solidFill>
            <a:srgbClr val="F1F5F4"/>
          </a:solidFill>
          <a:ln w="12700">
            <a:solidFill>
              <a:srgbClr val="E4EDEB"/>
            </a:solidFill>
          </a:ln>
          <a:effectLst/>
        </p:spPr>
        <p:txBody>
          <a:bodyPr rtlCol="0" anchor="ctr"/>
          <a:lstStyle/>
          <a:p/>
        </p:txBody>
      </p:sp>
      <p:sp>
        <p:nvSpPr>
          <p:cNvPr id="20" name="TextBox 19"/>
          <p:cNvSpPr txBox="1"/>
          <p:nvPr/>
        </p:nvSpPr>
        <p:spPr>
          <a:xfrm>
            <a:off x="768096" y="5916168"/>
            <a:ext cx="10652760" cy="256032"/>
          </a:xfrm>
          <a:prstGeom prst="rect">
            <a:avLst/>
          </a:prstGeom>
          <a:noFill/>
        </p:spPr>
        <p:txBody>
          <a:bodyPr wrap="square" lIns="0" rIns="0" tIns="0" bIns="0" anchor="ctr">
            <a:spAutoFit/>
          </a:bodyPr>
          <a:lstStyle/>
          <a:p>
            <a:pPr marL="0" indent="0">
              <a:lnSpc>
                <a:spcPct val="124000"/>
              </a:lnSpc>
              <a:buNone/>
            </a:pPr>
            <a:r>
              <a:rPr sz="1050" b="1" i="0">
                <a:solidFill>
                  <a:srgbClr val="2E3F47"/>
                </a:solidFill>
                <a:latin typeface="Calibri"/>
              </a:rPr>
              <a:t>Assessment weight.</a:t>
            </a:r>
            <a:r>
              <a:rPr sz="1050" b="1" i="0">
                <a:solidFill>
                  <a:srgbClr val="2E3F47"/>
                </a:solidFill>
                <a:latin typeface="Calibri"/>
              </a:rPr>
              <a:t>  This exercise is the pattern for the end-term Section B case question, which carries 15 marks.</a:t>
            </a:r>
          </a:p>
        </p:txBody>
      </p:sp>
      <p:sp>
        <p:nvSpPr>
          <p:cNvPr id="21" name="TextBox 20"/>
          <p:cNvSpPr txBox="1"/>
          <p:nvPr/>
        </p:nvSpPr>
        <p:spPr>
          <a:xfrm>
            <a:off x="548640" y="6382512"/>
            <a:ext cx="8686800" cy="256032"/>
          </a:xfrm>
          <a:prstGeom prst="rect">
            <a:avLst/>
          </a:prstGeom>
          <a:noFill/>
        </p:spPr>
        <p:txBody>
          <a:bodyPr wrap="square" lIns="0" rIns="0" tIns="0" bIns="0" anchor="t">
            <a:spAutoFit/>
          </a:bodyPr>
          <a:lstStyle/>
          <a:p>
            <a:pPr algn="l" marL="0" indent="0">
              <a:buNone/>
            </a:pPr>
            <a:r>
              <a:rPr sz="900" b="0" i="0">
                <a:solidFill>
                  <a:srgbClr val="5C7079"/>
                </a:solidFill>
                <a:latin typeface="Calibri"/>
              </a:rPr>
              <a:t>Business Intelligence  |  Session 6 — Data Warehousing &amp; OLTP/OLAP  |  IILM Jaipur, MBA</a:t>
            </a:r>
          </a:p>
        </p:txBody>
      </p:sp>
      <p:sp>
        <p:nvSpPr>
          <p:cNvPr id="22" name="TextBox 21"/>
          <p:cNvSpPr txBox="1"/>
          <p:nvPr/>
        </p:nvSpPr>
        <p:spPr>
          <a:xfrm>
            <a:off x="10543032" y="6382512"/>
            <a:ext cx="1097280" cy="256032"/>
          </a:xfrm>
          <a:prstGeom prst="rect">
            <a:avLst/>
          </a:prstGeom>
          <a:noFill/>
        </p:spPr>
        <p:txBody>
          <a:bodyPr wrap="square" lIns="0" rIns="0" tIns="0" bIns="0" anchor="t">
            <a:spAutoFit/>
          </a:bodyPr>
          <a:lstStyle/>
          <a:p>
            <a:pPr algn="r" marL="0" indent="0">
              <a:buNone/>
            </a:pPr>
            <a:r>
              <a:rPr sz="950" b="1" i="0">
                <a:solidFill>
                  <a:srgbClr val="1B7F79"/>
                </a:solidFill>
                <a:latin typeface="Calibr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374904"/>
            <a:ext cx="109728" cy="109728"/>
          </a:xfrm>
          <a:prstGeom prst="ellipse">
            <a:avLst/>
          </a:prstGeom>
          <a:solidFill>
            <a:srgbClr val="E8A33D"/>
          </a:solidFill>
          <a:ln>
            <a:noFill/>
          </a:ln>
          <a:effectLst/>
        </p:spPr>
        <p:txBody>
          <a:bodyPr rtlCol="0" anchor="ctr" wrap="none" lIns="0" rIns="0" tIns="0" bIns="0"/>
          <a:lstStyle/>
          <a:p>
            <a:pPr algn="ctr"/>
          </a:p>
        </p:txBody>
      </p:sp>
      <p:sp>
        <p:nvSpPr>
          <p:cNvPr id="3" name="TextBox 2"/>
          <p:cNvSpPr txBox="1"/>
          <p:nvPr/>
        </p:nvSpPr>
        <p:spPr>
          <a:xfrm>
            <a:off x="749808" y="283464"/>
            <a:ext cx="10890504" cy="256032"/>
          </a:xfrm>
          <a:prstGeom prst="rect">
            <a:avLst/>
          </a:prstGeom>
          <a:noFill/>
        </p:spPr>
        <p:txBody>
          <a:bodyPr wrap="square" lIns="0" rIns="0" tIns="0" bIns="0" anchor="t">
            <a:spAutoFit/>
          </a:bodyPr>
          <a:lstStyle/>
          <a:p>
            <a:pPr marL="0" indent="0">
              <a:buNone/>
            </a:pPr>
            <a:r>
              <a:rPr sz="1000" b="1" i="0">
                <a:solidFill>
                  <a:srgbClr val="B87A1E"/>
                </a:solidFill>
                <a:latin typeface="Calibri"/>
              </a:rPr>
              <a:t>IN-SESSION PRACTICE</a:t>
            </a:r>
          </a:p>
        </p:txBody>
      </p:sp>
      <p:sp>
        <p:nvSpPr>
          <p:cNvPr id="4" name="TextBox 3"/>
          <p:cNvSpPr txBox="1"/>
          <p:nvPr/>
        </p:nvSpPr>
        <p:spPr>
          <a:xfrm>
            <a:off x="548640" y="548640"/>
            <a:ext cx="11091672" cy="640080"/>
          </a:xfrm>
          <a:prstGeom prst="rect">
            <a:avLst/>
          </a:prstGeom>
          <a:noFill/>
        </p:spPr>
        <p:txBody>
          <a:bodyPr wrap="square" lIns="0" rIns="0" tIns="0" bIns="0" anchor="t">
            <a:spAutoFit/>
          </a:bodyPr>
          <a:lstStyle/>
          <a:p>
            <a:pPr algn="l" marL="0" indent="0">
              <a:buNone/>
            </a:pPr>
            <a:r>
              <a:rPr sz="2700" b="1" i="0">
                <a:solidFill>
                  <a:srgbClr val="123B47"/>
                </a:solidFill>
                <a:latin typeface="Cambria"/>
              </a:rPr>
              <a:t>Model answer: Aravalli Hospitals</a:t>
            </a:r>
          </a:p>
        </p:txBody>
      </p:sp>
      <p:graphicFrame>
        <p:nvGraphicFramePr>
          <p:cNvPr id="5" name="Table 4"/>
          <p:cNvGraphicFramePr>
            <a:graphicFrameLocks noGrp="1"/>
          </p:cNvGraphicFramePr>
          <p:nvPr/>
        </p:nvGraphicFramePr>
        <p:xfrm>
          <a:off x="548640" y="1316736"/>
          <a:ext cx="11091672" cy="3200400"/>
        </p:xfrm>
        <a:graphic>
          <a:graphicData uri="http://schemas.openxmlformats.org/drawingml/2006/table">
            <a:tbl>
              <a:tblPr bandRow="0" firstRow="0"/>
              <a:tblGrid>
                <a:gridCol w="3063240"/>
                <a:gridCol w="1783080"/>
                <a:gridCol w="2788920"/>
                <a:gridCol w="3456432"/>
              </a:tblGrid>
              <a:tr h="457200">
                <a:tc>
                  <a:txBody>
                    <a:bodyPr wrap="square"/>
                    <a:lstStyle/>
                    <a:p>
                      <a:pPr marL="0" indent="0">
                        <a:buNone/>
                        <a:defRPr sz="1030"/>
                      </a:pPr>
                      <a:r>
                        <a:rPr sz="1030" b="1">
                          <a:solidFill>
                            <a:srgbClr val="FFFFFF"/>
                          </a:solidFill>
                          <a:latin typeface="Calibri"/>
                        </a:rPr>
                        <a:t>Item</a:t>
                      </a:r>
                      <a:endParaRPr lang="en-US" sz="103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123B47"/>
                    </a:solidFill>
                  </a:tcPr>
                </a:tc>
                <a:tc>
                  <a:txBody>
                    <a:bodyPr wrap="square"/>
                    <a:lstStyle/>
                    <a:p>
                      <a:pPr marL="0" indent="0">
                        <a:buNone/>
                        <a:defRPr sz="1030"/>
                      </a:pPr>
                      <a:r>
                        <a:rPr sz="1030" b="1">
                          <a:solidFill>
                            <a:srgbClr val="FFFFFF"/>
                          </a:solidFill>
                          <a:latin typeface="Calibri"/>
                        </a:rPr>
                        <a:t>Classification</a:t>
                      </a:r>
                      <a:endParaRPr lang="en-US" sz="103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123B47"/>
                    </a:solidFill>
                  </a:tcPr>
                </a:tc>
                <a:tc>
                  <a:txBody>
                    <a:bodyPr wrap="square"/>
                    <a:lstStyle/>
                    <a:p>
                      <a:pPr marL="0" indent="0">
                        <a:buNone/>
                        <a:defRPr sz="1030"/>
                      </a:pPr>
                      <a:r>
                        <a:rPr sz="1030" b="1">
                          <a:solidFill>
                            <a:srgbClr val="FFFFFF"/>
                          </a:solidFill>
                          <a:latin typeface="Calibri"/>
                        </a:rPr>
                        <a:t>Missing property / diagnosis</a:t>
                      </a:r>
                      <a:endParaRPr lang="en-US" sz="103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123B47"/>
                    </a:solidFill>
                  </a:tcPr>
                </a:tc>
                <a:tc>
                  <a:txBody>
                    <a:bodyPr wrap="square"/>
                    <a:lstStyle/>
                    <a:p>
                      <a:pPr marL="0" indent="0">
                        <a:buNone/>
                        <a:defRPr sz="1030"/>
                      </a:pPr>
                      <a:r>
                        <a:rPr sz="1030" b="1">
                          <a:solidFill>
                            <a:srgbClr val="FFFFFF"/>
                          </a:solidFill>
                          <a:latin typeface="Calibri"/>
                        </a:rPr>
                        <a:t>Recommended treatment</a:t>
                      </a:r>
                      <a:endParaRPr lang="en-US" sz="103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123B47"/>
                    </a:solidFill>
                  </a:tcPr>
                </a:tc>
              </a:tr>
              <a:tr h="457200">
                <a:tc>
                  <a:txBody>
                    <a:bodyPr wrap="square"/>
                    <a:lstStyle/>
                    <a:p>
                      <a:pPr marL="0" indent="0">
                        <a:buNone/>
                        <a:defRPr sz="950"/>
                      </a:pPr>
                      <a:r>
                        <a:rPr sz="950" b="1">
                          <a:solidFill>
                            <a:srgbClr val="2E3F47"/>
                          </a:solidFill>
                          <a:latin typeface="Calibri"/>
                        </a:rPr>
                        <a:t>Length of stay by specialty by consultant by quarter</a:t>
                      </a:r>
                      <a:endParaRPr lang="en-US" sz="95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50"/>
                      </a:pPr>
                      <a:r>
                        <a:rPr sz="950" b="0">
                          <a:solidFill>
                            <a:srgbClr val="2E3F47"/>
                          </a:solidFill>
                          <a:latin typeface="Calibri"/>
                        </a:rPr>
                        <a:t>OLAP</a:t>
                      </a:r>
                      <a:endParaRPr lang="en-US" sz="95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50"/>
                      </a:pPr>
                      <a:r>
                        <a:rPr sz="950" b="0">
                          <a:solidFill>
                            <a:srgbClr val="2E3F47"/>
                          </a:solidFill>
                          <a:latin typeface="Calibri"/>
                        </a:rPr>
                        <a:t>Time-variant, integrated</a:t>
                      </a:r>
                      <a:endParaRPr lang="en-US" sz="95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50"/>
                      </a:pPr>
                      <a:r>
                        <a:rPr sz="950" b="0">
                          <a:solidFill>
                            <a:srgbClr val="2E3F47"/>
                          </a:solidFill>
                          <a:latin typeface="Calibri"/>
                        </a:rPr>
                        <a:t>Star schema at one row per admission episode; Type 2 on consultant and specialty</a:t>
                      </a:r>
                      <a:endParaRPr lang="en-US" sz="95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r>
              <a:tr h="457200">
                <a:tc>
                  <a:txBody>
                    <a:bodyPr wrap="square"/>
                    <a:lstStyle/>
                    <a:p>
                      <a:pPr marL="0" indent="0">
                        <a:buNone/>
                        <a:defRPr sz="950"/>
                      </a:pPr>
                      <a:r>
                        <a:rPr sz="950" b="1">
                          <a:solidFill>
                            <a:srgbClr val="2E3F47"/>
                          </a:solidFill>
                          <a:latin typeface="Calibri"/>
                        </a:rPr>
                        <a:t>Outstanding balance at the counter in two seconds</a:t>
                      </a:r>
                      <a:endParaRPr lang="en-US" sz="95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50"/>
                      </a:pPr>
                      <a:r>
                        <a:rPr sz="950" b="0">
                          <a:solidFill>
                            <a:srgbClr val="2E3F47"/>
                          </a:solidFill>
                          <a:latin typeface="Calibri"/>
                        </a:rPr>
                        <a:t>OLTP</a:t>
                      </a:r>
                      <a:endParaRPr lang="en-US" sz="95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50"/>
                      </a:pPr>
                      <a:r>
                        <a:rPr sz="950" b="0">
                          <a:solidFill>
                            <a:srgbClr val="2E3F47"/>
                          </a:solidFill>
                          <a:latin typeface="Calibri"/>
                        </a:rPr>
                        <a:t>None — correctly an operational requirement</a:t>
                      </a:r>
                      <a:endParaRPr lang="en-US" sz="95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50"/>
                      </a:pPr>
                      <a:r>
                        <a:rPr sz="950" b="0">
                          <a:solidFill>
                            <a:srgbClr val="2E3F47"/>
                          </a:solidFill>
                          <a:latin typeface="Calibri"/>
                        </a:rPr>
                        <a:t>Leave in the hospital system; never serve this from the warehouse</a:t>
                      </a:r>
                      <a:endParaRPr lang="en-US" sz="95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r>
              <a:tr h="457200">
                <a:tc>
                  <a:txBody>
                    <a:bodyPr wrap="square"/>
                    <a:lstStyle/>
                    <a:p>
                      <a:pPr marL="0" indent="0">
                        <a:buNone/>
                        <a:defRPr sz="950"/>
                      </a:pPr>
                      <a:r>
                        <a:rPr sz="950" b="1">
                          <a:solidFill>
                            <a:srgbClr val="2E3F47"/>
                          </a:solidFill>
                          <a:latin typeface="Calibri"/>
                        </a:rPr>
                        <a:t>Cause of rising insurance rejections</a:t>
                      </a:r>
                      <a:endParaRPr lang="en-US" sz="95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50"/>
                      </a:pPr>
                      <a:r>
                        <a:rPr sz="950" b="0">
                          <a:solidFill>
                            <a:srgbClr val="2E3F47"/>
                          </a:solidFill>
                          <a:latin typeface="Calibri"/>
                        </a:rPr>
                        <a:t>OLAP (diagnostic)</a:t>
                      </a:r>
                      <a:endParaRPr lang="en-US" sz="95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50"/>
                      </a:pPr>
                      <a:r>
                        <a:rPr sz="950" b="0">
                          <a:solidFill>
                            <a:srgbClr val="2E3F47"/>
                          </a:solidFill>
                          <a:latin typeface="Calibri"/>
                        </a:rPr>
                        <a:t>Integrated — claims and clinical data are unlinked</a:t>
                      </a:r>
                      <a:endParaRPr lang="en-US" sz="95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50"/>
                      </a:pPr>
                      <a:r>
                        <a:rPr sz="950" b="0">
                          <a:solidFill>
                            <a:srgbClr val="2E3F47"/>
                          </a:solidFill>
                          <a:latin typeface="Calibri"/>
                        </a:rPr>
                        <a:t>Conformed patient and payer dimensions; a rejection fact with reason code</a:t>
                      </a:r>
                      <a:endParaRPr lang="en-US" sz="95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r>
              <a:tr h="457200">
                <a:tc>
                  <a:txBody>
                    <a:bodyPr wrap="square"/>
                    <a:lstStyle/>
                    <a:p>
                      <a:pPr marL="0" indent="0">
                        <a:buNone/>
                        <a:defRPr sz="950"/>
                      </a:pPr>
                      <a:r>
                        <a:rPr sz="950" b="1">
                          <a:solidFill>
                            <a:srgbClr val="2E3F47"/>
                          </a:solidFill>
                          <a:latin typeface="Calibri"/>
                        </a:rPr>
                        <a:t>Pharmacy supplier overwritten</a:t>
                      </a:r>
                      <a:endParaRPr lang="en-US" sz="95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50"/>
                      </a:pPr>
                      <a:r>
                        <a:rPr sz="950" b="0">
                          <a:solidFill>
                            <a:srgbClr val="2E3F47"/>
                          </a:solidFill>
                          <a:latin typeface="Calibri"/>
                        </a:rPr>
                        <a:t>OLAP</a:t>
                      </a:r>
                      <a:endParaRPr lang="en-US" sz="95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50"/>
                      </a:pPr>
                      <a:r>
                        <a:rPr sz="950" b="0">
                          <a:solidFill>
                            <a:srgbClr val="2E3F47"/>
                          </a:solidFill>
                          <a:latin typeface="Calibri"/>
                        </a:rPr>
                        <a:t>Time-variant</a:t>
                      </a:r>
                      <a:endParaRPr lang="en-US" sz="95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50"/>
                      </a:pPr>
                      <a:r>
                        <a:rPr sz="950" b="0">
                          <a:solidFill>
                            <a:srgbClr val="2E3F47"/>
                          </a:solidFill>
                          <a:latin typeface="Calibri"/>
                        </a:rPr>
                        <a:t>Type 2 on supplier in the item dimension, with effective dating</a:t>
                      </a:r>
                      <a:endParaRPr lang="en-US" sz="95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r>
              <a:tr h="457200">
                <a:tc>
                  <a:txBody>
                    <a:bodyPr wrap="square"/>
                    <a:lstStyle/>
                    <a:p>
                      <a:pPr marL="0" indent="0">
                        <a:buNone/>
                        <a:defRPr sz="950"/>
                      </a:pPr>
                      <a:r>
                        <a:rPr sz="950" b="1">
                          <a:solidFill>
                            <a:srgbClr val="2E3F47"/>
                          </a:solidFill>
                          <a:latin typeface="Calibri"/>
                        </a:rPr>
                        <a:t>Policy number against UHID, no map</a:t>
                      </a:r>
                      <a:endParaRPr lang="en-US" sz="95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50"/>
                      </a:pPr>
                      <a:r>
                        <a:rPr sz="950" b="0">
                          <a:solidFill>
                            <a:srgbClr val="2E3F47"/>
                          </a:solidFill>
                          <a:latin typeface="Calibri"/>
                        </a:rPr>
                        <a:t>Both</a:t>
                      </a:r>
                      <a:endParaRPr lang="en-US" sz="95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50"/>
                      </a:pPr>
                      <a:r>
                        <a:rPr sz="950" b="0">
                          <a:solidFill>
                            <a:srgbClr val="2E3F47"/>
                          </a:solidFill>
                          <a:latin typeface="Calibri"/>
                        </a:rPr>
                        <a:t>Integrated — no conformed patient key</a:t>
                      </a:r>
                      <a:endParaRPr lang="en-US" sz="95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50"/>
                      </a:pPr>
                      <a:r>
                        <a:rPr sz="950" b="0">
                          <a:solidFill>
                            <a:srgbClr val="2E3F47"/>
                          </a:solidFill>
                          <a:latin typeface="Calibri"/>
                        </a:rPr>
                        <a:t>A patient hub with survivorship rules; this is the largest single work item</a:t>
                      </a:r>
                      <a:endParaRPr lang="en-US" sz="95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r>
              <a:tr h="457200">
                <a:tc>
                  <a:txBody>
                    <a:bodyPr wrap="square"/>
                    <a:lstStyle/>
                    <a:p>
                      <a:pPr marL="0" indent="0">
                        <a:buNone/>
                        <a:defRPr sz="950"/>
                      </a:pPr>
                      <a:r>
                        <a:rPr sz="950" b="1">
                          <a:solidFill>
                            <a:srgbClr val="2E3F47"/>
                          </a:solidFill>
                          <a:latin typeface="Calibri"/>
                        </a:rPr>
                        <a:t>Lab export slowing registration</a:t>
                      </a:r>
                      <a:endParaRPr lang="en-US" sz="95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50"/>
                      </a:pPr>
                      <a:r>
                        <a:rPr sz="950" b="0">
                          <a:solidFill>
                            <a:srgbClr val="2E3F47"/>
                          </a:solidFill>
                          <a:latin typeface="Calibri"/>
                        </a:rPr>
                        <a:t>OLTP harmed by OLAP</a:t>
                      </a:r>
                      <a:endParaRPr lang="en-US" sz="95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50"/>
                      </a:pPr>
                      <a:r>
                        <a:rPr sz="950" b="0">
                          <a:solidFill>
                            <a:srgbClr val="2E3F47"/>
                          </a:solidFill>
                          <a:latin typeface="Calibri"/>
                        </a:rPr>
                        <a:t>Isolation — analysis running on the operational system</a:t>
                      </a:r>
                      <a:endParaRPr lang="en-US" sz="95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50"/>
                      </a:pPr>
                      <a:r>
                        <a:rPr sz="950" b="0">
                          <a:solidFill>
                            <a:srgbClr val="2E3F47"/>
                          </a:solidFill>
                          <a:latin typeface="Calibri"/>
                        </a:rPr>
                        <a:t>Move extraction to a low-activity window; use CDC rather than a full export</a:t>
                      </a:r>
                      <a:endParaRPr lang="en-US" sz="95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r>
            </a:tbl>
          </a:graphicData>
        </a:graphic>
      </p:graphicFrame>
      <p:sp>
        <p:nvSpPr>
          <p:cNvPr id="6" name="Rounded Rectangle 5"/>
          <p:cNvSpPr/>
          <p:nvPr/>
        </p:nvSpPr>
        <p:spPr>
          <a:xfrm>
            <a:off x="548640" y="4718304"/>
            <a:ext cx="11091672" cy="658368"/>
          </a:xfrm>
          <a:prstGeom prst="roundRect">
            <a:avLst>
              <a:gd name="adj" fmla="val 12500"/>
            </a:avLst>
          </a:prstGeom>
          <a:solidFill>
            <a:srgbClr val="123B47"/>
          </a:solidFill>
          <a:ln>
            <a:noFill/>
          </a:ln>
          <a:effectLst>
            <a:outerShdw blurRad="76200" dist="12700" dir="5400000" algn="bl" rotWithShape="0">
              <a:srgbClr val="9FB3B0">
                <a:alpha val="28000"/>
              </a:srgbClr>
            </a:outerShdw>
          </a:effectLst>
        </p:spPr>
        <p:txBody>
          <a:bodyPr rtlCol="0" anchor="ctr"/>
          <a:lstStyle/>
          <a:p/>
        </p:txBody>
      </p:sp>
      <p:sp>
        <p:nvSpPr>
          <p:cNvPr id="7" name="TextBox 6"/>
          <p:cNvSpPr txBox="1"/>
          <p:nvPr/>
        </p:nvSpPr>
        <p:spPr>
          <a:xfrm>
            <a:off x="768096" y="4791456"/>
            <a:ext cx="10652760" cy="512063"/>
          </a:xfrm>
          <a:prstGeom prst="rect">
            <a:avLst/>
          </a:prstGeom>
          <a:noFill/>
        </p:spPr>
        <p:txBody>
          <a:bodyPr wrap="square" lIns="0" rIns="0" tIns="0" bIns="0" anchor="ctr">
            <a:spAutoFit/>
          </a:bodyPr>
          <a:lstStyle/>
          <a:p>
            <a:pPr marL="0" indent="0">
              <a:lnSpc>
                <a:spcPct val="124000"/>
              </a:lnSpc>
              <a:buNone/>
            </a:pPr>
            <a:r>
              <a:rPr sz="880" b="1" i="0">
                <a:solidFill>
                  <a:srgbClr val="FFFFFF"/>
                </a:solidFill>
                <a:latin typeface="Calibri"/>
              </a:rPr>
              <a:t>The four justified decisions the examiner expects.</a:t>
            </a:r>
            <a:r>
              <a:rPr sz="880" b="1" i="0">
                <a:solidFill>
                  <a:srgbClr val="FFFFFF"/>
                </a:solidFill>
                <a:latin typeface="Calibri"/>
              </a:rPr>
              <a:t>  ELT on a managed cloud warehouse, because the sources are heterogeneous and the future questions are not yet known. Kimball, because the medical director will not wait two years and one clinical mart can be delivered in four months. Type 2 on consultant, specialty, supplier and payer, because every one of them is used to explain historical performance. And the patient identity map built first, because nothing else in the case works without it.</a:t>
            </a:r>
          </a:p>
        </p:txBody>
      </p:sp>
      <p:sp>
        <p:nvSpPr>
          <p:cNvPr id="8" name="Rounded Rectangle 7"/>
          <p:cNvSpPr/>
          <p:nvPr/>
        </p:nvSpPr>
        <p:spPr>
          <a:xfrm>
            <a:off x="548640" y="5486400"/>
            <a:ext cx="11091672" cy="640080"/>
          </a:xfrm>
          <a:prstGeom prst="roundRect">
            <a:avLst>
              <a:gd name="adj" fmla="val 12857"/>
            </a:avLst>
          </a:prstGeom>
          <a:solidFill>
            <a:srgbClr val="FBEBD1"/>
          </a:solidFill>
          <a:ln w="12700">
            <a:solidFill>
              <a:srgbClr val="EFD9AE"/>
            </a:solidFill>
          </a:ln>
          <a:effectLst/>
        </p:spPr>
        <p:txBody>
          <a:bodyPr rtlCol="0" anchor="ctr"/>
          <a:lstStyle/>
          <a:p/>
        </p:txBody>
      </p:sp>
      <p:sp>
        <p:nvSpPr>
          <p:cNvPr id="9" name="TextBox 8"/>
          <p:cNvSpPr txBox="1"/>
          <p:nvPr/>
        </p:nvSpPr>
        <p:spPr>
          <a:xfrm>
            <a:off x="768096" y="5559552"/>
            <a:ext cx="10652760" cy="493775"/>
          </a:xfrm>
          <a:prstGeom prst="rect">
            <a:avLst/>
          </a:prstGeom>
          <a:noFill/>
        </p:spPr>
        <p:txBody>
          <a:bodyPr wrap="square" lIns="0" rIns="0" tIns="0" bIns="0" anchor="ctr">
            <a:spAutoFit/>
          </a:bodyPr>
          <a:lstStyle/>
          <a:p>
            <a:pPr marL="0" indent="0">
              <a:lnSpc>
                <a:spcPct val="124000"/>
              </a:lnSpc>
              <a:buNone/>
            </a:pPr>
            <a:r>
              <a:rPr sz="1100" b="1" i="0">
                <a:solidFill>
                  <a:srgbClr val="6A4A0F"/>
                </a:solidFill>
                <a:latin typeface="Calibri"/>
              </a:rPr>
              <a:t>The phasing that earns full marks.</a:t>
            </a:r>
            <a:r>
              <a:rPr sz="1100" b="1" i="0">
                <a:solidFill>
                  <a:srgbClr val="6A4A0F"/>
                </a:solidFill>
                <a:latin typeface="Calibri"/>
              </a:rPr>
              <a:t>  Months 0–4: patient identity resolution plus the admissions mart, delivering length of stay. Months 4–8: the claims and rejections mart, delivering the rejection diagnosis. Months 8–12: pharmacy and inventory with supplier history. Note that the sequence is ordered by business pain and by dependency, not by ease.</a:t>
            </a:r>
          </a:p>
        </p:txBody>
      </p:sp>
      <p:sp>
        <p:nvSpPr>
          <p:cNvPr id="10" name="TextBox 9"/>
          <p:cNvSpPr txBox="1"/>
          <p:nvPr/>
        </p:nvSpPr>
        <p:spPr>
          <a:xfrm>
            <a:off x="548640" y="6382512"/>
            <a:ext cx="8686800" cy="256032"/>
          </a:xfrm>
          <a:prstGeom prst="rect">
            <a:avLst/>
          </a:prstGeom>
          <a:noFill/>
        </p:spPr>
        <p:txBody>
          <a:bodyPr wrap="square" lIns="0" rIns="0" tIns="0" bIns="0" anchor="t">
            <a:spAutoFit/>
          </a:bodyPr>
          <a:lstStyle/>
          <a:p>
            <a:pPr algn="l" marL="0" indent="0">
              <a:buNone/>
            </a:pPr>
            <a:r>
              <a:rPr sz="900" b="0" i="0">
                <a:solidFill>
                  <a:srgbClr val="5C7079"/>
                </a:solidFill>
                <a:latin typeface="Calibri"/>
              </a:rPr>
              <a:t>Business Intelligence  |  Session 6 — Data Warehousing &amp; OLTP/OLAP  |  IILM Jaipur, MBA</a:t>
            </a:r>
          </a:p>
        </p:txBody>
      </p:sp>
      <p:sp>
        <p:nvSpPr>
          <p:cNvPr id="11" name="TextBox 10"/>
          <p:cNvSpPr txBox="1"/>
          <p:nvPr/>
        </p:nvSpPr>
        <p:spPr>
          <a:xfrm>
            <a:off x="10543032" y="6382512"/>
            <a:ext cx="1097280" cy="256032"/>
          </a:xfrm>
          <a:prstGeom prst="rect">
            <a:avLst/>
          </a:prstGeom>
          <a:noFill/>
        </p:spPr>
        <p:txBody>
          <a:bodyPr wrap="square" lIns="0" rIns="0" tIns="0" bIns="0" anchor="t">
            <a:spAutoFit/>
          </a:bodyPr>
          <a:lstStyle/>
          <a:p>
            <a:pPr algn="r" marL="0" indent="0">
              <a:buNone/>
            </a:pPr>
            <a:r>
              <a:rPr sz="950" b="1" i="0">
                <a:solidFill>
                  <a:srgbClr val="1B7F79"/>
                </a:solidFill>
                <a:latin typeface="Calibr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374904"/>
            <a:ext cx="109728" cy="109728"/>
          </a:xfrm>
          <a:prstGeom prst="ellipse">
            <a:avLst/>
          </a:prstGeom>
          <a:solidFill>
            <a:srgbClr val="E8A33D"/>
          </a:solidFill>
          <a:ln>
            <a:noFill/>
          </a:ln>
          <a:effectLst/>
        </p:spPr>
        <p:txBody>
          <a:bodyPr rtlCol="0" anchor="ctr" wrap="none" lIns="0" rIns="0" tIns="0" bIns="0"/>
          <a:lstStyle/>
          <a:p>
            <a:pPr algn="ctr"/>
          </a:p>
        </p:txBody>
      </p:sp>
      <p:sp>
        <p:nvSpPr>
          <p:cNvPr id="3" name="TextBox 2"/>
          <p:cNvSpPr txBox="1"/>
          <p:nvPr/>
        </p:nvSpPr>
        <p:spPr>
          <a:xfrm>
            <a:off x="749808" y="283464"/>
            <a:ext cx="10890504" cy="256032"/>
          </a:xfrm>
          <a:prstGeom prst="rect">
            <a:avLst/>
          </a:prstGeom>
          <a:noFill/>
        </p:spPr>
        <p:txBody>
          <a:bodyPr wrap="square" lIns="0" rIns="0" tIns="0" bIns="0" anchor="t">
            <a:spAutoFit/>
          </a:bodyPr>
          <a:lstStyle/>
          <a:p>
            <a:pPr marL="0" indent="0">
              <a:buNone/>
            </a:pPr>
            <a:r>
              <a:rPr sz="1000" b="1" i="0">
                <a:solidFill>
                  <a:srgbClr val="B87A1E"/>
                </a:solidFill>
                <a:latin typeface="Calibri"/>
              </a:rPr>
              <a:t>SESSION 6 SUMMARY</a:t>
            </a:r>
          </a:p>
        </p:txBody>
      </p:sp>
      <p:sp>
        <p:nvSpPr>
          <p:cNvPr id="4" name="TextBox 3"/>
          <p:cNvSpPr txBox="1"/>
          <p:nvPr/>
        </p:nvSpPr>
        <p:spPr>
          <a:xfrm>
            <a:off x="548640" y="548640"/>
            <a:ext cx="11091672" cy="640080"/>
          </a:xfrm>
          <a:prstGeom prst="rect">
            <a:avLst/>
          </a:prstGeom>
          <a:noFill/>
        </p:spPr>
        <p:txBody>
          <a:bodyPr wrap="square" lIns="0" rIns="0" tIns="0" bIns="0" anchor="t">
            <a:spAutoFit/>
          </a:bodyPr>
          <a:lstStyle/>
          <a:p>
            <a:pPr algn="l" marL="0" indent="0">
              <a:buNone/>
            </a:pPr>
            <a:r>
              <a:rPr sz="2700" b="1" i="0">
                <a:solidFill>
                  <a:srgbClr val="123B47"/>
                </a:solidFill>
                <a:latin typeface="Cambria"/>
              </a:rPr>
              <a:t>Ten propositions to carry forward</a:t>
            </a:r>
          </a:p>
        </p:txBody>
      </p:sp>
      <p:sp>
        <p:nvSpPr>
          <p:cNvPr id="5" name="Rounded Rectangle 4"/>
          <p:cNvSpPr/>
          <p:nvPr/>
        </p:nvSpPr>
        <p:spPr>
          <a:xfrm>
            <a:off x="548640" y="1298448"/>
            <a:ext cx="11091672" cy="429768"/>
          </a:xfrm>
          <a:prstGeom prst="roundRect">
            <a:avLst>
              <a:gd name="adj" fmla="val 19148"/>
            </a:avLst>
          </a:prstGeom>
          <a:solidFill>
            <a:srgbClr val="F1F5F4"/>
          </a:solidFill>
          <a:ln w="12700">
            <a:solidFill>
              <a:srgbClr val="E4EDEB"/>
            </a:solidFill>
          </a:ln>
          <a:effectLst/>
        </p:spPr>
        <p:txBody>
          <a:bodyPr rtlCol="0" anchor="ctr"/>
          <a:lstStyle/>
          <a:p/>
        </p:txBody>
      </p:sp>
      <p:sp>
        <p:nvSpPr>
          <p:cNvPr id="6" name="Oval 5"/>
          <p:cNvSpPr/>
          <p:nvPr/>
        </p:nvSpPr>
        <p:spPr>
          <a:xfrm>
            <a:off x="694944" y="1389888"/>
            <a:ext cx="256032" cy="256032"/>
          </a:xfrm>
          <a:prstGeom prst="ellipse">
            <a:avLst/>
          </a:prstGeom>
          <a:solidFill>
            <a:srgbClr val="123B47"/>
          </a:solidFill>
          <a:ln>
            <a:noFill/>
          </a:ln>
          <a:effectLst/>
        </p:spPr>
        <p:txBody>
          <a:bodyPr rtlCol="0" anchor="ctr" wrap="none" lIns="0" rIns="0" tIns="0" bIns="0"/>
          <a:lstStyle/>
          <a:p>
            <a:pPr algn="ctr"/>
            <a:r>
              <a:rPr sz="950" b="1">
                <a:solidFill>
                  <a:srgbClr val="FFFFFF"/>
                </a:solidFill>
                <a:latin typeface="Calibri"/>
              </a:rPr>
              <a:t>1</a:t>
            </a:r>
          </a:p>
        </p:txBody>
      </p:sp>
      <p:sp>
        <p:nvSpPr>
          <p:cNvPr id="7" name="TextBox 6"/>
          <p:cNvSpPr txBox="1"/>
          <p:nvPr/>
        </p:nvSpPr>
        <p:spPr>
          <a:xfrm>
            <a:off x="1005840" y="1335024"/>
            <a:ext cx="10424160" cy="365760"/>
          </a:xfrm>
          <a:prstGeom prst="rect">
            <a:avLst/>
          </a:prstGeom>
          <a:noFill/>
        </p:spPr>
        <p:txBody>
          <a:bodyPr wrap="square" lIns="0" rIns="0" tIns="0" bIns="0" anchor="ctr">
            <a:spAutoFit/>
          </a:bodyPr>
          <a:lstStyle/>
          <a:p>
            <a:pPr marL="0" indent="0">
              <a:lnSpc>
                <a:spcPct val="112000"/>
              </a:lnSpc>
              <a:buNone/>
            </a:pPr>
            <a:r>
              <a:rPr sz="1060" b="0" i="0">
                <a:solidFill>
                  <a:srgbClr val="2E3F47"/>
                </a:solidFill>
                <a:latin typeface="Calibri"/>
              </a:rPr>
              <a:t>An operational database and an analytical database have opposite design priorities; no single structure serves both well.</a:t>
            </a:r>
          </a:p>
        </p:txBody>
      </p:sp>
      <p:sp>
        <p:nvSpPr>
          <p:cNvPr id="8" name="Rounded Rectangle 7"/>
          <p:cNvSpPr/>
          <p:nvPr/>
        </p:nvSpPr>
        <p:spPr>
          <a:xfrm>
            <a:off x="548640" y="1773936"/>
            <a:ext cx="11091672" cy="429768"/>
          </a:xfrm>
          <a:prstGeom prst="roundRect">
            <a:avLst>
              <a:gd name="adj" fmla="val 19148"/>
            </a:avLst>
          </a:prstGeom>
          <a:solidFill>
            <a:srgbClr val="FFFFFF"/>
          </a:solidFill>
          <a:ln w="12700">
            <a:solidFill>
              <a:srgbClr val="E4EDEB"/>
            </a:solidFill>
          </a:ln>
          <a:effectLst/>
        </p:spPr>
        <p:txBody>
          <a:bodyPr rtlCol="0" anchor="ctr"/>
          <a:lstStyle/>
          <a:p/>
        </p:txBody>
      </p:sp>
      <p:sp>
        <p:nvSpPr>
          <p:cNvPr id="9" name="Oval 8"/>
          <p:cNvSpPr/>
          <p:nvPr/>
        </p:nvSpPr>
        <p:spPr>
          <a:xfrm>
            <a:off x="694944" y="1865376"/>
            <a:ext cx="256032" cy="256032"/>
          </a:xfrm>
          <a:prstGeom prst="ellipse">
            <a:avLst/>
          </a:prstGeom>
          <a:solidFill>
            <a:srgbClr val="1B7F79"/>
          </a:solidFill>
          <a:ln>
            <a:noFill/>
          </a:ln>
          <a:effectLst/>
        </p:spPr>
        <p:txBody>
          <a:bodyPr rtlCol="0" anchor="ctr" wrap="none" lIns="0" rIns="0" tIns="0" bIns="0"/>
          <a:lstStyle/>
          <a:p>
            <a:pPr algn="ctr"/>
            <a:r>
              <a:rPr sz="950" b="1">
                <a:solidFill>
                  <a:srgbClr val="FFFFFF"/>
                </a:solidFill>
                <a:latin typeface="Calibri"/>
              </a:rPr>
              <a:t>2</a:t>
            </a:r>
          </a:p>
        </p:txBody>
      </p:sp>
      <p:sp>
        <p:nvSpPr>
          <p:cNvPr id="10" name="TextBox 9"/>
          <p:cNvSpPr txBox="1"/>
          <p:nvPr/>
        </p:nvSpPr>
        <p:spPr>
          <a:xfrm>
            <a:off x="1005840" y="1810512"/>
            <a:ext cx="10424160" cy="365760"/>
          </a:xfrm>
          <a:prstGeom prst="rect">
            <a:avLst/>
          </a:prstGeom>
          <a:noFill/>
        </p:spPr>
        <p:txBody>
          <a:bodyPr wrap="square" lIns="0" rIns="0" tIns="0" bIns="0" anchor="ctr">
            <a:spAutoFit/>
          </a:bodyPr>
          <a:lstStyle/>
          <a:p>
            <a:pPr marL="0" indent="0">
              <a:lnSpc>
                <a:spcPct val="112000"/>
              </a:lnSpc>
              <a:buNone/>
            </a:pPr>
            <a:r>
              <a:rPr sz="1060" b="0" i="0">
                <a:solidFill>
                  <a:srgbClr val="2E3F47"/>
                </a:solidFill>
                <a:latin typeface="Calibri"/>
              </a:rPr>
              <a:t>A data warehouse is subject-oriented, integrated, time-variant and non-volatile — Inmon's four properties, in that order of frequency of examination.</a:t>
            </a:r>
          </a:p>
        </p:txBody>
      </p:sp>
      <p:sp>
        <p:nvSpPr>
          <p:cNvPr id="11" name="Rounded Rectangle 10"/>
          <p:cNvSpPr/>
          <p:nvPr/>
        </p:nvSpPr>
        <p:spPr>
          <a:xfrm>
            <a:off x="548640" y="2249424"/>
            <a:ext cx="11091672" cy="429768"/>
          </a:xfrm>
          <a:prstGeom prst="roundRect">
            <a:avLst>
              <a:gd name="adj" fmla="val 19148"/>
            </a:avLst>
          </a:prstGeom>
          <a:solidFill>
            <a:srgbClr val="F1F5F4"/>
          </a:solidFill>
          <a:ln w="12700">
            <a:solidFill>
              <a:srgbClr val="E4EDEB"/>
            </a:solidFill>
          </a:ln>
          <a:effectLst/>
        </p:spPr>
        <p:txBody>
          <a:bodyPr rtlCol="0" anchor="ctr"/>
          <a:lstStyle/>
          <a:p/>
        </p:txBody>
      </p:sp>
      <p:sp>
        <p:nvSpPr>
          <p:cNvPr id="12" name="Oval 11"/>
          <p:cNvSpPr/>
          <p:nvPr/>
        </p:nvSpPr>
        <p:spPr>
          <a:xfrm>
            <a:off x="694944" y="2340864"/>
            <a:ext cx="256032" cy="256032"/>
          </a:xfrm>
          <a:prstGeom prst="ellipse">
            <a:avLst/>
          </a:prstGeom>
          <a:solidFill>
            <a:srgbClr val="123B47"/>
          </a:solidFill>
          <a:ln>
            <a:noFill/>
          </a:ln>
          <a:effectLst/>
        </p:spPr>
        <p:txBody>
          <a:bodyPr rtlCol="0" anchor="ctr" wrap="none" lIns="0" rIns="0" tIns="0" bIns="0"/>
          <a:lstStyle/>
          <a:p>
            <a:pPr algn="ctr"/>
            <a:r>
              <a:rPr sz="950" b="1">
                <a:solidFill>
                  <a:srgbClr val="FFFFFF"/>
                </a:solidFill>
                <a:latin typeface="Calibri"/>
              </a:rPr>
              <a:t>3</a:t>
            </a:r>
          </a:p>
        </p:txBody>
      </p:sp>
      <p:sp>
        <p:nvSpPr>
          <p:cNvPr id="13" name="TextBox 12"/>
          <p:cNvSpPr txBox="1"/>
          <p:nvPr/>
        </p:nvSpPr>
        <p:spPr>
          <a:xfrm>
            <a:off x="1005840" y="2286000"/>
            <a:ext cx="10424160" cy="365760"/>
          </a:xfrm>
          <a:prstGeom prst="rect">
            <a:avLst/>
          </a:prstGeom>
          <a:noFill/>
        </p:spPr>
        <p:txBody>
          <a:bodyPr wrap="square" lIns="0" rIns="0" tIns="0" bIns="0" anchor="ctr">
            <a:spAutoFit/>
          </a:bodyPr>
          <a:lstStyle/>
          <a:p>
            <a:pPr marL="0" indent="0">
              <a:lnSpc>
                <a:spcPct val="112000"/>
              </a:lnSpc>
              <a:buNone/>
            </a:pPr>
            <a:r>
              <a:rPr sz="1060" b="0" i="0">
                <a:solidFill>
                  <a:srgbClr val="2E3F47"/>
                </a:solidFill>
                <a:latin typeface="Calibri"/>
              </a:rPr>
              <a:t>Integration is the property most often skipped, and time-variance the one most often cut for cost.</a:t>
            </a:r>
          </a:p>
        </p:txBody>
      </p:sp>
      <p:sp>
        <p:nvSpPr>
          <p:cNvPr id="14" name="Rounded Rectangle 13"/>
          <p:cNvSpPr/>
          <p:nvPr/>
        </p:nvSpPr>
        <p:spPr>
          <a:xfrm>
            <a:off x="548640" y="2724912"/>
            <a:ext cx="11091672" cy="429768"/>
          </a:xfrm>
          <a:prstGeom prst="roundRect">
            <a:avLst>
              <a:gd name="adj" fmla="val 19148"/>
            </a:avLst>
          </a:prstGeom>
          <a:solidFill>
            <a:srgbClr val="FFFFFF"/>
          </a:solidFill>
          <a:ln w="12700">
            <a:solidFill>
              <a:srgbClr val="E4EDEB"/>
            </a:solidFill>
          </a:ln>
          <a:effectLst/>
        </p:spPr>
        <p:txBody>
          <a:bodyPr rtlCol="0" anchor="ctr"/>
          <a:lstStyle/>
          <a:p/>
        </p:txBody>
      </p:sp>
      <p:sp>
        <p:nvSpPr>
          <p:cNvPr id="15" name="Oval 14"/>
          <p:cNvSpPr/>
          <p:nvPr/>
        </p:nvSpPr>
        <p:spPr>
          <a:xfrm>
            <a:off x="694944" y="2816352"/>
            <a:ext cx="256032" cy="256032"/>
          </a:xfrm>
          <a:prstGeom prst="ellipse">
            <a:avLst/>
          </a:prstGeom>
          <a:solidFill>
            <a:srgbClr val="1B7F79"/>
          </a:solidFill>
          <a:ln>
            <a:noFill/>
          </a:ln>
          <a:effectLst/>
        </p:spPr>
        <p:txBody>
          <a:bodyPr rtlCol="0" anchor="ctr" wrap="none" lIns="0" rIns="0" tIns="0" bIns="0"/>
          <a:lstStyle/>
          <a:p>
            <a:pPr algn="ctr"/>
            <a:r>
              <a:rPr sz="950" b="1">
                <a:solidFill>
                  <a:srgbClr val="FFFFFF"/>
                </a:solidFill>
                <a:latin typeface="Calibri"/>
              </a:rPr>
              <a:t>4</a:t>
            </a:r>
          </a:p>
        </p:txBody>
      </p:sp>
      <p:sp>
        <p:nvSpPr>
          <p:cNvPr id="16" name="TextBox 15"/>
          <p:cNvSpPr txBox="1"/>
          <p:nvPr/>
        </p:nvSpPr>
        <p:spPr>
          <a:xfrm>
            <a:off x="1005840" y="2761488"/>
            <a:ext cx="10424160" cy="365760"/>
          </a:xfrm>
          <a:prstGeom prst="rect">
            <a:avLst/>
          </a:prstGeom>
          <a:noFill/>
        </p:spPr>
        <p:txBody>
          <a:bodyPr wrap="square" lIns="0" rIns="0" tIns="0" bIns="0" anchor="ctr">
            <a:spAutoFit/>
          </a:bodyPr>
          <a:lstStyle/>
          <a:p>
            <a:pPr marL="0" indent="0">
              <a:lnSpc>
                <a:spcPct val="112000"/>
              </a:lnSpc>
              <a:buNone/>
            </a:pPr>
            <a:r>
              <a:rPr sz="1060" b="0" i="0">
                <a:solidFill>
                  <a:srgbClr val="2E3F47"/>
                </a:solidFill>
                <a:latin typeface="Calibri"/>
              </a:rPr>
              <a:t>OLTP touches few rows very often; OLAP touches very many rows occasionally. The two differ by orders of magnitude.</a:t>
            </a:r>
          </a:p>
        </p:txBody>
      </p:sp>
      <p:sp>
        <p:nvSpPr>
          <p:cNvPr id="17" name="Rounded Rectangle 16"/>
          <p:cNvSpPr/>
          <p:nvPr/>
        </p:nvSpPr>
        <p:spPr>
          <a:xfrm>
            <a:off x="548640" y="3200400"/>
            <a:ext cx="11091672" cy="429768"/>
          </a:xfrm>
          <a:prstGeom prst="roundRect">
            <a:avLst>
              <a:gd name="adj" fmla="val 19148"/>
            </a:avLst>
          </a:prstGeom>
          <a:solidFill>
            <a:srgbClr val="F1F5F4"/>
          </a:solidFill>
          <a:ln w="12700">
            <a:solidFill>
              <a:srgbClr val="E4EDEB"/>
            </a:solidFill>
          </a:ln>
          <a:effectLst/>
        </p:spPr>
        <p:txBody>
          <a:bodyPr rtlCol="0" anchor="ctr"/>
          <a:lstStyle/>
          <a:p/>
        </p:txBody>
      </p:sp>
      <p:sp>
        <p:nvSpPr>
          <p:cNvPr id="18" name="Oval 17"/>
          <p:cNvSpPr/>
          <p:nvPr/>
        </p:nvSpPr>
        <p:spPr>
          <a:xfrm>
            <a:off x="694944" y="3291840"/>
            <a:ext cx="256032" cy="256032"/>
          </a:xfrm>
          <a:prstGeom prst="ellipse">
            <a:avLst/>
          </a:prstGeom>
          <a:solidFill>
            <a:srgbClr val="123B47"/>
          </a:solidFill>
          <a:ln>
            <a:noFill/>
          </a:ln>
          <a:effectLst/>
        </p:spPr>
        <p:txBody>
          <a:bodyPr rtlCol="0" anchor="ctr" wrap="none" lIns="0" rIns="0" tIns="0" bIns="0"/>
          <a:lstStyle/>
          <a:p>
            <a:pPr algn="ctr"/>
            <a:r>
              <a:rPr sz="950" b="1">
                <a:solidFill>
                  <a:srgbClr val="FFFFFF"/>
                </a:solidFill>
                <a:latin typeface="Calibri"/>
              </a:rPr>
              <a:t>5</a:t>
            </a:r>
          </a:p>
        </p:txBody>
      </p:sp>
      <p:sp>
        <p:nvSpPr>
          <p:cNvPr id="19" name="TextBox 18"/>
          <p:cNvSpPr txBox="1"/>
          <p:nvPr/>
        </p:nvSpPr>
        <p:spPr>
          <a:xfrm>
            <a:off x="1005840" y="3236976"/>
            <a:ext cx="10424160" cy="365760"/>
          </a:xfrm>
          <a:prstGeom prst="rect">
            <a:avLst/>
          </a:prstGeom>
          <a:noFill/>
        </p:spPr>
        <p:txBody>
          <a:bodyPr wrap="square" lIns="0" rIns="0" tIns="0" bIns="0" anchor="ctr">
            <a:spAutoFit/>
          </a:bodyPr>
          <a:lstStyle/>
          <a:p>
            <a:pPr marL="0" indent="0">
              <a:lnSpc>
                <a:spcPct val="112000"/>
              </a:lnSpc>
              <a:buNone/>
            </a:pPr>
            <a:r>
              <a:rPr sz="1060" b="0" i="0">
                <a:solidFill>
                  <a:srgbClr val="2E3F47"/>
                </a:solidFill>
                <a:latin typeface="Calibri"/>
              </a:rPr>
              <a:t>The five OLAP operations are roll-up, drill-down, slice, dice and pivot; drill-through and drill-across are worth knowing too.</a:t>
            </a:r>
          </a:p>
        </p:txBody>
      </p:sp>
      <p:sp>
        <p:nvSpPr>
          <p:cNvPr id="20" name="Rounded Rectangle 19"/>
          <p:cNvSpPr/>
          <p:nvPr/>
        </p:nvSpPr>
        <p:spPr>
          <a:xfrm>
            <a:off x="548640" y="3675887"/>
            <a:ext cx="11091672" cy="429768"/>
          </a:xfrm>
          <a:prstGeom prst="roundRect">
            <a:avLst>
              <a:gd name="adj" fmla="val 19148"/>
            </a:avLst>
          </a:prstGeom>
          <a:solidFill>
            <a:srgbClr val="FFFFFF"/>
          </a:solidFill>
          <a:ln w="12700">
            <a:solidFill>
              <a:srgbClr val="E4EDEB"/>
            </a:solidFill>
          </a:ln>
          <a:effectLst/>
        </p:spPr>
        <p:txBody>
          <a:bodyPr rtlCol="0" anchor="ctr"/>
          <a:lstStyle/>
          <a:p/>
        </p:txBody>
      </p:sp>
      <p:sp>
        <p:nvSpPr>
          <p:cNvPr id="21" name="Oval 20"/>
          <p:cNvSpPr/>
          <p:nvPr/>
        </p:nvSpPr>
        <p:spPr>
          <a:xfrm>
            <a:off x="694944" y="3767327"/>
            <a:ext cx="256032" cy="256032"/>
          </a:xfrm>
          <a:prstGeom prst="ellipse">
            <a:avLst/>
          </a:prstGeom>
          <a:solidFill>
            <a:srgbClr val="1B7F79"/>
          </a:solidFill>
          <a:ln>
            <a:noFill/>
          </a:ln>
          <a:effectLst/>
        </p:spPr>
        <p:txBody>
          <a:bodyPr rtlCol="0" anchor="ctr" wrap="none" lIns="0" rIns="0" tIns="0" bIns="0"/>
          <a:lstStyle/>
          <a:p>
            <a:pPr algn="ctr"/>
            <a:r>
              <a:rPr sz="950" b="1">
                <a:solidFill>
                  <a:srgbClr val="FFFFFF"/>
                </a:solidFill>
                <a:latin typeface="Calibri"/>
              </a:rPr>
              <a:t>6</a:t>
            </a:r>
          </a:p>
        </p:txBody>
      </p:sp>
      <p:sp>
        <p:nvSpPr>
          <p:cNvPr id="22" name="TextBox 21"/>
          <p:cNvSpPr txBox="1"/>
          <p:nvPr/>
        </p:nvSpPr>
        <p:spPr>
          <a:xfrm>
            <a:off x="1005840" y="3712463"/>
            <a:ext cx="10424160" cy="365760"/>
          </a:xfrm>
          <a:prstGeom prst="rect">
            <a:avLst/>
          </a:prstGeom>
          <a:noFill/>
        </p:spPr>
        <p:txBody>
          <a:bodyPr wrap="square" lIns="0" rIns="0" tIns="0" bIns="0" anchor="ctr">
            <a:spAutoFit/>
          </a:bodyPr>
          <a:lstStyle/>
          <a:p>
            <a:pPr marL="0" indent="0">
              <a:lnSpc>
                <a:spcPct val="112000"/>
              </a:lnSpc>
              <a:buNone/>
            </a:pPr>
            <a:r>
              <a:rPr sz="1060" b="0" i="0">
                <a:solidFill>
                  <a:srgbClr val="2E3F47"/>
                </a:solidFill>
                <a:latin typeface="Calibri"/>
              </a:rPr>
              <a:t>MOLAP, ROLAP and HOLAP describe an argument that columnar and in-memory engines have largely settled in favour of ROLAP.</a:t>
            </a:r>
          </a:p>
        </p:txBody>
      </p:sp>
      <p:sp>
        <p:nvSpPr>
          <p:cNvPr id="23" name="Rounded Rectangle 22"/>
          <p:cNvSpPr/>
          <p:nvPr/>
        </p:nvSpPr>
        <p:spPr>
          <a:xfrm>
            <a:off x="548640" y="4151375"/>
            <a:ext cx="11091672" cy="429768"/>
          </a:xfrm>
          <a:prstGeom prst="roundRect">
            <a:avLst>
              <a:gd name="adj" fmla="val 19148"/>
            </a:avLst>
          </a:prstGeom>
          <a:solidFill>
            <a:srgbClr val="F1F5F4"/>
          </a:solidFill>
          <a:ln w="12700">
            <a:solidFill>
              <a:srgbClr val="E4EDEB"/>
            </a:solidFill>
          </a:ln>
          <a:effectLst/>
        </p:spPr>
        <p:txBody>
          <a:bodyPr rtlCol="0" anchor="ctr"/>
          <a:lstStyle/>
          <a:p/>
        </p:txBody>
      </p:sp>
      <p:sp>
        <p:nvSpPr>
          <p:cNvPr id="24" name="Oval 23"/>
          <p:cNvSpPr/>
          <p:nvPr/>
        </p:nvSpPr>
        <p:spPr>
          <a:xfrm>
            <a:off x="694944" y="4242815"/>
            <a:ext cx="256032" cy="256032"/>
          </a:xfrm>
          <a:prstGeom prst="ellipse">
            <a:avLst/>
          </a:prstGeom>
          <a:solidFill>
            <a:srgbClr val="123B47"/>
          </a:solidFill>
          <a:ln>
            <a:noFill/>
          </a:ln>
          <a:effectLst/>
        </p:spPr>
        <p:txBody>
          <a:bodyPr rtlCol="0" anchor="ctr" wrap="none" lIns="0" rIns="0" tIns="0" bIns="0"/>
          <a:lstStyle/>
          <a:p>
            <a:pPr algn="ctr"/>
            <a:r>
              <a:rPr sz="950" b="1">
                <a:solidFill>
                  <a:srgbClr val="FFFFFF"/>
                </a:solidFill>
                <a:latin typeface="Calibri"/>
              </a:rPr>
              <a:t>7</a:t>
            </a:r>
          </a:p>
        </p:txBody>
      </p:sp>
      <p:sp>
        <p:nvSpPr>
          <p:cNvPr id="25" name="TextBox 24"/>
          <p:cNvSpPr txBox="1"/>
          <p:nvPr/>
        </p:nvSpPr>
        <p:spPr>
          <a:xfrm>
            <a:off x="1005840" y="4187951"/>
            <a:ext cx="10424160" cy="365760"/>
          </a:xfrm>
          <a:prstGeom prst="rect">
            <a:avLst/>
          </a:prstGeom>
          <a:noFill/>
        </p:spPr>
        <p:txBody>
          <a:bodyPr wrap="square" lIns="0" rIns="0" tIns="0" bIns="0" anchor="ctr">
            <a:spAutoFit/>
          </a:bodyPr>
          <a:lstStyle/>
          <a:p>
            <a:pPr marL="0" indent="0">
              <a:lnSpc>
                <a:spcPct val="112000"/>
              </a:lnSpc>
              <a:buNone/>
            </a:pPr>
            <a:r>
              <a:rPr sz="1060" b="0" i="0">
                <a:solidFill>
                  <a:srgbClr val="2E3F47"/>
                </a:solidFill>
                <a:latin typeface="Calibri"/>
              </a:rPr>
              <a:t>Each architectural layer has one job, and data flows one way; a report reading from staging breaks the whole design.</a:t>
            </a:r>
          </a:p>
        </p:txBody>
      </p:sp>
      <p:sp>
        <p:nvSpPr>
          <p:cNvPr id="26" name="Rounded Rectangle 25"/>
          <p:cNvSpPr/>
          <p:nvPr/>
        </p:nvSpPr>
        <p:spPr>
          <a:xfrm>
            <a:off x="548640" y="4626863"/>
            <a:ext cx="11091672" cy="429768"/>
          </a:xfrm>
          <a:prstGeom prst="roundRect">
            <a:avLst>
              <a:gd name="adj" fmla="val 19148"/>
            </a:avLst>
          </a:prstGeom>
          <a:solidFill>
            <a:srgbClr val="FFFFFF"/>
          </a:solidFill>
          <a:ln w="12700">
            <a:solidFill>
              <a:srgbClr val="E4EDEB"/>
            </a:solidFill>
          </a:ln>
          <a:effectLst/>
        </p:spPr>
        <p:txBody>
          <a:bodyPr rtlCol="0" anchor="ctr"/>
          <a:lstStyle/>
          <a:p/>
        </p:txBody>
      </p:sp>
      <p:sp>
        <p:nvSpPr>
          <p:cNvPr id="27" name="Oval 26"/>
          <p:cNvSpPr/>
          <p:nvPr/>
        </p:nvSpPr>
        <p:spPr>
          <a:xfrm>
            <a:off x="694944" y="4718303"/>
            <a:ext cx="256032" cy="256032"/>
          </a:xfrm>
          <a:prstGeom prst="ellipse">
            <a:avLst/>
          </a:prstGeom>
          <a:solidFill>
            <a:srgbClr val="1B7F79"/>
          </a:solidFill>
          <a:ln>
            <a:noFill/>
          </a:ln>
          <a:effectLst/>
        </p:spPr>
        <p:txBody>
          <a:bodyPr rtlCol="0" anchor="ctr" wrap="none" lIns="0" rIns="0" tIns="0" bIns="0"/>
          <a:lstStyle/>
          <a:p>
            <a:pPr algn="ctr"/>
            <a:r>
              <a:rPr sz="950" b="1">
                <a:solidFill>
                  <a:srgbClr val="FFFFFF"/>
                </a:solidFill>
                <a:latin typeface="Calibri"/>
              </a:rPr>
              <a:t>8</a:t>
            </a:r>
          </a:p>
        </p:txBody>
      </p:sp>
      <p:sp>
        <p:nvSpPr>
          <p:cNvPr id="28" name="TextBox 27"/>
          <p:cNvSpPr txBox="1"/>
          <p:nvPr/>
        </p:nvSpPr>
        <p:spPr>
          <a:xfrm>
            <a:off x="1005840" y="4663439"/>
            <a:ext cx="10424160" cy="365760"/>
          </a:xfrm>
          <a:prstGeom prst="rect">
            <a:avLst/>
          </a:prstGeom>
          <a:noFill/>
        </p:spPr>
        <p:txBody>
          <a:bodyPr wrap="square" lIns="0" rIns="0" tIns="0" bIns="0" anchor="ctr">
            <a:spAutoFit/>
          </a:bodyPr>
          <a:lstStyle/>
          <a:p>
            <a:pPr marL="0" indent="0">
              <a:lnSpc>
                <a:spcPct val="112000"/>
              </a:lnSpc>
              <a:buNone/>
            </a:pPr>
            <a:r>
              <a:rPr sz="1060" b="0" i="0">
                <a:solidFill>
                  <a:srgbClr val="2E3F47"/>
                </a:solidFill>
                <a:latin typeface="Calibri"/>
              </a:rPr>
              <a:t>ELT is the cloud default; ETL survives where raw data may not be landed. Either way the logic must be documented and testable.</a:t>
            </a:r>
          </a:p>
        </p:txBody>
      </p:sp>
      <p:sp>
        <p:nvSpPr>
          <p:cNvPr id="29" name="Rounded Rectangle 28"/>
          <p:cNvSpPr/>
          <p:nvPr/>
        </p:nvSpPr>
        <p:spPr>
          <a:xfrm>
            <a:off x="548640" y="5102351"/>
            <a:ext cx="11091672" cy="429768"/>
          </a:xfrm>
          <a:prstGeom prst="roundRect">
            <a:avLst>
              <a:gd name="adj" fmla="val 19148"/>
            </a:avLst>
          </a:prstGeom>
          <a:solidFill>
            <a:srgbClr val="F1F5F4"/>
          </a:solidFill>
          <a:ln w="12700">
            <a:solidFill>
              <a:srgbClr val="E4EDEB"/>
            </a:solidFill>
          </a:ln>
          <a:effectLst/>
        </p:spPr>
        <p:txBody>
          <a:bodyPr rtlCol="0" anchor="ctr"/>
          <a:lstStyle/>
          <a:p/>
        </p:txBody>
      </p:sp>
      <p:sp>
        <p:nvSpPr>
          <p:cNvPr id="30" name="Oval 29"/>
          <p:cNvSpPr/>
          <p:nvPr/>
        </p:nvSpPr>
        <p:spPr>
          <a:xfrm>
            <a:off x="694944" y="5193791"/>
            <a:ext cx="256032" cy="256032"/>
          </a:xfrm>
          <a:prstGeom prst="ellipse">
            <a:avLst/>
          </a:prstGeom>
          <a:solidFill>
            <a:srgbClr val="123B47"/>
          </a:solidFill>
          <a:ln>
            <a:noFill/>
          </a:ln>
          <a:effectLst/>
        </p:spPr>
        <p:txBody>
          <a:bodyPr rtlCol="0" anchor="ctr" wrap="none" lIns="0" rIns="0" tIns="0" bIns="0"/>
          <a:lstStyle/>
          <a:p>
            <a:pPr algn="ctr"/>
            <a:r>
              <a:rPr sz="950" b="1">
                <a:solidFill>
                  <a:srgbClr val="FFFFFF"/>
                </a:solidFill>
                <a:latin typeface="Calibri"/>
              </a:rPr>
              <a:t>9</a:t>
            </a:r>
          </a:p>
        </p:txBody>
      </p:sp>
      <p:sp>
        <p:nvSpPr>
          <p:cNvPr id="31" name="TextBox 30"/>
          <p:cNvSpPr txBox="1"/>
          <p:nvPr/>
        </p:nvSpPr>
        <p:spPr>
          <a:xfrm>
            <a:off x="1005840" y="5138927"/>
            <a:ext cx="10424160" cy="365760"/>
          </a:xfrm>
          <a:prstGeom prst="rect">
            <a:avLst/>
          </a:prstGeom>
          <a:noFill/>
        </p:spPr>
        <p:txBody>
          <a:bodyPr wrap="square" lIns="0" rIns="0" tIns="0" bIns="0" anchor="ctr">
            <a:spAutoFit/>
          </a:bodyPr>
          <a:lstStyle/>
          <a:p>
            <a:pPr marL="0" indent="0">
              <a:lnSpc>
                <a:spcPct val="112000"/>
              </a:lnSpc>
              <a:buNone/>
            </a:pPr>
            <a:r>
              <a:rPr sz="1060" b="0" i="0">
                <a:solidFill>
                  <a:srgbClr val="2E3F47"/>
                </a:solidFill>
                <a:latin typeface="Calibri"/>
              </a:rPr>
              <a:t>Kimball delivers value sooner and suits most organisations, provided conformed dimensions are genuinely governed.</a:t>
            </a:r>
          </a:p>
        </p:txBody>
      </p:sp>
      <p:sp>
        <p:nvSpPr>
          <p:cNvPr id="32" name="Rounded Rectangle 31"/>
          <p:cNvSpPr/>
          <p:nvPr/>
        </p:nvSpPr>
        <p:spPr>
          <a:xfrm>
            <a:off x="548640" y="5577839"/>
            <a:ext cx="11091672" cy="429768"/>
          </a:xfrm>
          <a:prstGeom prst="roundRect">
            <a:avLst>
              <a:gd name="adj" fmla="val 19148"/>
            </a:avLst>
          </a:prstGeom>
          <a:solidFill>
            <a:srgbClr val="FFFFFF"/>
          </a:solidFill>
          <a:ln w="12700">
            <a:solidFill>
              <a:srgbClr val="E4EDEB"/>
            </a:solidFill>
          </a:ln>
          <a:effectLst/>
        </p:spPr>
        <p:txBody>
          <a:bodyPr rtlCol="0" anchor="ctr"/>
          <a:lstStyle/>
          <a:p/>
        </p:txBody>
      </p:sp>
      <p:sp>
        <p:nvSpPr>
          <p:cNvPr id="33" name="Oval 32"/>
          <p:cNvSpPr/>
          <p:nvPr/>
        </p:nvSpPr>
        <p:spPr>
          <a:xfrm>
            <a:off x="694944" y="5669279"/>
            <a:ext cx="256032" cy="256032"/>
          </a:xfrm>
          <a:prstGeom prst="ellipse">
            <a:avLst/>
          </a:prstGeom>
          <a:solidFill>
            <a:srgbClr val="1B7F79"/>
          </a:solidFill>
          <a:ln>
            <a:noFill/>
          </a:ln>
          <a:effectLst/>
        </p:spPr>
        <p:txBody>
          <a:bodyPr rtlCol="0" anchor="ctr" wrap="none" lIns="0" rIns="0" tIns="0" bIns="0"/>
          <a:lstStyle/>
          <a:p>
            <a:pPr algn="ctr"/>
            <a:r>
              <a:rPr sz="950" b="1">
                <a:solidFill>
                  <a:srgbClr val="FFFFFF"/>
                </a:solidFill>
                <a:latin typeface="Calibri"/>
              </a:rPr>
              <a:t>10</a:t>
            </a:r>
          </a:p>
        </p:txBody>
      </p:sp>
      <p:sp>
        <p:nvSpPr>
          <p:cNvPr id="34" name="TextBox 33"/>
          <p:cNvSpPr txBox="1"/>
          <p:nvPr/>
        </p:nvSpPr>
        <p:spPr>
          <a:xfrm>
            <a:off x="1005840" y="5614415"/>
            <a:ext cx="10424160" cy="365760"/>
          </a:xfrm>
          <a:prstGeom prst="rect">
            <a:avLst/>
          </a:prstGeom>
          <a:noFill/>
        </p:spPr>
        <p:txBody>
          <a:bodyPr wrap="square" lIns="0" rIns="0" tIns="0" bIns="0" anchor="ctr">
            <a:spAutoFit/>
          </a:bodyPr>
          <a:lstStyle/>
          <a:p>
            <a:pPr marL="0" indent="0">
              <a:lnSpc>
                <a:spcPct val="112000"/>
              </a:lnSpc>
              <a:buNone/>
            </a:pPr>
            <a:r>
              <a:rPr sz="1060" b="0" i="0">
                <a:solidFill>
                  <a:srgbClr val="2E3F47"/>
                </a:solidFill>
                <a:latin typeface="Calibri"/>
              </a:rPr>
              <a:t>Grain chosen too coarse and history not retained are the two mistakes that cannot be undone later.</a:t>
            </a:r>
          </a:p>
        </p:txBody>
      </p:sp>
      <p:sp>
        <p:nvSpPr>
          <p:cNvPr id="35" name="TextBox 34"/>
          <p:cNvSpPr txBox="1"/>
          <p:nvPr/>
        </p:nvSpPr>
        <p:spPr>
          <a:xfrm>
            <a:off x="548640" y="6382512"/>
            <a:ext cx="8686800" cy="256032"/>
          </a:xfrm>
          <a:prstGeom prst="rect">
            <a:avLst/>
          </a:prstGeom>
          <a:noFill/>
        </p:spPr>
        <p:txBody>
          <a:bodyPr wrap="square" lIns="0" rIns="0" tIns="0" bIns="0" anchor="t">
            <a:spAutoFit/>
          </a:bodyPr>
          <a:lstStyle/>
          <a:p>
            <a:pPr algn="l" marL="0" indent="0">
              <a:buNone/>
            </a:pPr>
            <a:r>
              <a:rPr sz="900" b="0" i="0">
                <a:solidFill>
                  <a:srgbClr val="5C7079"/>
                </a:solidFill>
                <a:latin typeface="Calibri"/>
              </a:rPr>
              <a:t>Business Intelligence  |  Session 6 — Data Warehousing &amp; OLTP/OLAP  |  IILM Jaipur, MBA</a:t>
            </a:r>
          </a:p>
        </p:txBody>
      </p:sp>
      <p:sp>
        <p:nvSpPr>
          <p:cNvPr id="36" name="TextBox 35"/>
          <p:cNvSpPr txBox="1"/>
          <p:nvPr/>
        </p:nvSpPr>
        <p:spPr>
          <a:xfrm>
            <a:off x="10543032" y="6382512"/>
            <a:ext cx="1097280" cy="256032"/>
          </a:xfrm>
          <a:prstGeom prst="rect">
            <a:avLst/>
          </a:prstGeom>
          <a:noFill/>
        </p:spPr>
        <p:txBody>
          <a:bodyPr wrap="square" lIns="0" rIns="0" tIns="0" bIns="0" anchor="t">
            <a:spAutoFit/>
          </a:bodyPr>
          <a:lstStyle/>
          <a:p>
            <a:pPr algn="r" marL="0" indent="0">
              <a:buNone/>
            </a:pPr>
            <a:r>
              <a:rPr sz="950" b="1" i="0">
                <a:solidFill>
                  <a:srgbClr val="1B7F79"/>
                </a:solidFill>
                <a:latin typeface="Calibr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374904"/>
            <a:ext cx="109728" cy="109728"/>
          </a:xfrm>
          <a:prstGeom prst="ellipse">
            <a:avLst/>
          </a:prstGeom>
          <a:solidFill>
            <a:srgbClr val="E8A33D"/>
          </a:solidFill>
          <a:ln>
            <a:noFill/>
          </a:ln>
          <a:effectLst/>
        </p:spPr>
        <p:txBody>
          <a:bodyPr rtlCol="0" anchor="ctr" wrap="none" lIns="0" rIns="0" tIns="0" bIns="0"/>
          <a:lstStyle/>
          <a:p>
            <a:pPr algn="ctr"/>
          </a:p>
        </p:txBody>
      </p:sp>
      <p:sp>
        <p:nvSpPr>
          <p:cNvPr id="3" name="TextBox 2"/>
          <p:cNvSpPr txBox="1"/>
          <p:nvPr/>
        </p:nvSpPr>
        <p:spPr>
          <a:xfrm>
            <a:off x="749808" y="283464"/>
            <a:ext cx="10890504" cy="256032"/>
          </a:xfrm>
          <a:prstGeom prst="rect">
            <a:avLst/>
          </a:prstGeom>
          <a:noFill/>
        </p:spPr>
        <p:txBody>
          <a:bodyPr wrap="square" lIns="0" rIns="0" tIns="0" bIns="0" anchor="t">
            <a:spAutoFit/>
          </a:bodyPr>
          <a:lstStyle/>
          <a:p>
            <a:pPr marL="0" indent="0">
              <a:buNone/>
            </a:pPr>
            <a:r>
              <a:rPr sz="1000" b="1" i="0">
                <a:solidFill>
                  <a:srgbClr val="B87A1E"/>
                </a:solidFill>
                <a:latin typeface="Calibri"/>
              </a:rPr>
              <a:t>REVISION AID</a:t>
            </a:r>
          </a:p>
        </p:txBody>
      </p:sp>
      <p:sp>
        <p:nvSpPr>
          <p:cNvPr id="4" name="TextBox 3"/>
          <p:cNvSpPr txBox="1"/>
          <p:nvPr/>
        </p:nvSpPr>
        <p:spPr>
          <a:xfrm>
            <a:off x="548640" y="548640"/>
            <a:ext cx="11091672" cy="640080"/>
          </a:xfrm>
          <a:prstGeom prst="rect">
            <a:avLst/>
          </a:prstGeom>
          <a:noFill/>
        </p:spPr>
        <p:txBody>
          <a:bodyPr wrap="square" lIns="0" rIns="0" tIns="0" bIns="0" anchor="t">
            <a:spAutoFit/>
          </a:bodyPr>
          <a:lstStyle/>
          <a:p>
            <a:pPr algn="l" marL="0" indent="0">
              <a:buNone/>
            </a:pPr>
            <a:r>
              <a:rPr sz="2700" b="1" i="0">
                <a:solidFill>
                  <a:srgbClr val="123B47"/>
                </a:solidFill>
                <a:latin typeface="Cambria"/>
              </a:rPr>
              <a:t>Key terms introduced in this session</a:t>
            </a:r>
          </a:p>
        </p:txBody>
      </p:sp>
      <p:graphicFrame>
        <p:nvGraphicFramePr>
          <p:cNvPr id="5" name="Table 4"/>
          <p:cNvGraphicFramePr>
            <a:graphicFrameLocks noGrp="1"/>
          </p:cNvGraphicFramePr>
          <p:nvPr/>
        </p:nvGraphicFramePr>
        <p:xfrm>
          <a:off x="548640" y="1316736"/>
          <a:ext cx="5669280" cy="4224528"/>
        </p:xfrm>
        <a:graphic>
          <a:graphicData uri="http://schemas.openxmlformats.org/drawingml/2006/table">
            <a:tbl>
              <a:tblPr bandRow="0" firstRow="0"/>
              <a:tblGrid>
                <a:gridCol w="1965960"/>
                <a:gridCol w="3703320"/>
              </a:tblGrid>
              <a:tr h="384048">
                <a:tc>
                  <a:txBody>
                    <a:bodyPr wrap="square"/>
                    <a:lstStyle/>
                    <a:p>
                      <a:pPr marL="0" indent="0">
                        <a:buNone/>
                        <a:defRPr sz="990"/>
                      </a:pPr>
                      <a:r>
                        <a:rPr sz="990" b="1">
                          <a:solidFill>
                            <a:srgbClr val="FFFFFF"/>
                          </a:solidFill>
                          <a:latin typeface="Calibri"/>
                        </a:rPr>
                        <a:t>Term</a:t>
                      </a:r>
                      <a:endParaRPr lang="en-US" sz="99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123B47"/>
                    </a:solidFill>
                  </a:tcPr>
                </a:tc>
                <a:tc>
                  <a:txBody>
                    <a:bodyPr wrap="square"/>
                    <a:lstStyle/>
                    <a:p>
                      <a:pPr marL="0" indent="0">
                        <a:buNone/>
                        <a:defRPr sz="990"/>
                      </a:pPr>
                      <a:r>
                        <a:rPr sz="990" b="1">
                          <a:solidFill>
                            <a:srgbClr val="FFFFFF"/>
                          </a:solidFill>
                          <a:latin typeface="Calibri"/>
                        </a:rPr>
                        <a:t>One-line definition to memorise</a:t>
                      </a:r>
                      <a:endParaRPr lang="en-US" sz="99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123B47"/>
                    </a:solidFill>
                  </a:tcPr>
                </a:tc>
              </a:tr>
              <a:tr h="384048">
                <a:tc>
                  <a:txBody>
                    <a:bodyPr wrap="square"/>
                    <a:lstStyle/>
                    <a:p>
                      <a:pPr marL="0" indent="0">
                        <a:buNone/>
                        <a:defRPr sz="940"/>
                      </a:pPr>
                      <a:r>
                        <a:rPr sz="940" b="1">
                          <a:solidFill>
                            <a:srgbClr val="2E3F47"/>
                          </a:solidFill>
                          <a:latin typeface="Calibri"/>
                        </a:rPr>
                        <a:t>Data warehouse</a:t>
                      </a:r>
                      <a:endParaRPr lang="en-US" sz="94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40"/>
                      </a:pPr>
                      <a:r>
                        <a:rPr sz="940" b="0">
                          <a:solidFill>
                            <a:srgbClr val="2E3F47"/>
                          </a:solidFill>
                          <a:latin typeface="Calibri"/>
                        </a:rPr>
                        <a:t>Subject-oriented, integrated, time-variant, non-volatile store for decisions</a:t>
                      </a:r>
                      <a:endParaRPr lang="en-US" sz="94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r>
              <a:tr h="384048">
                <a:tc>
                  <a:txBody>
                    <a:bodyPr wrap="square"/>
                    <a:lstStyle/>
                    <a:p>
                      <a:pPr marL="0" indent="0">
                        <a:buNone/>
                        <a:defRPr sz="940"/>
                      </a:pPr>
                      <a:r>
                        <a:rPr sz="940" b="1">
                          <a:solidFill>
                            <a:srgbClr val="2E3F47"/>
                          </a:solidFill>
                          <a:latin typeface="Calibri"/>
                        </a:rPr>
                        <a:t>Subject-oriented</a:t>
                      </a:r>
                      <a:endParaRPr lang="en-US" sz="94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40"/>
                      </a:pPr>
                      <a:r>
                        <a:rPr sz="940" b="0">
                          <a:solidFill>
                            <a:srgbClr val="2E3F47"/>
                          </a:solidFill>
                          <a:latin typeface="Calibri"/>
                        </a:rPr>
                        <a:t>Organised by business subject, not by source application</a:t>
                      </a:r>
                      <a:endParaRPr lang="en-US" sz="94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r>
              <a:tr h="384048">
                <a:tc>
                  <a:txBody>
                    <a:bodyPr wrap="square"/>
                    <a:lstStyle/>
                    <a:p>
                      <a:pPr marL="0" indent="0">
                        <a:buNone/>
                        <a:defRPr sz="940"/>
                      </a:pPr>
                      <a:r>
                        <a:rPr sz="940" b="1">
                          <a:solidFill>
                            <a:srgbClr val="2E3F47"/>
                          </a:solidFill>
                          <a:latin typeface="Calibri"/>
                        </a:rPr>
                        <a:t>Integrated</a:t>
                      </a:r>
                      <a:endParaRPr lang="en-US" sz="94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40"/>
                      </a:pPr>
                      <a:r>
                        <a:rPr sz="940" b="0">
                          <a:solidFill>
                            <a:srgbClr val="2E3F47"/>
                          </a:solidFill>
                          <a:latin typeface="Calibri"/>
                        </a:rPr>
                        <a:t>Codes, units and definitions reconciled before storage</a:t>
                      </a:r>
                      <a:endParaRPr lang="en-US" sz="94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r>
              <a:tr h="384048">
                <a:tc>
                  <a:txBody>
                    <a:bodyPr wrap="square"/>
                    <a:lstStyle/>
                    <a:p>
                      <a:pPr marL="0" indent="0">
                        <a:buNone/>
                        <a:defRPr sz="940"/>
                      </a:pPr>
                      <a:r>
                        <a:rPr sz="940" b="1">
                          <a:solidFill>
                            <a:srgbClr val="2E3F47"/>
                          </a:solidFill>
                          <a:latin typeface="Calibri"/>
                        </a:rPr>
                        <a:t>Time-variant</a:t>
                      </a:r>
                      <a:endParaRPr lang="en-US" sz="94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40"/>
                      </a:pPr>
                      <a:r>
                        <a:rPr sz="940" b="0">
                          <a:solidFill>
                            <a:srgbClr val="2E3F47"/>
                          </a:solidFill>
                          <a:latin typeface="Calibri"/>
                        </a:rPr>
                        <a:t>History retained with a time context on every record</a:t>
                      </a:r>
                      <a:endParaRPr lang="en-US" sz="94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r>
              <a:tr h="384048">
                <a:tc>
                  <a:txBody>
                    <a:bodyPr wrap="square"/>
                    <a:lstStyle/>
                    <a:p>
                      <a:pPr marL="0" indent="0">
                        <a:buNone/>
                        <a:defRPr sz="940"/>
                      </a:pPr>
                      <a:r>
                        <a:rPr sz="940" b="1">
                          <a:solidFill>
                            <a:srgbClr val="2E3F47"/>
                          </a:solidFill>
                          <a:latin typeface="Calibri"/>
                        </a:rPr>
                        <a:t>Non-volatile</a:t>
                      </a:r>
                      <a:endParaRPr lang="en-US" sz="94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40"/>
                      </a:pPr>
                      <a:r>
                        <a:rPr sz="940" b="0">
                          <a:solidFill>
                            <a:srgbClr val="2E3F47"/>
                          </a:solidFill>
                          <a:latin typeface="Calibri"/>
                        </a:rPr>
                        <a:t>Loaded and read, not updated in place by users</a:t>
                      </a:r>
                      <a:endParaRPr lang="en-US" sz="94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r>
              <a:tr h="384048">
                <a:tc>
                  <a:txBody>
                    <a:bodyPr wrap="square"/>
                    <a:lstStyle/>
                    <a:p>
                      <a:pPr marL="0" indent="0">
                        <a:buNone/>
                        <a:defRPr sz="940"/>
                      </a:pPr>
                      <a:r>
                        <a:rPr sz="940" b="1">
                          <a:solidFill>
                            <a:srgbClr val="2E3F47"/>
                          </a:solidFill>
                          <a:latin typeface="Calibri"/>
                        </a:rPr>
                        <a:t>OLTP</a:t>
                      </a:r>
                      <a:endParaRPr lang="en-US" sz="94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40"/>
                      </a:pPr>
                      <a:r>
                        <a:rPr sz="940" b="0">
                          <a:solidFill>
                            <a:srgbClr val="2E3F47"/>
                          </a:solidFill>
                          <a:latin typeface="Calibri"/>
                        </a:rPr>
                        <a:t>Many short transactions running the business</a:t>
                      </a:r>
                      <a:endParaRPr lang="en-US" sz="94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r>
              <a:tr h="384048">
                <a:tc>
                  <a:txBody>
                    <a:bodyPr wrap="square"/>
                    <a:lstStyle/>
                    <a:p>
                      <a:pPr marL="0" indent="0">
                        <a:buNone/>
                        <a:defRPr sz="940"/>
                      </a:pPr>
                      <a:r>
                        <a:rPr sz="940" b="1">
                          <a:solidFill>
                            <a:srgbClr val="2E3F47"/>
                          </a:solidFill>
                          <a:latin typeface="Calibri"/>
                        </a:rPr>
                        <a:t>OLAP</a:t>
                      </a:r>
                      <a:endParaRPr lang="en-US" sz="94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40"/>
                      </a:pPr>
                      <a:r>
                        <a:rPr sz="940" b="0">
                          <a:solidFill>
                            <a:srgbClr val="2E3F47"/>
                          </a:solidFill>
                          <a:latin typeface="Calibri"/>
                        </a:rPr>
                        <a:t>Few long analytical queries understanding the business</a:t>
                      </a:r>
                      <a:endParaRPr lang="en-US" sz="94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r>
              <a:tr h="384048">
                <a:tc>
                  <a:txBody>
                    <a:bodyPr wrap="square"/>
                    <a:lstStyle/>
                    <a:p>
                      <a:pPr marL="0" indent="0">
                        <a:buNone/>
                        <a:defRPr sz="940"/>
                      </a:pPr>
                      <a:r>
                        <a:rPr sz="940" b="1">
                          <a:solidFill>
                            <a:srgbClr val="2E3F47"/>
                          </a:solidFill>
                          <a:latin typeface="Calibri"/>
                        </a:rPr>
                        <a:t>Staging area</a:t>
                      </a:r>
                      <a:endParaRPr lang="en-US" sz="94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40"/>
                      </a:pPr>
                      <a:r>
                        <a:rPr sz="940" b="0">
                          <a:solidFill>
                            <a:srgbClr val="2E3F47"/>
                          </a:solidFill>
                          <a:latin typeface="Calibri"/>
                        </a:rPr>
                        <a:t>Landing zone for raw extracts, decoupling extraction from processing</a:t>
                      </a:r>
                      <a:endParaRPr lang="en-US" sz="94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r>
              <a:tr h="384048">
                <a:tc>
                  <a:txBody>
                    <a:bodyPr wrap="square"/>
                    <a:lstStyle/>
                    <a:p>
                      <a:pPr marL="0" indent="0">
                        <a:buNone/>
                        <a:defRPr sz="940"/>
                      </a:pPr>
                      <a:r>
                        <a:rPr sz="940" b="1">
                          <a:solidFill>
                            <a:srgbClr val="2E3F47"/>
                          </a:solidFill>
                          <a:latin typeface="Calibri"/>
                        </a:rPr>
                        <a:t>Operational data store</a:t>
                      </a:r>
                      <a:endParaRPr lang="en-US" sz="94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40"/>
                      </a:pPr>
                      <a:r>
                        <a:rPr sz="940" b="0">
                          <a:solidFill>
                            <a:srgbClr val="2E3F47"/>
                          </a:solidFill>
                          <a:latin typeface="Calibri"/>
                        </a:rPr>
                        <a:t>Current, integrated, subject-oriented store for operational use</a:t>
                      </a:r>
                      <a:endParaRPr lang="en-US" sz="94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r>
              <a:tr h="384048">
                <a:tc>
                  <a:txBody>
                    <a:bodyPr wrap="square"/>
                    <a:lstStyle/>
                    <a:p>
                      <a:pPr marL="0" indent="0">
                        <a:buNone/>
                        <a:defRPr sz="940"/>
                      </a:pPr>
                      <a:r>
                        <a:rPr sz="940" b="1">
                          <a:solidFill>
                            <a:srgbClr val="2E3F47"/>
                          </a:solidFill>
                          <a:latin typeface="Calibri"/>
                        </a:rPr>
                        <a:t>Data mart</a:t>
                      </a:r>
                      <a:endParaRPr lang="en-US" sz="94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40"/>
                      </a:pPr>
                      <a:r>
                        <a:rPr sz="940" b="0">
                          <a:solidFill>
                            <a:srgbClr val="2E3F47"/>
                          </a:solidFill>
                          <a:latin typeface="Calibri"/>
                        </a:rPr>
                        <a:t>Subject-specific subset of the warehouse for one function</a:t>
                      </a:r>
                      <a:endParaRPr lang="en-US" sz="94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r>
            </a:tbl>
          </a:graphicData>
        </a:graphic>
      </p:graphicFrame>
      <p:graphicFrame>
        <p:nvGraphicFramePr>
          <p:cNvPr id="6" name="Table 5"/>
          <p:cNvGraphicFramePr>
            <a:graphicFrameLocks noGrp="1"/>
          </p:cNvGraphicFramePr>
          <p:nvPr/>
        </p:nvGraphicFramePr>
        <p:xfrm>
          <a:off x="6519672" y="1316736"/>
          <a:ext cx="5120640" cy="4325112"/>
        </p:xfrm>
        <a:graphic>
          <a:graphicData uri="http://schemas.openxmlformats.org/drawingml/2006/table">
            <a:tbl>
              <a:tblPr bandRow="0" firstRow="0"/>
              <a:tblGrid>
                <a:gridCol w="1965960"/>
                <a:gridCol w="3154680"/>
              </a:tblGrid>
              <a:tr h="393192">
                <a:tc>
                  <a:txBody>
                    <a:bodyPr wrap="square"/>
                    <a:lstStyle/>
                    <a:p>
                      <a:pPr marL="0" indent="0">
                        <a:buNone/>
                        <a:defRPr sz="1010"/>
                      </a:pPr>
                      <a:r>
                        <a:rPr sz="1010" b="1">
                          <a:solidFill>
                            <a:srgbClr val="FFFFFF"/>
                          </a:solidFill>
                          <a:latin typeface="Calibri"/>
                        </a:rPr>
                        <a:t>Term</a:t>
                      </a:r>
                      <a:endParaRPr lang="en-US" sz="101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123B47"/>
                    </a:solidFill>
                  </a:tcPr>
                </a:tc>
                <a:tc>
                  <a:txBody>
                    <a:bodyPr wrap="square"/>
                    <a:lstStyle/>
                    <a:p>
                      <a:pPr marL="0" indent="0">
                        <a:buNone/>
                        <a:defRPr sz="1010"/>
                      </a:pPr>
                      <a:r>
                        <a:rPr sz="1010" b="1">
                          <a:solidFill>
                            <a:srgbClr val="FFFFFF"/>
                          </a:solidFill>
                          <a:latin typeface="Calibri"/>
                        </a:rPr>
                        <a:t>What to be able to state</a:t>
                      </a:r>
                      <a:endParaRPr lang="en-US" sz="101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123B47"/>
                    </a:solidFill>
                  </a:tcPr>
                </a:tc>
              </a:tr>
              <a:tr h="393192">
                <a:tc>
                  <a:txBody>
                    <a:bodyPr wrap="square"/>
                    <a:lstStyle/>
                    <a:p>
                      <a:pPr marL="0" indent="0">
                        <a:buNone/>
                        <a:defRPr sz="960"/>
                      </a:pPr>
                      <a:r>
                        <a:rPr sz="960" b="1">
                          <a:solidFill>
                            <a:srgbClr val="2E3F47"/>
                          </a:solidFill>
                          <a:latin typeface="Calibri"/>
                        </a:rPr>
                        <a:t>Roll-up / drill-down</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60"/>
                      </a:pPr>
                      <a:r>
                        <a:rPr sz="960" b="0">
                          <a:solidFill>
                            <a:srgbClr val="2E3F47"/>
                          </a:solidFill>
                          <a:latin typeface="Calibri"/>
                        </a:rPr>
                        <a:t>Aggregate up a hierarchy / move to finer detail</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r>
              <a:tr h="393192">
                <a:tc>
                  <a:txBody>
                    <a:bodyPr wrap="square"/>
                    <a:lstStyle/>
                    <a:p>
                      <a:pPr marL="0" indent="0">
                        <a:buNone/>
                        <a:defRPr sz="960"/>
                      </a:pPr>
                      <a:r>
                        <a:rPr sz="960" b="1">
                          <a:solidFill>
                            <a:srgbClr val="2E3F47"/>
                          </a:solidFill>
                          <a:latin typeface="Calibri"/>
                        </a:rPr>
                        <a:t>Slice / dice</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60"/>
                      </a:pPr>
                      <a:r>
                        <a:rPr sz="960" b="0">
                          <a:solidFill>
                            <a:srgbClr val="2E3F47"/>
                          </a:solidFill>
                          <a:latin typeface="Calibri"/>
                        </a:rPr>
                        <a:t>Fix one dimension / constrain several</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r>
              <a:tr h="393192">
                <a:tc>
                  <a:txBody>
                    <a:bodyPr wrap="square"/>
                    <a:lstStyle/>
                    <a:p>
                      <a:pPr marL="0" indent="0">
                        <a:buNone/>
                        <a:defRPr sz="960"/>
                      </a:pPr>
                      <a:r>
                        <a:rPr sz="960" b="1">
                          <a:solidFill>
                            <a:srgbClr val="2E3F47"/>
                          </a:solidFill>
                          <a:latin typeface="Calibri"/>
                        </a:rPr>
                        <a:t>Pivot</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60"/>
                      </a:pPr>
                      <a:r>
                        <a:rPr sz="960" b="0">
                          <a:solidFill>
                            <a:srgbClr val="2E3F47"/>
                          </a:solidFill>
                          <a:latin typeface="Calibri"/>
                        </a:rPr>
                        <a:t>Reorient rows and columns without changing data</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r>
              <a:tr h="393192">
                <a:tc>
                  <a:txBody>
                    <a:bodyPr wrap="square"/>
                    <a:lstStyle/>
                    <a:p>
                      <a:pPr marL="0" indent="0">
                        <a:buNone/>
                        <a:defRPr sz="960"/>
                      </a:pPr>
                      <a:r>
                        <a:rPr sz="960" b="1">
                          <a:solidFill>
                            <a:srgbClr val="2E3F47"/>
                          </a:solidFill>
                          <a:latin typeface="Calibri"/>
                        </a:rPr>
                        <a:t>Drill-across</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60"/>
                      </a:pPr>
                      <a:r>
                        <a:rPr sz="960" b="0">
                          <a:solidFill>
                            <a:srgbClr val="2E3F47"/>
                          </a:solidFill>
                          <a:latin typeface="Calibri"/>
                        </a:rPr>
                        <a:t>Compare two fact tables through conformed dimensions</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r>
              <a:tr h="393192">
                <a:tc>
                  <a:txBody>
                    <a:bodyPr wrap="square"/>
                    <a:lstStyle/>
                    <a:p>
                      <a:pPr marL="0" indent="0">
                        <a:buNone/>
                        <a:defRPr sz="960"/>
                      </a:pPr>
                      <a:r>
                        <a:rPr sz="960" b="1">
                          <a:solidFill>
                            <a:srgbClr val="2E3F47"/>
                          </a:solidFill>
                          <a:latin typeface="Calibri"/>
                        </a:rPr>
                        <a:t>MOLAP / ROLAP / HOLAP</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60"/>
                      </a:pPr>
                      <a:r>
                        <a:rPr sz="960" b="0">
                          <a:solidFill>
                            <a:srgbClr val="2E3F47"/>
                          </a:solidFill>
                          <a:latin typeface="Calibri"/>
                        </a:rPr>
                        <a:t>Pre-aggregated cube / relational star / hybrid</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r>
              <a:tr h="393192">
                <a:tc>
                  <a:txBody>
                    <a:bodyPr wrap="square"/>
                    <a:lstStyle/>
                    <a:p>
                      <a:pPr marL="0" indent="0">
                        <a:buNone/>
                        <a:defRPr sz="960"/>
                      </a:pPr>
                      <a:r>
                        <a:rPr sz="960" b="1">
                          <a:solidFill>
                            <a:srgbClr val="2E3F47"/>
                          </a:solidFill>
                          <a:latin typeface="Calibri"/>
                        </a:rPr>
                        <a:t>ETL / ELT</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60"/>
                      </a:pPr>
                      <a:r>
                        <a:rPr sz="960" b="0">
                          <a:solidFill>
                            <a:srgbClr val="2E3F47"/>
                          </a:solidFill>
                          <a:latin typeface="Calibri"/>
                        </a:rPr>
                        <a:t>Transform before loading / land raw and transform in place</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r>
              <a:tr h="393192">
                <a:tc>
                  <a:txBody>
                    <a:bodyPr wrap="square"/>
                    <a:lstStyle/>
                    <a:p>
                      <a:pPr marL="0" indent="0">
                        <a:buNone/>
                        <a:defRPr sz="960"/>
                      </a:pPr>
                      <a:r>
                        <a:rPr sz="960" b="1">
                          <a:solidFill>
                            <a:srgbClr val="2E3F47"/>
                          </a:solidFill>
                          <a:latin typeface="Calibri"/>
                        </a:rPr>
                        <a:t>CDC</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60"/>
                      </a:pPr>
                      <a:r>
                        <a:rPr sz="960" b="0">
                          <a:solidFill>
                            <a:srgbClr val="2E3F47"/>
                          </a:solidFill>
                          <a:latin typeface="Calibri"/>
                        </a:rPr>
                        <a:t>Change data capture from the source transaction log</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r>
              <a:tr h="393192">
                <a:tc>
                  <a:txBody>
                    <a:bodyPr wrap="square"/>
                    <a:lstStyle/>
                    <a:p>
                      <a:pPr marL="0" indent="0">
                        <a:buNone/>
                        <a:defRPr sz="960"/>
                      </a:pPr>
                      <a:r>
                        <a:rPr sz="960" b="1">
                          <a:solidFill>
                            <a:srgbClr val="2E3F47"/>
                          </a:solidFill>
                          <a:latin typeface="Calibri"/>
                        </a:rPr>
                        <a:t>Idempotent load</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60"/>
                      </a:pPr>
                      <a:r>
                        <a:rPr sz="960" b="0">
                          <a:solidFill>
                            <a:srgbClr val="2E3F47"/>
                          </a:solidFill>
                          <a:latin typeface="Calibri"/>
                        </a:rPr>
                        <a:t>Running it twice produces the same result as once</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r>
              <a:tr h="393192">
                <a:tc>
                  <a:txBody>
                    <a:bodyPr wrap="square"/>
                    <a:lstStyle/>
                    <a:p>
                      <a:pPr marL="0" indent="0">
                        <a:buNone/>
                        <a:defRPr sz="960"/>
                      </a:pPr>
                      <a:r>
                        <a:rPr sz="960" b="1">
                          <a:solidFill>
                            <a:srgbClr val="2E3F47"/>
                          </a:solidFill>
                          <a:latin typeface="Calibri"/>
                        </a:rPr>
                        <a:t>Conformed dimension</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c>
                  <a:txBody>
                    <a:bodyPr wrap="square"/>
                    <a:lstStyle/>
                    <a:p>
                      <a:pPr marL="0" indent="0">
                        <a:buNone/>
                        <a:defRPr sz="960"/>
                      </a:pPr>
                      <a:r>
                        <a:rPr sz="960" b="0">
                          <a:solidFill>
                            <a:srgbClr val="2E3F47"/>
                          </a:solidFill>
                          <a:latin typeface="Calibri"/>
                        </a:rPr>
                        <a:t>One dimension shared identically across fact tables</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FFFFF"/>
                    </a:solidFill>
                  </a:tcPr>
                </a:tc>
              </a:tr>
              <a:tr h="393192">
                <a:tc>
                  <a:txBody>
                    <a:bodyPr wrap="square"/>
                    <a:lstStyle/>
                    <a:p>
                      <a:pPr marL="0" indent="0">
                        <a:buNone/>
                        <a:defRPr sz="960"/>
                      </a:pPr>
                      <a:r>
                        <a:rPr sz="960" b="1">
                          <a:solidFill>
                            <a:srgbClr val="2E3F47"/>
                          </a:solidFill>
                          <a:latin typeface="Calibri"/>
                        </a:rPr>
                        <a:t>Medallion</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c>
                  <a:txBody>
                    <a:bodyPr wrap="square"/>
                    <a:lstStyle/>
                    <a:p>
                      <a:pPr marL="0" indent="0">
                        <a:buNone/>
                        <a:defRPr sz="960"/>
                      </a:pPr>
                      <a:r>
                        <a:rPr sz="960" b="0">
                          <a:solidFill>
                            <a:srgbClr val="2E3F47"/>
                          </a:solidFill>
                          <a:latin typeface="Calibri"/>
                        </a:rPr>
                        <a:t>Bronze raw, silver conformed, gold business-ready</a:t>
                      </a:r>
                      <a:endParaRPr lang="en-US" sz="960"/>
                    </a:p>
                  </a:txBody>
                  <a:tcPr marL="54864" marR="54864" marT="54864" marB="54864" anchor="ctr">
                    <a:lnL w="9525" cap="flat" cmpd="sng" algn="ctr">
                      <a:solidFill>
                        <a:srgbClr val="CFDDDB"/>
                      </a:solidFill>
                      <a:prstDash val="solid"/>
                      <a:round/>
                    </a:lnL>
                    <a:lnR w="9525" cap="flat" cmpd="sng" algn="ctr">
                      <a:solidFill>
                        <a:srgbClr val="CFDDDB"/>
                      </a:solidFill>
                      <a:prstDash val="solid"/>
                      <a:round/>
                    </a:lnR>
                    <a:lnT w="9525" cap="flat" cmpd="sng" algn="ctr">
                      <a:solidFill>
                        <a:srgbClr val="CFDDDB"/>
                      </a:solidFill>
                      <a:prstDash val="solid"/>
                      <a:round/>
                    </a:lnT>
                    <a:lnB w="9525" cap="flat" cmpd="sng" algn="ctr">
                      <a:solidFill>
                        <a:srgbClr val="CFDDDB"/>
                      </a:solidFill>
                      <a:prstDash val="solid"/>
                      <a:round/>
                    </a:lnB>
                    <a:solidFill>
                      <a:srgbClr val="F1F5F4"/>
                    </a:solidFill>
                  </a:tcPr>
                </a:tc>
              </a:tr>
            </a:tbl>
          </a:graphicData>
        </a:graphic>
      </p:graphicFrame>
      <p:sp>
        <p:nvSpPr>
          <p:cNvPr id="7" name="Rounded Rectangle 6"/>
          <p:cNvSpPr/>
          <p:nvPr/>
        </p:nvSpPr>
        <p:spPr>
          <a:xfrm>
            <a:off x="548640" y="5742432"/>
            <a:ext cx="11091672" cy="384048"/>
          </a:xfrm>
          <a:prstGeom prst="roundRect">
            <a:avLst>
              <a:gd name="adj" fmla="val 21428"/>
            </a:avLst>
          </a:prstGeom>
          <a:solidFill>
            <a:srgbClr val="D8E9E7"/>
          </a:solidFill>
          <a:ln w="12700">
            <a:solidFill>
              <a:srgbClr val="BBD6D3"/>
            </a:solidFill>
          </a:ln>
          <a:effectLst/>
        </p:spPr>
        <p:txBody>
          <a:bodyPr rtlCol="0" anchor="ctr"/>
          <a:lstStyle/>
          <a:p/>
        </p:txBody>
      </p:sp>
      <p:sp>
        <p:nvSpPr>
          <p:cNvPr id="8" name="TextBox 7"/>
          <p:cNvSpPr txBox="1"/>
          <p:nvPr/>
        </p:nvSpPr>
        <p:spPr>
          <a:xfrm>
            <a:off x="768096" y="5788152"/>
            <a:ext cx="10652760" cy="292607"/>
          </a:xfrm>
          <a:prstGeom prst="rect">
            <a:avLst/>
          </a:prstGeom>
          <a:noFill/>
        </p:spPr>
        <p:txBody>
          <a:bodyPr wrap="square" lIns="0" rIns="0" tIns="0" bIns="0" anchor="ctr">
            <a:spAutoFit/>
          </a:bodyPr>
          <a:lstStyle/>
          <a:p>
            <a:pPr marL="0" indent="0">
              <a:lnSpc>
                <a:spcPct val="124000"/>
              </a:lnSpc>
              <a:buNone/>
            </a:pPr>
            <a:r>
              <a:rPr sz="860" b="1" i="0">
                <a:solidFill>
                  <a:srgbClr val="17454E"/>
                </a:solidFill>
                <a:latin typeface="Calibri"/>
              </a:rPr>
              <a:t>Attribution checklist for the examination.</a:t>
            </a:r>
            <a:r>
              <a:rPr sz="860" b="1" i="0">
                <a:solidFill>
                  <a:srgbClr val="17454E"/>
                </a:solidFill>
                <a:latin typeface="Calibri"/>
              </a:rPr>
              <a:t>  Inmon — the four properties and the Corporate Information Factory · Devlin and Murphy — the first business data warehouse paper · Codd, Codd and Salley — OLAP and its twelve rules · Kimball — dimensional modelling and the bus architecture · Linstedt — Data Vault.</a:t>
            </a:r>
          </a:p>
        </p:txBody>
      </p:sp>
      <p:sp>
        <p:nvSpPr>
          <p:cNvPr id="9" name="TextBox 8"/>
          <p:cNvSpPr txBox="1"/>
          <p:nvPr/>
        </p:nvSpPr>
        <p:spPr>
          <a:xfrm>
            <a:off x="548640" y="6382512"/>
            <a:ext cx="8686800" cy="256032"/>
          </a:xfrm>
          <a:prstGeom prst="rect">
            <a:avLst/>
          </a:prstGeom>
          <a:noFill/>
        </p:spPr>
        <p:txBody>
          <a:bodyPr wrap="square" lIns="0" rIns="0" tIns="0" bIns="0" anchor="t">
            <a:spAutoFit/>
          </a:bodyPr>
          <a:lstStyle/>
          <a:p>
            <a:pPr algn="l" marL="0" indent="0">
              <a:buNone/>
            </a:pPr>
            <a:r>
              <a:rPr sz="900" b="0" i="0">
                <a:solidFill>
                  <a:srgbClr val="5C7079"/>
                </a:solidFill>
                <a:latin typeface="Calibri"/>
              </a:rPr>
              <a:t>Business Intelligence  |  Session 6 — Data Warehousing &amp; OLTP/OLAP  |  IILM Jaipur, MBA</a:t>
            </a:r>
          </a:p>
        </p:txBody>
      </p:sp>
      <p:sp>
        <p:nvSpPr>
          <p:cNvPr id="10" name="TextBox 9"/>
          <p:cNvSpPr txBox="1"/>
          <p:nvPr/>
        </p:nvSpPr>
        <p:spPr>
          <a:xfrm>
            <a:off x="10543032" y="6382512"/>
            <a:ext cx="1097280" cy="256032"/>
          </a:xfrm>
          <a:prstGeom prst="rect">
            <a:avLst/>
          </a:prstGeom>
          <a:noFill/>
        </p:spPr>
        <p:txBody>
          <a:bodyPr wrap="square" lIns="0" rIns="0" tIns="0" bIns="0" anchor="t">
            <a:spAutoFit/>
          </a:bodyPr>
          <a:lstStyle/>
          <a:p>
            <a:pPr algn="r" marL="0" indent="0">
              <a:buNone/>
            </a:pPr>
            <a:r>
              <a:rPr sz="950" b="1" i="0">
                <a:solidFill>
                  <a:srgbClr val="1B7F79"/>
                </a:solidFill>
                <a:latin typeface="Calibr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374904"/>
            <a:ext cx="109728" cy="109728"/>
          </a:xfrm>
          <a:prstGeom prst="ellipse">
            <a:avLst/>
          </a:prstGeom>
          <a:solidFill>
            <a:srgbClr val="E8A33D"/>
          </a:solidFill>
          <a:ln>
            <a:noFill/>
          </a:ln>
          <a:effectLst/>
        </p:spPr>
        <p:txBody>
          <a:bodyPr rtlCol="0" anchor="ctr" wrap="none" lIns="0" rIns="0" tIns="0" bIns="0"/>
          <a:lstStyle/>
          <a:p>
            <a:pPr algn="ctr"/>
          </a:p>
        </p:txBody>
      </p:sp>
      <p:sp>
        <p:nvSpPr>
          <p:cNvPr id="3" name="TextBox 2"/>
          <p:cNvSpPr txBox="1"/>
          <p:nvPr/>
        </p:nvSpPr>
        <p:spPr>
          <a:xfrm>
            <a:off x="749808" y="283464"/>
            <a:ext cx="10890504" cy="256032"/>
          </a:xfrm>
          <a:prstGeom prst="rect">
            <a:avLst/>
          </a:prstGeom>
          <a:noFill/>
        </p:spPr>
        <p:txBody>
          <a:bodyPr wrap="square" lIns="0" rIns="0" tIns="0" bIns="0" anchor="t">
            <a:spAutoFit/>
          </a:bodyPr>
          <a:lstStyle/>
          <a:p>
            <a:pPr marL="0" indent="0">
              <a:buNone/>
            </a:pPr>
            <a:r>
              <a:rPr sz="1000" b="1" i="0">
                <a:solidFill>
                  <a:srgbClr val="B87A1E"/>
                </a:solidFill>
                <a:latin typeface="Calibri"/>
              </a:rPr>
              <a:t>AFTER THIS SESSION</a:t>
            </a:r>
          </a:p>
        </p:txBody>
      </p:sp>
      <p:sp>
        <p:nvSpPr>
          <p:cNvPr id="4" name="TextBox 3"/>
          <p:cNvSpPr txBox="1"/>
          <p:nvPr/>
        </p:nvSpPr>
        <p:spPr>
          <a:xfrm>
            <a:off x="548640" y="548640"/>
            <a:ext cx="11091672" cy="640080"/>
          </a:xfrm>
          <a:prstGeom prst="rect">
            <a:avLst/>
          </a:prstGeom>
          <a:noFill/>
        </p:spPr>
        <p:txBody>
          <a:bodyPr wrap="square" lIns="0" rIns="0" tIns="0" bIns="0" anchor="t">
            <a:spAutoFit/>
          </a:bodyPr>
          <a:lstStyle/>
          <a:p>
            <a:pPr algn="l" marL="0" indent="0">
              <a:buNone/>
            </a:pPr>
            <a:r>
              <a:rPr sz="2700" b="1" i="0">
                <a:solidFill>
                  <a:srgbClr val="123B47"/>
                </a:solidFill>
                <a:latin typeface="Cambria"/>
              </a:rPr>
              <a:t>Self-assessment questions and prescribed reading</a:t>
            </a:r>
          </a:p>
        </p:txBody>
      </p:sp>
      <p:sp>
        <p:nvSpPr>
          <p:cNvPr id="5" name="Rounded Rectangle 4"/>
          <p:cNvSpPr/>
          <p:nvPr/>
        </p:nvSpPr>
        <p:spPr>
          <a:xfrm>
            <a:off x="548640" y="1316736"/>
            <a:ext cx="5394960" cy="3072384"/>
          </a:xfrm>
          <a:prstGeom prst="roundRect">
            <a:avLst>
              <a:gd name="adj" fmla="val 2678"/>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6" name="Oval 5"/>
          <p:cNvSpPr/>
          <p:nvPr/>
        </p:nvSpPr>
        <p:spPr>
          <a:xfrm>
            <a:off x="749808" y="1527048"/>
            <a:ext cx="384048" cy="384048"/>
          </a:xfrm>
          <a:prstGeom prst="ellipse">
            <a:avLst/>
          </a:prstGeom>
          <a:solidFill>
            <a:srgbClr val="123B47"/>
          </a:solidFill>
          <a:ln>
            <a:noFill/>
          </a:ln>
          <a:effectLst/>
        </p:spPr>
        <p:txBody>
          <a:bodyPr rtlCol="0" anchor="ctr" wrap="none" lIns="0" rIns="0" tIns="0" bIns="0"/>
          <a:lstStyle/>
          <a:p>
            <a:pPr algn="ctr"/>
            <a:r>
              <a:rPr sz="1250" b="1">
                <a:solidFill>
                  <a:srgbClr val="FFFFFF"/>
                </a:solidFill>
                <a:latin typeface="Calibri"/>
              </a:rPr>
              <a:t>Q</a:t>
            </a:r>
          </a:p>
        </p:txBody>
      </p:sp>
      <p:sp>
        <p:nvSpPr>
          <p:cNvPr id="7" name="TextBox 6"/>
          <p:cNvSpPr txBox="1"/>
          <p:nvPr/>
        </p:nvSpPr>
        <p:spPr>
          <a:xfrm>
            <a:off x="1252728" y="1517904"/>
            <a:ext cx="4489704"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Self-assessment — attempt before the next session</a:t>
            </a:r>
          </a:p>
        </p:txBody>
      </p:sp>
      <p:sp>
        <p:nvSpPr>
          <p:cNvPr id="8" name="TextBox 7"/>
          <p:cNvSpPr txBox="1"/>
          <p:nvPr/>
        </p:nvSpPr>
        <p:spPr>
          <a:xfrm>
            <a:off x="749808" y="2002536"/>
            <a:ext cx="4992624" cy="2258568"/>
          </a:xfrm>
          <a:prstGeom prst="rect">
            <a:avLst/>
          </a:prstGeom>
          <a:noFill/>
        </p:spPr>
        <p:txBody>
          <a:bodyPr wrap="square" lIns="0" rIns="0" tIns="0" bIns="0" anchor="t">
            <a:spAutoFit/>
          </a:bodyPr>
          <a:lstStyle/>
          <a:p>
            <a:pPr marL="177800" indent="-177800">
              <a:lnSpc>
                <a:spcPct val="118000"/>
              </a:lnSpc>
              <a:spcAft>
                <a:spcPts val="500"/>
              </a:spcAft>
              <a:buSzPct val="100000"/>
              <a:buChar char="•"/>
            </a:pPr>
            <a:r>
              <a:rPr sz="990" b="0" i="0">
                <a:solidFill>
                  <a:srgbClr val="2E3F47"/>
                </a:solidFill>
                <a:latin typeface="Calibri"/>
              </a:rPr>
              <a:t>State Inmon's four properties and give an example of each from an organisation you know.</a:t>
            </a:r>
          </a:p>
          <a:p>
            <a:pPr marL="177800" indent="-177800">
              <a:lnSpc>
                <a:spcPct val="118000"/>
              </a:lnSpc>
              <a:spcAft>
                <a:spcPts val="500"/>
              </a:spcAft>
              <a:buSzPct val="100000"/>
              <a:buChar char="•"/>
            </a:pPr>
            <a:r>
              <a:rPr sz="990" b="0" i="0">
                <a:solidFill>
                  <a:srgbClr val="2E3F47"/>
                </a:solidFill>
                <a:latin typeface="Calibri"/>
              </a:rPr>
              <a:t>Tabulate eight differences between OLTP and OLAP, with a business example in each row.</a:t>
            </a:r>
          </a:p>
          <a:p>
            <a:pPr marL="177800" indent="-177800">
              <a:lnSpc>
                <a:spcPct val="118000"/>
              </a:lnSpc>
              <a:spcAft>
                <a:spcPts val="500"/>
              </a:spcAft>
              <a:buSzPct val="100000"/>
              <a:buChar char="•"/>
            </a:pPr>
            <a:r>
              <a:rPr sz="990" b="0" i="0">
                <a:solidFill>
                  <a:srgbClr val="2E3F47"/>
                </a:solidFill>
                <a:latin typeface="Calibri"/>
              </a:rPr>
              <a:t>Explain to a finance director, without technical vocabulary, why the sales report slows the billing system.</a:t>
            </a:r>
          </a:p>
          <a:p>
            <a:pPr marL="177800" indent="-177800">
              <a:lnSpc>
                <a:spcPct val="118000"/>
              </a:lnSpc>
              <a:spcAft>
                <a:spcPts val="500"/>
              </a:spcAft>
              <a:buSzPct val="100000"/>
              <a:buChar char="•"/>
            </a:pPr>
            <a:r>
              <a:rPr sz="990" b="0" i="0">
                <a:solidFill>
                  <a:srgbClr val="2E3F47"/>
                </a:solidFill>
                <a:latin typeface="Calibri"/>
              </a:rPr>
              <a:t>Name the five OLAP operations and demonstrate each on a sales cube of product, geography and time.</a:t>
            </a:r>
          </a:p>
          <a:p>
            <a:pPr marL="177800" indent="-177800">
              <a:lnSpc>
                <a:spcPct val="118000"/>
              </a:lnSpc>
              <a:spcAft>
                <a:spcPts val="500"/>
              </a:spcAft>
              <a:buSzPct val="100000"/>
              <a:buChar char="•"/>
            </a:pPr>
            <a:r>
              <a:rPr sz="990" b="0" i="0">
                <a:solidFill>
                  <a:srgbClr val="2E3F47"/>
                </a:solidFill>
                <a:latin typeface="Calibri"/>
              </a:rPr>
              <a:t>Contrast ETL and ELT and state two circumstances in which each is preferable.</a:t>
            </a:r>
          </a:p>
          <a:p>
            <a:pPr marL="177800" indent="-177800">
              <a:lnSpc>
                <a:spcPct val="118000"/>
              </a:lnSpc>
              <a:spcAft>
                <a:spcPts val="500"/>
              </a:spcAft>
              <a:buSzPct val="100000"/>
              <a:buChar char="•"/>
            </a:pPr>
            <a:r>
              <a:rPr sz="990" b="0" i="0">
                <a:solidFill>
                  <a:srgbClr val="2E3F47"/>
                </a:solidFill>
                <a:latin typeface="Calibri"/>
              </a:rPr>
              <a:t>Compare Inmon and Kimball on time to first delivery, integration mechanism and principal risk.</a:t>
            </a:r>
          </a:p>
          <a:p>
            <a:pPr marL="177800" indent="-177800">
              <a:lnSpc>
                <a:spcPct val="118000"/>
              </a:lnSpc>
              <a:spcAft>
                <a:spcPts val="500"/>
              </a:spcAft>
              <a:buSzPct val="100000"/>
              <a:buChar char="•"/>
            </a:pPr>
            <a:r>
              <a:rPr sz="990" b="0" i="0">
                <a:solidFill>
                  <a:srgbClr val="2E3F47"/>
                </a:solidFill>
                <a:latin typeface="Calibri"/>
              </a:rPr>
              <a:t>Explain why choosing a monthly grain is effectively irreversible, and what it costs.</a:t>
            </a:r>
          </a:p>
        </p:txBody>
      </p:sp>
      <p:sp>
        <p:nvSpPr>
          <p:cNvPr id="9" name="Rounded Rectangle 8"/>
          <p:cNvSpPr/>
          <p:nvPr/>
        </p:nvSpPr>
        <p:spPr>
          <a:xfrm>
            <a:off x="6245352" y="1316736"/>
            <a:ext cx="5394960" cy="3072384"/>
          </a:xfrm>
          <a:prstGeom prst="roundRect">
            <a:avLst>
              <a:gd name="adj" fmla="val 2678"/>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10" name="Oval 9"/>
          <p:cNvSpPr/>
          <p:nvPr/>
        </p:nvSpPr>
        <p:spPr>
          <a:xfrm>
            <a:off x="6446520" y="1527048"/>
            <a:ext cx="384048" cy="384048"/>
          </a:xfrm>
          <a:prstGeom prst="ellipse">
            <a:avLst/>
          </a:prstGeom>
          <a:solidFill>
            <a:srgbClr val="1B7F79"/>
          </a:solidFill>
          <a:ln>
            <a:noFill/>
          </a:ln>
          <a:effectLst/>
        </p:spPr>
        <p:txBody>
          <a:bodyPr rtlCol="0" anchor="ctr" wrap="none" lIns="0" rIns="0" tIns="0" bIns="0"/>
          <a:lstStyle/>
          <a:p>
            <a:pPr algn="ctr"/>
            <a:r>
              <a:rPr sz="1250" b="1">
                <a:solidFill>
                  <a:srgbClr val="FFFFFF"/>
                </a:solidFill>
                <a:latin typeface="Calibri"/>
              </a:rPr>
              <a:t>R</a:t>
            </a:r>
          </a:p>
        </p:txBody>
      </p:sp>
      <p:sp>
        <p:nvSpPr>
          <p:cNvPr id="11" name="TextBox 10"/>
          <p:cNvSpPr txBox="1"/>
          <p:nvPr/>
        </p:nvSpPr>
        <p:spPr>
          <a:xfrm>
            <a:off x="6949440" y="1517904"/>
            <a:ext cx="4489704" cy="402336"/>
          </a:xfrm>
          <a:prstGeom prst="rect">
            <a:avLst/>
          </a:prstGeom>
          <a:noFill/>
        </p:spPr>
        <p:txBody>
          <a:bodyPr wrap="square" lIns="0" rIns="0" tIns="0" bIns="0" anchor="ctr">
            <a:spAutoFit/>
          </a:bodyPr>
          <a:lstStyle/>
          <a:p>
            <a:pPr marL="0" indent="0">
              <a:buNone/>
            </a:pPr>
            <a:r>
              <a:rPr sz="1350" b="1" i="0">
                <a:solidFill>
                  <a:srgbClr val="123B47"/>
                </a:solidFill>
                <a:latin typeface="Calibri"/>
              </a:rPr>
              <a:t>Prescribed and further reading</a:t>
            </a:r>
          </a:p>
        </p:txBody>
      </p:sp>
      <p:sp>
        <p:nvSpPr>
          <p:cNvPr id="12" name="TextBox 11"/>
          <p:cNvSpPr txBox="1"/>
          <p:nvPr/>
        </p:nvSpPr>
        <p:spPr>
          <a:xfrm>
            <a:off x="6446520" y="2002536"/>
            <a:ext cx="4992624" cy="2258568"/>
          </a:xfrm>
          <a:prstGeom prst="rect">
            <a:avLst/>
          </a:prstGeom>
          <a:noFill/>
        </p:spPr>
        <p:txBody>
          <a:bodyPr wrap="square" lIns="0" rIns="0" tIns="0" bIns="0" anchor="t">
            <a:spAutoFit/>
          </a:bodyPr>
          <a:lstStyle/>
          <a:p>
            <a:pPr marL="177800" indent="-177800">
              <a:lnSpc>
                <a:spcPct val="118000"/>
              </a:lnSpc>
              <a:spcAft>
                <a:spcPts val="500"/>
              </a:spcAft>
              <a:buSzPct val="100000"/>
              <a:buChar char="•"/>
            </a:pPr>
            <a:r>
              <a:rPr sz="990" b="1" i="0">
                <a:solidFill>
                  <a:srgbClr val="2E3F47"/>
                </a:solidFill>
                <a:latin typeface="Calibri"/>
              </a:rPr>
              <a:t>Core. </a:t>
            </a:r>
            <a:r>
              <a:rPr sz="990" b="0" i="0">
                <a:solidFill>
                  <a:srgbClr val="2E3F47"/>
                </a:solidFill>
                <a:latin typeface="Calibri"/>
              </a:rPr>
              <a:t>W. H. Inmon, Building the Data Warehouse, 4th ed., chapters 1–3</a:t>
            </a:r>
          </a:p>
          <a:p>
            <a:pPr marL="177800" indent="-177800">
              <a:lnSpc>
                <a:spcPct val="118000"/>
              </a:lnSpc>
              <a:spcAft>
                <a:spcPts val="500"/>
              </a:spcAft>
              <a:buSzPct val="100000"/>
              <a:buChar char="•"/>
            </a:pPr>
            <a:r>
              <a:rPr sz="990" b="1" i="0">
                <a:solidFill>
                  <a:srgbClr val="2E3F47"/>
                </a:solidFill>
                <a:latin typeface="Calibri"/>
              </a:rPr>
              <a:t>Core. </a:t>
            </a:r>
            <a:r>
              <a:rPr sz="990" b="0" i="0">
                <a:solidFill>
                  <a:srgbClr val="2E3F47"/>
                </a:solidFill>
                <a:latin typeface="Calibri"/>
              </a:rPr>
              <a:t>Kimball &amp; Ross, The Data Warehouse Toolkit, 3rd ed., chapter 1 and the introduction to chapter 2</a:t>
            </a:r>
          </a:p>
          <a:p>
            <a:pPr marL="177800" indent="-177800">
              <a:lnSpc>
                <a:spcPct val="118000"/>
              </a:lnSpc>
              <a:spcAft>
                <a:spcPts val="500"/>
              </a:spcAft>
              <a:buSzPct val="100000"/>
              <a:buChar char="•"/>
            </a:pPr>
            <a:r>
              <a:rPr sz="990" b="1" i="0">
                <a:solidFill>
                  <a:srgbClr val="2E3F47"/>
                </a:solidFill>
                <a:latin typeface="Calibri"/>
              </a:rPr>
              <a:t>Core. </a:t>
            </a:r>
            <a:r>
              <a:rPr sz="990" b="0" i="0">
                <a:solidFill>
                  <a:srgbClr val="2E3F47"/>
                </a:solidFill>
                <a:latin typeface="Calibri"/>
              </a:rPr>
              <a:t>Sharda, Delen &amp; Turban, Business Intelligence and Analytics, chapter 8</a:t>
            </a:r>
          </a:p>
          <a:p>
            <a:pPr marL="177800" indent="-177800">
              <a:lnSpc>
                <a:spcPct val="118000"/>
              </a:lnSpc>
              <a:spcAft>
                <a:spcPts val="500"/>
              </a:spcAft>
              <a:buSzPct val="100000"/>
              <a:buChar char="•"/>
            </a:pPr>
            <a:r>
              <a:rPr sz="990" b="1" i="0">
                <a:solidFill>
                  <a:srgbClr val="2E3F47"/>
                </a:solidFill>
                <a:latin typeface="Calibri"/>
              </a:rPr>
              <a:t>Classic. </a:t>
            </a:r>
            <a:r>
              <a:rPr sz="990" b="0" i="0">
                <a:solidFill>
                  <a:srgbClr val="2E3F47"/>
                </a:solidFill>
                <a:latin typeface="Calibri"/>
              </a:rPr>
              <a:t>Devlin &amp; Murphy, “An Architecture for a Business and Information System”, IBM Systems Journal, 1988</a:t>
            </a:r>
          </a:p>
          <a:p>
            <a:pPr marL="177800" indent="-177800">
              <a:lnSpc>
                <a:spcPct val="118000"/>
              </a:lnSpc>
              <a:spcAft>
                <a:spcPts val="500"/>
              </a:spcAft>
              <a:buSzPct val="100000"/>
              <a:buChar char="•"/>
            </a:pPr>
            <a:r>
              <a:rPr sz="990" b="1" i="0">
                <a:solidFill>
                  <a:srgbClr val="2E3F47"/>
                </a:solidFill>
                <a:latin typeface="Calibri"/>
              </a:rPr>
              <a:t>Classic. </a:t>
            </a:r>
            <a:r>
              <a:rPr sz="990" b="0" i="0">
                <a:solidFill>
                  <a:srgbClr val="2E3F47"/>
                </a:solidFill>
                <a:latin typeface="Calibri"/>
              </a:rPr>
              <a:t>Codd, Codd &amp; Salley, “Providing OLAP to User-Analysts: An IT Mandate”, 1993</a:t>
            </a:r>
          </a:p>
          <a:p>
            <a:pPr marL="177800" indent="-177800">
              <a:lnSpc>
                <a:spcPct val="118000"/>
              </a:lnSpc>
              <a:spcAft>
                <a:spcPts val="500"/>
              </a:spcAft>
              <a:buSzPct val="100000"/>
              <a:buChar char="•"/>
            </a:pPr>
            <a:r>
              <a:rPr sz="990" b="1" i="0">
                <a:solidFill>
                  <a:srgbClr val="2E3F47"/>
                </a:solidFill>
                <a:latin typeface="Calibri"/>
              </a:rPr>
              <a:t>Practice. </a:t>
            </a:r>
            <a:r>
              <a:rPr sz="990" b="0" i="0">
                <a:solidFill>
                  <a:srgbClr val="2E3F47"/>
                </a:solidFill>
                <a:latin typeface="Calibri"/>
              </a:rPr>
              <a:t>Any cloud warehouse vendor's architecture guide, read critically for what it omits</a:t>
            </a:r>
          </a:p>
          <a:p>
            <a:pPr marL="177800" indent="-177800">
              <a:lnSpc>
                <a:spcPct val="118000"/>
              </a:lnSpc>
              <a:spcAft>
                <a:spcPts val="500"/>
              </a:spcAft>
              <a:buSzPct val="100000"/>
              <a:buChar char="•"/>
            </a:pPr>
            <a:r>
              <a:rPr sz="990" b="1" i="0">
                <a:solidFill>
                  <a:srgbClr val="2E3F47"/>
                </a:solidFill>
                <a:latin typeface="Calibri"/>
              </a:rPr>
              <a:t>Optional. </a:t>
            </a:r>
            <a:r>
              <a:rPr sz="990" b="0" i="0">
                <a:solidFill>
                  <a:srgbClr val="2E3F47"/>
                </a:solidFill>
                <a:latin typeface="Calibri"/>
              </a:rPr>
              <a:t>Linstedt &amp; Olschimke, Building a Scalable Data Warehouse with Data Vault 2.0, chapter 1</a:t>
            </a:r>
          </a:p>
        </p:txBody>
      </p:sp>
      <p:sp>
        <p:nvSpPr>
          <p:cNvPr id="13" name="Rounded Rectangle 12"/>
          <p:cNvSpPr/>
          <p:nvPr/>
        </p:nvSpPr>
        <p:spPr>
          <a:xfrm>
            <a:off x="548640" y="4553712"/>
            <a:ext cx="11091672" cy="731520"/>
          </a:xfrm>
          <a:prstGeom prst="roundRect">
            <a:avLst>
              <a:gd name="adj" fmla="val 11249"/>
            </a:avLst>
          </a:prstGeom>
          <a:solidFill>
            <a:srgbClr val="123B47"/>
          </a:solidFill>
          <a:ln>
            <a:noFill/>
          </a:ln>
          <a:effectLst>
            <a:outerShdw blurRad="76200" dist="12700" dir="5400000" algn="bl" rotWithShape="0">
              <a:srgbClr val="9FB3B0">
                <a:alpha val="28000"/>
              </a:srgbClr>
            </a:outerShdw>
          </a:effectLst>
        </p:spPr>
        <p:txBody>
          <a:bodyPr rtlCol="0" anchor="ctr"/>
          <a:lstStyle/>
          <a:p/>
        </p:txBody>
      </p:sp>
      <p:sp>
        <p:nvSpPr>
          <p:cNvPr id="14" name="TextBox 13"/>
          <p:cNvSpPr txBox="1"/>
          <p:nvPr/>
        </p:nvSpPr>
        <p:spPr>
          <a:xfrm>
            <a:off x="768096" y="4626864"/>
            <a:ext cx="10652760" cy="585216"/>
          </a:xfrm>
          <a:prstGeom prst="rect">
            <a:avLst/>
          </a:prstGeom>
          <a:noFill/>
        </p:spPr>
        <p:txBody>
          <a:bodyPr wrap="square" lIns="0" rIns="0" tIns="0" bIns="0" anchor="ctr">
            <a:spAutoFit/>
          </a:bodyPr>
          <a:lstStyle/>
          <a:p>
            <a:pPr marL="0" indent="0">
              <a:lnSpc>
                <a:spcPct val="124000"/>
              </a:lnSpc>
              <a:buNone/>
            </a:pPr>
            <a:r>
              <a:rPr sz="1100" b="1" i="0">
                <a:solidFill>
                  <a:srgbClr val="FFFFFF"/>
                </a:solidFill>
                <a:latin typeface="Calibri"/>
              </a:rPr>
              <a:t>Preparation for the next session.</a:t>
            </a:r>
            <a:r>
              <a:rPr sz="1100" b="1" i="0">
                <a:solidFill>
                  <a:srgbClr val="FFFFFF"/>
                </a:solidFill>
                <a:latin typeface="Calibri"/>
              </a:rPr>
              <a:t>  Bring the Sarita Fashions operational schema from Session 5. Session 7 begins by taking that normalised schema apart and rebuilding it as a star, and you will be asked to justify every table you keep, merge or discard.</a:t>
            </a:r>
          </a:p>
        </p:txBody>
      </p:sp>
      <p:sp>
        <p:nvSpPr>
          <p:cNvPr id="15" name="Rounded Rectangle 14"/>
          <p:cNvSpPr/>
          <p:nvPr/>
        </p:nvSpPr>
        <p:spPr>
          <a:xfrm>
            <a:off x="548640" y="5413248"/>
            <a:ext cx="11091672" cy="713232"/>
          </a:xfrm>
          <a:prstGeom prst="roundRect">
            <a:avLst>
              <a:gd name="adj" fmla="val 11538"/>
            </a:avLst>
          </a:prstGeom>
          <a:solidFill>
            <a:srgbClr val="FBEBD1"/>
          </a:solidFill>
          <a:ln w="12700">
            <a:solidFill>
              <a:srgbClr val="EFD9AE"/>
            </a:solidFill>
          </a:ln>
          <a:effectLst/>
        </p:spPr>
        <p:txBody>
          <a:bodyPr rtlCol="0" anchor="ctr"/>
          <a:lstStyle/>
          <a:p/>
        </p:txBody>
      </p:sp>
      <p:sp>
        <p:nvSpPr>
          <p:cNvPr id="16" name="TextBox 15"/>
          <p:cNvSpPr txBox="1"/>
          <p:nvPr/>
        </p:nvSpPr>
        <p:spPr>
          <a:xfrm>
            <a:off x="768096" y="5486400"/>
            <a:ext cx="10652760" cy="566928"/>
          </a:xfrm>
          <a:prstGeom prst="rect">
            <a:avLst/>
          </a:prstGeom>
          <a:noFill/>
        </p:spPr>
        <p:txBody>
          <a:bodyPr wrap="square" lIns="0" rIns="0" tIns="0" bIns="0" anchor="ctr">
            <a:spAutoFit/>
          </a:bodyPr>
          <a:lstStyle/>
          <a:p>
            <a:pPr marL="0" indent="0">
              <a:lnSpc>
                <a:spcPct val="124000"/>
              </a:lnSpc>
              <a:buNone/>
            </a:pPr>
            <a:r>
              <a:rPr sz="1100" b="1" i="0">
                <a:solidFill>
                  <a:srgbClr val="6A4A0F"/>
                </a:solidFill>
                <a:latin typeface="Calibri"/>
              </a:rPr>
              <a:t>Assessment note.</a:t>
            </a:r>
            <a:r>
              <a:rPr sz="1100" b="1" i="0">
                <a:solidFill>
                  <a:srgbClr val="6A4A0F"/>
                </a:solidFill>
                <a:latin typeface="Calibri"/>
              </a:rPr>
              <a:t>  The mid-term paper contains one compulsory OLTP-versus-OLAP question carrying 10 marks. The end-term paper contains one architecture case carrying 15 marks, marked chiefly on whether each architectural choice is tied to a stated business complaint.</a:t>
            </a:r>
          </a:p>
        </p:txBody>
      </p:sp>
      <p:sp>
        <p:nvSpPr>
          <p:cNvPr id="17" name="TextBox 16"/>
          <p:cNvSpPr txBox="1"/>
          <p:nvPr/>
        </p:nvSpPr>
        <p:spPr>
          <a:xfrm>
            <a:off x="548640" y="6382512"/>
            <a:ext cx="8686800" cy="256032"/>
          </a:xfrm>
          <a:prstGeom prst="rect">
            <a:avLst/>
          </a:prstGeom>
          <a:noFill/>
        </p:spPr>
        <p:txBody>
          <a:bodyPr wrap="square" lIns="0" rIns="0" tIns="0" bIns="0" anchor="t">
            <a:spAutoFit/>
          </a:bodyPr>
          <a:lstStyle/>
          <a:p>
            <a:pPr algn="l" marL="0" indent="0">
              <a:buNone/>
            </a:pPr>
            <a:r>
              <a:rPr sz="900" b="0" i="0">
                <a:solidFill>
                  <a:srgbClr val="5C7079"/>
                </a:solidFill>
                <a:latin typeface="Calibri"/>
              </a:rPr>
              <a:t>Business Intelligence  |  Session 6 — Data Warehousing &amp; OLTP/OLAP  |  IILM Jaipur, MBA</a:t>
            </a:r>
          </a:p>
        </p:txBody>
      </p:sp>
      <p:sp>
        <p:nvSpPr>
          <p:cNvPr id="18" name="TextBox 17"/>
          <p:cNvSpPr txBox="1"/>
          <p:nvPr/>
        </p:nvSpPr>
        <p:spPr>
          <a:xfrm>
            <a:off x="10543032" y="6382512"/>
            <a:ext cx="1097280" cy="256032"/>
          </a:xfrm>
          <a:prstGeom prst="rect">
            <a:avLst/>
          </a:prstGeom>
          <a:noFill/>
        </p:spPr>
        <p:txBody>
          <a:bodyPr wrap="square" lIns="0" rIns="0" tIns="0" bIns="0" anchor="t">
            <a:spAutoFit/>
          </a:bodyPr>
          <a:lstStyle/>
          <a:p>
            <a:pPr algn="r" marL="0" indent="0">
              <a:buNone/>
            </a:pPr>
            <a:r>
              <a:rPr sz="950" b="1" i="0">
                <a:solidFill>
                  <a:srgbClr val="1B7F79"/>
                </a:solidFill>
                <a:latin typeface="Calibr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374904"/>
            <a:ext cx="109728" cy="109728"/>
          </a:xfrm>
          <a:prstGeom prst="ellipse">
            <a:avLst/>
          </a:prstGeom>
          <a:solidFill>
            <a:srgbClr val="E8A33D"/>
          </a:solidFill>
          <a:ln>
            <a:noFill/>
          </a:ln>
          <a:effectLst/>
        </p:spPr>
        <p:txBody>
          <a:bodyPr rtlCol="0" anchor="ctr" wrap="none" lIns="0" rIns="0" tIns="0" bIns="0"/>
          <a:lstStyle/>
          <a:p>
            <a:pPr algn="ctr"/>
          </a:p>
        </p:txBody>
      </p:sp>
      <p:sp>
        <p:nvSpPr>
          <p:cNvPr id="3" name="TextBox 2"/>
          <p:cNvSpPr txBox="1"/>
          <p:nvPr/>
        </p:nvSpPr>
        <p:spPr>
          <a:xfrm>
            <a:off x="749808" y="283464"/>
            <a:ext cx="10890504" cy="256032"/>
          </a:xfrm>
          <a:prstGeom prst="rect">
            <a:avLst/>
          </a:prstGeom>
          <a:noFill/>
        </p:spPr>
        <p:txBody>
          <a:bodyPr wrap="square" lIns="0" rIns="0" tIns="0" bIns="0" anchor="t">
            <a:spAutoFit/>
          </a:bodyPr>
          <a:lstStyle/>
          <a:p>
            <a:pPr marL="0" indent="0">
              <a:buNone/>
            </a:pPr>
            <a:r>
              <a:rPr sz="1000" b="1" i="0">
                <a:solidFill>
                  <a:srgbClr val="B87A1E"/>
                </a:solidFill>
                <a:latin typeface="Calibri"/>
              </a:rPr>
              <a:t>LOOKING AHEAD</a:t>
            </a:r>
          </a:p>
        </p:txBody>
      </p:sp>
      <p:sp>
        <p:nvSpPr>
          <p:cNvPr id="4" name="TextBox 3"/>
          <p:cNvSpPr txBox="1"/>
          <p:nvPr/>
        </p:nvSpPr>
        <p:spPr>
          <a:xfrm>
            <a:off x="548640" y="548640"/>
            <a:ext cx="11091672" cy="640080"/>
          </a:xfrm>
          <a:prstGeom prst="rect">
            <a:avLst/>
          </a:prstGeom>
          <a:noFill/>
        </p:spPr>
        <p:txBody>
          <a:bodyPr wrap="square" lIns="0" rIns="0" tIns="0" bIns="0" anchor="t">
            <a:spAutoFit/>
          </a:bodyPr>
          <a:lstStyle/>
          <a:p>
            <a:pPr algn="l" marL="0" indent="0">
              <a:buNone/>
            </a:pPr>
            <a:r>
              <a:rPr sz="2700" b="1" i="0">
                <a:solidFill>
                  <a:srgbClr val="123B47"/>
                </a:solidFill>
                <a:latin typeface="Cambria"/>
              </a:rPr>
              <a:t>The bridge to Session 7 — Data Modelling for BI</a:t>
            </a:r>
          </a:p>
        </p:txBody>
      </p:sp>
      <p:sp>
        <p:nvSpPr>
          <p:cNvPr id="5" name="Rounded Rectangle 4"/>
          <p:cNvSpPr/>
          <p:nvPr/>
        </p:nvSpPr>
        <p:spPr>
          <a:xfrm>
            <a:off x="548640" y="1298448"/>
            <a:ext cx="11091672" cy="768096"/>
          </a:xfrm>
          <a:prstGeom prst="roundRect">
            <a:avLst>
              <a:gd name="adj" fmla="val 10714"/>
            </a:avLst>
          </a:prstGeom>
          <a:solidFill>
            <a:srgbClr val="123B47"/>
          </a:solidFill>
          <a:ln>
            <a:noFill/>
          </a:ln>
          <a:effectLst>
            <a:outerShdw blurRad="76200" dist="12700" dir="5400000" algn="bl" rotWithShape="0">
              <a:srgbClr val="9FB3B0">
                <a:alpha val="28000"/>
              </a:srgbClr>
            </a:outerShdw>
          </a:effectLst>
        </p:spPr>
        <p:txBody>
          <a:bodyPr rtlCol="0" anchor="ctr"/>
          <a:lstStyle/>
          <a:p/>
        </p:txBody>
      </p:sp>
      <p:sp>
        <p:nvSpPr>
          <p:cNvPr id="6" name="TextBox 5"/>
          <p:cNvSpPr txBox="1"/>
          <p:nvPr/>
        </p:nvSpPr>
        <p:spPr>
          <a:xfrm>
            <a:off x="768096" y="1371600"/>
            <a:ext cx="10652760" cy="621792"/>
          </a:xfrm>
          <a:prstGeom prst="rect">
            <a:avLst/>
          </a:prstGeom>
          <a:noFill/>
        </p:spPr>
        <p:txBody>
          <a:bodyPr wrap="square" lIns="0" rIns="0" tIns="0" bIns="0" anchor="ctr">
            <a:spAutoFit/>
          </a:bodyPr>
          <a:lstStyle/>
          <a:p>
            <a:pPr marL="0" indent="0">
              <a:lnSpc>
                <a:spcPct val="124000"/>
              </a:lnSpc>
              <a:buNone/>
            </a:pPr>
            <a:r>
              <a:rPr sz="1030" b="1" i="0">
                <a:solidFill>
                  <a:srgbClr val="FFFFFF"/>
                </a:solidFill>
                <a:latin typeface="Calibri"/>
              </a:rPr>
              <a:t>The question this session leaves open.</a:t>
            </a:r>
            <a:r>
              <a:rPr sz="1030" b="1" i="0">
                <a:solidFill>
                  <a:srgbClr val="FFFFFF"/>
                </a:solidFill>
                <a:latin typeface="Calibri"/>
              </a:rPr>
              <a:t>  We have argued for a separate analytical store and described its layers, but we have said almost nothing about the shape of the tables inside it. We know it must not be a copy of the normalised operational schema, because that is what made analysis expensive; and we know it cannot be a single flat table, because that would duplicate every descriptive attribute on every row. The structure that resolves this — facts surrounded by dimensions — is the subject of the next session, and it is the most practically useful thing in the course.</a:t>
            </a:r>
          </a:p>
        </p:txBody>
      </p:sp>
      <p:sp>
        <p:nvSpPr>
          <p:cNvPr id="7" name="Rounded Rectangle 6"/>
          <p:cNvSpPr/>
          <p:nvPr/>
        </p:nvSpPr>
        <p:spPr>
          <a:xfrm>
            <a:off x="548640" y="2231136"/>
            <a:ext cx="11091672" cy="786384"/>
          </a:xfrm>
          <a:prstGeom prst="roundRect">
            <a:avLst>
              <a:gd name="adj" fmla="val 10465"/>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8" name="Oval 7"/>
          <p:cNvSpPr/>
          <p:nvPr/>
        </p:nvSpPr>
        <p:spPr>
          <a:xfrm>
            <a:off x="713232" y="2340864"/>
            <a:ext cx="347472" cy="347472"/>
          </a:xfrm>
          <a:prstGeom prst="ellipse">
            <a:avLst/>
          </a:prstGeom>
          <a:solidFill>
            <a:srgbClr val="123B47"/>
          </a:solidFill>
          <a:ln>
            <a:noFill/>
          </a:ln>
          <a:effectLst/>
        </p:spPr>
        <p:txBody>
          <a:bodyPr rtlCol="0" anchor="ctr" wrap="none" lIns="0" rIns="0" tIns="0" bIns="0"/>
          <a:lstStyle/>
          <a:p>
            <a:pPr algn="ctr"/>
            <a:r>
              <a:rPr sz="1150" b="1">
                <a:solidFill>
                  <a:srgbClr val="FFFFFF"/>
                </a:solidFill>
                <a:latin typeface="Calibri"/>
              </a:rPr>
              <a:t>7</a:t>
            </a:r>
          </a:p>
        </p:txBody>
      </p:sp>
      <p:sp>
        <p:nvSpPr>
          <p:cNvPr id="9" name="TextBox 8"/>
          <p:cNvSpPr txBox="1"/>
          <p:nvPr/>
        </p:nvSpPr>
        <p:spPr>
          <a:xfrm>
            <a:off x="1170432" y="2267712"/>
            <a:ext cx="10259568" cy="713232"/>
          </a:xfrm>
          <a:prstGeom prst="rect">
            <a:avLst/>
          </a:prstGeom>
          <a:noFill/>
        </p:spPr>
        <p:txBody>
          <a:bodyPr wrap="square" lIns="0" rIns="0" tIns="0" bIns="0" anchor="ctr">
            <a:spAutoFit/>
          </a:bodyPr>
          <a:lstStyle/>
          <a:p>
            <a:pPr marL="0" indent="0">
              <a:spcAft>
                <a:spcPts val="100"/>
              </a:spcAft>
              <a:buNone/>
            </a:pPr>
            <a:r>
              <a:rPr sz="1240" b="1" i="0">
                <a:solidFill>
                  <a:srgbClr val="123B47"/>
                </a:solidFill>
                <a:latin typeface="Calibri"/>
              </a:rPr>
              <a:t>Data modelling for BI</a:t>
            </a:r>
          </a:p>
          <a:p>
            <a:pPr marL="0" indent="0">
              <a:lnSpc>
                <a:spcPct val="114000"/>
              </a:lnSpc>
              <a:buNone/>
            </a:pPr>
            <a:r>
              <a:rPr sz="1040" b="0" i="0">
                <a:solidFill>
                  <a:srgbClr val="2E3F47"/>
                </a:solidFill>
                <a:latin typeface="Calibri"/>
              </a:rPr>
              <a:t>Fact and dimension tables; declaring the grain; cardinality; star and snowflake schemas; slowly changing dimensions in full; and building a retail model from the Session 5 schema.</a:t>
            </a:r>
          </a:p>
        </p:txBody>
      </p:sp>
      <p:sp>
        <p:nvSpPr>
          <p:cNvPr id="10" name="Rounded Rectangle 9"/>
          <p:cNvSpPr/>
          <p:nvPr/>
        </p:nvSpPr>
        <p:spPr>
          <a:xfrm>
            <a:off x="548640" y="3108960"/>
            <a:ext cx="11091672" cy="786384"/>
          </a:xfrm>
          <a:prstGeom prst="roundRect">
            <a:avLst>
              <a:gd name="adj" fmla="val 10465"/>
            </a:avLst>
          </a:prstGeom>
          <a:solidFill>
            <a:srgbClr val="F1F5F4"/>
          </a:solidFill>
          <a:ln w="12700">
            <a:solidFill>
              <a:srgbClr val="E4EDEB"/>
            </a:solidFill>
          </a:ln>
          <a:effectLst>
            <a:outerShdw blurRad="76200" dist="12700" dir="5400000" algn="bl" rotWithShape="0">
              <a:srgbClr val="9FB3B0">
                <a:alpha val="28000"/>
              </a:srgbClr>
            </a:outerShdw>
          </a:effectLst>
        </p:spPr>
        <p:txBody>
          <a:bodyPr rtlCol="0" anchor="ctr"/>
          <a:lstStyle/>
          <a:p/>
        </p:txBody>
      </p:sp>
      <p:sp>
        <p:nvSpPr>
          <p:cNvPr id="11" name="Oval 10"/>
          <p:cNvSpPr/>
          <p:nvPr/>
        </p:nvSpPr>
        <p:spPr>
          <a:xfrm>
            <a:off x="713232" y="3218688"/>
            <a:ext cx="347472" cy="347472"/>
          </a:xfrm>
          <a:prstGeom prst="ellipse">
            <a:avLst/>
          </a:prstGeom>
          <a:solidFill>
            <a:srgbClr val="1B7F79"/>
          </a:solidFill>
          <a:ln>
            <a:noFill/>
          </a:ln>
          <a:effectLst/>
        </p:spPr>
        <p:txBody>
          <a:bodyPr rtlCol="0" anchor="ctr" wrap="none" lIns="0" rIns="0" tIns="0" bIns="0"/>
          <a:lstStyle/>
          <a:p>
            <a:pPr algn="ctr"/>
            <a:r>
              <a:rPr sz="1150" b="1">
                <a:solidFill>
                  <a:srgbClr val="FFFFFF"/>
                </a:solidFill>
                <a:latin typeface="Calibri"/>
              </a:rPr>
              <a:t>8</a:t>
            </a:r>
          </a:p>
        </p:txBody>
      </p:sp>
      <p:sp>
        <p:nvSpPr>
          <p:cNvPr id="12" name="TextBox 11"/>
          <p:cNvSpPr txBox="1"/>
          <p:nvPr/>
        </p:nvSpPr>
        <p:spPr>
          <a:xfrm>
            <a:off x="1170432" y="3145536"/>
            <a:ext cx="10259568" cy="713232"/>
          </a:xfrm>
          <a:prstGeom prst="rect">
            <a:avLst/>
          </a:prstGeom>
          <a:noFill/>
        </p:spPr>
        <p:txBody>
          <a:bodyPr wrap="square" lIns="0" rIns="0" tIns="0" bIns="0" anchor="ctr">
            <a:spAutoFit/>
          </a:bodyPr>
          <a:lstStyle/>
          <a:p>
            <a:pPr marL="0" indent="0">
              <a:spcAft>
                <a:spcPts val="100"/>
              </a:spcAft>
              <a:buNone/>
            </a:pPr>
            <a:r>
              <a:rPr sz="1240" b="1" i="0">
                <a:solidFill>
                  <a:srgbClr val="123B47"/>
                </a:solidFill>
                <a:latin typeface="Calibri"/>
              </a:rPr>
              <a:t>Metadata, data marts and lineage</a:t>
            </a:r>
          </a:p>
          <a:p>
            <a:pPr marL="0" indent="0">
              <a:lnSpc>
                <a:spcPct val="114000"/>
              </a:lnSpc>
              <a:buNone/>
            </a:pPr>
            <a:r>
              <a:rPr sz="1040" b="0" i="0">
                <a:solidFill>
                  <a:srgbClr val="2E3F47"/>
                </a:solidFill>
                <a:latin typeface="Calibri"/>
              </a:rPr>
              <a:t>Where the definitions of Session 4's KPIs actually live; how a mart is carved out of the warehouse without fragmenting the truth; and how a number is traced from dashboard to source column.</a:t>
            </a:r>
          </a:p>
        </p:txBody>
      </p:sp>
      <p:sp>
        <p:nvSpPr>
          <p:cNvPr id="13" name="Rounded Rectangle 12"/>
          <p:cNvSpPr/>
          <p:nvPr/>
        </p:nvSpPr>
        <p:spPr>
          <a:xfrm>
            <a:off x="548640" y="4059936"/>
            <a:ext cx="11091672" cy="786384"/>
          </a:xfrm>
          <a:prstGeom prst="roundRect">
            <a:avLst>
              <a:gd name="adj" fmla="val 10465"/>
            </a:avLst>
          </a:prstGeom>
          <a:solidFill>
            <a:srgbClr val="D8E9E7"/>
          </a:solidFill>
          <a:ln w="12700">
            <a:solidFill>
              <a:srgbClr val="BBD6D3"/>
            </a:solidFill>
          </a:ln>
          <a:effectLst/>
        </p:spPr>
        <p:txBody>
          <a:bodyPr rtlCol="0" anchor="ctr"/>
          <a:lstStyle/>
          <a:p/>
        </p:txBody>
      </p:sp>
      <p:sp>
        <p:nvSpPr>
          <p:cNvPr id="14" name="TextBox 13"/>
          <p:cNvSpPr txBox="1"/>
          <p:nvPr/>
        </p:nvSpPr>
        <p:spPr>
          <a:xfrm>
            <a:off x="768096" y="4133088"/>
            <a:ext cx="10652760" cy="640080"/>
          </a:xfrm>
          <a:prstGeom prst="rect">
            <a:avLst/>
          </a:prstGeom>
          <a:noFill/>
        </p:spPr>
        <p:txBody>
          <a:bodyPr wrap="square" lIns="0" rIns="0" tIns="0" bIns="0" anchor="ctr">
            <a:spAutoFit/>
          </a:bodyPr>
          <a:lstStyle/>
          <a:p>
            <a:pPr marL="0" indent="0">
              <a:lnSpc>
                <a:spcPct val="124000"/>
              </a:lnSpc>
              <a:buNone/>
            </a:pPr>
            <a:r>
              <a:rPr sz="1100" b="1" i="0">
                <a:solidFill>
                  <a:srgbClr val="17454E"/>
                </a:solidFill>
                <a:latin typeface="Calibri"/>
              </a:rPr>
              <a:t>The connecting idea.</a:t>
            </a:r>
            <a:r>
              <a:rPr sz="1100" b="1" i="0">
                <a:solidFill>
                  <a:srgbClr val="17454E"/>
                </a:solidFill>
                <a:latin typeface="Calibri"/>
              </a:rPr>
              <a:t>  Session 5 gave the rules of normalisation; Session 6 argued that analysis requires the opposite; Session 7 supplies the discipline that makes deliberate denormalisation safe rather than merely convenient. Without that discipline, denormalisation is just the flat spreadsheet you spent Session 5 learning to avoid.</a:t>
            </a:r>
          </a:p>
        </p:txBody>
      </p:sp>
      <p:sp>
        <p:nvSpPr>
          <p:cNvPr id="15" name="Rounded Rectangle 14"/>
          <p:cNvSpPr/>
          <p:nvPr/>
        </p:nvSpPr>
        <p:spPr>
          <a:xfrm>
            <a:off x="548640" y="4956048"/>
            <a:ext cx="11091672" cy="786384"/>
          </a:xfrm>
          <a:prstGeom prst="roundRect">
            <a:avLst>
              <a:gd name="adj" fmla="val 10465"/>
            </a:avLst>
          </a:prstGeom>
          <a:solidFill>
            <a:srgbClr val="123B47"/>
          </a:solidFill>
          <a:ln>
            <a:noFill/>
          </a:ln>
          <a:effectLst>
            <a:outerShdw blurRad="76200" dist="12700" dir="5400000" algn="bl" rotWithShape="0">
              <a:srgbClr val="9FB3B0">
                <a:alpha val="28000"/>
              </a:srgbClr>
            </a:outerShdw>
          </a:effectLst>
        </p:spPr>
        <p:txBody>
          <a:bodyPr rtlCol="0" anchor="ctr"/>
          <a:lstStyle/>
          <a:p/>
        </p:txBody>
      </p:sp>
      <p:sp>
        <p:nvSpPr>
          <p:cNvPr id="16" name="TextBox 15"/>
          <p:cNvSpPr txBox="1"/>
          <p:nvPr/>
        </p:nvSpPr>
        <p:spPr>
          <a:xfrm>
            <a:off x="768096" y="5029200"/>
            <a:ext cx="10652760" cy="640080"/>
          </a:xfrm>
          <a:prstGeom prst="rect">
            <a:avLst/>
          </a:prstGeom>
          <a:noFill/>
        </p:spPr>
        <p:txBody>
          <a:bodyPr wrap="square" lIns="0" rIns="0" tIns="0" bIns="0" anchor="ctr">
            <a:spAutoFit/>
          </a:bodyPr>
          <a:lstStyle/>
          <a:p>
            <a:pPr marL="0" indent="0">
              <a:lnSpc>
                <a:spcPct val="124000"/>
              </a:lnSpc>
              <a:buNone/>
            </a:pPr>
            <a:r>
              <a:rPr sz="1100" b="1" i="0">
                <a:solidFill>
                  <a:srgbClr val="FFFFFF"/>
                </a:solidFill>
                <a:latin typeface="Calibri"/>
              </a:rPr>
              <a:t>One thing to think about before you arrive.</a:t>
            </a:r>
            <a:r>
              <a:rPr sz="1100" b="1" i="0">
                <a:solidFill>
                  <a:srgbClr val="FFFFFF"/>
                </a:solidFill>
                <a:latin typeface="Calibri"/>
              </a:rPr>
              <a:t>  In the Sarita Fashions schema, bill_line is where the money is measured and customer, product, store, employee and date are how a manager wants to slice it. Hold that distinction in mind — it is the entire idea of dimensional modelling, and once you have seen it you will not be able to look at an operational schema the same way again.</a:t>
            </a:r>
          </a:p>
        </p:txBody>
      </p:sp>
      <p:sp>
        <p:nvSpPr>
          <p:cNvPr id="17" name="Rounded Rectangle 16"/>
          <p:cNvSpPr/>
          <p:nvPr/>
        </p:nvSpPr>
        <p:spPr>
          <a:xfrm>
            <a:off x="548640" y="5852160"/>
            <a:ext cx="11091672" cy="292608"/>
          </a:xfrm>
          <a:prstGeom prst="roundRect">
            <a:avLst>
              <a:gd name="adj" fmla="val 28125"/>
            </a:avLst>
          </a:prstGeom>
          <a:solidFill>
            <a:srgbClr val="FBEBD1"/>
          </a:solidFill>
          <a:ln w="12700">
            <a:solidFill>
              <a:srgbClr val="EFD9AE"/>
            </a:solidFill>
          </a:ln>
          <a:effectLst/>
        </p:spPr>
        <p:txBody>
          <a:bodyPr rtlCol="0" anchor="ctr"/>
          <a:lstStyle/>
          <a:p/>
        </p:txBody>
      </p:sp>
      <p:sp>
        <p:nvSpPr>
          <p:cNvPr id="18" name="TextBox 17"/>
          <p:cNvSpPr txBox="1"/>
          <p:nvPr/>
        </p:nvSpPr>
        <p:spPr>
          <a:xfrm>
            <a:off x="768096" y="5870448"/>
            <a:ext cx="10652760" cy="256032"/>
          </a:xfrm>
          <a:prstGeom prst="rect">
            <a:avLst/>
          </a:prstGeom>
          <a:noFill/>
        </p:spPr>
        <p:txBody>
          <a:bodyPr wrap="square" lIns="0" rIns="0" tIns="0" bIns="0" anchor="ctr">
            <a:spAutoFit/>
          </a:bodyPr>
          <a:lstStyle/>
          <a:p>
            <a:pPr marL="0" indent="0">
              <a:lnSpc>
                <a:spcPct val="124000"/>
              </a:lnSpc>
              <a:buNone/>
            </a:pPr>
            <a:r>
              <a:rPr sz="1060" b="1" i="0">
                <a:solidFill>
                  <a:srgbClr val="6A4A0F"/>
                </a:solidFill>
                <a:latin typeface="Calibri"/>
              </a:rPr>
              <a:t>Before Session 7.</a:t>
            </a:r>
            <a:r>
              <a:rPr sz="1060" b="1" i="0">
                <a:solidFill>
                  <a:srgbClr val="6A4A0F"/>
                </a:solidFill>
                <a:latin typeface="Calibri"/>
              </a:rPr>
              <a:t>  Revise grain, composite keys and surrogate keys; bring the Session 5 schema.</a:t>
            </a:r>
          </a:p>
        </p:txBody>
      </p:sp>
      <p:sp>
        <p:nvSpPr>
          <p:cNvPr id="19" name="TextBox 18"/>
          <p:cNvSpPr txBox="1"/>
          <p:nvPr/>
        </p:nvSpPr>
        <p:spPr>
          <a:xfrm>
            <a:off x="548640" y="6382512"/>
            <a:ext cx="8686800" cy="256032"/>
          </a:xfrm>
          <a:prstGeom prst="rect">
            <a:avLst/>
          </a:prstGeom>
          <a:noFill/>
        </p:spPr>
        <p:txBody>
          <a:bodyPr wrap="square" lIns="0" rIns="0" tIns="0" bIns="0" anchor="t">
            <a:spAutoFit/>
          </a:bodyPr>
          <a:lstStyle/>
          <a:p>
            <a:pPr algn="l" marL="0" indent="0">
              <a:buNone/>
            </a:pPr>
            <a:r>
              <a:rPr sz="900" b="0" i="0">
                <a:solidFill>
                  <a:srgbClr val="5C7079"/>
                </a:solidFill>
                <a:latin typeface="Calibri"/>
              </a:rPr>
              <a:t>Business Intelligence  |  Session 6 — Data Warehousing &amp; OLTP/OLAP  |  IILM Jaipur, MBA</a:t>
            </a:r>
          </a:p>
        </p:txBody>
      </p:sp>
      <p:sp>
        <p:nvSpPr>
          <p:cNvPr id="20" name="TextBox 19"/>
          <p:cNvSpPr txBox="1"/>
          <p:nvPr/>
        </p:nvSpPr>
        <p:spPr>
          <a:xfrm>
            <a:off x="10543032" y="6382512"/>
            <a:ext cx="1097280" cy="256032"/>
          </a:xfrm>
          <a:prstGeom prst="rect">
            <a:avLst/>
          </a:prstGeom>
          <a:noFill/>
        </p:spPr>
        <p:txBody>
          <a:bodyPr wrap="square" lIns="0" rIns="0" tIns="0" bIns="0" anchor="t">
            <a:spAutoFit/>
          </a:bodyPr>
          <a:lstStyle/>
          <a:p>
            <a:pPr algn="r" marL="0" indent="0">
              <a:buNone/>
            </a:pPr>
            <a:r>
              <a:rPr sz="950" b="1" i="0">
                <a:solidFill>
                  <a:srgbClr val="1B7F79"/>
                </a:solidFill>
                <a:latin typeface="Calibri"/>
              </a:rPr>
              <a:t>33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